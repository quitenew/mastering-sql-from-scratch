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261" r:id="rId6"/>
    <p:sldId id="262" r:id="rId7"/>
    <p:sldId id="303" r:id="rId8"/>
    <p:sldId id="263" r:id="rId9"/>
    <p:sldId id="290" r:id="rId10"/>
    <p:sldId id="291" r:id="rId11"/>
    <p:sldId id="264" r:id="rId12"/>
    <p:sldId id="265" r:id="rId13"/>
    <p:sldId id="266" r:id="rId14"/>
    <p:sldId id="330" r:id="rId15"/>
    <p:sldId id="267" r:id="rId16"/>
    <p:sldId id="268" r:id="rId17"/>
    <p:sldId id="269" r:id="rId18"/>
    <p:sldId id="270" r:id="rId19"/>
    <p:sldId id="271" r:id="rId20"/>
    <p:sldId id="305" r:id="rId21"/>
    <p:sldId id="306" r:id="rId22"/>
    <p:sldId id="307" r:id="rId23"/>
    <p:sldId id="308" r:id="rId24"/>
    <p:sldId id="260" r:id="rId25"/>
    <p:sldId id="309" r:id="rId26"/>
    <p:sldId id="310" r:id="rId27"/>
    <p:sldId id="317" r:id="rId28"/>
    <p:sldId id="318" r:id="rId29"/>
    <p:sldId id="319" r:id="rId30"/>
    <p:sldId id="324" r:id="rId31"/>
    <p:sldId id="325" r:id="rId32"/>
    <p:sldId id="326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327" r:id="rId41"/>
    <p:sldId id="328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79" d="100"/>
          <a:sy n="79" d="100"/>
        </p:scale>
        <p:origin x="120" y="8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10.10.2025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10.10.2025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mk-MK" altLang="mk-MK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A452BD5-B246-4178-AA95-E5B34239F84E}" type="slidenum">
              <a:rPr lang="mk-MK" altLang="mk-MK"/>
              <a:pPr/>
              <a:t>28</a:t>
            </a:fld>
            <a:endParaRPr lang="mk-MK" altLang="mk-MK" dirty="0"/>
          </a:p>
        </p:txBody>
      </p:sp>
    </p:spTree>
    <p:extLst>
      <p:ext uri="{BB962C8B-B14F-4D97-AF65-F5344CB8AC3E}">
        <p14:creationId xmlns:p14="http://schemas.microsoft.com/office/powerpoint/2010/main" val="106966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92" y="33247"/>
            <a:ext cx="1096692" cy="659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  <a:endParaRPr lang="en-US" altLang="mk-MK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92" y="33247"/>
            <a:ext cx="1096692" cy="6594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800" b="1" dirty="0"/>
              <a:t>SCSIT</a:t>
            </a:r>
            <a:br>
              <a:rPr lang="mk-MK" sz="2800" b="1" dirty="0"/>
            </a:br>
            <a:r>
              <a:rPr lang="en-US" sz="2800" b="1" dirty="0"/>
              <a:t>V</a:t>
            </a:r>
            <a:r>
              <a:rPr lang="mk-MK" sz="2800" b="1" dirty="0"/>
              <a:t> </a:t>
            </a:r>
            <a:r>
              <a:rPr lang="en-US" sz="2800" b="1" dirty="0"/>
              <a:t>Semester</a:t>
            </a:r>
            <a:br>
              <a:rPr lang="mk-MK" sz="2800" b="1" dirty="0"/>
            </a:br>
            <a:r>
              <a:rPr lang="en-US" sz="2800" b="1" dirty="0" err="1"/>
              <a:t>DataBase</a:t>
            </a:r>
            <a:r>
              <a:rPr lang="en-US" sz="2800" b="1" dirty="0"/>
              <a:t> 2</a:t>
            </a:r>
            <a:endParaRPr lang="mk-MK" sz="28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11560" y="3429000"/>
            <a:ext cx="7846640" cy="1944216"/>
          </a:xfrm>
        </p:spPr>
        <p:txBody>
          <a:bodyPr/>
          <a:lstStyle/>
          <a:p>
            <a:r>
              <a:rPr lang="en-US" sz="2000" b="1" dirty="0"/>
              <a:t>Lab. Exercise No.</a:t>
            </a:r>
            <a:r>
              <a:rPr lang="mk-MK" sz="2000" b="1" dirty="0"/>
              <a:t>1:</a:t>
            </a:r>
            <a:endParaRPr lang="en-US" sz="2000" b="1" dirty="0"/>
          </a:p>
          <a:p>
            <a:endParaRPr lang="mk-MK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MS SQL Server Express Edition Environment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SQL DDL</a:t>
            </a:r>
            <a:endParaRPr lang="mk-MK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81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mk-MK" sz="3200" b="1" dirty="0"/>
              <a:t>Getting started with SQL Server</a:t>
            </a:r>
            <a:endParaRPr lang="en-US" altLang="mk-MK" sz="32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mk-MK" sz="2800" dirty="0"/>
              <a:t>What is SQL Server?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Creating databases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Administration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Security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Backup </a:t>
            </a:r>
          </a:p>
          <a:p>
            <a:pPr>
              <a:lnSpc>
                <a:spcPct val="150000"/>
              </a:lnSpc>
            </a:pPr>
            <a:endParaRPr lang="en-US" altLang="mk-MK" sz="2800" dirty="0"/>
          </a:p>
          <a:p>
            <a:pPr>
              <a:lnSpc>
                <a:spcPct val="150000"/>
              </a:lnSpc>
            </a:pPr>
            <a:r>
              <a:rPr lang="en-US" altLang="mk-MK" sz="2800" dirty="0"/>
              <a:t>Note: Will be covered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AEE28-9067-43AE-B827-CB735BA80B3A}" type="slidenum">
              <a:rPr lang="en-US" altLang="mk-MK" smtClean="0"/>
              <a:pPr/>
              <a:t>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3511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Tools</a:t>
            </a:r>
            <a:endParaRPr lang="mk-M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Microsoft SQL Server includes a complete set of graphical tools and command prompt utilities that allow users, programmers, and administrators to</a:t>
            </a:r>
            <a:r>
              <a:rPr lang="mk-MK" sz="2400" dirty="0">
                <a:latin typeface="Calibri" pitchFamily="34" charset="0"/>
              </a:rPr>
              <a:t>:</a:t>
            </a:r>
            <a:endParaRPr lang="en-US" sz="2400" dirty="0">
              <a:latin typeface="Calibri" pitchFamily="34" charset="0"/>
            </a:endParaRPr>
          </a:p>
          <a:p>
            <a:pPr lvl="1">
              <a:defRPr/>
            </a:pPr>
            <a:r>
              <a:rPr lang="en-US" sz="2000" dirty="0"/>
              <a:t>Administer and configure SQL Server.</a:t>
            </a:r>
          </a:p>
          <a:p>
            <a:pPr lvl="1">
              <a:defRPr/>
            </a:pPr>
            <a:r>
              <a:rPr lang="en-US" sz="2000" dirty="0"/>
              <a:t>Determine the catalog information in a copy of SQL Server.</a:t>
            </a:r>
          </a:p>
          <a:p>
            <a:pPr lvl="1">
              <a:defRPr/>
            </a:pPr>
            <a:r>
              <a:rPr lang="en-US" sz="2000" dirty="0"/>
              <a:t>Design and test queries for retrieving data.</a:t>
            </a:r>
          </a:p>
          <a:p>
            <a:pPr lvl="1">
              <a:defRPr/>
            </a:pPr>
            <a:r>
              <a:rPr lang="en-US" sz="2000" dirty="0"/>
              <a:t>Copy, import, export, and transform data.</a:t>
            </a:r>
          </a:p>
          <a:p>
            <a:pPr lvl="1">
              <a:defRPr/>
            </a:pPr>
            <a:r>
              <a:rPr lang="en-US" sz="2000" dirty="0"/>
              <a:t>Provide diagnostic information.</a:t>
            </a:r>
          </a:p>
          <a:p>
            <a:pPr lvl="1">
              <a:defRPr/>
            </a:pPr>
            <a:r>
              <a:rPr lang="en-US" sz="2000" dirty="0"/>
              <a:t>Start and stop SQL Server.</a:t>
            </a:r>
            <a:r>
              <a:rPr lang="en-US" sz="1400" dirty="0"/>
              <a:t> </a:t>
            </a:r>
            <a:endParaRPr lang="mk-MK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AEE28-9067-43AE-B827-CB735BA80B3A}" type="slidenum">
              <a:rPr lang="en-US" altLang="mk-MK" smtClean="0"/>
              <a:pPr/>
              <a:t>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54091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SQL Server?</a:t>
            </a:r>
            <a:endParaRPr lang="mk-M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b="1" dirty="0"/>
              <a:t>RDBMS</a:t>
            </a:r>
            <a:r>
              <a:rPr lang="en-US" sz="2400" dirty="0"/>
              <a:t> = Relational </a:t>
            </a:r>
            <a:r>
              <a:rPr lang="en-US" sz="2400" dirty="0" err="1"/>
              <a:t>DataBase</a:t>
            </a:r>
            <a:br>
              <a:rPr lang="en-US" sz="2400" dirty="0"/>
            </a:br>
            <a:r>
              <a:rPr lang="en-US" sz="2400" dirty="0"/>
              <a:t>Management Software</a:t>
            </a:r>
            <a:endParaRPr lang="en-US" sz="2400" b="1" dirty="0"/>
          </a:p>
          <a:p>
            <a:pPr lvl="1">
              <a:defRPr/>
            </a:pPr>
            <a:r>
              <a:rPr lang="en-US" sz="2000" dirty="0"/>
              <a:t>Own file structure</a:t>
            </a:r>
          </a:p>
          <a:p>
            <a:pPr lvl="1">
              <a:defRPr/>
            </a:pPr>
            <a:r>
              <a:rPr lang="en-US" sz="2000" dirty="0"/>
              <a:t>Own users</a:t>
            </a:r>
          </a:p>
          <a:p>
            <a:pPr lvl="1">
              <a:defRPr/>
            </a:pPr>
            <a:r>
              <a:rPr lang="en-US" sz="2000" dirty="0"/>
              <a:t>Own security and protection</a:t>
            </a:r>
          </a:p>
          <a:p>
            <a:endParaRPr lang="mk-MK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AEE28-9067-43AE-B827-CB735BA80B3A}" type="slidenum">
              <a:rPr lang="en-US" altLang="mk-MK" smtClean="0"/>
              <a:pPr/>
              <a:t>4</a:t>
            </a:fld>
            <a:endParaRPr lang="en-US" altLang="mk-MK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769394"/>
            <a:ext cx="4789512" cy="29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9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214313" y="304800"/>
            <a:ext cx="8929687" cy="1216025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altLang="mk-MK" b="1" dirty="0"/>
              <a:t>MS SQL Server </a:t>
            </a:r>
            <a:br>
              <a:rPr lang="mk-MK" altLang="mk-MK" b="1" dirty="0"/>
            </a:br>
            <a:r>
              <a:rPr lang="en-US" altLang="mk-MK" b="1" dirty="0"/>
              <a:t>Management Studio (Express)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3A3CE67-7D55-4422-BC8D-FA4F9E38E354}" type="slidenum">
              <a:rPr lang="en-US" altLang="mk-MK"/>
              <a:pPr/>
              <a:t>5</a:t>
            </a:fld>
            <a:endParaRPr lang="en-US" altLang="mk-M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B5B69D-3C28-4A83-9208-90BA8D02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772816"/>
            <a:ext cx="2575783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7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212138" cy="1216025"/>
          </a:xfrm>
        </p:spPr>
        <p:txBody>
          <a:bodyPr/>
          <a:lstStyle/>
          <a:p>
            <a:pPr algn="ctr"/>
            <a:r>
              <a:rPr lang="en-US" altLang="mk-MK" b="1" dirty="0"/>
              <a:t>Log In</a:t>
            </a:r>
            <a:endParaRPr lang="en-US" altLang="mk-MK" dirty="0"/>
          </a:p>
        </p:txBody>
      </p:sp>
      <p:sp>
        <p:nvSpPr>
          <p:cNvPr id="81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872223E-9AD3-4E41-962F-7A2C583D2764}" type="slidenum">
              <a:rPr lang="en-US" altLang="mk-MK"/>
              <a:pPr/>
              <a:t>6</a:t>
            </a:fld>
            <a:endParaRPr lang="en-US" altLang="mk-M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309B-5BFA-4E74-B059-3EF721E29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90474-7E02-422A-BED7-824300D1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61982"/>
            <a:ext cx="4000847" cy="3787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F7DFB-810E-4915-8ECA-80E05B481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490" y="1723878"/>
            <a:ext cx="3856054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212138" cy="1216025"/>
          </a:xfrm>
        </p:spPr>
        <p:txBody>
          <a:bodyPr/>
          <a:lstStyle/>
          <a:p>
            <a:pPr algn="ctr"/>
            <a:r>
              <a:rPr lang="en-US" altLang="mk-MK" b="1" dirty="0"/>
              <a:t>Service info ?</a:t>
            </a:r>
            <a:endParaRPr lang="en-US" altLang="mk-MK" dirty="0"/>
          </a:p>
        </p:txBody>
      </p:sp>
      <p:sp>
        <p:nvSpPr>
          <p:cNvPr id="81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872223E-9AD3-4E41-962F-7A2C583D2764}" type="slidenum">
              <a:rPr lang="en-US" altLang="mk-MK"/>
              <a:pPr/>
              <a:t>7</a:t>
            </a:fld>
            <a:endParaRPr lang="en-US" altLang="mk-M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AD6894-32F5-4209-A8B6-7DA438353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60848"/>
            <a:ext cx="9144000" cy="191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5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42875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67E11C8-17FC-49E8-903D-39925E0CEE1C}" type="slidenum">
              <a:rPr lang="en-US" altLang="mk-MK"/>
              <a:pPr/>
              <a:t>8</a:t>
            </a:fld>
            <a:endParaRPr lang="en-US" altLang="mk-MK"/>
          </a:p>
        </p:txBody>
      </p:sp>
      <p:sp>
        <p:nvSpPr>
          <p:cNvPr id="9" name="TextBox 8"/>
          <p:cNvSpPr txBox="1"/>
          <p:nvPr/>
        </p:nvSpPr>
        <p:spPr>
          <a:xfrm>
            <a:off x="500063" y="6000750"/>
            <a:ext cx="19768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Object explorer</a:t>
            </a:r>
            <a:endParaRPr lang="mk-MK" dirty="0"/>
          </a:p>
        </p:txBody>
      </p:sp>
      <p:cxnSp>
        <p:nvCxnSpPr>
          <p:cNvPr id="9222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606425" y="5392738"/>
            <a:ext cx="135731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786188" y="5214938"/>
            <a:ext cx="1407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workspace</a:t>
            </a:r>
            <a:endParaRPr lang="mk-MK" dirty="0"/>
          </a:p>
        </p:txBody>
      </p:sp>
      <p:cxnSp>
        <p:nvCxnSpPr>
          <p:cNvPr id="9224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4322763" y="446405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714625" y="2000250"/>
            <a:ext cx="24288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Tool strip</a:t>
            </a:r>
            <a:endParaRPr lang="mk-MK" dirty="0"/>
          </a:p>
        </p:txBody>
      </p:sp>
      <p:cxnSp>
        <p:nvCxnSpPr>
          <p:cNvPr id="9226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2322513" y="132080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734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42875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67E11C8-17FC-49E8-903D-39925E0CEE1C}" type="slidenum">
              <a:rPr lang="en-US" altLang="mk-MK"/>
              <a:pPr/>
              <a:t>9</a:t>
            </a:fld>
            <a:endParaRPr lang="en-US" altLang="mk-MK"/>
          </a:p>
        </p:txBody>
      </p:sp>
      <p:sp>
        <p:nvSpPr>
          <p:cNvPr id="9" name="TextBox 8"/>
          <p:cNvSpPr txBox="1"/>
          <p:nvPr/>
        </p:nvSpPr>
        <p:spPr>
          <a:xfrm>
            <a:off x="500063" y="6000750"/>
            <a:ext cx="19768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Object explorer</a:t>
            </a:r>
            <a:endParaRPr lang="mk-MK" dirty="0"/>
          </a:p>
        </p:txBody>
      </p:sp>
      <p:cxnSp>
        <p:nvCxnSpPr>
          <p:cNvPr id="9222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606425" y="5392738"/>
            <a:ext cx="135731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786188" y="5214938"/>
            <a:ext cx="1407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workspace</a:t>
            </a:r>
            <a:endParaRPr lang="mk-MK" dirty="0"/>
          </a:p>
        </p:txBody>
      </p:sp>
      <p:cxnSp>
        <p:nvCxnSpPr>
          <p:cNvPr id="9224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4322763" y="446405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714625" y="2000250"/>
            <a:ext cx="24288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Tool strip</a:t>
            </a:r>
            <a:endParaRPr lang="mk-MK" dirty="0"/>
          </a:p>
        </p:txBody>
      </p:sp>
      <p:cxnSp>
        <p:nvCxnSpPr>
          <p:cNvPr id="9226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2322513" y="132080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D959505-B991-48FC-A8DB-FD3A8CB20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2662"/>
            <a:ext cx="9144000" cy="59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4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42875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67E11C8-17FC-49E8-903D-39925E0CEE1C}" type="slidenum">
              <a:rPr lang="en-US" altLang="mk-MK"/>
              <a:pPr/>
              <a:t>10</a:t>
            </a:fld>
            <a:endParaRPr lang="en-US" altLang="mk-MK"/>
          </a:p>
        </p:txBody>
      </p:sp>
      <p:sp>
        <p:nvSpPr>
          <p:cNvPr id="9" name="TextBox 8"/>
          <p:cNvSpPr txBox="1"/>
          <p:nvPr/>
        </p:nvSpPr>
        <p:spPr>
          <a:xfrm>
            <a:off x="500063" y="6000750"/>
            <a:ext cx="19768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Object explorer</a:t>
            </a:r>
            <a:endParaRPr lang="mk-MK" dirty="0"/>
          </a:p>
        </p:txBody>
      </p:sp>
      <p:cxnSp>
        <p:nvCxnSpPr>
          <p:cNvPr id="9222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606425" y="5392738"/>
            <a:ext cx="135731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786188" y="5214938"/>
            <a:ext cx="1407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workspace</a:t>
            </a:r>
            <a:endParaRPr lang="mk-MK" dirty="0"/>
          </a:p>
        </p:txBody>
      </p:sp>
      <p:cxnSp>
        <p:nvCxnSpPr>
          <p:cNvPr id="9224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4322763" y="446405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714625" y="2000250"/>
            <a:ext cx="24288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Tool strip</a:t>
            </a:r>
            <a:endParaRPr lang="mk-MK" dirty="0"/>
          </a:p>
        </p:txBody>
      </p:sp>
      <p:cxnSp>
        <p:nvCxnSpPr>
          <p:cNvPr id="9226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2322513" y="132080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C1E10C0-8365-4E4E-84D5-46369A13C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4" y="0"/>
            <a:ext cx="8706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0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"/>
          <p:cNvSpPr>
            <a:spLocks noGrp="1" noChangeArrowheads="1"/>
          </p:cNvSpPr>
          <p:nvPr>
            <p:ph type="title"/>
          </p:nvPr>
        </p:nvSpPr>
        <p:spPr>
          <a:xfrm>
            <a:off x="642938" y="142875"/>
            <a:ext cx="8072437" cy="1462088"/>
          </a:xfrm>
        </p:spPr>
        <p:txBody>
          <a:bodyPr/>
          <a:lstStyle/>
          <a:p>
            <a:r>
              <a:rPr lang="en-US" altLang="mk-MK" b="1" i="1" dirty="0"/>
              <a:t>Working with</a:t>
            </a:r>
            <a:r>
              <a:rPr lang="mk-MK" altLang="mk-MK" b="1" i="1" dirty="0"/>
              <a:t> </a:t>
            </a:r>
            <a:r>
              <a:rPr lang="en-US" altLang="mk-MK" b="1" i="1" dirty="0"/>
              <a:t>SQL Server</a:t>
            </a:r>
          </a:p>
        </p:txBody>
      </p:sp>
      <p:sp>
        <p:nvSpPr>
          <p:cNvPr id="36" name="Rectangle 9"/>
          <p:cNvSpPr txBox="1">
            <a:spLocks noChangeArrowheads="1"/>
          </p:cNvSpPr>
          <p:nvPr/>
        </p:nvSpPr>
        <p:spPr bwMode="auto">
          <a:xfrm>
            <a:off x="457200" y="1714500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Connect \ Disconnect</a:t>
            </a:r>
            <a:endParaRPr lang="en-US" i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/>
              <a:t>Register – rename </a:t>
            </a:r>
            <a:r>
              <a:rPr lang="en-US" sz="1200" kern="0" dirty="0"/>
              <a:t>SQL Server</a:t>
            </a:r>
            <a:endParaRPr lang="en-US" sz="12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Start/Stop/Pause…</a:t>
            </a:r>
            <a:endParaRPr lang="mk-MK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Properties - </a:t>
            </a:r>
            <a:r>
              <a:rPr lang="en-US" i="1" kern="0" dirty="0">
                <a:latin typeface="+mn-lt"/>
              </a:rPr>
              <a:t>Security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</p:txBody>
      </p:sp>
      <p:pic>
        <p:nvPicPr>
          <p:cNvPr id="11270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14500"/>
            <a:ext cx="380523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9"/>
          <p:cNvSpPr txBox="1">
            <a:spLocks noChangeArrowheads="1"/>
          </p:cNvSpPr>
          <p:nvPr/>
        </p:nvSpPr>
        <p:spPr bwMode="auto">
          <a:xfrm>
            <a:off x="4929188" y="5000625"/>
            <a:ext cx="3929062" cy="1071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b="1" kern="0" dirty="0">
                <a:latin typeface="+mn-lt"/>
              </a:rPr>
              <a:t>Security</a:t>
            </a:r>
            <a:r>
              <a:rPr lang="mk-MK" sz="1600" kern="0" dirty="0">
                <a:latin typeface="+mn-lt"/>
              </a:rPr>
              <a:t> </a:t>
            </a:r>
            <a:r>
              <a:rPr lang="en-US" sz="1600" kern="0" dirty="0">
                <a:latin typeface="+mn-lt"/>
              </a:rPr>
              <a:t>tab is used to define authentication, end product</a:t>
            </a:r>
            <a:endParaRPr lang="mk-MK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b="1" kern="0" dirty="0">
                <a:latin typeface="+mn-lt"/>
              </a:rPr>
              <a:t>Trusted Security Connection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14375" y="3071813"/>
            <a:ext cx="4071938" cy="3624262"/>
            <a:chOff x="714375" y="3071813"/>
            <a:chExt cx="4071938" cy="3624262"/>
          </a:xfrm>
        </p:grpSpPr>
        <p:pic>
          <p:nvPicPr>
            <p:cNvPr id="10248" name="Picture 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75"/>
            <a:stretch>
              <a:fillRect/>
            </a:stretch>
          </p:blipFill>
          <p:spPr bwMode="auto">
            <a:xfrm>
              <a:off x="714375" y="3071813"/>
              <a:ext cx="4071938" cy="3624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Oval 37"/>
            <p:cNvSpPr>
              <a:spLocks noChangeArrowheads="1"/>
            </p:cNvSpPr>
            <p:nvPr/>
          </p:nvSpPr>
          <p:spPr bwMode="auto">
            <a:xfrm>
              <a:off x="1928813" y="3786188"/>
              <a:ext cx="2643187" cy="571500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/>
            </a:p>
          </p:txBody>
        </p:sp>
      </p:grpSp>
    </p:spTree>
    <p:extLst>
      <p:ext uri="{BB962C8B-B14F-4D97-AF65-F5344CB8AC3E}">
        <p14:creationId xmlns:p14="http://schemas.microsoft.com/office/powerpoint/2010/main" val="77410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0850" indent="-436563" algn="ctr">
              <a:spcBef>
                <a:spcPct val="20000"/>
              </a:spcBef>
            </a:pPr>
            <a:r>
              <a:rPr lang="en-US" altLang="mk-MK" sz="3200" b="1" dirty="0"/>
              <a:t>Example 1: </a:t>
            </a:r>
            <a:r>
              <a:rPr lang="en-US" altLang="mk-MK" sz="3200" dirty="0"/>
              <a:t>log in to </a:t>
            </a:r>
            <a:r>
              <a:rPr lang="en-US" altLang="mk-MK" sz="3200" b="1" dirty="0"/>
              <a:t>SQL Server</a:t>
            </a:r>
          </a:p>
        </p:txBody>
      </p:sp>
      <p:sp>
        <p:nvSpPr>
          <p:cNvPr id="11269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6A968CF-6453-4B7A-97F1-FF0B914EEC62}" type="slidenum">
              <a:rPr lang="en-US" altLang="mk-MK"/>
              <a:pPr/>
              <a:t>12</a:t>
            </a:fld>
            <a:endParaRPr lang="en-US" altLang="mk-MK"/>
          </a:p>
        </p:txBody>
      </p:sp>
      <p:pic>
        <p:nvPicPr>
          <p:cNvPr id="1127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72816"/>
            <a:ext cx="5110725" cy="374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 txBox="1">
            <a:spLocks noChangeArrowheads="1"/>
          </p:cNvSpPr>
          <p:nvPr/>
        </p:nvSpPr>
        <p:spPr bwMode="auto">
          <a:xfrm>
            <a:off x="500063" y="5600700"/>
            <a:ext cx="88582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000" kern="0" dirty="0">
                <a:latin typeface="+mn-lt"/>
              </a:rPr>
              <a:t>Click on </a:t>
            </a:r>
            <a:r>
              <a:rPr lang="en-US" sz="2000" b="1" kern="0" dirty="0">
                <a:latin typeface="+mn-lt"/>
              </a:rPr>
              <a:t>New Query</a:t>
            </a:r>
          </a:p>
        </p:txBody>
      </p:sp>
      <p:pic>
        <p:nvPicPr>
          <p:cNvPr id="1127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5643563"/>
            <a:ext cx="13144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22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altLang="mk-MK" b="1" dirty="0"/>
              <a:t>Create a Database</a:t>
            </a:r>
          </a:p>
        </p:txBody>
      </p:sp>
      <p:sp>
        <p:nvSpPr>
          <p:cNvPr id="24" name="Rectangle 9"/>
          <p:cNvSpPr txBox="1">
            <a:spLocks noChangeArrowheads="1"/>
          </p:cNvSpPr>
          <p:nvPr/>
        </p:nvSpPr>
        <p:spPr bwMode="auto">
          <a:xfrm>
            <a:off x="285750" y="1600200"/>
            <a:ext cx="885825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kern="0" dirty="0"/>
              <a:t>CREATE DATABASE</a:t>
            </a:r>
            <a:r>
              <a:rPr lang="mk-MK" sz="2400" b="1" kern="0" dirty="0"/>
              <a:t> </a:t>
            </a:r>
            <a:endParaRPr lang="mk-MK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Only system administrator has authorization to</a:t>
            </a:r>
            <a:br>
              <a:rPr lang="en-US" sz="2400" dirty="0"/>
            </a:br>
            <a:r>
              <a:rPr lang="en-US" sz="2400" dirty="0"/>
              <a:t>execute a </a:t>
            </a:r>
            <a:r>
              <a:rPr lang="en-US" sz="2400" b="1" dirty="0"/>
              <a:t>CREATE DATABASE </a:t>
            </a:r>
            <a:r>
              <a:rPr lang="en-US" sz="2400" dirty="0"/>
              <a:t>command</a:t>
            </a:r>
            <a:r>
              <a:rPr lang="en-US" sz="2400" kern="0" dirty="0">
                <a:latin typeface="+mn-lt"/>
              </a:rPr>
              <a:t>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800" b="1" kern="0" dirty="0">
                <a:latin typeface="+mn-lt"/>
              </a:rPr>
              <a:t>CREATE DATABASE &lt;</a:t>
            </a:r>
            <a:r>
              <a:rPr lang="en-US" sz="2800" b="1" kern="0" dirty="0" err="1">
                <a:latin typeface="+mn-lt"/>
              </a:rPr>
              <a:t>datebase_name</a:t>
            </a:r>
            <a:r>
              <a:rPr lang="en-US" sz="2800" b="1" kern="0" dirty="0">
                <a:latin typeface="+mn-lt"/>
              </a:rPr>
              <a:t>&gt;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sz="2400" b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Granting permissions to specific </a:t>
            </a:r>
            <a:r>
              <a:rPr lang="en-US" sz="2400" dirty="0" err="1"/>
              <a:t>user_account</a:t>
            </a:r>
            <a:r>
              <a:rPr lang="en-US" sz="2400" dirty="0"/>
              <a:t> (not</a:t>
            </a:r>
            <a:br>
              <a:rPr lang="en-US" sz="2400" dirty="0"/>
            </a:br>
            <a:r>
              <a:rPr lang="en-US" sz="2400" dirty="0"/>
              <a:t>Administrator)</a:t>
            </a:r>
          </a:p>
          <a:p>
            <a:pPr marL="927100" lvl="1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GRANT CREATE DATABASE TO &lt;</a:t>
            </a:r>
            <a:r>
              <a:rPr lang="en-US" sz="2400" dirty="0" err="1"/>
              <a:t>user_account</a:t>
            </a:r>
            <a:r>
              <a:rPr lang="en-US" sz="2400" dirty="0"/>
              <a:t>&gt;</a:t>
            </a:r>
            <a:br>
              <a:rPr lang="en-US" sz="2400" dirty="0"/>
            </a:br>
            <a:endParaRPr lang="en-US" sz="2400" b="1" kern="0" dirty="0">
              <a:latin typeface="+mn-lt"/>
            </a:endParaRPr>
          </a:p>
        </p:txBody>
      </p:sp>
      <p:sp>
        <p:nvSpPr>
          <p:cNvPr id="12293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D138C1B-E964-468D-B1B3-632B44B995C9}" type="slidenum">
              <a:rPr lang="en-US" altLang="mk-MK"/>
              <a:pPr/>
              <a:t>13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14284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altLang="mk-MK" b="1" dirty="0"/>
              <a:t>Database Objects</a:t>
            </a:r>
          </a:p>
        </p:txBody>
      </p:sp>
      <p:sp>
        <p:nvSpPr>
          <p:cNvPr id="24" name="Rectangle 9"/>
          <p:cNvSpPr txBox="1">
            <a:spLocks noChangeArrowheads="1"/>
          </p:cNvSpPr>
          <p:nvPr/>
        </p:nvSpPr>
        <p:spPr bwMode="auto">
          <a:xfrm>
            <a:off x="285750" y="1600200"/>
            <a:ext cx="885825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kern="0" dirty="0"/>
              <a:t>DATABASE</a:t>
            </a:r>
            <a:r>
              <a:rPr lang="mk-MK" sz="2400" b="1" kern="0" dirty="0"/>
              <a:t> </a:t>
            </a:r>
            <a:endParaRPr lang="mk-MK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Table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Schema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View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Function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Procedure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Trigger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Scripts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br>
              <a:rPr lang="en-US" sz="2400" dirty="0"/>
            </a:br>
            <a:endParaRPr lang="en-US" sz="2400" b="1" kern="0" dirty="0">
              <a:latin typeface="+mn-lt"/>
            </a:endParaRPr>
          </a:p>
        </p:txBody>
      </p:sp>
      <p:sp>
        <p:nvSpPr>
          <p:cNvPr id="12293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D138C1B-E964-468D-B1B3-632B44B995C9}" type="slidenum">
              <a:rPr lang="en-US" altLang="mk-MK"/>
              <a:pPr/>
              <a:t>14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647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981075"/>
            <a:ext cx="8001000" cy="531813"/>
          </a:xfrm>
        </p:spPr>
        <p:txBody>
          <a:bodyPr/>
          <a:lstStyle/>
          <a:p>
            <a:pPr eaLnBrk="1" hangingPunct="1"/>
            <a:r>
              <a:rPr lang="en-US" altLang="mk-MK" b="1"/>
              <a:t>CREATE DATABASE</a:t>
            </a:r>
          </a:p>
        </p:txBody>
      </p:sp>
      <p:sp>
        <p:nvSpPr>
          <p:cNvPr id="13316" name="Content Placeholder 4"/>
          <p:cNvSpPr>
            <a:spLocks noGrp="1"/>
          </p:cNvSpPr>
          <p:nvPr>
            <p:ph idx="1"/>
          </p:nvPr>
        </p:nvSpPr>
        <p:spPr>
          <a:xfrm>
            <a:off x="571500" y="2305050"/>
            <a:ext cx="8001000" cy="4267200"/>
          </a:xfrm>
        </p:spPr>
        <p:txBody>
          <a:bodyPr/>
          <a:lstStyle/>
          <a:p>
            <a:endParaRPr lang="en-US" altLang="mk-MK" dirty="0"/>
          </a:p>
          <a:p>
            <a:endParaRPr lang="en-US" altLang="mk-MK" dirty="0"/>
          </a:p>
          <a:p>
            <a:endParaRPr lang="en-US" altLang="mk-MK" dirty="0"/>
          </a:p>
          <a:p>
            <a:r>
              <a:rPr lang="en-US" altLang="mk-MK" dirty="0"/>
              <a:t>Press EXECUTE</a:t>
            </a:r>
            <a:endParaRPr lang="mk-MK" altLang="mk-MK" dirty="0"/>
          </a:p>
        </p:txBody>
      </p:sp>
      <p:sp>
        <p:nvSpPr>
          <p:cNvPr id="1331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39C85C4-9E23-448D-A3A3-0ED8F1BE47B5}" type="slidenum">
              <a:rPr lang="en-US" altLang="mk-MK"/>
              <a:pPr/>
              <a:t>15</a:t>
            </a:fld>
            <a:endParaRPr lang="en-US" altLang="mk-MK"/>
          </a:p>
        </p:txBody>
      </p:sp>
      <p:pic>
        <p:nvPicPr>
          <p:cNvPr id="1331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714500"/>
            <a:ext cx="71532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4714875"/>
            <a:ext cx="528637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9299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/>
              <a:t>Where are Data Base Files</a:t>
            </a:r>
            <a:r>
              <a:rPr lang="en-US" altLang="mk-MK" sz="3400" b="1" dirty="0"/>
              <a:t>?</a:t>
            </a:r>
            <a:endParaRPr lang="en-US" altLang="mk-MK" sz="34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85938"/>
            <a:ext cx="8391525" cy="484505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eaLnBrk="1" hangingPunct="1">
              <a:defRPr/>
            </a:pPr>
            <a:r>
              <a:rPr lang="en-US" sz="2800" i="1" dirty="0"/>
              <a:t>Student.mdf</a:t>
            </a:r>
          </a:p>
          <a:p>
            <a:pPr eaLnBrk="1" hangingPunct="1">
              <a:defRPr/>
            </a:pPr>
            <a:r>
              <a:rPr lang="en-US" sz="2800" i="1" dirty="0"/>
              <a:t>Student_log.LDF</a:t>
            </a:r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r>
              <a:rPr lang="en-US" sz="2800" b="1" dirty="0"/>
              <a:t>Default location:</a:t>
            </a:r>
            <a:endParaRPr lang="en-US" sz="2000" b="1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/>
              <a:t>C:\Program Files\Microsoft SQL Server\MSSQL.1\MSSQL\DATA</a:t>
            </a:r>
          </a:p>
        </p:txBody>
      </p:sp>
      <p:pic>
        <p:nvPicPr>
          <p:cNvPr id="1434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4" t="37195" r="47244" b="23622"/>
          <a:stretch>
            <a:fillRect/>
          </a:stretch>
        </p:blipFill>
        <p:spPr bwMode="auto">
          <a:xfrm>
            <a:off x="4286250" y="2171104"/>
            <a:ext cx="4632325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1B90597-C884-412C-A846-60C43B7DBD74}" type="slidenum">
              <a:rPr lang="en-US" altLang="mk-MK"/>
              <a:pPr/>
              <a:t>16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865451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/>
              <a:t>Where is Student DB in</a:t>
            </a:r>
            <a:br>
              <a:rPr lang="en-US" sz="3200" b="1" dirty="0"/>
            </a:br>
            <a:r>
              <a:rPr lang="en-US" sz="3200" b="1" dirty="0"/>
              <a:t>Management Studio structure?</a:t>
            </a:r>
            <a:endParaRPr lang="en-US" altLang="mk-MK" sz="3200" b="1" dirty="0"/>
          </a:p>
        </p:txBody>
      </p:sp>
      <p:sp>
        <p:nvSpPr>
          <p:cNvPr id="1536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F16E5F0-CF75-441D-9809-441B8168E51F}" type="slidenum">
              <a:rPr lang="en-US" altLang="mk-MK"/>
              <a:pPr/>
              <a:t>17</a:t>
            </a:fld>
            <a:endParaRPr lang="en-US" altLang="mk-MK"/>
          </a:p>
        </p:txBody>
      </p:sp>
      <p:pic>
        <p:nvPicPr>
          <p:cNvPr id="1536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2133600"/>
            <a:ext cx="4495800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585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304800"/>
            <a:ext cx="8858250" cy="1216025"/>
          </a:xfrm>
        </p:spPr>
        <p:txBody>
          <a:bodyPr/>
          <a:lstStyle/>
          <a:p>
            <a:pPr eaLnBrk="1" hangingPunct="1"/>
            <a:r>
              <a:rPr lang="en-US" altLang="mk-MK" b="1" dirty="0"/>
              <a:t>Choose DB to work with</a:t>
            </a:r>
            <a:r>
              <a:rPr lang="mk-MK" altLang="mk-MK" b="1" dirty="0"/>
              <a:t> </a:t>
            </a:r>
            <a:r>
              <a:rPr lang="en-US" altLang="mk-MK" b="1" dirty="0"/>
              <a:t>(1)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4DCD777-D028-4E94-AC49-0FBCD4FF30EA}" type="slidenum">
              <a:rPr lang="en-US" altLang="mk-MK"/>
              <a:pPr/>
              <a:t>18</a:t>
            </a:fld>
            <a:endParaRPr lang="en-US" altLang="mk-MK"/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2000250"/>
            <a:ext cx="3495675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80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Choose DB to work with</a:t>
            </a:r>
            <a:r>
              <a:rPr lang="mk-MK" altLang="mk-MK" b="1" dirty="0"/>
              <a:t> </a:t>
            </a:r>
            <a:r>
              <a:rPr lang="en-US" altLang="mk-MK" b="1" dirty="0"/>
              <a:t>(1)</a:t>
            </a:r>
          </a:p>
        </p:txBody>
      </p:sp>
      <p:sp>
        <p:nvSpPr>
          <p:cNvPr id="17412" name="TextBox 7"/>
          <p:cNvSpPr txBox="1">
            <a:spLocks noChangeArrowheads="1"/>
          </p:cNvSpPr>
          <p:nvPr/>
        </p:nvSpPr>
        <p:spPr bwMode="auto">
          <a:xfrm>
            <a:off x="714375" y="1857375"/>
            <a:ext cx="8001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3200" b="1" dirty="0"/>
              <a:t>USE &lt;</a:t>
            </a:r>
            <a:r>
              <a:rPr lang="en-US" altLang="mk-MK" sz="3200" b="1" dirty="0" err="1"/>
              <a:t>database_name</a:t>
            </a:r>
            <a:r>
              <a:rPr lang="en-US" altLang="mk-MK" sz="3200" b="1" dirty="0"/>
              <a:t>&gt;</a:t>
            </a:r>
            <a:r>
              <a:rPr lang="mk-MK" altLang="mk-MK" sz="3200" b="1" dirty="0"/>
              <a:t> +</a:t>
            </a:r>
            <a:r>
              <a:rPr lang="en-US" altLang="mk-MK" sz="3200" b="1" dirty="0"/>
              <a:t> Execute</a:t>
            </a:r>
            <a:endParaRPr lang="mk-MK" altLang="mk-MK" sz="3200" b="1" dirty="0"/>
          </a:p>
        </p:txBody>
      </p:sp>
      <p:sp>
        <p:nvSpPr>
          <p:cNvPr id="17413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D709917-72B4-4A1B-87D2-9E66A4A7E8B8}" type="slidenum">
              <a:rPr lang="en-US" altLang="mk-MK"/>
              <a:pPr/>
              <a:t>19</a:t>
            </a:fld>
            <a:endParaRPr lang="en-US" altLang="mk-MK"/>
          </a:p>
        </p:txBody>
      </p:sp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2886075"/>
            <a:ext cx="6005512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201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 dirty="0"/>
              <a:t>SCSIT</a:t>
            </a:r>
            <a:br>
              <a:rPr lang="en-US" altLang="mk-MK" sz="3000" b="1" dirty="0"/>
            </a:br>
            <a:r>
              <a:rPr lang="en-US" altLang="mk-MK" sz="3000" b="1" dirty="0"/>
              <a:t>V Semester</a:t>
            </a:r>
            <a:br>
              <a:rPr lang="en-US" altLang="mk-MK" sz="3000" b="1" dirty="0"/>
            </a:br>
            <a:br>
              <a:rPr lang="en-US" altLang="mk-MK" sz="2600" b="1" dirty="0"/>
            </a:br>
            <a:r>
              <a:rPr lang="en-US" altLang="mk-MK" sz="2600" b="1" dirty="0" err="1"/>
              <a:t>DataBase</a:t>
            </a:r>
            <a:r>
              <a:rPr lang="en-US" altLang="mk-MK" sz="2600" b="1" dirty="0"/>
              <a:t> 2 </a:t>
            </a:r>
            <a:endParaRPr lang="en-US" altLang="mk-MK" sz="28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143250"/>
            <a:ext cx="7010400" cy="1600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/>
              <a:t>Lab. Exercise No. 2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altLang="ko-KR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굴림" charset="-127"/>
              </a:rPr>
              <a:t>GUI working interface in SQL Server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EBEEE7-70A0-4136-92F5-5135B883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4869160"/>
            <a:ext cx="4839119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5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/>
          <p:cNvSpPr>
            <a:spLocks noGrp="1" noChangeArrowheads="1"/>
          </p:cNvSpPr>
          <p:nvPr>
            <p:ph type="title"/>
          </p:nvPr>
        </p:nvSpPr>
        <p:spPr>
          <a:xfrm>
            <a:off x="642938" y="142875"/>
            <a:ext cx="8072437" cy="1462088"/>
          </a:xfrm>
        </p:spPr>
        <p:txBody>
          <a:bodyPr/>
          <a:lstStyle/>
          <a:p>
            <a:r>
              <a:rPr lang="en-US" altLang="mk-MK" b="1" dirty="0"/>
              <a:t>How to use Mng. Studio</a:t>
            </a:r>
          </a:p>
        </p:txBody>
      </p:sp>
      <p:sp>
        <p:nvSpPr>
          <p:cNvPr id="36" name="Rectangle 9"/>
          <p:cNvSpPr txBox="1">
            <a:spLocks noChangeArrowheads="1"/>
          </p:cNvSpPr>
          <p:nvPr/>
        </p:nvSpPr>
        <p:spPr bwMode="auto">
          <a:xfrm>
            <a:off x="457200" y="1714500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Connect \ Disconnect</a:t>
            </a:r>
            <a:endParaRPr lang="en-US" i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/>
              <a:t>Register</a:t>
            </a:r>
            <a:endParaRPr lang="en-US" sz="12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Start/Stop/Pause…</a:t>
            </a:r>
            <a:endParaRPr lang="mk-MK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Properties - </a:t>
            </a:r>
            <a:r>
              <a:rPr lang="en-US" i="1" kern="0" dirty="0">
                <a:latin typeface="+mn-lt"/>
              </a:rPr>
              <a:t>Security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</p:txBody>
      </p:sp>
      <p:pic>
        <p:nvPicPr>
          <p:cNvPr id="11270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14500"/>
            <a:ext cx="380523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9"/>
          <p:cNvSpPr txBox="1">
            <a:spLocks noChangeArrowheads="1"/>
          </p:cNvSpPr>
          <p:nvPr/>
        </p:nvSpPr>
        <p:spPr bwMode="auto">
          <a:xfrm>
            <a:off x="4929188" y="5000625"/>
            <a:ext cx="3929062" cy="1071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dirty="0"/>
              <a:t>In </a:t>
            </a:r>
            <a:r>
              <a:rPr lang="en-US" sz="1600" b="1" dirty="0"/>
              <a:t>Security</a:t>
            </a:r>
            <a:r>
              <a:rPr lang="en-US" sz="1600" dirty="0"/>
              <a:t> you can define Server</a:t>
            </a:r>
            <a:br>
              <a:rPr lang="en-US" sz="1600" dirty="0"/>
            </a:br>
            <a:r>
              <a:rPr lang="en-US" sz="1600" dirty="0"/>
              <a:t>Authentication type in order to</a:t>
            </a:r>
            <a:br>
              <a:rPr lang="en-US" sz="1600" dirty="0"/>
            </a:br>
            <a:r>
              <a:rPr lang="en-US" sz="1600" dirty="0"/>
              <a:t>create so called </a:t>
            </a:r>
            <a:r>
              <a:rPr lang="en-US" sz="1600" b="1" dirty="0"/>
              <a:t>Trusted Security</a:t>
            </a:r>
            <a:br>
              <a:rPr lang="en-US" sz="1600" b="1" dirty="0"/>
            </a:br>
            <a:r>
              <a:rPr lang="en-US" sz="1600" b="1" dirty="0"/>
              <a:t>Connection</a:t>
            </a:r>
            <a:endParaRPr lang="en-US" sz="1600" b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14375" y="3071813"/>
            <a:ext cx="4071938" cy="3624262"/>
            <a:chOff x="714375" y="3071813"/>
            <a:chExt cx="4071938" cy="3624262"/>
          </a:xfrm>
        </p:grpSpPr>
        <p:pic>
          <p:nvPicPr>
            <p:cNvPr id="4104" name="Picture 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75"/>
            <a:stretch>
              <a:fillRect/>
            </a:stretch>
          </p:blipFill>
          <p:spPr bwMode="auto">
            <a:xfrm>
              <a:off x="714375" y="3071813"/>
              <a:ext cx="4071938" cy="3624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5" name="Oval 37"/>
            <p:cNvSpPr>
              <a:spLocks noChangeArrowheads="1"/>
            </p:cNvSpPr>
            <p:nvPr/>
          </p:nvSpPr>
          <p:spPr bwMode="auto">
            <a:xfrm>
              <a:off x="1928813" y="3786188"/>
              <a:ext cx="2643187" cy="571500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 dirty="0"/>
            </a:p>
          </p:txBody>
        </p:sp>
      </p:grpSp>
    </p:spTree>
    <p:extLst>
      <p:ext uri="{BB962C8B-B14F-4D97-AF65-F5344CB8AC3E}">
        <p14:creationId xmlns:p14="http://schemas.microsoft.com/office/powerpoint/2010/main" val="6348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6"/>
          <p:cNvSpPr>
            <a:spLocks noGrp="1"/>
          </p:cNvSpPr>
          <p:nvPr>
            <p:ph type="title"/>
          </p:nvPr>
        </p:nvSpPr>
        <p:spPr>
          <a:xfrm>
            <a:off x="574675" y="304800"/>
            <a:ext cx="8355013" cy="1216025"/>
          </a:xfrm>
        </p:spPr>
        <p:txBody>
          <a:bodyPr/>
          <a:lstStyle/>
          <a:p>
            <a:r>
              <a:rPr lang="en-US" b="1" dirty="0"/>
              <a:t>DataBase operations</a:t>
            </a:r>
            <a:endParaRPr lang="mk-MK" altLang="mk-MK" b="1" dirty="0"/>
          </a:p>
        </p:txBody>
      </p:sp>
      <p:sp>
        <p:nvSpPr>
          <p:cNvPr id="17" name="Rectangle 9"/>
          <p:cNvSpPr txBox="1">
            <a:spLocks noChangeArrowheads="1"/>
          </p:cNvSpPr>
          <p:nvPr/>
        </p:nvSpPr>
        <p:spPr bwMode="auto">
          <a:xfrm>
            <a:off x="457200" y="1831975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New Database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Attach </a:t>
            </a:r>
            <a:r>
              <a:rPr lang="en-US" sz="1200" i="1" kern="0" dirty="0">
                <a:latin typeface="+mn-lt"/>
              </a:rPr>
              <a:t>(*.mdf and *.ldf)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Restore </a:t>
            </a:r>
            <a:r>
              <a:rPr lang="en-US" sz="1200" i="1" kern="0" dirty="0"/>
              <a:t>(*.bak)</a:t>
            </a:r>
            <a:endParaRPr lang="en-US" sz="24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400" kern="0" dirty="0">
                <a:latin typeface="+mn-lt"/>
              </a:rPr>
              <a:t>------------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Script DB As..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Detach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Shrink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Back up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</p:txBody>
      </p:sp>
      <p:pic>
        <p:nvPicPr>
          <p:cNvPr id="122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4643438"/>
            <a:ext cx="3786188" cy="2071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714500"/>
            <a:ext cx="3211512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3357563"/>
            <a:ext cx="3143250" cy="1971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30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New Database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mk-MK" altLang="mk-MK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0BE8E2E-46A7-48BC-91D2-57112D18DA15}" type="slidenum">
              <a:rPr lang="en-US" altLang="mk-MK"/>
              <a:pPr/>
              <a:t>23</a:t>
            </a:fld>
            <a:endParaRPr lang="en-US" altLang="mk-MK" dirty="0"/>
          </a:p>
        </p:txBody>
      </p:sp>
      <p:pic>
        <p:nvPicPr>
          <p:cNvPr id="61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4313"/>
            <a:ext cx="27527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1625"/>
            <a:ext cx="5143500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715000" y="4643438"/>
            <a:ext cx="2786063" cy="1000125"/>
            <a:chOff x="5715008" y="1785926"/>
            <a:chExt cx="2400307" cy="807869"/>
          </a:xfrm>
        </p:grpSpPr>
        <p:pic>
          <p:nvPicPr>
            <p:cNvPr id="6153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1785926"/>
              <a:ext cx="2400307" cy="807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4" name="Rectangle 9"/>
            <p:cNvSpPr>
              <a:spLocks noChangeArrowheads="1"/>
            </p:cNvSpPr>
            <p:nvPr/>
          </p:nvSpPr>
          <p:spPr bwMode="auto">
            <a:xfrm>
              <a:off x="7000892" y="2000240"/>
              <a:ext cx="428628" cy="142876"/>
            </a:xfrm>
            <a:prstGeom prst="rect">
              <a:avLst/>
            </a:prstGeom>
            <a:solidFill>
              <a:srgbClr val="EAEAEA">
                <a:alpha val="9215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 dirty="0"/>
            </a:p>
          </p:txBody>
        </p:sp>
      </p:grpSp>
      <p:sp>
        <p:nvSpPr>
          <p:cNvPr id="6152" name="Rectangle 10"/>
          <p:cNvSpPr>
            <a:spLocks noChangeArrowheads="1"/>
          </p:cNvSpPr>
          <p:nvPr/>
        </p:nvSpPr>
        <p:spPr bwMode="auto">
          <a:xfrm>
            <a:off x="5250656" y="2732372"/>
            <a:ext cx="3714750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2500" b="1" dirty="0">
                <a:solidFill>
                  <a:srgbClr val="FF0000"/>
                </a:solidFill>
              </a:rPr>
              <a:t>ATTENTION!!!</a:t>
            </a:r>
            <a:br>
              <a:rPr lang="en-US" sz="2500" b="1" dirty="0">
                <a:solidFill>
                  <a:srgbClr val="FF0000"/>
                </a:solidFill>
              </a:rPr>
            </a:br>
            <a:r>
              <a:rPr lang="en-US" sz="2500" dirty="0">
                <a:solidFill>
                  <a:srgbClr val="FF0000"/>
                </a:solidFill>
              </a:rPr>
              <a:t>You can not create</a:t>
            </a:r>
            <a:br>
              <a:rPr lang="en-US" sz="2500" dirty="0">
                <a:solidFill>
                  <a:srgbClr val="FF0000"/>
                </a:solidFill>
              </a:rPr>
            </a:br>
            <a:r>
              <a:rPr lang="en-US" sz="2500" dirty="0">
                <a:solidFill>
                  <a:srgbClr val="FF0000"/>
                </a:solidFill>
              </a:rPr>
              <a:t>database with SAME</a:t>
            </a:r>
            <a:br>
              <a:rPr lang="en-US" sz="2500" dirty="0">
                <a:solidFill>
                  <a:srgbClr val="FF0000"/>
                </a:solidFill>
              </a:rPr>
            </a:br>
            <a:r>
              <a:rPr lang="en-US" sz="2500" dirty="0">
                <a:solidFill>
                  <a:srgbClr val="FF0000"/>
                </a:solidFill>
              </a:rPr>
              <a:t>NAME as some DB</a:t>
            </a:r>
            <a:br>
              <a:rPr lang="en-US" sz="2500" dirty="0">
                <a:solidFill>
                  <a:srgbClr val="FF0000"/>
                </a:solidFill>
              </a:rPr>
            </a:br>
            <a:r>
              <a:rPr lang="en-US" sz="2500" dirty="0">
                <a:solidFill>
                  <a:srgbClr val="FF0000"/>
                </a:solidFill>
              </a:rPr>
              <a:t>that already exists</a:t>
            </a:r>
            <a:endParaRPr lang="en-US" altLang="mk-MK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2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mk-MK" altLang="mk-MK" dirty="0"/>
          </a:p>
        </p:txBody>
      </p:sp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1B3622A-CE11-4E25-BEA8-90935E7E0B9E}" type="slidenum">
              <a:rPr lang="en-US" altLang="mk-MK"/>
              <a:pPr/>
              <a:t>24</a:t>
            </a:fld>
            <a:endParaRPr lang="en-US" altLang="mk-MK" dirty="0"/>
          </a:p>
        </p:txBody>
      </p:sp>
      <p:sp>
        <p:nvSpPr>
          <p:cNvPr id="717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Attach </a:t>
            </a:r>
            <a:br>
              <a:rPr lang="mk-MK" altLang="mk-MK" b="1" dirty="0"/>
            </a:br>
            <a:r>
              <a:rPr lang="en-US" altLang="mk-MK" b="1" dirty="0"/>
              <a:t>Data Base</a:t>
            </a:r>
            <a:endParaRPr lang="mk-MK" altLang="mk-MK" b="1" dirty="0"/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750"/>
            <a:ext cx="23145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409700"/>
            <a:ext cx="610870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4429125"/>
            <a:ext cx="48863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ular Callout 5"/>
          <p:cNvSpPr/>
          <p:nvPr/>
        </p:nvSpPr>
        <p:spPr bwMode="auto">
          <a:xfrm>
            <a:off x="5072063" y="71438"/>
            <a:ext cx="4071937" cy="1928812"/>
          </a:xfrm>
          <a:prstGeom prst="wedgeRoundRectCallout">
            <a:avLst>
              <a:gd name="adj1" fmla="val -20833"/>
              <a:gd name="adj2" fmla="val 5036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lstStyle/>
          <a:p>
            <a:pPr algn="just">
              <a:defRPr/>
            </a:pPr>
            <a:r>
              <a:rPr lang="en-US" sz="1400" b="1" i="1" dirty="0"/>
              <a:t>Attention: you</a:t>
            </a:r>
            <a:r>
              <a:rPr lang="en-US" sz="1400" i="1" dirty="0"/>
              <a:t> can not attach database with same name as some DB that</a:t>
            </a:r>
            <a:br>
              <a:rPr lang="en-US" sz="1400" i="1" dirty="0"/>
            </a:br>
            <a:r>
              <a:rPr lang="en-US" sz="1400" i="1" dirty="0"/>
              <a:t>already exists. </a:t>
            </a:r>
            <a:r>
              <a:rPr lang="en-US" sz="1400" b="1" i="1" dirty="0"/>
              <a:t>YOU NEED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n-US" sz="1400" i="1" dirty="0"/>
              <a:t>To rename newly attached database</a:t>
            </a:r>
            <a:br>
              <a:rPr lang="en-US" sz="1400" i="1" dirty="0"/>
            </a:br>
            <a:r>
              <a:rPr lang="en-US" sz="1400" i="1" dirty="0"/>
              <a:t>i.e. to change its logical name on</a:t>
            </a:r>
            <a:br>
              <a:rPr lang="en-US" sz="1400" i="1" dirty="0"/>
            </a:br>
            <a:r>
              <a:rPr lang="en-US" sz="1400" i="1" dirty="0"/>
              <a:t>server (Attach as), or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n-US" sz="1400" i="1" dirty="0"/>
              <a:t>To remove the first database (detach)</a:t>
            </a:r>
            <a:br>
              <a:rPr lang="en-US" sz="1400" i="1" dirty="0"/>
            </a:br>
            <a:r>
              <a:rPr lang="en-US" sz="1400" i="1" dirty="0"/>
              <a:t>and then to attach the new one</a:t>
            </a:r>
          </a:p>
        </p:txBody>
      </p:sp>
    </p:spTree>
    <p:extLst>
      <p:ext uri="{BB962C8B-B14F-4D97-AF65-F5344CB8AC3E}">
        <p14:creationId xmlns:p14="http://schemas.microsoft.com/office/powerpoint/2010/main" val="384370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9602DE9-0A9A-48A4-B12F-61565DF3907E}" type="slidenum">
              <a:rPr lang="en-US" altLang="mk-MK"/>
              <a:pPr/>
              <a:t>25</a:t>
            </a:fld>
            <a:endParaRPr lang="en-US" altLang="mk-MK" dirty="0"/>
          </a:p>
        </p:txBody>
      </p:sp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214313"/>
            <a:ext cx="278606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1214438"/>
            <a:ext cx="33623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0438"/>
            <a:ext cx="603885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3857625"/>
            <a:ext cx="33147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2000250"/>
            <a:ext cx="2071687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8832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 Table structure</a:t>
            </a:r>
            <a:endParaRPr lang="en-US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mk-MK" altLang="mk-MK" dirty="0"/>
          </a:p>
          <a:p>
            <a:endParaRPr lang="mk-MK" altLang="mk-MK" dirty="0"/>
          </a:p>
          <a:p>
            <a:endParaRPr lang="en-US" altLang="mk-MK" dirty="0"/>
          </a:p>
          <a:p>
            <a:r>
              <a:rPr lang="en-US" sz="2800" dirty="0"/>
              <a:t>You will get the same window as in</a:t>
            </a:r>
            <a:br>
              <a:rPr lang="en-US" sz="2800" dirty="0"/>
            </a:br>
            <a:r>
              <a:rPr lang="en-US" sz="2800" dirty="0"/>
              <a:t>New Table…, step 2</a:t>
            </a:r>
          </a:p>
          <a:p>
            <a:r>
              <a:rPr lang="en-US" sz="2800" dirty="0"/>
              <a:t>After you’ll make some changes, you</a:t>
            </a:r>
            <a:br>
              <a:rPr lang="en-US" sz="2800" dirty="0"/>
            </a:br>
            <a:r>
              <a:rPr lang="en-US" sz="2800" b="1" dirty="0"/>
              <a:t>MUST save the modified table</a:t>
            </a:r>
            <a:br>
              <a:rPr lang="en-US" sz="2800" b="1" dirty="0"/>
            </a:br>
            <a:r>
              <a:rPr lang="en-US" sz="2800" b="1" dirty="0"/>
              <a:t>structure </a:t>
            </a:r>
            <a:r>
              <a:rPr lang="en-US" sz="2800" dirty="0"/>
              <a:t>(ctrl+S)</a:t>
            </a:r>
            <a:endParaRPr lang="en-US" altLang="mk-MK" sz="2800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55D1F1E-AC20-4A6D-9151-F12C21E650A2}" type="slidenum">
              <a:rPr lang="en-US" altLang="mk-MK"/>
              <a:pPr/>
              <a:t>26</a:t>
            </a:fld>
            <a:endParaRPr lang="en-US" altLang="mk-MK" dirty="0"/>
          </a:p>
        </p:txBody>
      </p:sp>
      <p:pic>
        <p:nvPicPr>
          <p:cNvPr id="922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857375"/>
            <a:ext cx="27146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3907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Database </a:t>
            </a:r>
            <a:br>
              <a:rPr lang="en-US" altLang="mk-MK" b="1" dirty="0"/>
            </a:br>
            <a:r>
              <a:rPr lang="en-US" altLang="mk-MK" b="1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90687"/>
            <a:ext cx="8964488" cy="50577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000" b="1" dirty="0"/>
              <a:t>General</a:t>
            </a:r>
            <a:r>
              <a:rPr lang="en-US" sz="2000" dirty="0"/>
              <a:t>: Basic database information</a:t>
            </a:r>
            <a:endParaRPr lang="mk-MK" sz="2000" dirty="0"/>
          </a:p>
          <a:p>
            <a:pPr lvl="1">
              <a:defRPr/>
            </a:pPr>
            <a:r>
              <a:rPr lang="en-US" sz="1800" dirty="0"/>
              <a:t>name</a:t>
            </a:r>
            <a:r>
              <a:rPr lang="mk-MK" sz="1800" dirty="0"/>
              <a:t>, </a:t>
            </a:r>
            <a:r>
              <a:rPr lang="en-US" sz="1800" dirty="0"/>
              <a:t>size</a:t>
            </a:r>
            <a:r>
              <a:rPr lang="mk-MK" sz="1800" dirty="0"/>
              <a:t>, </a:t>
            </a:r>
            <a:r>
              <a:rPr lang="en-US" sz="1800" dirty="0"/>
              <a:t>owner</a:t>
            </a:r>
            <a:r>
              <a:rPr lang="mk-MK" sz="1800" dirty="0"/>
              <a:t>, </a:t>
            </a:r>
            <a:r>
              <a:rPr lang="en-US" sz="1800" dirty="0"/>
              <a:t>no</a:t>
            </a:r>
            <a:r>
              <a:rPr lang="mk-MK" sz="1800" dirty="0"/>
              <a:t>.</a:t>
            </a:r>
            <a:r>
              <a:rPr lang="en-US" sz="1800" dirty="0"/>
              <a:t> of users</a:t>
            </a:r>
          </a:p>
          <a:p>
            <a:pPr lvl="1">
              <a:defRPr/>
            </a:pPr>
            <a:r>
              <a:rPr lang="en-US" sz="1800" dirty="0"/>
              <a:t>Last</a:t>
            </a:r>
            <a:r>
              <a:rPr lang="mk-MK" sz="1800" dirty="0"/>
              <a:t> </a:t>
            </a:r>
            <a:r>
              <a:rPr lang="en-US" sz="1800" dirty="0"/>
              <a:t>backup</a:t>
            </a:r>
            <a:endParaRPr lang="mk-MK" sz="1800" dirty="0"/>
          </a:p>
          <a:p>
            <a:pPr lvl="1">
              <a:defRPr/>
            </a:pPr>
            <a:r>
              <a:rPr lang="en-US" sz="1800" dirty="0"/>
              <a:t>Collation</a:t>
            </a:r>
            <a:r>
              <a:rPr lang="mk-MK" sz="1800" dirty="0"/>
              <a:t>: </a:t>
            </a:r>
            <a:r>
              <a:rPr lang="en-US" sz="1400" dirty="0"/>
              <a:t>Macedonian_FYROM_90_</a:t>
            </a:r>
            <a:r>
              <a:rPr lang="en-US" sz="1400" b="1" dirty="0"/>
              <a:t>CI_AS</a:t>
            </a:r>
            <a:endParaRPr lang="mk-MK" sz="1400" b="1" dirty="0"/>
          </a:p>
          <a:p>
            <a:pPr marL="1325562" lvl="2" indent="-457200">
              <a:buFont typeface="+mj-lt"/>
              <a:buAutoNum type="alphaLcPeriod"/>
              <a:defRPr/>
            </a:pPr>
            <a:r>
              <a:rPr lang="en-US" sz="1600" dirty="0"/>
              <a:t>CI = case-insensitive,</a:t>
            </a:r>
            <a:r>
              <a:rPr lang="mk-MK" sz="1600" dirty="0"/>
              <a:t>	</a:t>
            </a:r>
            <a:r>
              <a:rPr lang="en-US" sz="1600" dirty="0"/>
              <a:t>CS = case-sensitive</a:t>
            </a:r>
            <a:endParaRPr lang="mk-MK" sz="1600" dirty="0"/>
          </a:p>
          <a:p>
            <a:pPr marL="1325562" lvl="2" indent="-457200">
              <a:buFont typeface="+mj-lt"/>
              <a:buAutoNum type="alphaLcPeriod"/>
              <a:defRPr/>
            </a:pPr>
            <a:r>
              <a:rPr lang="en-US" sz="1600" dirty="0"/>
              <a:t>AI = accent-insensitive</a:t>
            </a:r>
            <a:r>
              <a:rPr lang="mk-MK" sz="1600" dirty="0"/>
              <a:t>	</a:t>
            </a:r>
            <a:r>
              <a:rPr lang="en-US" sz="1600" dirty="0"/>
              <a:t>AS = accent-sensitive</a:t>
            </a:r>
            <a:endParaRPr lang="mk-MK" sz="1600" dirty="0"/>
          </a:p>
          <a:p>
            <a:pPr marL="490537" indent="-457200">
              <a:defRPr/>
            </a:pPr>
            <a:r>
              <a:rPr lang="en-US" sz="2000" b="1" dirty="0"/>
              <a:t>Files</a:t>
            </a:r>
            <a:r>
              <a:rPr lang="en-US" sz="2000" dirty="0"/>
              <a:t>:</a:t>
            </a:r>
          </a:p>
          <a:p>
            <a:pPr marL="928687" lvl="1" indent="-457200">
              <a:defRPr/>
            </a:pPr>
            <a:r>
              <a:rPr lang="en-US" sz="1800" dirty="0"/>
              <a:t>Database files name and location</a:t>
            </a:r>
          </a:p>
          <a:p>
            <a:pPr marL="928687" lvl="1" indent="-457200">
              <a:defRPr/>
            </a:pPr>
            <a:r>
              <a:rPr lang="en-US" sz="1800" dirty="0"/>
              <a:t>Ability to ASSING DB owner</a:t>
            </a:r>
            <a:endParaRPr lang="mk-MK" sz="1800" dirty="0"/>
          </a:p>
          <a:p>
            <a:pPr marL="1325562" lvl="2" indent="-457200">
              <a:defRPr/>
            </a:pPr>
            <a:r>
              <a:rPr lang="en-US" sz="1600" dirty="0"/>
              <a:t>This operation is usual after attaching DB that is taken from</a:t>
            </a:r>
            <a:br>
              <a:rPr lang="en-US" sz="1600" dirty="0"/>
            </a:br>
            <a:r>
              <a:rPr lang="en-US" sz="1600" dirty="0"/>
              <a:t>another server. Always check whether your newly attached DB has proper owner</a:t>
            </a:r>
          </a:p>
          <a:p>
            <a:pPr marL="928687" lvl="1" indent="-457200">
              <a:defRPr/>
            </a:pPr>
            <a:r>
              <a:rPr lang="en-US" sz="2400" b="1" dirty="0"/>
              <a:t>Options: </a:t>
            </a:r>
            <a:r>
              <a:rPr lang="en-US" sz="2400" dirty="0"/>
              <a:t>setting up parameters for optimal DB usage</a:t>
            </a:r>
          </a:p>
          <a:p>
            <a:pPr marL="1325562" lvl="2" indent="-457200">
              <a:defRPr/>
            </a:pPr>
            <a:r>
              <a:rPr lang="en-US" sz="1400" dirty="0"/>
              <a:t>Collation, compatibility level, read-only, restrict access….</a:t>
            </a:r>
            <a:endParaRPr lang="mk-MK" sz="1400" dirty="0"/>
          </a:p>
          <a:p>
            <a:pPr marL="928687" lvl="1" indent="-457200">
              <a:defRPr/>
            </a:pPr>
            <a:endParaRPr lang="mk-MK" sz="2000" dirty="0"/>
          </a:p>
          <a:p>
            <a:pPr marL="490537" indent="-457200">
              <a:buFont typeface="+mj-lt"/>
              <a:buAutoNum type="alphaLcPeriod"/>
              <a:defRPr/>
            </a:pPr>
            <a:endParaRPr lang="mk-MK" sz="2400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8E00C5-461B-4B6A-A270-2E19FFEA7D6C}" type="slidenum">
              <a:rPr lang="en-US" altLang="mk-MK"/>
              <a:pPr/>
              <a:t>27</a:t>
            </a:fld>
            <a:endParaRPr lang="en-US" altLang="mk-MK" dirty="0"/>
          </a:p>
        </p:txBody>
      </p:sp>
      <p:pic>
        <p:nvPicPr>
          <p:cNvPr id="1638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431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285750"/>
            <a:ext cx="20002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957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Tables</a:t>
            </a:r>
            <a:r>
              <a:rPr lang="mk-MK" altLang="mk-MK" b="1" dirty="0"/>
              <a:t>–</a:t>
            </a:r>
            <a:r>
              <a:rPr lang="mk-MK" altLang="mk-MK" dirty="0"/>
              <a:t> </a:t>
            </a:r>
            <a:r>
              <a:rPr lang="en-US" altLang="mk-MK" dirty="0"/>
              <a:t>access and commands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8A030C8-8D83-478F-B6F3-429F1C6C982E}" type="slidenum">
              <a:rPr lang="en-US" altLang="mk-MK"/>
              <a:pPr/>
              <a:t>28</a:t>
            </a:fld>
            <a:endParaRPr lang="en-US" altLang="mk-MK" dirty="0"/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85938"/>
            <a:ext cx="2882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97213" y="1643063"/>
            <a:ext cx="5172075" cy="2695575"/>
            <a:chOff x="3097213" y="1643063"/>
            <a:chExt cx="5172075" cy="2695575"/>
          </a:xfrm>
        </p:grpSpPr>
        <p:pic>
          <p:nvPicPr>
            <p:cNvPr id="174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6313" y="1643063"/>
              <a:ext cx="3482975" cy="269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7419" name="Straight Arrow Connector 9"/>
            <p:cNvCxnSpPr>
              <a:cxnSpLocks noChangeShapeType="1"/>
            </p:cNvCxnSpPr>
            <p:nvPr/>
          </p:nvCxnSpPr>
          <p:spPr bwMode="auto">
            <a:xfrm flipV="1">
              <a:off x="3097213" y="2990850"/>
              <a:ext cx="1689100" cy="509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097213" y="3500438"/>
            <a:ext cx="3616325" cy="3024187"/>
            <a:chOff x="3097213" y="3500438"/>
            <a:chExt cx="3616325" cy="3024187"/>
          </a:xfrm>
        </p:grpSpPr>
        <p:pic>
          <p:nvPicPr>
            <p:cNvPr id="1741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4813" y="4572000"/>
              <a:ext cx="2498725" cy="1952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7417" name="Straight Arrow Connector 10"/>
            <p:cNvCxnSpPr>
              <a:cxnSpLocks noChangeShapeType="1"/>
            </p:cNvCxnSpPr>
            <p:nvPr/>
          </p:nvCxnSpPr>
          <p:spPr bwMode="auto">
            <a:xfrm>
              <a:off x="3097213" y="3500438"/>
              <a:ext cx="1117600" cy="20478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7792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7EFE66-E2A5-48EF-820B-B58E4F92CBEC}" type="slidenum">
              <a:rPr lang="en-US" altLang="mk-MK"/>
              <a:pPr/>
              <a:t>29</a:t>
            </a:fld>
            <a:endParaRPr lang="en-US" altLang="mk-MK" dirty="0"/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557338"/>
            <a:ext cx="3189288" cy="4105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570413"/>
            <a:ext cx="3167063" cy="2027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7"/>
          <a:stretch>
            <a:fillRect/>
          </a:stretch>
        </p:blipFill>
        <p:spPr bwMode="auto">
          <a:xfrm>
            <a:off x="5292725" y="115888"/>
            <a:ext cx="3622675" cy="55038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9" name="Title 1"/>
          <p:cNvSpPr>
            <a:spLocks noGrp="1"/>
          </p:cNvSpPr>
          <p:nvPr>
            <p:ph type="title"/>
          </p:nvPr>
        </p:nvSpPr>
        <p:spPr>
          <a:xfrm>
            <a:off x="323850" y="196850"/>
            <a:ext cx="8001000" cy="1216025"/>
          </a:xfrm>
        </p:spPr>
        <p:txBody>
          <a:bodyPr/>
          <a:lstStyle/>
          <a:p>
            <a:r>
              <a:rPr lang="en-US" altLang="mk-MK" sz="3400" b="1" dirty="0"/>
              <a:t>Tables</a:t>
            </a:r>
            <a:r>
              <a:rPr lang="mk-MK" altLang="mk-MK" sz="3400" b="1" dirty="0"/>
              <a:t>–</a:t>
            </a:r>
            <a:br>
              <a:rPr lang="en-US" altLang="mk-MK" sz="3400" dirty="0"/>
            </a:br>
            <a:r>
              <a:rPr lang="en-US" altLang="mk-MK" sz="3400" dirty="0"/>
              <a:t>Access and commands</a:t>
            </a:r>
          </a:p>
        </p:txBody>
      </p:sp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844675"/>
            <a:ext cx="2019300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5300663"/>
            <a:ext cx="3571875" cy="133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57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20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Scripts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566738" y="1620623"/>
            <a:ext cx="8577262" cy="4572000"/>
          </a:xfrm>
        </p:spPr>
        <p:txBody>
          <a:bodyPr/>
          <a:lstStyle/>
          <a:p>
            <a:r>
              <a:rPr lang="en-US" sz="2500" dirty="0"/>
              <a:t>For every DB component, you can create script for</a:t>
            </a:r>
          </a:p>
          <a:p>
            <a:pPr lvl="1"/>
            <a:r>
              <a:rPr lang="en-US" altLang="mk-MK" sz="1400" dirty="0"/>
              <a:t>Creation</a:t>
            </a:r>
            <a:r>
              <a:rPr lang="mk-MK" altLang="mk-MK" sz="1400" dirty="0"/>
              <a:t>	-</a:t>
            </a:r>
            <a:r>
              <a:rPr lang="en-US" altLang="mk-MK" sz="1400" dirty="0"/>
              <a:t>  </a:t>
            </a:r>
            <a:r>
              <a:rPr lang="en-US" altLang="mk-MK" sz="1400" b="1" dirty="0">
                <a:solidFill>
                  <a:srgbClr val="6140DC"/>
                </a:solidFill>
              </a:rPr>
              <a:t>CREATE</a:t>
            </a:r>
            <a:endParaRPr lang="mk-MK" altLang="mk-MK" sz="1400" b="1" dirty="0">
              <a:solidFill>
                <a:srgbClr val="6140DC"/>
              </a:solidFill>
            </a:endParaRPr>
          </a:p>
          <a:p>
            <a:pPr lvl="1"/>
            <a:r>
              <a:rPr lang="en-US" altLang="mk-MK" sz="1800" dirty="0"/>
              <a:t>Modification	</a:t>
            </a:r>
            <a:r>
              <a:rPr lang="en-US" altLang="mk-MK" sz="1800" b="1" dirty="0"/>
              <a:t>-  </a:t>
            </a:r>
            <a:r>
              <a:rPr lang="en-US" altLang="mk-MK" sz="1800" b="1" dirty="0">
                <a:solidFill>
                  <a:srgbClr val="6140DC"/>
                </a:solidFill>
              </a:rPr>
              <a:t>ALTER</a:t>
            </a:r>
            <a:endParaRPr lang="mk-MK" altLang="mk-MK" sz="1800" b="1" dirty="0">
              <a:solidFill>
                <a:srgbClr val="6140DC"/>
              </a:solidFill>
            </a:endParaRPr>
          </a:p>
          <a:p>
            <a:pPr lvl="1"/>
            <a:r>
              <a:rPr lang="en-US" altLang="mk-MK" sz="1800" dirty="0"/>
              <a:t>Deletion	- </a:t>
            </a:r>
            <a:r>
              <a:rPr lang="en-US" altLang="mk-MK" sz="1800" b="1" dirty="0">
                <a:solidFill>
                  <a:srgbClr val="6140DC"/>
                </a:solidFill>
              </a:rPr>
              <a:t> DROP</a:t>
            </a:r>
          </a:p>
          <a:p>
            <a:pPr lvl="1"/>
            <a:r>
              <a:rPr lang="en-US" altLang="mk-MK" sz="1800" dirty="0"/>
              <a:t>For tables and views, there is a possibility for creation of scripts for </a:t>
            </a:r>
            <a:r>
              <a:rPr lang="en-US" altLang="mk-MK" sz="1800" b="1" dirty="0">
                <a:solidFill>
                  <a:srgbClr val="6140DC"/>
                </a:solidFill>
              </a:rPr>
              <a:t>INSERT</a:t>
            </a:r>
            <a:r>
              <a:rPr lang="en-US" altLang="mk-MK" sz="1800" b="1" dirty="0"/>
              <a:t>, </a:t>
            </a:r>
            <a:r>
              <a:rPr lang="en-US" altLang="mk-MK" sz="1800" b="1" dirty="0">
                <a:solidFill>
                  <a:srgbClr val="6140DC"/>
                </a:solidFill>
              </a:rPr>
              <a:t>UPDATE</a:t>
            </a:r>
            <a:r>
              <a:rPr lang="en-US" altLang="mk-MK" sz="1800" b="1" dirty="0"/>
              <a:t>, </a:t>
            </a:r>
            <a:r>
              <a:rPr lang="en-US" altLang="mk-MK" sz="1800" b="1" dirty="0">
                <a:solidFill>
                  <a:srgbClr val="6140DC"/>
                </a:solidFill>
              </a:rPr>
              <a:t>SELECT</a:t>
            </a:r>
            <a:r>
              <a:rPr lang="en-US" altLang="mk-MK" sz="1800" b="1" dirty="0"/>
              <a:t> and </a:t>
            </a:r>
            <a:r>
              <a:rPr lang="en-US" altLang="mk-MK" sz="1800" b="1" dirty="0">
                <a:solidFill>
                  <a:srgbClr val="6140DC"/>
                </a:solidFill>
              </a:rPr>
              <a:t>DELETE</a:t>
            </a:r>
            <a:r>
              <a:rPr lang="en-US" altLang="mk-MK" sz="1800" dirty="0"/>
              <a:t> operations</a:t>
            </a:r>
          </a:p>
          <a:p>
            <a:pPr lvl="1"/>
            <a:r>
              <a:rPr lang="en-US" sz="1800" dirty="0"/>
              <a:t>For procedures, there is a possibility for creation of scripts for</a:t>
            </a:r>
            <a:br>
              <a:rPr lang="en-US" sz="1800" dirty="0"/>
            </a:br>
            <a:r>
              <a:rPr lang="en-US" sz="1800" dirty="0"/>
              <a:t>their execution, i.e. </a:t>
            </a:r>
            <a:r>
              <a:rPr lang="en-US" sz="1800" b="1" dirty="0">
                <a:solidFill>
                  <a:srgbClr val="6140DC"/>
                </a:solidFill>
              </a:rPr>
              <a:t>EXECUTE</a:t>
            </a:r>
            <a:endParaRPr lang="mk-MK" altLang="mk-MK" sz="1800" b="1" dirty="0">
              <a:solidFill>
                <a:srgbClr val="6140DC"/>
              </a:solidFill>
            </a:endParaRPr>
          </a:p>
          <a:p>
            <a:r>
              <a:rPr lang="en-US" altLang="mk-MK" sz="2200" dirty="0"/>
              <a:t>A Script can be </a:t>
            </a:r>
          </a:p>
          <a:p>
            <a:pPr lvl="1"/>
            <a:r>
              <a:rPr lang="en-US" altLang="mk-MK" sz="1400" dirty="0"/>
              <a:t>Created in new Query Editor Window </a:t>
            </a:r>
          </a:p>
          <a:p>
            <a:pPr lvl="1"/>
            <a:r>
              <a:rPr lang="en-US" altLang="mk-MK" sz="1800" dirty="0"/>
              <a:t>Saved in file (.sql)</a:t>
            </a:r>
            <a:endParaRPr lang="mk-MK" altLang="mk-MK" sz="1800" dirty="0"/>
          </a:p>
          <a:p>
            <a:pPr lvl="1"/>
            <a:r>
              <a:rPr lang="en-US" altLang="mk-MK" sz="1800" dirty="0"/>
              <a:t>Save to Clipboard</a:t>
            </a:r>
            <a:r>
              <a:rPr lang="mk-MK" altLang="mk-MK" sz="1800" dirty="0"/>
              <a:t> (</a:t>
            </a:r>
            <a:r>
              <a:rPr lang="en-US" altLang="mk-MK" sz="1800" dirty="0" err="1"/>
              <a:t>i</a:t>
            </a:r>
            <a:r>
              <a:rPr lang="mk-MK" altLang="mk-MK" sz="1800" dirty="0"/>
              <a:t>.е. </a:t>
            </a:r>
            <a:r>
              <a:rPr lang="en-US" altLang="mk-MK" sz="1800" dirty="0"/>
              <a:t>memory</a:t>
            </a:r>
            <a:r>
              <a:rPr lang="mk-MK" altLang="mk-MK" sz="1800" dirty="0"/>
              <a:t>)</a:t>
            </a:r>
          </a:p>
          <a:p>
            <a:pPr lvl="1"/>
            <a:endParaRPr lang="mk-MK" altLang="mk-MK" sz="1800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443D984-58C7-4BBD-BBCC-5834AD7FD5CD}" type="slidenum">
              <a:rPr lang="en-US" altLang="mk-MK"/>
              <a:pPr/>
              <a:t>30</a:t>
            </a:fld>
            <a:endParaRPr lang="en-US" altLang="mk-MK" dirty="0"/>
          </a:p>
        </p:txBody>
      </p:sp>
    </p:spTree>
    <p:extLst>
      <p:ext uri="{BB962C8B-B14F-4D97-AF65-F5344CB8AC3E}">
        <p14:creationId xmlns:p14="http://schemas.microsoft.com/office/powerpoint/2010/main" val="1898289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11"/>
          <p:cNvGrpSpPr>
            <a:grpSpLocks/>
          </p:cNvGrpSpPr>
          <p:nvPr/>
        </p:nvGrpSpPr>
        <p:grpSpPr bwMode="auto">
          <a:xfrm>
            <a:off x="2428875" y="2500313"/>
            <a:ext cx="4000499" cy="3143250"/>
            <a:chOff x="4929190" y="3500438"/>
            <a:chExt cx="4000528" cy="3143272"/>
          </a:xfrm>
        </p:grpSpPr>
        <p:grpSp>
          <p:nvGrpSpPr>
            <p:cNvPr id="26632" name="Group 9"/>
            <p:cNvGrpSpPr>
              <a:grpSpLocks/>
            </p:cNvGrpSpPr>
            <p:nvPr/>
          </p:nvGrpSpPr>
          <p:grpSpPr bwMode="auto">
            <a:xfrm>
              <a:off x="5280545" y="3774048"/>
              <a:ext cx="3291983" cy="2530266"/>
              <a:chOff x="5280545" y="3774048"/>
              <a:chExt cx="3291983" cy="2530266"/>
            </a:xfrm>
          </p:grpSpPr>
          <p:pic>
            <p:nvPicPr>
              <p:cNvPr id="26634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313" t="62500" r="45769" b="16240"/>
              <a:stretch>
                <a:fillRect/>
              </a:stretch>
            </p:blipFill>
            <p:spPr bwMode="auto">
              <a:xfrm>
                <a:off x="5286380" y="4357694"/>
                <a:ext cx="3286148" cy="1946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635" name="TextBox 8"/>
              <p:cNvSpPr txBox="1">
                <a:spLocks noChangeArrowheads="1"/>
              </p:cNvSpPr>
              <p:nvPr/>
            </p:nvSpPr>
            <p:spPr bwMode="auto">
              <a:xfrm>
                <a:off x="5280545" y="3774048"/>
                <a:ext cx="2627661" cy="369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mk-MK" b="1" dirty="0"/>
                  <a:t>Create/Save script</a:t>
                </a:r>
              </a:p>
            </p:txBody>
          </p:sp>
        </p:grpSp>
        <p:sp>
          <p:nvSpPr>
            <p:cNvPr id="26633" name="Rectangle 10"/>
            <p:cNvSpPr>
              <a:spLocks noChangeArrowheads="1"/>
            </p:cNvSpPr>
            <p:nvPr/>
          </p:nvSpPr>
          <p:spPr bwMode="auto">
            <a:xfrm>
              <a:off x="4929190" y="3500438"/>
              <a:ext cx="4000528" cy="314327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 dirty="0"/>
            </a:p>
          </p:txBody>
        </p:sp>
      </p:grp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EFD90F8-41FE-4615-BEEB-90A384E9A5C1}" type="slidenum">
              <a:rPr lang="en-US" altLang="mk-MK"/>
              <a:pPr/>
              <a:t>31</a:t>
            </a:fld>
            <a:endParaRPr lang="en-US" altLang="mk-MK" dirty="0"/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" t="27068" r="59055" b="35432"/>
          <a:stretch>
            <a:fillRect/>
          </a:stretch>
        </p:blipFill>
        <p:spPr bwMode="auto">
          <a:xfrm>
            <a:off x="0" y="-22225"/>
            <a:ext cx="3721100" cy="2808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6" t="62500" r="60162" b="4430"/>
          <a:stretch>
            <a:fillRect/>
          </a:stretch>
        </p:blipFill>
        <p:spPr bwMode="auto">
          <a:xfrm>
            <a:off x="5487988" y="0"/>
            <a:ext cx="3656012" cy="2643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64961" r="55363" b="984"/>
          <a:stretch>
            <a:fillRect/>
          </a:stretch>
        </p:blipFill>
        <p:spPr bwMode="auto">
          <a:xfrm>
            <a:off x="0" y="4214813"/>
            <a:ext cx="38227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 t="54134" r="57579" b="8858"/>
          <a:stretch>
            <a:fillRect/>
          </a:stretch>
        </p:blipFill>
        <p:spPr bwMode="auto">
          <a:xfrm>
            <a:off x="5511800" y="3910013"/>
            <a:ext cx="3632200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94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DB Script</a:t>
            </a: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ED3096B-241A-43A8-B1A7-D070F68E2771}" type="slidenum">
              <a:rPr lang="en-US" altLang="mk-MK"/>
              <a:pPr/>
              <a:t>32</a:t>
            </a:fld>
            <a:endParaRPr lang="en-US" altLang="mk-MK" dirty="0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714500"/>
            <a:ext cx="40481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1714500"/>
            <a:ext cx="462915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Arrow 6"/>
          <p:cNvSpPr/>
          <p:nvPr/>
        </p:nvSpPr>
        <p:spPr bwMode="auto">
          <a:xfrm>
            <a:off x="1428750" y="4429125"/>
            <a:ext cx="2857500" cy="5715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0"/>
          <a:lstStyle/>
          <a:p>
            <a:pPr>
              <a:defRPr/>
            </a:pPr>
            <a:r>
              <a:rPr lang="en-US" b="1" dirty="0"/>
              <a:t>Choose DB</a:t>
            </a:r>
            <a:r>
              <a:rPr lang="mk-MK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9564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9BF79A4-363F-4DB4-AF56-2E2E2A014998}" type="slidenum">
              <a:rPr lang="en-US" altLang="mk-MK"/>
              <a:pPr/>
              <a:t>33</a:t>
            </a:fld>
            <a:endParaRPr lang="en-US" altLang="mk-MK" dirty="0"/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88913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0"/>
            <a:ext cx="4786312" cy="660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3071813"/>
            <a:ext cx="3792537" cy="347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eft Arrow 6"/>
          <p:cNvSpPr/>
          <p:nvPr/>
        </p:nvSpPr>
        <p:spPr bwMode="auto">
          <a:xfrm>
            <a:off x="5072063" y="428625"/>
            <a:ext cx="3643312" cy="1143000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0" bIns="0"/>
          <a:lstStyle/>
          <a:p>
            <a:pPr algn="ctr">
              <a:defRPr/>
            </a:pPr>
            <a:r>
              <a:rPr lang="en-US" b="1" dirty="0"/>
              <a:t>Define script options (global)</a:t>
            </a:r>
          </a:p>
        </p:txBody>
      </p:sp>
      <p:sp>
        <p:nvSpPr>
          <p:cNvPr id="9" name="Rectangular Callout 8"/>
          <p:cNvSpPr/>
          <p:nvPr/>
        </p:nvSpPr>
        <p:spPr bwMode="auto">
          <a:xfrm>
            <a:off x="5286375" y="2071688"/>
            <a:ext cx="3786188" cy="612775"/>
          </a:xfrm>
          <a:prstGeom prst="wedgeRectCallout">
            <a:avLst>
              <a:gd name="adj1" fmla="val -46593"/>
              <a:gd name="adj2" fmla="val 12683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Choose object types that will be scripted</a:t>
            </a:r>
          </a:p>
        </p:txBody>
      </p:sp>
    </p:spTree>
    <p:extLst>
      <p:ext uri="{BB962C8B-B14F-4D97-AF65-F5344CB8AC3E}">
        <p14:creationId xmlns:p14="http://schemas.microsoft.com/office/powerpoint/2010/main" val="118861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88913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95DB26F-F86E-43F9-B961-CCB46165C81F}" type="slidenum">
              <a:rPr lang="en-US" altLang="mk-MK"/>
              <a:pPr/>
              <a:t>34</a:t>
            </a:fld>
            <a:endParaRPr lang="en-US" altLang="mk-MK" dirty="0"/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0063"/>
            <a:ext cx="4610100" cy="169545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88" y="1928813"/>
            <a:ext cx="4657725" cy="169545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3125" y="3357563"/>
            <a:ext cx="4648200" cy="1743075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14813" y="4857750"/>
            <a:ext cx="4629150" cy="165735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 bwMode="auto">
          <a:xfrm>
            <a:off x="4788024" y="214313"/>
            <a:ext cx="4355976" cy="1000125"/>
          </a:xfrm>
          <a:prstGeom prst="wedgeRectCallout">
            <a:avLst>
              <a:gd name="adj1" fmla="val -33684"/>
              <a:gd name="adj2" fmla="val 5024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Screens for choosing specific components for scripting (tables, procedures, views, users</a:t>
            </a:r>
            <a:r>
              <a:rPr lang="mk-MK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8097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mk-MK" altLang="mk-MK" dirty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A59D9B5-E832-4D06-A561-377C06B58F15}" type="slidenum">
              <a:rPr lang="en-US" altLang="mk-MK"/>
              <a:pPr/>
              <a:t>35</a:t>
            </a:fld>
            <a:endParaRPr lang="en-US" altLang="mk-MK" dirty="0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4429125" cy="405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85938"/>
            <a:ext cx="4500563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ular Callout 6"/>
          <p:cNvSpPr/>
          <p:nvPr/>
        </p:nvSpPr>
        <p:spPr bwMode="auto">
          <a:xfrm>
            <a:off x="1428750" y="214313"/>
            <a:ext cx="3786188" cy="612775"/>
          </a:xfrm>
          <a:prstGeom prst="wedgeRectCallout">
            <a:avLst>
              <a:gd name="adj1" fmla="val -46593"/>
              <a:gd name="adj2" fmla="val 12683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Choose how the script should be created/saved</a:t>
            </a:r>
          </a:p>
        </p:txBody>
      </p:sp>
      <p:sp>
        <p:nvSpPr>
          <p:cNvPr id="8" name="Rectangular Callout 7"/>
          <p:cNvSpPr/>
          <p:nvPr/>
        </p:nvSpPr>
        <p:spPr bwMode="auto">
          <a:xfrm>
            <a:off x="785813" y="5929313"/>
            <a:ext cx="3786187" cy="428625"/>
          </a:xfrm>
          <a:prstGeom prst="wedgeRectCallout">
            <a:avLst>
              <a:gd name="adj1" fmla="val 59172"/>
              <a:gd name="adj2" fmla="val -107341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Selection review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7358063" y="5500688"/>
            <a:ext cx="1071562" cy="357187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mk-MK" altLang="mk-MK" dirty="0"/>
          </a:p>
        </p:txBody>
      </p:sp>
    </p:spTree>
    <p:extLst>
      <p:ext uri="{BB962C8B-B14F-4D97-AF65-F5344CB8AC3E}">
        <p14:creationId xmlns:p14="http://schemas.microsoft.com/office/powerpoint/2010/main" val="4110277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7041E86-C7EF-4AAB-AD98-9C3D81EACEC1}" type="slidenum">
              <a:rPr lang="en-US" altLang="mk-MK"/>
              <a:pPr/>
              <a:t>36</a:t>
            </a:fld>
            <a:endParaRPr lang="en-US" altLang="mk-MK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7673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0" y="2609850"/>
            <a:ext cx="46672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ular Callout 6"/>
          <p:cNvSpPr/>
          <p:nvPr/>
        </p:nvSpPr>
        <p:spPr bwMode="auto">
          <a:xfrm>
            <a:off x="4714875" y="642938"/>
            <a:ext cx="3786188" cy="571500"/>
          </a:xfrm>
          <a:prstGeom prst="wedgeRectCallout">
            <a:avLst>
              <a:gd name="adj1" fmla="val -57419"/>
              <a:gd name="adj2" fmla="val 150128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Script generation process</a:t>
            </a:r>
          </a:p>
        </p:txBody>
      </p:sp>
      <p:sp>
        <p:nvSpPr>
          <p:cNvPr id="8" name="Rectangular Callout 7"/>
          <p:cNvSpPr/>
          <p:nvPr/>
        </p:nvSpPr>
        <p:spPr bwMode="auto">
          <a:xfrm>
            <a:off x="500063" y="5929313"/>
            <a:ext cx="3786187" cy="642937"/>
          </a:xfrm>
          <a:prstGeom prst="wedgeRectCallout">
            <a:avLst>
              <a:gd name="adj1" fmla="val 59172"/>
              <a:gd name="adj2" fmla="val -107341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Last window, report for the generation process</a:t>
            </a:r>
          </a:p>
        </p:txBody>
      </p:sp>
    </p:spTree>
    <p:extLst>
      <p:ext uri="{BB962C8B-B14F-4D97-AF65-F5344CB8AC3E}">
        <p14:creationId xmlns:p14="http://schemas.microsoft.com/office/powerpoint/2010/main" val="9847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643063"/>
            <a:ext cx="792956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ular Callout 5"/>
          <p:cNvSpPr/>
          <p:nvPr/>
        </p:nvSpPr>
        <p:spPr bwMode="auto">
          <a:xfrm>
            <a:off x="4714875" y="642938"/>
            <a:ext cx="3786188" cy="428625"/>
          </a:xfrm>
          <a:prstGeom prst="wedgeRectCallout">
            <a:avLst>
              <a:gd name="adj1" fmla="val -57419"/>
              <a:gd name="adj2" fmla="val 150128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/>
          <a:lstStyle/>
          <a:p>
            <a:pPr algn="ctr">
              <a:defRPr/>
            </a:pPr>
            <a:r>
              <a:rPr lang="en-US" b="1" dirty="0"/>
              <a:t>Script content</a:t>
            </a:r>
          </a:p>
        </p:txBody>
      </p:sp>
    </p:spTree>
    <p:extLst>
      <p:ext uri="{BB962C8B-B14F-4D97-AF65-F5344CB8AC3E}">
        <p14:creationId xmlns:p14="http://schemas.microsoft.com/office/powerpoint/2010/main" val="1987122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b="1" dirty="0"/>
              <a:t>BACK-UP database file</a:t>
            </a:r>
            <a:endParaRPr lang="en-US" altLang="mk-MK" b="1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D003CBA-AE0B-460C-93F9-14E5AD36C636}" type="slidenum">
              <a:rPr lang="en-US" altLang="mk-MK"/>
              <a:pPr/>
              <a:t>38</a:t>
            </a:fld>
            <a:endParaRPr lang="en-US" altLang="mk-MK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 bwMode="auto">
          <a:xfrm>
            <a:off x="214313" y="1643063"/>
            <a:ext cx="892968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Has the database objects definition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Has all constraints and relations between DB objects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Has ALL DB Table data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sz="240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This file is used for restoration of the old state of the existing Database (i.e. DB that is attached on the server) over its current state.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Definition restoration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Data restoration</a:t>
            </a:r>
            <a:endParaRPr lang="mk-MK" sz="22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626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6B9390E-C5F5-48CB-96D6-95A138F61E2F}" type="slidenum">
              <a:rPr lang="en-US" altLang="mk-MK"/>
              <a:pPr/>
              <a:t>39</a:t>
            </a:fld>
            <a:endParaRPr lang="en-US" altLang="mk-MK" dirty="0"/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3429000" cy="182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8688"/>
            <a:ext cx="5286375" cy="46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0" y="2505075"/>
            <a:ext cx="4865688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0" y="4643438"/>
            <a:ext cx="3357563" cy="1477328"/>
          </a:xfrm>
          <a:prstGeom prst="rect">
            <a:avLst/>
          </a:prstGeom>
          <a:solidFill>
            <a:srgbClr val="EAEAEA">
              <a:alpha val="5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500" b="1" dirty="0">
                <a:solidFill>
                  <a:srgbClr val="C00000"/>
                </a:solidFill>
              </a:rPr>
              <a:t>General</a:t>
            </a:r>
            <a:r>
              <a:rPr lang="en-US" altLang="mk-MK" sz="1500" dirty="0"/>
              <a:t>: </a:t>
            </a:r>
          </a:p>
          <a:p>
            <a:r>
              <a:rPr lang="mk-MK" altLang="mk-MK" sz="1500" dirty="0"/>
              <a:t>1. </a:t>
            </a:r>
            <a:r>
              <a:rPr lang="en-US" altLang="mk-MK" sz="1500" b="1" dirty="0"/>
              <a:t>Choose</a:t>
            </a:r>
            <a:r>
              <a:rPr lang="mk-MK" altLang="mk-MK" sz="1500" dirty="0"/>
              <a:t> </a:t>
            </a:r>
            <a:r>
              <a:rPr lang="en-US" altLang="mk-MK" sz="1500" dirty="0"/>
              <a:t>DB</a:t>
            </a:r>
            <a:endParaRPr lang="mk-MK" altLang="mk-MK" sz="1500" dirty="0"/>
          </a:p>
          <a:p>
            <a:r>
              <a:rPr lang="mk-MK" altLang="mk-MK" sz="1500" dirty="0"/>
              <a:t>2. </a:t>
            </a:r>
            <a:r>
              <a:rPr lang="en-US" altLang="mk-MK" sz="1500" b="1" dirty="0"/>
              <a:t>Write file name</a:t>
            </a:r>
            <a:endParaRPr lang="mk-MK" altLang="mk-MK" sz="1500" dirty="0"/>
          </a:p>
          <a:p>
            <a:r>
              <a:rPr lang="mk-MK" altLang="mk-MK" sz="1500" dirty="0"/>
              <a:t>3. </a:t>
            </a:r>
            <a:r>
              <a:rPr lang="en-US" altLang="mk-MK" sz="1500" dirty="0"/>
              <a:t>Create </a:t>
            </a:r>
            <a:r>
              <a:rPr lang="en-US" altLang="mk-MK" sz="1500" b="1" dirty="0"/>
              <a:t>back-up scheduler </a:t>
            </a:r>
            <a:r>
              <a:rPr lang="en-US" altLang="mk-MK" sz="1500" dirty="0"/>
              <a:t>(optional)</a:t>
            </a:r>
            <a:endParaRPr lang="mk-MK" altLang="mk-MK" sz="1500" dirty="0"/>
          </a:p>
          <a:p>
            <a:r>
              <a:rPr lang="mk-MK" altLang="mk-MK" sz="1500" dirty="0"/>
              <a:t>4. </a:t>
            </a:r>
            <a:r>
              <a:rPr lang="en-US" altLang="mk-MK" sz="1500" dirty="0"/>
              <a:t>Choose </a:t>
            </a:r>
            <a:r>
              <a:rPr lang="en-US" altLang="mk-MK" sz="1500" b="1" dirty="0"/>
              <a:t>location </a:t>
            </a:r>
            <a:r>
              <a:rPr lang="en-US" altLang="mk-MK" sz="1500" dirty="0"/>
              <a:t>for .bak file</a:t>
            </a:r>
          </a:p>
        </p:txBody>
      </p:sp>
      <p:sp>
        <p:nvSpPr>
          <p:cNvPr id="35847" name="Title 1"/>
          <p:cNvSpPr>
            <a:spLocks noGrp="1"/>
          </p:cNvSpPr>
          <p:nvPr>
            <p:ph type="title"/>
          </p:nvPr>
        </p:nvSpPr>
        <p:spPr>
          <a:xfrm>
            <a:off x="0" y="-357188"/>
            <a:ext cx="8001000" cy="1216026"/>
          </a:xfrm>
        </p:spPr>
        <p:txBody>
          <a:bodyPr/>
          <a:lstStyle/>
          <a:p>
            <a:r>
              <a:rPr lang="en-US" altLang="mk-MK" b="1" dirty="0"/>
              <a:t>Back up DB</a:t>
            </a:r>
            <a:r>
              <a:rPr lang="mk-MK" altLang="mk-MK" b="1" dirty="0"/>
              <a:t> </a:t>
            </a:r>
            <a:r>
              <a:rPr lang="en-US" altLang="mk-MK" b="1" dirty="0"/>
              <a:t>(</a:t>
            </a:r>
            <a:r>
              <a:rPr lang="mk-MK" altLang="mk-MK" b="1" dirty="0"/>
              <a:t>.</a:t>
            </a:r>
            <a:r>
              <a:rPr lang="en-US" altLang="mk-MK" b="1" dirty="0"/>
              <a:t>bak)</a:t>
            </a:r>
          </a:p>
        </p:txBody>
      </p:sp>
      <p:sp>
        <p:nvSpPr>
          <p:cNvPr id="35848" name="TextBox 9"/>
          <p:cNvSpPr txBox="1">
            <a:spLocks noChangeArrowheads="1"/>
          </p:cNvSpPr>
          <p:nvPr/>
        </p:nvSpPr>
        <p:spPr bwMode="auto">
          <a:xfrm>
            <a:off x="5786438" y="1912938"/>
            <a:ext cx="3357562" cy="769441"/>
          </a:xfrm>
          <a:prstGeom prst="rect">
            <a:avLst/>
          </a:prstGeom>
          <a:solidFill>
            <a:srgbClr val="EAEAEA">
              <a:alpha val="5686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500" b="1" dirty="0">
                <a:solidFill>
                  <a:srgbClr val="C00000"/>
                </a:solidFill>
              </a:rPr>
              <a:t>Options</a:t>
            </a:r>
            <a:r>
              <a:rPr lang="en-US" altLang="mk-MK" sz="1500" dirty="0"/>
              <a:t>: </a:t>
            </a:r>
          </a:p>
          <a:p>
            <a:r>
              <a:rPr lang="mk-MK" altLang="mk-MK" sz="1500" dirty="0"/>
              <a:t>1.</a:t>
            </a:r>
            <a:r>
              <a:rPr lang="en-US" altLang="mk-MK" sz="1500" dirty="0"/>
              <a:t> </a:t>
            </a:r>
            <a:r>
              <a:rPr lang="en-US" altLang="mk-MK" sz="1400" b="1" dirty="0"/>
              <a:t>Additional parameters for back-up file creation</a:t>
            </a:r>
            <a:r>
              <a:rPr lang="mk-MK" altLang="mk-MK" sz="1400" b="1" dirty="0"/>
              <a:t> </a:t>
            </a:r>
            <a:r>
              <a:rPr lang="en-US" altLang="mk-MK" sz="1400" b="1" dirty="0"/>
              <a:t>(</a:t>
            </a:r>
            <a:r>
              <a:rPr lang="en-US" altLang="mk-MK" sz="1400" dirty="0"/>
              <a:t>optional</a:t>
            </a:r>
            <a:r>
              <a:rPr lang="mk-MK" altLang="mk-MK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0884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altLang="mk-MK" b="1" dirty="0"/>
              <a:t>Example  + RESTORE</a:t>
            </a:r>
            <a:r>
              <a:rPr lang="mk-MK" altLang="mk-MK" b="1" dirty="0"/>
              <a:t> </a:t>
            </a:r>
            <a:endParaRPr lang="mk-MK" altLang="mk-MK" sz="2000" b="1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02CD90C-2ADE-4F53-9A92-B406617EE135}" type="slidenum">
              <a:rPr lang="en-US" altLang="mk-MK"/>
              <a:pPr/>
              <a:t>40</a:t>
            </a:fld>
            <a:endParaRPr lang="en-US" altLang="mk-MK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 bwMode="auto">
          <a:xfrm>
            <a:off x="214313" y="1643063"/>
            <a:ext cx="892968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Create desktop folder, </a:t>
            </a:r>
            <a:r>
              <a:rPr lang="en-US" sz="2400" b="1" i="1" kern="0" dirty="0"/>
              <a:t>DB Backup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Create Backup for Obrazovanie DB into folder DB Backup.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500" kern="0" dirty="0">
                <a:latin typeface="+mn-lt"/>
              </a:rPr>
              <a:t>Try to make DataBase </a:t>
            </a:r>
            <a:r>
              <a:rPr lang="en-US" sz="2500" b="1" kern="0" dirty="0">
                <a:latin typeface="+mn-lt"/>
              </a:rPr>
              <a:t>Restore operation.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400" b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400" b="1" kern="0" dirty="0">
              <a:latin typeface="+mn-lt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500" b="1" kern="0" dirty="0">
                <a:latin typeface="+mn-lt"/>
              </a:rPr>
              <a:t>Conclusion: 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000" dirty="0"/>
              <a:t>We can make RESTORE only if Data Base is Defined in SQL Server (it can be empty (Check “Force restore over existing DB”</a:t>
            </a:r>
            <a:br>
              <a:rPr lang="en-US" sz="2000" dirty="0"/>
            </a:br>
            <a:r>
              <a:rPr lang="en-US" sz="2000" dirty="0"/>
              <a:t>option)).</a:t>
            </a:r>
            <a:br>
              <a:rPr lang="en-US" sz="2000" dirty="0"/>
            </a:br>
            <a:r>
              <a:rPr lang="en-US" sz="2000" b="1" dirty="0"/>
              <a:t>You can not </a:t>
            </a:r>
            <a:r>
              <a:rPr lang="en-US" sz="2000" dirty="0"/>
              <a:t>make RESTORE if DataBase doesn’t exist</a:t>
            </a:r>
            <a:endParaRPr lang="mk-MK" sz="2600" kern="0" dirty="0">
              <a:latin typeface="+mn-lt"/>
            </a:endParaRPr>
          </a:p>
        </p:txBody>
      </p:sp>
      <p:pic>
        <p:nvPicPr>
          <p:cNvPr id="368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3357563"/>
            <a:ext cx="2676525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1455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2997200" cy="1216025"/>
          </a:xfrm>
        </p:spPr>
        <p:txBody>
          <a:bodyPr/>
          <a:lstStyle/>
          <a:p>
            <a:r>
              <a:rPr lang="en-US" dirty="0"/>
              <a:t>DETACH DataBase</a:t>
            </a:r>
            <a:endParaRPr lang="mk-MK" altLang="mk-MK" b="1" dirty="0"/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94DC383-7EA2-4B6D-9AC0-F59C4454596E}" type="slidenum">
              <a:rPr lang="en-US" altLang="mk-MK"/>
              <a:pPr/>
              <a:t>41</a:t>
            </a:fld>
            <a:endParaRPr lang="en-US" altLang="mk-MK" dirty="0"/>
          </a:p>
        </p:txBody>
      </p:sp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285750" y="1714500"/>
            <a:ext cx="850106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000" kern="0" dirty="0">
                <a:latin typeface="+mn-lt"/>
              </a:rPr>
              <a:t>For manual backup of database</a:t>
            </a:r>
            <a:r>
              <a:rPr lang="mk-MK" sz="2000" kern="0" dirty="0">
                <a:latin typeface="+mn-lt"/>
              </a:rPr>
              <a:t>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After DETACH, you can COPY-PASTE *.MDF and *.LDF files</a:t>
            </a:r>
            <a:br>
              <a:rPr lang="en-US" sz="2400" dirty="0"/>
            </a:br>
            <a:r>
              <a:rPr lang="en-US" sz="2400" dirty="0"/>
              <a:t>from their original location to some other location</a:t>
            </a:r>
            <a:endParaRPr lang="mk-MK" sz="2400" kern="0" dirty="0">
              <a:latin typeface="+mn-lt"/>
            </a:endParaRPr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0"/>
            <a:ext cx="41052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3573016"/>
            <a:ext cx="49720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6922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538901D-2DBE-466B-BADF-9604E89E44EB}" vid="{735738E2-5671-46A1-A107-4D588A2703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1214</TotalTime>
  <Words>687</Words>
  <Application>Microsoft Office PowerPoint</Application>
  <PresentationFormat>On-screen Show (4:3)</PresentationFormat>
  <Paragraphs>224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Times New Roman</vt:lpstr>
      <vt:lpstr>Verdana</vt:lpstr>
      <vt:lpstr>Wingdings</vt:lpstr>
      <vt:lpstr>Profile</vt:lpstr>
      <vt:lpstr>SCSIT V Semester DataBase 2</vt:lpstr>
      <vt:lpstr>Getting started with SQL Server</vt:lpstr>
      <vt:lpstr>Tools</vt:lpstr>
      <vt:lpstr>SQL Server?</vt:lpstr>
      <vt:lpstr>MS SQL Server  Management Studio (Express)</vt:lpstr>
      <vt:lpstr>Log In</vt:lpstr>
      <vt:lpstr>Service info ?</vt:lpstr>
      <vt:lpstr>PowerPoint Presentation</vt:lpstr>
      <vt:lpstr>PowerPoint Presentation</vt:lpstr>
      <vt:lpstr>PowerPoint Presentation</vt:lpstr>
      <vt:lpstr>Working with SQL Server</vt:lpstr>
      <vt:lpstr>Example 1: log in to SQL Server</vt:lpstr>
      <vt:lpstr>Create a Database</vt:lpstr>
      <vt:lpstr>Database Objects</vt:lpstr>
      <vt:lpstr>CREATE DATABASE</vt:lpstr>
      <vt:lpstr>Where are Data Base Files?</vt:lpstr>
      <vt:lpstr>Where is Student DB in Management Studio structure?</vt:lpstr>
      <vt:lpstr>Choose DB to work with (1)</vt:lpstr>
      <vt:lpstr>Choose DB to work with (1)</vt:lpstr>
      <vt:lpstr>SCSIT V Semester  DataBase 2 </vt:lpstr>
      <vt:lpstr>How to use Mng. Studio</vt:lpstr>
      <vt:lpstr>DataBase operations</vt:lpstr>
      <vt:lpstr>New Database </vt:lpstr>
      <vt:lpstr>Attach  Data Base</vt:lpstr>
      <vt:lpstr>PowerPoint Presentation</vt:lpstr>
      <vt:lpstr>Modify Table structure</vt:lpstr>
      <vt:lpstr>Database  properties</vt:lpstr>
      <vt:lpstr>Tables– access and commands</vt:lpstr>
      <vt:lpstr>Tables– Access and commands</vt:lpstr>
      <vt:lpstr>Scripts</vt:lpstr>
      <vt:lpstr>PowerPoint Presentation</vt:lpstr>
      <vt:lpstr>DB 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BACK-UP database file</vt:lpstr>
      <vt:lpstr>Back up DB (.bak)</vt:lpstr>
      <vt:lpstr>Example  + RESTORE </vt:lpstr>
      <vt:lpstr>DETACH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V Семестар Дистрибуирани бази на податоци</dc:title>
  <dc:creator>Bojan Bogdanovski</dc:creator>
  <cp:lastModifiedBy>Igor Janchev</cp:lastModifiedBy>
  <cp:revision>58</cp:revision>
  <dcterms:created xsi:type="dcterms:W3CDTF">2015-09-16T08:03:18Z</dcterms:created>
  <dcterms:modified xsi:type="dcterms:W3CDTF">2025-10-10T15:12:29Z</dcterms:modified>
</cp:coreProperties>
</file>