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779" r:id="rId2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4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85" d="100"/>
          <a:sy n="85" d="100"/>
        </p:scale>
        <p:origin x="136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E3FC6434-D320-4E13-B5F3-CA625DCE496B}" type="datetimeFigureOut">
              <a:rPr lang="mk-MK"/>
              <a:pPr>
                <a:defRPr/>
              </a:pPr>
              <a:t>21.9.2026</a:t>
            </a:fld>
            <a:endParaRPr lang="mk-M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2BF81E5-3C0C-4F06-A236-B77CBEEA7E40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1368478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F0E5C910-3C77-467B-BB34-7D24B6A11930}" type="datetimeFigureOut">
              <a:rPr lang="mk-MK"/>
              <a:pPr>
                <a:defRPr/>
              </a:pPr>
              <a:t>21.9.2026</a:t>
            </a:fld>
            <a:endParaRPr lang="mk-M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0412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pPr lvl="0"/>
            <a:endParaRPr lang="mk-MK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32" tIns="45716" rIns="91432" bIns="4571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mk-MK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AAA7F49-95E7-4DEF-9FBC-9AA34CD6F2DA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4235134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ED86F3-D621-4266-9233-2AD5FAB42E91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91459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AEE28-9067-43AE-B827-CB735BA80B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23351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55605-8589-4501-A6EC-5BD5BF16FEF2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257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B02C7-19EE-460E-BE29-02A53896C6B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38475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7594E-69BE-4032-A71D-098E953DD82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404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42725-DE71-4E78-805A-85657572DFEE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62888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E4DD5-6B29-4C36-9C16-1F0BEFF74530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688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B468F-FD2C-4BEF-959C-7AC47AD8F708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56523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mk-M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CB296-7D97-4441-A9C8-B2EA1193AF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80958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0A351-2592-4299-9DF9-D976D4CF0D7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32151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9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9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A216B8-2BE7-4C75-B8C9-0DFEDB222D5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40115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9" y="1752600"/>
            <a:ext cx="8001000" cy="4267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mk-MK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0B7F90-8C43-4F35-B27B-0558E5AA7C6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10894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ED86F3-D621-4266-9233-2AD5FAB42E91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55538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AEE28-9067-43AE-B827-CB735BA80B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4155516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55605-8589-4501-A6EC-5BD5BF16FEF2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887341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B02C7-19EE-460E-BE29-02A53896C6B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347573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7594E-69BE-4032-A71D-098E953DD82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327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42725-DE71-4E78-805A-85657572DFEE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984987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E4DD5-6B29-4C36-9C16-1F0BEFF74530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49415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B468F-FD2C-4BEF-959C-7AC47AD8F708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7402153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mk-M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CB296-7D97-4441-A9C8-B2EA1193AF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279559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0A351-2592-4299-9DF9-D976D4CF0D7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6405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9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9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A216B8-2BE7-4C75-B8C9-0DFEDB222D5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9261975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9" y="1752600"/>
            <a:ext cx="8001000" cy="4267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mk-MK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0B7F90-8C43-4F35-B27B-0558E5AA7C6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092178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 dirty="0"/>
              <a:t>Click to edit Master text styles</a:t>
            </a:r>
          </a:p>
          <a:p>
            <a:pPr lvl="1"/>
            <a:r>
              <a:rPr lang="en-US" altLang="mk-MK" dirty="0"/>
              <a:t>Second level</a:t>
            </a:r>
          </a:p>
          <a:p>
            <a:pPr lvl="2"/>
            <a:r>
              <a:rPr lang="en-US" altLang="mk-MK" dirty="0"/>
              <a:t>Third level</a:t>
            </a:r>
          </a:p>
          <a:p>
            <a:pPr lvl="3"/>
            <a:r>
              <a:rPr lang="en-US" altLang="mk-MK" dirty="0"/>
              <a:t>Fourth level</a:t>
            </a:r>
          </a:p>
          <a:p>
            <a:pPr lvl="4"/>
            <a:r>
              <a:rPr lang="en-US" altLang="mk-MK" dirty="0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0AB2DD1-2A79-45ED-A26A-2F4756BE6A1A}" type="slidenum">
              <a:rPr lang="en-US" altLang="mk-MK"/>
              <a:pPr/>
              <a:t>‹#›</a:t>
            </a:fld>
            <a:endParaRPr lang="en-US" altLang="mk-MK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528" y="0"/>
            <a:ext cx="1187453" cy="71402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mk-M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text styles</a:t>
            </a:r>
          </a:p>
          <a:p>
            <a:pPr lvl="1"/>
            <a:r>
              <a:rPr lang="en-US" altLang="mk-MK"/>
              <a:t>Second level</a:t>
            </a:r>
          </a:p>
          <a:p>
            <a:pPr lvl="2"/>
            <a:r>
              <a:rPr lang="en-US" altLang="mk-MK"/>
              <a:t>Third level</a:t>
            </a:r>
          </a:p>
          <a:p>
            <a:pPr lvl="3"/>
            <a:r>
              <a:rPr lang="en-US" altLang="mk-MK"/>
              <a:t>Fourth level</a:t>
            </a:r>
          </a:p>
          <a:p>
            <a:pPr lvl="4"/>
            <a:r>
              <a:rPr lang="en-US" altLang="mk-MK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0AB2DD1-2A79-45ED-A26A-2F4756BE6A1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25183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k.linkedin.com/in/zoran-gichevski" TargetMode="External"/><Relationship Id="rId2" Type="http://schemas.openxmlformats.org/officeDocument/2006/relationships/hyperlink" Target="mailto:zoran.gichevski@uacs.edu.m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ql/ssms/download-sql-server-management-studio-ssms?view=sql-server-ver16" TargetMode="External"/><Relationship Id="rId2" Type="http://schemas.openxmlformats.org/officeDocument/2006/relationships/hyperlink" Target="https://www.microsoft.com/en-us/download/details.aspx?id=10106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wnloads.mongodb.com/compass/mongodb-compass-1.50.0-win32-x64.exe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5750" y="1052513"/>
            <a:ext cx="8643938" cy="1371600"/>
          </a:xfrm>
        </p:spPr>
        <p:txBody>
          <a:bodyPr/>
          <a:lstStyle/>
          <a:p>
            <a:pPr algn="ctr" eaLnBrk="1" hangingPunct="1"/>
            <a:r>
              <a:rPr lang="en-US" altLang="mk-MK" sz="3000" b="1" dirty="0"/>
              <a:t>SCSIT </a:t>
            </a:r>
            <a:br>
              <a:rPr lang="en-US" altLang="mk-MK" sz="3000" b="1" dirty="0"/>
            </a:br>
            <a:r>
              <a:rPr lang="en-US" altLang="mk-MK" sz="3000" b="1" dirty="0"/>
              <a:t>V Semester</a:t>
            </a:r>
            <a:br>
              <a:rPr lang="en-US" altLang="mk-MK" sz="3000" b="1" dirty="0"/>
            </a:br>
            <a:br>
              <a:rPr lang="en-US" altLang="mk-MK" sz="2600" b="1" dirty="0"/>
            </a:br>
            <a:r>
              <a:rPr lang="en-US" altLang="mk-MK" sz="2600" b="1" dirty="0"/>
              <a:t>Databases 2</a:t>
            </a:r>
            <a:endParaRPr lang="en-US" altLang="mk-MK" sz="2800" b="1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57250" y="3471863"/>
            <a:ext cx="7600950" cy="1600200"/>
          </a:xfrm>
        </p:spPr>
        <p:txBody>
          <a:bodyPr/>
          <a:lstStyle/>
          <a:p>
            <a:pPr eaLnBrk="1" hangingPunct="1"/>
            <a:r>
              <a:rPr lang="en-US" altLang="mk-MK" sz="2400" b="1" dirty="0">
                <a:solidFill>
                  <a:srgbClr val="FF0000"/>
                </a:solidFill>
              </a:rPr>
              <a:t>Lecturer: Zoran </a:t>
            </a:r>
            <a:r>
              <a:rPr lang="en-US" altLang="mk-MK" sz="2400" b="1" dirty="0" err="1">
                <a:solidFill>
                  <a:srgbClr val="FF0000"/>
                </a:solidFill>
              </a:rPr>
              <a:t>Gichevski</a:t>
            </a:r>
            <a:endParaRPr lang="en-US" altLang="mk-MK" sz="2400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mk-MK" sz="2400" b="1" dirty="0">
                <a:solidFill>
                  <a:srgbClr val="FF0000"/>
                </a:solidFill>
              </a:rPr>
              <a:t>Domain </a:t>
            </a:r>
            <a:r>
              <a:rPr lang="en-US" altLang="mk-MK" sz="2400" b="1" dirty="0" err="1">
                <a:solidFill>
                  <a:srgbClr val="FF0000"/>
                </a:solidFill>
              </a:rPr>
              <a:t>Consultat</a:t>
            </a:r>
            <a:r>
              <a:rPr lang="en-US" altLang="mk-MK" sz="2400" b="1" dirty="0">
                <a:solidFill>
                  <a:srgbClr val="FF0000"/>
                </a:solidFill>
              </a:rPr>
              <a:t>/Team Lead at </a:t>
            </a:r>
            <a:r>
              <a:rPr lang="en-US" altLang="mk-MK" sz="2400" b="1" dirty="0" err="1">
                <a:solidFill>
                  <a:srgbClr val="FF0000"/>
                </a:solidFill>
              </a:rPr>
              <a:t>Avenga</a:t>
            </a:r>
            <a:r>
              <a:rPr lang="en-US" altLang="mk-MK" sz="2400" b="1" dirty="0">
                <a:solidFill>
                  <a:srgbClr val="FF0000"/>
                </a:solidFill>
              </a:rPr>
              <a:t> (previously Qinshift/Seavus)</a:t>
            </a:r>
          </a:p>
          <a:p>
            <a:r>
              <a:rPr lang="en-US" altLang="mk-MK" sz="2400" b="1" dirty="0">
                <a:solidFill>
                  <a:srgbClr val="FF0000"/>
                </a:solidFill>
              </a:rPr>
              <a:t>Operations Center | Managed Services </a:t>
            </a:r>
            <a:endParaRPr lang="en-US" altLang="mk-MK" sz="2400" b="1" dirty="0"/>
          </a:p>
        </p:txBody>
      </p:sp>
    </p:spTree>
    <p:extLst>
      <p:ext uri="{BB962C8B-B14F-4D97-AF65-F5344CB8AC3E}">
        <p14:creationId xmlns:p14="http://schemas.microsoft.com/office/powerpoint/2010/main" val="45562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 dirty="0">
                <a:solidFill>
                  <a:schemeClr val="tx1"/>
                </a:solidFill>
              </a:rPr>
              <a:t>Lecturer</a:t>
            </a:r>
            <a:endParaRPr lang="mk-MK" altLang="mk-MK" b="1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66738" y="1643063"/>
            <a:ext cx="8577262" cy="4267200"/>
          </a:xfrm>
        </p:spPr>
        <p:txBody>
          <a:bodyPr/>
          <a:lstStyle/>
          <a:p>
            <a:r>
              <a:rPr lang="en-US" altLang="mk-MK" sz="2500" b="1" dirty="0"/>
              <a:t>Zoran </a:t>
            </a:r>
            <a:r>
              <a:rPr lang="en-US" altLang="mk-MK" sz="2500" b="1" dirty="0" err="1"/>
              <a:t>Gichevski</a:t>
            </a:r>
            <a:endParaRPr lang="en-US" altLang="mk-MK" sz="2500" b="1" dirty="0"/>
          </a:p>
          <a:p>
            <a:endParaRPr lang="en-US" altLang="mk-MK" sz="2500" b="1" dirty="0"/>
          </a:p>
          <a:p>
            <a:r>
              <a:rPr lang="en-US" altLang="mk-MK" sz="2500" b="1" dirty="0"/>
              <a:t>Responsible for 24/7 IT Operations &amp; Support and IT Helpdesk Teams at Operations Center | Managed Services Division.</a:t>
            </a:r>
          </a:p>
          <a:p>
            <a:endParaRPr lang="en-US" altLang="mk-MK" sz="2400" b="1" dirty="0"/>
          </a:p>
          <a:p>
            <a:r>
              <a:rPr lang="en-US" altLang="mk-MK" sz="2400" b="1" dirty="0"/>
              <a:t>Contact:</a:t>
            </a:r>
          </a:p>
          <a:p>
            <a:pPr lvl="1"/>
            <a:r>
              <a:rPr lang="en-US" altLang="mk-MK" sz="2000" b="1" dirty="0"/>
              <a:t>Email: </a:t>
            </a:r>
            <a:r>
              <a:rPr lang="en-US" altLang="mk-MK" sz="2000" b="1" dirty="0">
                <a:hlinkClick r:id="rId2"/>
              </a:rPr>
              <a:t>zoran.gichevski@uacs.edu.mk</a:t>
            </a:r>
            <a:r>
              <a:rPr lang="en-US" altLang="mk-MK" sz="2000" b="1" dirty="0"/>
              <a:t>  	</a:t>
            </a:r>
          </a:p>
          <a:p>
            <a:pPr lvl="1"/>
            <a:r>
              <a:rPr lang="en-US" altLang="mk-MK" sz="2000" b="1" dirty="0"/>
              <a:t>LinkedIn: </a:t>
            </a:r>
            <a:r>
              <a:rPr lang="en-US" sz="2400" dirty="0">
                <a:hlinkClick r:id="rId3"/>
              </a:rPr>
              <a:t>https://mk.linkedin.com/in/zoran-gichevski</a:t>
            </a:r>
            <a:endParaRPr lang="mk-MK" altLang="mk-MK" sz="24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2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3071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 dirty="0">
                <a:solidFill>
                  <a:schemeClr val="tx1"/>
                </a:solidFill>
              </a:rPr>
              <a:t>Databases 2</a:t>
            </a:r>
            <a:endParaRPr lang="mk-MK" altLang="mk-MK" b="1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67544" y="1672869"/>
            <a:ext cx="9045822" cy="4880331"/>
          </a:xfrm>
        </p:spPr>
        <p:txBody>
          <a:bodyPr/>
          <a:lstStyle/>
          <a:p>
            <a:r>
              <a:rPr lang="en-US" altLang="mk-MK" sz="2500" b="1" dirty="0"/>
              <a:t>Lecturer/Mentor: Venera </a:t>
            </a:r>
            <a:r>
              <a:rPr lang="en-US" altLang="mk-MK" sz="2500" b="1" dirty="0" err="1"/>
              <a:t>Gudachi</a:t>
            </a:r>
            <a:r>
              <a:rPr lang="en-US" altLang="mk-MK" sz="2500" b="1" dirty="0"/>
              <a:t>, PhD</a:t>
            </a:r>
          </a:p>
          <a:p>
            <a:r>
              <a:rPr lang="en-US" altLang="mk-MK" sz="2500" b="1" dirty="0"/>
              <a:t>Assistant/Collaborator: Zoran </a:t>
            </a:r>
            <a:r>
              <a:rPr lang="en-US" altLang="mk-MK" sz="2500" b="1" dirty="0" err="1"/>
              <a:t>Gichevski</a:t>
            </a:r>
            <a:endParaRPr lang="en-US" altLang="mk-MK" sz="2500" b="1" dirty="0"/>
          </a:p>
          <a:p>
            <a:endParaRPr lang="en-US" altLang="mk-MK" sz="2500" b="1" dirty="0"/>
          </a:p>
          <a:p>
            <a:r>
              <a:rPr lang="en-US" altLang="mk-MK" sz="2500" b="1" dirty="0"/>
              <a:t>Schedule hours:</a:t>
            </a:r>
          </a:p>
          <a:p>
            <a:pPr lvl="1"/>
            <a:r>
              <a:rPr lang="en-US" altLang="mk-MK" sz="2100" b="1" dirty="0"/>
              <a:t>Group 1: Monday 16:30-18:30</a:t>
            </a:r>
          </a:p>
          <a:p>
            <a:pPr lvl="1"/>
            <a:endParaRPr lang="en-US" altLang="mk-MK" sz="2100" b="1" dirty="0"/>
          </a:p>
          <a:p>
            <a:r>
              <a:rPr lang="en-US" altLang="mk-MK" sz="2500" b="1" dirty="0"/>
              <a:t>Room: L2 /2</a:t>
            </a:r>
            <a:r>
              <a:rPr lang="en-US" altLang="mk-MK" sz="2500" b="1" baseline="30000" dirty="0"/>
              <a:t>nd</a:t>
            </a:r>
            <a:r>
              <a:rPr lang="en-US" altLang="mk-MK" sz="2500" b="1" dirty="0"/>
              <a:t> floor</a:t>
            </a:r>
          </a:p>
          <a:p>
            <a:r>
              <a:rPr lang="en-US" altLang="mk-MK" sz="2500" b="1" dirty="0"/>
              <a:t>Consultation hours: On demand</a:t>
            </a:r>
          </a:p>
          <a:p>
            <a:pPr lvl="1">
              <a:buFont typeface="Wingdings" panose="05000000000000000000" pitchFamily="2" charset="2"/>
              <a:buNone/>
            </a:pPr>
            <a:endParaRPr lang="mk-MK" altLang="mk-MK" sz="1900" dirty="0"/>
          </a:p>
          <a:p>
            <a:pPr lvl="3">
              <a:buFont typeface="Wingdings" panose="05000000000000000000" pitchFamily="2" charset="2"/>
              <a:buNone/>
            </a:pPr>
            <a:endParaRPr lang="mk-MK" altLang="mk-MK" sz="1800" dirty="0"/>
          </a:p>
          <a:p>
            <a:pPr lvl="1"/>
            <a:endParaRPr lang="mk-MK" altLang="mk-MK" sz="24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3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72568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 dirty="0">
                <a:solidFill>
                  <a:schemeClr val="tx1"/>
                </a:solidFill>
              </a:rPr>
              <a:t>Weekly delivery plan</a:t>
            </a:r>
            <a:endParaRPr lang="mk-MK" altLang="mk-MK" b="1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66738" y="1643062"/>
            <a:ext cx="8577262" cy="4378225"/>
          </a:xfrm>
        </p:spPr>
        <p:txBody>
          <a:bodyPr/>
          <a:lstStyle/>
          <a:p>
            <a:r>
              <a:rPr lang="en-US" altLang="mk-MK" sz="2500" b="1" dirty="0"/>
              <a:t>Lecture 1 – 6</a:t>
            </a:r>
          </a:p>
          <a:p>
            <a:r>
              <a:rPr lang="en-US" altLang="mk-MK" sz="2500" b="1" dirty="0"/>
              <a:t>Mid Term Exam</a:t>
            </a:r>
          </a:p>
          <a:p>
            <a:r>
              <a:rPr lang="en-US" altLang="mk-MK" sz="2500" b="1" dirty="0"/>
              <a:t>Lecture 7 – 12</a:t>
            </a:r>
          </a:p>
          <a:p>
            <a:r>
              <a:rPr lang="en-US" altLang="mk-MK" sz="2500" b="1" dirty="0"/>
              <a:t>Reading week</a:t>
            </a:r>
          </a:p>
          <a:p>
            <a:r>
              <a:rPr lang="en-US" altLang="mk-MK" sz="2500" b="1" dirty="0"/>
              <a:t>Final Exam</a:t>
            </a:r>
          </a:p>
          <a:p>
            <a:endParaRPr lang="en-US" altLang="mk-MK" sz="2500" b="1" dirty="0"/>
          </a:p>
          <a:p>
            <a:r>
              <a:rPr lang="en-US" altLang="mk-MK" sz="2500" b="1" dirty="0" err="1"/>
              <a:t>MakeUp</a:t>
            </a:r>
            <a:r>
              <a:rPr lang="en-US" altLang="mk-MK" sz="2500" b="1" dirty="0"/>
              <a:t> Exam</a:t>
            </a:r>
          </a:p>
          <a:p>
            <a:pPr lvl="1">
              <a:buFont typeface="Wingdings" panose="05000000000000000000" pitchFamily="2" charset="2"/>
              <a:buNone/>
            </a:pPr>
            <a:endParaRPr lang="mk-MK" altLang="mk-MK" sz="1900" dirty="0"/>
          </a:p>
          <a:p>
            <a:pPr lvl="3">
              <a:buFont typeface="Wingdings" panose="05000000000000000000" pitchFamily="2" charset="2"/>
              <a:buNone/>
            </a:pPr>
            <a:endParaRPr lang="mk-MK" altLang="mk-MK" sz="1800" dirty="0"/>
          </a:p>
          <a:p>
            <a:pPr lvl="1"/>
            <a:endParaRPr lang="mk-MK" altLang="mk-MK" sz="24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4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79259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74674" y="304800"/>
            <a:ext cx="8569326" cy="1251992"/>
          </a:xfrm>
        </p:spPr>
        <p:txBody>
          <a:bodyPr/>
          <a:lstStyle/>
          <a:p>
            <a:r>
              <a:rPr lang="en-US" altLang="mk-MK" sz="2800" b="1" dirty="0">
                <a:solidFill>
                  <a:schemeClr val="tx1"/>
                </a:solidFill>
              </a:rPr>
              <a:t>Evaluation structure and assessments during teaching semester</a:t>
            </a:r>
            <a:endParaRPr lang="mk-MK" altLang="mk-MK" sz="2800" b="1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5</a:t>
            </a:fld>
            <a:endParaRPr lang="en-US" altLang="mk-M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BCDE9-8228-407E-B6B6-F9C18C52B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4" y="1855360"/>
            <a:ext cx="6805638" cy="426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4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74674" y="304800"/>
            <a:ext cx="8569326" cy="1251992"/>
          </a:xfrm>
        </p:spPr>
        <p:txBody>
          <a:bodyPr/>
          <a:lstStyle/>
          <a:p>
            <a:r>
              <a:rPr lang="en-US" altLang="mk-MK" sz="2800" b="1" dirty="0">
                <a:solidFill>
                  <a:schemeClr val="tx1"/>
                </a:solidFill>
              </a:rPr>
              <a:t>Evaluation structure and assessments during teaching semester</a:t>
            </a:r>
            <a:endParaRPr lang="mk-MK" altLang="mk-MK" sz="2800" b="1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6</a:t>
            </a:fld>
            <a:endParaRPr lang="en-US" altLang="mk-MK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04EC7D-4A2B-4BA4-9DA9-7CF347B0F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298680"/>
            <a:ext cx="9144000" cy="285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74674" y="304800"/>
            <a:ext cx="8569326" cy="1251992"/>
          </a:xfrm>
        </p:spPr>
        <p:txBody>
          <a:bodyPr/>
          <a:lstStyle/>
          <a:p>
            <a:r>
              <a:rPr lang="en-US" altLang="mk-MK" sz="2800" b="1" dirty="0">
                <a:solidFill>
                  <a:schemeClr val="tx1"/>
                </a:solidFill>
              </a:rPr>
              <a:t>Evaluation structure and assessments for </a:t>
            </a:r>
            <a:r>
              <a:rPr lang="en-US" altLang="mk-MK" sz="2800" b="1" dirty="0" err="1">
                <a:solidFill>
                  <a:schemeClr val="tx1"/>
                </a:solidFill>
              </a:rPr>
              <a:t>MakeUp</a:t>
            </a:r>
            <a:r>
              <a:rPr lang="en-US" altLang="mk-MK" sz="2800" b="1" dirty="0">
                <a:solidFill>
                  <a:schemeClr val="tx1"/>
                </a:solidFill>
              </a:rPr>
              <a:t> examinations </a:t>
            </a:r>
            <a:endParaRPr lang="mk-MK" altLang="mk-MK" sz="2800" b="1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7</a:t>
            </a:fld>
            <a:endParaRPr lang="en-US" altLang="mk-MK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E231E4-F515-42CD-B220-89B92559F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919868"/>
            <a:ext cx="9144000" cy="301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457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sz="2800" b="1" dirty="0">
                <a:solidFill>
                  <a:schemeClr val="tx1"/>
                </a:solidFill>
              </a:rPr>
              <a:t>Evaluation structure and assessments during teaching semester</a:t>
            </a:r>
            <a:endParaRPr lang="mk-MK" altLang="mk-MK" sz="2800" b="1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66738" y="3139994"/>
            <a:ext cx="8577262" cy="2592287"/>
          </a:xfrm>
        </p:spPr>
        <p:txBody>
          <a:bodyPr/>
          <a:lstStyle/>
          <a:p>
            <a:r>
              <a:rPr lang="en-US" altLang="mk-MK" sz="2500" b="1" dirty="0"/>
              <a:t>Attendance: 10% from Practical part</a:t>
            </a:r>
          </a:p>
          <a:p>
            <a:pPr lvl="1"/>
            <a:r>
              <a:rPr lang="en-US" altLang="mk-MK" sz="2100" b="1" dirty="0"/>
              <a:t>Attendance: 5%</a:t>
            </a:r>
          </a:p>
          <a:p>
            <a:pPr lvl="1"/>
            <a:r>
              <a:rPr lang="en-US" altLang="mk-MK" sz="2100" b="1" dirty="0"/>
              <a:t>Activity/Participation: 5%</a:t>
            </a:r>
          </a:p>
          <a:p>
            <a:r>
              <a:rPr lang="en-US" altLang="mk-MK" sz="2500" b="1" dirty="0"/>
              <a:t>Homework: 10% from Practical part</a:t>
            </a:r>
          </a:p>
          <a:p>
            <a:r>
              <a:rPr lang="en-US" altLang="mk-MK" sz="2500" b="1" dirty="0"/>
              <a:t>Mid Term Exam: 15% from Practical part</a:t>
            </a:r>
          </a:p>
          <a:p>
            <a:r>
              <a:rPr lang="en-US" altLang="mk-MK" sz="2500" b="1" dirty="0"/>
              <a:t>Final exam : 15% from Practical part</a:t>
            </a:r>
          </a:p>
          <a:p>
            <a:pPr lvl="1">
              <a:buFont typeface="Wingdings" panose="05000000000000000000" pitchFamily="2" charset="2"/>
              <a:buNone/>
            </a:pPr>
            <a:endParaRPr lang="mk-MK" altLang="mk-MK" sz="1900" dirty="0"/>
          </a:p>
          <a:p>
            <a:pPr lvl="3">
              <a:buFont typeface="Wingdings" panose="05000000000000000000" pitchFamily="2" charset="2"/>
              <a:buNone/>
            </a:pPr>
            <a:endParaRPr lang="mk-MK" altLang="mk-MK" sz="1800" dirty="0"/>
          </a:p>
          <a:p>
            <a:pPr lvl="1"/>
            <a:endParaRPr lang="mk-MK" altLang="mk-MK" sz="24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8</a:t>
            </a:fld>
            <a:endParaRPr lang="en-US" altLang="mk-M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D470A0-6530-45A8-A1E8-4DCE723E1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1511321"/>
            <a:ext cx="3185382" cy="159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26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114324"/>
          </a:xfrm>
        </p:spPr>
        <p:txBody>
          <a:bodyPr/>
          <a:lstStyle/>
          <a:p>
            <a:r>
              <a:rPr lang="en-US" altLang="mk-MK" sz="3200" b="1" dirty="0">
                <a:solidFill>
                  <a:schemeClr val="tx1"/>
                </a:solidFill>
              </a:rPr>
              <a:t>Used programs during semester</a:t>
            </a:r>
            <a:endParaRPr lang="mk-MK" altLang="mk-MK" sz="3200" b="1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66738" y="1643062"/>
            <a:ext cx="8577262" cy="4522242"/>
          </a:xfrm>
        </p:spPr>
        <p:txBody>
          <a:bodyPr/>
          <a:lstStyle/>
          <a:p>
            <a:r>
              <a:rPr lang="en-US" altLang="mk-MK" sz="2500" b="1" dirty="0"/>
              <a:t>Diagram.net (draw.io) </a:t>
            </a:r>
          </a:p>
          <a:p>
            <a:endParaRPr lang="en-US" altLang="mk-MK" sz="2500" b="1" dirty="0"/>
          </a:p>
          <a:p>
            <a:r>
              <a:rPr lang="en-US" altLang="mk-MK" sz="2500" b="1" dirty="0"/>
              <a:t>Microsoft SQL Server</a:t>
            </a:r>
          </a:p>
          <a:p>
            <a:pPr lvl="1"/>
            <a:r>
              <a:rPr lang="en-US" altLang="mk-MK" sz="1800" b="1" dirty="0"/>
              <a:t>DB Engine: MS SQL Server 2019 Express Edition </a:t>
            </a:r>
            <a:r>
              <a:rPr lang="en-US" altLang="mk-MK" sz="1800" b="1" dirty="0">
                <a:hlinkClick r:id="rId2"/>
              </a:rPr>
              <a:t>https://www.microsoft.com/en-us/download/details.aspx?id=101064</a:t>
            </a:r>
            <a:r>
              <a:rPr lang="en-US" altLang="mk-MK" sz="1800" b="1" dirty="0"/>
              <a:t> </a:t>
            </a:r>
          </a:p>
          <a:p>
            <a:pPr lvl="1"/>
            <a:r>
              <a:rPr lang="en-US" altLang="mk-MK" sz="1800" b="1" dirty="0"/>
              <a:t>SQL Management Studio (SSMS) 18.12 </a:t>
            </a:r>
            <a:r>
              <a:rPr lang="en-US" altLang="mk-MK" sz="1800" b="1" dirty="0">
                <a:hlinkClick r:id="rId3"/>
              </a:rPr>
              <a:t>https://learn.microsoft.com/en-us/sql/ssms/download-sql-server-management-studio-ssms?view=sql-server-ver16</a:t>
            </a:r>
            <a:r>
              <a:rPr lang="en-US" altLang="mk-MK" sz="1800" b="1" dirty="0"/>
              <a:t> </a:t>
            </a:r>
          </a:p>
          <a:p>
            <a:pPr lvl="1"/>
            <a:r>
              <a:rPr lang="en-US" altLang="mk-MK" sz="1800" b="1" dirty="0"/>
              <a:t>MongoDB Compass</a:t>
            </a:r>
            <a:br>
              <a:rPr lang="en-US" altLang="mk-MK" sz="1800" b="1" dirty="0"/>
            </a:br>
            <a:r>
              <a:rPr lang="en-US" altLang="mk-MK" sz="1800" b="1" dirty="0">
                <a:hlinkClick r:id="rId4"/>
              </a:rPr>
              <a:t>https://downloads.mongodb.com/compass/mongodb-compass-1.50.0-win32-x64.exe</a:t>
            </a:r>
            <a:endParaRPr lang="en-US" altLang="mk-MK" sz="1800" b="1" dirty="0"/>
          </a:p>
          <a:p>
            <a:pPr lvl="1">
              <a:buFont typeface="Wingdings" panose="05000000000000000000" pitchFamily="2" charset="2"/>
              <a:buNone/>
            </a:pPr>
            <a:endParaRPr lang="mk-MK" altLang="mk-MK" sz="1900" dirty="0"/>
          </a:p>
          <a:p>
            <a:pPr lvl="3">
              <a:buFont typeface="Wingdings" panose="05000000000000000000" pitchFamily="2" charset="2"/>
              <a:buNone/>
            </a:pPr>
            <a:endParaRPr lang="mk-MK" altLang="mk-MK" sz="1800" dirty="0"/>
          </a:p>
          <a:p>
            <a:pPr lvl="1"/>
            <a:endParaRPr lang="mk-MK" altLang="mk-MK" sz="24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9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757767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114324"/>
          </a:xfrm>
        </p:spPr>
        <p:txBody>
          <a:bodyPr/>
          <a:lstStyle/>
          <a:p>
            <a:r>
              <a:rPr lang="en-US" altLang="mk-MK" sz="3200" b="1" dirty="0">
                <a:solidFill>
                  <a:schemeClr val="tx1"/>
                </a:solidFill>
              </a:rPr>
              <a:t>Classes learning flow</a:t>
            </a:r>
            <a:endParaRPr lang="mk-MK" altLang="mk-MK" sz="3200" b="1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66738" y="1643062"/>
            <a:ext cx="8577262" cy="4522242"/>
          </a:xfrm>
        </p:spPr>
        <p:txBody>
          <a:bodyPr/>
          <a:lstStyle/>
          <a:p>
            <a:r>
              <a:rPr lang="en-US" altLang="mk-MK" sz="2500" b="1" dirty="0"/>
              <a:t>Learning materials will be on Moodle</a:t>
            </a:r>
          </a:p>
          <a:p>
            <a:pPr lvl="1"/>
            <a:r>
              <a:rPr lang="en-US" altLang="mk-MK" sz="2100" b="1" dirty="0"/>
              <a:t>Presentation – available after the classes</a:t>
            </a:r>
          </a:p>
          <a:p>
            <a:pPr lvl="1"/>
            <a:r>
              <a:rPr lang="en-US" altLang="mk-MK" sz="2100" b="1" dirty="0"/>
              <a:t>Exercises – available after the </a:t>
            </a:r>
            <a:r>
              <a:rPr lang="en-US" altLang="mk-MK" sz="2100" b="1" dirty="0" err="1"/>
              <a:t>clases</a:t>
            </a:r>
            <a:r>
              <a:rPr lang="en-US" altLang="mk-MK" sz="2100" b="1" dirty="0"/>
              <a:t> </a:t>
            </a:r>
          </a:p>
          <a:p>
            <a:pPr lvl="1"/>
            <a:r>
              <a:rPr lang="en-US" altLang="mk-MK" sz="2100" b="1" dirty="0"/>
              <a:t>Homework – after the classes</a:t>
            </a:r>
          </a:p>
          <a:p>
            <a:pPr lvl="2"/>
            <a:r>
              <a:rPr lang="en-US" altLang="mk-MK" sz="1800" b="1" dirty="0"/>
              <a:t>Deadline 7 days after publishing </a:t>
            </a:r>
          </a:p>
          <a:p>
            <a:pPr lvl="2"/>
            <a:endParaRPr lang="en-US" altLang="mk-MK" sz="1800" b="1" dirty="0"/>
          </a:p>
          <a:p>
            <a:pPr lvl="1"/>
            <a:r>
              <a:rPr lang="en-US" altLang="mk-MK" sz="2100" b="1" dirty="0"/>
              <a:t>Additional info or materials</a:t>
            </a:r>
          </a:p>
          <a:p>
            <a:pPr lvl="2"/>
            <a:r>
              <a:rPr lang="en-US" altLang="mk-MK" sz="1800" b="1" dirty="0"/>
              <a:t>Upon request on Moodle</a:t>
            </a:r>
          </a:p>
          <a:p>
            <a:endParaRPr lang="mk-MK" altLang="mk-MK" sz="1900" dirty="0"/>
          </a:p>
          <a:p>
            <a:pPr lvl="3">
              <a:buFont typeface="Wingdings" panose="05000000000000000000" pitchFamily="2" charset="2"/>
              <a:buNone/>
            </a:pPr>
            <a:endParaRPr lang="mk-MK" altLang="mk-MK" sz="1800" dirty="0"/>
          </a:p>
          <a:p>
            <a:pPr lvl="1"/>
            <a:endParaRPr lang="mk-MK" altLang="mk-MK" sz="24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10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07471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74674" y="304800"/>
            <a:ext cx="8569326" cy="1251992"/>
          </a:xfrm>
        </p:spPr>
        <p:txBody>
          <a:bodyPr/>
          <a:lstStyle/>
          <a:p>
            <a:r>
              <a:rPr lang="en-US" altLang="mk-MK" sz="2800" b="1" dirty="0">
                <a:solidFill>
                  <a:schemeClr val="tx1"/>
                </a:solidFill>
              </a:rPr>
              <a:t>Questions ?</a:t>
            </a:r>
            <a:endParaRPr lang="mk-MK" altLang="mk-MK" sz="2800" b="1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11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691334714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QL Server 2005.ppt [Compatibility Mode]" id="{9D323D9A-CC10-4CA8-826D-17478E3A9F41}" vid="{92B4D76A-6B69-4AFF-BEA7-B1D9981B5C5A}"/>
    </a:ext>
  </a:ext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QL Server 2005.ppt [Compatibility Mode]" id="{9D323D9A-CC10-4CA8-826D-17478E3A9F41}" vid="{92B4D76A-6B69-4AFF-BEA7-B1D9981B5C5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UACS_template</Template>
  <TotalTime>387</TotalTime>
  <Words>304</Words>
  <Application>Microsoft Office PowerPoint</Application>
  <PresentationFormat>On-screen Show (4:3)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Times New Roman</vt:lpstr>
      <vt:lpstr>Verdana</vt:lpstr>
      <vt:lpstr>Wingdings</vt:lpstr>
      <vt:lpstr>Profile</vt:lpstr>
      <vt:lpstr>1_Profile</vt:lpstr>
      <vt:lpstr>SCSIT  V Semester  Databases 2</vt:lpstr>
      <vt:lpstr>Lecturer</vt:lpstr>
      <vt:lpstr>Databases 2</vt:lpstr>
      <vt:lpstr>Weekly delivery plan</vt:lpstr>
      <vt:lpstr>Evaluation structure and assessments during teaching semester</vt:lpstr>
      <vt:lpstr>Evaluation structure and assessments during teaching semester</vt:lpstr>
      <vt:lpstr>Evaluation structure and assessments for MakeUp examinations </vt:lpstr>
      <vt:lpstr>Evaluation structure and assessments during teaching semester</vt:lpstr>
      <vt:lpstr>Used programs during semester</vt:lpstr>
      <vt:lpstr>Classes learning flow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Databases 2</dc:title>
  <dc:creator>Zoran Gichevski</dc:creator>
  <cp:lastModifiedBy>Zoran Gichevski</cp:lastModifiedBy>
  <cp:revision>34</cp:revision>
  <dcterms:created xsi:type="dcterms:W3CDTF">2015-09-15T12:39:57Z</dcterms:created>
  <dcterms:modified xsi:type="dcterms:W3CDTF">2026-09-21T08:51:25Z</dcterms:modified>
</cp:coreProperties>
</file>