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90" r:id="rId4"/>
    <p:sldId id="264" r:id="rId5"/>
    <p:sldId id="330" r:id="rId6"/>
    <p:sldId id="306" r:id="rId7"/>
    <p:sldId id="307" r:id="rId8"/>
    <p:sldId id="329" r:id="rId9"/>
    <p:sldId id="331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79" d="100"/>
          <a:sy n="79" d="100"/>
        </p:scale>
        <p:origin x="-6" y="7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pPr>
              <a:defRPr/>
            </a:pPr>
            <a:fld id="{E3FC6434-D320-4E13-B5F3-CA625DCE496B}" type="datetimeFigureOut">
              <a:rPr lang="mk-MK"/>
              <a:pPr>
                <a:defRPr/>
              </a:pPr>
              <a:t>10.10.2025</a:t>
            </a:fld>
            <a:endParaRPr lang="mk-M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2BF81E5-3C0C-4F06-A236-B77CBEEA7E40}" type="slidenum">
              <a:rPr lang="mk-MK" altLang="mk-MK"/>
              <a:pPr/>
              <a:t>‹#›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1368478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pPr>
              <a:defRPr/>
            </a:pPr>
            <a:fld id="{F0E5C910-3C77-467B-BB34-7D24B6A11930}" type="datetimeFigureOut">
              <a:rPr lang="mk-MK"/>
              <a:pPr>
                <a:defRPr/>
              </a:pPr>
              <a:t>10.10.2025</a:t>
            </a:fld>
            <a:endParaRPr lang="mk-M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70412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pPr lvl="0"/>
            <a:endParaRPr lang="mk-MK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32" tIns="45716" rIns="91432" bIns="4571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mk-MK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AAA7F49-95E7-4DEF-9FBC-9AA34CD6F2DA}" type="slidenum">
              <a:rPr lang="mk-MK" altLang="mk-MK"/>
              <a:pPr/>
              <a:t>‹#›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42351342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mk-MK" altLang="mk-MK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D98D22C-9DCB-45CF-AE31-478C68A2D651}" type="slidenum">
              <a:rPr lang="mk-MK" altLang="mk-MK"/>
              <a:pPr/>
              <a:t>8</a:t>
            </a:fld>
            <a:endParaRPr lang="mk-MK" altLang="mk-MK" dirty="0"/>
          </a:p>
        </p:txBody>
      </p:sp>
    </p:spTree>
    <p:extLst>
      <p:ext uri="{BB962C8B-B14F-4D97-AF65-F5344CB8AC3E}">
        <p14:creationId xmlns:p14="http://schemas.microsoft.com/office/powerpoint/2010/main" val="297067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mk-MK" altLang="mk-MK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D98D22C-9DCB-45CF-AE31-478C68A2D651}" type="slidenum">
              <a:rPr lang="mk-MK" altLang="mk-MK"/>
              <a:pPr/>
              <a:t>9</a:t>
            </a:fld>
            <a:endParaRPr lang="mk-MK" altLang="mk-MK" dirty="0"/>
          </a:p>
        </p:txBody>
      </p:sp>
    </p:spTree>
    <p:extLst>
      <p:ext uri="{BB962C8B-B14F-4D97-AF65-F5344CB8AC3E}">
        <p14:creationId xmlns:p14="http://schemas.microsoft.com/office/powerpoint/2010/main" val="1451925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8ED86F3-D621-4266-9233-2AD5FAB42E91}" type="slidenum">
              <a:rPr lang="en-US" altLang="mk-MK"/>
              <a:pPr/>
              <a:t>‹#›</a:t>
            </a:fld>
            <a:endParaRPr lang="en-US" altLang="mk-MK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092" y="33247"/>
            <a:ext cx="1096692" cy="6594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4594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AEE28-9067-43AE-B827-CB735BA80B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23351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55605-8589-4501-A6EC-5BD5BF16FEF2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257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7B02C7-19EE-460E-BE29-02A53896C6B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38475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E7594E-69BE-4032-A71D-098E953DD82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4040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42725-DE71-4E78-805A-85657572DFEE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62888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E4DD5-6B29-4C36-9C16-1F0BEFF74530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688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5B468F-FD2C-4BEF-959C-7AC47AD8F708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56523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mk-MK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BCB296-7D97-4441-A9C8-B2EA1193AF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80958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0A351-2592-4299-9DF9-D976D4CF0D7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32151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9" y="304800"/>
            <a:ext cx="20018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9" y="304800"/>
            <a:ext cx="58547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A216B8-2BE7-4C75-B8C9-0DFEDB222D5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40115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9" y="1752600"/>
            <a:ext cx="8001000" cy="4267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mk-MK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0B7F90-8C43-4F35-B27B-0558E5AA7C6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1089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/>
              <a:t>Click to edit Master title style</a:t>
            </a:r>
            <a:endParaRPr lang="en-US" altLang="mk-MK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/>
              <a:t>Click to edit Master text styles</a:t>
            </a:r>
          </a:p>
          <a:p>
            <a:pPr lvl="1"/>
            <a:r>
              <a:rPr lang="en-US" altLang="mk-MK"/>
              <a:t>Second level</a:t>
            </a:r>
          </a:p>
          <a:p>
            <a:pPr lvl="2"/>
            <a:r>
              <a:rPr lang="en-US" altLang="mk-MK"/>
              <a:t>Third level</a:t>
            </a:r>
          </a:p>
          <a:p>
            <a:pPr lvl="3"/>
            <a:r>
              <a:rPr lang="en-US" altLang="mk-MK"/>
              <a:t>Fourth level</a:t>
            </a:r>
          </a:p>
          <a:p>
            <a:pPr lvl="4"/>
            <a:r>
              <a:rPr lang="en-US" altLang="mk-MK"/>
              <a:t>Fifth level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0AB2DD1-2A79-45ED-A26A-2F4756BE6A1A}" type="slidenum">
              <a:rPr lang="en-US" altLang="mk-MK"/>
              <a:pPr/>
              <a:t>‹#›</a:t>
            </a:fld>
            <a:endParaRPr lang="en-US" altLang="mk-MK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092" y="33247"/>
            <a:ext cx="1096692" cy="65944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mk-M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2800" b="1" dirty="0"/>
              <a:t>SCSIT</a:t>
            </a:r>
            <a:br>
              <a:rPr lang="mk-MK" sz="2800" b="1" dirty="0"/>
            </a:br>
            <a:r>
              <a:rPr lang="en-US" sz="2800" b="1" dirty="0"/>
              <a:t>V</a:t>
            </a:r>
            <a:r>
              <a:rPr lang="mk-MK" sz="2800" b="1" dirty="0"/>
              <a:t> </a:t>
            </a:r>
            <a:r>
              <a:rPr lang="en-US" sz="2800" b="1" dirty="0"/>
              <a:t>Semester</a:t>
            </a:r>
            <a:br>
              <a:rPr lang="mk-MK" sz="2800" b="1" dirty="0"/>
            </a:br>
            <a:r>
              <a:rPr lang="en-US" sz="2800" b="1" dirty="0" err="1"/>
              <a:t>DataBase</a:t>
            </a:r>
            <a:r>
              <a:rPr lang="en-US" sz="2800" b="1" dirty="0"/>
              <a:t> 2</a:t>
            </a:r>
            <a:endParaRPr lang="mk-MK" sz="2800" b="1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11560" y="3429000"/>
            <a:ext cx="7846640" cy="1944216"/>
          </a:xfrm>
        </p:spPr>
        <p:txBody>
          <a:bodyPr/>
          <a:lstStyle/>
          <a:p>
            <a:r>
              <a:rPr lang="en-US" sz="2000" b="1" dirty="0"/>
              <a:t>Lab. Exercise No.2</a:t>
            </a:r>
            <a:r>
              <a:rPr lang="mk-MK" sz="2000" b="1" dirty="0"/>
              <a:t>:</a:t>
            </a:r>
            <a:endParaRPr lang="en-US" sz="2000" b="1" dirty="0"/>
          </a:p>
          <a:p>
            <a:endParaRPr lang="mk-MK" sz="20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MS SQL Server Express Edition Environment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SQL DDL</a:t>
            </a:r>
            <a:endParaRPr lang="mk-MK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814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en-US" altLang="mk-MK" sz="3200" b="1" dirty="0"/>
              <a:t>Getting started with SQL Server</a:t>
            </a:r>
            <a:endParaRPr lang="en-US" altLang="mk-MK" sz="32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mk-MK" sz="2800" dirty="0"/>
              <a:t>Creating databases</a:t>
            </a:r>
          </a:p>
          <a:p>
            <a:pPr>
              <a:lnSpc>
                <a:spcPct val="150000"/>
              </a:lnSpc>
            </a:pPr>
            <a:r>
              <a:rPr lang="en-US" altLang="mk-MK" sz="2800" dirty="0"/>
              <a:t>Administration</a:t>
            </a:r>
          </a:p>
          <a:p>
            <a:pPr>
              <a:lnSpc>
                <a:spcPct val="150000"/>
              </a:lnSpc>
            </a:pPr>
            <a:r>
              <a:rPr lang="en-US" altLang="mk-MK" sz="2800" dirty="0"/>
              <a:t>Security</a:t>
            </a:r>
          </a:p>
          <a:p>
            <a:pPr>
              <a:lnSpc>
                <a:spcPct val="150000"/>
              </a:lnSpc>
            </a:pPr>
            <a:r>
              <a:rPr lang="en-US" altLang="mk-MK" sz="2800" dirty="0"/>
              <a:t>Backup /Restore</a:t>
            </a:r>
          </a:p>
          <a:p>
            <a:pPr>
              <a:lnSpc>
                <a:spcPct val="150000"/>
              </a:lnSpc>
            </a:pPr>
            <a:endParaRPr lang="en-US" altLang="mk-MK" sz="2800" dirty="0"/>
          </a:p>
          <a:p>
            <a:pPr>
              <a:lnSpc>
                <a:spcPct val="150000"/>
              </a:lnSpc>
            </a:pPr>
            <a:endParaRPr lang="en-US" altLang="mk-MK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AEE28-9067-43AE-B827-CB735BA80B3A}" type="slidenum">
              <a:rPr lang="en-US" altLang="mk-MK" smtClean="0"/>
              <a:pPr/>
              <a:t>2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35114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1" t="14766" r="47250" b="75797"/>
          <a:stretch>
            <a:fillRect/>
          </a:stretch>
        </p:blipFill>
        <p:spPr bwMode="auto">
          <a:xfrm>
            <a:off x="323850" y="142875"/>
            <a:ext cx="10048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Slide Number Placeholder 2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67E11C8-17FC-49E8-903D-39925E0CEE1C}" type="slidenum">
              <a:rPr lang="en-US" altLang="mk-MK"/>
              <a:pPr/>
              <a:t>3</a:t>
            </a:fld>
            <a:endParaRPr lang="en-US" altLang="mk-MK"/>
          </a:p>
        </p:txBody>
      </p:sp>
      <p:sp>
        <p:nvSpPr>
          <p:cNvPr id="9" name="TextBox 8"/>
          <p:cNvSpPr txBox="1"/>
          <p:nvPr/>
        </p:nvSpPr>
        <p:spPr>
          <a:xfrm>
            <a:off x="500063" y="6000750"/>
            <a:ext cx="197682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Object explorer</a:t>
            </a:r>
            <a:endParaRPr lang="mk-MK" dirty="0"/>
          </a:p>
        </p:txBody>
      </p:sp>
      <p:cxnSp>
        <p:nvCxnSpPr>
          <p:cNvPr id="9222" name="Straight Arrow Connector 6"/>
          <p:cNvCxnSpPr>
            <a:cxnSpLocks noChangeShapeType="1"/>
          </p:cNvCxnSpPr>
          <p:nvPr/>
        </p:nvCxnSpPr>
        <p:spPr bwMode="auto">
          <a:xfrm rot="5400000" flipH="1" flipV="1">
            <a:off x="606425" y="5392738"/>
            <a:ext cx="1357313" cy="158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/>
          <p:cNvSpPr txBox="1"/>
          <p:nvPr/>
        </p:nvSpPr>
        <p:spPr>
          <a:xfrm>
            <a:off x="3786188" y="5214938"/>
            <a:ext cx="14077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workspace</a:t>
            </a:r>
            <a:endParaRPr lang="mk-MK" dirty="0"/>
          </a:p>
        </p:txBody>
      </p:sp>
      <p:cxnSp>
        <p:nvCxnSpPr>
          <p:cNvPr id="9224" name="Straight Arrow Connector 6"/>
          <p:cNvCxnSpPr>
            <a:cxnSpLocks noChangeShapeType="1"/>
          </p:cNvCxnSpPr>
          <p:nvPr/>
        </p:nvCxnSpPr>
        <p:spPr bwMode="auto">
          <a:xfrm rot="5400000" flipH="1" flipV="1">
            <a:off x="4322763" y="4464050"/>
            <a:ext cx="1357312" cy="15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2714625" y="2000250"/>
            <a:ext cx="242887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Tool strip</a:t>
            </a:r>
            <a:endParaRPr lang="mk-MK" dirty="0"/>
          </a:p>
        </p:txBody>
      </p:sp>
      <p:cxnSp>
        <p:nvCxnSpPr>
          <p:cNvPr id="9226" name="Straight Arrow Connector 6"/>
          <p:cNvCxnSpPr>
            <a:cxnSpLocks noChangeShapeType="1"/>
          </p:cNvCxnSpPr>
          <p:nvPr/>
        </p:nvCxnSpPr>
        <p:spPr bwMode="auto">
          <a:xfrm rot="5400000" flipH="1" flipV="1">
            <a:off x="2322513" y="1320800"/>
            <a:ext cx="1357312" cy="15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D959505-B991-48FC-A8DB-FD3A8CB20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2662"/>
            <a:ext cx="9144000" cy="596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46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"/>
          <p:cNvSpPr>
            <a:spLocks noGrp="1" noChangeArrowheads="1"/>
          </p:cNvSpPr>
          <p:nvPr>
            <p:ph type="title"/>
          </p:nvPr>
        </p:nvSpPr>
        <p:spPr>
          <a:xfrm>
            <a:off x="642938" y="142875"/>
            <a:ext cx="8072437" cy="1462088"/>
          </a:xfrm>
        </p:spPr>
        <p:txBody>
          <a:bodyPr/>
          <a:lstStyle/>
          <a:p>
            <a:r>
              <a:rPr lang="en-US" altLang="mk-MK" b="1" i="1" dirty="0"/>
              <a:t>Working with</a:t>
            </a:r>
            <a:r>
              <a:rPr lang="mk-MK" altLang="mk-MK" b="1" i="1" dirty="0"/>
              <a:t> </a:t>
            </a:r>
            <a:r>
              <a:rPr lang="en-US" altLang="mk-MK" b="1" i="1" dirty="0"/>
              <a:t>SQL Server</a:t>
            </a:r>
          </a:p>
        </p:txBody>
      </p:sp>
      <p:sp>
        <p:nvSpPr>
          <p:cNvPr id="36" name="Rectangle 9"/>
          <p:cNvSpPr txBox="1">
            <a:spLocks noChangeArrowheads="1"/>
          </p:cNvSpPr>
          <p:nvPr/>
        </p:nvSpPr>
        <p:spPr bwMode="auto">
          <a:xfrm>
            <a:off x="457200" y="1714500"/>
            <a:ext cx="84724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>
                <a:latin typeface="+mn-lt"/>
              </a:rPr>
              <a:t>Connect \ Disconnect</a:t>
            </a:r>
            <a:endParaRPr lang="en-US" i="1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/>
              <a:t>Register – rename </a:t>
            </a:r>
            <a:r>
              <a:rPr lang="en-US" sz="1200" kern="0" dirty="0"/>
              <a:t>SQL Server</a:t>
            </a:r>
            <a:endParaRPr lang="en-US" sz="12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>
                <a:latin typeface="+mn-lt"/>
              </a:rPr>
              <a:t>Start/Stop/Pause…</a:t>
            </a:r>
            <a:endParaRPr lang="mk-MK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>
                <a:latin typeface="+mn-lt"/>
              </a:rPr>
              <a:t>Properties - </a:t>
            </a:r>
            <a:r>
              <a:rPr lang="en-US" i="1" kern="0" dirty="0">
                <a:latin typeface="+mn-lt"/>
              </a:rPr>
              <a:t>Security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mk-MK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kern="0" dirty="0">
              <a:latin typeface="+mn-lt"/>
            </a:endParaRPr>
          </a:p>
        </p:txBody>
      </p:sp>
      <p:pic>
        <p:nvPicPr>
          <p:cNvPr id="11270" name="Picture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1714500"/>
            <a:ext cx="3805238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Rectangle 9"/>
          <p:cNvSpPr txBox="1">
            <a:spLocks noChangeArrowheads="1"/>
          </p:cNvSpPr>
          <p:nvPr/>
        </p:nvSpPr>
        <p:spPr bwMode="auto">
          <a:xfrm>
            <a:off x="4929188" y="5000625"/>
            <a:ext cx="3929062" cy="1071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1600" b="1" kern="0" dirty="0">
                <a:latin typeface="+mn-lt"/>
              </a:rPr>
              <a:t>Security</a:t>
            </a:r>
            <a:r>
              <a:rPr lang="mk-MK" sz="1600" kern="0" dirty="0">
                <a:latin typeface="+mn-lt"/>
              </a:rPr>
              <a:t> </a:t>
            </a:r>
            <a:r>
              <a:rPr lang="en-US" sz="1600" kern="0" dirty="0">
                <a:latin typeface="+mn-lt"/>
              </a:rPr>
              <a:t>tab is used to define authentication, end product</a:t>
            </a:r>
            <a:endParaRPr lang="mk-MK" sz="16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1600" b="1" kern="0" dirty="0">
                <a:latin typeface="+mn-lt"/>
              </a:rPr>
              <a:t>Trusted Security Connection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mk-MK" sz="1600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1600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16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1600" kern="0" dirty="0">
              <a:latin typeface="+mn-lt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14375" y="3071813"/>
            <a:ext cx="4071938" cy="3624262"/>
            <a:chOff x="714375" y="3071813"/>
            <a:chExt cx="4071938" cy="3624262"/>
          </a:xfrm>
        </p:grpSpPr>
        <p:pic>
          <p:nvPicPr>
            <p:cNvPr id="10248" name="Picture 3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1475"/>
            <a:stretch>
              <a:fillRect/>
            </a:stretch>
          </p:blipFill>
          <p:spPr bwMode="auto">
            <a:xfrm>
              <a:off x="714375" y="3071813"/>
              <a:ext cx="4071938" cy="3624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9" name="Oval 37"/>
            <p:cNvSpPr>
              <a:spLocks noChangeArrowheads="1"/>
            </p:cNvSpPr>
            <p:nvPr/>
          </p:nvSpPr>
          <p:spPr bwMode="auto">
            <a:xfrm>
              <a:off x="1928813" y="3786188"/>
              <a:ext cx="2643187" cy="571500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mk-MK" altLang="mk-MK"/>
            </a:p>
          </p:txBody>
        </p:sp>
      </p:grpSp>
    </p:spTree>
    <p:extLst>
      <p:ext uri="{BB962C8B-B14F-4D97-AF65-F5344CB8AC3E}">
        <p14:creationId xmlns:p14="http://schemas.microsoft.com/office/powerpoint/2010/main" val="77410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en-US" altLang="mk-MK" b="1" dirty="0"/>
              <a:t>Database Objects</a:t>
            </a:r>
          </a:p>
        </p:txBody>
      </p:sp>
      <p:sp>
        <p:nvSpPr>
          <p:cNvPr id="24" name="Rectangle 9"/>
          <p:cNvSpPr txBox="1">
            <a:spLocks noChangeArrowheads="1"/>
          </p:cNvSpPr>
          <p:nvPr/>
        </p:nvSpPr>
        <p:spPr bwMode="auto">
          <a:xfrm>
            <a:off x="285750" y="1600200"/>
            <a:ext cx="885825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kern="0" dirty="0"/>
              <a:t>DATABASE</a:t>
            </a:r>
            <a:r>
              <a:rPr lang="mk-MK" sz="2400" b="1" kern="0" dirty="0"/>
              <a:t> </a:t>
            </a:r>
            <a:endParaRPr lang="mk-MK" sz="24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Table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Schema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View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Function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Procedure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Trigger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dirty="0"/>
              <a:t>Scripts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br>
              <a:rPr lang="en-US" sz="2400" dirty="0"/>
            </a:br>
            <a:endParaRPr lang="en-US" sz="2400" b="1" kern="0" dirty="0">
              <a:latin typeface="+mn-lt"/>
            </a:endParaRPr>
          </a:p>
        </p:txBody>
      </p:sp>
      <p:sp>
        <p:nvSpPr>
          <p:cNvPr id="12293" name="Slide Number Placeholder 2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D138C1B-E964-468D-B1B3-632B44B995C9}" type="slidenum">
              <a:rPr lang="en-US" altLang="mk-MK"/>
              <a:pPr/>
              <a:t>5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9647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"/>
          <p:cNvSpPr>
            <a:spLocks noGrp="1" noChangeArrowheads="1"/>
          </p:cNvSpPr>
          <p:nvPr>
            <p:ph type="title"/>
          </p:nvPr>
        </p:nvSpPr>
        <p:spPr>
          <a:xfrm>
            <a:off x="642938" y="142875"/>
            <a:ext cx="8072437" cy="1462088"/>
          </a:xfrm>
        </p:spPr>
        <p:txBody>
          <a:bodyPr/>
          <a:lstStyle/>
          <a:p>
            <a:r>
              <a:rPr lang="en-US" altLang="mk-MK" b="1" dirty="0"/>
              <a:t>How to use Mng. Studio</a:t>
            </a:r>
          </a:p>
        </p:txBody>
      </p:sp>
      <p:sp>
        <p:nvSpPr>
          <p:cNvPr id="36" name="Rectangle 9"/>
          <p:cNvSpPr txBox="1">
            <a:spLocks noChangeArrowheads="1"/>
          </p:cNvSpPr>
          <p:nvPr/>
        </p:nvSpPr>
        <p:spPr bwMode="auto">
          <a:xfrm>
            <a:off x="457200" y="1714500"/>
            <a:ext cx="84724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>
                <a:latin typeface="+mn-lt"/>
              </a:rPr>
              <a:t>Connect \ Disconnect</a:t>
            </a:r>
            <a:endParaRPr lang="en-US" i="1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/>
              <a:t>Register</a:t>
            </a:r>
            <a:endParaRPr lang="en-US" sz="12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>
                <a:latin typeface="+mn-lt"/>
              </a:rPr>
              <a:t>Start/Stop/Pause…</a:t>
            </a:r>
            <a:endParaRPr lang="mk-MK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kern="0" dirty="0">
                <a:latin typeface="+mn-lt"/>
              </a:rPr>
              <a:t>Properties - </a:t>
            </a:r>
            <a:r>
              <a:rPr lang="en-US" i="1" kern="0" dirty="0">
                <a:latin typeface="+mn-lt"/>
              </a:rPr>
              <a:t>Security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mk-MK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kern="0" dirty="0">
              <a:latin typeface="+mn-lt"/>
            </a:endParaRPr>
          </a:p>
        </p:txBody>
      </p:sp>
      <p:pic>
        <p:nvPicPr>
          <p:cNvPr id="11270" name="Picture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1714500"/>
            <a:ext cx="3805238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Rectangle 9"/>
          <p:cNvSpPr txBox="1">
            <a:spLocks noChangeArrowheads="1"/>
          </p:cNvSpPr>
          <p:nvPr/>
        </p:nvSpPr>
        <p:spPr bwMode="auto">
          <a:xfrm>
            <a:off x="4929188" y="5000625"/>
            <a:ext cx="3929062" cy="1071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1600" dirty="0"/>
              <a:t>In </a:t>
            </a:r>
            <a:r>
              <a:rPr lang="en-US" sz="1600" b="1" dirty="0"/>
              <a:t>Security</a:t>
            </a:r>
            <a:r>
              <a:rPr lang="en-US" sz="1600" dirty="0"/>
              <a:t> you can define Server</a:t>
            </a:r>
            <a:br>
              <a:rPr lang="en-US" sz="1600" dirty="0"/>
            </a:br>
            <a:r>
              <a:rPr lang="en-US" sz="1600" dirty="0"/>
              <a:t>Authentication type in order to</a:t>
            </a:r>
            <a:br>
              <a:rPr lang="en-US" sz="1600" dirty="0"/>
            </a:br>
            <a:r>
              <a:rPr lang="en-US" sz="1600" dirty="0"/>
              <a:t>create so called </a:t>
            </a:r>
            <a:r>
              <a:rPr lang="en-US" sz="1600" b="1" dirty="0"/>
              <a:t>Trusted Security</a:t>
            </a:r>
            <a:br>
              <a:rPr lang="en-US" sz="1600" b="1" dirty="0"/>
            </a:br>
            <a:r>
              <a:rPr lang="en-US" sz="1600" b="1" dirty="0"/>
              <a:t>Connection</a:t>
            </a:r>
            <a:endParaRPr lang="en-US" sz="1600" b="1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mk-MK" sz="1600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1600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16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1600" kern="0" dirty="0">
              <a:latin typeface="+mn-lt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14375" y="3071813"/>
            <a:ext cx="4071938" cy="3624262"/>
            <a:chOff x="714375" y="3071813"/>
            <a:chExt cx="4071938" cy="3624262"/>
          </a:xfrm>
        </p:grpSpPr>
        <p:pic>
          <p:nvPicPr>
            <p:cNvPr id="4104" name="Picture 3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1475"/>
            <a:stretch>
              <a:fillRect/>
            </a:stretch>
          </p:blipFill>
          <p:spPr bwMode="auto">
            <a:xfrm>
              <a:off x="714375" y="3071813"/>
              <a:ext cx="4071938" cy="3624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05" name="Oval 37"/>
            <p:cNvSpPr>
              <a:spLocks noChangeArrowheads="1"/>
            </p:cNvSpPr>
            <p:nvPr/>
          </p:nvSpPr>
          <p:spPr bwMode="auto">
            <a:xfrm>
              <a:off x="1928813" y="3786188"/>
              <a:ext cx="2643187" cy="571500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mk-MK" altLang="mk-MK" dirty="0"/>
            </a:p>
          </p:txBody>
        </p:sp>
      </p:grpSp>
    </p:spTree>
    <p:extLst>
      <p:ext uri="{BB962C8B-B14F-4D97-AF65-F5344CB8AC3E}">
        <p14:creationId xmlns:p14="http://schemas.microsoft.com/office/powerpoint/2010/main" val="63486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6"/>
          <p:cNvSpPr>
            <a:spLocks noGrp="1"/>
          </p:cNvSpPr>
          <p:nvPr>
            <p:ph type="title"/>
          </p:nvPr>
        </p:nvSpPr>
        <p:spPr>
          <a:xfrm>
            <a:off x="574675" y="304800"/>
            <a:ext cx="8355013" cy="1216025"/>
          </a:xfrm>
        </p:spPr>
        <p:txBody>
          <a:bodyPr/>
          <a:lstStyle/>
          <a:p>
            <a:r>
              <a:rPr lang="en-US" b="1" dirty="0"/>
              <a:t>DataBase operations</a:t>
            </a:r>
            <a:endParaRPr lang="mk-MK" altLang="mk-MK" b="1" dirty="0"/>
          </a:p>
        </p:txBody>
      </p:sp>
      <p:sp>
        <p:nvSpPr>
          <p:cNvPr id="17" name="Rectangle 9"/>
          <p:cNvSpPr txBox="1">
            <a:spLocks noChangeArrowheads="1"/>
          </p:cNvSpPr>
          <p:nvPr/>
        </p:nvSpPr>
        <p:spPr bwMode="auto">
          <a:xfrm>
            <a:off x="457200" y="1831975"/>
            <a:ext cx="84724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>
                <a:latin typeface="+mn-lt"/>
              </a:rPr>
              <a:t>New Database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>
                <a:latin typeface="+mn-lt"/>
              </a:rPr>
              <a:t>Attach </a:t>
            </a:r>
            <a:r>
              <a:rPr lang="en-US" sz="1200" i="1" kern="0" dirty="0">
                <a:latin typeface="+mn-lt"/>
              </a:rPr>
              <a:t>(*.mdf and *.ldf)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/>
              <a:t>Restore </a:t>
            </a:r>
            <a:r>
              <a:rPr lang="en-US" sz="1200" i="1" kern="0" dirty="0"/>
              <a:t>(*.bak)</a:t>
            </a:r>
            <a:endParaRPr lang="en-US" sz="2400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2400" kern="0" dirty="0">
                <a:latin typeface="+mn-lt"/>
              </a:rPr>
              <a:t>------------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>
                <a:latin typeface="+mn-lt"/>
              </a:rPr>
              <a:t>Script DB As..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/>
              <a:t>Detach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/>
              <a:t>Shrink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/>
              <a:t>Back up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2400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2400" kern="0" dirty="0"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sz="2400" kern="0" dirty="0">
              <a:latin typeface="+mn-lt"/>
            </a:endParaRPr>
          </a:p>
        </p:txBody>
      </p:sp>
      <p:pic>
        <p:nvPicPr>
          <p:cNvPr id="1229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5" y="4643438"/>
            <a:ext cx="3786188" cy="20716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8" y="1714500"/>
            <a:ext cx="3211512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8" y="3357563"/>
            <a:ext cx="3143250" cy="1971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304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0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 altLang="mk-MK" b="1" dirty="0"/>
              <a:t>Assignment </a:t>
            </a:r>
            <a:endParaRPr lang="mk-MK" altLang="mk-MK" b="1" dirty="0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D472A1B-E770-438F-A67D-8CD44F063463}" type="slidenum">
              <a:rPr lang="en-US" altLang="mk-MK"/>
              <a:pPr/>
              <a:t>8</a:t>
            </a:fld>
            <a:endParaRPr lang="en-US" altLang="mk-MK" dirty="0"/>
          </a:p>
        </p:txBody>
      </p:sp>
      <p:sp>
        <p:nvSpPr>
          <p:cNvPr id="8" name="Content Placeholder 6"/>
          <p:cNvSpPr txBox="1">
            <a:spLocks/>
          </p:cNvSpPr>
          <p:nvPr/>
        </p:nvSpPr>
        <p:spPr bwMode="auto">
          <a:xfrm>
            <a:off x="285750" y="1804988"/>
            <a:ext cx="9072563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/>
              <a:t>Create folder </a:t>
            </a:r>
            <a:r>
              <a:rPr lang="en-US" sz="2400" b="1" i="1" kern="0" dirty="0"/>
              <a:t>Database2 on drive C:\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i="1" kern="0" dirty="0"/>
              <a:t>Download 2 backup files from Moodle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i="1" kern="0" dirty="0"/>
              <a:t>Download 1 </a:t>
            </a:r>
            <a:r>
              <a:rPr lang="en-US" sz="2400" b="1" i="1" kern="0" dirty="0" err="1"/>
              <a:t>sql</a:t>
            </a:r>
            <a:r>
              <a:rPr lang="en-US" sz="2400" b="1" i="1" kern="0" dirty="0"/>
              <a:t> file from Moodle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i="1" kern="0" dirty="0"/>
              <a:t>Restore databases using backup files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i="1" kern="0" dirty="0"/>
              <a:t>Open SQL editor and execute commands from </a:t>
            </a:r>
            <a:r>
              <a:rPr lang="en-US" sz="2400" b="1" i="1" kern="0" dirty="0" err="1"/>
              <a:t>Geography.sql</a:t>
            </a:r>
            <a:r>
              <a:rPr lang="en-US" sz="2400" b="1" i="1" kern="0" dirty="0"/>
              <a:t> file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i="1" kern="0" dirty="0"/>
              <a:t>Create new Database DB2_Week2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mk-MK" sz="2400" kern="0" dirty="0">
                <a:latin typeface="+mn-lt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53277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 altLang="mk-MK" b="1" dirty="0"/>
              <a:t>Assignment </a:t>
            </a:r>
            <a:endParaRPr lang="mk-MK" altLang="mk-MK" b="1" dirty="0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D472A1B-E770-438F-A67D-8CD44F063463}" type="slidenum">
              <a:rPr lang="en-US" altLang="mk-MK"/>
              <a:pPr/>
              <a:t>9</a:t>
            </a:fld>
            <a:endParaRPr lang="en-US" altLang="mk-MK" dirty="0"/>
          </a:p>
        </p:txBody>
      </p:sp>
      <p:sp>
        <p:nvSpPr>
          <p:cNvPr id="8" name="Content Placeholder 6"/>
          <p:cNvSpPr txBox="1">
            <a:spLocks/>
          </p:cNvSpPr>
          <p:nvPr/>
        </p:nvSpPr>
        <p:spPr bwMode="auto">
          <a:xfrm>
            <a:off x="285750" y="1804988"/>
            <a:ext cx="9072563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kern="0" dirty="0"/>
              <a:t>Enable SQL Authentication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i="1" kern="0" dirty="0"/>
              <a:t>Restart Your PC </a:t>
            </a:r>
          </a:p>
          <a:p>
            <a:pPr marL="927100" lvl="1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i="1" kern="0" dirty="0"/>
              <a:t>Change will affect with Service restart but due to access limitation we need perform PC restart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i="1" kern="0" dirty="0"/>
              <a:t>Create 3 </a:t>
            </a:r>
            <a:r>
              <a:rPr lang="en-US" sz="2400" b="1" i="1" kern="0" dirty="0" err="1"/>
              <a:t>sql</a:t>
            </a:r>
            <a:r>
              <a:rPr lang="en-US" sz="2400" b="1" i="1" kern="0" dirty="0"/>
              <a:t> users</a:t>
            </a:r>
          </a:p>
          <a:p>
            <a:pPr marL="927100" lvl="1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i="1" kern="0" dirty="0"/>
              <a:t>Sql1, sql2, sql3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i="1" kern="0" dirty="0"/>
              <a:t>Add sql1 as sysadmin to </a:t>
            </a:r>
            <a:r>
              <a:rPr lang="en-US" sz="2400" b="1" i="1" kern="0" dirty="0" err="1"/>
              <a:t>CompanyDB</a:t>
            </a:r>
            <a:r>
              <a:rPr lang="en-US" sz="2400" b="1" i="1" kern="0" dirty="0"/>
              <a:t> Database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en-US" sz="2400" b="1" i="1" kern="0" dirty="0"/>
              <a:t>Set up default DB to </a:t>
            </a:r>
            <a:r>
              <a:rPr lang="en-US" sz="2400" b="1" i="1" kern="0" dirty="0" err="1"/>
              <a:t>sql</a:t>
            </a:r>
            <a:r>
              <a:rPr lang="en-US" sz="2400" b="1" i="1" kern="0" dirty="0"/>
              <a:t> different </a:t>
            </a:r>
            <a:r>
              <a:rPr lang="en-US" sz="2400" b="1" i="1" kern="0"/>
              <a:t>that master DB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endParaRPr lang="en-US" sz="2400" b="1" i="1" kern="0" dirty="0"/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mk-MK" sz="2400" kern="0" dirty="0">
                <a:latin typeface="+mn-lt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94398565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2538901D-2DBE-466B-BADF-9604E89E44EB}" vid="{735738E2-5671-46A1-A107-4D588A2703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UACS_template</Template>
  <TotalTime>1242</TotalTime>
  <Words>224</Words>
  <Application>Microsoft Office PowerPoint</Application>
  <PresentationFormat>On-screen Show (4:3)</PresentationFormat>
  <Paragraphs>80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Times New Roman</vt:lpstr>
      <vt:lpstr>Verdana</vt:lpstr>
      <vt:lpstr>Wingdings</vt:lpstr>
      <vt:lpstr>Profile</vt:lpstr>
      <vt:lpstr>SCSIT V Semester DataBase 2</vt:lpstr>
      <vt:lpstr>Getting started with SQL Server</vt:lpstr>
      <vt:lpstr>PowerPoint Presentation</vt:lpstr>
      <vt:lpstr>Working with SQL Server</vt:lpstr>
      <vt:lpstr>Database Objects</vt:lpstr>
      <vt:lpstr>How to use Mng. Studio</vt:lpstr>
      <vt:lpstr>DataBase operations</vt:lpstr>
      <vt:lpstr>Assignment </vt:lpstr>
      <vt:lpstr>Assignment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ФКТИ V Семестар Дистрибуирани бази на податоци</dc:title>
  <dc:creator>Bojan Bogdanovski</dc:creator>
  <cp:lastModifiedBy>Igor Janchev</cp:lastModifiedBy>
  <cp:revision>60</cp:revision>
  <dcterms:created xsi:type="dcterms:W3CDTF">2015-09-16T08:03:18Z</dcterms:created>
  <dcterms:modified xsi:type="dcterms:W3CDTF">2025-10-10T16:02:38Z</dcterms:modified>
</cp:coreProperties>
</file>