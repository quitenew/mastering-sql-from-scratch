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handoutMasterIdLst>
    <p:handoutMasterId r:id="rId25"/>
  </p:handoutMasterIdLst>
  <p:sldIdLst>
    <p:sldId id="335" r:id="rId2"/>
    <p:sldId id="418" r:id="rId3"/>
    <p:sldId id="458" r:id="rId4"/>
    <p:sldId id="487" r:id="rId5"/>
    <p:sldId id="460" r:id="rId6"/>
    <p:sldId id="461" r:id="rId7"/>
    <p:sldId id="462" r:id="rId8"/>
    <p:sldId id="463" r:id="rId9"/>
    <p:sldId id="464" r:id="rId10"/>
    <p:sldId id="465" r:id="rId11"/>
    <p:sldId id="466" r:id="rId12"/>
    <p:sldId id="467" r:id="rId13"/>
    <p:sldId id="468" r:id="rId14"/>
    <p:sldId id="469" r:id="rId15"/>
    <p:sldId id="488" r:id="rId16"/>
    <p:sldId id="489" r:id="rId17"/>
    <p:sldId id="472" r:id="rId18"/>
    <p:sldId id="473" r:id="rId19"/>
    <p:sldId id="474" r:id="rId20"/>
    <p:sldId id="475" r:id="rId21"/>
    <p:sldId id="476" r:id="rId22"/>
    <p:sldId id="477" r:id="rId23"/>
  </p:sldIdLst>
  <p:sldSz cx="9144000" cy="6858000" type="screen4x3"/>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99" autoAdjust="0"/>
    <p:restoredTop sz="45936" autoAdjust="0"/>
  </p:normalViewPr>
  <p:slideViewPr>
    <p:cSldViewPr snapToGrid="0">
      <p:cViewPr varScale="1">
        <p:scale>
          <a:sx n="32" d="100"/>
          <a:sy n="32" d="100"/>
        </p:scale>
        <p:origin x="1680" y="54"/>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mybank.com/transfermoney?amount=1000&amp;toaccount=14523"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2</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Application security has to deal with several security threats and issues beyond those handled by SQL authorization.</a:t>
            </a:r>
          </a:p>
          <a:p>
            <a:endParaRPr lang="en-US" dirty="0" smtClean="0"/>
          </a:p>
          <a:p>
            <a:r>
              <a:rPr lang="en-US" b="1" i="1" dirty="0" smtClean="0"/>
              <a:t>The first point where security has to be enforced is in the application. To do so, applications must authenticate users and ensure that users are only allowed to carry out authorized tasks.</a:t>
            </a:r>
          </a:p>
          <a:p>
            <a:endParaRPr lang="en-US" b="1" i="1" dirty="0" smtClean="0"/>
          </a:p>
          <a:p>
            <a:r>
              <a:rPr lang="en-US" b="1" i="1" dirty="0" smtClean="0"/>
              <a:t>There are many ways in which an application’s security can be compromised, even if the database system is itself secure, due to badly written application code. In this section, we first describe several security loopholes that can permit hackers to carry out actions that bypass the authentication and authorization checks carried out by the application, and we explain how to prevent such loopholes.</a:t>
            </a:r>
            <a:endParaRPr lang="en-US" b="1" i="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3</a:t>
            </a:fld>
            <a:endParaRPr lang="en-US" altLang="en-US"/>
          </a:p>
        </p:txBody>
      </p:sp>
    </p:spTree>
    <p:extLst>
      <p:ext uri="{BB962C8B-B14F-4D97-AF65-F5344CB8AC3E}">
        <p14:creationId xmlns:p14="http://schemas.microsoft.com/office/powerpoint/2010/main" val="1861225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4</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SQL injection attacks, the attacker manages to get an application to execute an SQL query created by the attacker. In Section 5.1.1.5, we saw an example of an SQL injection vulnerability if user inputs are concatenated directly with an SQL query and submitted to the database. As another example of SQL injection vulnerability, consider the form source text shown in Figure 9.3. Suppose the corresponding servlet shown in Figure 9.7 creates an SQL query string using the following Java expression: </a:t>
            </a:r>
          </a:p>
          <a:p>
            <a:endParaRPr lang="en-US" altLang="en-US" dirty="0" smtClean="0">
              <a:latin typeface="Times New Roman" panose="02020603050405020304" pitchFamily="18" charset="0"/>
            </a:endParaRPr>
          </a:p>
          <a:p>
            <a:r>
              <a:rPr lang="en-US" dirty="0" smtClean="0"/>
              <a:t>String query = “select * from student where name like ’%” </a:t>
            </a:r>
          </a:p>
          <a:p>
            <a:r>
              <a:rPr lang="en-US" dirty="0" smtClean="0"/>
              <a:t>+ name + “%’ ” </a:t>
            </a:r>
          </a:p>
          <a:p>
            <a:endParaRPr lang="en-US" altLang="en-US" dirty="0" smtClean="0">
              <a:latin typeface="Times New Roman" panose="02020603050405020304" pitchFamily="18" charset="0"/>
            </a:endParaRPr>
          </a:p>
          <a:p>
            <a:r>
              <a:rPr lang="en-US" b="1" i="1" dirty="0" smtClean="0"/>
              <a:t>where name is a variable containing the string input by the user, and then executes the query on the database. </a:t>
            </a:r>
            <a:r>
              <a:rPr lang="en-US" b="1" dirty="0" smtClean="0"/>
              <a:t>A malicious attacker using the web form can then type a string such as “ ’; ;–– ”, where denotes any SQL statement that the attacker desires, in place of a valid student name. The servlet would then execute the following string.</a:t>
            </a:r>
          </a:p>
          <a:p>
            <a:endParaRPr lang="en-US" altLang="en-US" dirty="0" smtClean="0">
              <a:latin typeface="Times New Roman" panose="02020603050405020304" pitchFamily="18" charset="0"/>
            </a:endParaRPr>
          </a:p>
          <a:p>
            <a:r>
              <a:rPr lang="en-US" dirty="0" smtClean="0"/>
              <a:t>select * from student where name like '%'; ; – – %’ </a:t>
            </a:r>
          </a:p>
          <a:p>
            <a:endParaRPr lang="en-US" altLang="en-US" i="1" dirty="0" smtClean="0">
              <a:latin typeface="Times New Roman" panose="02020603050405020304" pitchFamily="18" charset="0"/>
            </a:endParaRPr>
          </a:p>
          <a:p>
            <a:r>
              <a:rPr lang="en-US" i="1" dirty="0" smtClean="0"/>
              <a:t>The quote inserted by the attacker closes the string, the following semicolon terminates the query, and the following text inserted by the attacker gets interpreted as a second SQL query, while the closing quote has been commented out. Thus, the malicious user has managed to insert an arbitrary SQL statement that is executed by the application. The statement can cause significant damage, since it can perform any action on the database, bypassing all security measures implemented in the application code.</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Another source of SQL-injection risk comes from applications that create queries dynamically, based on selection conditions and ordering attributes specified in a form. For example, an application may allow a user to specify what attribute should be used for sorting the results of a query. An appropriate SQL query is constructed, based on the attribute specified. Suppose the application takes the attribute name from a form, in the variable </a:t>
            </a:r>
            <a:r>
              <a:rPr lang="en-US" b="1" dirty="0" err="1" smtClean="0"/>
              <a:t>orderAttribute</a:t>
            </a:r>
            <a:r>
              <a:rPr lang="en-US" b="1" dirty="0" smtClean="0"/>
              <a:t>, and creates a query string such as the following:</a:t>
            </a:r>
          </a:p>
          <a:p>
            <a:endParaRPr lang="en-US" altLang="en-US" dirty="0" smtClean="0">
              <a:latin typeface="Times New Roman" panose="02020603050405020304" pitchFamily="18" charset="0"/>
            </a:endParaRPr>
          </a:p>
          <a:p>
            <a:r>
              <a:rPr lang="en-US" dirty="0" smtClean="0"/>
              <a:t>String query = “select * from takes order by ” + </a:t>
            </a:r>
            <a:r>
              <a:rPr lang="en-US" dirty="0" err="1" smtClean="0"/>
              <a:t>orderAttribute</a:t>
            </a:r>
            <a:r>
              <a:rPr lang="en-US" dirty="0" smtClean="0"/>
              <a:t>;</a:t>
            </a:r>
          </a:p>
          <a:p>
            <a:endParaRPr lang="en-US" altLang="en-US" dirty="0" smtClean="0">
              <a:latin typeface="Times New Roman" panose="02020603050405020304" pitchFamily="18" charset="0"/>
            </a:endParaRPr>
          </a:p>
          <a:p>
            <a:r>
              <a:rPr lang="en-US" dirty="0" smtClean="0"/>
              <a:t>A malicious user can send an arbitrary string in place of a meaningful </a:t>
            </a:r>
            <a:r>
              <a:rPr lang="en-US" dirty="0" err="1" smtClean="0"/>
              <a:t>orderAtttribute</a:t>
            </a:r>
            <a:r>
              <a:rPr lang="en-US" dirty="0" smtClean="0"/>
              <a:t> value, even if the HTML form used to get the input tried to restrict the allowed values by providing a menu. To avoid this kind of SQL injection, the application should ensure that the </a:t>
            </a:r>
            <a:r>
              <a:rPr lang="en-US" dirty="0" err="1" smtClean="0"/>
              <a:t>orderAttribute</a:t>
            </a:r>
            <a:r>
              <a:rPr lang="en-US" dirty="0" smtClean="0"/>
              <a:t> variable value is one of the allowed values (in our example, attribute names) before appending it.</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 web site that allows users to enter text, such as a comment or a name, and then stores it and later displays it to other users, is potentially vulnerable to a kind of attack called a cross-site scripting (XSS) attack. In such an attack, a malicious user enters code written in a client-side scripting language such as JavaScript or Flash instead of entering a valid name or comment. When a different user views the entered text, the browser executes the script, which can carry out actions such as sending private cookie information back to the malicious user or even executing an action on a different web server that the user may be logged into.</a:t>
            </a:r>
          </a:p>
          <a:p>
            <a:endParaRPr lang="en-US" dirty="0" smtClean="0"/>
          </a:p>
          <a:p>
            <a:r>
              <a:rPr lang="en-US" i="1" dirty="0" smtClean="0"/>
              <a:t>For example, suppose the user happens to be logged into her bank account at the time the script executes. The script could send cookie information related to the bank account login back to the malicious user, who could use the information to connect to the bank’s web server, fooling it into believing that the connection is from the original user. Or the script could access appropriate pages on the bank’s web site, with </a:t>
            </a:r>
            <a:r>
              <a:rPr lang="en-US" i="1" dirty="0" err="1" smtClean="0"/>
              <a:t>approppriately</a:t>
            </a:r>
            <a:r>
              <a:rPr lang="en-US" i="1" dirty="0" smtClean="0"/>
              <a:t> set parameters, to execute a money transfer. In fact, this particular problem can occur even without scripting by simply using a line of code such as</a:t>
            </a:r>
          </a:p>
          <a:p>
            <a:endParaRPr lang="en-US"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ea typeface="ＭＳ Ｐゴシック" pitchFamily="34" charset="-128"/>
              </a:rPr>
              <a:t>&lt;</a:t>
            </a:r>
            <a:r>
              <a:rPr lang="en-US" altLang="en-US" dirty="0" err="1" smtClean="0">
                <a:ea typeface="ＭＳ Ｐゴシック" pitchFamily="34" charset="-128"/>
              </a:rPr>
              <a:t>img</a:t>
            </a:r>
            <a:r>
              <a:rPr lang="en-US" altLang="en-US" dirty="0" smtClean="0">
                <a:ea typeface="ＭＳ Ｐゴシック" pitchFamily="34" charset="-128"/>
              </a:rPr>
              <a:t> </a:t>
            </a:r>
            <a:r>
              <a:rPr lang="en-US" altLang="en-US" dirty="0" err="1" smtClean="0">
                <a:ea typeface="ＭＳ Ｐゴシック" pitchFamily="34" charset="-128"/>
              </a:rPr>
              <a:t>src</a:t>
            </a:r>
            <a:r>
              <a:rPr lang="en-US" altLang="en-US" dirty="0" smtClean="0">
                <a:ea typeface="ＭＳ Ｐゴシック" pitchFamily="34" charset="-128"/>
              </a:rPr>
              <a:t> = </a:t>
            </a:r>
            <a:r>
              <a:rPr lang="en-US" altLang="en-US" dirty="0" smtClean="0">
                <a:ea typeface="ＭＳ Ｐゴシック" pitchFamily="34" charset="-128"/>
                <a:hlinkClick r:id="rId3"/>
              </a:rPr>
              <a:t>http://mybank.com/transfermoney?amount=1000&amp;toaccount=14523</a:t>
            </a:r>
            <a:r>
              <a:rPr lang="en-US" altLang="en-US" dirty="0" smtClean="0">
                <a:ea typeface="ＭＳ Ｐゴシック" pitchFamily="34" charset="-128"/>
              </a:rPr>
              <a:t>&gt;</a:t>
            </a:r>
          </a:p>
          <a:p>
            <a:endParaRPr lang="en-US" dirty="0" smtClean="0"/>
          </a:p>
          <a:p>
            <a:r>
              <a:rPr lang="en-US" i="1" dirty="0" smtClean="0"/>
              <a:t>assuming that the URL mybank.com/transfer money accepts the specified parameters and carries out a money transfer. This latter kind of vulnerability is also called cross-site request forgery or XSRF (sometimes also called CSRF).</a:t>
            </a:r>
          </a:p>
          <a:p>
            <a:endParaRPr lang="en-US" dirty="0" smtClean="0"/>
          </a:p>
          <a:p>
            <a:r>
              <a:rPr lang="en-US" dirty="0" smtClean="0"/>
              <a:t>XSS can be done in other ways, such as luring a user into visiting a web site that has malicious scripts embedded in its pages. There are other more complex kinds of XSS and XSRF attacks, which we shall not get into here. </a:t>
            </a:r>
            <a:r>
              <a:rPr lang="en-US" b="1" dirty="0" smtClean="0"/>
              <a:t>To protect against such attacks, two things need to be done:</a:t>
            </a:r>
          </a:p>
          <a:p>
            <a:endParaRPr lang="en-US" dirty="0" smtClean="0"/>
          </a:p>
          <a:p>
            <a:pPr marL="171450" indent="-171450">
              <a:buFont typeface="Arial" panose="020B0604020202020204" pitchFamily="34" charset="0"/>
              <a:buChar char="•"/>
            </a:pPr>
            <a:r>
              <a:rPr lang="en-US" b="1" dirty="0" smtClean="0"/>
              <a:t>Prevent your web site from being used to launch XSS or XSRF attacks. </a:t>
            </a:r>
          </a:p>
          <a:p>
            <a:r>
              <a:rPr lang="en-US" i="1" dirty="0" smtClean="0"/>
              <a:t>The simplest technique is to disallow any HTML tags whatsoever in text input by users. There are functions that detect or strip all such tags. These functions can be used to prevent HTML tags, and as a result, any scripts, from being displayed to other users. In some cases HTML formatting is useful, and in that case functions that parse the text and allow limited HTML constructs but disallow other dangerous constructs can be used instead; these must be designed carefully, since something as innocuous as an image include could potentially be dangerous in case there is a bug in the image display software that can be exploited.</a:t>
            </a:r>
          </a:p>
          <a:p>
            <a:endParaRPr lang="en-US" dirty="0" smtClean="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5</a:t>
            </a:fld>
            <a:endParaRPr lang="en-US" altLang="en-US"/>
          </a:p>
        </p:txBody>
      </p:sp>
    </p:spTree>
    <p:extLst>
      <p:ext uri="{BB962C8B-B14F-4D97-AF65-F5344CB8AC3E}">
        <p14:creationId xmlns:p14="http://schemas.microsoft.com/office/powerpoint/2010/main" val="1910304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smtClean="0"/>
              <a:t>Protect your web site from XSS or XSRF attacks launched from other sites. </a:t>
            </a:r>
          </a:p>
          <a:p>
            <a:pPr marL="0" indent="0">
              <a:buFont typeface="Arial" panose="020B0604020202020204" pitchFamily="34" charset="0"/>
              <a:buNone/>
            </a:pPr>
            <a:r>
              <a:rPr lang="en-US" b="1" i="1" dirty="0" smtClean="0"/>
              <a:t>If the user has logged into your web site and visits a different web site vulnerable to XSS, the malicious code executing on the user’s browser could execute actions on your web site or pass session information related to your web site back to the malicious user, who could try to exploit it. This cannot be prevented altogether, but you can take a few steps to minimize the risk. </a:t>
            </a:r>
          </a:p>
          <a:p>
            <a:pPr marL="0" indent="0">
              <a:buFont typeface="Arial" panose="020B0604020202020204" pitchFamily="34" charset="0"/>
              <a:buNone/>
            </a:pPr>
            <a:r>
              <a:rPr lang="en-US" dirty="0" smtClean="0"/>
              <a:t>° </a:t>
            </a:r>
            <a:r>
              <a:rPr lang="en-US" b="1" i="1" dirty="0" smtClean="0"/>
              <a:t>The HTTP protocol allows a server to check the </a:t>
            </a:r>
            <a:r>
              <a:rPr lang="en-US" b="1" i="1" dirty="0" err="1" smtClean="0"/>
              <a:t>referer</a:t>
            </a:r>
            <a:r>
              <a:rPr lang="en-US" b="1" i="1" dirty="0" smtClean="0"/>
              <a:t> of a page access, that is, the URL of the page that had the link that the user clicked on to initiate the page access. </a:t>
            </a:r>
            <a:r>
              <a:rPr lang="en-US" dirty="0" smtClean="0"/>
              <a:t>By checking that the </a:t>
            </a:r>
            <a:r>
              <a:rPr lang="en-US" dirty="0" err="1" smtClean="0"/>
              <a:t>referer</a:t>
            </a:r>
            <a:r>
              <a:rPr lang="en-US" dirty="0" smtClean="0"/>
              <a:t> is valid, for example, that the </a:t>
            </a:r>
            <a:r>
              <a:rPr lang="en-US" dirty="0" err="1" smtClean="0"/>
              <a:t>referer</a:t>
            </a:r>
            <a:r>
              <a:rPr lang="en-US" dirty="0" smtClean="0"/>
              <a:t> URL is a page on the same web site, XSS attacks that originated on a different web page accessed by the user can be prevented. </a:t>
            </a:r>
          </a:p>
          <a:p>
            <a:pPr marL="0" indent="0">
              <a:buFont typeface="Arial" panose="020B0604020202020204" pitchFamily="34" charset="0"/>
              <a:buNone/>
            </a:pPr>
            <a:r>
              <a:rPr lang="en-US" dirty="0" smtClean="0"/>
              <a:t>° </a:t>
            </a:r>
            <a:r>
              <a:rPr lang="en-US" b="1" i="1" dirty="0" smtClean="0"/>
              <a:t>Instead of using only the cookie to identify a session, the session could also be restricted to the IP address from which it was originally authenticated</a:t>
            </a:r>
            <a:r>
              <a:rPr lang="en-US" dirty="0" smtClean="0"/>
              <a:t>. As a result, even if a malicious user gets a cookie, he may not be able to log in from a different computer. </a:t>
            </a:r>
          </a:p>
          <a:p>
            <a:pPr marL="0" indent="0">
              <a:buFont typeface="Arial" panose="020B0604020202020204" pitchFamily="34" charset="0"/>
              <a:buNone/>
            </a:pPr>
            <a:r>
              <a:rPr lang="en-US" dirty="0" smtClean="0"/>
              <a:t>° </a:t>
            </a:r>
            <a:r>
              <a:rPr lang="en-US" b="1" i="1" dirty="0" smtClean="0"/>
              <a:t>Never use a GET method to perform any updates. </a:t>
            </a:r>
            <a:r>
              <a:rPr lang="en-US" dirty="0" smtClean="0"/>
              <a:t>This prevents attacks using such as the one we saw earlier. In fact, the HTTP standard specifies that GET methods should not perform any updates. </a:t>
            </a:r>
          </a:p>
          <a:p>
            <a:pPr marL="0" indent="0">
              <a:buFont typeface="Arial" panose="020B0604020202020204" pitchFamily="34" charset="0"/>
              <a:buNone/>
            </a:pPr>
            <a:r>
              <a:rPr lang="en-US" dirty="0" smtClean="0"/>
              <a:t>° </a:t>
            </a:r>
            <a:r>
              <a:rPr lang="en-US" b="1" i="1" dirty="0" smtClean="0"/>
              <a:t>If you use a web application framework like Django, make sure to use the XSRF/CSRF protection mechanisms provided by the framework.</a:t>
            </a:r>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6</a:t>
            </a:fld>
            <a:endParaRPr lang="en-US" altLang="en-US"/>
          </a:p>
        </p:txBody>
      </p:sp>
    </p:spTree>
    <p:extLst>
      <p:ext uri="{BB962C8B-B14F-4D97-AF65-F5344CB8AC3E}">
        <p14:creationId xmlns:p14="http://schemas.microsoft.com/office/powerpoint/2010/main" val="278590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Another problem that application developers must deal with is storing passwords in clear text in the application code. </a:t>
            </a:r>
            <a:r>
              <a:rPr lang="en-US" i="1" dirty="0" smtClean="0"/>
              <a:t>For example, programs such as JSP scripts often contain passwords in clear text. If such scripts are stored in a directory accessible by a web server, an external user may be able to access the source code of the script and get access to the password for the database account used by the application. </a:t>
            </a:r>
          </a:p>
          <a:p>
            <a:endParaRPr lang="en-US" dirty="0" smtClean="0"/>
          </a:p>
          <a:p>
            <a:r>
              <a:rPr lang="en-US" b="1" i="1" dirty="0" smtClean="0"/>
              <a:t>To avoid such problems, many application servers provide mechanisms to store passwords in encrypted form, which the server decrypts before passing it on to the database. Such a feature removes the need for storing passwords as clear text in application programs. However, if the decryption key is also vulnerable to being exposed, this approach is not fully effective.</a:t>
            </a:r>
          </a:p>
          <a:p>
            <a:endParaRPr lang="en-US" dirty="0" smtClean="0"/>
          </a:p>
          <a:p>
            <a:r>
              <a:rPr lang="en-US" b="1" dirty="0" smtClean="0"/>
              <a:t>As another measure against compromised database passwords, many database </a:t>
            </a:r>
            <a:r>
              <a:rPr lang="en-US" b="1" dirty="0" err="1" smtClean="0"/>
              <a:t>systems</a:t>
            </a:r>
            <a:r>
              <a:rPr lang="en-US" b="1" dirty="0" smtClean="0"/>
              <a:t> allow access to the database to be restricted to a given set of internet addresses, typically, the machines running the application servers.</a:t>
            </a:r>
            <a:r>
              <a:rPr lang="en-US" dirty="0" smtClean="0"/>
              <a:t> </a:t>
            </a:r>
            <a:r>
              <a:rPr lang="en-US" b="1" i="1" dirty="0" smtClean="0"/>
              <a:t>Attempts to connect to the database from other internet addresses are rejected. Thus, unless the malicious user is able to log into the application server, she cannot do any damage even if she gains access to the database password.</a:t>
            </a:r>
            <a:endParaRPr lang="en-US" b="1" i="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7</a:t>
            </a:fld>
            <a:endParaRPr lang="en-US" altLang="en-US"/>
          </a:p>
        </p:txBody>
      </p:sp>
    </p:spTree>
    <p:extLst>
      <p:ext uri="{BB962C8B-B14F-4D97-AF65-F5344CB8AC3E}">
        <p14:creationId xmlns:p14="http://schemas.microsoft.com/office/powerpoint/2010/main" val="1012039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smtClean="0"/>
              <a:t>Authentication refers to the task of verifying the identity of a person/software connecting to an application. The simplest form of authentication consists of a secret password that must be presented when a user connects to the application. Unfortunately, passwords are easily compromised, for example, by guessing, or by sniffing of packets on the network if the passwords are not sent encrypted. More robust schemes are needed for critical applications, such as online bank accounts. Encryption is the basis for more robust authentication schemes. </a:t>
            </a:r>
            <a:r>
              <a:rPr lang="en-US" dirty="0" smtClean="0"/>
              <a:t>Authentication through encryption is addressed in Section 9.9.3. </a:t>
            </a:r>
          </a:p>
          <a:p>
            <a:endParaRPr lang="en-US" dirty="0" smtClean="0"/>
          </a:p>
          <a:p>
            <a:r>
              <a:rPr lang="en-US" b="1" dirty="0" smtClean="0"/>
              <a:t>Many applications use two-factor authentication, where two independent factors </a:t>
            </a:r>
            <a:r>
              <a:rPr lang="en-US" dirty="0" smtClean="0"/>
              <a:t>(i.e., pieces of information or processes) are used to identify a user. </a:t>
            </a:r>
            <a:r>
              <a:rPr lang="en-US" b="1" dirty="0" smtClean="0"/>
              <a:t>The two factors should not share a common vulnerability; for example, if a system merely required two passwords, both could be vulnerable to leakage in the same manner (by network sniffing, or by a virus on the computer used by the user, for example). While biometrics such as fingerprints or iris scanners can be used in situations where a user is physically present at the point of authentication, they are not very meaningful across a network.</a:t>
            </a:r>
          </a:p>
          <a:p>
            <a:endParaRPr lang="en-US" b="0" i="1" dirty="0" smtClean="0"/>
          </a:p>
          <a:p>
            <a:r>
              <a:rPr lang="en-US" b="0" i="1" dirty="0" smtClean="0"/>
              <a:t>Passwords are used as the first factor in most such two-factor authentication schemes. Smart cards or other encryption devices connected through the USB interface, which can be used for authentication based on encryption techniques (see Section 9.9.3), are widely used as second factors.</a:t>
            </a:r>
          </a:p>
          <a:p>
            <a:endParaRPr lang="en-US" dirty="0" smtClean="0"/>
          </a:p>
          <a:p>
            <a:endParaRPr lang="en-US" dirty="0" smtClean="0"/>
          </a:p>
          <a:p>
            <a:r>
              <a:rPr lang="en-US" b="1" dirty="0" smtClean="0"/>
              <a:t>One-time password devices, which generate a new pseudo-random number (say) every minute are also widely used as a second factor. </a:t>
            </a:r>
            <a:r>
              <a:rPr lang="en-US" b="1" i="1" dirty="0" smtClean="0"/>
              <a:t>Each user is given one of these devices and must enter the number displayed by the device at the time of authentication, along with the password, to authenticate himself. Each device generates a different sequence of pseudo-random numbers. The application server can generate the same sequence of pseudo-random numbers as the device given to the user, stopping at the number that would be displayed at the time of authentication, and verify that the numbers match. This scheme requires that the clock in the device and at the server are synchronized reasonably closely.</a:t>
            </a:r>
          </a:p>
          <a:p>
            <a:endParaRPr lang="en-US" dirty="0" smtClean="0"/>
          </a:p>
          <a:p>
            <a:r>
              <a:rPr lang="en-US" b="1" dirty="0" smtClean="0"/>
              <a:t>Yet another second-factor approach is to send an SMS with a (randomly generated) one-time password to the user’s phone (whose number is registered earlier) whenever the user wishes to log in to the application. </a:t>
            </a:r>
            <a:r>
              <a:rPr lang="en-US" i="1" dirty="0" smtClean="0"/>
              <a:t>The user must possess a phone with that number to receive the SMS and then enter the one-time password, along with her regular password, to be authenticated.</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8</a:t>
            </a:fld>
            <a:endParaRPr lang="en-US" altLang="en-US"/>
          </a:p>
        </p:txBody>
      </p:sp>
    </p:spTree>
    <p:extLst>
      <p:ext uri="{BB962C8B-B14F-4D97-AF65-F5344CB8AC3E}">
        <p14:creationId xmlns:p14="http://schemas.microsoft.com/office/powerpoint/2010/main" val="1717381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smtClean="0"/>
              <a:t>It is worth noting that even with two-factor authentication, users may still be vulnerable to man-in-the-middle attacks. In such attacks, a user attempting to connect to the application is diverted to a fake web site, which accepts the password (including second factor passwords) from the user and uses it immediately to authenticate to the original application</a:t>
            </a:r>
            <a:r>
              <a:rPr lang="en-US" dirty="0" smtClean="0"/>
              <a:t>. The HTTPS protocol, described in Section 9.9.3.2, is used to authenticate the web site to the user (so the user does not connect to a fake site believing it to be the intended site). The HTTPS protocol also encrypts data and prevents man-in-the-middle attacks.</a:t>
            </a:r>
          </a:p>
          <a:p>
            <a:endParaRPr lang="en-US" dirty="0" smtClean="0"/>
          </a:p>
          <a:p>
            <a:r>
              <a:rPr lang="en-US" b="1" dirty="0" smtClean="0"/>
              <a:t>When users access multiple web sites, it is often annoying for a user to have to authenticate herself to each site separately, often with different passwords on each site. There are systems that allow the user to authenticate herself to one central authentication service, and other web sites and applications can authenticate the user through the central authentication service; the same password can then be used to access multiple sites. The LDAP protocol is widely used to implement such a central point of authentication for applications within a single organization; organizations implement an LDAP server containing user names and password information, and applications use the LDAP server to authenticate users </a:t>
            </a:r>
          </a:p>
          <a:p>
            <a:endParaRPr lang="en-US" dirty="0" smtClean="0"/>
          </a:p>
          <a:p>
            <a:r>
              <a:rPr lang="en-US" b="1" dirty="0" smtClean="0"/>
              <a:t>In addition to authenticating users, a central authentication service can provide other services, for example, providing information about the user such as name, email, and address information, to the application. This obviates the need to enter this information separately in each application. LDAP can be used for this task, as described in Section 25.5.2. Other directory systems such Microsoft’s Active Directories also provide mechanisms for authenticating users as well as for providing user information.</a:t>
            </a:r>
            <a:endParaRPr lang="en-US" b="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9</a:t>
            </a:fld>
            <a:endParaRPr lang="en-US" altLang="en-US"/>
          </a:p>
        </p:txBody>
      </p:sp>
    </p:spTree>
    <p:extLst>
      <p:ext uri="{BB962C8B-B14F-4D97-AF65-F5344CB8AC3E}">
        <p14:creationId xmlns:p14="http://schemas.microsoft.com/office/powerpoint/2010/main" val="3320991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 single sign-on system further allows the user to be authenticated once, and </a:t>
            </a:r>
            <a:r>
              <a:rPr lang="en-US" b="1" dirty="0" err="1" smtClean="0"/>
              <a:t>multiple</a:t>
            </a:r>
            <a:r>
              <a:rPr lang="en-US" b="1" dirty="0" smtClean="0"/>
              <a:t> applications can then verify the user’s identity through an authentication service without requiring </a:t>
            </a:r>
            <a:r>
              <a:rPr lang="en-US" b="1" dirty="0" err="1" smtClean="0"/>
              <a:t>reauthentication</a:t>
            </a:r>
            <a:r>
              <a:rPr lang="en-US" dirty="0" smtClean="0"/>
              <a:t>. </a:t>
            </a:r>
            <a:r>
              <a:rPr lang="en-US" i="1" dirty="0" smtClean="0"/>
              <a:t>In other words, once a user is logged in at one site, he does not have to enter his user name and password at other sites that use the same single sign-on service. Such single sign-on mechanisms have long been used in network authentication protocols such as Kerberos, and implementations are now available for web applications.</a:t>
            </a:r>
          </a:p>
          <a:p>
            <a:endParaRPr lang="en-US" dirty="0" smtClean="0"/>
          </a:p>
          <a:p>
            <a:r>
              <a:rPr lang="en-US" b="1" dirty="0" smtClean="0"/>
              <a:t>The Security Assertion Markup Language (SAML) </a:t>
            </a:r>
            <a:r>
              <a:rPr lang="en-US" b="1" i="1" dirty="0" smtClean="0"/>
              <a:t>is a protocol for exchanging authentication and authorization information between different security domains, to provide cross-organization single sign-on. For example, suppose an application needs to provide access to all students from a particular university, say Yale. </a:t>
            </a:r>
            <a:r>
              <a:rPr lang="en-US" i="1" dirty="0" smtClean="0"/>
              <a:t>The university can set up a web-based service that carries out authentication. Suppose a user connects to the application with a username such as “joe@yale.edu”. The application, instead of directly authenticating a user, diverts the user to Yale University’s authentication service, which authenticates the user and then tells the application who the user is and</a:t>
            </a:r>
            <a:r>
              <a:rPr lang="en-US" i="1" baseline="0" dirty="0" smtClean="0"/>
              <a:t> </a:t>
            </a:r>
            <a:r>
              <a:rPr lang="en-US" i="1" dirty="0" smtClean="0"/>
              <a:t>may provide some additional information such as the category of the user (student or instructor) or other relevant information. The user’s password and other authentication factors are never revealed to the application, and the user need not register explicitly with the application. However, the application must trust the university’s authentication service when authenticating a user. </a:t>
            </a:r>
          </a:p>
          <a:p>
            <a:endParaRPr lang="en-US" dirty="0" smtClean="0"/>
          </a:p>
          <a:p>
            <a:r>
              <a:rPr lang="en-US" b="1" dirty="0" smtClean="0"/>
              <a:t>The </a:t>
            </a:r>
            <a:r>
              <a:rPr lang="en-US" b="1" dirty="0" err="1" smtClean="0"/>
              <a:t>OpenID</a:t>
            </a:r>
            <a:r>
              <a:rPr lang="en-US" b="1" dirty="0" smtClean="0"/>
              <a:t> protocol is an alternative for single sign-on across organizations, which works in a manner similar to SAML</a:t>
            </a:r>
            <a:r>
              <a:rPr lang="en-US" dirty="0" smtClean="0"/>
              <a:t>. </a:t>
            </a:r>
            <a:r>
              <a:rPr lang="en-US" b="1" dirty="0" smtClean="0"/>
              <a:t>The OAuth protocol is another protocol that allows users to authorize access to certain resources, via sharing of an authorization token.</a:t>
            </a:r>
            <a:endParaRPr lang="en-US" b="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10</a:t>
            </a:fld>
            <a:endParaRPr lang="en-US" altLang="en-US"/>
          </a:p>
        </p:txBody>
      </p:sp>
    </p:spTree>
    <p:extLst>
      <p:ext uri="{BB962C8B-B14F-4D97-AF65-F5344CB8AC3E}">
        <p14:creationId xmlns:p14="http://schemas.microsoft.com/office/powerpoint/2010/main" val="2988417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11</a:t>
            </a:fld>
            <a:endParaRPr lang="en-US" altLang="en-US"/>
          </a:p>
        </p:txBody>
      </p:sp>
    </p:spTree>
    <p:extLst>
      <p:ext uri="{BB962C8B-B14F-4D97-AF65-F5344CB8AC3E}">
        <p14:creationId xmlns:p14="http://schemas.microsoft.com/office/powerpoint/2010/main" val="612674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 audit trail is a log of all changes (inserts, deletes, and updates) to the application data, along with information such as which user performed the change and when the change was performed. If application security is breached, or even if security was not breached, but some update was carried out erroneously, an audit trail can (a) help find out what happened, and who may have carried out the actions, and (b) aid in fixing the damage caused by the security breach or erroneous update.</a:t>
            </a:r>
          </a:p>
          <a:p>
            <a:endParaRPr lang="en-US" dirty="0" smtClean="0"/>
          </a:p>
          <a:p>
            <a:r>
              <a:rPr lang="en-US" dirty="0" smtClean="0"/>
              <a:t>For example, if a student’s grade is found to be incorrect, the audit log can be examined to locate when and how the grade was updated, as well as to find which user carried out the updates. The university could then also use the audit trail to trace all the updates performed by this user in order to find other incorrect or fraudulent updates, and then correct them</a:t>
            </a:r>
          </a:p>
          <a:p>
            <a:endParaRPr lang="en-US" dirty="0" smtClean="0"/>
          </a:p>
          <a:p>
            <a:r>
              <a:rPr lang="en-US" b="1" dirty="0" smtClean="0"/>
              <a:t>Audit trails can also be used to detect security breaches where a user’s account is compromised and accessed by an intruder. </a:t>
            </a:r>
            <a:r>
              <a:rPr lang="en-US" dirty="0" smtClean="0"/>
              <a:t>For example, each time a user logs in, she may be informed about all updates in the audit trail that were done from that login in the recent past; if the user sees an update that she did not carry out, it is likely the account has been compromised. </a:t>
            </a:r>
          </a:p>
          <a:p>
            <a:endParaRPr lang="en-US" dirty="0" smtClean="0"/>
          </a:p>
          <a:p>
            <a:r>
              <a:rPr lang="en-US" b="1" dirty="0" smtClean="0"/>
              <a:t>It is possible to create a database-level audit trail by defining appropriate triggers on relation updates (using system-defined variables that identify the user name and time). However, many database systems provide built-in mechanisms to create audit trails that are much more convenient to use</a:t>
            </a:r>
            <a:r>
              <a:rPr lang="en-US" dirty="0" smtClean="0"/>
              <a:t>. Details of how to create audit trails vary across database systems, and you should refer to the database-system manuals for details.</a:t>
            </a:r>
          </a:p>
          <a:p>
            <a:endParaRPr lang="en-US" dirty="0" smtClean="0"/>
          </a:p>
          <a:p>
            <a:r>
              <a:rPr lang="en-US" b="1" dirty="0" smtClean="0"/>
              <a:t>Database-level audit trails are usually insufficient for applications, since they are usually unable to track who was the end user of the application. </a:t>
            </a:r>
            <a:r>
              <a:rPr lang="en-US" dirty="0" smtClean="0"/>
              <a:t>Further, updates are recorded at a low level, in terms of updates to tuples of a relation, rather than at a higher level, in terms of the business logic. Applications, therefore, usually create a higher-level audit trail, recording, for example, what action was carried out, by whom, when, and from which IP address the request originated. </a:t>
            </a:r>
          </a:p>
          <a:p>
            <a:endParaRPr lang="en-US" dirty="0" smtClean="0"/>
          </a:p>
          <a:p>
            <a:r>
              <a:rPr lang="en-US" b="1" dirty="0" smtClean="0"/>
              <a:t>A related issue is that of protecting the audit trail itself from being modified or deleted by users who breach application security. </a:t>
            </a:r>
            <a:r>
              <a:rPr lang="en-US" b="1" i="1" dirty="0" smtClean="0"/>
              <a:t>One possible solution is to copy the audit trail to a different machine, to which the intruder would not have access, with each record in the trail copied as soon as it is generated</a:t>
            </a:r>
            <a:r>
              <a:rPr lang="en-US" dirty="0" smtClean="0"/>
              <a:t>. </a:t>
            </a:r>
            <a:r>
              <a:rPr lang="en-US" b="1" dirty="0" smtClean="0"/>
              <a:t>A more robust solution is to use </a:t>
            </a:r>
            <a:r>
              <a:rPr lang="en-US" b="1" dirty="0" err="1" smtClean="0"/>
              <a:t>blockchain</a:t>
            </a:r>
            <a:r>
              <a:rPr lang="en-US" b="1" dirty="0" smtClean="0"/>
              <a:t> techniques, which are described </a:t>
            </a:r>
            <a:r>
              <a:rPr lang="en-US" dirty="0" smtClean="0"/>
              <a:t>in Chapter 26; </a:t>
            </a:r>
            <a:r>
              <a:rPr lang="en-US" dirty="0" err="1" smtClean="0"/>
              <a:t>blockchain</a:t>
            </a:r>
            <a:r>
              <a:rPr lang="en-US" dirty="0" smtClean="0"/>
              <a:t> techniques store logs in multiple machines and use a hashing mechanism that makes it very difficult for an intruder to modify or delete data without being detected.</a:t>
            </a:r>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13</a:t>
            </a:fld>
            <a:endParaRPr lang="en-US" altLang="en-US"/>
          </a:p>
        </p:txBody>
      </p:sp>
    </p:spTree>
    <p:extLst>
      <p:ext uri="{BB962C8B-B14F-4D97-AF65-F5344CB8AC3E}">
        <p14:creationId xmlns:p14="http://schemas.microsoft.com/office/powerpoint/2010/main" val="2334021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15</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Encryption refers to the process of transforming data into a form that is unreadable, unless the reverse process of decryption is applied. Encryption algorithms use an </a:t>
            </a:r>
            <a:r>
              <a:rPr lang="en-US" b="1" dirty="0" err="1" smtClean="0"/>
              <a:t>encryption</a:t>
            </a:r>
            <a:r>
              <a:rPr lang="en-US" b="1" dirty="0" smtClean="0"/>
              <a:t> key to perform encryption, and they require a decryption key (which could be the same as the encryption key, depending on the encryption algorithm used) to perform decryption.</a:t>
            </a:r>
          </a:p>
          <a:p>
            <a:endParaRPr lang="en-US" altLang="en-US"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1" dirty="0" smtClean="0"/>
              <a:t>A good encryption technique has the following properties: </a:t>
            </a:r>
          </a:p>
          <a:p>
            <a:r>
              <a:rPr lang="en-US" b="1" dirty="0" smtClean="0"/>
              <a:t>• It is relatively simple for authorized users to encrypt and decrypt data. </a:t>
            </a:r>
          </a:p>
          <a:p>
            <a:r>
              <a:rPr lang="en-US" b="1" dirty="0" smtClean="0"/>
              <a:t>• It depends not on the secrecy of the algorithm, but rather on a parameter of the algorithm called the encryption key, which is used to encrypt data. In a symmetric-key encryption technique, the encryption key is also used to decrypt data. In contrast, in public-key (also known as asymmetric-key) encryption techniques, there are two different keys, the public key and the private key, used to encrypt and decrypt the data. </a:t>
            </a:r>
          </a:p>
          <a:p>
            <a:endParaRPr lang="en-US" b="1" dirty="0" smtClean="0"/>
          </a:p>
          <a:p>
            <a:r>
              <a:rPr lang="en-US" b="1" dirty="0" smtClean="0"/>
              <a:t>• Its decryption key is extremely difficult for an intruder to determine, even if the intruder has access to encrypted data. In the case of asymmetric-key encryption, it is extremely difficult to infer the private key even if the public key is available.</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16</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dirty="0" smtClean="0">
                <a:latin typeface="Times New Roman" panose="02020603050405020304" pitchFamily="18" charset="0"/>
              </a:rPr>
              <a:t>T</a:t>
            </a:r>
            <a:r>
              <a:rPr lang="en-US" b="1" dirty="0" smtClean="0"/>
              <a:t>he Advanced Encryption Standard (AES) is a symmetric-key encryption algorithm that was adopted as an encryption standard by the U.S. government in 2000 and is now widely used</a:t>
            </a:r>
            <a:r>
              <a:rPr lang="en-US" dirty="0" smtClean="0"/>
              <a:t>. The standard is based on the </a:t>
            </a:r>
            <a:r>
              <a:rPr lang="en-US" dirty="0" err="1" smtClean="0"/>
              <a:t>Rijndael</a:t>
            </a:r>
            <a:r>
              <a:rPr lang="en-US" dirty="0" smtClean="0"/>
              <a:t> algorithm (named for the inventors V. </a:t>
            </a:r>
            <a:r>
              <a:rPr lang="en-US" dirty="0" err="1" smtClean="0"/>
              <a:t>Rijmen</a:t>
            </a:r>
            <a:r>
              <a:rPr lang="en-US" dirty="0" smtClean="0"/>
              <a:t> and J. </a:t>
            </a:r>
            <a:r>
              <a:rPr lang="en-US" dirty="0" err="1" smtClean="0"/>
              <a:t>Daemen</a:t>
            </a:r>
            <a:r>
              <a:rPr lang="en-US" dirty="0" smtClean="0"/>
              <a:t>). The algorithm operates on a 128-bit block of data at a time, while the key can be 128, 192, or 256 bits in length. The algorithm runs a series of steps to jumble up the bits in a data block in a way that can be reversed during decryption, and it performs an XOR operation with a 128-bit “round key” that is derived from the encryption key. A new round key is generated from the encryption key for each block of data that is encrypted. During decryption, the round keys are generated again from the encryption key and the encryption process is reversed to recover the original data. An earlier standard called the Data Encryption Standard (DES), adopted in 1977, was very widely used earlier.  </a:t>
            </a:r>
          </a:p>
          <a:p>
            <a:endParaRPr lang="en-US" altLang="en-US" dirty="0" smtClean="0">
              <a:latin typeface="Times New Roman" panose="02020603050405020304" pitchFamily="18" charset="0"/>
            </a:endParaRPr>
          </a:p>
          <a:p>
            <a:r>
              <a:rPr lang="en-US" b="1" dirty="0" smtClean="0"/>
              <a:t>Public-key encryption is an alternative scheme that avoids some of the problems faced by symmetric-key encryption techniques</a:t>
            </a:r>
            <a:r>
              <a:rPr lang="en-US" dirty="0" smtClean="0"/>
              <a:t>. It is based on two keys: a public key and a private key. Each user </a:t>
            </a:r>
            <a:r>
              <a:rPr lang="en-US" dirty="0" err="1" smtClean="0"/>
              <a:t>Ui</a:t>
            </a:r>
            <a:r>
              <a:rPr lang="en-US" dirty="0" smtClean="0"/>
              <a:t> has a public key </a:t>
            </a:r>
            <a:r>
              <a:rPr lang="en-US" dirty="0" err="1" smtClean="0"/>
              <a:t>Ei</a:t>
            </a:r>
            <a:r>
              <a:rPr lang="en-US" dirty="0" smtClean="0"/>
              <a:t> and a private key Di . All public keys are published: They can be seen by anyone. Each private key is known to only the one user to whom the key belongs. If user U1 wants to store encrypted data, U1 encrypts them using public key E1. Decryption requires the private key D1.</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r>
              <a:rPr lang="en-US" b="1" dirty="0" smtClean="0"/>
              <a:t>Encryption of small values, such as identifiers or names, is made complicated by the possibility of dictionary attacks, particularly if the encryption key is publicly </a:t>
            </a:r>
            <a:r>
              <a:rPr lang="en-US" b="1" dirty="0" err="1" smtClean="0"/>
              <a:t>availabl</a:t>
            </a:r>
            <a:r>
              <a:rPr lang="en-US" dirty="0" err="1" smtClean="0"/>
              <a:t>e</a:t>
            </a:r>
            <a:r>
              <a:rPr lang="en-US" dirty="0" smtClean="0"/>
              <a:t>. For example, if date-of-birth fields are encrypted, an attacker trying to decrypt a particular encrypted value e could try encrypting every possible date of birth until he finds one whose encrypted value matches e. Even if the encryption key is not publicly available, statistical information about data distributions can be used to figure out what an encrypted value represents in some cases, such as age or address. For example, if the age 18 is the most common age in a database, the encrypted age value that occurs most often can be inferred to represent 18.</a:t>
            </a:r>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17</a:t>
            </a:fld>
            <a:endParaRPr lang="en-US" altLang="en-US"/>
          </a:p>
        </p:txBody>
      </p:sp>
    </p:spTree>
    <p:extLst>
      <p:ext uri="{BB962C8B-B14F-4D97-AF65-F5344CB8AC3E}">
        <p14:creationId xmlns:p14="http://schemas.microsoft.com/office/powerpoint/2010/main" val="1669397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6363EF0-60A3-4B85-B94B-92010F22FA2B}" type="slidenum">
              <a:rPr lang="en-US" altLang="en-US" smtClean="0"/>
              <a:pPr/>
              <a:t>19</a:t>
            </a:fld>
            <a:endParaRPr lang="en-US" alt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xfrm>
            <a:off x="931864" y="4410076"/>
            <a:ext cx="5133975" cy="4176713"/>
          </a:xfrm>
          <a:noFill/>
          <a:ln/>
        </p:spPr>
        <p:txBody>
          <a:bodyPr/>
          <a:lstStyle/>
          <a:p>
            <a:r>
              <a:rPr lang="en-US" b="1" dirty="0" smtClean="0"/>
              <a:t>Encryption and Authentication </a:t>
            </a:r>
          </a:p>
          <a:p>
            <a:endParaRPr lang="en-US" dirty="0" smtClean="0"/>
          </a:p>
          <a:p>
            <a:r>
              <a:rPr lang="en-US" b="1" dirty="0" smtClean="0"/>
              <a:t>Password-based authentication is used widely by operating systems as well as database systems</a:t>
            </a:r>
            <a:r>
              <a:rPr lang="en-US" dirty="0" smtClean="0"/>
              <a:t>. </a:t>
            </a:r>
            <a:r>
              <a:rPr lang="en-US" i="1" dirty="0" smtClean="0"/>
              <a:t>However, the use of passwords has some drawbacks, especially over a network. If an eavesdropper is able to “sniff” the data being sent over the network, she may be able to find the password as it is being sent across the network. Once the eavesdropper has a user name and password, she can connect to the database, pretending to be the legitimate user. </a:t>
            </a:r>
          </a:p>
          <a:p>
            <a:endParaRPr lang="en-US" altLang="en-US" dirty="0" smtClean="0">
              <a:latin typeface="Times New Roman" pitchFamily="18" charset="0"/>
            </a:endParaRPr>
          </a:p>
          <a:p>
            <a:r>
              <a:rPr lang="en-US" i="1" dirty="0" smtClean="0"/>
              <a:t>A more secure scheme involves a challenge-response system. The database system sends a challenge string to the user. The user encrypts the challenge string using a secret password as encryption key and then returns the result. The database system can verify the authenticity of the user by decrypting the string with the same secret password and checking the result with the original challenge string. This scheme ensures that no passwords travel across the network.</a:t>
            </a:r>
          </a:p>
          <a:p>
            <a:endParaRPr lang="en-US" altLang="en-US" dirty="0" smtClean="0">
              <a:latin typeface="Times New Roman" pitchFamily="18" charset="0"/>
            </a:endParaRPr>
          </a:p>
          <a:p>
            <a:r>
              <a:rPr lang="en-US" b="1" dirty="0" smtClean="0"/>
              <a:t>Storing the private key of a user on a computer (even a personal computer) has the risk that if the computer is compromised, the key may be revealed to an attacker who can then masquerade as the user. Smart cards provide a solution to this problem</a:t>
            </a:r>
            <a:r>
              <a:rPr lang="en-US" dirty="0" smtClean="0"/>
              <a:t>. </a:t>
            </a:r>
            <a:r>
              <a:rPr lang="en-US" b="1" i="1" dirty="0" smtClean="0"/>
              <a:t>In a smart card, the key can be stored on an embedded chip; the operating system of the smart card guarantees that the key can never be read, but it allows data to be sent to the card for encryption or decryption, using the private key </a:t>
            </a:r>
            <a:endParaRPr lang="en-US" altLang="en-US" b="1" i="1" dirty="0" smtClean="0">
              <a:latin typeface="Times New Roman" pitchFamily="18" charset="0"/>
            </a:endParaRPr>
          </a:p>
          <a:p>
            <a:endParaRPr lang="en-US" altLang="en-US" dirty="0" smtClean="0">
              <a:latin typeface="Times New Roman" pitchFamily="18" charset="0"/>
            </a:endParaRPr>
          </a:p>
          <a:p>
            <a:r>
              <a:rPr lang="en-US" b="1" dirty="0" smtClean="0"/>
              <a:t>Digital Signatures </a:t>
            </a:r>
          </a:p>
          <a:p>
            <a:endParaRPr lang="en-US" dirty="0" smtClean="0"/>
          </a:p>
          <a:p>
            <a:r>
              <a:rPr lang="en-US" b="1" dirty="0" smtClean="0"/>
              <a:t>Another interesting application of public-key encryption is in digital signatures to verify authenticity of data; digital signatures play the electronic role of physical signatures on documents. The private key is used to “sign,” that is, encrypt, data, and the signed data can be made public.</a:t>
            </a:r>
            <a:r>
              <a:rPr lang="en-US" dirty="0" smtClean="0"/>
              <a:t> Anyone can verify the signature by decrypting the data using the public key, but no one could have generated the signed data without having the private key. (Note the reversal of the roles of the public and private keys in this scheme.) Thus, we can authenticate the data; that is, we can verify that the data were indeed created by the person who is supposed to have created them.</a:t>
            </a:r>
          </a:p>
          <a:p>
            <a:endParaRPr lang="en-US" altLang="en-US" dirty="0" smtClean="0">
              <a:latin typeface="Times New Roman" pitchFamily="18" charset="0"/>
            </a:endParaRPr>
          </a:p>
          <a:p>
            <a:r>
              <a:rPr lang="en-US" b="1" dirty="0" smtClean="0"/>
              <a:t>Furthermore, digital signatures also serve to ensure nonrepudiation</a:t>
            </a:r>
            <a:r>
              <a:rPr lang="en-US" dirty="0" smtClean="0"/>
              <a:t>. That is, in case the person who created the data later claims she did not create them (the electronic equivalent of claiming not to have signed the check), we can prove that that person must have created the data (unless her private key was leaked to others)</a:t>
            </a:r>
            <a:endParaRPr lang="en-US" altLang="en-US" dirty="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E2E84E3-8FE5-4F88-9209-B24AF625CDA3}" type="slidenum">
              <a:rPr lang="en-US" altLang="en-US" smtClean="0"/>
              <a:pPr/>
              <a:t>20</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56562752-3927-434A-BB68-CDB0AC6CA104}" type="slidenum">
              <a:rPr lang="en-US" altLang="en-US" smtClean="0"/>
              <a:pPr/>
              <a:t>21</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931864" y="4410076"/>
            <a:ext cx="5133975" cy="4176713"/>
          </a:xfrm>
          <a:noFill/>
          <a:ln/>
        </p:spPr>
        <p:txBody>
          <a:bodyPr/>
          <a:lstStyle/>
          <a:p>
            <a:r>
              <a:rPr lang="en-US" b="1" dirty="0" smtClean="0"/>
              <a:t>Authentication is, in general, a two-way process, where each of a pair of interacting entities authenticates itself to the other. Such pairwise authentication is needed even   when a client contacts a web site, to prevent a malicious site from masquerading as a legal web site. Such masquerading could be done, for example, if the network routers were compromised and data rerouted to the malicious site.</a:t>
            </a:r>
          </a:p>
          <a:p>
            <a:endParaRPr lang="en-US" altLang="en-US" dirty="0" smtClean="0">
              <a:latin typeface="Times New Roman" pitchFamily="18" charset="0"/>
            </a:endParaRPr>
          </a:p>
          <a:p>
            <a:r>
              <a:rPr lang="en-US" dirty="0" smtClean="0"/>
              <a:t>For a user to ensure that she is interacting with an authentic web site, she must have the site’s public key. This raises the problem of how the user can get the public key—if it is stored on the web site, the malicious site could supply a different key, and the user would have no way of verifying if the supplied public key is itself authentic. Authentication can be handled by a system of digital certificates, whereby public keys are signed by a certification agency, whose public key is well known. For example, the public keys of the root certification authorities are stored in standard web browsers. A certificate issued by them can be verified by using the stored public keys</a:t>
            </a:r>
          </a:p>
          <a:p>
            <a:endParaRPr lang="en-US" altLang="en-US" dirty="0" smtClean="0">
              <a:latin typeface="Times New Roman" pitchFamily="18" charset="0"/>
            </a:endParaRPr>
          </a:p>
          <a:p>
            <a:endParaRPr lang="en-US" altLang="en-US" dirty="0" smtClean="0">
              <a:latin typeface="Times New Roman" pitchFamily="18" charset="0"/>
            </a:endParaRPr>
          </a:p>
          <a:p>
            <a:r>
              <a:rPr lang="en-US" dirty="0" smtClean="0"/>
              <a:t>A two-level system would place an excessive burden of creating certificates on the root certification authorities, so a multilevel system is used instead, with one or more root certification authorities and a tree of certification authorities below each root. Each authority (other than the root authorities) has a digital certificate issued by its parent.</a:t>
            </a:r>
          </a:p>
          <a:p>
            <a:endParaRPr lang="en-US" altLang="en-US" dirty="0" smtClean="0">
              <a:latin typeface="Times New Roman" pitchFamily="18" charset="0"/>
            </a:endParaRPr>
          </a:p>
          <a:p>
            <a:endParaRPr lang="en-US" altLang="en-US" dirty="0" smtClean="0">
              <a:latin typeface="Times New Roman" pitchFamily="18" charset="0"/>
            </a:endParaRPr>
          </a:p>
          <a:p>
            <a:r>
              <a:rPr lang="en-US" b="1" dirty="0" smtClean="0"/>
              <a:t>Digital certificates are widely used to authenticate web sites to users, to prevent </a:t>
            </a:r>
            <a:r>
              <a:rPr lang="en-US" b="1" dirty="0" err="1" smtClean="0"/>
              <a:t>malicious</a:t>
            </a:r>
            <a:r>
              <a:rPr lang="en-US" b="1" dirty="0" smtClean="0"/>
              <a:t> sites from masquerading as other web sites. In the HTTPS protocol (the secure version of the HTTP protocol), the site provides its digital certificate to the browser, which then displays it to the user. </a:t>
            </a:r>
            <a:r>
              <a:rPr lang="en-US" dirty="0" smtClean="0"/>
              <a:t>If the user accepts the certificate, the browser then uses the provided public key to encrypt data. A malicious site will have access to the certificate, but not the private key, and will thus not be able to decrypt the data sent by the browser. Only the authentic site, which has the corresponding private key, can decrypt the data sent by the browser. We note that public-/private-key encryption and decryption costs are much higher than encryption/decryption costs using symmetric private keys. To reduce encryption costs, HTTPS actually creates a one-time symmetric key after authentication and uses it to encrypt data for the rest of the session. </a:t>
            </a:r>
            <a:endParaRPr lang="en-US" altLang="en-US" dirty="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965576" y="8820150"/>
            <a:ext cx="3032125" cy="463550"/>
          </a:xfrm>
          <a:prstGeom prst="rect">
            <a:avLst/>
          </a:prstGeom>
          <a:noFill/>
          <a:ln w="9525">
            <a:noFill/>
            <a:miter lim="800000"/>
            <a:headEnd/>
            <a:tailEnd/>
          </a:ln>
        </p:spPr>
        <p:txBody>
          <a:bodyPr wrap="none" lIns="93022" tIns="46511" rIns="93022" bIns="46511" anchor="b"/>
          <a:lstStyle/>
          <a:p>
            <a:pPr algn="r" defTabSz="930179"/>
            <a:fld id="{021717B1-B4CD-4A73-8C5B-D41FE6AA90DD}" type="slidenum">
              <a:rPr lang="en-US" altLang="en-US" sz="1200"/>
              <a:pPr algn="r" defTabSz="930179"/>
              <a:t>22</a:t>
            </a:fld>
            <a:endParaRPr lang="en-US" altLang="en-US" sz="1200" dirty="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lvl1pPr>
              <a:defRPr sz="2800"/>
            </a:lvl1pPr>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5"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9.</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mybank.com/transfermoney?amount=1000&amp;toaccount=14523"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joe@yale.edu"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9: Application Development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Outline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7470128" cy="2912725"/>
          </a:xfrm>
        </p:spPr>
        <p:txBody>
          <a:bodyPr lIns="91440"/>
          <a:lstStyle/>
          <a:p>
            <a:r>
              <a:rPr lang="en-US" altLang="en-US" dirty="0" smtClean="0"/>
              <a:t>Application </a:t>
            </a:r>
            <a:r>
              <a:rPr lang="en-US" altLang="en-US" dirty="0"/>
              <a:t>Security</a:t>
            </a:r>
          </a:p>
          <a:p>
            <a:r>
              <a:rPr lang="en-US" altLang="en-US" dirty="0"/>
              <a:t>Encryption and Its Applications</a:t>
            </a:r>
          </a:p>
          <a:p>
            <a:pPr indent="-365760"/>
            <a:endParaRPr lang="en-US" altLang="en-US"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4"/>
          <p:cNvSpPr>
            <a:spLocks noGrp="1" noChangeArrowheads="1"/>
          </p:cNvSpPr>
          <p:nvPr>
            <p:ph type="ctrTitle"/>
          </p:nvPr>
        </p:nvSpPr>
        <p:spPr/>
        <p:txBody>
          <a:bodyPr/>
          <a:lstStyle/>
          <a:p>
            <a:r>
              <a:rPr lang="en-US" altLang="en-US">
                <a:effectLst/>
              </a:rPr>
              <a:t>Application 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Injection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0"/>
            <a:ext cx="8201507" cy="4903787"/>
          </a:xfrm>
        </p:spPr>
        <p:txBody>
          <a:bodyPr lIns="91440"/>
          <a:lstStyle/>
          <a:p>
            <a:r>
              <a:rPr lang="en-US" altLang="en-US" sz="1600" dirty="0"/>
              <a:t>Suppose query is constructed using</a:t>
            </a:r>
          </a:p>
          <a:p>
            <a:pPr lvl="1"/>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a:t>
            </a:r>
          </a:p>
          <a:p>
            <a:r>
              <a:rPr lang="en-US" altLang="en-US" sz="1600" dirty="0"/>
              <a:t>Suppose the user, instead of entering a name, enters:</a:t>
            </a:r>
          </a:p>
          <a:p>
            <a:pPr lvl="1"/>
            <a:r>
              <a:rPr lang="en-US" altLang="en-US" sz="1600" dirty="0">
                <a:ea typeface="ＭＳ Ｐゴシック" pitchFamily="34" charset="-128"/>
              </a:rPr>
              <a:t>X</a:t>
            </a:r>
            <a:r>
              <a:rPr lang="ja-JP" altLang="en-US" sz="1600" dirty="0">
                <a:ea typeface="ＭＳ Ｐゴシック" pitchFamily="34" charset="-128"/>
              </a:rPr>
              <a:t>’</a:t>
            </a:r>
            <a:r>
              <a:rPr lang="en-US" altLang="ja-JP" sz="1600" dirty="0">
                <a:ea typeface="ＭＳ Ｐゴシック" pitchFamily="34" charset="-128"/>
              </a:rPr>
              <a:t> or </a:t>
            </a:r>
            <a:r>
              <a:rPr lang="ja-JP" altLang="en-US" sz="1600" dirty="0">
                <a:ea typeface="ＭＳ Ｐゴシック" pitchFamily="34" charset="-128"/>
              </a:rPr>
              <a:t>’</a:t>
            </a:r>
            <a:r>
              <a:rPr lang="en-US" altLang="ja-JP" sz="1600" dirty="0">
                <a:ea typeface="ＭＳ Ｐゴシック" pitchFamily="34" charset="-128"/>
              </a:rPr>
              <a:t>Y</a:t>
            </a:r>
            <a:r>
              <a:rPr lang="ja-JP" altLang="en-US" sz="1600" dirty="0">
                <a:ea typeface="ＭＳ Ｐゴシック" pitchFamily="34" charset="-128"/>
              </a:rPr>
              <a:t>’</a:t>
            </a:r>
            <a:r>
              <a:rPr lang="en-US" altLang="ja-JP" sz="1600" dirty="0">
                <a:ea typeface="ＭＳ Ｐゴシック" pitchFamily="34" charset="-128"/>
              </a:rPr>
              <a:t> = </a:t>
            </a:r>
            <a:r>
              <a:rPr lang="ja-JP" altLang="en-US" sz="1600" dirty="0">
                <a:ea typeface="ＭＳ Ｐゴシック" pitchFamily="34" charset="-128"/>
              </a:rPr>
              <a:t>’</a:t>
            </a:r>
            <a:r>
              <a:rPr lang="en-US" altLang="ja-JP" sz="1600" dirty="0">
                <a:ea typeface="ＭＳ Ｐゴシック" pitchFamily="34" charset="-128"/>
              </a:rPr>
              <a:t>Y</a:t>
            </a:r>
          </a:p>
          <a:p>
            <a:r>
              <a:rPr lang="en-US" altLang="en-US" sz="1600" dirty="0"/>
              <a:t>then the resulting statement becomes:</a:t>
            </a:r>
          </a:p>
          <a:p>
            <a:pPr lvl="1"/>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"X</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or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a:t>
            </a:r>
          </a:p>
          <a:p>
            <a:pPr lvl="1"/>
            <a:r>
              <a:rPr lang="en-US" altLang="en-US" sz="1600" dirty="0">
                <a:ea typeface="ＭＳ Ｐゴシック" pitchFamily="34" charset="-128"/>
              </a:rPr>
              <a:t>which is:</a:t>
            </a:r>
          </a:p>
          <a:p>
            <a:pPr lvl="2"/>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X</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or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endParaRPr lang="en-US" altLang="ja-JP" sz="1600" dirty="0">
              <a:solidFill>
                <a:srgbClr val="993300"/>
              </a:solidFill>
              <a:ea typeface="ＭＳ Ｐゴシック" pitchFamily="34" charset="-128"/>
            </a:endParaRPr>
          </a:p>
          <a:p>
            <a:pPr lvl="1"/>
            <a:r>
              <a:rPr lang="en-US" altLang="en-US" sz="1600" dirty="0">
                <a:ea typeface="ＭＳ Ｐゴシック" pitchFamily="34" charset="-128"/>
              </a:rPr>
              <a:t>User could have even used</a:t>
            </a:r>
          </a:p>
          <a:p>
            <a:pPr lvl="2"/>
            <a:r>
              <a:rPr lang="en-US" altLang="en-US" sz="1600" dirty="0">
                <a:ea typeface="ＭＳ Ｐゴシック" pitchFamily="34" charset="-128"/>
              </a:rPr>
              <a:t>X</a:t>
            </a:r>
            <a:r>
              <a:rPr lang="ja-JP" altLang="en-US" sz="1600" dirty="0">
                <a:ea typeface="ＭＳ Ｐゴシック" pitchFamily="34" charset="-128"/>
              </a:rPr>
              <a:t>’</a:t>
            </a:r>
            <a:r>
              <a:rPr lang="en-US" altLang="ja-JP" sz="1600" dirty="0">
                <a:ea typeface="ＭＳ Ｐゴシック" pitchFamily="34" charset="-128"/>
              </a:rPr>
              <a:t>; update instructor set salary = salary + 10000; --</a:t>
            </a:r>
          </a:p>
          <a:p>
            <a:r>
              <a:rPr lang="en-US" altLang="en-US" sz="1600" dirty="0"/>
              <a:t>Prepared statement internally uses:</a:t>
            </a:r>
            <a:br>
              <a:rPr lang="en-US" altLang="en-US" sz="1600" dirty="0"/>
            </a:br>
            <a:r>
              <a:rPr lang="en-US" altLang="en-US" sz="1600" dirty="0">
                <a:solidFill>
                  <a:srgbClr val="993300"/>
                </a:solidFill>
              </a:rPr>
              <a:t>"select * from instructor where name = </a:t>
            </a:r>
            <a:r>
              <a:rPr lang="ja-JP" altLang="en-US" sz="1600" dirty="0">
                <a:solidFill>
                  <a:srgbClr val="993300"/>
                </a:solidFill>
              </a:rPr>
              <a:t>’</a:t>
            </a:r>
            <a:r>
              <a:rPr lang="en-US" altLang="ja-JP" sz="1600" dirty="0">
                <a:solidFill>
                  <a:srgbClr val="993300"/>
                </a:solidFill>
              </a:rPr>
              <a:t>X\</a:t>
            </a:r>
            <a:r>
              <a:rPr lang="ja-JP" altLang="en-US" sz="1600" dirty="0">
                <a:solidFill>
                  <a:srgbClr val="993300"/>
                </a:solidFill>
              </a:rPr>
              <a:t>’</a:t>
            </a:r>
            <a:r>
              <a:rPr lang="en-US" altLang="ja-JP" sz="1600" dirty="0">
                <a:solidFill>
                  <a:srgbClr val="993300"/>
                </a:solidFill>
              </a:rPr>
              <a:t> or \</a:t>
            </a:r>
            <a:r>
              <a:rPr lang="ja-JP" altLang="en-US" sz="1600" dirty="0">
                <a:solidFill>
                  <a:srgbClr val="993300"/>
                </a:solidFill>
              </a:rPr>
              <a:t>’</a:t>
            </a:r>
            <a:r>
              <a:rPr lang="en-US" altLang="ja-JP" sz="1600" dirty="0">
                <a:solidFill>
                  <a:srgbClr val="993300"/>
                </a:solidFill>
              </a:rPr>
              <a:t>Y\</a:t>
            </a:r>
            <a:r>
              <a:rPr lang="ja-JP" altLang="en-US" sz="1600" dirty="0">
                <a:solidFill>
                  <a:srgbClr val="993300"/>
                </a:solidFill>
              </a:rPr>
              <a:t>’</a:t>
            </a:r>
            <a:r>
              <a:rPr lang="en-US" altLang="ja-JP" sz="1600" dirty="0">
                <a:solidFill>
                  <a:srgbClr val="993300"/>
                </a:solidFill>
              </a:rPr>
              <a:t> = \</a:t>
            </a:r>
            <a:r>
              <a:rPr lang="ja-JP" altLang="en-US" sz="1600" dirty="0">
                <a:solidFill>
                  <a:srgbClr val="993300"/>
                </a:solidFill>
              </a:rPr>
              <a:t>’</a:t>
            </a:r>
            <a:r>
              <a:rPr lang="en-US" altLang="ja-JP" sz="1600" dirty="0">
                <a:solidFill>
                  <a:srgbClr val="993300"/>
                </a:solidFill>
              </a:rPr>
              <a:t>Y</a:t>
            </a:r>
            <a:r>
              <a:rPr lang="ja-JP" altLang="en-US" sz="1600" dirty="0">
                <a:solidFill>
                  <a:srgbClr val="993300"/>
                </a:solidFill>
              </a:rPr>
              <a:t>’</a:t>
            </a:r>
            <a:endParaRPr lang="en-US" altLang="ja-JP" sz="1600" dirty="0">
              <a:solidFill>
                <a:srgbClr val="993300"/>
              </a:solidFill>
            </a:endParaRPr>
          </a:p>
          <a:p>
            <a:r>
              <a:rPr lang="en-US" altLang="en-US" sz="1600" b="1" dirty="0">
                <a:solidFill>
                  <a:srgbClr val="002060"/>
                </a:solidFill>
              </a:rPr>
              <a:t>Always use prepared statements, with user inputs as parameters</a:t>
            </a:r>
          </a:p>
          <a:p>
            <a:r>
              <a:rPr lang="en-US" altLang="en-US" sz="1600" dirty="0"/>
              <a:t>Is the following prepared </a:t>
            </a:r>
            <a:r>
              <a:rPr lang="en-US" altLang="en-US" sz="1600" dirty="0" err="1"/>
              <a:t>statemen</a:t>
            </a:r>
            <a:r>
              <a:rPr lang="en-US" altLang="en-US" sz="1600" dirty="0"/>
              <a:t> secure? </a:t>
            </a:r>
          </a:p>
          <a:p>
            <a:pPr lvl="1"/>
            <a:r>
              <a:rPr lang="en-US" altLang="en-US" sz="1600" dirty="0" err="1">
                <a:solidFill>
                  <a:srgbClr val="993300"/>
                </a:solidFill>
                <a:ea typeface="ＭＳ Ｐゴシック" pitchFamily="34" charset="-128"/>
              </a:rPr>
              <a:t>conn.prepareStatement</a:t>
            </a:r>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a:t>
            </a:r>
          </a:p>
          <a:p>
            <a:pPr indent="-365760"/>
            <a:endParaRPr lang="en-US" altLang="en-US"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effectLst/>
              </a:rPr>
              <a:t>Cross Site Scripting</a:t>
            </a:r>
          </a:p>
        </p:txBody>
      </p:sp>
      <p:sp>
        <p:nvSpPr>
          <p:cNvPr id="47107" name="Rectangle 3"/>
          <p:cNvSpPr>
            <a:spLocks noGrp="1" noChangeArrowheads="1"/>
          </p:cNvSpPr>
          <p:nvPr>
            <p:ph type="body" idx="1"/>
          </p:nvPr>
        </p:nvSpPr>
        <p:spPr>
          <a:xfrm>
            <a:off x="768350" y="1129884"/>
            <a:ext cx="7532271" cy="4934033"/>
          </a:xfrm>
        </p:spPr>
        <p:txBody>
          <a:bodyPr/>
          <a:lstStyle/>
          <a:p>
            <a:pPr>
              <a:lnSpc>
                <a:spcPct val="90000"/>
              </a:lnSpc>
            </a:pPr>
            <a:r>
              <a:rPr lang="en-US" altLang="en-US" dirty="0"/>
              <a:t>HTML code on one page executes action on another page</a:t>
            </a:r>
          </a:p>
          <a:p>
            <a:pPr lvl="1">
              <a:lnSpc>
                <a:spcPct val="90000"/>
              </a:lnSpc>
            </a:pPr>
            <a:r>
              <a:rPr lang="en-US" altLang="en-US" dirty="0">
                <a:ea typeface="ＭＳ Ｐゴシック" pitchFamily="34" charset="-128"/>
              </a:rPr>
              <a:t>E.g.,  &lt;</a:t>
            </a:r>
            <a:r>
              <a:rPr lang="en-US" altLang="en-US" dirty="0" err="1">
                <a:ea typeface="ＭＳ Ｐゴシック" pitchFamily="34" charset="-128"/>
              </a:rPr>
              <a:t>img</a:t>
            </a:r>
            <a:r>
              <a:rPr lang="en-US" altLang="en-US" dirty="0">
                <a:ea typeface="ＭＳ Ｐゴシック" pitchFamily="34" charset="-128"/>
              </a:rPr>
              <a:t> </a:t>
            </a:r>
            <a:r>
              <a:rPr lang="en-US" altLang="en-US" dirty="0" err="1">
                <a:ea typeface="ＭＳ Ｐゴシック" pitchFamily="34" charset="-128"/>
              </a:rPr>
              <a:t>src</a:t>
            </a:r>
            <a:r>
              <a:rPr lang="en-US" altLang="en-US" dirty="0">
                <a:ea typeface="ＭＳ Ｐゴシック" pitchFamily="34" charset="-128"/>
              </a:rPr>
              <a:t> = </a:t>
            </a:r>
            <a:r>
              <a:rPr lang="en-US" altLang="en-US" dirty="0">
                <a:ea typeface="ＭＳ Ｐゴシック" pitchFamily="34" charset="-128"/>
                <a:hlinkClick r:id="rId3"/>
              </a:rPr>
              <a:t>http://mybank.com/transfermoney?amount=1000&amp;toaccount=14523</a:t>
            </a:r>
            <a:r>
              <a:rPr lang="en-US" altLang="en-US" dirty="0">
                <a:ea typeface="ＭＳ Ｐゴシック" pitchFamily="34" charset="-128"/>
              </a:rPr>
              <a:t>&gt;</a:t>
            </a:r>
          </a:p>
          <a:p>
            <a:pPr lvl="1">
              <a:lnSpc>
                <a:spcPct val="90000"/>
              </a:lnSpc>
            </a:pPr>
            <a:r>
              <a:rPr lang="en-US" altLang="en-US" dirty="0">
                <a:ea typeface="ＭＳ Ｐゴシック" pitchFamily="34" charset="-128"/>
              </a:rPr>
              <a:t>Risk: if user viewing page with above code is currently logged into </a:t>
            </a:r>
            <a:r>
              <a:rPr lang="en-US" altLang="en-US" dirty="0" err="1">
                <a:ea typeface="ＭＳ Ｐゴシック" pitchFamily="34" charset="-128"/>
              </a:rPr>
              <a:t>mybank</a:t>
            </a:r>
            <a:r>
              <a:rPr lang="en-US" altLang="en-US" dirty="0">
                <a:ea typeface="ＭＳ Ｐゴシック" pitchFamily="34" charset="-128"/>
              </a:rPr>
              <a:t>, the transfer may succeed</a:t>
            </a:r>
          </a:p>
          <a:p>
            <a:pPr lvl="1">
              <a:lnSpc>
                <a:spcPct val="90000"/>
              </a:lnSpc>
            </a:pPr>
            <a:r>
              <a:rPr lang="en-US" altLang="en-US" dirty="0">
                <a:ea typeface="ＭＳ Ｐゴシック" pitchFamily="34" charset="-128"/>
              </a:rPr>
              <a:t>Above example simplistic, since GET method is normally not used for updates, but if the code were instead a script, it could execute POST methods</a:t>
            </a:r>
          </a:p>
          <a:p>
            <a:pPr>
              <a:lnSpc>
                <a:spcPct val="90000"/>
              </a:lnSpc>
            </a:pPr>
            <a:r>
              <a:rPr lang="en-US" altLang="en-US" dirty="0"/>
              <a:t>Above vulnerability called </a:t>
            </a:r>
            <a:r>
              <a:rPr lang="en-US" altLang="en-US" b="1" dirty="0">
                <a:solidFill>
                  <a:srgbClr val="002060"/>
                </a:solidFill>
              </a:rPr>
              <a:t>cross-site scripting (XSS)</a:t>
            </a:r>
            <a:r>
              <a:rPr lang="en-US" altLang="en-US" dirty="0">
                <a:solidFill>
                  <a:srgbClr val="002060"/>
                </a:solidFill>
              </a:rPr>
              <a:t> </a:t>
            </a:r>
            <a:r>
              <a:rPr lang="en-US" altLang="en-US" dirty="0"/>
              <a:t>or </a:t>
            </a:r>
            <a:r>
              <a:rPr lang="en-US" altLang="en-US" b="1" dirty="0">
                <a:solidFill>
                  <a:srgbClr val="002060"/>
                </a:solidFill>
              </a:rPr>
              <a:t>cross-site request forgery (XSRF or CSRF)</a:t>
            </a:r>
          </a:p>
          <a:p>
            <a:pPr>
              <a:lnSpc>
                <a:spcPct val="90000"/>
              </a:lnSpc>
            </a:pPr>
            <a:r>
              <a:rPr lang="en-US" altLang="en-US" b="1" dirty="0"/>
              <a:t>Prevent your web site from being used to launch XSS or XSRF attacks</a:t>
            </a:r>
          </a:p>
          <a:p>
            <a:pPr lvl="1">
              <a:lnSpc>
                <a:spcPct val="90000"/>
              </a:lnSpc>
            </a:pPr>
            <a:r>
              <a:rPr lang="en-US" altLang="en-US" dirty="0">
                <a:ea typeface="ＭＳ Ｐゴシック" pitchFamily="34" charset="-128"/>
              </a:rPr>
              <a:t>Disallow HTML tags in text input provided by users, using functions to detect and strip such tags</a:t>
            </a:r>
          </a:p>
          <a:p>
            <a:pPr>
              <a:lnSpc>
                <a:spcPct val="90000"/>
              </a:lnSpc>
            </a:pPr>
            <a:r>
              <a:rPr lang="en-US" altLang="en-US" b="1" dirty="0"/>
              <a:t>Protect your web site from XSS/XSRF attacks launched from other sites</a:t>
            </a:r>
          </a:p>
          <a:p>
            <a:pPr lvl="1">
              <a:lnSpc>
                <a:spcPct val="90000"/>
              </a:lnSpc>
            </a:pPr>
            <a:r>
              <a:rPr lang="en-US" altLang="en-US" dirty="0">
                <a:ea typeface="ＭＳ Ｐゴシック" pitchFamily="34" charset="-128"/>
              </a:rPr>
              <a:t>..next slide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effectLst/>
              </a:rPr>
              <a:t>Cross Site Scripting</a:t>
            </a:r>
          </a:p>
        </p:txBody>
      </p:sp>
      <p:sp>
        <p:nvSpPr>
          <p:cNvPr id="48131" name="Rectangle 3"/>
          <p:cNvSpPr>
            <a:spLocks noGrp="1" noChangeArrowheads="1"/>
          </p:cNvSpPr>
          <p:nvPr>
            <p:ph type="body" idx="1"/>
          </p:nvPr>
        </p:nvSpPr>
        <p:spPr>
          <a:xfrm>
            <a:off x="1118586" y="1704513"/>
            <a:ext cx="7261934" cy="3553287"/>
          </a:xfrm>
        </p:spPr>
        <p:txBody>
          <a:bodyPr/>
          <a:lstStyle/>
          <a:p>
            <a:r>
              <a:rPr lang="en-US" altLang="en-US" dirty="0">
                <a:ea typeface="ＭＳ Ｐゴシック" pitchFamily="34" charset="-128"/>
              </a:rPr>
              <a:t>Use </a:t>
            </a:r>
            <a:r>
              <a:rPr lang="en-US" altLang="en-US" b="1" dirty="0" err="1">
                <a:ea typeface="ＭＳ Ｐゴシック" pitchFamily="34" charset="-128"/>
              </a:rPr>
              <a:t>referer</a:t>
            </a:r>
            <a:r>
              <a:rPr lang="en-US" altLang="en-US" b="1" dirty="0">
                <a:ea typeface="ＭＳ Ｐゴシック" pitchFamily="34" charset="-128"/>
              </a:rPr>
              <a:t> </a:t>
            </a:r>
            <a:r>
              <a:rPr lang="en-US" altLang="en-US" dirty="0">
                <a:ea typeface="ＭＳ Ｐゴシック" pitchFamily="34" charset="-128"/>
              </a:rPr>
              <a:t>value (URL of page from where a link was clicked) provided by the HTTP protocol, to check that the link was followed from a valid page served from same site, not another site</a:t>
            </a:r>
          </a:p>
          <a:p>
            <a:r>
              <a:rPr lang="en-US" altLang="en-US" dirty="0">
                <a:ea typeface="ＭＳ Ｐゴシック" pitchFamily="34" charset="-128"/>
              </a:rPr>
              <a:t>Ensure IP of request is same as IP from where the user was authenticated</a:t>
            </a:r>
          </a:p>
          <a:p>
            <a:pPr lvl="1"/>
            <a:r>
              <a:rPr lang="en-US" altLang="en-US" dirty="0">
                <a:ea typeface="ＭＳ Ｐゴシック" pitchFamily="34" charset="-128"/>
              </a:rPr>
              <a:t>Prevents hijacking of cookie by malicious user</a:t>
            </a:r>
          </a:p>
          <a:p>
            <a:r>
              <a:rPr lang="en-US" altLang="en-US" dirty="0">
                <a:ea typeface="ＭＳ Ｐゴシック" pitchFamily="34" charset="-128"/>
              </a:rPr>
              <a:t>Never use a GET method to perform any updates</a:t>
            </a:r>
          </a:p>
          <a:p>
            <a:pPr lvl="1"/>
            <a:r>
              <a:rPr lang="en-US" altLang="en-US" dirty="0">
                <a:ea typeface="ＭＳ Ｐゴシック" pitchFamily="34" charset="-128"/>
              </a:rPr>
              <a:t>This is actually recommended by HTTP standard</a:t>
            </a:r>
          </a:p>
          <a:p>
            <a:endParaRPr lang="en-US" altLang="en-US" b="1" dirty="0">
              <a:ea typeface="ＭＳ Ｐゴシック" pitchFamily="34" charset="-128"/>
            </a:endParaRPr>
          </a:p>
          <a:p>
            <a:endParaRPr lang="en-US" altLang="en-US" dirty="0"/>
          </a:p>
        </p:txBody>
      </p:sp>
      <p:sp>
        <p:nvSpPr>
          <p:cNvPr id="2" name="TextBox 1"/>
          <p:cNvSpPr txBox="1"/>
          <p:nvPr/>
        </p:nvSpPr>
        <p:spPr>
          <a:xfrm>
            <a:off x="768350" y="1234446"/>
            <a:ext cx="7328903" cy="353943"/>
          </a:xfrm>
          <a:prstGeom prst="rect">
            <a:avLst/>
          </a:prstGeom>
          <a:noFill/>
        </p:spPr>
        <p:txBody>
          <a:bodyPr wrap="square" rtlCol="0">
            <a:spAutoFit/>
          </a:bodyPr>
          <a:lstStyle/>
          <a:p>
            <a:r>
              <a:rPr lang="en-US" altLang="en-US" sz="1700" dirty="0"/>
              <a:t>Protect your web site from XSS/XSRF attacks launched from other sites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effectLst/>
              </a:rPr>
              <a:t>Password Leakage</a:t>
            </a:r>
          </a:p>
        </p:txBody>
      </p:sp>
      <p:sp>
        <p:nvSpPr>
          <p:cNvPr id="49155" name="Rectangle 3"/>
          <p:cNvSpPr>
            <a:spLocks noGrp="1" noChangeArrowheads="1"/>
          </p:cNvSpPr>
          <p:nvPr>
            <p:ph type="body" idx="1"/>
          </p:nvPr>
        </p:nvSpPr>
        <p:spPr>
          <a:xfrm>
            <a:off x="768350" y="1117852"/>
            <a:ext cx="7521409" cy="2816473"/>
          </a:xfrm>
        </p:spPr>
        <p:txBody>
          <a:bodyPr/>
          <a:lstStyle/>
          <a:p>
            <a:r>
              <a:rPr lang="en-US" altLang="en-US" dirty="0"/>
              <a:t>Never store passwords, such as database passwords, in clear text in scripts that may be accessible to users</a:t>
            </a:r>
          </a:p>
          <a:p>
            <a:pPr lvl="1"/>
            <a:r>
              <a:rPr lang="en-US" altLang="en-US" dirty="0">
                <a:ea typeface="ＭＳ Ｐゴシック" pitchFamily="34" charset="-128"/>
              </a:rPr>
              <a:t>E.g., in files in a directory accessible to a web server</a:t>
            </a:r>
          </a:p>
          <a:p>
            <a:pPr lvl="2"/>
            <a:r>
              <a:rPr lang="en-US" altLang="en-US" dirty="0">
                <a:ea typeface="ＭＳ Ｐゴシック" pitchFamily="34" charset="-128"/>
              </a:rPr>
              <a:t>Normally, web server will execute, but not provide source of script files such as </a:t>
            </a:r>
            <a:r>
              <a:rPr lang="en-US" altLang="en-US" dirty="0" err="1">
                <a:ea typeface="ＭＳ Ｐゴシック" pitchFamily="34" charset="-128"/>
              </a:rPr>
              <a:t>file.jsp</a:t>
            </a:r>
            <a:r>
              <a:rPr lang="en-US" altLang="en-US" dirty="0">
                <a:ea typeface="ＭＳ Ｐゴシック" pitchFamily="34" charset="-128"/>
              </a:rPr>
              <a:t> or </a:t>
            </a:r>
            <a:r>
              <a:rPr lang="en-US" altLang="en-US" dirty="0" err="1">
                <a:ea typeface="ＭＳ Ｐゴシック" pitchFamily="34" charset="-128"/>
              </a:rPr>
              <a:t>file.php</a:t>
            </a:r>
            <a:r>
              <a:rPr lang="en-US" altLang="en-US" dirty="0">
                <a:ea typeface="ＭＳ Ｐゴシック" pitchFamily="34" charset="-128"/>
              </a:rPr>
              <a:t>, but source of editor backup files such as </a:t>
            </a:r>
            <a:r>
              <a:rPr lang="en-US" altLang="en-US" dirty="0" err="1">
                <a:ea typeface="ＭＳ Ｐゴシック" pitchFamily="34" charset="-128"/>
              </a:rPr>
              <a:t>file.jsp</a:t>
            </a:r>
            <a:r>
              <a:rPr lang="en-US" altLang="en-US" dirty="0">
                <a:ea typeface="ＭＳ Ｐゴシック" pitchFamily="34" charset="-128"/>
              </a:rPr>
              <a:t>~, or .</a:t>
            </a:r>
            <a:r>
              <a:rPr lang="en-US" altLang="en-US" dirty="0" err="1">
                <a:ea typeface="ＭＳ Ｐゴシック" pitchFamily="34" charset="-128"/>
              </a:rPr>
              <a:t>file.jsp.swp</a:t>
            </a:r>
            <a:r>
              <a:rPr lang="en-US" altLang="en-US" dirty="0">
                <a:ea typeface="ＭＳ Ｐゴシック" pitchFamily="34" charset="-128"/>
              </a:rPr>
              <a:t> may be served </a:t>
            </a:r>
          </a:p>
          <a:p>
            <a:r>
              <a:rPr lang="en-US" altLang="en-US" dirty="0"/>
              <a:t>Restrict access to database server from IPs of machines running application servers</a:t>
            </a:r>
          </a:p>
          <a:p>
            <a:pPr lvl="1"/>
            <a:r>
              <a:rPr lang="en-US" altLang="en-US" dirty="0">
                <a:ea typeface="ＭＳ Ｐゴシック" pitchFamily="34" charset="-128"/>
              </a:rPr>
              <a:t>Most databases allow restriction of access by source IP address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effectLst/>
              </a:rPr>
              <a:t>Application Authentication</a:t>
            </a:r>
          </a:p>
        </p:txBody>
      </p:sp>
      <p:sp>
        <p:nvSpPr>
          <p:cNvPr id="50179" name="Rectangle 3"/>
          <p:cNvSpPr>
            <a:spLocks noGrp="1" noChangeArrowheads="1"/>
          </p:cNvSpPr>
          <p:nvPr>
            <p:ph type="body" idx="1"/>
          </p:nvPr>
        </p:nvSpPr>
        <p:spPr>
          <a:xfrm>
            <a:off x="768350" y="1093788"/>
            <a:ext cx="7647681" cy="4903787"/>
          </a:xfrm>
        </p:spPr>
        <p:txBody>
          <a:bodyPr/>
          <a:lstStyle/>
          <a:p>
            <a:r>
              <a:rPr lang="en-US" altLang="en-US" dirty="0"/>
              <a:t>Single factor authentication such as passwords too risky for critical applications</a:t>
            </a:r>
          </a:p>
          <a:p>
            <a:pPr lvl="1"/>
            <a:r>
              <a:rPr lang="en-US" altLang="en-US" dirty="0">
                <a:ea typeface="ＭＳ Ｐゴシック" pitchFamily="34" charset="-128"/>
              </a:rPr>
              <a:t>Guessing of passwords, sniffing of packets if passwords are not encrypted</a:t>
            </a:r>
          </a:p>
          <a:p>
            <a:pPr lvl="1"/>
            <a:r>
              <a:rPr lang="en-US" altLang="en-US" dirty="0">
                <a:ea typeface="ＭＳ Ｐゴシック" pitchFamily="34" charset="-128"/>
              </a:rPr>
              <a:t>Passwords reused by user across sites</a:t>
            </a:r>
          </a:p>
          <a:p>
            <a:pPr lvl="1"/>
            <a:r>
              <a:rPr lang="en-US" altLang="en-US" dirty="0">
                <a:ea typeface="ＭＳ Ｐゴシック" pitchFamily="34" charset="-128"/>
              </a:rPr>
              <a:t>Spyware which captures password</a:t>
            </a:r>
          </a:p>
          <a:p>
            <a:r>
              <a:rPr lang="en-US" altLang="en-US" dirty="0"/>
              <a:t>Two-factor authentication</a:t>
            </a:r>
          </a:p>
          <a:p>
            <a:pPr lvl="1"/>
            <a:r>
              <a:rPr lang="en-US" altLang="en-US" dirty="0">
                <a:ea typeface="ＭＳ Ｐゴシック" pitchFamily="34" charset="-128"/>
              </a:rPr>
              <a:t>E.g., password plus one-time password sent by SMS</a:t>
            </a:r>
          </a:p>
          <a:p>
            <a:pPr lvl="1"/>
            <a:r>
              <a:rPr lang="en-US" altLang="en-US" dirty="0">
                <a:ea typeface="ＭＳ Ｐゴシック" pitchFamily="34" charset="-128"/>
              </a:rPr>
              <a:t>E.g., password plus one-time password devices</a:t>
            </a:r>
          </a:p>
          <a:p>
            <a:pPr lvl="2"/>
            <a:r>
              <a:rPr lang="en-US" altLang="en-US" dirty="0">
                <a:ea typeface="ＭＳ Ｐゴシック" pitchFamily="34" charset="-128"/>
              </a:rPr>
              <a:t>Device generates a new pseudo-random number every minute, and displays to user</a:t>
            </a:r>
          </a:p>
          <a:p>
            <a:pPr lvl="2"/>
            <a:r>
              <a:rPr lang="en-US" altLang="en-US" dirty="0">
                <a:ea typeface="ＭＳ Ｐゴシック" pitchFamily="34" charset="-128"/>
              </a:rPr>
              <a:t>User enters the current number as password</a:t>
            </a:r>
          </a:p>
          <a:p>
            <a:pPr lvl="2"/>
            <a:r>
              <a:rPr lang="en-US" altLang="en-US" dirty="0">
                <a:ea typeface="ＭＳ Ｐゴシック" pitchFamily="34" charset="-128"/>
              </a:rPr>
              <a:t>Application server generates same sequence of pseudo-random numbers to check that the number is correct.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effectLst/>
              </a:rPr>
              <a:t>Application Authentication</a:t>
            </a:r>
          </a:p>
        </p:txBody>
      </p:sp>
      <p:sp>
        <p:nvSpPr>
          <p:cNvPr id="51203" name="Rectangle 3"/>
          <p:cNvSpPr>
            <a:spLocks noGrp="1" noChangeArrowheads="1"/>
          </p:cNvSpPr>
          <p:nvPr>
            <p:ph type="body" idx="1"/>
          </p:nvPr>
        </p:nvSpPr>
        <p:spPr>
          <a:xfrm>
            <a:off x="768350" y="1093788"/>
            <a:ext cx="7700947" cy="4007601"/>
          </a:xfrm>
        </p:spPr>
        <p:txBody>
          <a:bodyPr/>
          <a:lstStyle/>
          <a:p>
            <a:r>
              <a:rPr lang="en-US" altLang="en-US" b="1" dirty="0">
                <a:solidFill>
                  <a:srgbClr val="002060"/>
                </a:solidFill>
              </a:rPr>
              <a:t>Man-in-the-middle</a:t>
            </a:r>
            <a:r>
              <a:rPr lang="en-US" altLang="en-US" dirty="0"/>
              <a:t> attack</a:t>
            </a:r>
          </a:p>
          <a:p>
            <a:pPr lvl="1"/>
            <a:r>
              <a:rPr lang="en-US" altLang="en-US" dirty="0">
                <a:ea typeface="ＭＳ Ｐゴシック" pitchFamily="34" charset="-128"/>
              </a:rPr>
              <a:t>E.g., web site that pretends to be mybank.com, and passes on requests from user to mybank.com, and passes results back to user</a:t>
            </a:r>
          </a:p>
          <a:p>
            <a:pPr lvl="1"/>
            <a:r>
              <a:rPr lang="en-US" altLang="en-US" dirty="0">
                <a:ea typeface="ＭＳ Ｐゴシック" pitchFamily="34" charset="-128"/>
              </a:rPr>
              <a:t>Even two-factor authentication cannot prevent such attacks</a:t>
            </a:r>
          </a:p>
          <a:p>
            <a:r>
              <a:rPr lang="en-US" altLang="en-US" dirty="0"/>
              <a:t>Solution: authenticate Web site to user, using digital certificates, along with secure http protocol</a:t>
            </a:r>
          </a:p>
          <a:p>
            <a:r>
              <a:rPr lang="en-US" altLang="en-US" b="1" dirty="0">
                <a:solidFill>
                  <a:srgbClr val="002060"/>
                </a:solidFill>
              </a:rPr>
              <a:t>Central authentication</a:t>
            </a:r>
            <a:r>
              <a:rPr lang="en-US" altLang="en-US" dirty="0">
                <a:solidFill>
                  <a:srgbClr val="002060"/>
                </a:solidFill>
              </a:rPr>
              <a:t> </a:t>
            </a:r>
            <a:r>
              <a:rPr lang="en-US" altLang="en-US" dirty="0"/>
              <a:t>within an organization</a:t>
            </a:r>
          </a:p>
          <a:p>
            <a:pPr lvl="1"/>
            <a:r>
              <a:rPr lang="en-US" altLang="en-US" dirty="0">
                <a:ea typeface="ＭＳ Ｐゴシック" pitchFamily="34" charset="-128"/>
              </a:rPr>
              <a:t>Application redirects to central authentication service for authentication</a:t>
            </a:r>
          </a:p>
          <a:p>
            <a:pPr lvl="1"/>
            <a:r>
              <a:rPr lang="en-US" altLang="en-US" dirty="0">
                <a:ea typeface="ＭＳ Ｐゴシック" pitchFamily="34" charset="-128"/>
              </a:rPr>
              <a:t>Avoids multiplicity of sites having access to user</a:t>
            </a:r>
            <a:r>
              <a:rPr lang="ja-JP" altLang="en-US" dirty="0">
                <a:ea typeface="ＭＳ Ｐゴシック" pitchFamily="34" charset="-128"/>
              </a:rPr>
              <a:t>’</a:t>
            </a:r>
            <a:r>
              <a:rPr lang="en-US" altLang="ja-JP" dirty="0">
                <a:ea typeface="ＭＳ Ｐゴシック" pitchFamily="34" charset="-128"/>
              </a:rPr>
              <a:t>s password</a:t>
            </a:r>
          </a:p>
          <a:p>
            <a:pPr lvl="1"/>
            <a:r>
              <a:rPr lang="en-US" altLang="en-US" dirty="0">
                <a:ea typeface="ＭＳ Ｐゴシック" pitchFamily="34" charset="-128"/>
              </a:rPr>
              <a:t>LDAP or Active Directory used for authentication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effectLst/>
              </a:rPr>
              <a:t>Single Sign-On</a:t>
            </a:r>
          </a:p>
        </p:txBody>
      </p:sp>
      <p:sp>
        <p:nvSpPr>
          <p:cNvPr id="52227" name="Rectangle 3"/>
          <p:cNvSpPr>
            <a:spLocks noGrp="1" noChangeArrowheads="1"/>
          </p:cNvSpPr>
          <p:nvPr>
            <p:ph type="body" idx="1"/>
          </p:nvPr>
        </p:nvSpPr>
        <p:spPr>
          <a:xfrm>
            <a:off x="768350" y="1095108"/>
            <a:ext cx="7692069" cy="4475513"/>
          </a:xfrm>
        </p:spPr>
        <p:txBody>
          <a:bodyPr/>
          <a:lstStyle/>
          <a:p>
            <a:r>
              <a:rPr lang="en-US" altLang="en-US" b="1" dirty="0">
                <a:solidFill>
                  <a:srgbClr val="002060"/>
                </a:solidFill>
              </a:rPr>
              <a:t>Single sign-on </a:t>
            </a:r>
            <a:r>
              <a:rPr lang="en-US" altLang="en-US" dirty="0"/>
              <a:t>allows user to be authenticated once, and applications can communicate with authentication service to verify user</a:t>
            </a:r>
            <a:r>
              <a:rPr lang="ja-JP" altLang="en-US" dirty="0"/>
              <a:t>’</a:t>
            </a:r>
            <a:r>
              <a:rPr lang="en-US" altLang="ja-JP" dirty="0"/>
              <a:t>s identity without repeatedly entering passwords</a:t>
            </a:r>
            <a:endParaRPr lang="en-US" altLang="ja-JP" b="1" dirty="0">
              <a:solidFill>
                <a:srgbClr val="000099"/>
              </a:solidFill>
            </a:endParaRPr>
          </a:p>
          <a:p>
            <a:r>
              <a:rPr lang="en-US" altLang="en-US" b="1" dirty="0">
                <a:solidFill>
                  <a:srgbClr val="002060"/>
                </a:solidFill>
              </a:rPr>
              <a:t>Security Assertion Markup Language (SAML)</a:t>
            </a:r>
            <a:r>
              <a:rPr lang="en-US" altLang="en-US" dirty="0">
                <a:solidFill>
                  <a:srgbClr val="002060"/>
                </a:solidFill>
              </a:rPr>
              <a:t> </a:t>
            </a:r>
            <a:r>
              <a:rPr lang="en-US" altLang="en-US" dirty="0"/>
              <a:t>standard for exchanging authentication and authorization information across security domains</a:t>
            </a:r>
          </a:p>
          <a:p>
            <a:pPr lvl="1"/>
            <a:r>
              <a:rPr lang="en-US" altLang="en-US" dirty="0">
                <a:ea typeface="ＭＳ Ｐゴシック" pitchFamily="34" charset="-128"/>
              </a:rPr>
              <a:t>E.g., user from Yale signs on to external application such as acm.org using </a:t>
            </a:r>
            <a:r>
              <a:rPr lang="en-US" altLang="en-US" dirty="0" err="1">
                <a:ea typeface="ＭＳ Ｐゴシック" pitchFamily="34" charset="-128"/>
              </a:rPr>
              <a:t>userid</a:t>
            </a:r>
            <a:r>
              <a:rPr lang="en-US" altLang="en-US" dirty="0">
                <a:ea typeface="ＭＳ Ｐゴシック" pitchFamily="34" charset="-128"/>
              </a:rPr>
              <a:t> </a:t>
            </a:r>
            <a:r>
              <a:rPr lang="en-US" altLang="en-US" dirty="0">
                <a:ea typeface="ＭＳ Ｐゴシック" pitchFamily="34" charset="-128"/>
                <a:hlinkClick r:id="rId3"/>
              </a:rPr>
              <a:t>joe@yale.edu</a:t>
            </a:r>
            <a:endParaRPr lang="en-US" altLang="en-US" dirty="0">
              <a:ea typeface="ＭＳ Ｐゴシック" pitchFamily="34" charset="-128"/>
            </a:endParaRPr>
          </a:p>
          <a:p>
            <a:pPr lvl="1"/>
            <a:r>
              <a:rPr lang="en-US" altLang="en-US" dirty="0">
                <a:ea typeface="ＭＳ Ｐゴシック" pitchFamily="34" charset="-128"/>
              </a:rPr>
              <a:t>Application communicates with Web-based authentication service at Yale to authenticate user, and find what the user is authorized to do by Yale (e.g., access certain journals)</a:t>
            </a:r>
          </a:p>
          <a:p>
            <a:r>
              <a:rPr lang="en-US" altLang="en-US" b="1" dirty="0">
                <a:solidFill>
                  <a:srgbClr val="002060"/>
                </a:solidFill>
              </a:rPr>
              <a:t>OpenID</a:t>
            </a:r>
            <a:r>
              <a:rPr lang="en-US" altLang="en-US" dirty="0"/>
              <a:t> standard allows sharing of authentication across organizations</a:t>
            </a:r>
          </a:p>
          <a:p>
            <a:pPr lvl="1"/>
            <a:r>
              <a:rPr lang="en-US" altLang="en-US" dirty="0">
                <a:ea typeface="ＭＳ Ｐゴシック" pitchFamily="34" charset="-128"/>
              </a:rPr>
              <a:t>E.g., application allows user to choose Yahoo! as OpenID authentication provider, and redirects user to Yahoo! for authentication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effectLst/>
              </a:rPr>
              <a:t>Application-Level Authorization</a:t>
            </a:r>
          </a:p>
        </p:txBody>
      </p:sp>
      <p:sp>
        <p:nvSpPr>
          <p:cNvPr id="53251" name="Rectangle 3"/>
          <p:cNvSpPr>
            <a:spLocks noGrp="1" noChangeArrowheads="1"/>
          </p:cNvSpPr>
          <p:nvPr>
            <p:ph type="body" idx="1"/>
          </p:nvPr>
        </p:nvSpPr>
        <p:spPr>
          <a:xfrm>
            <a:off x="768350" y="1093788"/>
            <a:ext cx="7617661" cy="4428707"/>
          </a:xfrm>
        </p:spPr>
        <p:txBody>
          <a:bodyPr/>
          <a:lstStyle/>
          <a:p>
            <a:r>
              <a:rPr lang="en-US" altLang="en-US" dirty="0"/>
              <a:t>Current SQL standard does not allow fine-grained authorization such as </a:t>
            </a:r>
            <a:r>
              <a:rPr lang="ja-JP" altLang="en-US" dirty="0"/>
              <a:t>“</a:t>
            </a:r>
            <a:r>
              <a:rPr lang="en-US" altLang="ja-JP" dirty="0"/>
              <a:t>students can see their own grades, but not other</a:t>
            </a:r>
            <a:r>
              <a:rPr lang="ja-JP" altLang="en-US" dirty="0"/>
              <a:t>’</a:t>
            </a:r>
            <a:r>
              <a:rPr lang="en-US" altLang="ja-JP" dirty="0"/>
              <a:t>s grades</a:t>
            </a:r>
            <a:r>
              <a:rPr lang="ja-JP" altLang="en-US" dirty="0"/>
              <a:t>”</a:t>
            </a:r>
            <a:endParaRPr lang="en-US" altLang="ja-JP" dirty="0"/>
          </a:p>
          <a:p>
            <a:pPr lvl="1"/>
            <a:r>
              <a:rPr lang="en-US" altLang="en-US" dirty="0">
                <a:ea typeface="ＭＳ Ｐゴシック" pitchFamily="34" charset="-128"/>
              </a:rPr>
              <a:t>Problem 1: Database has no idea who are application users</a:t>
            </a:r>
          </a:p>
          <a:p>
            <a:pPr lvl="1"/>
            <a:r>
              <a:rPr lang="en-US" altLang="en-US" dirty="0">
                <a:ea typeface="ＭＳ Ｐゴシック" pitchFamily="34" charset="-128"/>
              </a:rPr>
              <a:t>Problem 2: SQL authorization is at the level of tables, or columns of tables, but not to specific rows of a table</a:t>
            </a:r>
          </a:p>
          <a:p>
            <a:r>
              <a:rPr lang="en-US" altLang="en-US" dirty="0"/>
              <a:t>One workaround: use views such as</a:t>
            </a:r>
          </a:p>
          <a:p>
            <a:pPr lvl="1">
              <a:buFont typeface="Monotype Sorts" charset="2"/>
              <a:buNone/>
            </a:pPr>
            <a:r>
              <a:rPr lang="en-US" altLang="en-US" b="1" dirty="0">
                <a:ea typeface="ＭＳ Ｐゴシック" pitchFamily="34" charset="-128"/>
              </a:rPr>
              <a:t>     create view </a:t>
            </a:r>
            <a:r>
              <a:rPr lang="en-US" altLang="en-US" dirty="0">
                <a:ea typeface="ＭＳ Ｐゴシック" pitchFamily="34" charset="-128"/>
              </a:rPr>
              <a:t> </a:t>
            </a:r>
            <a:r>
              <a:rPr lang="en-US" altLang="en-US" i="1" dirty="0" err="1">
                <a:ea typeface="ＭＳ Ｐゴシック" pitchFamily="34" charset="-128"/>
              </a:rPr>
              <a:t>studentTakes</a:t>
            </a:r>
            <a:r>
              <a:rPr lang="en-US" altLang="en-US" b="1" dirty="0">
                <a:ea typeface="ＭＳ Ｐゴシック" pitchFamily="34" charset="-128"/>
              </a:rPr>
              <a:t>  as</a:t>
            </a:r>
            <a:br>
              <a:rPr lang="en-US" altLang="en-US" b="1" dirty="0">
                <a:ea typeface="ＭＳ Ｐゴシック" pitchFamily="34" charset="-128"/>
              </a:rPr>
            </a:br>
            <a:r>
              <a:rPr lang="en-US" altLang="en-US" b="1" dirty="0">
                <a:ea typeface="ＭＳ Ｐゴシック" pitchFamily="34" charset="-128"/>
              </a:rPr>
              <a:t>select </a:t>
            </a:r>
            <a:r>
              <a:rPr lang="en-US" altLang="en-US" dirty="0">
                <a:ea typeface="ＭＳ Ｐゴシック" pitchFamily="34" charset="-128"/>
              </a:rPr>
              <a:t>*</a:t>
            </a:r>
            <a:br>
              <a:rPr lang="en-US" altLang="en-US" dirty="0">
                <a:ea typeface="ＭＳ Ｐゴシック" pitchFamily="34" charset="-128"/>
              </a:rPr>
            </a:br>
            <a:r>
              <a:rPr lang="en-US" altLang="en-US" b="1" dirty="0">
                <a:ea typeface="ＭＳ Ｐゴシック" pitchFamily="34" charset="-128"/>
              </a:rPr>
              <a:t>from   </a:t>
            </a:r>
            <a:r>
              <a:rPr lang="en-US" altLang="en-US" i="1" dirty="0">
                <a:ea typeface="ＭＳ Ｐゴシック" pitchFamily="34" charset="-128"/>
              </a:rPr>
              <a:t>takes</a:t>
            </a:r>
            <a:br>
              <a:rPr lang="en-US" altLang="en-US" i="1" dirty="0">
                <a:ea typeface="ＭＳ Ｐゴシック" pitchFamily="34" charset="-128"/>
              </a:rPr>
            </a:br>
            <a:r>
              <a:rPr lang="en-US" altLang="en-US" b="1" dirty="0">
                <a:ea typeface="ＭＳ Ｐゴシック" pitchFamily="34" charset="-128"/>
              </a:rPr>
              <a:t>where </a:t>
            </a:r>
            <a:r>
              <a:rPr lang="en-US" altLang="en-US" i="1" dirty="0">
                <a:ea typeface="ＭＳ Ｐゴシック" pitchFamily="34" charset="-128"/>
              </a:rPr>
              <a:t>takes.ID = </a:t>
            </a:r>
            <a:r>
              <a:rPr lang="en-US" altLang="en-US" i="1" dirty="0" err="1">
                <a:ea typeface="ＭＳ Ｐゴシック" pitchFamily="34" charset="-128"/>
              </a:rPr>
              <a:t>syscontext.user_id</a:t>
            </a:r>
            <a:r>
              <a:rPr lang="en-US" altLang="en-US" dirty="0">
                <a:ea typeface="ＭＳ Ｐゴシック" pitchFamily="34" charset="-128"/>
              </a:rPr>
              <a:t>()</a:t>
            </a:r>
          </a:p>
          <a:p>
            <a:pPr lvl="1"/>
            <a:r>
              <a:rPr lang="en-US" altLang="en-US" dirty="0">
                <a:ea typeface="ＭＳ Ｐゴシック" pitchFamily="34" charset="-128"/>
              </a:rPr>
              <a:t>where </a:t>
            </a:r>
            <a:r>
              <a:rPr lang="en-US" altLang="en-US" dirty="0" err="1">
                <a:ea typeface="ＭＳ Ｐゴシック" pitchFamily="34" charset="-128"/>
              </a:rPr>
              <a:t>syscontext.user_id</a:t>
            </a:r>
            <a:r>
              <a:rPr lang="en-US" altLang="en-US" dirty="0">
                <a:ea typeface="ＭＳ Ｐゴシック" pitchFamily="34" charset="-128"/>
              </a:rPr>
              <a:t>() provides end user identity</a:t>
            </a:r>
          </a:p>
          <a:p>
            <a:pPr lvl="2"/>
            <a:r>
              <a:rPr lang="en-US" altLang="en-US" dirty="0">
                <a:ea typeface="ＭＳ Ｐゴシック" pitchFamily="34" charset="-128"/>
              </a:rPr>
              <a:t>End user identity must be provided to the database by the application </a:t>
            </a:r>
          </a:p>
          <a:p>
            <a:pPr lvl="1"/>
            <a:r>
              <a:rPr lang="en-US" altLang="en-US" dirty="0">
                <a:ea typeface="ＭＳ Ｐゴシック" pitchFamily="34" charset="-128"/>
              </a:rPr>
              <a:t>Having multiple such views is cumbersome</a:t>
            </a:r>
          </a:p>
          <a:p>
            <a:pPr lvl="1">
              <a:buFont typeface="Monotype Sorts" charset="2"/>
              <a:buNone/>
            </a:pPr>
            <a:endParaRPr lang="en-US" altLang="en-US" b="1" dirty="0">
              <a:ea typeface="ＭＳ Ｐゴシック"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effectLst/>
              </a:rPr>
              <a:t>Application-Level Authorization (Cont.)</a:t>
            </a:r>
          </a:p>
        </p:txBody>
      </p:sp>
      <p:sp>
        <p:nvSpPr>
          <p:cNvPr id="54275" name="Rectangle 3"/>
          <p:cNvSpPr>
            <a:spLocks noGrp="1" noChangeArrowheads="1"/>
          </p:cNvSpPr>
          <p:nvPr>
            <p:ph type="body" idx="1"/>
          </p:nvPr>
        </p:nvSpPr>
        <p:spPr>
          <a:xfrm>
            <a:off x="768350" y="1093788"/>
            <a:ext cx="7621047" cy="3490243"/>
          </a:xfrm>
        </p:spPr>
        <p:txBody>
          <a:bodyPr/>
          <a:lstStyle/>
          <a:p>
            <a:r>
              <a:rPr lang="en-US" altLang="en-US" dirty="0"/>
              <a:t>Currently, authorization is done entirely in application</a:t>
            </a:r>
          </a:p>
          <a:p>
            <a:r>
              <a:rPr lang="en-US" altLang="en-US" dirty="0"/>
              <a:t>Entire application code has access to entire database</a:t>
            </a:r>
          </a:p>
          <a:p>
            <a:pPr lvl="1"/>
            <a:r>
              <a:rPr lang="en-US" altLang="en-US" dirty="0">
                <a:ea typeface="ＭＳ Ｐゴシック" pitchFamily="34" charset="-128"/>
              </a:rPr>
              <a:t>Large surface area, making protection harder</a:t>
            </a:r>
          </a:p>
          <a:p>
            <a:r>
              <a:rPr lang="en-US" altLang="en-US" dirty="0"/>
              <a:t>Alternative: </a:t>
            </a:r>
            <a:r>
              <a:rPr lang="en-US" altLang="en-US" b="1" dirty="0">
                <a:solidFill>
                  <a:srgbClr val="002060"/>
                </a:solidFill>
              </a:rPr>
              <a:t>fine-grained (row-level) authorization</a:t>
            </a:r>
            <a:r>
              <a:rPr lang="en-US" altLang="en-US" dirty="0">
                <a:solidFill>
                  <a:srgbClr val="002060"/>
                </a:solidFill>
              </a:rPr>
              <a:t> </a:t>
            </a:r>
            <a:r>
              <a:rPr lang="en-US" altLang="en-US" dirty="0"/>
              <a:t>schemes</a:t>
            </a:r>
          </a:p>
          <a:p>
            <a:pPr lvl="1"/>
            <a:r>
              <a:rPr lang="en-US" altLang="en-US" dirty="0">
                <a:ea typeface="ＭＳ Ｐゴシック" pitchFamily="34" charset="-128"/>
              </a:rPr>
              <a:t>Extensions to SQL authorization proposed but not currently implemented</a:t>
            </a:r>
          </a:p>
          <a:p>
            <a:pPr lvl="1"/>
            <a:r>
              <a:rPr lang="en-US" altLang="en-US" dirty="0">
                <a:ea typeface="ＭＳ Ｐゴシック" pitchFamily="34" charset="-128"/>
              </a:rPr>
              <a:t>Oracle Virtual Private Database (VPD) allows predicates to be added transparently to all SQL queries, to enforce fine-grained authorization</a:t>
            </a:r>
          </a:p>
          <a:p>
            <a:pPr lvl="2"/>
            <a:r>
              <a:rPr lang="en-US" altLang="en-US" dirty="0">
                <a:ea typeface="ＭＳ Ｐゴシック" pitchFamily="34" charset="-128"/>
              </a:rPr>
              <a:t>E.g., add </a:t>
            </a:r>
            <a:r>
              <a:rPr lang="en-US" altLang="en-US" i="1" dirty="0">
                <a:ea typeface="ＭＳ Ｐゴシック" pitchFamily="34" charset="-128"/>
              </a:rPr>
              <a:t>ID= </a:t>
            </a:r>
            <a:r>
              <a:rPr lang="en-US" altLang="en-US" i="1" dirty="0" err="1">
                <a:ea typeface="ＭＳ Ｐゴシック" pitchFamily="34" charset="-128"/>
              </a:rPr>
              <a:t>sys_context.user_id</a:t>
            </a:r>
            <a:r>
              <a:rPr lang="en-US" altLang="en-US" i="1" dirty="0">
                <a:ea typeface="ＭＳ Ｐゴシック" pitchFamily="34" charset="-128"/>
              </a:rPr>
              <a:t>()</a:t>
            </a:r>
            <a:r>
              <a:rPr lang="en-US" altLang="en-US" dirty="0">
                <a:ea typeface="ＭＳ Ｐゴシック" pitchFamily="34" charset="-128"/>
              </a:rPr>
              <a:t> to all queries on student relation if user is a student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effectLst/>
              </a:rPr>
              <a:t>Audit Trails</a:t>
            </a:r>
          </a:p>
        </p:txBody>
      </p:sp>
      <p:sp>
        <p:nvSpPr>
          <p:cNvPr id="55299" name="Rectangle 3"/>
          <p:cNvSpPr>
            <a:spLocks noGrp="1" noChangeArrowheads="1"/>
          </p:cNvSpPr>
          <p:nvPr>
            <p:ph type="body" idx="1"/>
          </p:nvPr>
        </p:nvSpPr>
        <p:spPr>
          <a:xfrm>
            <a:off x="768350" y="1093789"/>
            <a:ext cx="7541149" cy="3105232"/>
          </a:xfrm>
        </p:spPr>
        <p:txBody>
          <a:bodyPr/>
          <a:lstStyle/>
          <a:p>
            <a:r>
              <a:rPr lang="en-US" altLang="en-US" dirty="0"/>
              <a:t>Applications must log actions to an audit trail, to detect who carried out an update, or accessed some sensitive data</a:t>
            </a:r>
          </a:p>
          <a:p>
            <a:r>
              <a:rPr lang="en-US" altLang="en-US" dirty="0"/>
              <a:t>Audit trails used after-the-fact to </a:t>
            </a:r>
          </a:p>
          <a:p>
            <a:pPr lvl="1"/>
            <a:r>
              <a:rPr lang="en-US" altLang="en-US" dirty="0">
                <a:ea typeface="ＭＳ Ｐゴシック" pitchFamily="34" charset="-128"/>
              </a:rPr>
              <a:t>Detect security breaches</a:t>
            </a:r>
          </a:p>
          <a:p>
            <a:pPr lvl="1"/>
            <a:r>
              <a:rPr lang="en-US" altLang="en-US" dirty="0">
                <a:ea typeface="ＭＳ Ｐゴシック" pitchFamily="34" charset="-128"/>
              </a:rPr>
              <a:t>Repair damage caused by security breach</a:t>
            </a:r>
          </a:p>
          <a:p>
            <a:pPr lvl="1"/>
            <a:r>
              <a:rPr lang="en-US" altLang="en-US" dirty="0">
                <a:ea typeface="ＭＳ Ｐゴシック" pitchFamily="34" charset="-128"/>
              </a:rPr>
              <a:t>Trace who carried out the breach</a:t>
            </a:r>
          </a:p>
          <a:p>
            <a:r>
              <a:rPr lang="en-US" altLang="en-US" dirty="0"/>
              <a:t>Audit trails needed at</a:t>
            </a:r>
          </a:p>
          <a:p>
            <a:pPr lvl="1"/>
            <a:r>
              <a:rPr lang="en-US" altLang="en-US" dirty="0">
                <a:ea typeface="ＭＳ Ｐゴシック" pitchFamily="34" charset="-128"/>
              </a:rPr>
              <a:t>Database level, and at</a:t>
            </a:r>
          </a:p>
          <a:p>
            <a:pPr lvl="1"/>
            <a:r>
              <a:rPr lang="en-US" altLang="en-US" dirty="0">
                <a:ea typeface="ＭＳ Ｐゴシック" pitchFamily="34" charset="-128"/>
              </a:rPr>
              <a:t>Application level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6322" name="Rectangle 4"/>
          <p:cNvSpPr>
            <a:spLocks noGrp="1" noChangeArrowheads="1"/>
          </p:cNvSpPr>
          <p:nvPr>
            <p:ph type="ctrTitle"/>
          </p:nvPr>
        </p:nvSpPr>
        <p:spPr/>
        <p:txBody>
          <a:bodyPr/>
          <a:lstStyle/>
          <a:p>
            <a:r>
              <a:rPr lang="en-US" altLang="en-US" dirty="0">
                <a:effectLst/>
              </a:rPr>
              <a:t>Encryption</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81758"/>
            <a:ext cx="7509377" cy="4392609"/>
          </a:xfrm>
        </p:spPr>
        <p:txBody>
          <a:bodyPr lIns="91440"/>
          <a:lstStyle/>
          <a:p>
            <a:r>
              <a:rPr lang="en-US" altLang="en-US" dirty="0"/>
              <a:t>Data may be </a:t>
            </a:r>
            <a:r>
              <a:rPr lang="en-US" altLang="en-US" i="1" dirty="0"/>
              <a:t>encrypted</a:t>
            </a:r>
            <a:r>
              <a:rPr lang="en-US" altLang="en-US" dirty="0"/>
              <a:t> when database authorization provisions do not offer sufficient protection.</a:t>
            </a:r>
          </a:p>
          <a:p>
            <a:r>
              <a:rPr lang="en-US" altLang="en-US" dirty="0"/>
              <a:t>Properties of good encryption technique:</a:t>
            </a:r>
          </a:p>
          <a:p>
            <a:pPr lvl="1"/>
            <a:r>
              <a:rPr lang="en-US" altLang="en-US" dirty="0">
                <a:ea typeface="ＭＳ Ｐゴシック" pitchFamily="34" charset="-128"/>
              </a:rPr>
              <a:t>Relatively simple for authorized users to encrypt and decrypt data.</a:t>
            </a:r>
          </a:p>
          <a:p>
            <a:pPr lvl="1"/>
            <a:r>
              <a:rPr lang="en-US" altLang="en-US" dirty="0">
                <a:ea typeface="ＭＳ Ｐゴシック" pitchFamily="34" charset="-128"/>
              </a:rPr>
              <a:t>Encryption scheme depends not on the secrecy of the algorithm but on the secrecy of a parameter of the algorithm called the  encryption key.</a:t>
            </a:r>
          </a:p>
          <a:p>
            <a:pPr lvl="1"/>
            <a:r>
              <a:rPr lang="en-US" altLang="en-US" dirty="0">
                <a:ea typeface="ＭＳ Ｐゴシック" pitchFamily="34" charset="-128"/>
              </a:rPr>
              <a:t>Extremely difficult for an intruder to determine the encryption key.</a:t>
            </a:r>
          </a:p>
          <a:p>
            <a:r>
              <a:rPr lang="en-US" altLang="en-US" b="1" dirty="0">
                <a:solidFill>
                  <a:srgbClr val="002060"/>
                </a:solidFill>
              </a:rPr>
              <a:t>Symmetric-key encryption</a:t>
            </a:r>
            <a:r>
              <a:rPr lang="en-US" altLang="en-US" dirty="0"/>
              <a:t>: same key used for encryption and for decryption</a:t>
            </a:r>
          </a:p>
          <a:p>
            <a:r>
              <a:rPr lang="en-US" altLang="en-US" b="1" dirty="0">
                <a:solidFill>
                  <a:srgbClr val="002060"/>
                </a:solidFill>
              </a:rPr>
              <a:t>Public-key encryption</a:t>
            </a:r>
            <a:r>
              <a:rPr lang="en-US" altLang="en-US" dirty="0">
                <a:solidFill>
                  <a:srgbClr val="002060"/>
                </a:solidFill>
              </a:rPr>
              <a:t> </a:t>
            </a:r>
            <a:r>
              <a:rPr lang="en-US" altLang="en-US" dirty="0"/>
              <a:t>(a.k.a. </a:t>
            </a:r>
            <a:r>
              <a:rPr lang="en-US" altLang="en-US" b="1" dirty="0" err="1">
                <a:solidFill>
                  <a:srgbClr val="002060"/>
                </a:solidFill>
              </a:rPr>
              <a:t>asymmentric</a:t>
            </a:r>
            <a:r>
              <a:rPr lang="en-US" altLang="en-US" b="1" dirty="0">
                <a:solidFill>
                  <a:srgbClr val="002060"/>
                </a:solidFill>
              </a:rPr>
              <a:t>-key encryption</a:t>
            </a:r>
            <a:r>
              <a:rPr lang="en-US" altLang="en-US" dirty="0"/>
              <a:t>): use different keys for encryption and decryption</a:t>
            </a:r>
          </a:p>
          <a:p>
            <a:pPr lvl="1"/>
            <a:r>
              <a:rPr lang="en-US" altLang="en-US" dirty="0">
                <a:ea typeface="ＭＳ Ｐゴシック" pitchFamily="34" charset="-128"/>
              </a:rPr>
              <a:t>Encryption key can be public, decryption key secret</a:t>
            </a:r>
          </a:p>
          <a:p>
            <a:pPr indent="-365760"/>
            <a:endParaRPr lang="en-US" altLang="en-US"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1"/>
            <a:ext cx="7674314" cy="4633242"/>
          </a:xfrm>
        </p:spPr>
        <p:txBody>
          <a:bodyPr lIns="91440"/>
          <a:lstStyle/>
          <a:p>
            <a:pPr>
              <a:lnSpc>
                <a:spcPct val="90000"/>
              </a:lnSpc>
            </a:pPr>
            <a:r>
              <a:rPr lang="en-US" altLang="en-US" b="1" i="1" dirty="0">
                <a:solidFill>
                  <a:srgbClr val="002060"/>
                </a:solidFill>
              </a:rPr>
              <a:t>Data Encryption Standard</a:t>
            </a:r>
            <a:r>
              <a:rPr lang="en-US" altLang="en-US" b="1" dirty="0">
                <a:solidFill>
                  <a:srgbClr val="002060"/>
                </a:solidFill>
              </a:rPr>
              <a:t> (DES) </a:t>
            </a:r>
            <a:r>
              <a:rPr lang="en-US" altLang="en-US" dirty="0"/>
              <a:t>substitutes characters and rearranges their order on the basis of an encryption key which is provided to authorized users via a secure mechanism. Scheme is no more secure than the key transmission mechanism since the key has to be shared.</a:t>
            </a:r>
          </a:p>
          <a:p>
            <a:pPr>
              <a:lnSpc>
                <a:spcPct val="90000"/>
              </a:lnSpc>
            </a:pPr>
            <a:r>
              <a:rPr lang="en-US" altLang="en-US" b="1" dirty="0">
                <a:solidFill>
                  <a:srgbClr val="002060"/>
                </a:solidFill>
              </a:rPr>
              <a:t>Advanced Encryption Standard (AES) </a:t>
            </a:r>
            <a:r>
              <a:rPr lang="en-US" altLang="en-US" dirty="0"/>
              <a:t>is a new standard replacing DES, and is based on the </a:t>
            </a:r>
            <a:r>
              <a:rPr lang="en-US" altLang="en-US" dirty="0" err="1"/>
              <a:t>Rijndael</a:t>
            </a:r>
            <a:r>
              <a:rPr lang="en-US" altLang="en-US" dirty="0"/>
              <a:t> algorithm, but is also dependent on shared secret keys.</a:t>
            </a:r>
          </a:p>
          <a:p>
            <a:pPr>
              <a:lnSpc>
                <a:spcPct val="90000"/>
              </a:lnSpc>
            </a:pPr>
            <a:r>
              <a:rPr lang="en-US" altLang="en-US" dirty="0"/>
              <a:t> </a:t>
            </a:r>
            <a:r>
              <a:rPr lang="en-US" altLang="en-US" b="1" i="1" dirty="0">
                <a:solidFill>
                  <a:srgbClr val="002060"/>
                </a:solidFill>
              </a:rPr>
              <a:t>Public-key encryption</a:t>
            </a:r>
            <a:r>
              <a:rPr lang="en-US" altLang="en-US" b="1" dirty="0">
                <a:solidFill>
                  <a:srgbClr val="002060"/>
                </a:solidFill>
              </a:rPr>
              <a:t> </a:t>
            </a:r>
            <a:r>
              <a:rPr lang="en-US" altLang="en-US" dirty="0"/>
              <a:t>is based on each user having two keys:</a:t>
            </a:r>
          </a:p>
          <a:p>
            <a:pPr lvl="1">
              <a:lnSpc>
                <a:spcPct val="90000"/>
              </a:lnSpc>
            </a:pPr>
            <a:r>
              <a:rPr lang="en-US" altLang="en-US" i="1" dirty="0">
                <a:ea typeface="ＭＳ Ｐゴシック" pitchFamily="34" charset="-128"/>
              </a:rPr>
              <a:t>Public key</a:t>
            </a:r>
            <a:r>
              <a:rPr lang="en-US" altLang="en-US" dirty="0">
                <a:ea typeface="ＭＳ Ｐゴシック" pitchFamily="34" charset="-128"/>
              </a:rPr>
              <a:t> – publicly published key used to encrypt data, but cannot be used to decrypt data</a:t>
            </a:r>
          </a:p>
          <a:p>
            <a:pPr lvl="1">
              <a:lnSpc>
                <a:spcPct val="90000"/>
              </a:lnSpc>
            </a:pPr>
            <a:r>
              <a:rPr lang="en-US" altLang="en-US" i="1" dirty="0">
                <a:ea typeface="ＭＳ Ｐゴシック" pitchFamily="34" charset="-128"/>
              </a:rPr>
              <a:t>Private key</a:t>
            </a:r>
            <a:r>
              <a:rPr lang="en-US" altLang="en-US" dirty="0">
                <a:ea typeface="ＭＳ Ｐゴシック" pitchFamily="34" charset="-128"/>
              </a:rPr>
              <a:t> -- key known only to individual user, and used to decrypt data.  Need not be transmitted to the site doing encryption.</a:t>
            </a:r>
          </a:p>
          <a:p>
            <a:pPr>
              <a:lnSpc>
                <a:spcPct val="90000"/>
              </a:lnSpc>
              <a:buFont typeface="Monotype Sorts" charset="2"/>
              <a:buNone/>
            </a:pPr>
            <a:r>
              <a:rPr lang="en-US" altLang="en-US" dirty="0"/>
              <a:t>      Encryption scheme is such that it is impossible or extremely hard to decrypt data given only  the public key.</a:t>
            </a:r>
          </a:p>
          <a:p>
            <a:pPr>
              <a:lnSpc>
                <a:spcPct val="90000"/>
              </a:lnSpc>
            </a:pPr>
            <a:r>
              <a:rPr lang="en-US" altLang="en-US" dirty="0"/>
              <a:t>The RSA  public-key encryption scheme is based on the hardness of factoring a very large number (100's of digits) into its prime components</a:t>
            </a:r>
          </a:p>
          <a:p>
            <a:pPr indent="-365760"/>
            <a:endParaRPr lang="en-US" altLang="en-US" dirty="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a:effectLst/>
              </a:rPr>
              <a:t>Encryption (Cont.)</a:t>
            </a:r>
          </a:p>
        </p:txBody>
      </p:sp>
      <p:sp>
        <p:nvSpPr>
          <p:cNvPr id="59395" name="Rectangle 3"/>
          <p:cNvSpPr>
            <a:spLocks noGrp="1" noChangeArrowheads="1"/>
          </p:cNvSpPr>
          <p:nvPr>
            <p:ph type="body" idx="1"/>
          </p:nvPr>
        </p:nvSpPr>
        <p:spPr>
          <a:xfrm>
            <a:off x="768351" y="1093788"/>
            <a:ext cx="7621048" cy="3959475"/>
          </a:xfrm>
        </p:spPr>
        <p:txBody>
          <a:bodyPr/>
          <a:lstStyle/>
          <a:p>
            <a:r>
              <a:rPr lang="en-US" altLang="en-US" b="1" dirty="0"/>
              <a:t>Hybrid schemes</a:t>
            </a:r>
            <a:r>
              <a:rPr lang="en-US" altLang="en-US" dirty="0"/>
              <a:t> combining public key and private key encryption for efficient encryption of large amounts of data</a:t>
            </a:r>
          </a:p>
          <a:p>
            <a:r>
              <a:rPr lang="en-US" altLang="en-US" dirty="0"/>
              <a:t>Encryption of small values such as identifiers or names vulnerable to </a:t>
            </a:r>
            <a:r>
              <a:rPr lang="en-US" altLang="en-US" b="1" dirty="0">
                <a:solidFill>
                  <a:srgbClr val="002060"/>
                </a:solidFill>
              </a:rPr>
              <a:t>dictionary attacks </a:t>
            </a:r>
          </a:p>
          <a:p>
            <a:pPr lvl="1"/>
            <a:r>
              <a:rPr lang="en-US" altLang="en-US" dirty="0">
                <a:ea typeface="ＭＳ Ｐゴシック" pitchFamily="34" charset="-128"/>
              </a:rPr>
              <a:t>Especially if encryption key is publicly available</a:t>
            </a:r>
          </a:p>
          <a:p>
            <a:pPr lvl="1"/>
            <a:r>
              <a:rPr lang="en-US" altLang="en-US" dirty="0">
                <a:ea typeface="ＭＳ Ｐゴシック" pitchFamily="34" charset="-128"/>
              </a:rPr>
              <a:t>But even otherwise, statistical information such as frequency of occurrence can be used to reveal content of encrypted data</a:t>
            </a:r>
          </a:p>
          <a:p>
            <a:pPr lvl="1"/>
            <a:r>
              <a:rPr lang="en-US" altLang="en-US" dirty="0">
                <a:ea typeface="ＭＳ Ｐゴシック" pitchFamily="34" charset="-128"/>
              </a:rPr>
              <a:t>Can be deterred by adding extra random bits to the end of the value, before encryption, and removing them after decryption</a:t>
            </a:r>
          </a:p>
          <a:p>
            <a:pPr lvl="2"/>
            <a:r>
              <a:rPr lang="en-US" altLang="en-US" dirty="0">
                <a:ea typeface="ＭＳ Ｐゴシック" pitchFamily="34" charset="-128"/>
              </a:rPr>
              <a:t>Same value will have different encrypted forms each time it is encrypted, preventing both above attacks</a:t>
            </a:r>
          </a:p>
          <a:p>
            <a:pPr lvl="2"/>
            <a:r>
              <a:rPr lang="en-US" altLang="en-US" dirty="0">
                <a:ea typeface="ＭＳ Ｐゴシック" pitchFamily="34" charset="-128"/>
              </a:rPr>
              <a:t>Extra bits are called </a:t>
            </a:r>
            <a:r>
              <a:rPr lang="en-US" altLang="en-US" b="1" dirty="0">
                <a:solidFill>
                  <a:srgbClr val="002060"/>
                </a:solidFill>
                <a:ea typeface="ＭＳ Ｐゴシック" pitchFamily="34" charset="-128"/>
              </a:rPr>
              <a:t>salt bits</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a:effectLst/>
              </a:rPr>
              <a:t>Encryption in Databases</a:t>
            </a:r>
          </a:p>
        </p:txBody>
      </p:sp>
      <p:sp>
        <p:nvSpPr>
          <p:cNvPr id="60419" name="Rectangle 3"/>
          <p:cNvSpPr>
            <a:spLocks noGrp="1" noChangeArrowheads="1"/>
          </p:cNvSpPr>
          <p:nvPr>
            <p:ph type="body" idx="1"/>
          </p:nvPr>
        </p:nvSpPr>
        <p:spPr>
          <a:xfrm>
            <a:off x="768351" y="1116099"/>
            <a:ext cx="7612170" cy="5068133"/>
          </a:xfrm>
        </p:spPr>
        <p:txBody>
          <a:bodyPr/>
          <a:lstStyle/>
          <a:p>
            <a:pPr>
              <a:lnSpc>
                <a:spcPct val="90000"/>
              </a:lnSpc>
            </a:pPr>
            <a:r>
              <a:rPr lang="en-US" altLang="en-US" dirty="0"/>
              <a:t>Database widely support encryption</a:t>
            </a:r>
          </a:p>
          <a:p>
            <a:pPr>
              <a:lnSpc>
                <a:spcPct val="90000"/>
              </a:lnSpc>
            </a:pPr>
            <a:r>
              <a:rPr lang="en-US" altLang="en-US" dirty="0"/>
              <a:t>Different levels of encryption:</a:t>
            </a:r>
          </a:p>
          <a:p>
            <a:pPr lvl="1">
              <a:lnSpc>
                <a:spcPct val="90000"/>
              </a:lnSpc>
            </a:pPr>
            <a:r>
              <a:rPr lang="en-US" altLang="en-US" b="1" dirty="0">
                <a:ea typeface="ＭＳ Ｐゴシック" pitchFamily="34" charset="-128"/>
              </a:rPr>
              <a:t>disk block</a:t>
            </a:r>
            <a:endParaRPr lang="en-US" altLang="en-US" dirty="0">
              <a:ea typeface="ＭＳ Ｐゴシック" pitchFamily="34" charset="-128"/>
            </a:endParaRPr>
          </a:p>
          <a:p>
            <a:pPr lvl="2">
              <a:lnSpc>
                <a:spcPct val="90000"/>
              </a:lnSpc>
            </a:pPr>
            <a:r>
              <a:rPr lang="en-US" altLang="en-US" dirty="0">
                <a:ea typeface="ＭＳ Ｐゴシック" pitchFamily="34" charset="-128"/>
              </a:rPr>
              <a:t>Every disk block encrypted using key available in database-system software.  </a:t>
            </a:r>
          </a:p>
          <a:p>
            <a:pPr lvl="2">
              <a:lnSpc>
                <a:spcPct val="90000"/>
              </a:lnSpc>
            </a:pPr>
            <a:r>
              <a:rPr lang="en-US" altLang="en-US" dirty="0">
                <a:ea typeface="ＭＳ Ｐゴシック" pitchFamily="34" charset="-128"/>
              </a:rPr>
              <a:t>Even if attacker gets access to database data, decryption cannot be done without access to the key.</a:t>
            </a:r>
          </a:p>
          <a:p>
            <a:pPr lvl="1">
              <a:lnSpc>
                <a:spcPct val="90000"/>
              </a:lnSpc>
            </a:pPr>
            <a:r>
              <a:rPr lang="en-US" altLang="en-US" b="1" dirty="0">
                <a:ea typeface="ＭＳ Ｐゴシック" pitchFamily="34" charset="-128"/>
              </a:rPr>
              <a:t>Entire relations, or specific attributes of relations</a:t>
            </a:r>
          </a:p>
          <a:p>
            <a:pPr lvl="2">
              <a:lnSpc>
                <a:spcPct val="90000"/>
              </a:lnSpc>
            </a:pPr>
            <a:r>
              <a:rPr lang="en-US" altLang="en-US" dirty="0">
                <a:ea typeface="ＭＳ Ｐゴシック" pitchFamily="34" charset="-128"/>
              </a:rPr>
              <a:t>Non-sensitive relations, or non-sensitive attributes of relations need not be encrypted</a:t>
            </a:r>
          </a:p>
          <a:p>
            <a:pPr lvl="2">
              <a:lnSpc>
                <a:spcPct val="90000"/>
              </a:lnSpc>
            </a:pPr>
            <a:r>
              <a:rPr lang="en-US" altLang="en-US" dirty="0">
                <a:ea typeface="ＭＳ Ｐゴシック" pitchFamily="34" charset="-128"/>
              </a:rPr>
              <a:t>However, attributes involved in primary/foreign key constraints cannot be encrypted.</a:t>
            </a:r>
          </a:p>
          <a:p>
            <a:pPr>
              <a:lnSpc>
                <a:spcPct val="90000"/>
              </a:lnSpc>
            </a:pPr>
            <a:r>
              <a:rPr lang="en-US" altLang="en-US" dirty="0"/>
              <a:t>Storage of encryption or decryption keys</a:t>
            </a:r>
          </a:p>
          <a:p>
            <a:pPr lvl="1">
              <a:lnSpc>
                <a:spcPct val="90000"/>
              </a:lnSpc>
            </a:pPr>
            <a:r>
              <a:rPr lang="en-US" altLang="en-US" dirty="0">
                <a:ea typeface="ＭＳ Ｐゴシック" pitchFamily="34" charset="-128"/>
              </a:rPr>
              <a:t>Typically, single master key used to protect multiple encryption/decryption keys stored in database</a:t>
            </a:r>
          </a:p>
          <a:p>
            <a:pPr>
              <a:lnSpc>
                <a:spcPct val="90000"/>
              </a:lnSpc>
            </a:pPr>
            <a:r>
              <a:rPr lang="en-US" altLang="en-US" dirty="0"/>
              <a:t>Alternative: encryption/decryption is done in application, before sending values to the database</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Encryption and Authentication</a:t>
            </a:r>
          </a:p>
        </p:txBody>
      </p:sp>
      <p:sp>
        <p:nvSpPr>
          <p:cNvPr id="61443" name="Rectangle 3"/>
          <p:cNvSpPr>
            <a:spLocks noGrp="1" noChangeArrowheads="1"/>
          </p:cNvSpPr>
          <p:nvPr>
            <p:ph type="body" idx="1"/>
          </p:nvPr>
        </p:nvSpPr>
        <p:spPr>
          <a:xfrm>
            <a:off x="768350" y="1065878"/>
            <a:ext cx="7709825" cy="4817564"/>
          </a:xfrm>
        </p:spPr>
        <p:txBody>
          <a:bodyPr/>
          <a:lstStyle/>
          <a:p>
            <a:r>
              <a:rPr lang="en-US" altLang="en-US" dirty="0"/>
              <a:t>Password based authentication is widely used, but is susceptible to sniffing on a network.</a:t>
            </a:r>
          </a:p>
          <a:p>
            <a:r>
              <a:rPr lang="en-US" altLang="en-US" b="1" dirty="0">
                <a:solidFill>
                  <a:srgbClr val="002060"/>
                </a:solidFill>
              </a:rPr>
              <a:t>Challenge-response</a:t>
            </a:r>
            <a:r>
              <a:rPr lang="en-US" altLang="en-US" dirty="0"/>
              <a:t> systems avoid transmission of passwords</a:t>
            </a:r>
          </a:p>
          <a:p>
            <a:pPr lvl="1"/>
            <a:r>
              <a:rPr lang="en-US" altLang="en-US" dirty="0">
                <a:ea typeface="ＭＳ Ｐゴシック" pitchFamily="34" charset="-128"/>
              </a:rPr>
              <a:t>DB sends a (randomly generated) challenge string to user.</a:t>
            </a:r>
          </a:p>
          <a:p>
            <a:pPr lvl="1"/>
            <a:r>
              <a:rPr lang="en-US" altLang="en-US" dirty="0">
                <a:ea typeface="ＭＳ Ｐゴシック" pitchFamily="34" charset="-128"/>
              </a:rPr>
              <a:t>User encrypts string and returns result. </a:t>
            </a:r>
          </a:p>
          <a:p>
            <a:pPr lvl="1"/>
            <a:r>
              <a:rPr lang="en-US" altLang="en-US" dirty="0">
                <a:ea typeface="ＭＳ Ｐゴシック" pitchFamily="34" charset="-128"/>
              </a:rPr>
              <a:t>DB verifies identity by decrypting result</a:t>
            </a:r>
          </a:p>
          <a:p>
            <a:pPr lvl="1"/>
            <a:r>
              <a:rPr lang="en-US" altLang="en-US" dirty="0">
                <a:ea typeface="ＭＳ Ｐゴシック" pitchFamily="34" charset="-128"/>
              </a:rPr>
              <a:t>Can use public-key encryption system by DB sending a message encrypted using user</a:t>
            </a:r>
            <a:r>
              <a:rPr lang="ja-JP" altLang="en-US" dirty="0">
                <a:ea typeface="ＭＳ Ｐゴシック" pitchFamily="34" charset="-128"/>
              </a:rPr>
              <a:t>’</a:t>
            </a:r>
            <a:r>
              <a:rPr lang="en-US" altLang="ja-JP" dirty="0">
                <a:ea typeface="ＭＳ Ｐゴシック" pitchFamily="34" charset="-128"/>
              </a:rPr>
              <a:t>s public key, and user decrypting and sending the message back.</a:t>
            </a:r>
          </a:p>
          <a:p>
            <a:r>
              <a:rPr lang="en-US" altLang="en-US" b="1" dirty="0">
                <a:solidFill>
                  <a:srgbClr val="002060"/>
                </a:solidFill>
              </a:rPr>
              <a:t>Digital</a:t>
            </a:r>
            <a:r>
              <a:rPr lang="en-US" altLang="en-US" dirty="0">
                <a:solidFill>
                  <a:srgbClr val="002060"/>
                </a:solidFill>
              </a:rPr>
              <a:t> </a:t>
            </a:r>
            <a:r>
              <a:rPr lang="en-US" altLang="en-US" b="1" dirty="0">
                <a:solidFill>
                  <a:srgbClr val="002060"/>
                </a:solidFill>
              </a:rPr>
              <a:t>signatures</a:t>
            </a:r>
            <a:r>
              <a:rPr lang="en-US" altLang="en-US" dirty="0">
                <a:solidFill>
                  <a:srgbClr val="002060"/>
                </a:solidFill>
              </a:rPr>
              <a:t> </a:t>
            </a:r>
            <a:r>
              <a:rPr lang="en-US" altLang="en-US" dirty="0"/>
              <a:t>are used to verify authenticity of data</a:t>
            </a:r>
          </a:p>
          <a:p>
            <a:pPr lvl="1"/>
            <a:r>
              <a:rPr lang="en-US" altLang="en-US" dirty="0">
                <a:ea typeface="ＭＳ Ｐゴシック" pitchFamily="34" charset="-128"/>
              </a:rPr>
              <a:t>E.g., use private key (in reverse) to encrypt data, and anyone can verify authenticity by using public key (in reverse) to decrypt data.  Only holder of private key could have created the encrypted data.</a:t>
            </a:r>
          </a:p>
          <a:p>
            <a:pPr lvl="1"/>
            <a:r>
              <a:rPr lang="en-US" altLang="en-US" dirty="0">
                <a:ea typeface="ＭＳ Ｐゴシック" pitchFamily="34" charset="-128"/>
              </a:rPr>
              <a:t>Digital signatures also help ensure </a:t>
            </a:r>
            <a:r>
              <a:rPr lang="en-US" altLang="en-US" b="1" dirty="0">
                <a:solidFill>
                  <a:srgbClr val="002060"/>
                </a:solidFill>
                <a:ea typeface="ＭＳ Ｐゴシック" pitchFamily="34" charset="-128"/>
              </a:rPr>
              <a:t>nonrepudiation</a:t>
            </a:r>
            <a:r>
              <a:rPr lang="en-US" altLang="en-US" dirty="0">
                <a:ea typeface="ＭＳ Ｐゴシック" pitchFamily="34" charset="-128"/>
              </a:rPr>
              <a:t>:</a:t>
            </a:r>
            <a:r>
              <a:rPr lang="en-US" altLang="en-US" b="1" dirty="0">
                <a:solidFill>
                  <a:schemeClr val="tx2"/>
                </a:solidFill>
                <a:ea typeface="ＭＳ Ｐゴシック" pitchFamily="34" charset="-128"/>
              </a:rPr>
              <a:t> </a:t>
            </a:r>
            <a:r>
              <a:rPr lang="en-US" altLang="en-US" dirty="0">
                <a:ea typeface="ＭＳ Ｐゴシック" pitchFamily="34" charset="-128"/>
              </a:rPr>
              <a:t>sender</a:t>
            </a:r>
            <a:br>
              <a:rPr lang="en-US" altLang="en-US" dirty="0">
                <a:ea typeface="ＭＳ Ｐゴシック" pitchFamily="34" charset="-128"/>
              </a:rPr>
            </a:br>
            <a:r>
              <a:rPr lang="en-US" altLang="en-US" dirty="0">
                <a:ea typeface="ＭＳ Ｐゴシック" pitchFamily="34" charset="-128"/>
              </a:rPr>
              <a:t>cannot later claim to have not created the data</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8226" name="Rectangle 2"/>
          <p:cNvSpPr>
            <a:spLocks noGrp="1" noChangeArrowheads="1"/>
          </p:cNvSpPr>
          <p:nvPr>
            <p:ph type="ctrTitle" idx="4294967295"/>
          </p:nvPr>
        </p:nvSpPr>
        <p:spPr>
          <a:xfrm>
            <a:off x="685800" y="2286000"/>
            <a:ext cx="7772400" cy="1143000"/>
          </a:xfrm>
        </p:spPr>
        <p:txBody>
          <a:bodyPr/>
          <a:lstStyle/>
          <a:p>
            <a:pPr>
              <a:defRPr/>
            </a:pPr>
            <a:r>
              <a:rPr lang="en-US" altLang="en-US" dirty="0">
                <a:effectLst>
                  <a:outerShdw blurRad="38100" dist="38100" dir="2700000" algn="tl">
                    <a:srgbClr val="C0C0C0"/>
                  </a:outerShdw>
                </a:effectLst>
              </a:rPr>
              <a:t>End of Chapter 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Digital Certificates</a:t>
            </a:r>
          </a:p>
        </p:txBody>
      </p:sp>
      <p:sp>
        <p:nvSpPr>
          <p:cNvPr id="63491" name="Rectangle 3"/>
          <p:cNvSpPr>
            <a:spLocks noGrp="1" noChangeArrowheads="1"/>
          </p:cNvSpPr>
          <p:nvPr>
            <p:ph type="body" idx="1"/>
          </p:nvPr>
        </p:nvSpPr>
        <p:spPr>
          <a:xfrm>
            <a:off x="768350" y="1093709"/>
            <a:ext cx="7727580" cy="5122416"/>
          </a:xfrm>
        </p:spPr>
        <p:txBody>
          <a:bodyPr/>
          <a:lstStyle/>
          <a:p>
            <a:pPr>
              <a:lnSpc>
                <a:spcPct val="90000"/>
              </a:lnSpc>
            </a:pPr>
            <a:r>
              <a:rPr lang="en-US" altLang="en-US" b="1" dirty="0">
                <a:solidFill>
                  <a:srgbClr val="002060"/>
                </a:solidFill>
              </a:rPr>
              <a:t>Digital certificates </a:t>
            </a:r>
            <a:r>
              <a:rPr lang="en-US" altLang="en-US" dirty="0"/>
              <a:t>are used to verify authenticity of public keys. </a:t>
            </a:r>
          </a:p>
          <a:p>
            <a:pPr>
              <a:lnSpc>
                <a:spcPct val="90000"/>
              </a:lnSpc>
            </a:pPr>
            <a:r>
              <a:rPr lang="en-US" altLang="en-US" dirty="0"/>
              <a:t>Problem: when you communicate with a web site, how do you know if you are talking with the genuine web site or an imposter?</a:t>
            </a:r>
          </a:p>
          <a:p>
            <a:pPr lvl="1">
              <a:lnSpc>
                <a:spcPct val="90000"/>
              </a:lnSpc>
            </a:pPr>
            <a:r>
              <a:rPr lang="en-US" altLang="en-US" dirty="0">
                <a:ea typeface="ＭＳ Ｐゴシック" pitchFamily="34" charset="-128"/>
              </a:rPr>
              <a:t>Solution: use the public key of the web site</a:t>
            </a:r>
          </a:p>
          <a:p>
            <a:pPr lvl="1">
              <a:lnSpc>
                <a:spcPct val="90000"/>
              </a:lnSpc>
            </a:pPr>
            <a:r>
              <a:rPr lang="en-US" altLang="en-US" dirty="0">
                <a:ea typeface="ＭＳ Ｐゴシック" pitchFamily="34" charset="-128"/>
              </a:rPr>
              <a:t>Problem: how to verify if the public key itself is genuine?</a:t>
            </a:r>
          </a:p>
          <a:p>
            <a:pPr>
              <a:lnSpc>
                <a:spcPct val="90000"/>
              </a:lnSpc>
            </a:pPr>
            <a:r>
              <a:rPr lang="en-US" altLang="en-US" dirty="0"/>
              <a:t>Solution:</a:t>
            </a:r>
          </a:p>
          <a:p>
            <a:pPr lvl="1">
              <a:lnSpc>
                <a:spcPct val="90000"/>
              </a:lnSpc>
            </a:pPr>
            <a:r>
              <a:rPr lang="en-US" altLang="en-US" dirty="0">
                <a:ea typeface="ＭＳ Ｐゴシック" pitchFamily="34" charset="-128"/>
              </a:rPr>
              <a:t>Every client (e.g., browser) has public keys of a few root-level </a:t>
            </a:r>
            <a:r>
              <a:rPr lang="en-US" altLang="en-US" b="1" dirty="0">
                <a:solidFill>
                  <a:srgbClr val="002060"/>
                </a:solidFill>
                <a:ea typeface="ＭＳ Ｐゴシック" pitchFamily="34" charset="-128"/>
              </a:rPr>
              <a:t>certification authorities</a:t>
            </a:r>
          </a:p>
          <a:p>
            <a:pPr lvl="1">
              <a:lnSpc>
                <a:spcPct val="90000"/>
              </a:lnSpc>
            </a:pPr>
            <a:r>
              <a:rPr lang="en-US" altLang="en-US" dirty="0">
                <a:ea typeface="ＭＳ Ｐゴシック" pitchFamily="34" charset="-128"/>
              </a:rPr>
              <a:t>A site can get its name/URL and public key signed by a certification authority: signed document is called a </a:t>
            </a:r>
            <a:r>
              <a:rPr lang="en-US" altLang="en-US" b="1" dirty="0">
                <a:solidFill>
                  <a:srgbClr val="002060"/>
                </a:solidFill>
                <a:ea typeface="ＭＳ Ｐゴシック" pitchFamily="34" charset="-128"/>
              </a:rPr>
              <a:t>certificate</a:t>
            </a:r>
          </a:p>
          <a:p>
            <a:pPr lvl="1">
              <a:lnSpc>
                <a:spcPct val="90000"/>
              </a:lnSpc>
            </a:pPr>
            <a:r>
              <a:rPr lang="en-US" altLang="en-US" dirty="0">
                <a:ea typeface="ＭＳ Ｐゴシック" pitchFamily="34" charset="-128"/>
              </a:rPr>
              <a:t>Client can use public key of certification authority to verify certificate</a:t>
            </a:r>
          </a:p>
          <a:p>
            <a:pPr lvl="1">
              <a:lnSpc>
                <a:spcPct val="90000"/>
              </a:lnSpc>
            </a:pPr>
            <a:r>
              <a:rPr lang="en-US" altLang="en-US" dirty="0">
                <a:ea typeface="ＭＳ Ｐゴシック" pitchFamily="34" charset="-128"/>
              </a:rPr>
              <a:t>Multiple levels of certification authorities can exist. Each certification authority </a:t>
            </a:r>
          </a:p>
          <a:p>
            <a:pPr lvl="2">
              <a:lnSpc>
                <a:spcPct val="90000"/>
              </a:lnSpc>
            </a:pPr>
            <a:r>
              <a:rPr lang="en-US" altLang="en-US" dirty="0">
                <a:ea typeface="ＭＳ Ｐゴシック" pitchFamily="34" charset="-128"/>
              </a:rPr>
              <a:t>Presents its own public-key certificate signed by a </a:t>
            </a:r>
            <a:br>
              <a:rPr lang="en-US" altLang="en-US" dirty="0">
                <a:ea typeface="ＭＳ Ｐゴシック" pitchFamily="34" charset="-128"/>
              </a:rPr>
            </a:br>
            <a:r>
              <a:rPr lang="en-US" altLang="en-US" dirty="0">
                <a:ea typeface="ＭＳ Ｐゴシック" pitchFamily="34" charset="-128"/>
              </a:rPr>
              <a:t>higher level authority, and </a:t>
            </a:r>
          </a:p>
          <a:p>
            <a:pPr lvl="2">
              <a:lnSpc>
                <a:spcPct val="90000"/>
              </a:lnSpc>
            </a:pPr>
            <a:r>
              <a:rPr lang="en-US" altLang="en-US" dirty="0">
                <a:ea typeface="ＭＳ Ｐゴシック" pitchFamily="34" charset="-128"/>
              </a:rPr>
              <a:t>Uses its private key to sign the certificate of  other web sites/authorities</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51970" name="Rectangle 2"/>
          <p:cNvSpPr>
            <a:spLocks noGrp="1" noChangeArrowheads="1"/>
          </p:cNvSpPr>
          <p:nvPr>
            <p:ph type="title" idx="4294967295"/>
          </p:nvPr>
        </p:nvSpPr>
        <p:spPr/>
        <p:txBody>
          <a:bodyPr/>
          <a:lstStyle/>
          <a:p>
            <a:pPr>
              <a:defRPr/>
            </a:pPr>
            <a:r>
              <a:rPr lang="en-US" altLang="en-US">
                <a:effectLst>
                  <a:outerShdw blurRad="38100" dist="38100" dir="2700000" algn="tl">
                    <a:srgbClr val="C0C0C0"/>
                  </a:outerShdw>
                </a:effectLst>
              </a:rPr>
              <a:t>A formatted report</a:t>
            </a:r>
          </a:p>
        </p:txBody>
      </p:sp>
      <p:pic>
        <p:nvPicPr>
          <p:cNvPr id="64515" name="Picture 5"/>
          <p:cNvPicPr>
            <a:picLocks noChangeAspect="1" noChangeArrowheads="1"/>
          </p:cNvPicPr>
          <p:nvPr/>
        </p:nvPicPr>
        <p:blipFill>
          <a:blip r:embed="rId3"/>
          <a:srcRect/>
          <a:stretch>
            <a:fillRect/>
          </a:stretch>
        </p:blipFill>
        <p:spPr bwMode="auto">
          <a:xfrm>
            <a:off x="1612231" y="1402003"/>
            <a:ext cx="6157245" cy="3317466"/>
          </a:xfrm>
          <a:prstGeom prst="rect">
            <a:avLst/>
          </a:prstGeom>
          <a:noFill/>
          <a:ln w="9525">
            <a:noFill/>
            <a:miter lim="800000"/>
            <a:headEnd/>
            <a:tailEnd/>
          </a:ln>
        </p:spPr>
      </p:pic>
    </p:spTree>
  </p:cSld>
  <p:clrMapOvr>
    <a:masterClrMapping/>
  </p:clrMapOvr>
  <p:transition spd="slow"/>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93022</TotalTime>
  <Words>6445</Words>
  <Application>Microsoft Office PowerPoint</Application>
  <PresentationFormat>On-screen Show (4:3)</PresentationFormat>
  <Paragraphs>290</Paragraphs>
  <Slides>22</Slides>
  <Notes>19</Notes>
  <HiddenSlides>2</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22</vt:i4>
      </vt:variant>
      <vt:variant>
        <vt:lpstr>Custom Shows</vt:lpstr>
      </vt:variant>
      <vt:variant>
        <vt:i4>1</vt:i4>
      </vt:variant>
    </vt:vector>
  </HeadingPairs>
  <TitlesOfParts>
    <vt:vector size="32" baseType="lpstr">
      <vt:lpstr>ＭＳ Ｐゴシック</vt:lpstr>
      <vt:lpstr>ＭＳ Ｐゴシック</vt:lpstr>
      <vt:lpstr>Arial</vt:lpstr>
      <vt:lpstr>Helvetica</vt:lpstr>
      <vt:lpstr>Monotype Sorts</vt:lpstr>
      <vt:lpstr>Times New Roman</vt:lpstr>
      <vt:lpstr>Webdings</vt:lpstr>
      <vt:lpstr>Wingdings</vt:lpstr>
      <vt:lpstr>2_db-5-grey</vt:lpstr>
      <vt:lpstr>Chapter 9: Application Development </vt:lpstr>
      <vt:lpstr>Outline</vt:lpstr>
      <vt:lpstr>Application Security</vt:lpstr>
      <vt:lpstr>SQL Injection</vt:lpstr>
      <vt:lpstr>Cross Site Scripting</vt:lpstr>
      <vt:lpstr>Cross Site Scripting</vt:lpstr>
      <vt:lpstr>Password Leakage</vt:lpstr>
      <vt:lpstr>Application Authentication</vt:lpstr>
      <vt:lpstr>Application Authentication</vt:lpstr>
      <vt:lpstr>Single Sign-On</vt:lpstr>
      <vt:lpstr>Application-Level Authorization</vt:lpstr>
      <vt:lpstr>Application-Level Authorization (Cont.)</vt:lpstr>
      <vt:lpstr>Audit Trails</vt:lpstr>
      <vt:lpstr>Encryption</vt:lpstr>
      <vt:lpstr>Encryption</vt:lpstr>
      <vt:lpstr>Encryption (Cont.)</vt:lpstr>
      <vt:lpstr>Encryption (Cont.)</vt:lpstr>
      <vt:lpstr>Encryption in Databases</vt:lpstr>
      <vt:lpstr>Encryption and Authentication</vt:lpstr>
      <vt:lpstr>End of Chapter 9</vt:lpstr>
      <vt:lpstr>Digital Certificates</vt:lpstr>
      <vt:lpstr>A formatted report</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486</cp:revision>
  <cp:lastPrinted>1999-06-28T19:27:31Z</cp:lastPrinted>
  <dcterms:created xsi:type="dcterms:W3CDTF">2009-12-21T15:40:22Z</dcterms:created>
  <dcterms:modified xsi:type="dcterms:W3CDTF">2022-03-17T10:10:38Z</dcterms:modified>
</cp:coreProperties>
</file>