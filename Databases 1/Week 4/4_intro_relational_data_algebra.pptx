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2"/>
  </p:notesMasterIdLst>
  <p:handoutMasterIdLst>
    <p:handoutMasterId r:id="rId33"/>
  </p:handoutMasterIdLst>
  <p:sldIdLst>
    <p:sldId id="335" r:id="rId2"/>
    <p:sldId id="336" r:id="rId3"/>
    <p:sldId id="337" r:id="rId4"/>
    <p:sldId id="367" r:id="rId5"/>
    <p:sldId id="338" r:id="rId6"/>
    <p:sldId id="364" r:id="rId7"/>
    <p:sldId id="340" r:id="rId8"/>
    <p:sldId id="341" r:id="rId9"/>
    <p:sldId id="342" r:id="rId10"/>
    <p:sldId id="343" r:id="rId11"/>
    <p:sldId id="344" r:id="rId12"/>
    <p:sldId id="345" r:id="rId13"/>
    <p:sldId id="368"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Lst>
  <p:sldSz cx="9144000" cy="6858000" type="screen4x3"/>
  <p:notesSz cx="6997700" cy="9283700"/>
  <p:custShowLst>
    <p:custShow name="Custom Show 1" id="0">
      <p:sldLst>
        <p:sld r:id="rId2"/>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S Sudarshan" initials="SS" lastIdx="1" clrIdx="1">
    <p:extLst>
      <p:ext uri="{19B8F6BF-5375-455C-9EA6-DF929625EA0E}">
        <p15:presenceInfo xmlns:p15="http://schemas.microsoft.com/office/powerpoint/2012/main" userId="b463bc06a992a7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46125" autoAdjust="0"/>
  </p:normalViewPr>
  <p:slideViewPr>
    <p:cSldViewPr snapToGrid="0">
      <p:cViewPr varScale="1">
        <p:scale>
          <a:sx n="32" d="100"/>
          <a:sy n="32" d="100"/>
        </p:scale>
        <p:origin x="2352" y="60"/>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DE2DCE1-2EFC-4C42-8DFC-CBA6F3323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pPr/>
              <a:t>1</a:t>
            </a:fld>
            <a:endParaRPr lang="en-US" altLang="en-US" sz="1300"/>
          </a:p>
        </p:txBody>
      </p:sp>
      <p:sp>
        <p:nvSpPr>
          <p:cNvPr id="6147" name="Rectangle 2">
            <a:extLst>
              <a:ext uri="{FF2B5EF4-FFF2-40B4-BE49-F238E27FC236}">
                <a16:creationId xmlns:a16="http://schemas.microsoft.com/office/drawing/2014/main" id="{607B12F9-7FC5-42D0-9964-0865785D1C1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2BC6D4DE-B9DA-4FD2-A997-14A566E8D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2</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1187450" y="703263"/>
            <a:ext cx="4622800"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sz="1200" b="1" kern="1200" dirty="0" smtClean="0">
                <a:solidFill>
                  <a:schemeClr val="tx1"/>
                </a:solidFill>
                <a:effectLst/>
                <a:latin typeface="Times New Roman" charset="0"/>
                <a:ea typeface="MS PGothic" panose="020B0600070205080204" pitchFamily="34" charset="-128"/>
                <a:cs typeface="ＭＳ Ｐゴシック" charset="0"/>
              </a:rPr>
              <a:t>The relational model remains the primary data model for commercial data-processing applications. </a:t>
            </a:r>
            <a:endParaRPr lang="en-US" sz="1200" b="1" kern="1200" dirty="0" smtClean="0">
              <a:solidFill>
                <a:schemeClr val="tx1"/>
              </a:solidFill>
              <a:effectLst/>
              <a:latin typeface="Times New Roman" charset="0"/>
              <a:ea typeface="MS PGothic" panose="020B0600070205080204" pitchFamily="34" charset="-128"/>
              <a:cs typeface="ＭＳ Ｐゴシック" charset="0"/>
            </a:endParaRPr>
          </a:p>
          <a:p>
            <a:r>
              <a:rPr lang="en-US" sz="1200" b="1" i="1" kern="1200" dirty="0" smtClean="0">
                <a:solidFill>
                  <a:schemeClr val="tx1"/>
                </a:solidFill>
                <a:effectLst/>
                <a:latin typeface="Times New Roman" charset="0"/>
                <a:ea typeface="MS PGothic" panose="020B0600070205080204" pitchFamily="34" charset="-128"/>
                <a:cs typeface="ＭＳ Ｐゴシック" charset="0"/>
              </a:rPr>
              <a:t>It </a:t>
            </a:r>
            <a:r>
              <a:rPr lang="en-US" sz="1200" b="1" i="1" kern="1200" dirty="0" smtClean="0">
                <a:solidFill>
                  <a:schemeClr val="tx1"/>
                </a:solidFill>
                <a:effectLst/>
                <a:latin typeface="Times New Roman" charset="0"/>
                <a:ea typeface="MS PGothic" panose="020B0600070205080204" pitchFamily="34" charset="-128"/>
                <a:cs typeface="ＭＳ Ｐゴシック" charset="0"/>
              </a:rPr>
              <a:t>attained its primary position because of its simplicity, which eases the job of the programmer, compared to earlier data models such as the network model or the hierarchical model. </a:t>
            </a:r>
            <a:endParaRPr lang="en-US" sz="1200" b="1" i="1" kern="1200" dirty="0" smtClean="0">
              <a:solidFill>
                <a:schemeClr val="tx1"/>
              </a:solidFill>
              <a:effectLst/>
              <a:latin typeface="Times New Roman" charset="0"/>
              <a:ea typeface="MS PGothic" panose="020B0600070205080204" pitchFamily="34" charset="-128"/>
              <a:cs typeface="ＭＳ Ｐゴシック" charset="0"/>
            </a:endParaRPr>
          </a:p>
          <a:p>
            <a:r>
              <a:rPr lang="en-US" sz="1200" b="1" i="1" kern="1200" dirty="0" smtClean="0">
                <a:solidFill>
                  <a:schemeClr val="tx1"/>
                </a:solidFill>
                <a:effectLst/>
                <a:latin typeface="Times New Roman" charset="0"/>
                <a:ea typeface="MS PGothic" panose="020B0600070205080204" pitchFamily="34" charset="-128"/>
                <a:cs typeface="ＭＳ Ｐゴシック" charset="0"/>
              </a:rPr>
              <a:t>It </a:t>
            </a:r>
            <a:r>
              <a:rPr lang="en-US" sz="1200" b="1" i="1" kern="1200" dirty="0" smtClean="0">
                <a:solidFill>
                  <a:schemeClr val="tx1"/>
                </a:solidFill>
                <a:effectLst/>
                <a:latin typeface="Times New Roman" charset="0"/>
                <a:ea typeface="MS PGothic" panose="020B0600070205080204" pitchFamily="34" charset="-128"/>
                <a:cs typeface="ＭＳ Ｐゴシック" charset="0"/>
              </a:rPr>
              <a:t>has retained this position by incorporating various new features and capabilities over its half-century of existence. </a:t>
            </a:r>
            <a:endParaRPr lang="en-US" sz="1200" b="1" i="1" kern="1200" dirty="0" smtClean="0">
              <a:solidFill>
                <a:schemeClr val="tx1"/>
              </a:solidFill>
              <a:effectLst/>
              <a:latin typeface="Times New Roman" charset="0"/>
              <a:ea typeface="MS PGothic" panose="020B0600070205080204" pitchFamily="34" charset="-128"/>
              <a:cs typeface="ＭＳ Ｐゴシック" charset="0"/>
            </a:endParaRPr>
          </a:p>
          <a:p>
            <a:r>
              <a:rPr lang="en-US" sz="1200" b="1" i="1" kern="1200" dirty="0" smtClean="0">
                <a:solidFill>
                  <a:schemeClr val="tx1"/>
                </a:solidFill>
                <a:effectLst/>
                <a:latin typeface="Times New Roman" charset="0"/>
                <a:ea typeface="MS PGothic" panose="020B0600070205080204" pitchFamily="34" charset="-128"/>
                <a:cs typeface="ＭＳ Ｐゴシック" charset="0"/>
              </a:rPr>
              <a:t>Among </a:t>
            </a:r>
            <a:r>
              <a:rPr lang="en-US" sz="1200" b="1" i="1" kern="1200" dirty="0" smtClean="0">
                <a:solidFill>
                  <a:schemeClr val="tx1"/>
                </a:solidFill>
                <a:effectLst/>
                <a:latin typeface="Times New Roman" charset="0"/>
                <a:ea typeface="MS PGothic" panose="020B0600070205080204" pitchFamily="34" charset="-128"/>
                <a:cs typeface="ＭＳ Ｐゴシック" charset="0"/>
              </a:rPr>
              <a:t>those additions are object-relational features such as complex data types and stored procedures, support for XML data, and various tools to support semi-structured data. </a:t>
            </a:r>
            <a:endParaRPr lang="en-US" sz="1200" b="1" i="1" kern="1200" dirty="0" smtClean="0">
              <a:solidFill>
                <a:schemeClr val="tx1"/>
              </a:solidFill>
              <a:effectLst/>
              <a:latin typeface="Times New Roman" charset="0"/>
              <a:ea typeface="MS PGothic" panose="020B0600070205080204" pitchFamily="34" charset="-128"/>
              <a:cs typeface="ＭＳ Ｐゴシック" charset="0"/>
            </a:endParaRPr>
          </a:p>
          <a:p>
            <a:r>
              <a:rPr lang="en-US" sz="1200" b="1" i="1" kern="1200" dirty="0" smtClean="0">
                <a:solidFill>
                  <a:schemeClr val="tx1"/>
                </a:solidFill>
                <a:effectLst/>
                <a:latin typeface="Times New Roman" charset="0"/>
                <a:ea typeface="MS PGothic" panose="020B0600070205080204" pitchFamily="34" charset="-128"/>
                <a:cs typeface="ＭＳ Ｐゴシック" charset="0"/>
              </a:rPr>
              <a:t>The </a:t>
            </a:r>
            <a:r>
              <a:rPr lang="en-US" sz="1200" b="1" i="1" kern="1200" dirty="0" smtClean="0">
                <a:solidFill>
                  <a:schemeClr val="tx1"/>
                </a:solidFill>
                <a:effectLst/>
                <a:latin typeface="Times New Roman" charset="0"/>
                <a:ea typeface="MS PGothic" panose="020B0600070205080204" pitchFamily="34" charset="-128"/>
                <a:cs typeface="ＭＳ Ｐゴシック" charset="0"/>
              </a:rPr>
              <a:t>relational model’s independence from any specific underlying low-level data structures has allowed it to persist despite the advent of new approaches to data storage, including modern column stores that are designed for large-scale data mining. </a:t>
            </a:r>
          </a:p>
          <a:p>
            <a:endParaRPr lang="en-US" sz="1200" b="1" kern="1200" dirty="0" smtClean="0">
              <a:solidFill>
                <a:schemeClr val="tx1"/>
              </a:solidFill>
              <a:effectLst/>
              <a:latin typeface="Times New Roman" charset="0"/>
              <a:ea typeface="MS PGothic" panose="020B0600070205080204" pitchFamily="34" charset="-128"/>
              <a:cs typeface="ＭＳ Ｐゴシック" charset="0"/>
            </a:endParaRPr>
          </a:p>
          <a:p>
            <a:r>
              <a:rPr lang="en-US" sz="1200" b="0" kern="1200" dirty="0" smtClean="0">
                <a:solidFill>
                  <a:schemeClr val="tx1"/>
                </a:solidFill>
                <a:effectLst/>
                <a:latin typeface="Times New Roman" charset="0"/>
                <a:ea typeface="MS PGothic" panose="020B0600070205080204" pitchFamily="34" charset="-128"/>
                <a:cs typeface="ＭＳ Ｐゴシック" charset="0"/>
              </a:rPr>
              <a:t>In this chapter, </a:t>
            </a:r>
            <a:r>
              <a:rPr lang="en-US" sz="1200" b="1" kern="1200" dirty="0" smtClean="0">
                <a:solidFill>
                  <a:schemeClr val="tx1"/>
                </a:solidFill>
                <a:effectLst/>
                <a:latin typeface="Times New Roman" charset="0"/>
                <a:ea typeface="MS PGothic" panose="020B0600070205080204" pitchFamily="34" charset="-128"/>
                <a:cs typeface="ＭＳ Ｐゴシック" charset="0"/>
              </a:rPr>
              <a:t>we first study the fundamentals of the relational model. </a:t>
            </a:r>
            <a:r>
              <a:rPr lang="en-US" sz="1200" b="1" i="1" kern="1200" dirty="0" smtClean="0">
                <a:solidFill>
                  <a:schemeClr val="tx1"/>
                </a:solidFill>
                <a:effectLst/>
                <a:latin typeface="Times New Roman" charset="0"/>
                <a:ea typeface="MS PGothic" panose="020B0600070205080204" pitchFamily="34" charset="-128"/>
                <a:cs typeface="ＭＳ Ｐゴシック" charset="0"/>
              </a:rPr>
              <a:t>A substantial theory exists for relational databases</a:t>
            </a:r>
            <a:r>
              <a:rPr lang="en-US" sz="1200" kern="1200" dirty="0" smtClean="0">
                <a:solidFill>
                  <a:schemeClr val="tx1"/>
                </a:solidFill>
                <a:effectLst/>
                <a:latin typeface="Times New Roman" charset="0"/>
                <a:ea typeface="MS PGothic" panose="020B0600070205080204" pitchFamily="34" charset="-128"/>
                <a:cs typeface="ＭＳ Ｐゴシック" charset="0"/>
              </a:rPr>
              <a:t>. In Chapter 6 and Chapter 7, we shall examine aspects of database theory that help in the design of relational database schemas, while in Chapter 15 and Chapter 16 we discuss aspects of the theory dealing with efficient processing of queries. In Chapter 27, we study aspects of formal relational languages beyond our basic coverage in this chapter.</a:t>
            </a:r>
          </a:p>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24B64C8-56F4-412C-A096-460A1996127B}" type="slidenum">
              <a:rPr lang="en-US" altLang="en-US" sz="1200"/>
              <a:pPr/>
              <a:t>3</a:t>
            </a:fld>
            <a:endParaRPr lang="en-US" altLang="en-US" sz="1200" dirty="0"/>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 relational database consists of a collection of tables, each of which is assigned a unique name. For example, consider the instructor table of Figure 2.1, which stores information about instructors. The table has four column headers: ID, name, </a:t>
            </a:r>
            <a:r>
              <a:rPr lang="en-US" b="1" dirty="0" err="1" smtClean="0"/>
              <a:t>dept_name</a:t>
            </a:r>
            <a:r>
              <a:rPr lang="en-US" b="1" dirty="0" smtClean="0"/>
              <a:t>, and salary. Each row of this table records information about an instructor, consisting of the instructor’s ID, name, </a:t>
            </a:r>
            <a:r>
              <a:rPr lang="en-US" b="1" dirty="0" err="1" smtClean="0"/>
              <a:t>dept_name</a:t>
            </a:r>
            <a:r>
              <a:rPr lang="en-US" b="1" dirty="0" smtClean="0"/>
              <a:t>, and salary. </a:t>
            </a:r>
          </a:p>
          <a:p>
            <a:endParaRPr lang="en-US" b="1" dirty="0" smtClean="0"/>
          </a:p>
          <a:p>
            <a:r>
              <a:rPr lang="en-US" b="1" dirty="0" smtClean="0"/>
              <a:t>Similarly, the course table </a:t>
            </a:r>
            <a:r>
              <a:rPr lang="en-US" dirty="0" smtClean="0"/>
              <a:t>of Figure 2.2 </a:t>
            </a:r>
            <a:r>
              <a:rPr lang="en-US" b="1" dirty="0" smtClean="0"/>
              <a:t>stores information about courses, consisting of a course id, title, </a:t>
            </a:r>
            <a:r>
              <a:rPr lang="en-US" b="1" dirty="0" err="1" smtClean="0"/>
              <a:t>dept_name</a:t>
            </a:r>
            <a:r>
              <a:rPr lang="en-US" b="1" dirty="0" smtClean="0"/>
              <a:t>, and credits, for each course. </a:t>
            </a:r>
            <a:r>
              <a:rPr lang="en-US" dirty="0" smtClean="0"/>
              <a:t>Note that each instructor is identified by the value of the column ID, while each course is identified by the value of the column course id.</a:t>
            </a:r>
            <a:endParaRPr lang="en-US"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4</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1187450" y="703263"/>
            <a:ext cx="4622800"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1" dirty="0" smtClean="0"/>
              <a:t>In general, a row in a table represents a relationship among a set of values. Since a table is a collection of such relationships, there is a close correspondence between the concept of table and the mathematical concept of relation, from which the relational data model takes its name. </a:t>
            </a:r>
          </a:p>
          <a:p>
            <a:endParaRPr lang="en-US" b="1" dirty="0" smtClean="0"/>
          </a:p>
          <a:p>
            <a:r>
              <a:rPr lang="en-US" b="1" dirty="0" smtClean="0"/>
              <a:t>In mathematical terminology, a tuple is simply a sequence (or list) of values. </a:t>
            </a:r>
            <a:endParaRPr lang="en-US" b="1" dirty="0" smtClean="0"/>
          </a:p>
          <a:p>
            <a:r>
              <a:rPr lang="en-US" b="1" dirty="0" smtClean="0"/>
              <a:t>A </a:t>
            </a:r>
            <a:r>
              <a:rPr lang="en-US" b="1" dirty="0" smtClean="0"/>
              <a:t>relationship between n values is represented mathematically by an n-tuple of values, that is, a tuple with n values, which corresponds to a row in a table.</a:t>
            </a:r>
            <a:r>
              <a:rPr lang="en-US" dirty="0" smtClean="0"/>
              <a:t> </a:t>
            </a:r>
          </a:p>
          <a:p>
            <a:r>
              <a:rPr lang="en-US" b="1" i="1" dirty="0" smtClean="0"/>
              <a:t>Thus, in the relational model the term relation is used to refer to a table, while the term tuple is used to refer to a row. </a:t>
            </a:r>
            <a:endParaRPr lang="en-US" b="1" i="1" dirty="0" smtClean="0"/>
          </a:p>
          <a:p>
            <a:r>
              <a:rPr lang="en-US" b="1" i="1" dirty="0" smtClean="0"/>
              <a:t>Similarly</a:t>
            </a:r>
            <a:r>
              <a:rPr lang="en-US" b="1" i="1" dirty="0" smtClean="0"/>
              <a:t>, the term attribute refers to a column of a table.</a:t>
            </a:r>
          </a:p>
          <a:p>
            <a:endParaRPr lang="en-US" altLang="en-US" dirty="0" smtClean="0"/>
          </a:p>
          <a:p>
            <a:r>
              <a:rPr lang="en-US" b="1" dirty="0" smtClean="0"/>
              <a:t>Examining Figure 2.1, we can see that the relation instructor has four attributes: ID, name, </a:t>
            </a:r>
            <a:r>
              <a:rPr lang="en-US" b="1" dirty="0" err="1" smtClean="0"/>
              <a:t>dept</a:t>
            </a:r>
            <a:r>
              <a:rPr lang="en-US" b="1" dirty="0" smtClean="0"/>
              <a:t> name, and salary. </a:t>
            </a:r>
            <a:r>
              <a:rPr lang="en-US" dirty="0" smtClean="0"/>
              <a:t>We use the term relation instance to refer to a specific instance of a relation, that is, containing a specific set of rows. The instance of instructor shown in Figure 2.1 has 12 tuples, corresponding to 12 instructors.</a:t>
            </a:r>
          </a:p>
          <a:p>
            <a:endParaRPr lang="en-US" altLang="en-US" dirty="0" smtClean="0"/>
          </a:p>
          <a:p>
            <a:r>
              <a:rPr lang="en-US" b="1" i="1" dirty="0" smtClean="0"/>
              <a:t>The order in which tuples appear in a relation is irrelevant, since a relation is a set of tuples. </a:t>
            </a:r>
            <a:r>
              <a:rPr lang="en-US" dirty="0" smtClean="0"/>
              <a:t>Thus, whether the tuples of a relation are listed in sorted order, as in Figure 2.1, or are unsorted </a:t>
            </a:r>
          </a:p>
          <a:p>
            <a:endParaRPr lang="en-US" altLang="en-US" dirty="0" smtClean="0"/>
          </a:p>
          <a:p>
            <a:r>
              <a:rPr lang="en-US" altLang="en-US" b="1" u="sng" dirty="0" smtClean="0"/>
              <a:t>SLAJD</a:t>
            </a:r>
            <a:endParaRPr lang="en-US" altLang="en-US" b="1" u="sng" dirty="0"/>
          </a:p>
        </p:txBody>
      </p:sp>
    </p:spTree>
    <p:extLst>
      <p:ext uri="{BB962C8B-B14F-4D97-AF65-F5344CB8AC3E}">
        <p14:creationId xmlns:p14="http://schemas.microsoft.com/office/powerpoint/2010/main" val="481492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48DD873-39B1-4B0F-9E11-CA0A5E740CE2}" type="slidenum">
              <a:rPr lang="en-US" altLang="en-US" sz="1200"/>
              <a:pPr/>
              <a:t>5</a:t>
            </a:fld>
            <a:endParaRPr lang="en-US" altLang="en-US" sz="1200" dirty="0"/>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For each attribute of a relation, there is a set of permitted values, called the domain of that attribute. </a:t>
            </a:r>
          </a:p>
          <a:p>
            <a:r>
              <a:rPr lang="en-US" b="1" i="1" dirty="0" smtClean="0"/>
              <a:t>Thus, the domain of the salary attribute </a:t>
            </a:r>
            <a:r>
              <a:rPr lang="en-US" b="1" i="1" dirty="0" smtClean="0"/>
              <a:t>of the instructor relation is the set of all possible salary </a:t>
            </a:r>
            <a:r>
              <a:rPr lang="en-US" b="1" i="1" dirty="0" smtClean="0"/>
              <a:t>values, while the domain of the name attribute is the set of all possible instructor names</a:t>
            </a:r>
            <a:r>
              <a:rPr lang="en-US" b="1" i="1" dirty="0" smtClean="0"/>
              <a:t>.</a:t>
            </a:r>
            <a:endParaRPr lang="en-US" b="1" i="1" dirty="0" smtClean="0"/>
          </a:p>
          <a:p>
            <a:endParaRPr lang="en-US" altLang="en-US" dirty="0" smtClean="0">
              <a:latin typeface="Times New Roman" panose="02020603050405020304" pitchFamily="18" charset="0"/>
            </a:endParaRPr>
          </a:p>
          <a:p>
            <a:r>
              <a:rPr lang="en-US" b="1" dirty="0" smtClean="0"/>
              <a:t>We require that, for all relations r, the domains of all attributes of r be atomic. A domain is atomic if elements of the domain are considered to be indivisible units. For example, suppose the table instructor had an attribute phone number, which can store a set of phone numbers corresponding to the instructor. </a:t>
            </a:r>
            <a:r>
              <a:rPr lang="en-US" b="1" i="1" dirty="0" smtClean="0"/>
              <a:t>Then the domain of phone number would not be atomic, since an element of the domain is a set of phone numbers, and it has subparts, namely, the individual phone numbers in the set.</a:t>
            </a:r>
            <a:endParaRPr lang="en-US" altLang="en-US" b="1" i="1"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The important issue is not what the domain itself is, but rather how we use domain elements in our database. Suppose now that the phone number attribute stores a single phone number. Even then, if we split the value from the phone number attribute into a country code, an area code, and a local number, we would be treating it as a non-atomic value. If we treat each phone number as a single indivisible unit, then the attribute phone number would have an atomic domain.</a:t>
            </a:r>
          </a:p>
          <a:p>
            <a:endParaRPr lang="en-US" altLang="en-US" dirty="0" smtClean="0">
              <a:latin typeface="Times New Roman" panose="02020603050405020304" pitchFamily="18" charset="0"/>
            </a:endParaRPr>
          </a:p>
          <a:p>
            <a:r>
              <a:rPr lang="en-US" b="1" dirty="0" smtClean="0"/>
              <a:t>The null value is a special value that signifies that the value is unknown or does not exist. </a:t>
            </a:r>
            <a:r>
              <a:rPr lang="en-US" b="1" i="1" dirty="0" smtClean="0"/>
              <a:t>For example, suppose as before that we include the attribute phone number in the instructor relation. It may be that an instructor does not have a phone number at all, or that the telephone number is unlisted. </a:t>
            </a:r>
            <a:r>
              <a:rPr lang="en-US" i="1" dirty="0" smtClean="0"/>
              <a:t>We would then have to use the null value to signify that the value is unknown or does not exist. </a:t>
            </a:r>
            <a:r>
              <a:rPr lang="en-US" dirty="0" smtClean="0"/>
              <a:t>We shall see later that null values cause a number of difficulties when we access or update the database, and thus they should be eliminated if at all possible. We shall assume null values are absent initially, and in Section 3.6 we describe the effect of nulls on different operations.</a:t>
            </a:r>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48DD873-39B1-4B0F-9E11-CA0A5E740CE2}" type="slidenum">
              <a:rPr lang="en-US" altLang="en-US" sz="1200"/>
              <a:pPr/>
              <a:t>6</a:t>
            </a:fld>
            <a:endParaRPr lang="en-US" altLang="en-US" sz="1200" dirty="0"/>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A82168F-E865-405F-BB81-ED9E0172F23B}" type="slidenum">
              <a:rPr lang="en-US" altLang="en-US" sz="1200"/>
              <a:pPr/>
              <a:t>7</a:t>
            </a:fld>
            <a:endParaRPr lang="en-US" altLang="en-US" sz="1200" dirty="0"/>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When we talk about a database, we must differentiate between the database schema, which is the logical design of the database, and the database instance, which is a snapshot of the data in the database at a given instant in time. </a:t>
            </a:r>
          </a:p>
          <a:p>
            <a:endParaRPr lang="en-US" dirty="0" smtClean="0"/>
          </a:p>
          <a:p>
            <a:r>
              <a:rPr lang="en-US" b="1" i="1" dirty="0" smtClean="0"/>
              <a:t>The concept of a relation corresponds to the programming-language notion of a variable, while the concept of a relation schema corresponds to the programming language notion of type definition. In general, a relation schema consists of a list of attributes and their corresponding domains.</a:t>
            </a:r>
          </a:p>
          <a:p>
            <a:endParaRPr lang="en-US" altLang="en-US" dirty="0" smtClean="0">
              <a:latin typeface="Times New Roman" panose="02020603050405020304" pitchFamily="18" charset="0"/>
            </a:endParaRPr>
          </a:p>
          <a:p>
            <a:r>
              <a:rPr lang="en-US" i="1" dirty="0" smtClean="0"/>
              <a:t>The concept of a relation instance corresponds to the programming-language notion of a value of a variable. The value of a given variable may change with time; similarly the contents of a relation instance may change with time as the relation is updated. In contrast, the schema of a relation does not generally change. </a:t>
            </a:r>
          </a:p>
          <a:p>
            <a:endParaRPr lang="en-US" dirty="0" smtClean="0"/>
          </a:p>
          <a:p>
            <a:r>
              <a:rPr lang="en-US" b="1" dirty="0" smtClean="0"/>
              <a:t>Although it is important to know the difference between a relation schema and a relation instance, we often use the same name, such as instructor, to refer to both the schema and the instance. </a:t>
            </a:r>
            <a:r>
              <a:rPr lang="en-US" i="1" dirty="0" smtClean="0"/>
              <a:t>Where required, we explicitly refer to the schema or to the instance, for example “the instructor schema,” or “an instance of the instructor relation.” </a:t>
            </a:r>
            <a:r>
              <a:rPr lang="en-US" dirty="0" smtClean="0"/>
              <a:t>However, where it is clear whether we mean the schema or the instance, we simply use the relation name.</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b="1" i="1" u="sng" dirty="0" err="1" smtClean="0">
                <a:latin typeface="Times New Roman" panose="02020603050405020304" pitchFamily="18" charset="0"/>
              </a:rPr>
              <a:t>Ima</a:t>
            </a:r>
            <a:r>
              <a:rPr lang="en-US" altLang="en-US" b="1" i="1" u="sng" dirty="0" smtClean="0">
                <a:latin typeface="Times New Roman" panose="02020603050405020304" pitchFamily="18" charset="0"/>
              </a:rPr>
              <a:t> </a:t>
            </a:r>
            <a:r>
              <a:rPr lang="en-US" altLang="en-US" b="1" i="1" u="sng" dirty="0" err="1" smtClean="0">
                <a:latin typeface="Times New Roman" panose="02020603050405020304" pitchFamily="18" charset="0"/>
              </a:rPr>
              <a:t>uste</a:t>
            </a:r>
            <a:r>
              <a:rPr lang="en-US" altLang="en-US" b="1" i="1" u="sng" dirty="0" smtClean="0">
                <a:latin typeface="Times New Roman" panose="02020603050405020304" pitchFamily="18" charset="0"/>
              </a:rPr>
              <a:t> 2 </a:t>
            </a:r>
            <a:r>
              <a:rPr lang="en-US" altLang="en-US" b="1" i="1" u="sng" dirty="0" err="1" smtClean="0">
                <a:latin typeface="Times New Roman" panose="02020603050405020304" pitchFamily="18" charset="0"/>
              </a:rPr>
              <a:t>primera</a:t>
            </a:r>
            <a:r>
              <a:rPr lang="en-US" altLang="en-US" b="1" i="1" u="sng" dirty="0" smtClean="0">
                <a:latin typeface="Times New Roman" panose="02020603050405020304" pitchFamily="18" charset="0"/>
              </a:rPr>
              <a:t> </a:t>
            </a:r>
            <a:r>
              <a:rPr lang="en-US" altLang="en-US" b="1" i="1" u="sng" dirty="0" err="1" smtClean="0">
                <a:latin typeface="Times New Roman" panose="02020603050405020304" pitchFamily="18" charset="0"/>
              </a:rPr>
              <a:t>vo</a:t>
            </a:r>
            <a:r>
              <a:rPr lang="en-US" altLang="en-US" b="1" i="1" u="sng" dirty="0" smtClean="0">
                <a:latin typeface="Times New Roman" panose="02020603050405020304" pitchFamily="18" charset="0"/>
              </a:rPr>
              <a:t> </a:t>
            </a:r>
            <a:r>
              <a:rPr lang="en-US" altLang="en-US" b="1" i="1" u="sng" dirty="0" err="1" smtClean="0">
                <a:latin typeface="Times New Roman" panose="02020603050405020304" pitchFamily="18" charset="0"/>
              </a:rPr>
              <a:t>knigata</a:t>
            </a:r>
            <a:r>
              <a:rPr lang="en-US" altLang="en-US" b="1" i="1" u="sng" dirty="0" smtClean="0">
                <a:latin typeface="Times New Roman" panose="02020603050405020304" pitchFamily="18" charset="0"/>
              </a:rPr>
              <a:t> </a:t>
            </a:r>
          </a:p>
          <a:p>
            <a:endParaRPr lang="en-US" altLang="en-US"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A82168F-E865-405F-BB81-ED9E0172F23B}" type="slidenum">
              <a:rPr lang="en-US" altLang="en-US" sz="1200"/>
              <a:pPr/>
              <a:t>8</a:t>
            </a:fld>
            <a:endParaRPr lang="en-US" altLang="en-US" sz="1200" dirty="0"/>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We must have a way to specify how tuples within a given relation are distinguished. This is expressed in terms of their attributes. That is, the values of the attribute values of a tuple must be such that they can uniquely identify the tuple. In other words, no two tuples in a relation are allowed to have exactly the same value for all attributes.</a:t>
            </a:r>
          </a:p>
          <a:p>
            <a:endParaRPr lang="en-US" dirty="0" smtClean="0"/>
          </a:p>
          <a:p>
            <a:r>
              <a:rPr lang="en-US" b="1" dirty="0" smtClean="0"/>
              <a:t>A </a:t>
            </a:r>
            <a:r>
              <a:rPr lang="en-US" b="1" dirty="0" err="1" smtClean="0"/>
              <a:t>superkey</a:t>
            </a:r>
            <a:r>
              <a:rPr lang="en-US" b="1" dirty="0" smtClean="0"/>
              <a:t> is a set of one or more attributes that, taken collectively, allow us to identify uniquely a tuple in the relation. </a:t>
            </a:r>
            <a:r>
              <a:rPr lang="en-US" dirty="0" smtClean="0"/>
              <a:t>For example, </a:t>
            </a:r>
            <a:r>
              <a:rPr lang="en-US" b="1" i="1" dirty="0" smtClean="0"/>
              <a:t>the ID attribute of the relation instructor is sufficient to distinguish one instructor tuple from another.</a:t>
            </a:r>
            <a:r>
              <a:rPr lang="en-US" dirty="0" smtClean="0"/>
              <a:t> </a:t>
            </a:r>
            <a:r>
              <a:rPr lang="en-US" b="1" i="1" dirty="0" smtClean="0"/>
              <a:t>Thus, ID is a </a:t>
            </a:r>
            <a:r>
              <a:rPr lang="en-US" b="1" i="1" dirty="0" err="1" smtClean="0"/>
              <a:t>superkey</a:t>
            </a:r>
            <a:r>
              <a:rPr lang="en-US" dirty="0" smtClean="0"/>
              <a:t>. </a:t>
            </a:r>
            <a:r>
              <a:rPr lang="en-US" b="1" i="1" dirty="0" smtClean="0"/>
              <a:t>The name attribute of instructor, on the other hand, is not a </a:t>
            </a:r>
            <a:r>
              <a:rPr lang="en-US" b="1" i="1" dirty="0" err="1" smtClean="0"/>
              <a:t>superkey</a:t>
            </a:r>
            <a:r>
              <a:rPr lang="en-US" b="1" i="1" dirty="0" smtClean="0"/>
              <a:t>, because several instructors might have the same name.</a:t>
            </a:r>
          </a:p>
          <a:p>
            <a:endParaRPr lang="en-US" altLang="en-US" dirty="0" smtClean="0">
              <a:latin typeface="Times New Roman" panose="02020603050405020304" pitchFamily="18" charset="0"/>
            </a:endParaRPr>
          </a:p>
          <a:p>
            <a:r>
              <a:rPr lang="en-US" b="1" i="1" dirty="0" smtClean="0"/>
              <a:t>Formally</a:t>
            </a:r>
            <a:r>
              <a:rPr lang="en-US" b="1" i="1" dirty="0" smtClean="0"/>
              <a:t>, let R denote the set of attributes in the schema of relation r. If we say that a subset K of R (relational schema) is a </a:t>
            </a:r>
            <a:r>
              <a:rPr lang="en-US" b="1" i="1" dirty="0" err="1" smtClean="0"/>
              <a:t>superkey</a:t>
            </a:r>
            <a:r>
              <a:rPr lang="en-US" b="1" i="1" dirty="0" smtClean="0"/>
              <a:t> for r, we are restricting consideration to instances of relations r in which no two distinct tuples have the same values on all attributes in K. </a:t>
            </a:r>
            <a:r>
              <a:rPr lang="en-US" i="1" dirty="0" smtClean="0"/>
              <a:t>That is, if t</a:t>
            </a:r>
            <a:r>
              <a:rPr lang="en-US" i="1" baseline="-25000" dirty="0" smtClean="0"/>
              <a:t>1</a:t>
            </a:r>
            <a:r>
              <a:rPr lang="en-US" i="1" dirty="0" smtClean="0"/>
              <a:t> and t</a:t>
            </a:r>
            <a:r>
              <a:rPr lang="en-US" i="1" baseline="-25000" dirty="0" smtClean="0"/>
              <a:t>2 </a:t>
            </a:r>
            <a:r>
              <a:rPr lang="en-US" i="1" dirty="0" smtClean="0"/>
              <a:t>are in r and t1 ≠ t</a:t>
            </a:r>
            <a:r>
              <a:rPr lang="en-US" i="1" baseline="-25000" dirty="0" smtClean="0"/>
              <a:t>2</a:t>
            </a:r>
            <a:r>
              <a:rPr lang="en-US" i="1" dirty="0" smtClean="0"/>
              <a:t>, then t</a:t>
            </a:r>
            <a:r>
              <a:rPr lang="en-US" i="1" baseline="-25000" dirty="0" smtClean="0"/>
              <a:t>1</a:t>
            </a:r>
            <a:r>
              <a:rPr lang="en-US" i="1" dirty="0" smtClean="0"/>
              <a:t>.K ≠ t</a:t>
            </a:r>
            <a:r>
              <a:rPr lang="en-US" i="1" baseline="-25000" dirty="0" smtClean="0"/>
              <a:t>2</a:t>
            </a:r>
            <a:r>
              <a:rPr lang="en-US" i="1" dirty="0" smtClean="0"/>
              <a:t>.K.</a:t>
            </a:r>
          </a:p>
          <a:p>
            <a:endParaRPr lang="en-US" altLang="en-US" dirty="0" smtClean="0">
              <a:latin typeface="Times New Roman" panose="02020603050405020304" pitchFamily="18" charset="0"/>
            </a:endParaRPr>
          </a:p>
          <a:p>
            <a:r>
              <a:rPr lang="en-US" b="1" u="sng" dirty="0" smtClean="0"/>
              <a:t>A </a:t>
            </a:r>
            <a:r>
              <a:rPr lang="en-US" b="1" u="sng" dirty="0" err="1" smtClean="0"/>
              <a:t>superkey</a:t>
            </a:r>
            <a:r>
              <a:rPr lang="en-US" b="1" u="sng" dirty="0" smtClean="0"/>
              <a:t> may contain extraneous attributes. </a:t>
            </a:r>
            <a:r>
              <a:rPr lang="en-US" b="1" i="1" dirty="0" smtClean="0"/>
              <a:t>For example, the combination of ID and name is a </a:t>
            </a:r>
            <a:r>
              <a:rPr lang="en-US" b="1" i="1" dirty="0" err="1" smtClean="0"/>
              <a:t>superkey</a:t>
            </a:r>
            <a:r>
              <a:rPr lang="en-US" b="1" i="1" dirty="0" smtClean="0"/>
              <a:t> for the relation instructor. If K is a </a:t>
            </a:r>
            <a:r>
              <a:rPr lang="en-US" b="1" i="1" dirty="0" err="1" smtClean="0"/>
              <a:t>superkey</a:t>
            </a:r>
            <a:r>
              <a:rPr lang="en-US" b="1" i="1" dirty="0" smtClean="0"/>
              <a:t>, then so is any superset of K. We are often interested in </a:t>
            </a:r>
            <a:r>
              <a:rPr lang="en-US" b="1" i="1" dirty="0" err="1" smtClean="0"/>
              <a:t>superkeys</a:t>
            </a:r>
            <a:r>
              <a:rPr lang="en-US" b="1" i="1" dirty="0" smtClean="0"/>
              <a:t> for which no proper subset is a </a:t>
            </a:r>
            <a:r>
              <a:rPr lang="en-US" b="1" i="1" dirty="0" err="1" smtClean="0"/>
              <a:t>superkey</a:t>
            </a:r>
            <a:r>
              <a:rPr lang="en-US" b="1" i="1" dirty="0" smtClean="0"/>
              <a:t>. Such minimal </a:t>
            </a:r>
            <a:r>
              <a:rPr lang="en-US" b="1" i="1" dirty="0" err="1" smtClean="0"/>
              <a:t>superkeys</a:t>
            </a:r>
            <a:r>
              <a:rPr lang="en-US" b="1" i="1" dirty="0" smtClean="0"/>
              <a:t> are called candidate keys. </a:t>
            </a:r>
          </a:p>
          <a:p>
            <a:endParaRPr lang="en-US" dirty="0" smtClean="0"/>
          </a:p>
          <a:p>
            <a:r>
              <a:rPr lang="en-US" b="1" dirty="0" smtClean="0"/>
              <a:t>It is possible that several distinct sets of attributes could serve as a candidate key. Suppose that a combination of name and </a:t>
            </a:r>
            <a:r>
              <a:rPr lang="en-US" b="1" dirty="0" err="1" smtClean="0"/>
              <a:t>dept_name</a:t>
            </a:r>
            <a:r>
              <a:rPr lang="en-US" b="1" dirty="0" smtClean="0"/>
              <a:t> </a:t>
            </a:r>
            <a:r>
              <a:rPr lang="en-US" b="1" dirty="0" smtClean="0"/>
              <a:t>is sufficient to distinguish among members of the instructor relation. </a:t>
            </a:r>
            <a:r>
              <a:rPr lang="en-US" b="1" i="1" dirty="0" smtClean="0"/>
              <a:t>Then, both {ID} and {name, </a:t>
            </a:r>
            <a:r>
              <a:rPr lang="en-US" b="1" i="1" dirty="0" err="1" smtClean="0"/>
              <a:t>dept</a:t>
            </a:r>
            <a:r>
              <a:rPr lang="en-US" b="1" i="1" dirty="0" smtClean="0"/>
              <a:t> name} are candidate keys. </a:t>
            </a:r>
            <a:r>
              <a:rPr lang="en-US" dirty="0" smtClean="0"/>
              <a:t>Although the attributes ID and name together can distinguish instructor tuples, their combination, {ID, name}, does not form a candidate key, since the attribute ID alone is a candidate key.</a:t>
            </a:r>
          </a:p>
          <a:p>
            <a:endParaRPr lang="en-US" altLang="en-US" dirty="0" smtClean="0">
              <a:latin typeface="Times New Roman" panose="02020603050405020304" pitchFamily="18" charset="0"/>
            </a:endParaRPr>
          </a:p>
          <a:p>
            <a:r>
              <a:rPr lang="en-US" b="1" dirty="0" smtClean="0"/>
              <a:t>We shall use the term primary key to denote a candidate key that is chosen by the database designer as the principal means of identifying tuples within a relation. </a:t>
            </a:r>
            <a:r>
              <a:rPr lang="en-US" b="1" i="1" dirty="0" smtClean="0"/>
              <a:t>A key (whether primary, candidate, or super) is a property of the entire relation, rather than of the individual tuples. Any two individual tuples in the relation are prohibited from having the same value on the key attributes at the same time. </a:t>
            </a:r>
            <a:r>
              <a:rPr lang="en-US" dirty="0" smtClean="0"/>
              <a:t>The designation of a key represents a constraint in the real-world enterprise being modeled. Thus, primary keys are also referred to as primary key constraints.</a:t>
            </a:r>
          </a:p>
          <a:p>
            <a:endParaRPr lang="en-US" dirty="0" smtClean="0"/>
          </a:p>
          <a:p>
            <a:r>
              <a:rPr lang="en-US" b="1" u="sng" dirty="0" smtClean="0"/>
              <a:t>A foreign-key constraint from attribute(s) </a:t>
            </a:r>
            <a:r>
              <a:rPr lang="en-US" b="1" dirty="0" smtClean="0"/>
              <a:t>A of relation r</a:t>
            </a:r>
            <a:r>
              <a:rPr lang="en-US" b="1" baseline="-25000" dirty="0" smtClean="0"/>
              <a:t>1</a:t>
            </a:r>
            <a:r>
              <a:rPr lang="en-US" b="1" dirty="0" smtClean="0"/>
              <a:t> to the primary-key B of relation r</a:t>
            </a:r>
            <a:r>
              <a:rPr lang="en-US" b="1" baseline="-25000" dirty="0" smtClean="0"/>
              <a:t>2</a:t>
            </a:r>
            <a:r>
              <a:rPr lang="en-US" b="1" dirty="0" smtClean="0"/>
              <a:t> states that on any database instance, the value of A for each tuple in r</a:t>
            </a:r>
            <a:r>
              <a:rPr lang="en-US" b="1" baseline="-25000" dirty="0" smtClean="0"/>
              <a:t>1</a:t>
            </a:r>
            <a:r>
              <a:rPr lang="en-US" b="1" dirty="0" smtClean="0"/>
              <a:t> must also be the value of B for some tuple in r</a:t>
            </a:r>
            <a:r>
              <a:rPr lang="en-US" b="1" baseline="-25000" dirty="0" smtClean="0"/>
              <a:t>2</a:t>
            </a:r>
            <a:r>
              <a:rPr lang="en-US" b="1" dirty="0" smtClean="0"/>
              <a:t>.</a:t>
            </a:r>
            <a:r>
              <a:rPr lang="en-US" dirty="0" smtClean="0"/>
              <a:t> </a:t>
            </a:r>
            <a:r>
              <a:rPr lang="en-US" b="1" dirty="0" smtClean="0"/>
              <a:t>Attribute set A is called a foreign key from r</a:t>
            </a:r>
            <a:r>
              <a:rPr lang="en-US" b="1" baseline="-25000" dirty="0" smtClean="0"/>
              <a:t>1</a:t>
            </a:r>
            <a:r>
              <a:rPr lang="en-US" b="1" dirty="0" smtClean="0"/>
              <a:t>, referencing r</a:t>
            </a:r>
            <a:r>
              <a:rPr lang="en-US" b="1" baseline="-25000" dirty="0" smtClean="0"/>
              <a:t>2</a:t>
            </a:r>
            <a:r>
              <a:rPr lang="en-US" b="1" dirty="0" smtClean="0"/>
              <a:t>.</a:t>
            </a:r>
            <a:r>
              <a:rPr lang="en-US" dirty="0" smtClean="0"/>
              <a:t> </a:t>
            </a:r>
          </a:p>
          <a:p>
            <a:r>
              <a:rPr lang="en-US" b="1" dirty="0" smtClean="0"/>
              <a:t>The relation r</a:t>
            </a:r>
            <a:r>
              <a:rPr lang="en-US" b="1" baseline="-25000" dirty="0" smtClean="0"/>
              <a:t>1</a:t>
            </a:r>
            <a:r>
              <a:rPr lang="en-US" b="1" dirty="0" smtClean="0"/>
              <a:t> is also called the referencing relation of the foreign-key constraint, and r</a:t>
            </a:r>
            <a:r>
              <a:rPr lang="en-US" b="1" baseline="-25000" dirty="0" smtClean="0"/>
              <a:t>2</a:t>
            </a:r>
            <a:r>
              <a:rPr lang="en-US" b="1" dirty="0" smtClean="0"/>
              <a:t> is called the referenced relation.</a:t>
            </a:r>
          </a:p>
          <a:p>
            <a:endParaRPr lang="en-US" dirty="0" smtClean="0"/>
          </a:p>
          <a:p>
            <a:r>
              <a:rPr lang="en-US" dirty="0" smtClean="0"/>
              <a:t>For example, the attribute </a:t>
            </a:r>
            <a:r>
              <a:rPr lang="en-US" dirty="0" err="1" smtClean="0"/>
              <a:t>dept_name</a:t>
            </a:r>
            <a:r>
              <a:rPr lang="en-US" dirty="0" smtClean="0"/>
              <a:t> in instructor is a foreign key from instructor, referencing department; note that </a:t>
            </a:r>
            <a:r>
              <a:rPr lang="en-US" dirty="0" err="1" smtClean="0"/>
              <a:t>dept_name</a:t>
            </a:r>
            <a:r>
              <a:rPr lang="en-US" dirty="0" smtClean="0"/>
              <a:t> is the primary key of department.</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 database schema, along with primary key and foreign-key constraints, can be depicted by schema diagrams. </a:t>
            </a:r>
            <a:r>
              <a:rPr lang="en-US" dirty="0" smtClean="0"/>
              <a:t>Figure 2.9 </a:t>
            </a:r>
            <a:r>
              <a:rPr lang="en-US" b="1" i="1" dirty="0" smtClean="0"/>
              <a:t>shows the schema diagram for our university organization. Each relation appears as a box, with the relation name at the top in blue and the attributes listed inside the box. </a:t>
            </a:r>
          </a:p>
          <a:p>
            <a:endParaRPr lang="en-US" dirty="0" smtClean="0"/>
          </a:p>
          <a:p>
            <a:r>
              <a:rPr lang="en-US" b="1" dirty="0" smtClean="0"/>
              <a:t>Primary-key attributes are shown underlined. </a:t>
            </a:r>
          </a:p>
          <a:p>
            <a:r>
              <a:rPr lang="en-US" b="1" dirty="0" smtClean="0"/>
              <a:t>Foreign-key constraints appear as arrows from the foreign-key attributes of the referencing relation </a:t>
            </a:r>
            <a:r>
              <a:rPr lang="en-US" b="1" dirty="0" smtClean="0"/>
              <a:t>to the primary key of the referenced relation. </a:t>
            </a:r>
          </a:p>
          <a:p>
            <a:r>
              <a:rPr lang="en-US" b="1" dirty="0" smtClean="0"/>
              <a:t>We use a two-headed arrow, </a:t>
            </a:r>
            <a:r>
              <a:rPr lang="en-US" b="1" dirty="0" smtClean="0"/>
              <a:t>instead </a:t>
            </a:r>
            <a:r>
              <a:rPr lang="en-US" b="1" dirty="0" smtClean="0"/>
              <a:t>of a single-headed arrow, to indicate a referential integrity constraint that is not a foreign-key constraints. </a:t>
            </a:r>
          </a:p>
          <a:p>
            <a:r>
              <a:rPr lang="en-US" dirty="0" smtClean="0"/>
              <a:t>In Figure 2.9, </a:t>
            </a:r>
            <a:r>
              <a:rPr lang="en-US" b="1" i="1" dirty="0" smtClean="0"/>
              <a:t>the line with a two-headed arrow from </a:t>
            </a:r>
            <a:r>
              <a:rPr lang="en-US" b="1" i="1" dirty="0" err="1" smtClean="0"/>
              <a:t>time_slot_id</a:t>
            </a:r>
            <a:r>
              <a:rPr lang="en-US" b="1" i="1" dirty="0" smtClean="0"/>
              <a:t> </a:t>
            </a:r>
            <a:r>
              <a:rPr lang="en-US" b="1" i="1" dirty="0" smtClean="0"/>
              <a:t>in the section relation to </a:t>
            </a:r>
            <a:r>
              <a:rPr lang="en-US" b="1" i="1" dirty="0" err="1" smtClean="0"/>
              <a:t>time_slot_id</a:t>
            </a:r>
            <a:r>
              <a:rPr lang="en-US" b="1" i="1" dirty="0" smtClean="0"/>
              <a:t> </a:t>
            </a:r>
            <a:r>
              <a:rPr lang="en-US" b="1" i="1" dirty="0" smtClean="0"/>
              <a:t>in the </a:t>
            </a:r>
            <a:r>
              <a:rPr lang="en-US" b="1" i="1" dirty="0" err="1" smtClean="0"/>
              <a:t>time_slot</a:t>
            </a:r>
            <a:r>
              <a:rPr lang="en-US" b="1" i="1" dirty="0" smtClean="0"/>
              <a:t> </a:t>
            </a:r>
            <a:r>
              <a:rPr lang="en-US" b="1" i="1" dirty="0" smtClean="0"/>
              <a:t>relation represents the referential integrity constraint from </a:t>
            </a:r>
            <a:r>
              <a:rPr lang="en-US" b="1" i="1" dirty="0" err="1" smtClean="0"/>
              <a:t>section.time_slot_id</a:t>
            </a:r>
            <a:r>
              <a:rPr lang="en-US" b="1" i="1" dirty="0" smtClean="0"/>
              <a:t> </a:t>
            </a:r>
            <a:r>
              <a:rPr lang="en-US" b="1" i="1" dirty="0" smtClean="0"/>
              <a:t>to time </a:t>
            </a:r>
            <a:r>
              <a:rPr lang="en-US" b="1" i="1" dirty="0" err="1" smtClean="0"/>
              <a:t>slot.time_slot_id</a:t>
            </a:r>
            <a:r>
              <a:rPr lang="en-US" b="1" i="1" dirty="0" smtClean="0"/>
              <a:t>. </a:t>
            </a:r>
          </a:p>
          <a:p>
            <a:r>
              <a:rPr lang="en-US" b="1" i="1" dirty="0" smtClean="0"/>
              <a:t>Many database systems provide design tools with a graphical user interface for creating schema diagrams.</a:t>
            </a:r>
            <a:endParaRPr lang="en-US" b="1" i="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9</a:t>
            </a:fld>
            <a:endParaRPr lang="en-US" altLang="en-US"/>
          </a:p>
        </p:txBody>
      </p:sp>
    </p:spTree>
    <p:extLst>
      <p:ext uri="{BB962C8B-B14F-4D97-AF65-F5344CB8AC3E}">
        <p14:creationId xmlns:p14="http://schemas.microsoft.com/office/powerpoint/2010/main" val="4268396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eaLnBrk="0" hangingPunct="0">
              <a:defRPr sz="1600">
                <a:solidFill>
                  <a:schemeClr val="tx1"/>
                </a:solidFill>
                <a:latin typeface="Helvetica" panose="020B0604020202020204" pitchFamily="34" charset="0"/>
                <a:ea typeface="MS PGothic" panose="020B0600070205080204" pitchFamily="34" charset="-128"/>
              </a:defRPr>
            </a:lvl1pPr>
            <a:lvl2pPr marL="741761" indent="-285293" defTabSz="928787" eaLnBrk="0" hangingPunct="0">
              <a:defRPr sz="1600">
                <a:solidFill>
                  <a:schemeClr val="tx1"/>
                </a:solidFill>
                <a:latin typeface="Helvetica" panose="020B0604020202020204" pitchFamily="34" charset="0"/>
                <a:ea typeface="MS PGothic" panose="020B0600070205080204" pitchFamily="34" charset="-128"/>
              </a:defRPr>
            </a:lvl2pPr>
            <a:lvl3pPr marL="1141171" indent="-228234" defTabSz="928787" eaLnBrk="0" hangingPunct="0">
              <a:defRPr sz="1600">
                <a:solidFill>
                  <a:schemeClr val="tx1"/>
                </a:solidFill>
                <a:latin typeface="Helvetica" panose="020B0604020202020204" pitchFamily="34" charset="0"/>
                <a:ea typeface="MS PGothic" panose="020B0600070205080204" pitchFamily="34" charset="-128"/>
              </a:defRPr>
            </a:lvl3pPr>
            <a:lvl4pPr marL="1597640" indent="-228234" defTabSz="928787" eaLnBrk="0" hangingPunct="0">
              <a:defRPr sz="1600">
                <a:solidFill>
                  <a:schemeClr val="tx1"/>
                </a:solidFill>
                <a:latin typeface="Helvetica" panose="020B0604020202020204" pitchFamily="34" charset="0"/>
                <a:ea typeface="MS PGothic" panose="020B0600070205080204" pitchFamily="34" charset="-128"/>
              </a:defRPr>
            </a:lvl4pPr>
            <a:lvl5pPr marL="2054108" indent="-228234" defTabSz="928787" eaLnBrk="0" hangingPunct="0">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F209238-363D-4A4D-99AF-38838EDEB568}" type="slidenum">
              <a:rPr lang="en-US" altLang="en-US" sz="1200"/>
              <a:pPr/>
              <a:t>10</a:t>
            </a:fld>
            <a:endParaRPr lang="en-US" altLang="en-US" sz="1200" dirty="0"/>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 query language is a language in which a user requests information from the database. These languages are usually on a level higher than that of a standard programming language. Query languages can be categorized as </a:t>
            </a:r>
            <a:r>
              <a:rPr lang="en-US" b="1" u="sng" dirty="0" smtClean="0"/>
              <a:t>imperative, functional, or declarative</a:t>
            </a:r>
            <a:r>
              <a:rPr lang="en-US" b="1" dirty="0" smtClean="0"/>
              <a:t>. In an imperative query language, the user instructs the system to perform a specific sequence of operations on the database to compute the desired result</a:t>
            </a:r>
            <a:r>
              <a:rPr lang="en-US" b="1" i="1" dirty="0" smtClean="0"/>
              <a:t>; such languages usually have a notion of state variables, which are updated in the course of the computation.</a:t>
            </a:r>
          </a:p>
          <a:p>
            <a:endParaRPr lang="en-US" altLang="en-US" dirty="0" smtClean="0">
              <a:latin typeface="Times New Roman" panose="02020603050405020304" pitchFamily="18" charset="0"/>
            </a:endParaRPr>
          </a:p>
          <a:p>
            <a:r>
              <a:rPr lang="en-US" b="1" i="1" dirty="0" smtClean="0"/>
              <a:t>In a functional query language, the computation is expressed as the evaluation of functions that may operate on data in the database or on the results of other functions; functions are side-effect free, and they do not update the program state. In a declarative query language, the user describes the desired information without giving a specific sequence of steps or function calls for obtaining that information</a:t>
            </a:r>
            <a:r>
              <a:rPr lang="en-US" i="1" dirty="0" smtClean="0"/>
              <a:t>; the desired information is typically described using some form of mathematical logic. It is the job of the database system to figure out how to obtain the desired information.</a:t>
            </a:r>
          </a:p>
          <a:p>
            <a:endParaRPr lang="en-US" altLang="en-US" dirty="0" smtClean="0">
              <a:latin typeface="Times New Roman" panose="02020603050405020304" pitchFamily="18" charset="0"/>
            </a:endParaRPr>
          </a:p>
          <a:p>
            <a:r>
              <a:rPr lang="en-US" b="1" dirty="0" smtClean="0"/>
              <a:t>There are a number of “pure” query languages. </a:t>
            </a:r>
          </a:p>
          <a:p>
            <a:pPr marL="171450" indent="-171450">
              <a:buFont typeface="Arial" panose="020B0604020202020204" pitchFamily="34" charset="0"/>
              <a:buChar char="•"/>
            </a:pPr>
            <a:r>
              <a:rPr lang="en-US" b="1" dirty="0" smtClean="0"/>
              <a:t>The relational algebra, which we describe </a:t>
            </a:r>
            <a:r>
              <a:rPr lang="en-US" dirty="0" smtClean="0"/>
              <a:t>in Section 2.6, is a functional query language.4 </a:t>
            </a:r>
            <a:r>
              <a:rPr lang="en-US" b="1" dirty="0" smtClean="0"/>
              <a:t>The relational algebra forms the theoretical basis of the SQL query language</a:t>
            </a:r>
            <a:r>
              <a:rPr lang="en-US" dirty="0" smtClean="0"/>
              <a:t>. </a:t>
            </a:r>
          </a:p>
          <a:p>
            <a:pPr marL="171450" indent="-171450">
              <a:buFont typeface="Arial" panose="020B0604020202020204" pitchFamily="34" charset="0"/>
              <a:buChar char="•"/>
            </a:pPr>
            <a:r>
              <a:rPr lang="en-US" b="1" dirty="0" smtClean="0"/>
              <a:t>The tuple relational calculus </a:t>
            </a:r>
          </a:p>
          <a:p>
            <a:pPr marL="171450" indent="-171450">
              <a:buFont typeface="Arial" panose="020B0604020202020204" pitchFamily="34" charset="0"/>
              <a:buChar char="•"/>
            </a:pPr>
            <a:r>
              <a:rPr lang="en-US" b="1" dirty="0" smtClean="0"/>
              <a:t>and domain relational calculus</a:t>
            </a:r>
            <a:r>
              <a:rPr lang="en-US" dirty="0" smtClean="0"/>
              <a:t>, which we describe in Chapter 27 (available online) are declarative.</a:t>
            </a:r>
            <a:endParaRPr lang="en-US"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11</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relational algebra consists of a set of operations that take one or two relations as input and produce a new relation as their result. </a:t>
            </a:r>
          </a:p>
          <a:p>
            <a:r>
              <a:rPr lang="en-US" b="1" dirty="0" smtClean="0"/>
              <a:t>Some of these operations, such as the </a:t>
            </a:r>
            <a:r>
              <a:rPr lang="en-US" b="1" u="sng" dirty="0" smtClean="0"/>
              <a:t>select, project, and rename operations</a:t>
            </a:r>
            <a:r>
              <a:rPr lang="en-US" b="1" dirty="0" smtClean="0"/>
              <a:t>, are called unary operations because they operate on one relation. </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The other operations, such as </a:t>
            </a:r>
            <a:r>
              <a:rPr lang="en-US" b="1" u="sng" dirty="0" smtClean="0"/>
              <a:t>union, Cartesian product, and set difference</a:t>
            </a:r>
            <a:r>
              <a:rPr lang="en-US" b="1" dirty="0" smtClean="0"/>
              <a:t>, operate on pairs of relations and are, therefore, called binary operations.</a:t>
            </a:r>
          </a:p>
          <a:p>
            <a:endParaRPr lang="en-US" dirty="0" smtClean="0"/>
          </a:p>
          <a:p>
            <a:r>
              <a:rPr lang="en-US" b="1" dirty="0" smtClean="0"/>
              <a:t>Although the relational algebra operations form the basis for the widely used SQL query language, database systems do not allow users to write queries in relational algebra. </a:t>
            </a:r>
            <a:r>
              <a:rPr lang="en-US" b="0" i="1" dirty="0" smtClean="0"/>
              <a:t>However, there are implementations of relational algebra that have been built for students to practice relational algebra queries. </a:t>
            </a:r>
          </a:p>
          <a:p>
            <a:endParaRPr lang="en-US" dirty="0" smtClean="0"/>
          </a:p>
          <a:p>
            <a:r>
              <a:rPr lang="en-US" dirty="0" smtClean="0"/>
              <a:t>Dali </a:t>
            </a:r>
            <a:r>
              <a:rPr lang="en-US" dirty="0" err="1" smtClean="0"/>
              <a:t>tuka</a:t>
            </a:r>
            <a:r>
              <a:rPr lang="en-US" dirty="0" smtClean="0"/>
              <a:t> da se </a:t>
            </a:r>
            <a:r>
              <a:rPr lang="en-US" dirty="0" err="1" smtClean="0"/>
              <a:t>spomene</a:t>
            </a:r>
            <a:r>
              <a:rPr lang="en-US" dirty="0" smtClean="0"/>
              <a:t> </a:t>
            </a:r>
            <a:r>
              <a:rPr lang="en-US" dirty="0" err="1" smtClean="0"/>
              <a:t>ona</a:t>
            </a:r>
            <a:r>
              <a:rPr lang="en-US" dirty="0" smtClean="0"/>
              <a:t> </a:t>
            </a:r>
            <a:r>
              <a:rPr lang="en-US" dirty="0" err="1" smtClean="0"/>
              <a:t>za</a:t>
            </a:r>
            <a:r>
              <a:rPr lang="en-US" dirty="0" smtClean="0"/>
              <a:t> online </a:t>
            </a:r>
            <a:r>
              <a:rPr lang="en-US" dirty="0" err="1" smtClean="0"/>
              <a:t>sql</a:t>
            </a:r>
            <a:r>
              <a:rPr lang="en-US" baseline="0" dirty="0" smtClean="0"/>
              <a:t> od </a:t>
            </a:r>
            <a:r>
              <a:rPr lang="en-US" baseline="0" dirty="0" err="1" smtClean="0"/>
              <a:t>knigata</a:t>
            </a:r>
            <a:endParaRPr lang="en-US" baseline="0" dirty="0" smtClean="0"/>
          </a:p>
          <a:p>
            <a:endParaRPr lang="en-US" dirty="0" smtClean="0"/>
          </a:p>
          <a:p>
            <a:r>
              <a:rPr lang="en-US" dirty="0" smtClean="0"/>
              <a:t>The website of our book, db-book.com, under the link titled Laboratory Material, provides pointers to a few such implementations. </a:t>
            </a: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133648DA-533A-4CF4-BE6A-7CC0C8DD9180}" type="slidenum">
              <a:rPr lang="en-US" altLang="en-US" sz="1300">
                <a:latin typeface="Times New Roman" panose="02020603050405020304" pitchFamily="18" charset="0"/>
              </a:rPr>
              <a:pPr/>
              <a:t>12</a:t>
            </a:fld>
            <a:endParaRPr lang="en-US" altLang="en-US" sz="1300" dirty="0">
              <a:latin typeface="Times New Roman" panose="02020603050405020304" pitchFamily="18" charset="0"/>
            </a:endParaRPr>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select operation selects tuples that satisfy a given predicate. We use the lowercase Greek letter sigma (σ) to denote selection. The predicate appears as a subscript to σ. The argument relation is in parentheses after the σ. Thus, to select those tuples of the instructor relation where the instructor is in the “Physics” department, we write:</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en-US" sz="1700" dirty="0" smtClean="0">
                <a:sym typeface="Symbol" panose="05050102010706020507" pitchFamily="18" charset="2"/>
              </a:rPr>
              <a:t/>
            </a:r>
            <a:br>
              <a:rPr lang="en-US" altLang="en-US" sz="1700" dirty="0" smtClean="0">
                <a:sym typeface="Symbol" panose="05050102010706020507" pitchFamily="18" charset="2"/>
              </a:rPr>
            </a:br>
            <a:r>
              <a:rPr lang="en-US" altLang="en-US" sz="1700" dirty="0" smtClean="0">
                <a:sym typeface="Symbol" panose="05050102010706020507" pitchFamily="18" charset="2"/>
              </a:rPr>
              <a:t>  	</a:t>
            </a:r>
            <a:r>
              <a:rPr lang="en-US" altLang="en-US" sz="1900" i="1" dirty="0" smtClean="0">
                <a:sym typeface="Symbol" panose="05050102010706020507" pitchFamily="18" charset="2"/>
              </a:rPr>
              <a:t></a:t>
            </a:r>
            <a:r>
              <a:rPr lang="en-US" altLang="en-US" sz="1900" dirty="0" smtClean="0">
                <a:sym typeface="Symbol" panose="05050102010706020507" pitchFamily="18" charset="2"/>
              </a:rPr>
              <a:t> </a:t>
            </a:r>
            <a:r>
              <a:rPr lang="en-US" altLang="en-US" sz="1900" i="1" baseline="-25000" dirty="0" err="1" smtClean="0">
                <a:sym typeface="Symbol" panose="05050102010706020507" pitchFamily="18" charset="2"/>
              </a:rPr>
              <a:t>dept_name</a:t>
            </a:r>
            <a:r>
              <a:rPr lang="en-US" altLang="en-US" sz="1900" i="1" baseline="-25000" dirty="0" smtClean="0">
                <a:sym typeface="Symbol" panose="05050102010706020507" pitchFamily="18" charset="2"/>
              </a:rPr>
              <a:t>=</a:t>
            </a:r>
            <a:r>
              <a:rPr lang="ja-JP" altLang="en-US" sz="1900" i="1" baseline="-25000" dirty="0" smtClean="0">
                <a:sym typeface="Symbol" panose="05050102010706020507" pitchFamily="18" charset="2"/>
              </a:rPr>
              <a:t>“</a:t>
            </a:r>
            <a:r>
              <a:rPr lang="en-US" altLang="ja-JP" sz="1900" i="1" baseline="-25000" dirty="0" smtClean="0">
                <a:sym typeface="Symbol" panose="05050102010706020507" pitchFamily="18" charset="2"/>
              </a:rPr>
              <a:t>Physics” </a:t>
            </a:r>
            <a:r>
              <a:rPr lang="en-US" altLang="ja-JP" sz="1700" dirty="0" smtClean="0">
                <a:sym typeface="Symbol" panose="05050102010706020507" pitchFamily="18" charset="2"/>
              </a:rPr>
              <a:t>(</a:t>
            </a:r>
            <a:r>
              <a:rPr lang="en-US" altLang="ja-JP" sz="1700" i="1" dirty="0" smtClean="0">
                <a:sym typeface="Symbol" panose="05050102010706020507" pitchFamily="18" charset="2"/>
              </a:rPr>
              <a:t>instructor</a:t>
            </a:r>
            <a:r>
              <a:rPr lang="en-US" altLang="ja-JP" sz="1700" dirty="0" smtClean="0">
                <a:sym typeface="Symbol" panose="05050102010706020507" pitchFamily="18" charset="2"/>
              </a:rPr>
              <a:t>)</a:t>
            </a:r>
          </a:p>
          <a:p>
            <a:endParaRPr lang="en-US" altLang="en-US" dirty="0" smtClean="0"/>
          </a:p>
          <a:p>
            <a:r>
              <a:rPr lang="en-US" b="1" dirty="0" smtClean="0"/>
              <a:t>If the instructor relation is as shown in Figure 2.1, then the relation that results from the preceding query is as shown in Figure 2.10.</a:t>
            </a:r>
            <a:endParaRPr lang="en-US" altLang="en-US"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133648DA-533A-4CF4-BE6A-7CC0C8DD9180}" type="slidenum">
              <a:rPr lang="en-US" altLang="en-US" sz="1300">
                <a:latin typeface="Times New Roman" panose="02020603050405020304" pitchFamily="18" charset="0"/>
              </a:rPr>
              <a:pPr/>
              <a:t>13</a:t>
            </a:fld>
            <a:endParaRPr lang="en-US" altLang="en-US" sz="1300" dirty="0">
              <a:latin typeface="Times New Roman" panose="02020603050405020304" pitchFamily="18" charset="0"/>
            </a:endParaRPr>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In general, we allow comparisons using =, ≠, </a:t>
            </a:r>
            <a:r>
              <a:rPr lang="en-US" altLang="en-US" sz="1200" dirty="0" smtClean="0">
                <a:sym typeface="Symbol" panose="05050102010706020507" pitchFamily="18" charset="2"/>
              </a:rPr>
              <a:t>&gt;, . &lt;</a:t>
            </a:r>
            <a:r>
              <a:rPr lang="en-US" b="1" dirty="0" smtClean="0"/>
              <a:t> , and ≥ in the selection predicate. Furthermore, we can combine several predicates into a larger predicate by using the connectives and (∧), or (∨), and not (¬). </a:t>
            </a:r>
          </a:p>
          <a:p>
            <a:endParaRPr lang="en-US" b="1" dirty="0" smtClean="0"/>
          </a:p>
          <a:p>
            <a:r>
              <a:rPr lang="en-US" b="1" dirty="0" smtClean="0"/>
              <a:t>Thus, to find the instructors In Physics with a salary greater than $90,000, we write:</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i="1" dirty="0" smtClean="0">
                <a:sym typeface="Symbol" panose="05050102010706020507" pitchFamily="18" charset="2"/>
              </a:rPr>
              <a:t></a:t>
            </a:r>
            <a:r>
              <a:rPr lang="en-US" altLang="en-US" dirty="0" smtClean="0">
                <a:sym typeface="Symbol" panose="05050102010706020507" pitchFamily="18" charset="2"/>
              </a:rPr>
              <a:t> </a:t>
            </a:r>
            <a:r>
              <a:rPr lang="en-US" altLang="en-US" i="1" baseline="-25000" dirty="0" err="1" smtClean="0">
                <a:sym typeface="Symbol" panose="05050102010706020507" pitchFamily="18" charset="2"/>
              </a:rPr>
              <a:t>dept_name</a:t>
            </a:r>
            <a:r>
              <a:rPr lang="en-US" altLang="en-US" i="1" baseline="-25000" dirty="0" smtClean="0">
                <a:sym typeface="Symbol" panose="05050102010706020507" pitchFamily="18" charset="2"/>
              </a:rPr>
              <a:t>=</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Physics</a:t>
            </a:r>
            <a:r>
              <a:rPr lang="ja-JP" altLang="en-US" i="1" baseline="-25000" dirty="0" smtClean="0">
                <a:sym typeface="Symbol" panose="05050102010706020507" pitchFamily="18" charset="2"/>
              </a:rPr>
              <a:t>” </a:t>
            </a:r>
            <a:r>
              <a:rPr lang="en-US" altLang="en-US" dirty="0" smtClean="0">
                <a:sym typeface="Symbol" panose="05050102010706020507" pitchFamily="18" charset="2"/>
              </a:rPr>
              <a:t></a:t>
            </a:r>
            <a:r>
              <a:rPr lang="ja-JP" altLang="en-US" i="1" baseline="-25000" dirty="0" smtClean="0">
                <a:sym typeface="Symbol" panose="05050102010706020507" pitchFamily="18" charset="2"/>
              </a:rPr>
              <a:t> </a:t>
            </a:r>
            <a:r>
              <a:rPr lang="en-US" altLang="ja-JP" i="1" baseline="-25000" dirty="0" smtClean="0">
                <a:sym typeface="Symbol" panose="05050102010706020507" pitchFamily="18" charset="2"/>
              </a:rPr>
              <a:t>salary </a:t>
            </a:r>
            <a:r>
              <a:rPr lang="en-US" altLang="ja-JP" sz="1200" i="1" baseline="-25000" dirty="0" smtClean="0">
                <a:sym typeface="Symbol" panose="05050102010706020507" pitchFamily="18" charset="2"/>
              </a:rPr>
              <a:t>&gt;</a:t>
            </a:r>
            <a:r>
              <a:rPr lang="en-US" altLang="ja-JP" sz="1200" i="1" dirty="0" smtClean="0">
                <a:sym typeface="Symbol" panose="05050102010706020507" pitchFamily="18" charset="2"/>
              </a:rPr>
              <a:t> </a:t>
            </a:r>
            <a:r>
              <a:rPr lang="en-US" altLang="ja-JP" sz="1200" i="1" baseline="-25000" dirty="0" smtClean="0">
                <a:sym typeface="Symbol" panose="05050102010706020507" pitchFamily="18" charset="2"/>
              </a:rPr>
              <a:t>90,000</a:t>
            </a:r>
            <a:r>
              <a:rPr lang="en-US" altLang="ja-JP" sz="1200" i="1" dirty="0" smtClean="0">
                <a:sym typeface="Symbol" panose="05050102010706020507" pitchFamily="18" charset="2"/>
              </a:rPr>
              <a:t> </a:t>
            </a:r>
            <a:r>
              <a:rPr lang="en-US" altLang="ja-JP" sz="1200" dirty="0" smtClean="0">
                <a:sym typeface="Symbol" panose="05050102010706020507" pitchFamily="18" charset="2"/>
              </a:rPr>
              <a:t>(</a:t>
            </a:r>
            <a:r>
              <a:rPr lang="en-US" altLang="ja-JP" sz="1200" i="1" dirty="0" smtClean="0">
                <a:sym typeface="Symbol" panose="05050102010706020507" pitchFamily="18" charset="2"/>
              </a:rPr>
              <a:t>instructor</a:t>
            </a:r>
            <a:r>
              <a:rPr lang="en-US" altLang="ja-JP" sz="1200" dirty="0" smtClean="0">
                <a:sym typeface="Symbol" panose="05050102010706020507" pitchFamily="18" charset="2"/>
              </a:rPr>
              <a:t>)</a:t>
            </a:r>
          </a:p>
          <a:p>
            <a:endParaRPr lang="en-US" altLang="en-US" dirty="0" smtClean="0"/>
          </a:p>
          <a:p>
            <a:endParaRPr lang="en-US" altLang="en-US" dirty="0" smtClean="0"/>
          </a:p>
          <a:p>
            <a:r>
              <a:rPr lang="en-US" b="1" dirty="0" smtClean="0"/>
              <a:t>The selection predicate may include comparisons between two attributes. To illustrate, consider the relation department. To find all departments whose name is the same as their building name, we can write:</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en-US" sz="1900" i="1" dirty="0" smtClean="0">
                <a:sym typeface="Symbol" panose="05050102010706020507" pitchFamily="18" charset="2"/>
              </a:rPr>
              <a:t></a:t>
            </a:r>
            <a:r>
              <a:rPr lang="en-US" altLang="en-US" sz="1900" dirty="0" smtClean="0">
                <a:sym typeface="Symbol" panose="05050102010706020507" pitchFamily="18" charset="2"/>
              </a:rPr>
              <a:t> </a:t>
            </a:r>
            <a:r>
              <a:rPr lang="en-US" altLang="en-US" sz="1900" i="1" baseline="-25000" dirty="0" err="1" smtClean="0">
                <a:sym typeface="Symbol" panose="05050102010706020507" pitchFamily="18" charset="2"/>
              </a:rPr>
              <a:t>dept_name</a:t>
            </a:r>
            <a:r>
              <a:rPr lang="en-US" altLang="en-US" sz="1900" i="1" baseline="-25000" dirty="0" smtClean="0">
                <a:sym typeface="Symbol" panose="05050102010706020507" pitchFamily="18" charset="2"/>
              </a:rPr>
              <a:t>=</a:t>
            </a:r>
            <a:r>
              <a:rPr lang="en-US" altLang="ja-JP" sz="1900" i="1" baseline="-25000" dirty="0" smtClean="0">
                <a:sym typeface="Symbol" panose="05050102010706020507" pitchFamily="18" charset="2"/>
              </a:rPr>
              <a:t>building</a:t>
            </a:r>
            <a:r>
              <a:rPr lang="en-US" altLang="ja-JP" sz="1900" i="1" dirty="0" smtClean="0">
                <a:sym typeface="Symbol" panose="05050102010706020507" pitchFamily="18" charset="2"/>
              </a:rPr>
              <a:t> </a:t>
            </a:r>
            <a:r>
              <a:rPr lang="ja-JP" altLang="en-US" sz="1900" i="1" baseline="-25000" dirty="0" smtClean="0">
                <a:sym typeface="Symbol" panose="05050102010706020507" pitchFamily="18" charset="2"/>
              </a:rPr>
              <a:t> </a:t>
            </a:r>
            <a:r>
              <a:rPr lang="en-US" altLang="ja-JP" sz="1700" dirty="0" smtClean="0">
                <a:sym typeface="Symbol" panose="05050102010706020507" pitchFamily="18" charset="2"/>
              </a:rPr>
              <a:t>(</a:t>
            </a:r>
            <a:r>
              <a:rPr lang="en-US" altLang="ja-JP" sz="1700" i="1" dirty="0" smtClean="0">
                <a:sym typeface="Symbol" panose="05050102010706020507" pitchFamily="18" charset="2"/>
              </a:rPr>
              <a:t>department</a:t>
            </a:r>
            <a:r>
              <a:rPr lang="en-US" altLang="ja-JP" sz="1700" dirty="0" smtClean="0">
                <a:sym typeface="Symbol" panose="05050102010706020507" pitchFamily="18" charset="2"/>
              </a:rPr>
              <a:t>)</a:t>
            </a:r>
            <a:endParaRPr lang="en-US" altLang="en-US" sz="1700" dirty="0" smtClean="0">
              <a:sym typeface="Symbol" panose="05050102010706020507" pitchFamily="18" charset="2"/>
            </a:endParaRPr>
          </a:p>
          <a:p>
            <a:endParaRPr lang="en-US" altLang="en-US" b="1" dirty="0"/>
          </a:p>
        </p:txBody>
      </p:sp>
    </p:spTree>
    <p:extLst>
      <p:ext uri="{BB962C8B-B14F-4D97-AF65-F5344CB8AC3E}">
        <p14:creationId xmlns:p14="http://schemas.microsoft.com/office/powerpoint/2010/main" val="2235212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1D4AE86D-105E-4E6D-B77F-4AC8A2CFF942}" type="slidenum">
              <a:rPr lang="en-US" altLang="en-US" sz="1300">
                <a:latin typeface="Times New Roman" panose="02020603050405020304" pitchFamily="18" charset="0"/>
              </a:rPr>
              <a:pPr/>
              <a:t>14</a:t>
            </a:fld>
            <a:endParaRPr lang="en-US" altLang="en-US" sz="1300" dirty="0">
              <a:latin typeface="Times New Roman" panose="02020603050405020304" pitchFamily="18" charset="0"/>
            </a:endParaRPr>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Suppose we want to list all instructors’ ID, name, and salary, but we do not care about the </a:t>
            </a:r>
            <a:r>
              <a:rPr lang="en-US" b="1" dirty="0" err="1" smtClean="0"/>
              <a:t>dept_name</a:t>
            </a:r>
            <a:r>
              <a:rPr lang="en-US" b="1" dirty="0" smtClean="0"/>
              <a:t>. The project operation allows us to produce this relation. The project operation is a unary operation that returns its argument relation, with certain attributes left out. Since a relation is a set, any duplicate rows are eliminated. Projection is denoted by the uppercase Greek letter pi (Π).</a:t>
            </a:r>
            <a:r>
              <a:rPr lang="en-US" dirty="0" smtClean="0"/>
              <a:t> </a:t>
            </a:r>
            <a:r>
              <a:rPr lang="en-US" b="1" dirty="0" smtClean="0"/>
              <a:t>We list those attributes that we wish to appear in the result as a </a:t>
            </a:r>
            <a:r>
              <a:rPr lang="en-US" b="1" u="sng" dirty="0" smtClean="0"/>
              <a:t>subscript to </a:t>
            </a:r>
            <a:r>
              <a:rPr lang="en-US" b="1" dirty="0" smtClean="0"/>
              <a:t>Π. The argument relation follows in parentheses. We write the query to produce such a list as:</a:t>
            </a:r>
          </a:p>
          <a:p>
            <a:endParaRPr lang="en-US" alt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1D4AE86D-105E-4E6D-B77F-4AC8A2CFF942}" type="slidenum">
              <a:rPr lang="en-US" altLang="en-US" sz="1300">
                <a:latin typeface="Times New Roman" panose="02020603050405020304" pitchFamily="18" charset="0"/>
              </a:rPr>
              <a:pPr/>
              <a:t>15</a:t>
            </a:fld>
            <a:endParaRPr lang="en-US" altLang="en-US" sz="1300" dirty="0">
              <a:latin typeface="Times New Roman" panose="02020603050405020304" pitchFamily="18" charset="0"/>
            </a:endParaRPr>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Suppose we want to list all instructors’ ID, name, and salary, but we do not care about the </a:t>
            </a:r>
            <a:r>
              <a:rPr lang="en-US" b="1" dirty="0" err="1" smtClean="0"/>
              <a:t>dept_name</a:t>
            </a:r>
            <a:r>
              <a:rPr lang="en-US" b="1" dirty="0" smtClean="0"/>
              <a:t>. </a:t>
            </a:r>
            <a:r>
              <a:rPr lang="en-US" dirty="0" smtClean="0"/>
              <a:t>The project operation allows us to produce this relation. The project operation is a unary operation that returns its argument relation, with certain attributes left out. Since a relation is a set, any duplicate rows are eliminated. Projection is denoted by the uppercase Greek letter pi (Π). We list those attributes that we wish to appear in the result as a subscript to Π. The argument relation follows in parentheses. We write the query to produce such a list as:</a:t>
            </a:r>
          </a:p>
          <a:p>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16</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fact that the result of a relational operation is itself a relation is important. Consider the more complicated query “Find the names of all instructors in the Physics department.” We write:</a:t>
            </a:r>
          </a:p>
          <a:p>
            <a:r>
              <a:rPr lang="en-US" altLang="en-US" dirty="0" smtClean="0">
                <a:sym typeface="Symbol" panose="05050102010706020507" pitchFamily="18" charset="2"/>
              </a:rPr>
              <a:t></a:t>
            </a:r>
            <a:r>
              <a:rPr lang="en-US" altLang="en-US" i="1" baseline="-25000" dirty="0" smtClean="0">
                <a:sym typeface="Symbol" panose="05050102010706020507" pitchFamily="18" charset="2"/>
              </a:rPr>
              <a:t>name</a:t>
            </a:r>
            <a:r>
              <a:rPr lang="en-US" altLang="en-US" dirty="0" smtClean="0"/>
              <a:t>(</a:t>
            </a:r>
            <a:r>
              <a:rPr lang="en-US" altLang="en-US" i="1" dirty="0" smtClean="0">
                <a:sym typeface="Symbol" panose="05050102010706020507" pitchFamily="18" charset="2"/>
              </a:rPr>
              <a:t></a:t>
            </a:r>
            <a:r>
              <a:rPr lang="en-US" altLang="en-US" dirty="0" smtClean="0">
                <a:sym typeface="Symbol" panose="05050102010706020507" pitchFamily="18" charset="2"/>
              </a:rPr>
              <a:t> </a:t>
            </a:r>
            <a:r>
              <a:rPr lang="en-US" altLang="en-US" i="1" baseline="-25000" dirty="0" err="1" smtClean="0">
                <a:sym typeface="Symbol" panose="05050102010706020507" pitchFamily="18" charset="2"/>
              </a:rPr>
              <a:t>dept_name</a:t>
            </a:r>
            <a:r>
              <a:rPr lang="en-US" altLang="en-US" i="1" dirty="0" smtClean="0">
                <a:sym typeface="Symbol" panose="05050102010706020507" pitchFamily="18" charset="2"/>
              </a:rPr>
              <a:t> </a:t>
            </a:r>
            <a:r>
              <a:rPr lang="en-US" altLang="en-US" i="1" baseline="-25000" dirty="0" smtClean="0">
                <a:sym typeface="Symbol" panose="05050102010706020507" pitchFamily="18" charset="2"/>
              </a:rPr>
              <a:t>=</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Physics</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 </a:t>
            </a:r>
            <a:r>
              <a:rPr lang="en-US" altLang="ja-JP" i="1" dirty="0" smtClean="0">
                <a:sym typeface="Symbol" panose="05050102010706020507" pitchFamily="18" charset="2"/>
              </a:rPr>
              <a:t> </a:t>
            </a:r>
            <a:r>
              <a:rPr lang="en-US" altLang="ja-JP" sz="1200" dirty="0" smtClean="0">
                <a:sym typeface="Symbol" panose="05050102010706020507" pitchFamily="18" charset="2"/>
              </a:rPr>
              <a:t>(</a:t>
            </a:r>
            <a:r>
              <a:rPr lang="en-US" altLang="ja-JP" sz="1200" i="1" dirty="0" smtClean="0">
                <a:sym typeface="Symbol" panose="05050102010706020507" pitchFamily="18" charset="2"/>
              </a:rPr>
              <a:t>instructor</a:t>
            </a:r>
            <a:r>
              <a:rPr lang="en-US" altLang="ja-JP" sz="1200" dirty="0" smtClean="0">
                <a:sym typeface="Symbol" panose="05050102010706020507" pitchFamily="18" charset="2"/>
              </a:rPr>
              <a:t>))</a:t>
            </a:r>
            <a:endParaRPr lang="en-US" altLang="en-US" dirty="0" smtClean="0"/>
          </a:p>
          <a:p>
            <a:endParaRPr lang="en-US" altLang="en-US" dirty="0" smtClean="0"/>
          </a:p>
          <a:p>
            <a:r>
              <a:rPr lang="en-US" b="1" dirty="0" smtClean="0"/>
              <a:t>Notice that, instead of giving the name of a relation as the argument of the projection operation, we give an expression that evaluates to a relation. </a:t>
            </a:r>
          </a:p>
          <a:p>
            <a:endParaRPr lang="en-US" dirty="0" smtClean="0"/>
          </a:p>
          <a:p>
            <a:r>
              <a:rPr lang="en-US" b="1" dirty="0" smtClean="0"/>
              <a:t>In general, since the result of a relational-algebra operation is of the same type (relation) as its inputs, relational-algebra operations can be composed together into a relational-algebra expression. Composing relational-algebra operations into relational algebra expressions is just like composing arithmetic operations (such as +, −, ∗, and ÷) into arithmetic expressions.</a:t>
            </a:r>
            <a:endParaRPr lang="en-US" altLang="en-US" b="1"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04B7984-B6AD-4D3E-800B-506D1974D9BE}" type="slidenum">
              <a:rPr lang="en-US" altLang="en-US" sz="1300">
                <a:latin typeface="Times New Roman" panose="02020603050405020304" pitchFamily="18" charset="0"/>
              </a:rPr>
              <a:pPr/>
              <a:t>17</a:t>
            </a:fld>
            <a:endParaRPr lang="en-US" altLang="en-US" sz="1300" dirty="0">
              <a:latin typeface="Times New Roman" panose="02020603050405020304" pitchFamily="18" charset="0"/>
            </a:endParaRPr>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Cartesian-product operation, denoted by a cross (×), allows us to combine information from any two relations. We write the Cartesian product of relations r</a:t>
            </a:r>
            <a:r>
              <a:rPr lang="en-US" b="1" baseline="-25000" dirty="0" smtClean="0"/>
              <a:t>1</a:t>
            </a:r>
            <a:r>
              <a:rPr lang="en-US" b="1" dirty="0" smtClean="0"/>
              <a:t> and r</a:t>
            </a:r>
            <a:r>
              <a:rPr lang="en-US" b="1" baseline="-25000" dirty="0" smtClean="0"/>
              <a:t>2</a:t>
            </a:r>
            <a:r>
              <a:rPr lang="en-US" b="1" dirty="0" smtClean="0"/>
              <a:t> as r</a:t>
            </a:r>
            <a:r>
              <a:rPr lang="en-US" b="1" baseline="-25000" dirty="0" smtClean="0"/>
              <a:t>1</a:t>
            </a:r>
            <a:r>
              <a:rPr lang="en-US" b="1" dirty="0" smtClean="0"/>
              <a:t> × r</a:t>
            </a:r>
            <a:r>
              <a:rPr lang="en-US" b="1" baseline="-25000" dirty="0" smtClean="0"/>
              <a:t>2</a:t>
            </a:r>
            <a:r>
              <a:rPr lang="en-US" b="1" dirty="0" smtClean="0"/>
              <a:t>.</a:t>
            </a:r>
          </a:p>
          <a:p>
            <a:endParaRPr lang="en-US" altLang="en-US" dirty="0" smtClean="0"/>
          </a:p>
          <a:p>
            <a:r>
              <a:rPr lang="en-US" b="1" dirty="0" smtClean="0"/>
              <a:t>Since the same attribute name may appear in the schemas of both r</a:t>
            </a:r>
            <a:r>
              <a:rPr lang="en-US" b="1" baseline="-25000" dirty="0" smtClean="0"/>
              <a:t>1</a:t>
            </a:r>
            <a:r>
              <a:rPr lang="en-US" b="1" dirty="0" smtClean="0"/>
              <a:t> and r</a:t>
            </a:r>
            <a:r>
              <a:rPr lang="en-US" b="1" baseline="-25000" dirty="0" smtClean="0"/>
              <a:t>2</a:t>
            </a:r>
            <a:r>
              <a:rPr lang="en-US" b="1" dirty="0" smtClean="0"/>
              <a:t>, we need to devise a naming schema to distinguish between these attributes. We do so here by attaching to an attribute the name of the relation from which the attribute originally came. </a:t>
            </a:r>
            <a:r>
              <a:rPr lang="en-US" dirty="0" smtClean="0"/>
              <a:t>For example, the relation schema for r = instructor × teaches is:</a:t>
            </a:r>
          </a:p>
          <a:p>
            <a:endParaRPr lang="en-US" altLang="en-US" dirty="0" smtClean="0"/>
          </a:p>
          <a:p>
            <a:r>
              <a:rPr lang="en-US" dirty="0" smtClean="0"/>
              <a:t>(instructor.ID, instructor.name, </a:t>
            </a:r>
            <a:r>
              <a:rPr lang="en-US" dirty="0" err="1" smtClean="0"/>
              <a:t>instructor.dept_name</a:t>
            </a:r>
            <a:r>
              <a:rPr lang="en-US" dirty="0" smtClean="0"/>
              <a:t>, </a:t>
            </a:r>
            <a:r>
              <a:rPr lang="en-US" dirty="0" err="1" smtClean="0"/>
              <a:t>instructor.salary</a:t>
            </a:r>
            <a:r>
              <a:rPr lang="en-US" dirty="0" smtClean="0"/>
              <a:t>, teaches.ID, </a:t>
            </a:r>
            <a:r>
              <a:rPr lang="en-US" dirty="0" err="1" smtClean="0"/>
              <a:t>teaches.course</a:t>
            </a:r>
            <a:r>
              <a:rPr lang="en-US" dirty="0" smtClean="0"/>
              <a:t> id, </a:t>
            </a:r>
            <a:r>
              <a:rPr lang="en-US" dirty="0" err="1" smtClean="0"/>
              <a:t>teaches.sec</a:t>
            </a:r>
            <a:r>
              <a:rPr lang="en-US" dirty="0" smtClean="0"/>
              <a:t> id, </a:t>
            </a:r>
            <a:r>
              <a:rPr lang="en-US" dirty="0" err="1" smtClean="0"/>
              <a:t>teaches.semester</a:t>
            </a:r>
            <a:r>
              <a:rPr lang="en-US" dirty="0" smtClean="0"/>
              <a:t>, </a:t>
            </a:r>
            <a:r>
              <a:rPr lang="en-US" dirty="0" err="1" smtClean="0"/>
              <a:t>teaches.year</a:t>
            </a:r>
            <a:r>
              <a:rPr lang="en-US" dirty="0" smtClean="0"/>
              <a:t>)</a:t>
            </a:r>
          </a:p>
          <a:p>
            <a:endParaRPr lang="en-US" altLang="en-US" dirty="0" smtClean="0"/>
          </a:p>
          <a:p>
            <a:r>
              <a:rPr lang="en-US" b="1" i="1" dirty="0" smtClean="0"/>
              <a:t>Now that we know the relation schema for r = instructor × teaches, what tuples appear in r? </a:t>
            </a:r>
            <a:r>
              <a:rPr lang="en-US" b="0" i="0" dirty="0" smtClean="0"/>
              <a:t>As you may suspect, we construct a tuple of r out of each possible pair of tuples: one from the instructor relation (Figure 2.1) and one from the teaches relation (Figure 2.7). Thus, r is a large relation, as you can see from Figure 2.12, which includes only a portion of the tuples that make up r.</a:t>
            </a:r>
          </a:p>
          <a:p>
            <a:endParaRPr lang="en-US" altLang="en-US" dirty="0" smtClean="0"/>
          </a:p>
          <a:p>
            <a:r>
              <a:rPr lang="en-US" i="0" dirty="0" smtClean="0"/>
              <a:t>Assume that we have n1 tuples in instructor and n2 tuples in teaches. Then, there are n1 ∗ n2 ways of choosing a pair of tuples—one tuple from each relation; so there are n1 ∗ n2 tuples in r. In particular for our example, for some tuples t in r, it may be that the two ID values, instructor.ID and teaches.ID, are different.</a:t>
            </a:r>
          </a:p>
          <a:p>
            <a:endParaRPr lang="en-US" altLang="en-US" i="1" dirty="0" smtClean="0"/>
          </a:p>
          <a:p>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04B7984-B6AD-4D3E-800B-506D1974D9BE}" type="slidenum">
              <a:rPr lang="en-US" altLang="en-US" sz="1300">
                <a:latin typeface="Times New Roman" panose="02020603050405020304" pitchFamily="18" charset="0"/>
              </a:rPr>
              <a:pPr/>
              <a:t>18</a:t>
            </a:fld>
            <a:endParaRPr lang="en-US" altLang="en-US" sz="1300" dirty="0">
              <a:latin typeface="Times New Roman" panose="02020603050405020304" pitchFamily="18" charset="0"/>
            </a:endParaRPr>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Now that we know the relation schema for r = instructor × teaches, what tuples appear in r? </a:t>
            </a:r>
          </a:p>
          <a:p>
            <a:r>
              <a:rPr lang="en-US" b="1" i="1" dirty="0" smtClean="0"/>
              <a:t>As you may suspect, we construct a tuple of r out of each possible pair of tuples: one from the instructor relation (Figure 2.1) and one from the teaches relation (Figure 2.7). Thus, r is a large relation, as you can see from Figure 2.12, which includes only a portion of the tuples that make up r.</a:t>
            </a:r>
          </a:p>
          <a:p>
            <a:endParaRPr lang="en-US" altLang="en-US" dirty="0" smtClean="0"/>
          </a:p>
          <a:p>
            <a:r>
              <a:rPr lang="en-US" b="1" dirty="0" smtClean="0"/>
              <a:t>Assume that we have n</a:t>
            </a:r>
            <a:r>
              <a:rPr lang="en-US" b="1" baseline="-25000" dirty="0" smtClean="0"/>
              <a:t>1</a:t>
            </a:r>
            <a:r>
              <a:rPr lang="en-US" b="1" dirty="0" smtClean="0"/>
              <a:t> tuples in instructor and n</a:t>
            </a:r>
            <a:r>
              <a:rPr lang="en-US" b="1" baseline="-25000" dirty="0" smtClean="0"/>
              <a:t>2</a:t>
            </a:r>
            <a:r>
              <a:rPr lang="en-US" b="1" dirty="0" smtClean="0"/>
              <a:t> tuples in teaches. Then, there are n</a:t>
            </a:r>
            <a:r>
              <a:rPr lang="en-US" b="1" baseline="-25000" dirty="0" smtClean="0"/>
              <a:t>1</a:t>
            </a:r>
            <a:r>
              <a:rPr lang="en-US" b="1" dirty="0" smtClean="0"/>
              <a:t> ∗ n</a:t>
            </a:r>
            <a:r>
              <a:rPr lang="en-US" b="1" baseline="-25000" dirty="0" smtClean="0"/>
              <a:t>2</a:t>
            </a:r>
            <a:r>
              <a:rPr lang="en-US" b="1" dirty="0" smtClean="0"/>
              <a:t> ways of choosing a pair of tuples—one tuple from each relation; so there are n1 ∗ n2 tuples in r. In particular for our example, for some tuples t in r, it may be that the two ID values, instructor.ID and teaches.ID, are different.</a:t>
            </a:r>
          </a:p>
          <a:p>
            <a:endParaRPr lang="en-US"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i="1" dirty="0" smtClean="0"/>
              <a:t>In general, if we have relations r</a:t>
            </a:r>
            <a:r>
              <a:rPr lang="en-US" i="1" baseline="-25000" dirty="0" smtClean="0"/>
              <a:t>1</a:t>
            </a:r>
            <a:r>
              <a:rPr lang="en-US" i="1" dirty="0" smtClean="0"/>
              <a:t>(R</a:t>
            </a:r>
            <a:r>
              <a:rPr lang="en-US" i="1" baseline="-25000" dirty="0" smtClean="0"/>
              <a:t>1</a:t>
            </a:r>
            <a:r>
              <a:rPr lang="en-US" i="1" dirty="0" smtClean="0"/>
              <a:t>) and r</a:t>
            </a:r>
            <a:r>
              <a:rPr lang="en-US" i="1" baseline="-25000" dirty="0" smtClean="0"/>
              <a:t>2</a:t>
            </a:r>
            <a:r>
              <a:rPr lang="en-US" i="1" dirty="0" smtClean="0"/>
              <a:t>(R</a:t>
            </a:r>
            <a:r>
              <a:rPr lang="en-US" i="1" baseline="-25000" dirty="0" smtClean="0"/>
              <a:t>2</a:t>
            </a:r>
            <a:r>
              <a:rPr lang="en-US" i="1" dirty="0" smtClean="0"/>
              <a:t>), then r</a:t>
            </a:r>
            <a:r>
              <a:rPr lang="en-US" i="1" baseline="-25000" dirty="0" smtClean="0"/>
              <a:t>1</a:t>
            </a:r>
            <a:r>
              <a:rPr lang="en-US" i="1" dirty="0" smtClean="0"/>
              <a:t> × r</a:t>
            </a:r>
            <a:r>
              <a:rPr lang="en-US" i="1" baseline="-25000" dirty="0" smtClean="0"/>
              <a:t>2 </a:t>
            </a:r>
            <a:r>
              <a:rPr lang="en-US" i="1" dirty="0" smtClean="0"/>
              <a:t>is a relation r(R) whose schema R is the concatenation of the schemas R</a:t>
            </a:r>
            <a:r>
              <a:rPr lang="en-US" i="1" baseline="-25000" dirty="0" smtClean="0"/>
              <a:t>1</a:t>
            </a:r>
            <a:r>
              <a:rPr lang="en-US" i="1" dirty="0" smtClean="0"/>
              <a:t> and R</a:t>
            </a:r>
            <a:r>
              <a:rPr lang="en-US" i="1" baseline="-25000" dirty="0" smtClean="0"/>
              <a:t>2</a:t>
            </a:r>
            <a:r>
              <a:rPr lang="en-US" i="1" dirty="0" smtClean="0"/>
              <a:t>. Relation r contains all tuples t for which there is a tuple t1 in r</a:t>
            </a:r>
            <a:r>
              <a:rPr lang="en-US" i="1" baseline="-25000" dirty="0" smtClean="0"/>
              <a:t>1</a:t>
            </a:r>
            <a:r>
              <a:rPr lang="en-US" i="1" dirty="0" smtClean="0"/>
              <a:t> and a tuple t</a:t>
            </a:r>
            <a:r>
              <a:rPr lang="en-US" i="1" baseline="-25000" dirty="0" smtClean="0"/>
              <a:t>2</a:t>
            </a:r>
            <a:r>
              <a:rPr lang="en-US" i="1" dirty="0" smtClean="0"/>
              <a:t> in r</a:t>
            </a:r>
            <a:r>
              <a:rPr lang="en-US" i="1" baseline="-25000" dirty="0" smtClean="0"/>
              <a:t>2</a:t>
            </a:r>
            <a:r>
              <a:rPr lang="en-US" i="1" dirty="0" smtClean="0"/>
              <a:t> for which t and t</a:t>
            </a:r>
            <a:r>
              <a:rPr lang="en-US" i="1" baseline="-25000" dirty="0" smtClean="0"/>
              <a:t>1</a:t>
            </a:r>
            <a:r>
              <a:rPr lang="en-US" i="1" dirty="0" smtClean="0"/>
              <a:t> have the same value on the attributes in R</a:t>
            </a:r>
            <a:r>
              <a:rPr lang="en-US" i="1" baseline="-25000" dirty="0" smtClean="0"/>
              <a:t>1</a:t>
            </a:r>
            <a:r>
              <a:rPr lang="en-US" i="1" dirty="0" smtClean="0"/>
              <a:t> and t and t</a:t>
            </a:r>
            <a:r>
              <a:rPr lang="en-US" i="1" baseline="-25000" dirty="0" smtClean="0"/>
              <a:t>2</a:t>
            </a:r>
            <a:r>
              <a:rPr lang="en-US" i="1" dirty="0" smtClean="0"/>
              <a:t> have the same value on the attributes in R</a:t>
            </a:r>
            <a:r>
              <a:rPr lang="en-US" i="1" baseline="-25000" dirty="0" smtClean="0"/>
              <a:t>2</a:t>
            </a:r>
            <a:r>
              <a:rPr lang="en-US" i="1" dirty="0" smtClean="0"/>
              <a:t>.</a:t>
            </a:r>
            <a:endParaRPr lang="en-US" altLang="en-US" i="1" dirty="0" smtClean="0"/>
          </a:p>
          <a:p>
            <a:endParaRPr lang="en-US" altLang="en-US" dirty="0"/>
          </a:p>
        </p:txBody>
      </p:sp>
    </p:spTree>
    <p:extLst>
      <p:ext uri="{BB962C8B-B14F-4D97-AF65-F5344CB8AC3E}">
        <p14:creationId xmlns:p14="http://schemas.microsoft.com/office/powerpoint/2010/main" val="19769003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19</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Suppose we want to find the information about all instructors together with the </a:t>
            </a:r>
            <a:r>
              <a:rPr lang="en-US" b="1" dirty="0" err="1" smtClean="0"/>
              <a:t>course_id</a:t>
            </a:r>
            <a:r>
              <a:rPr lang="en-US" b="1" dirty="0" smtClean="0"/>
              <a:t> </a:t>
            </a:r>
            <a:r>
              <a:rPr lang="en-US" b="1" dirty="0" smtClean="0"/>
              <a:t>of all courses they have taught. We need the information in both the instructor relation and the teaches relation to compute the required result. The Cartesian product of instructor and teaches does bring together information from both these relations, but unfortunately the Cartesian product associates every instructor with every course that was taught, regardless of whether that instructor taught that course. </a:t>
            </a:r>
          </a:p>
          <a:p>
            <a:endParaRPr lang="en-US" b="1" dirty="0" smtClean="0"/>
          </a:p>
          <a:p>
            <a:r>
              <a:rPr lang="en-US" b="1" dirty="0" smtClean="0"/>
              <a:t>Since the Cartesian-product operation associates every tuple of instructor with every tuple of teaches, we know that if an instructor has taught a course (as recorded in the teaches relation), then there is some tuple in instructor × teaches that contains her name and satisfies instructor.ID = teaches.ID. So, if we write:</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i="1" dirty="0" smtClean="0">
                <a:sym typeface="Symbol" panose="05050102010706020507" pitchFamily="18" charset="2"/>
              </a:rPr>
              <a:t></a:t>
            </a:r>
            <a:r>
              <a:rPr lang="en-US" altLang="en-US" dirty="0" smtClean="0">
                <a:sym typeface="Symbol" panose="05050102010706020507" pitchFamily="18" charset="2"/>
              </a:rPr>
              <a:t> </a:t>
            </a:r>
            <a:r>
              <a:rPr lang="en-US" altLang="en-US" i="1" baseline="-25000" dirty="0" smtClean="0">
                <a:sym typeface="Symbol" panose="05050102010706020507" pitchFamily="18" charset="2"/>
              </a:rPr>
              <a:t>instructor.id =  teaches.id</a:t>
            </a:r>
            <a:r>
              <a:rPr lang="en-US" altLang="ja-JP" i="1" baseline="-25000" dirty="0" smtClean="0">
                <a:sym typeface="Symbol" panose="05050102010706020507" pitchFamily="18" charset="2"/>
              </a:rPr>
              <a:t> </a:t>
            </a:r>
            <a:r>
              <a:rPr lang="en-US" altLang="ja-JP" i="1" dirty="0" smtClean="0">
                <a:sym typeface="Symbol" panose="05050102010706020507" pitchFamily="18" charset="2"/>
              </a:rPr>
              <a:t> </a:t>
            </a:r>
            <a:r>
              <a:rPr lang="en-US" altLang="ja-JP" sz="1200" dirty="0" smtClean="0">
                <a:sym typeface="Symbol" panose="05050102010706020507" pitchFamily="18" charset="2"/>
              </a:rPr>
              <a:t>(</a:t>
            </a:r>
            <a:r>
              <a:rPr lang="en-US" altLang="ja-JP" sz="1200" i="1" dirty="0" smtClean="0">
                <a:sym typeface="Symbol" panose="05050102010706020507" pitchFamily="18" charset="2"/>
              </a:rPr>
              <a:t>instructor  </a:t>
            </a:r>
            <a:r>
              <a:rPr lang="en-US" altLang="ja-JP" sz="1200" dirty="0" smtClean="0">
                <a:sym typeface="Symbol" panose="05050102010706020507" pitchFamily="18" charset="2"/>
              </a:rPr>
              <a:t>x</a:t>
            </a:r>
            <a:r>
              <a:rPr lang="en-US" altLang="ja-JP" sz="1200" i="1" dirty="0" smtClean="0">
                <a:sym typeface="Symbol" panose="05050102010706020507" pitchFamily="18" charset="2"/>
              </a:rPr>
              <a:t> teaches </a:t>
            </a:r>
            <a:r>
              <a:rPr lang="en-US" altLang="ja-JP" sz="1200" dirty="0" smtClean="0">
                <a:sym typeface="Symbol" panose="05050102010706020507" pitchFamily="18" charset="2"/>
              </a:rPr>
              <a:t>))</a:t>
            </a:r>
          </a:p>
          <a:p>
            <a:endParaRPr lang="en-US" dirty="0" smtClean="0"/>
          </a:p>
          <a:p>
            <a:endParaRPr lang="en-US" altLang="en-US" b="1" dirty="0" smtClean="0"/>
          </a:p>
          <a:p>
            <a:r>
              <a:rPr lang="en-US" b="1" dirty="0" smtClean="0"/>
              <a:t>we get only those tuples of instructor × teaches that pertain to instructors and the courses that they taught.</a:t>
            </a:r>
            <a:endParaRPr lang="en-US" altLang="en-US" b="1"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20</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result of this expression is shown in Figure 2.13. Observe that instructors Gold, </a:t>
            </a:r>
            <a:r>
              <a:rPr lang="en-US" b="1" dirty="0" err="1" smtClean="0"/>
              <a:t>Califieri</a:t>
            </a:r>
            <a:r>
              <a:rPr lang="en-US" b="1" dirty="0" smtClean="0"/>
              <a:t>, and Singh do not teach any course (as recorded in the teaches relation), and therefore do not appear in the result.</a:t>
            </a:r>
          </a:p>
          <a:p>
            <a:r>
              <a:rPr lang="en-US" b="1" dirty="0" smtClean="0"/>
              <a:t>Note that this expression results in the duplication of the instructor’s ID. This can be easily handled by adding a projection to eliminate the column teaches.ID.</a:t>
            </a:r>
            <a:endParaRPr lang="en-US" altLang="en-US" b="1"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21</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3795" name="Rectangle 3"/>
              <p:cNvSpPr>
                <a:spLocks noGrp="1" noChangeArrowheads="1"/>
              </p:cNvSpPr>
              <p:nvPr>
                <p:ph type="body" idx="1"/>
              </p:nvPr>
            </p:nvSpPr>
            <p:spPr>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p>
                <a:r>
                  <a:rPr lang="en-US" b="1" dirty="0" smtClean="0"/>
                  <a:t>Consider relations r(R) and s(S), and let θ be a predicate on attributes in the schema R ∪ S. The join operation r ⋈θ s is defined as follows:</a:t>
                </a:r>
              </a:p>
              <a:p>
                <a:endParaRPr lang="en-US" altLang="en-US" dirty="0" smtClean="0"/>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m:t>
                          </m:r>
                        </m:e>
                        <m:sub>
                          <m:r>
                            <a:rPr lang="en-US" i="1">
                              <a:latin typeface="Cambria Math" panose="02040503050406030204" pitchFamily="18" charset="0"/>
                            </a:rPr>
                            <m:t>𝜃</m:t>
                          </m:r>
                        </m:sub>
                      </m:sSub>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𝜃</m:t>
                          </m:r>
                        </m:sub>
                      </m:sSub>
                      <m:r>
                        <a:rPr lang="en-US" b="0" i="1" smtClean="0">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 × </m:t>
                      </m:r>
                      <m:r>
                        <a:rPr lang="en-US" i="1">
                          <a:latin typeface="Cambria Math" panose="02040503050406030204" pitchFamily="18" charset="0"/>
                        </a:rPr>
                        <m:t>𝑠</m:t>
                      </m:r>
                      <m:r>
                        <a:rPr lang="en-US" i="1">
                          <a:latin typeface="Cambria Math" panose="02040503050406030204" pitchFamily="18" charset="0"/>
                        </a:rPr>
                        <m:t>)</m:t>
                      </m:r>
                    </m:oMath>
                  </m:oMathPara>
                </a14:m>
                <a:endParaRPr lang="en-US" altLang="en-US" dirty="0" smtClean="0"/>
              </a:p>
              <a:p>
                <a:endParaRPr lang="en-US" altLang="en-US" dirty="0" smtClean="0"/>
              </a:p>
              <a:p>
                <a:r>
                  <a:rPr lang="en-US" altLang="ja-JP" sz="1200" dirty="0" smtClean="0">
                    <a:sym typeface="Symbol" panose="05050102010706020507" pitchFamily="18" charset="2"/>
                  </a:rPr>
                  <a:t>Thus</a:t>
                </a:r>
              </a:p>
              <a:p>
                <a:pPr marL="0" indent="0">
                  <a:buNone/>
                </a:pPr>
                <a:r>
                  <a:rPr lang="en-US" altLang="en-US" sz="1200" i="1"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instructor.id =  teaches.id</a:t>
                </a:r>
                <a:r>
                  <a:rPr lang="en-US" altLang="ja-JP" i="1" baseline="-25000" dirty="0">
                    <a:sym typeface="Symbol" panose="05050102010706020507" pitchFamily="18" charset="2"/>
                  </a:rPr>
                  <a:t>  </a:t>
                </a:r>
                <a:r>
                  <a:rPr lang="en-US" altLang="ja-JP" sz="1200" dirty="0">
                    <a:sym typeface="Symbol" panose="05050102010706020507" pitchFamily="18" charset="2"/>
                  </a:rPr>
                  <a:t>(</a:t>
                </a:r>
                <a:r>
                  <a:rPr lang="en-US" altLang="ja-JP" sz="1200" i="1" dirty="0">
                    <a:sym typeface="Symbol" panose="05050102010706020507" pitchFamily="18" charset="2"/>
                  </a:rPr>
                  <a:t>instructor  </a:t>
                </a:r>
                <a:r>
                  <a:rPr lang="en-US" altLang="ja-JP" sz="1200" dirty="0">
                    <a:sym typeface="Symbol" panose="05050102010706020507" pitchFamily="18" charset="2"/>
                  </a:rPr>
                  <a:t>x</a:t>
                </a:r>
                <a:r>
                  <a:rPr lang="en-US" altLang="ja-JP" sz="1200" i="1" dirty="0">
                    <a:sym typeface="Symbol" panose="05050102010706020507" pitchFamily="18" charset="2"/>
                  </a:rPr>
                  <a:t> teaches </a:t>
                </a:r>
                <a:r>
                  <a:rPr lang="en-US" altLang="ja-JP" sz="1200" dirty="0">
                    <a:sym typeface="Symbol" panose="05050102010706020507" pitchFamily="18" charset="2"/>
                  </a:rPr>
                  <a:t>))</a:t>
                </a:r>
              </a:p>
              <a:p>
                <a:pPr marL="0" indent="0">
                  <a:buNone/>
                </a:pPr>
                <a:r>
                  <a:rPr lang="en-US" altLang="ja-JP" sz="500" dirty="0">
                    <a:sym typeface="Symbol" panose="05050102010706020507" pitchFamily="18" charset="2"/>
                  </a:rPr>
                  <a:t> </a:t>
                </a:r>
              </a:p>
              <a:p>
                <a:r>
                  <a:rPr lang="en-US" altLang="ja-JP" sz="1200" dirty="0">
                    <a:sym typeface="Symbol" panose="05050102010706020507" pitchFamily="18" charset="2"/>
                  </a:rPr>
                  <a:t>Can equivalently be written as </a:t>
                </a:r>
              </a:p>
              <a:p>
                <a:pPr>
                  <a:buNone/>
                </a:pPr>
                <a:r>
                  <a:rPr lang="en-US" altLang="en-US" sz="1200" i="1" dirty="0">
                    <a:sym typeface="Symbol" panose="05050102010706020507" pitchFamily="18" charset="2"/>
                  </a:rPr>
                  <a:t>                 instructor</a:t>
                </a:r>
                <a:r>
                  <a:rPr lang="en-US" altLang="en-US" sz="1200" dirty="0">
                    <a:sym typeface="Symbol" panose="05050102010706020507" pitchFamily="18" charset="2"/>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e>
                      <m:sub>
                        <m:r>
                          <a:rPr lang="en-US" i="1">
                            <a:latin typeface="Cambria Math" panose="02040503050406030204" pitchFamily="18" charset="0"/>
                          </a:rPr>
                          <m:t> </m:t>
                        </m:r>
                      </m:sub>
                    </m:sSub>
                  </m:oMath>
                </a14:m>
                <a:r>
                  <a:rPr lang="en-US" i="1" baseline="-25000" dirty="0"/>
                  <a:t>Instructor.id = teaches.id</a:t>
                </a:r>
                <a:r>
                  <a:rPr lang="en-US" baseline="-25000" dirty="0"/>
                  <a:t> </a:t>
                </a:r>
                <a:r>
                  <a:rPr lang="en-US" sz="1200" i="1" dirty="0"/>
                  <a:t>teaches</a:t>
                </a:r>
                <a:r>
                  <a:rPr lang="en-US" sz="1200" dirty="0"/>
                  <a:t>.</a:t>
                </a:r>
              </a:p>
              <a:p>
                <a:endParaRPr lang="en-US" altLang="en-US" dirty="0"/>
              </a:p>
            </p:txBody>
          </p:sp>
        </mc:Choice>
        <mc:Fallback xmlns="">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Consider relations r(R) and s(S), and let θ be a predicate on attributes in the schema R ∪ S. The join operation r ⋈θ s is defined as follows:</a:t>
                </a:r>
              </a:p>
              <a:p>
                <a:endParaRPr lang="en-US" altLang="en-US" dirty="0" smtClean="0"/>
              </a:p>
              <a:p>
                <a:r>
                  <a:rPr lang="en-US" i="0" smtClean="0">
                    <a:latin typeface="Cambria Math" panose="02040503050406030204" pitchFamily="18" charset="0"/>
                  </a:rPr>
                  <a:t>𝑟</a:t>
                </a:r>
                <a:r>
                  <a:rPr lang="en-US" i="0">
                    <a:latin typeface="Cambria Math" panose="02040503050406030204" pitchFamily="18" charset="0"/>
                  </a:rPr>
                  <a:t>⋈_𝜃 𝑠=𝜎_𝜃</a:t>
                </a:r>
                <a:r>
                  <a:rPr lang="en-US" b="0" i="0" smtClean="0">
                    <a:latin typeface="Cambria Math" panose="02040503050406030204" pitchFamily="18" charset="0"/>
                  </a:rPr>
                  <a:t>  </a:t>
                </a:r>
                <a:r>
                  <a:rPr lang="en-US" i="0">
                    <a:latin typeface="Cambria Math" panose="02040503050406030204" pitchFamily="18" charset="0"/>
                  </a:rPr>
                  <a:t>(𝑟 × 𝑠)</a:t>
                </a:r>
                <a:endParaRPr lang="en-US" altLang="en-US" dirty="0" smtClean="0"/>
              </a:p>
              <a:p>
                <a:endParaRPr lang="en-US" altLang="en-US" dirty="0" smtClean="0"/>
              </a:p>
              <a:p>
                <a:r>
                  <a:rPr lang="en-US" altLang="ja-JP" sz="1200" dirty="0" smtClean="0">
                    <a:sym typeface="Symbol" panose="05050102010706020507" pitchFamily="18" charset="2"/>
                  </a:rPr>
                  <a:t>Thus</a:t>
                </a:r>
              </a:p>
              <a:p>
                <a:pPr marL="0" indent="0">
                  <a:buNone/>
                </a:pPr>
                <a:r>
                  <a:rPr lang="en-US" altLang="en-US" sz="1200" i="1"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instructor.id =  teaches.id</a:t>
                </a:r>
                <a:r>
                  <a:rPr lang="en-US" altLang="ja-JP" i="1" baseline="-25000" dirty="0">
                    <a:sym typeface="Symbol" panose="05050102010706020507" pitchFamily="18" charset="2"/>
                  </a:rPr>
                  <a:t>  </a:t>
                </a:r>
                <a:r>
                  <a:rPr lang="en-US" altLang="ja-JP" sz="1200" dirty="0">
                    <a:sym typeface="Symbol" panose="05050102010706020507" pitchFamily="18" charset="2"/>
                  </a:rPr>
                  <a:t>(</a:t>
                </a:r>
                <a:r>
                  <a:rPr lang="en-US" altLang="ja-JP" sz="1200" i="1" dirty="0">
                    <a:sym typeface="Symbol" panose="05050102010706020507" pitchFamily="18" charset="2"/>
                  </a:rPr>
                  <a:t>instructor  </a:t>
                </a:r>
                <a:r>
                  <a:rPr lang="en-US" altLang="ja-JP" sz="1200" dirty="0">
                    <a:sym typeface="Symbol" panose="05050102010706020507" pitchFamily="18" charset="2"/>
                  </a:rPr>
                  <a:t>x</a:t>
                </a:r>
                <a:r>
                  <a:rPr lang="en-US" altLang="ja-JP" sz="1200" i="1" dirty="0">
                    <a:sym typeface="Symbol" panose="05050102010706020507" pitchFamily="18" charset="2"/>
                  </a:rPr>
                  <a:t> teaches </a:t>
                </a:r>
                <a:r>
                  <a:rPr lang="en-US" altLang="ja-JP" sz="1200" dirty="0">
                    <a:sym typeface="Symbol" panose="05050102010706020507" pitchFamily="18" charset="2"/>
                  </a:rPr>
                  <a:t>))</a:t>
                </a:r>
              </a:p>
              <a:p>
                <a:pPr marL="0" indent="0">
                  <a:buNone/>
                </a:pPr>
                <a:r>
                  <a:rPr lang="en-US" altLang="ja-JP" sz="500" dirty="0">
                    <a:sym typeface="Symbol" panose="05050102010706020507" pitchFamily="18" charset="2"/>
                  </a:rPr>
                  <a:t> </a:t>
                </a:r>
              </a:p>
              <a:p>
                <a:r>
                  <a:rPr lang="en-US" altLang="ja-JP" sz="1200" dirty="0">
                    <a:sym typeface="Symbol" panose="05050102010706020507" pitchFamily="18" charset="2"/>
                  </a:rPr>
                  <a:t>Can equivalently be written as </a:t>
                </a:r>
              </a:p>
              <a:p>
                <a:pPr>
                  <a:buNone/>
                </a:pPr>
                <a:r>
                  <a:rPr lang="en-US" altLang="en-US" sz="1200" i="1" dirty="0">
                    <a:sym typeface="Symbol" panose="05050102010706020507" pitchFamily="18" charset="2"/>
                  </a:rPr>
                  <a:t>                 instructor</a:t>
                </a:r>
                <a:r>
                  <a:rPr lang="en-US" altLang="en-US" sz="1200" dirty="0">
                    <a:sym typeface="Symbol" panose="05050102010706020507" pitchFamily="18" charset="2"/>
                  </a:rPr>
                  <a:t> </a:t>
                </a:r>
                <a:r>
                  <a:rPr lang="en-US" i="0">
                    <a:latin typeface="Cambria Math" panose="02040503050406030204" pitchFamily="18" charset="0"/>
                  </a:rPr>
                  <a:t>⋈_ </a:t>
                </a:r>
                <a:r>
                  <a:rPr lang="en-US" i="1" baseline="-25000" dirty="0"/>
                  <a:t>Instructor.id = teaches.id</a:t>
                </a:r>
                <a:r>
                  <a:rPr lang="en-US" baseline="-25000" dirty="0"/>
                  <a:t> </a:t>
                </a:r>
                <a:r>
                  <a:rPr lang="en-US" sz="1200" i="1" dirty="0"/>
                  <a:t>teaches</a:t>
                </a:r>
                <a:r>
                  <a:rPr lang="en-US" sz="1200" dirty="0"/>
                  <a:t>.</a:t>
                </a:r>
              </a:p>
              <a:p>
                <a:endParaRPr lang="en-US" altLang="en-US" dirty="0"/>
              </a:p>
            </p:txBody>
          </p:sp>
        </mc:Fallback>
      </mc:AlternateContent>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2E6BB600-5F46-4F6C-928D-3BCCB73D5636}" type="slidenum">
              <a:rPr lang="en-US" altLang="en-US" sz="1300">
                <a:latin typeface="Times New Roman" panose="02020603050405020304" pitchFamily="18" charset="0"/>
              </a:rPr>
              <a:pPr/>
              <a:t>22</a:t>
            </a:fld>
            <a:endParaRPr lang="en-US" altLang="en-US" sz="1300" dirty="0">
              <a:latin typeface="Times New Roman" panose="02020603050405020304" pitchFamily="18" charset="0"/>
            </a:endParaRPr>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u="sng" dirty="0" smtClean="0"/>
              <a:t>Set Operations </a:t>
            </a:r>
          </a:p>
          <a:p>
            <a:endParaRPr lang="en-US" dirty="0" smtClean="0"/>
          </a:p>
          <a:p>
            <a:r>
              <a:rPr lang="en-US" b="1" dirty="0" smtClean="0"/>
              <a:t>Consider a query to find the set of all courses taught in the Fall 2017 semester, the Spring 2018 semester, or both. The information is contained in the section relation (Figure 2.6). To find the set of all courses taught In the Fall 2017 semester, we write:</a:t>
            </a:r>
          </a:p>
          <a:p>
            <a:endParaRPr lang="en-US" altLang="en-US" dirty="0" smtClean="0"/>
          </a:p>
          <a:p>
            <a:r>
              <a:rPr lang="en-US" altLang="en-US" dirty="0" smtClean="0">
                <a:sym typeface="Symbol" panose="05050102010706020507" pitchFamily="18" charset="2"/>
              </a:rPr>
              <a:t></a:t>
            </a:r>
            <a:r>
              <a:rPr lang="en-US" altLang="en-US" i="1" baseline="-25000" dirty="0" err="1" smtClean="0"/>
              <a:t>course_id</a:t>
            </a:r>
            <a:r>
              <a:rPr lang="en-US" altLang="en-US" dirty="0" smtClean="0"/>
              <a:t> (</a:t>
            </a:r>
            <a:r>
              <a:rPr lang="en-US" altLang="en-US" i="1" dirty="0" smtClean="0">
                <a:sym typeface="Symbol" panose="05050102010706020507" pitchFamily="18" charset="2"/>
              </a:rPr>
              <a:t></a:t>
            </a:r>
            <a:r>
              <a:rPr lang="en-US" altLang="en-US" dirty="0" smtClean="0">
                <a:sym typeface="Symbol" panose="05050102010706020507" pitchFamily="18" charset="2"/>
              </a:rPr>
              <a:t> </a:t>
            </a:r>
            <a:r>
              <a:rPr lang="en-US" altLang="en-US" i="1" baseline="-25000" dirty="0" smtClean="0">
                <a:sym typeface="Symbol" panose="05050102010706020507" pitchFamily="18" charset="2"/>
              </a:rPr>
              <a:t>semester=</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Fall</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  </a:t>
            </a:r>
            <a:r>
              <a:rPr lang="el-GR" altLang="ja-JP" i="1" baseline="-25000" dirty="0" smtClean="0">
                <a:sym typeface="Symbol" panose="05050102010706020507" pitchFamily="18" charset="2"/>
              </a:rPr>
              <a:t>Λ</a:t>
            </a:r>
            <a:r>
              <a:rPr lang="en-US" altLang="ja-JP" i="1" baseline="-25000" dirty="0" smtClean="0">
                <a:sym typeface="Symbol" panose="05050102010706020507" pitchFamily="18" charset="2"/>
              </a:rPr>
              <a:t> year=2017 </a:t>
            </a:r>
            <a:r>
              <a:rPr lang="en-US" altLang="ja-JP" sz="1200" dirty="0" smtClean="0">
                <a:sym typeface="Symbol" panose="05050102010706020507" pitchFamily="18" charset="2"/>
              </a:rPr>
              <a:t>(</a:t>
            </a:r>
            <a:r>
              <a:rPr lang="en-US" altLang="ja-JP" sz="1200" i="1" dirty="0" smtClean="0">
                <a:sym typeface="Symbol" panose="05050102010706020507" pitchFamily="18" charset="2"/>
              </a:rPr>
              <a:t>section</a:t>
            </a:r>
            <a:r>
              <a:rPr lang="en-US" altLang="ja-JP" sz="1200" dirty="0" smtClean="0">
                <a:sym typeface="Symbol" panose="05050102010706020507" pitchFamily="18" charset="2"/>
              </a:rPr>
              <a:t>)) </a:t>
            </a:r>
          </a:p>
          <a:p>
            <a:endParaRPr lang="en-US" altLang="en-US" dirty="0" smtClean="0"/>
          </a:p>
          <a:p>
            <a:r>
              <a:rPr lang="en-US" b="1" dirty="0" smtClean="0"/>
              <a:t>To find the set of all courses taught in the Spring 2018 semester, we write:</a:t>
            </a:r>
          </a:p>
          <a:p>
            <a:endParaRPr lang="en-US" b="1" dirty="0" smtClean="0"/>
          </a:p>
          <a:p>
            <a:r>
              <a:rPr lang="en-US" altLang="ja-JP" sz="1200" dirty="0" smtClean="0">
                <a:sym typeface="Symbol" panose="05050102010706020507" pitchFamily="18" charset="2"/>
              </a:rPr>
              <a:t> </a:t>
            </a:r>
            <a:r>
              <a:rPr lang="en-US" altLang="ja-JP" dirty="0" smtClean="0">
                <a:sym typeface="Symbol" panose="05050102010706020507" pitchFamily="18" charset="2"/>
              </a:rPr>
              <a:t></a:t>
            </a:r>
            <a:r>
              <a:rPr lang="en-US" altLang="ja-JP" i="1" baseline="-25000" dirty="0" err="1" smtClean="0"/>
              <a:t>course_id</a:t>
            </a:r>
            <a:r>
              <a:rPr lang="en-US" altLang="ja-JP" dirty="0" smtClean="0"/>
              <a:t> (</a:t>
            </a:r>
            <a:r>
              <a:rPr lang="en-US" altLang="ja-JP" i="1" dirty="0" smtClean="0">
                <a:sym typeface="Symbol" panose="05050102010706020507" pitchFamily="18" charset="2"/>
              </a:rPr>
              <a:t></a:t>
            </a:r>
            <a:r>
              <a:rPr lang="en-US" altLang="ja-JP" dirty="0" smtClean="0">
                <a:sym typeface="Symbol" panose="05050102010706020507" pitchFamily="18" charset="2"/>
              </a:rPr>
              <a:t> </a:t>
            </a:r>
            <a:r>
              <a:rPr lang="en-US" altLang="ja-JP" i="1" baseline="-25000" dirty="0" smtClean="0">
                <a:sym typeface="Symbol" panose="05050102010706020507" pitchFamily="18" charset="2"/>
              </a:rPr>
              <a:t>semester=</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Spring</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  </a:t>
            </a:r>
            <a:r>
              <a:rPr lang="el-GR" altLang="ja-JP" i="1" baseline="-25000" dirty="0" smtClean="0">
                <a:sym typeface="Symbol" panose="05050102010706020507" pitchFamily="18" charset="2"/>
              </a:rPr>
              <a:t>Λ</a:t>
            </a:r>
            <a:r>
              <a:rPr lang="en-US" altLang="ja-JP" i="1" baseline="-25000" dirty="0" smtClean="0">
                <a:sym typeface="Symbol" panose="05050102010706020507" pitchFamily="18" charset="2"/>
              </a:rPr>
              <a:t> year=2018 </a:t>
            </a:r>
            <a:r>
              <a:rPr lang="en-US" altLang="ja-JP" sz="1200" dirty="0" smtClean="0">
                <a:sym typeface="Symbol" panose="05050102010706020507" pitchFamily="18" charset="2"/>
              </a:rPr>
              <a:t>(</a:t>
            </a:r>
            <a:r>
              <a:rPr lang="en-US" altLang="ja-JP" sz="1200" i="1" dirty="0" smtClean="0">
                <a:sym typeface="Symbol" panose="05050102010706020507" pitchFamily="18" charset="2"/>
              </a:rPr>
              <a:t>section</a:t>
            </a:r>
            <a:r>
              <a:rPr lang="en-US" altLang="ja-JP" sz="1200" dirty="0" smtClean="0">
                <a:sym typeface="Symbol" panose="05050102010706020507" pitchFamily="18" charset="2"/>
              </a:rPr>
              <a:t>))</a:t>
            </a:r>
          </a:p>
          <a:p>
            <a:endParaRPr lang="en-US" altLang="en-US" dirty="0" smtClean="0"/>
          </a:p>
          <a:p>
            <a:r>
              <a:rPr lang="en-US" b="1" dirty="0" smtClean="0"/>
              <a:t>To answer the query, we need the union of these two sets; that is, we need all course ids that appear in either or both of the two relations. We find these data by the binary operation union, denoted, as in set theory, by ∪. So the expression needed is:</a:t>
            </a:r>
          </a:p>
          <a:p>
            <a:r>
              <a:rPr lang="en-US" altLang="en-US" dirty="0" smtClean="0"/>
              <a:t> </a:t>
            </a:r>
            <a:r>
              <a:rPr lang="en-US" altLang="en-US" dirty="0" smtClean="0">
                <a:sym typeface="Symbol" panose="05050102010706020507" pitchFamily="18" charset="2"/>
              </a:rPr>
              <a:t></a:t>
            </a:r>
            <a:r>
              <a:rPr lang="en-US" altLang="en-US" i="1" baseline="-25000" dirty="0" err="1" smtClean="0"/>
              <a:t>course_id</a:t>
            </a:r>
            <a:r>
              <a:rPr lang="en-US" altLang="en-US" dirty="0" smtClean="0"/>
              <a:t> (</a:t>
            </a:r>
            <a:r>
              <a:rPr lang="en-US" altLang="en-US" i="1" dirty="0" smtClean="0">
                <a:sym typeface="Symbol" panose="05050102010706020507" pitchFamily="18" charset="2"/>
              </a:rPr>
              <a:t></a:t>
            </a:r>
            <a:r>
              <a:rPr lang="en-US" altLang="en-US" dirty="0" smtClean="0">
                <a:sym typeface="Symbol" panose="05050102010706020507" pitchFamily="18" charset="2"/>
              </a:rPr>
              <a:t> </a:t>
            </a:r>
            <a:r>
              <a:rPr lang="en-US" altLang="en-US" i="1" baseline="-25000" dirty="0" smtClean="0">
                <a:sym typeface="Symbol" panose="05050102010706020507" pitchFamily="18" charset="2"/>
              </a:rPr>
              <a:t>semester=</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Fall</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  </a:t>
            </a:r>
            <a:r>
              <a:rPr lang="el-GR" altLang="ja-JP" i="1" baseline="-25000" dirty="0" smtClean="0">
                <a:sym typeface="Symbol" panose="05050102010706020507" pitchFamily="18" charset="2"/>
              </a:rPr>
              <a:t>Λ</a:t>
            </a:r>
            <a:r>
              <a:rPr lang="en-US" altLang="ja-JP" i="1" baseline="-25000" dirty="0" smtClean="0">
                <a:sym typeface="Symbol" panose="05050102010706020507" pitchFamily="18" charset="2"/>
              </a:rPr>
              <a:t> year=2017 </a:t>
            </a:r>
            <a:r>
              <a:rPr lang="en-US" altLang="ja-JP" sz="1200" dirty="0" smtClean="0">
                <a:sym typeface="Symbol" panose="05050102010706020507" pitchFamily="18" charset="2"/>
              </a:rPr>
              <a:t>(</a:t>
            </a:r>
            <a:r>
              <a:rPr lang="en-US" altLang="ja-JP" sz="1200" i="1" dirty="0" smtClean="0">
                <a:sym typeface="Symbol" panose="05050102010706020507" pitchFamily="18" charset="2"/>
              </a:rPr>
              <a:t>section</a:t>
            </a:r>
            <a:r>
              <a:rPr lang="en-US" altLang="ja-JP" sz="1200" dirty="0" smtClean="0">
                <a:sym typeface="Symbol" panose="05050102010706020507" pitchFamily="18" charset="2"/>
              </a:rPr>
              <a:t>))    </a:t>
            </a:r>
            <a:br>
              <a:rPr lang="en-US" altLang="ja-JP" sz="1200" dirty="0" smtClean="0">
                <a:sym typeface="Symbol" panose="05050102010706020507" pitchFamily="18" charset="2"/>
              </a:rPr>
            </a:br>
            <a:r>
              <a:rPr lang="en-US" altLang="ja-JP" sz="1200" dirty="0" smtClean="0">
                <a:sym typeface="Symbol" panose="05050102010706020507" pitchFamily="18" charset="2"/>
              </a:rPr>
              <a:t>   </a:t>
            </a:r>
            <a:r>
              <a:rPr lang="en-US" altLang="ja-JP" dirty="0" smtClean="0">
                <a:sym typeface="Symbol" panose="05050102010706020507" pitchFamily="18" charset="2"/>
              </a:rPr>
              <a:t></a:t>
            </a:r>
            <a:r>
              <a:rPr lang="en-US" altLang="ja-JP" i="1" baseline="-25000" dirty="0" err="1" smtClean="0"/>
              <a:t>course_id</a:t>
            </a:r>
            <a:r>
              <a:rPr lang="en-US" altLang="ja-JP" dirty="0" smtClean="0"/>
              <a:t> (</a:t>
            </a:r>
            <a:r>
              <a:rPr lang="en-US" altLang="ja-JP" i="1" dirty="0" smtClean="0">
                <a:sym typeface="Symbol" panose="05050102010706020507" pitchFamily="18" charset="2"/>
              </a:rPr>
              <a:t></a:t>
            </a:r>
            <a:r>
              <a:rPr lang="en-US" altLang="ja-JP" dirty="0" smtClean="0">
                <a:sym typeface="Symbol" panose="05050102010706020507" pitchFamily="18" charset="2"/>
              </a:rPr>
              <a:t> </a:t>
            </a:r>
            <a:r>
              <a:rPr lang="en-US" altLang="ja-JP" i="1" baseline="-25000" dirty="0" smtClean="0">
                <a:sym typeface="Symbol" panose="05050102010706020507" pitchFamily="18" charset="2"/>
              </a:rPr>
              <a:t>semester=</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Spring</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  </a:t>
            </a:r>
            <a:r>
              <a:rPr lang="el-GR" altLang="ja-JP" i="1" baseline="-25000" dirty="0" smtClean="0">
                <a:sym typeface="Symbol" panose="05050102010706020507" pitchFamily="18" charset="2"/>
              </a:rPr>
              <a:t>Λ</a:t>
            </a:r>
            <a:r>
              <a:rPr lang="en-US" altLang="ja-JP" i="1" baseline="-25000" dirty="0" smtClean="0">
                <a:sym typeface="Symbol" panose="05050102010706020507" pitchFamily="18" charset="2"/>
              </a:rPr>
              <a:t> year=2018 </a:t>
            </a:r>
            <a:r>
              <a:rPr lang="en-US" altLang="ja-JP" sz="1200" dirty="0" smtClean="0">
                <a:sym typeface="Symbol" panose="05050102010706020507" pitchFamily="18" charset="2"/>
              </a:rPr>
              <a:t>(</a:t>
            </a:r>
            <a:r>
              <a:rPr lang="en-US" altLang="ja-JP" sz="1200" i="1" dirty="0" smtClean="0">
                <a:sym typeface="Symbol" panose="05050102010706020507" pitchFamily="18" charset="2"/>
              </a:rPr>
              <a:t>section</a:t>
            </a:r>
            <a:r>
              <a:rPr lang="en-US" altLang="ja-JP" sz="1200" dirty="0" smtClean="0">
                <a:sym typeface="Symbol" panose="05050102010706020507" pitchFamily="18" charset="2"/>
              </a:rPr>
              <a:t>))</a:t>
            </a:r>
            <a:endParaRPr lang="en-US" altLang="en-US" dirty="0" smtClean="0"/>
          </a:p>
          <a:p>
            <a:endParaRPr lang="en-US" altLang="en-US" dirty="0" smtClean="0"/>
          </a:p>
          <a:p>
            <a:r>
              <a:rPr lang="en-US" b="1" dirty="0" smtClean="0"/>
              <a:t>The result relation for this query appears in </a:t>
            </a:r>
            <a:r>
              <a:rPr lang="en-US" dirty="0" smtClean="0"/>
              <a:t>Figure next slide (2.14). Notice that there are eight tuples in the result, even though there are three distinct courses offered in the Fall 2017 semester and six distinct courses offered in the Spring 2018 semester. Since relations are sets, duplicate values such as CS-101, which is offered in both semesters, are replaced by a single occurrence</a:t>
            </a:r>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2E6BB600-5F46-4F6C-928D-3BCCB73D5636}" type="slidenum">
              <a:rPr lang="en-US" altLang="en-US" sz="1300">
                <a:latin typeface="Times New Roman" panose="02020603050405020304" pitchFamily="18" charset="0"/>
              </a:rPr>
              <a:pPr/>
              <a:t>23</a:t>
            </a:fld>
            <a:endParaRPr lang="en-US" altLang="en-US" sz="1300" dirty="0">
              <a:latin typeface="Times New Roman" panose="02020603050405020304" pitchFamily="18" charset="0"/>
            </a:endParaRPr>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Notice that there are eight tuples in the result, even though there are three distinct courses offered in the Fall 2017 semester and six distinct courses offered in the Spring 2018 semester. Since relations are sets, duplicate values such as CS-101, which is offered in both semesters, are replaced by a single occurrence</a:t>
            </a:r>
            <a:endParaRPr lang="en-US" altLang="en-US" dirty="0" smtClean="0"/>
          </a:p>
          <a:p>
            <a:endParaRPr lang="en-US" b="1" dirty="0" smtClean="0"/>
          </a:p>
          <a:p>
            <a:endParaRPr lang="en-US" b="1" dirty="0" smtClean="0"/>
          </a:p>
          <a:p>
            <a:r>
              <a:rPr lang="en-US" b="1" dirty="0" smtClean="0"/>
              <a:t>Observe that, in our example, we took the union of two sets, both of which consisted of </a:t>
            </a:r>
            <a:r>
              <a:rPr lang="en-US" b="1" dirty="0" err="1" smtClean="0"/>
              <a:t>course_id</a:t>
            </a:r>
            <a:r>
              <a:rPr lang="en-US" b="1" dirty="0" smtClean="0"/>
              <a:t> </a:t>
            </a:r>
            <a:r>
              <a:rPr lang="en-US" b="1" dirty="0" smtClean="0"/>
              <a:t>values. </a:t>
            </a:r>
          </a:p>
          <a:p>
            <a:endParaRPr lang="en-US" dirty="0" smtClean="0"/>
          </a:p>
          <a:p>
            <a:r>
              <a:rPr lang="en-US" b="1" dirty="0" smtClean="0"/>
              <a:t>In general, for a union operation to make sense: </a:t>
            </a:r>
          </a:p>
          <a:p>
            <a:pPr marL="228600" indent="-228600">
              <a:buAutoNum type="arabicPeriod"/>
            </a:pPr>
            <a:r>
              <a:rPr lang="en-US" b="1" i="1" dirty="0" smtClean="0"/>
              <a:t>We must ensure that the input relations to the union operation have the same number of attributes; the number of attributes of a relation is referred to as its arity. </a:t>
            </a:r>
          </a:p>
          <a:p>
            <a:pPr marL="228600" indent="-228600">
              <a:buAutoNum type="arabicPeriod"/>
            </a:pPr>
            <a:r>
              <a:rPr lang="en-US" b="1" i="1" dirty="0" smtClean="0"/>
              <a:t>When the attributes have associated types, the types of the </a:t>
            </a:r>
            <a:r>
              <a:rPr lang="en-US" b="1" i="1" dirty="0" smtClean="0"/>
              <a:t>i-</a:t>
            </a:r>
            <a:r>
              <a:rPr lang="en-US" b="1" i="1" dirty="0" err="1" smtClean="0"/>
              <a:t>th</a:t>
            </a:r>
            <a:r>
              <a:rPr lang="en-US" b="1" i="1" dirty="0" smtClean="0"/>
              <a:t> </a:t>
            </a:r>
            <a:r>
              <a:rPr lang="en-US" b="1" i="1" dirty="0" smtClean="0"/>
              <a:t>attributes of both input relations must be the same, for each i. </a:t>
            </a:r>
          </a:p>
          <a:p>
            <a:pPr marL="0" indent="0">
              <a:buNone/>
            </a:pPr>
            <a:endParaRPr lang="en-US" dirty="0" smtClean="0"/>
          </a:p>
          <a:p>
            <a:pPr marL="0" indent="0">
              <a:buNone/>
            </a:pPr>
            <a:r>
              <a:rPr lang="en-US" b="1" dirty="0" smtClean="0"/>
              <a:t>Such relations are referred to as compatible relations.</a:t>
            </a:r>
          </a:p>
          <a:p>
            <a:pPr marL="0" indent="0">
              <a:buNone/>
            </a:pPr>
            <a:endParaRPr lang="en-US" altLang="en-US" dirty="0" smtClean="0"/>
          </a:p>
          <a:p>
            <a:pPr marL="0" indent="0">
              <a:buNone/>
            </a:pPr>
            <a:r>
              <a:rPr lang="en-US" dirty="0" smtClean="0"/>
              <a:t>For example, it would not make sense to take the union of the instructor and section relations, since they have different numbers of attributes. And even though the instructor and the student relations both have arity 4, their 4th attributes, namely, salary and tot cred, are of two different types. The union of these two attributes would not make sense in most situations</a:t>
            </a:r>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0351035C-5808-407C-8457-78863416B201}" type="slidenum">
              <a:rPr lang="en-US" altLang="en-US" sz="1300">
                <a:latin typeface="Times New Roman" panose="02020603050405020304" pitchFamily="18" charset="0"/>
              </a:rPr>
              <a:pPr/>
              <a:t>24</a:t>
            </a:fld>
            <a:endParaRPr lang="en-US" altLang="en-US" sz="1300" dirty="0">
              <a:latin typeface="Times New Roman" panose="02020603050405020304" pitchFamily="18" charset="0"/>
            </a:endParaRPr>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intersection operation, denoted by ∩, allows us to find tuples that are in both the input relations. The expression r ∩ s produces a relation containing those tuples in r as well as in s. As with the union operation, we must ensure that intersection is done between compatible relations. </a:t>
            </a:r>
          </a:p>
          <a:p>
            <a:endParaRPr lang="en-US" dirty="0" smtClean="0"/>
          </a:p>
          <a:p>
            <a:r>
              <a:rPr lang="en-US" b="1" dirty="0" smtClean="0"/>
              <a:t>Suppose that we wish to find the set of all courses taught in both the Fall 2017 and the Spring 2018 semesters. Using set intersection, we can write:</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dirty="0" smtClean="0">
                <a:sym typeface="Symbol" panose="05050102010706020507" pitchFamily="18" charset="2"/>
              </a:rPr>
              <a:t> </a:t>
            </a:r>
            <a:r>
              <a:rPr lang="en-US" altLang="en-US" dirty="0" smtClean="0">
                <a:sym typeface="Symbol" panose="05050102010706020507" pitchFamily="18" charset="2"/>
              </a:rPr>
              <a:t></a:t>
            </a:r>
            <a:r>
              <a:rPr lang="en-US" altLang="en-US" i="1" baseline="-25000" dirty="0" err="1" smtClean="0"/>
              <a:t>course_id</a:t>
            </a:r>
            <a:r>
              <a:rPr lang="en-US" altLang="en-US" dirty="0" smtClean="0"/>
              <a:t> (</a:t>
            </a:r>
            <a:r>
              <a:rPr lang="en-US" altLang="en-US" i="1" dirty="0" smtClean="0">
                <a:sym typeface="Symbol" panose="05050102010706020507" pitchFamily="18" charset="2"/>
              </a:rPr>
              <a:t></a:t>
            </a:r>
            <a:r>
              <a:rPr lang="en-US" altLang="en-US" dirty="0" smtClean="0">
                <a:sym typeface="Symbol" panose="05050102010706020507" pitchFamily="18" charset="2"/>
              </a:rPr>
              <a:t> </a:t>
            </a:r>
            <a:r>
              <a:rPr lang="en-US" altLang="en-US" i="1" baseline="-25000" dirty="0" smtClean="0">
                <a:sym typeface="Symbol" panose="05050102010706020507" pitchFamily="18" charset="2"/>
              </a:rPr>
              <a:t>semester=</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Fall</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  </a:t>
            </a:r>
            <a:r>
              <a:rPr lang="el-GR" altLang="ja-JP" i="1" baseline="-25000" dirty="0" smtClean="0">
                <a:sym typeface="Symbol" panose="05050102010706020507" pitchFamily="18" charset="2"/>
              </a:rPr>
              <a:t>Λ</a:t>
            </a:r>
            <a:r>
              <a:rPr lang="en-US" altLang="ja-JP" i="1" baseline="-25000" dirty="0" smtClean="0">
                <a:sym typeface="Symbol" panose="05050102010706020507" pitchFamily="18" charset="2"/>
              </a:rPr>
              <a:t> year=2017 </a:t>
            </a:r>
            <a:r>
              <a:rPr lang="en-US" altLang="ja-JP" sz="1200" dirty="0" smtClean="0">
                <a:sym typeface="Symbol" panose="05050102010706020507" pitchFamily="18" charset="2"/>
              </a:rPr>
              <a:t>(</a:t>
            </a:r>
            <a:r>
              <a:rPr lang="en-US" altLang="ja-JP" sz="1200" i="1" dirty="0" smtClean="0">
                <a:sym typeface="Symbol" panose="05050102010706020507" pitchFamily="18" charset="2"/>
              </a:rPr>
              <a:t>section</a:t>
            </a:r>
            <a:r>
              <a:rPr lang="en-US" altLang="ja-JP" sz="1200" dirty="0" smtClean="0">
                <a:sym typeface="Symbol" panose="05050102010706020507" pitchFamily="18" charset="2"/>
              </a:rPr>
              <a:t>)) </a:t>
            </a:r>
            <a:r>
              <a:rPr lang="en-US" altLang="en-US" sz="1200" dirty="0" smtClean="0">
                <a:sym typeface="Symbol" panose="05050102010706020507" pitchFamily="18" charset="2"/>
              </a:rPr>
              <a:t> </a:t>
            </a:r>
            <a:r>
              <a:rPr lang="en-US" altLang="ja-JP" sz="1200" dirty="0" smtClean="0">
                <a:sym typeface="Symbol" panose="05050102010706020507" pitchFamily="18" charset="2"/>
              </a:rPr>
              <a:t/>
            </a:r>
            <a:br>
              <a:rPr lang="en-US" altLang="ja-JP" sz="1200" dirty="0" smtClean="0">
                <a:sym typeface="Symbol" panose="05050102010706020507" pitchFamily="18" charset="2"/>
              </a:rPr>
            </a:br>
            <a:r>
              <a:rPr lang="en-US" altLang="ja-JP" sz="1200" dirty="0" smtClean="0">
                <a:sym typeface="Symbol" panose="05050102010706020507" pitchFamily="18" charset="2"/>
              </a:rPr>
              <a:t>     </a:t>
            </a:r>
            <a:r>
              <a:rPr lang="en-US" altLang="ja-JP" dirty="0" smtClean="0">
                <a:sym typeface="Symbol" panose="05050102010706020507" pitchFamily="18" charset="2"/>
              </a:rPr>
              <a:t></a:t>
            </a:r>
            <a:r>
              <a:rPr lang="en-US" altLang="ja-JP" i="1" baseline="-25000" dirty="0" err="1" smtClean="0"/>
              <a:t>course_id</a:t>
            </a:r>
            <a:r>
              <a:rPr lang="en-US" altLang="ja-JP" dirty="0" smtClean="0"/>
              <a:t> (</a:t>
            </a:r>
            <a:r>
              <a:rPr lang="en-US" altLang="ja-JP" i="1" dirty="0" smtClean="0">
                <a:sym typeface="Symbol" panose="05050102010706020507" pitchFamily="18" charset="2"/>
              </a:rPr>
              <a:t></a:t>
            </a:r>
            <a:r>
              <a:rPr lang="en-US" altLang="ja-JP" dirty="0" smtClean="0">
                <a:sym typeface="Symbol" panose="05050102010706020507" pitchFamily="18" charset="2"/>
              </a:rPr>
              <a:t> </a:t>
            </a:r>
            <a:r>
              <a:rPr lang="en-US" altLang="ja-JP" i="1" baseline="-25000" dirty="0" smtClean="0">
                <a:sym typeface="Symbol" panose="05050102010706020507" pitchFamily="18" charset="2"/>
              </a:rPr>
              <a:t>semester=</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Spring</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  </a:t>
            </a:r>
            <a:r>
              <a:rPr lang="el-GR" altLang="ja-JP" i="1" baseline="-25000" dirty="0" smtClean="0">
                <a:sym typeface="Symbol" panose="05050102010706020507" pitchFamily="18" charset="2"/>
              </a:rPr>
              <a:t>Λ</a:t>
            </a:r>
            <a:r>
              <a:rPr lang="en-US" altLang="ja-JP" i="1" baseline="-25000" dirty="0" smtClean="0">
                <a:sym typeface="Symbol" panose="05050102010706020507" pitchFamily="18" charset="2"/>
              </a:rPr>
              <a:t> year=2018 </a:t>
            </a:r>
            <a:r>
              <a:rPr lang="en-US" altLang="ja-JP" sz="1200" dirty="0" smtClean="0">
                <a:sym typeface="Symbol" panose="05050102010706020507" pitchFamily="18" charset="2"/>
              </a:rPr>
              <a:t>(</a:t>
            </a:r>
            <a:r>
              <a:rPr lang="en-US" altLang="ja-JP" sz="1200" i="1" dirty="0" smtClean="0">
                <a:sym typeface="Symbol" panose="05050102010706020507" pitchFamily="18" charset="2"/>
              </a:rPr>
              <a:t>section</a:t>
            </a:r>
            <a:r>
              <a:rPr lang="en-US" altLang="ja-JP" sz="1200" dirty="0" smtClean="0">
                <a:sym typeface="Symbol" panose="05050102010706020507" pitchFamily="18" charset="2"/>
              </a:rPr>
              <a:t>))</a:t>
            </a:r>
          </a:p>
          <a:p>
            <a:endParaRPr lang="en-US" altLang="en-US" dirty="0" smtClean="0"/>
          </a:p>
          <a:p>
            <a:endParaRPr lang="en-US" altLang="en-US" dirty="0" smtClean="0"/>
          </a:p>
          <a:p>
            <a:r>
              <a:rPr lang="en-US" b="1" dirty="0" smtClean="0"/>
              <a:t>The result relation for this query appears in </a:t>
            </a:r>
            <a:r>
              <a:rPr lang="en-US" dirty="0" smtClean="0"/>
              <a:t>Figure 2.15.</a:t>
            </a:r>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434B2C1-B6FF-4E08-B576-E580E4C742E5}" type="slidenum">
              <a:rPr lang="en-US" altLang="en-US" sz="1300">
                <a:latin typeface="Times New Roman" panose="02020603050405020304" pitchFamily="18" charset="0"/>
              </a:rPr>
              <a:pPr/>
              <a:t>25</a:t>
            </a:fld>
            <a:endParaRPr lang="en-US" altLang="en-US" sz="1300" dirty="0">
              <a:latin typeface="Times New Roman" panose="02020603050405020304" pitchFamily="18" charset="0"/>
            </a:endParaRPr>
          </a:p>
        </p:txBody>
      </p:sp>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set-difference operation, denoted by −, allows us to find tuples that are in one relation but are not in another. The expression r − s produces a relation containing those tuples in r but not in s. </a:t>
            </a:r>
          </a:p>
          <a:p>
            <a:endParaRPr lang="en-US" dirty="0" smtClean="0"/>
          </a:p>
          <a:p>
            <a:r>
              <a:rPr lang="en-US" b="1" dirty="0" smtClean="0"/>
              <a:t>We can find all the courses taught in the Fall 2017 semester but not in Spring 2018 semester by writing:</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dirty="0" smtClean="0">
                <a:sym typeface="Symbol" panose="05050102010706020507" pitchFamily="18" charset="2"/>
              </a:rPr>
              <a:t></a:t>
            </a:r>
            <a:r>
              <a:rPr lang="en-US" altLang="en-US" sz="1200" i="1" baseline="-25000" dirty="0" err="1" smtClean="0"/>
              <a:t>course_id</a:t>
            </a:r>
            <a:r>
              <a:rPr lang="en-US" altLang="en-US" sz="1200" dirty="0" smtClean="0"/>
              <a:t> (</a:t>
            </a:r>
            <a:r>
              <a:rPr lang="en-US" altLang="en-US" sz="1200" i="1" dirty="0" smtClean="0">
                <a:sym typeface="Symbol" panose="05050102010706020507" pitchFamily="18" charset="2"/>
              </a:rPr>
              <a:t></a:t>
            </a:r>
            <a:r>
              <a:rPr lang="en-US" altLang="en-US" sz="1200" dirty="0" smtClean="0">
                <a:sym typeface="Symbol" panose="05050102010706020507" pitchFamily="18" charset="2"/>
              </a:rPr>
              <a:t> </a:t>
            </a:r>
            <a:r>
              <a:rPr lang="en-US" altLang="en-US" sz="1200" i="1" baseline="-25000" dirty="0" smtClean="0">
                <a:sym typeface="Symbol" panose="05050102010706020507" pitchFamily="18" charset="2"/>
              </a:rPr>
              <a:t>semester=</a:t>
            </a:r>
            <a:r>
              <a:rPr lang="ja-JP" altLang="en-US" sz="1200" i="1" baseline="-25000" dirty="0" smtClean="0">
                <a:sym typeface="Symbol" panose="05050102010706020507" pitchFamily="18" charset="2"/>
              </a:rPr>
              <a:t>“</a:t>
            </a:r>
            <a:r>
              <a:rPr lang="en-US" altLang="ja-JP" sz="1200" i="1" baseline="-25000" dirty="0" smtClean="0">
                <a:sym typeface="Symbol" panose="05050102010706020507" pitchFamily="18" charset="2"/>
              </a:rPr>
              <a:t>Fall</a:t>
            </a:r>
            <a:r>
              <a:rPr lang="ja-JP" altLang="en-US" sz="1200" i="1" baseline="-25000" dirty="0" smtClean="0">
                <a:sym typeface="Symbol" panose="05050102010706020507" pitchFamily="18" charset="2"/>
              </a:rPr>
              <a:t>”</a:t>
            </a:r>
            <a:r>
              <a:rPr lang="en-US" altLang="ja-JP" sz="1200" i="1" baseline="-25000" dirty="0" smtClean="0">
                <a:sym typeface="Symbol" panose="05050102010706020507" pitchFamily="18" charset="2"/>
              </a:rPr>
              <a:t>  </a:t>
            </a:r>
            <a:r>
              <a:rPr lang="el-GR" altLang="ja-JP" sz="1200" i="1" baseline="-25000" dirty="0" smtClean="0">
                <a:sym typeface="Symbol" panose="05050102010706020507" pitchFamily="18" charset="2"/>
              </a:rPr>
              <a:t>Λ</a:t>
            </a:r>
            <a:r>
              <a:rPr lang="en-US" altLang="ja-JP" sz="1200" i="1" baseline="-25000" dirty="0" smtClean="0">
                <a:sym typeface="Symbol" panose="05050102010706020507" pitchFamily="18" charset="2"/>
              </a:rPr>
              <a:t> year=2017 </a:t>
            </a:r>
            <a:r>
              <a:rPr lang="en-US" altLang="ja-JP" sz="1200" dirty="0" smtClean="0">
                <a:sym typeface="Symbol" panose="05050102010706020507" pitchFamily="18" charset="2"/>
              </a:rPr>
              <a:t>(</a:t>
            </a:r>
            <a:r>
              <a:rPr lang="en-US" altLang="ja-JP" sz="1200" i="1" dirty="0" smtClean="0">
                <a:sym typeface="Symbol" panose="05050102010706020507" pitchFamily="18" charset="2"/>
              </a:rPr>
              <a:t>section</a:t>
            </a:r>
            <a:r>
              <a:rPr lang="en-US" altLang="ja-JP" sz="1200" dirty="0" smtClean="0">
                <a:sym typeface="Symbol" panose="05050102010706020507" pitchFamily="18" charset="2"/>
              </a:rPr>
              <a:t>))  −  </a:t>
            </a:r>
            <a:br>
              <a:rPr lang="en-US" altLang="ja-JP" sz="1200" dirty="0" smtClean="0">
                <a:sym typeface="Symbol" panose="05050102010706020507" pitchFamily="18" charset="2"/>
              </a:rPr>
            </a:br>
            <a:r>
              <a:rPr lang="en-US" altLang="ja-JP" sz="1200" dirty="0" smtClean="0">
                <a:sym typeface="Symbol" panose="05050102010706020507" pitchFamily="18" charset="2"/>
              </a:rPr>
              <a:t>   </a:t>
            </a:r>
            <a:r>
              <a:rPr lang="en-US" altLang="ja-JP" sz="1200" i="1" baseline="-25000" dirty="0" err="1" smtClean="0"/>
              <a:t>course_id</a:t>
            </a:r>
            <a:r>
              <a:rPr lang="en-US" altLang="ja-JP" sz="1200" dirty="0" smtClean="0"/>
              <a:t> (</a:t>
            </a:r>
            <a:r>
              <a:rPr lang="en-US" altLang="ja-JP" sz="1200" i="1" dirty="0" smtClean="0">
                <a:sym typeface="Symbol" panose="05050102010706020507" pitchFamily="18" charset="2"/>
              </a:rPr>
              <a:t></a:t>
            </a:r>
            <a:r>
              <a:rPr lang="en-US" altLang="ja-JP" sz="1200" dirty="0" smtClean="0">
                <a:sym typeface="Symbol" panose="05050102010706020507" pitchFamily="18" charset="2"/>
              </a:rPr>
              <a:t> </a:t>
            </a:r>
            <a:r>
              <a:rPr lang="en-US" altLang="ja-JP" sz="1200" i="1" baseline="-25000" dirty="0" smtClean="0">
                <a:sym typeface="Symbol" panose="05050102010706020507" pitchFamily="18" charset="2"/>
              </a:rPr>
              <a:t>semester=</a:t>
            </a:r>
            <a:r>
              <a:rPr lang="ja-JP" altLang="en-US" sz="1200" i="1" baseline="-25000" dirty="0" smtClean="0">
                <a:sym typeface="Symbol" panose="05050102010706020507" pitchFamily="18" charset="2"/>
              </a:rPr>
              <a:t>“</a:t>
            </a:r>
            <a:r>
              <a:rPr lang="en-US" altLang="ja-JP" sz="1200" i="1" baseline="-25000" dirty="0" smtClean="0">
                <a:sym typeface="Symbol" panose="05050102010706020507" pitchFamily="18" charset="2"/>
              </a:rPr>
              <a:t>Spring</a:t>
            </a:r>
            <a:r>
              <a:rPr lang="ja-JP" altLang="en-US" sz="1200" i="1" baseline="-25000" dirty="0" smtClean="0">
                <a:sym typeface="Symbol" panose="05050102010706020507" pitchFamily="18" charset="2"/>
              </a:rPr>
              <a:t>”</a:t>
            </a:r>
            <a:r>
              <a:rPr lang="en-US" altLang="ja-JP" sz="1200" i="1" baseline="-25000" dirty="0" smtClean="0">
                <a:sym typeface="Symbol" panose="05050102010706020507" pitchFamily="18" charset="2"/>
              </a:rPr>
              <a:t>  </a:t>
            </a:r>
            <a:r>
              <a:rPr lang="el-GR" altLang="ja-JP" sz="1200" i="1" baseline="-25000" dirty="0" smtClean="0">
                <a:sym typeface="Symbol" panose="05050102010706020507" pitchFamily="18" charset="2"/>
              </a:rPr>
              <a:t>Λ</a:t>
            </a:r>
            <a:r>
              <a:rPr lang="en-US" altLang="ja-JP" sz="1200" i="1" baseline="-25000" dirty="0" smtClean="0">
                <a:sym typeface="Symbol" panose="05050102010706020507" pitchFamily="18" charset="2"/>
              </a:rPr>
              <a:t> year=2018 </a:t>
            </a:r>
            <a:r>
              <a:rPr lang="en-US" altLang="ja-JP" sz="1200" dirty="0" smtClean="0">
                <a:sym typeface="Symbol" panose="05050102010706020507" pitchFamily="18" charset="2"/>
              </a:rPr>
              <a:t>(</a:t>
            </a:r>
            <a:r>
              <a:rPr lang="en-US" altLang="ja-JP" sz="1200" i="1" dirty="0" smtClean="0">
                <a:sym typeface="Symbol" panose="05050102010706020507" pitchFamily="18" charset="2"/>
              </a:rPr>
              <a:t>section</a:t>
            </a:r>
            <a:r>
              <a:rPr lang="en-US" altLang="ja-JP" sz="1200" dirty="0" smtClean="0">
                <a:sym typeface="Symbol" panose="05050102010706020507" pitchFamily="18" charset="2"/>
              </a:rPr>
              <a:t>))</a:t>
            </a:r>
          </a:p>
          <a:p>
            <a:endParaRPr lang="en-US" b="1" dirty="0" smtClean="0"/>
          </a:p>
          <a:p>
            <a:endParaRPr lang="en-US" altLang="en-US" dirty="0" smtClean="0"/>
          </a:p>
          <a:p>
            <a:r>
              <a:rPr lang="en-US" b="1" dirty="0" smtClean="0"/>
              <a:t>The result relation for this query appears </a:t>
            </a:r>
            <a:r>
              <a:rPr lang="en-US" dirty="0" smtClean="0"/>
              <a:t>in Figure 2.16. </a:t>
            </a:r>
          </a:p>
          <a:p>
            <a:endParaRPr lang="en-US" dirty="0" smtClean="0"/>
          </a:p>
          <a:p>
            <a:r>
              <a:rPr lang="en-US" b="1" dirty="0" smtClean="0"/>
              <a:t>As with the union operation, we must ensure that set differences are taken between compatible relations.</a:t>
            </a:r>
            <a:endParaRPr lang="en-US" altLang="en-US" b="1"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26</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It is convenient at times to write a relational-algebra expression by assigning parts of it to temporary relation variables. The assignment operation, denoted by ←</a:t>
            </a:r>
            <a:r>
              <a:rPr lang="mk-MK" b="1" dirty="0" smtClean="0"/>
              <a:t> (</a:t>
            </a:r>
            <a:r>
              <a:rPr lang="en-US" sz="1200" b="0" i="0" kern="1200" dirty="0" smtClean="0">
                <a:solidFill>
                  <a:schemeClr val="tx1"/>
                </a:solidFill>
                <a:effectLst/>
                <a:latin typeface="Times New Roman" charset="0"/>
                <a:ea typeface="MS PGothic" panose="020B0600070205080204" pitchFamily="34" charset="-128"/>
                <a:cs typeface="ＭＳ Ｐゴシック" charset="0"/>
              </a:rPr>
              <a:t>arrow to the left side</a:t>
            </a:r>
            <a:r>
              <a:rPr lang="mk-MK" sz="1200" b="0" i="0" kern="1200" dirty="0" smtClean="0">
                <a:solidFill>
                  <a:schemeClr val="tx1"/>
                </a:solidFill>
                <a:effectLst/>
                <a:latin typeface="Times New Roman" charset="0"/>
                <a:ea typeface="MS PGothic" panose="020B0600070205080204" pitchFamily="34" charset="-128"/>
                <a:cs typeface="ＭＳ Ｐゴシック" charset="0"/>
              </a:rPr>
              <a:t>)</a:t>
            </a:r>
            <a:r>
              <a:rPr lang="en-US" b="1" dirty="0" smtClean="0"/>
              <a:t>, works like assignment in a programming language. To illustrate this operation, consider the query to find courses that run in Fall 2017 as well as Spring 2018, which we saw earlier. We could write it as:</a:t>
            </a:r>
          </a:p>
          <a:p>
            <a:pPr>
              <a:lnSpc>
                <a:spcPct val="90000"/>
              </a:lnSpc>
              <a:tabLst>
                <a:tab pos="1658938" algn="l"/>
                <a:tab pos="3149600" algn="ctr"/>
                <a:tab pos="3425825" algn="l"/>
              </a:tabLst>
            </a:pPr>
            <a:r>
              <a:rPr lang="en-US" altLang="en-US" sz="1700" i="1" dirty="0" smtClean="0">
                <a:sym typeface="Symbol" panose="05050102010706020507" pitchFamily="18" charset="2"/>
              </a:rPr>
              <a:t>Physics</a:t>
            </a:r>
            <a:r>
              <a:rPr lang="en-US" altLang="en-US" sz="1700" dirty="0" smtClean="0">
                <a:sym typeface="Symbol" panose="05050102010706020507" pitchFamily="18" charset="2"/>
              </a:rPr>
              <a:t> </a:t>
            </a:r>
            <a:r>
              <a:rPr lang="en-US" altLang="en-US" sz="1700" b="1" dirty="0" smtClean="0">
                <a:sym typeface="Wingdings" pitchFamily="2" charset="2"/>
              </a:rPr>
              <a:t> </a:t>
            </a:r>
            <a:r>
              <a:rPr lang="en-US" altLang="en-US" sz="1800" i="1" dirty="0" smtClean="0">
                <a:sym typeface="Symbol" panose="05050102010706020507" pitchFamily="18" charset="2"/>
              </a:rPr>
              <a:t></a:t>
            </a:r>
            <a:r>
              <a:rPr lang="en-US" altLang="en-US" sz="1800" dirty="0" smtClean="0">
                <a:sym typeface="Symbol" panose="05050102010706020507" pitchFamily="18" charset="2"/>
              </a:rPr>
              <a:t> </a:t>
            </a:r>
            <a:r>
              <a:rPr lang="en-US" altLang="en-US" i="1" baseline="-25000" dirty="0" err="1" smtClean="0">
                <a:sym typeface="Symbol" panose="05050102010706020507" pitchFamily="18" charset="2"/>
              </a:rPr>
              <a:t>dept_name</a:t>
            </a:r>
            <a:r>
              <a:rPr lang="en-US" altLang="en-US" i="1" baseline="-25000" dirty="0" smtClean="0">
                <a:sym typeface="Symbol" panose="05050102010706020507" pitchFamily="18" charset="2"/>
              </a:rPr>
              <a:t>=</a:t>
            </a:r>
            <a:r>
              <a:rPr lang="ja-JP" altLang="en-US" i="1" baseline="-25000" dirty="0" smtClean="0">
                <a:sym typeface="Symbol" panose="05050102010706020507" pitchFamily="18" charset="2"/>
              </a:rPr>
              <a:t>“</a:t>
            </a:r>
            <a:r>
              <a:rPr lang="en-US" altLang="ja-JP" i="1" baseline="-25000" dirty="0" smtClean="0">
                <a:sym typeface="Symbol" panose="05050102010706020507" pitchFamily="18" charset="2"/>
              </a:rPr>
              <a:t>Physics</a:t>
            </a:r>
            <a:r>
              <a:rPr lang="ja-JP" altLang="en-US" i="1" baseline="-25000" dirty="0" smtClean="0">
                <a:sym typeface="Symbol" panose="05050102010706020507" pitchFamily="18" charset="2"/>
              </a:rPr>
              <a:t>” </a:t>
            </a:r>
            <a:r>
              <a:rPr lang="en-US" altLang="ja-JP" sz="1700" dirty="0" smtClean="0">
                <a:sym typeface="Symbol" panose="05050102010706020507" pitchFamily="18" charset="2"/>
              </a:rPr>
              <a:t>(</a:t>
            </a:r>
            <a:r>
              <a:rPr lang="en-US" altLang="ja-JP" sz="1700" i="1" dirty="0" smtClean="0">
                <a:sym typeface="Symbol" panose="05050102010706020507" pitchFamily="18" charset="2"/>
              </a:rPr>
              <a:t>instructor</a:t>
            </a:r>
            <a:r>
              <a:rPr lang="en-US" altLang="ja-JP" sz="1700" dirty="0" smtClean="0">
                <a:sym typeface="Symbol" panose="05050102010706020507" pitchFamily="18" charset="2"/>
              </a:rPr>
              <a:t>)</a:t>
            </a:r>
          </a:p>
          <a:p>
            <a:pPr lvl="1">
              <a:lnSpc>
                <a:spcPct val="90000"/>
              </a:lnSpc>
              <a:buNone/>
              <a:tabLst>
                <a:tab pos="1658938" algn="l"/>
                <a:tab pos="3149600" algn="ctr"/>
                <a:tab pos="3425825" algn="l"/>
              </a:tabLst>
            </a:pPr>
            <a:r>
              <a:rPr lang="en-US" altLang="en-US" sz="1700" dirty="0" smtClean="0">
                <a:sym typeface="Symbol" panose="05050102010706020507" pitchFamily="18" charset="2"/>
              </a:rPr>
              <a:t>       </a:t>
            </a:r>
            <a:r>
              <a:rPr lang="en-US" altLang="en-US" sz="1700" i="1" dirty="0" smtClean="0">
                <a:sym typeface="Symbol" panose="05050102010706020507" pitchFamily="18" charset="2"/>
              </a:rPr>
              <a:t>Music</a:t>
            </a:r>
            <a:r>
              <a:rPr lang="en-US" altLang="en-US" sz="1700" dirty="0" smtClean="0">
                <a:sym typeface="Symbol" panose="05050102010706020507" pitchFamily="18" charset="2"/>
              </a:rPr>
              <a:t> </a:t>
            </a:r>
            <a:r>
              <a:rPr lang="en-US" altLang="en-US" sz="1700" b="1" dirty="0" smtClean="0">
                <a:sym typeface="Wingdings" pitchFamily="2" charset="2"/>
              </a:rPr>
              <a:t> </a:t>
            </a:r>
            <a:r>
              <a:rPr lang="en-US" altLang="en-US" sz="1900" i="1" dirty="0" smtClean="0">
                <a:sym typeface="Symbol" panose="05050102010706020507" pitchFamily="18" charset="2"/>
              </a:rPr>
              <a:t></a:t>
            </a:r>
            <a:r>
              <a:rPr lang="en-US" altLang="en-US" sz="1900" dirty="0" smtClean="0">
                <a:sym typeface="Symbol" panose="05050102010706020507" pitchFamily="18" charset="2"/>
              </a:rPr>
              <a:t> </a:t>
            </a:r>
            <a:r>
              <a:rPr lang="en-US" altLang="en-US" sz="1900" i="1" baseline="-25000" dirty="0" err="1" smtClean="0">
                <a:sym typeface="Symbol" panose="05050102010706020507" pitchFamily="18" charset="2"/>
              </a:rPr>
              <a:t>dept_name</a:t>
            </a:r>
            <a:r>
              <a:rPr lang="en-US" altLang="en-US" sz="1900" i="1" baseline="-25000" dirty="0" smtClean="0">
                <a:sym typeface="Symbol" panose="05050102010706020507" pitchFamily="18" charset="2"/>
              </a:rPr>
              <a:t>=</a:t>
            </a:r>
            <a:r>
              <a:rPr lang="ja-JP" altLang="en-US" sz="1900" i="1" baseline="-25000" dirty="0" smtClean="0">
                <a:sym typeface="Symbol" panose="05050102010706020507" pitchFamily="18" charset="2"/>
              </a:rPr>
              <a:t>“</a:t>
            </a:r>
            <a:r>
              <a:rPr lang="en-US" altLang="ja-JP" sz="1900" i="1" baseline="-25000" dirty="0" smtClean="0">
                <a:sym typeface="Symbol" panose="05050102010706020507" pitchFamily="18" charset="2"/>
              </a:rPr>
              <a:t>Music” </a:t>
            </a:r>
            <a:r>
              <a:rPr lang="en-US" altLang="ja-JP" sz="1700" dirty="0" smtClean="0">
                <a:sym typeface="Symbol" panose="05050102010706020507" pitchFamily="18" charset="2"/>
              </a:rPr>
              <a:t>(</a:t>
            </a:r>
            <a:r>
              <a:rPr lang="en-US" altLang="ja-JP" sz="1700" i="1" dirty="0" smtClean="0">
                <a:sym typeface="Symbol" panose="05050102010706020507" pitchFamily="18" charset="2"/>
              </a:rPr>
              <a:t>instructor</a:t>
            </a:r>
            <a:r>
              <a:rPr lang="en-US" altLang="ja-JP" sz="1700" dirty="0" smtClean="0">
                <a:sym typeface="Symbol" panose="05050102010706020507" pitchFamily="18" charset="2"/>
              </a:rPr>
              <a:t>)</a:t>
            </a:r>
          </a:p>
          <a:p>
            <a:pPr lvl="1">
              <a:lnSpc>
                <a:spcPct val="90000"/>
              </a:lnSpc>
              <a:buNone/>
              <a:tabLst>
                <a:tab pos="1658938" algn="l"/>
                <a:tab pos="3149600" algn="ctr"/>
                <a:tab pos="3425825" algn="l"/>
              </a:tabLst>
            </a:pPr>
            <a:r>
              <a:rPr lang="en-US" altLang="en-US" sz="1700" dirty="0" smtClean="0">
                <a:sym typeface="Symbol" panose="05050102010706020507" pitchFamily="18" charset="2"/>
              </a:rPr>
              <a:t>       </a:t>
            </a:r>
            <a:r>
              <a:rPr lang="en-US" altLang="en-US" sz="1700" i="1" dirty="0" smtClean="0">
                <a:sym typeface="Symbol" panose="05050102010706020507" pitchFamily="18" charset="2"/>
              </a:rPr>
              <a:t>Physics</a:t>
            </a:r>
            <a:r>
              <a:rPr lang="en-US" altLang="en-US" sz="1700" dirty="0" smtClean="0">
                <a:sym typeface="Symbol" panose="05050102010706020507" pitchFamily="18" charset="2"/>
              </a:rPr>
              <a:t> </a:t>
            </a:r>
            <a:r>
              <a:rPr lang="en-US" altLang="en-US" sz="1700" dirty="0" smtClean="0"/>
              <a:t> </a:t>
            </a:r>
            <a:r>
              <a:rPr lang="en-US" altLang="en-US" sz="1700" dirty="0" smtClean="0">
                <a:sym typeface="Symbol" panose="05050102010706020507" pitchFamily="18" charset="2"/>
              </a:rPr>
              <a:t> </a:t>
            </a:r>
            <a:r>
              <a:rPr lang="en-US" altLang="en-US" sz="1700" i="1" dirty="0" smtClean="0">
                <a:sym typeface="Symbol" panose="05050102010706020507" pitchFamily="18" charset="2"/>
              </a:rPr>
              <a:t>Music</a:t>
            </a:r>
          </a:p>
          <a:p>
            <a:endParaRPr lang="en-US" altLang="en-US" dirty="0" smtClean="0"/>
          </a:p>
          <a:p>
            <a:endParaRPr lang="en-US" altLang="en-US" dirty="0" smtClean="0"/>
          </a:p>
          <a:p>
            <a:r>
              <a:rPr lang="en-US" b="1" i="1" dirty="0" smtClean="0"/>
              <a:t>The final line above displays the query result. The preceding two lines assign the query result to a temporary relation. The evaluation of an assignment does not result in any relation being displayed to the user. Rather, the result of the expression to the right of the ← is assigned to the relation variable on the left of the ←. This relation variable may be used in subsequent expressions.</a:t>
            </a:r>
          </a:p>
          <a:p>
            <a:endParaRPr lang="en-US" altLang="en-US" dirty="0" smtClean="0"/>
          </a:p>
          <a:p>
            <a:r>
              <a:rPr lang="en-US" b="1" dirty="0" smtClean="0"/>
              <a:t>With the assignment operation, a query can be written as a sequential program consisting of a series of assignments followed by an expression whose value is displayed as the result of the query. For relational-algebra queries, assignment must always be made to a temporary relation variable. Assignments to permanent relations constitute a database modification. Note that the assignment operation does not provide any additional power to the algebra. It is, however, a convenient way to express complex queries.</a:t>
            </a:r>
          </a:p>
          <a:p>
            <a:endParaRPr lang="en-US" altLang="en-US" dirty="0" smtClean="0"/>
          </a:p>
          <a:p>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27</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Unlike relations in the database, the results of relational-algebra expressions do not have a name that we can use to refer to them. It is useful in some cases to give them names; the rename operator, denoted by the lowercase Greek letter rho (ρ), lets us do this. Given a relational-algebra expression E, the expression:</a:t>
            </a:r>
          </a:p>
          <a:p>
            <a:endParaRPr lang="en-US" altLang="en-US" dirty="0" smtClean="0"/>
          </a:p>
          <a:p>
            <a:r>
              <a:rPr lang="en-US" altLang="en-US" sz="1200" dirty="0" smtClean="0"/>
              <a:t> </a:t>
            </a:r>
            <a:r>
              <a:rPr lang="en-US" altLang="en-US" i="1" dirty="0" smtClean="0">
                <a:sym typeface="Symbol" panose="05050102010706020507" pitchFamily="18" charset="2"/>
              </a:rPr>
              <a:t></a:t>
            </a:r>
            <a:r>
              <a:rPr lang="en-US" altLang="en-US" i="1" baseline="-25000" dirty="0" smtClean="0">
                <a:sym typeface="Symbol" panose="05050102010706020507" pitchFamily="18" charset="2"/>
              </a:rPr>
              <a:t>x</a:t>
            </a:r>
            <a:r>
              <a:rPr lang="en-US" altLang="en-US" i="1" dirty="0" smtClean="0">
                <a:sym typeface="Symbol" panose="05050102010706020507" pitchFamily="18" charset="2"/>
              </a:rPr>
              <a:t> </a:t>
            </a:r>
            <a:r>
              <a:rPr lang="en-US" altLang="en-US" sz="1200" dirty="0" smtClean="0">
                <a:sym typeface="Symbol" panose="05050102010706020507" pitchFamily="18" charset="2"/>
              </a:rPr>
              <a:t>(</a:t>
            </a:r>
            <a:r>
              <a:rPr lang="en-US" altLang="en-US" sz="1200" i="1" dirty="0" smtClean="0">
                <a:sym typeface="Symbol" panose="05050102010706020507" pitchFamily="18" charset="2"/>
              </a:rPr>
              <a:t>E</a:t>
            </a:r>
            <a:r>
              <a:rPr lang="en-US" altLang="en-US" sz="1200" dirty="0" smtClean="0">
                <a:sym typeface="Symbol" panose="05050102010706020507" pitchFamily="18" charset="2"/>
              </a:rPr>
              <a:t>)</a:t>
            </a:r>
          </a:p>
          <a:p>
            <a:endParaRPr lang="en-US" altLang="en-US" sz="1200" dirty="0" smtClean="0">
              <a:sym typeface="Symbol" panose="05050102010706020507" pitchFamily="18" charset="2"/>
            </a:endParaRPr>
          </a:p>
          <a:p>
            <a:r>
              <a:rPr lang="en-US" b="1" dirty="0" smtClean="0"/>
              <a:t>A second form of the rename operation is as follows: Assume that a relational algebra expression E has arity n. Then, the expression</a:t>
            </a:r>
          </a:p>
          <a:p>
            <a:endParaRPr lang="en-US"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i="1" baseline="0" dirty="0" smtClean="0">
                <a:sym typeface="Symbol" panose="05050102010706020507" pitchFamily="18" charset="2"/>
              </a:rPr>
              <a:t>         </a:t>
            </a:r>
            <a:r>
              <a:rPr lang="en-US" altLang="en-US" i="1" dirty="0" smtClean="0">
                <a:sym typeface="Symbol" panose="05050102010706020507" pitchFamily="18" charset="2"/>
              </a:rPr>
              <a:t></a:t>
            </a:r>
            <a:r>
              <a:rPr lang="en-US" altLang="en-US" i="1" baseline="-25000" dirty="0" smtClean="0">
                <a:sym typeface="Symbol" panose="05050102010706020507" pitchFamily="18" charset="2"/>
              </a:rPr>
              <a:t>x(A1,A2, .. An) </a:t>
            </a:r>
            <a:r>
              <a:rPr lang="en-US" altLang="en-US" sz="1200" dirty="0" smtClean="0">
                <a:sym typeface="Symbol" panose="05050102010706020507" pitchFamily="18" charset="2"/>
              </a:rPr>
              <a:t>(</a:t>
            </a:r>
            <a:r>
              <a:rPr lang="en-US" altLang="en-US" sz="1200" i="1" dirty="0" smtClean="0">
                <a:sym typeface="Symbol" panose="05050102010706020507" pitchFamily="18" charset="2"/>
              </a:rPr>
              <a:t>E</a:t>
            </a:r>
            <a:r>
              <a:rPr lang="en-US" altLang="en-US" sz="1200" dirty="0" smtClean="0">
                <a:sym typeface="Symbol" panose="05050102010706020507" pitchFamily="18" charset="2"/>
              </a:rPr>
              <a:t>)</a:t>
            </a:r>
            <a:endParaRPr lang="en-US" altLang="en-US" sz="1200" dirty="0" smtClean="0"/>
          </a:p>
          <a:p>
            <a:endParaRPr lang="en-US" altLang="en-US" dirty="0" smtClean="0"/>
          </a:p>
          <a:p>
            <a:r>
              <a:rPr lang="en-US" b="1" dirty="0" smtClean="0"/>
              <a:t>returns the result of expression E under the name x, and with the attributes renamed to A1, A2, …, An. This form of the rename operation can be used to give names to attributes in the results of relational algebra operations that involve expressions on attributes.</a:t>
            </a:r>
            <a:endParaRPr lang="en-US" altLang="en-US" b="1" dirty="0" smtClean="0"/>
          </a:p>
          <a:p>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28</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a:p>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79" eaLnBrk="0" hangingPunct="0">
              <a:defRPr sz="2400">
                <a:solidFill>
                  <a:schemeClr val="tx1"/>
                </a:solidFill>
                <a:latin typeface="Helvetica" panose="020B0604020202020204" pitchFamily="34" charset="0"/>
                <a:ea typeface="MS PGothic" panose="020B0600070205080204" pitchFamily="34" charset="-128"/>
              </a:defRPr>
            </a:lvl1pPr>
            <a:lvl2pPr marL="742873" indent="-285721" defTabSz="930179" eaLnBrk="0" hangingPunct="0">
              <a:defRPr sz="2400">
                <a:solidFill>
                  <a:schemeClr val="tx1"/>
                </a:solidFill>
                <a:latin typeface="Helvetica" panose="020B0604020202020204" pitchFamily="34" charset="0"/>
                <a:ea typeface="MS PGothic" panose="020B0600070205080204" pitchFamily="34" charset="-128"/>
              </a:defRPr>
            </a:lvl2pPr>
            <a:lvl3pPr marL="1142883" indent="-228577" defTabSz="930179" eaLnBrk="0" hangingPunct="0">
              <a:defRPr sz="2400">
                <a:solidFill>
                  <a:schemeClr val="tx1"/>
                </a:solidFill>
                <a:latin typeface="Helvetica" panose="020B0604020202020204" pitchFamily="34" charset="0"/>
                <a:ea typeface="MS PGothic" panose="020B0600070205080204" pitchFamily="34" charset="-128"/>
              </a:defRPr>
            </a:lvl3pPr>
            <a:lvl4pPr marL="1600036" indent="-228577" defTabSz="930179" eaLnBrk="0" hangingPunct="0">
              <a:defRPr sz="2400">
                <a:solidFill>
                  <a:schemeClr val="tx1"/>
                </a:solidFill>
                <a:latin typeface="Helvetica" panose="020B0604020202020204" pitchFamily="34" charset="0"/>
                <a:ea typeface="MS PGothic" panose="020B0600070205080204" pitchFamily="34" charset="-128"/>
              </a:defRPr>
            </a:lvl4pPr>
            <a:lvl5pPr marL="2057189" indent="-228577" defTabSz="930179" eaLnBrk="0" hangingPunct="0">
              <a:defRPr sz="2400">
                <a:solidFill>
                  <a:schemeClr val="tx1"/>
                </a:solidFill>
                <a:latin typeface="Helvetica" panose="020B0604020202020204" pitchFamily="34" charset="0"/>
                <a:ea typeface="MS PGothic" panose="020B0600070205080204" pitchFamily="34" charset="-128"/>
              </a:defRPr>
            </a:lvl5pPr>
            <a:lvl6pPr marL="2514343"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496"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8649"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5802" indent="-228577" defTabSz="930179"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CB64798-7BD6-4B88-81ED-0C1AFAB11F92}" type="slidenum">
              <a:rPr lang="en-US" altLang="en-US" sz="1300">
                <a:latin typeface="Times New Roman" panose="02020603050405020304" pitchFamily="18" charset="0"/>
              </a:rPr>
              <a:pPr/>
              <a:t>29</a:t>
            </a:fld>
            <a:endParaRPr lang="en-US" altLang="en-US" sz="1300" dirty="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3795" name="Rectangle 3"/>
              <p:cNvSpPr>
                <a:spLocks noGrp="1" noChangeArrowheads="1"/>
              </p:cNvSpPr>
              <p:nvPr>
                <p:ph type="body" idx="1"/>
              </p:nvPr>
            </p:nvSpPr>
            <p:spPr>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Note that there is often more than one way to write a query in relational algebra. Consider the following query, which finds information about courses taught by instructors in the Physics department:</a:t>
                </a:r>
              </a:p>
              <a:p>
                <a:r>
                  <a:rPr lang="en-US" altLang="en-US" sz="1200" i="1" dirty="0" smtClean="0">
                    <a:sym typeface="Symbol" panose="05050102010706020507" pitchFamily="18" charset="2"/>
                  </a:rPr>
                  <a:t> </a:t>
                </a:r>
                <a:r>
                  <a:rPr lang="en-US" altLang="en-US" i="1" dirty="0">
                    <a:sym typeface="Symbol" panose="05050102010706020507" pitchFamily="18" charset="2"/>
                  </a:rPr>
                  <a:t></a:t>
                </a:r>
                <a:r>
                  <a:rPr lang="en-US" altLang="en-US" i="1" baseline="-25000" dirty="0" err="1">
                    <a:sym typeface="Symbol" panose="05050102010706020507" pitchFamily="18" charset="2"/>
                  </a:rPr>
                  <a:t>dept_name</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ja-JP" sz="1200" i="1" dirty="0">
                    <a:sym typeface="Symbol" panose="05050102010706020507" pitchFamily="18" charset="2"/>
                  </a:rPr>
                  <a:t>(i</a:t>
                </a:r>
                <a:r>
                  <a:rPr lang="en-US" altLang="en-US" sz="1200" i="1" dirty="0">
                    <a:sym typeface="Symbol" panose="05050102010706020507" pitchFamily="18" charset="2"/>
                  </a:rPr>
                  <a:t>nstructor</a:t>
                </a:r>
                <a:r>
                  <a:rPr lang="en-US" altLang="en-US" sz="1200" dirty="0">
                    <a:sym typeface="Symbol" panose="05050102010706020507" pitchFamily="18" charset="2"/>
                  </a:rPr>
                  <a: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m:t>
                        </m:r>
                      </m:e>
                      <m:sub>
                        <m:r>
                          <a:rPr lang="en-US" sz="1200" i="1">
                            <a:latin typeface="Cambria Math" panose="02040503050406030204" pitchFamily="18" charset="0"/>
                          </a:rPr>
                          <m:t> </m:t>
                        </m:r>
                      </m:sub>
                    </m:sSub>
                  </m:oMath>
                </a14:m>
                <a:r>
                  <a:rPr lang="en-US" i="1" baseline="-25000" dirty="0"/>
                  <a:t>instructor.ID = teaches.ID</a:t>
                </a:r>
                <a:r>
                  <a:rPr lang="en-US" baseline="-25000" dirty="0"/>
                  <a:t> </a:t>
                </a:r>
                <a:r>
                  <a:rPr lang="en-US" sz="1200" i="1" dirty="0"/>
                  <a:t>teaches)</a:t>
                </a:r>
                <a:endParaRPr lang="en-US" altLang="en-US" dirty="0" smtClean="0"/>
              </a:p>
              <a:p>
                <a:endParaRPr lang="en-US" altLang="en-US" dirty="0" smtClean="0"/>
              </a:p>
              <a:p>
                <a:r>
                  <a:rPr lang="en-US" dirty="0" smtClean="0"/>
                  <a:t>Now consider an alternative query:</a:t>
                </a:r>
              </a:p>
              <a:p>
                <a:r>
                  <a:rPr lang="en-US" altLang="en-US" sz="1200" i="1" dirty="0" smtClean="0">
                    <a:sym typeface="Symbol" panose="05050102010706020507" pitchFamily="18" charset="2"/>
                  </a:rPr>
                  <a:t>(</a:t>
                </a:r>
                <a:r>
                  <a:rPr lang="en-US" altLang="en-US" i="1" dirty="0">
                    <a:sym typeface="Symbol" panose="05050102010706020507" pitchFamily="18" charset="2"/>
                  </a:rPr>
                  <a:t></a:t>
                </a:r>
                <a:r>
                  <a:rPr lang="en-US" altLang="en-US" i="1" baseline="-25000" dirty="0" err="1">
                    <a:sym typeface="Symbol" panose="05050102010706020507" pitchFamily="18" charset="2"/>
                  </a:rPr>
                  <a:t>dept_name</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ja-JP" sz="1200" i="1" dirty="0">
                    <a:sym typeface="Symbol" panose="05050102010706020507" pitchFamily="18" charset="2"/>
                  </a:rPr>
                  <a:t>(i</a:t>
                </a:r>
                <a:r>
                  <a:rPr lang="en-US" altLang="en-US" sz="1200" i="1" dirty="0">
                    <a:sym typeface="Symbol" panose="05050102010706020507" pitchFamily="18" charset="2"/>
                  </a:rPr>
                  <a:t>nstructor))</a:t>
                </a:r>
                <a:r>
                  <a:rPr lang="en-US" altLang="en-US" sz="1200" dirty="0">
                    <a:sym typeface="Symbol" panose="05050102010706020507" pitchFamily="18" charset="2"/>
                  </a:rPr>
                  <a: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m:t>
                        </m:r>
                      </m:e>
                      <m:sub>
                        <m:r>
                          <a:rPr lang="en-US" sz="1200" i="1">
                            <a:latin typeface="Cambria Math" panose="02040503050406030204" pitchFamily="18" charset="0"/>
                          </a:rPr>
                          <m:t> </m:t>
                        </m:r>
                      </m:sub>
                    </m:sSub>
                  </m:oMath>
                </a14:m>
                <a:r>
                  <a:rPr lang="en-US" i="1" baseline="-25000" dirty="0"/>
                  <a:t>instructor.ID = teaches.ID</a:t>
                </a:r>
                <a:r>
                  <a:rPr lang="en-US" baseline="-25000" dirty="0"/>
                  <a:t> </a:t>
                </a:r>
                <a:r>
                  <a:rPr lang="en-US" sz="1200" i="1" dirty="0" smtClean="0"/>
                  <a:t>teaches</a:t>
                </a:r>
              </a:p>
              <a:p>
                <a:endParaRPr lang="en-US" altLang="en-US" dirty="0" smtClean="0"/>
              </a:p>
              <a:p>
                <a:r>
                  <a:rPr lang="en-US" b="1" dirty="0" smtClean="0"/>
                  <a:t>Note the subtle difference between the two queries: in the first query, the selection that restricts </a:t>
                </a:r>
                <a:r>
                  <a:rPr lang="en-US" b="1" dirty="0" err="1" smtClean="0"/>
                  <a:t>dept_name</a:t>
                </a:r>
                <a:r>
                  <a:rPr lang="en-US" b="1" dirty="0" smtClean="0"/>
                  <a:t> </a:t>
                </a:r>
                <a:r>
                  <a:rPr lang="en-US" b="1" dirty="0" smtClean="0"/>
                  <a:t>to Physics is applied after the join of instructor and teaches has been computed, whereas in the second query, the selection that restricts </a:t>
                </a:r>
                <a:r>
                  <a:rPr lang="en-US" b="1" dirty="0" err="1" smtClean="0"/>
                  <a:t>dept_name</a:t>
                </a:r>
                <a:r>
                  <a:rPr lang="en-US" b="1" dirty="0" smtClean="0"/>
                  <a:t> </a:t>
                </a:r>
                <a:r>
                  <a:rPr lang="en-US" b="1" dirty="0" smtClean="0"/>
                  <a:t>to Physics is applied to instructor, and the join operation is applied subsequently. </a:t>
                </a:r>
              </a:p>
              <a:p>
                <a:endParaRPr lang="en-US" dirty="0" smtClean="0"/>
              </a:p>
              <a:p>
                <a:r>
                  <a:rPr lang="en-US" b="1" dirty="0" smtClean="0"/>
                  <a:t>Although the two queries are not identical, they are in fact equivalent; that is, they give the same result on any database</a:t>
                </a:r>
                <a:endParaRPr lang="en-US" altLang="en-US" b="1" dirty="0"/>
              </a:p>
            </p:txBody>
          </p:sp>
        </mc:Choice>
        <mc:Fallback xmlns="">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Note that there is often more than one way to write a query in relational algebra. Consider the following query, which finds information about courses taught by instructors in the Physics department:</a:t>
                </a:r>
              </a:p>
              <a:p>
                <a:r>
                  <a:rPr lang="en-US" altLang="en-US" sz="1200" i="1" dirty="0" smtClean="0">
                    <a:sym typeface="Symbol" panose="05050102010706020507" pitchFamily="18" charset="2"/>
                  </a:rPr>
                  <a:t> </a:t>
                </a:r>
                <a:r>
                  <a:rPr lang="en-US" altLang="en-US" i="1" dirty="0">
                    <a:sym typeface="Symbol" panose="05050102010706020507" pitchFamily="18" charset="2"/>
                  </a:rPr>
                  <a:t></a:t>
                </a:r>
                <a:r>
                  <a:rPr lang="en-US" altLang="en-US" i="1" baseline="-25000" dirty="0" err="1">
                    <a:sym typeface="Symbol" panose="05050102010706020507" pitchFamily="18" charset="2"/>
                  </a:rPr>
                  <a:t>dept_name</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ja-JP" sz="1200" i="1" dirty="0">
                    <a:sym typeface="Symbol" panose="05050102010706020507" pitchFamily="18" charset="2"/>
                  </a:rPr>
                  <a:t>(i</a:t>
                </a:r>
                <a:r>
                  <a:rPr lang="en-US" altLang="en-US" sz="1200" i="1" dirty="0">
                    <a:sym typeface="Symbol" panose="05050102010706020507" pitchFamily="18" charset="2"/>
                  </a:rPr>
                  <a:t>nstructor</a:t>
                </a:r>
                <a:r>
                  <a:rPr lang="en-US" altLang="en-US" sz="1200" dirty="0">
                    <a:sym typeface="Symbol" panose="05050102010706020507" pitchFamily="18" charset="2"/>
                  </a:rPr>
                  <a:t> </a:t>
                </a:r>
                <a:r>
                  <a:rPr lang="en-US" sz="1200" i="0">
                    <a:latin typeface="Cambria Math" panose="02040503050406030204" pitchFamily="18" charset="0"/>
                  </a:rPr>
                  <a:t>⋈_ </a:t>
                </a:r>
                <a:r>
                  <a:rPr lang="en-US" i="1" baseline="-25000" dirty="0"/>
                  <a:t>instructor.ID = teaches.ID</a:t>
                </a:r>
                <a:r>
                  <a:rPr lang="en-US" baseline="-25000" dirty="0"/>
                  <a:t> </a:t>
                </a:r>
                <a:r>
                  <a:rPr lang="en-US" sz="1200" i="1" dirty="0"/>
                  <a:t>teaches)</a:t>
                </a:r>
                <a:endParaRPr lang="en-US" altLang="en-US" dirty="0" smtClean="0"/>
              </a:p>
              <a:p>
                <a:endParaRPr lang="en-US" altLang="en-US" dirty="0" smtClean="0"/>
              </a:p>
              <a:p>
                <a:r>
                  <a:rPr lang="en-US" dirty="0" smtClean="0"/>
                  <a:t>Now consider an alternative query:</a:t>
                </a:r>
              </a:p>
              <a:p>
                <a:r>
                  <a:rPr lang="en-US" altLang="en-US" sz="1200" i="1" dirty="0" smtClean="0">
                    <a:sym typeface="Symbol" panose="05050102010706020507" pitchFamily="18" charset="2"/>
                  </a:rPr>
                  <a:t>(</a:t>
                </a:r>
                <a:r>
                  <a:rPr lang="en-US" altLang="en-US" i="1" dirty="0">
                    <a:sym typeface="Symbol" panose="05050102010706020507" pitchFamily="18" charset="2"/>
                  </a:rPr>
                  <a:t></a:t>
                </a:r>
                <a:r>
                  <a:rPr lang="en-US" altLang="en-US" i="1" baseline="-25000" dirty="0" err="1">
                    <a:sym typeface="Symbol" panose="05050102010706020507" pitchFamily="18" charset="2"/>
                  </a:rPr>
                  <a:t>dept_name</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ja-JP" sz="1200" i="1" dirty="0">
                    <a:sym typeface="Symbol" panose="05050102010706020507" pitchFamily="18" charset="2"/>
                  </a:rPr>
                  <a:t>(i</a:t>
                </a:r>
                <a:r>
                  <a:rPr lang="en-US" altLang="en-US" sz="1200" i="1" dirty="0">
                    <a:sym typeface="Symbol" panose="05050102010706020507" pitchFamily="18" charset="2"/>
                  </a:rPr>
                  <a:t>nstructor))</a:t>
                </a:r>
                <a:r>
                  <a:rPr lang="en-US" altLang="en-US" sz="1200" dirty="0">
                    <a:sym typeface="Symbol" panose="05050102010706020507" pitchFamily="18" charset="2"/>
                  </a:rPr>
                  <a:t> </a:t>
                </a:r>
                <a:r>
                  <a:rPr lang="en-US" sz="1200" i="0">
                    <a:latin typeface="Cambria Math" panose="02040503050406030204" pitchFamily="18" charset="0"/>
                  </a:rPr>
                  <a:t>⋈_ </a:t>
                </a:r>
                <a:r>
                  <a:rPr lang="en-US" i="1" baseline="-25000" dirty="0"/>
                  <a:t>instructor.ID = teaches.ID</a:t>
                </a:r>
                <a:r>
                  <a:rPr lang="en-US" baseline="-25000" dirty="0"/>
                  <a:t> </a:t>
                </a:r>
                <a:r>
                  <a:rPr lang="en-US" sz="1200" i="1" dirty="0" smtClean="0"/>
                  <a:t>teaches</a:t>
                </a:r>
              </a:p>
              <a:p>
                <a:endParaRPr lang="en-US" altLang="en-US" dirty="0" smtClean="0"/>
              </a:p>
              <a:p>
                <a:r>
                  <a:rPr lang="en-US" b="1" dirty="0" smtClean="0"/>
                  <a:t>Note the subtle difference between the two queries: in the first query, the selection that restricts </a:t>
                </a:r>
                <a:r>
                  <a:rPr lang="en-US" b="1" dirty="0" err="1" smtClean="0"/>
                  <a:t>dept</a:t>
                </a:r>
                <a:r>
                  <a:rPr lang="en-US" b="1" dirty="0" smtClean="0"/>
                  <a:t> name to Physics is applied after the join of instructor and teaches has been computed, whereas in the second query, the selection that restricts </a:t>
                </a:r>
                <a:r>
                  <a:rPr lang="en-US" b="1" dirty="0" err="1" smtClean="0"/>
                  <a:t>dept</a:t>
                </a:r>
                <a:r>
                  <a:rPr lang="en-US" b="1" dirty="0" smtClean="0"/>
                  <a:t> name to Physics is applied to instructor, and the join operation is applied subsequently. </a:t>
                </a:r>
              </a:p>
              <a:p>
                <a:endParaRPr lang="en-US" dirty="0" smtClean="0"/>
              </a:p>
              <a:p>
                <a:r>
                  <a:rPr lang="en-US" b="1" dirty="0" smtClean="0"/>
                  <a:t>Although the two queries are not identical, they are in fact equivalent; that is, they give the same result on any database</a:t>
                </a:r>
                <a:endParaRPr lang="en-US" altLang="en-US" b="1" dirty="0"/>
              </a:p>
            </p:txBody>
          </p:sp>
        </mc:Fallback>
      </mc:AlternateContent>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73084" y="1093788"/>
            <a:ext cx="7702579"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4" y="6613525"/>
            <a:ext cx="447559"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2.</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altLang="en-US" dirty="0" smtClean="0">
                <a:effectLst>
                  <a:outerShdw blurRad="38100" dist="38100" dir="2700000" algn="tl">
                    <a:srgbClr val="C0C0C0"/>
                  </a:outerShdw>
                </a:effectLst>
              </a:rPr>
              <a:t>Introduction </a:t>
            </a:r>
            <a:r>
              <a:rPr lang="en-US" altLang="en-US" dirty="0">
                <a:effectLst>
                  <a:outerShdw blurRad="38100" dist="38100" dir="2700000" algn="tl">
                    <a:srgbClr val="C0C0C0"/>
                  </a:outerShdw>
                </a:effectLst>
              </a:rPr>
              <a:t>to Relational Model</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lIns="90488" tIns="44450" rIns="90488" bIns="44450" anchor="ctr"/>
          <a:lstStyle/>
          <a:p>
            <a:r>
              <a:rPr lang="en-US" altLang="en-US" sz="2800" dirty="0"/>
              <a:t>Outline</a:t>
            </a:r>
          </a:p>
        </p:txBody>
      </p:sp>
      <p:sp>
        <p:nvSpPr>
          <p:cNvPr id="5122" name="Rectangle 3"/>
          <p:cNvSpPr>
            <a:spLocks noGrp="1" noChangeArrowheads="1"/>
          </p:cNvSpPr>
          <p:nvPr>
            <p:ph type="body" idx="1"/>
          </p:nvPr>
        </p:nvSpPr>
        <p:spPr>
          <a:xfrm>
            <a:off x="768351" y="1104900"/>
            <a:ext cx="7496760" cy="2772156"/>
          </a:xfrm>
        </p:spPr>
        <p:txBody>
          <a:bodyPr lIns="90488" tIns="44450" rIns="90488" bIns="44450"/>
          <a:lstStyle/>
          <a:p>
            <a:r>
              <a:rPr lang="en-US" altLang="en-US" sz="1700" dirty="0"/>
              <a:t>Structure of Relational Databases</a:t>
            </a:r>
          </a:p>
          <a:p>
            <a:r>
              <a:rPr lang="en-US" altLang="en-US" sz="1700" dirty="0"/>
              <a:t>Database Schema</a:t>
            </a:r>
          </a:p>
          <a:p>
            <a:r>
              <a:rPr lang="en-US" altLang="en-US" sz="1700" dirty="0"/>
              <a:t>Keys</a:t>
            </a:r>
          </a:p>
          <a:p>
            <a:r>
              <a:rPr lang="en-US" altLang="en-US" sz="1700" dirty="0"/>
              <a:t>Schema Diagrams</a:t>
            </a:r>
          </a:p>
          <a:p>
            <a:r>
              <a:rPr lang="en-US" altLang="en-US" sz="1700" dirty="0"/>
              <a:t>Relational Query Languages</a:t>
            </a:r>
          </a:p>
          <a:p>
            <a:r>
              <a:rPr lang="en-US" altLang="en-US" sz="1700" dirty="0"/>
              <a:t>The Relational Algebra</a:t>
            </a:r>
          </a:p>
          <a:p>
            <a:endParaRPr lang="en-US" altLang="en-US" dirty="0"/>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Example of a </a:t>
            </a:r>
            <a:r>
              <a:rPr lang="en-US" altLang="en-US" sz="2800" i="1" dirty="0">
                <a:effectLst>
                  <a:outerShdw blurRad="38100" dist="38100" dir="2700000" algn="tl">
                    <a:srgbClr val="C0C0C0"/>
                  </a:outerShdw>
                </a:effectLst>
              </a:rPr>
              <a:t>Instructor</a:t>
            </a:r>
            <a:r>
              <a:rPr lang="en-US" altLang="en-US" sz="2800" dirty="0">
                <a:effectLst>
                  <a:outerShdw blurRad="38100" dist="38100" dir="2700000" algn="tl">
                    <a:srgbClr val="C0C0C0"/>
                  </a:outerShdw>
                </a:effectLst>
              </a:rPr>
              <a:t>  Relation</a:t>
            </a:r>
          </a:p>
        </p:txBody>
      </p:sp>
      <p:sp>
        <p:nvSpPr>
          <p:cNvPr id="5123" name="Text Box 4"/>
          <p:cNvSpPr txBox="1">
            <a:spLocks noChangeArrowheads="1"/>
          </p:cNvSpPr>
          <p:nvPr/>
        </p:nvSpPr>
        <p:spPr bwMode="auto">
          <a:xfrm>
            <a:off x="7040563" y="1333500"/>
            <a:ext cx="145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r>
              <a:rPr lang="en-US" altLang="en-US" sz="1800"/>
              <a:t>attributes</a:t>
            </a:r>
          </a:p>
          <a:p>
            <a:pPr algn="ctr"/>
            <a:r>
              <a:rPr lang="en-US" altLang="en-US" sz="1800"/>
              <a:t>(or columns)</a:t>
            </a:r>
            <a:endParaRPr lang="en-US" altLang="en-US"/>
          </a:p>
        </p:txBody>
      </p:sp>
      <p:sp>
        <p:nvSpPr>
          <p:cNvPr id="5124" name="Line 5"/>
          <p:cNvSpPr>
            <a:spLocks noChangeShapeType="1"/>
          </p:cNvSpPr>
          <p:nvPr/>
        </p:nvSpPr>
        <p:spPr bwMode="auto">
          <a:xfrm flipH="1">
            <a:off x="3238499" y="1565275"/>
            <a:ext cx="3927475" cy="3508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5" name="Line 6"/>
          <p:cNvSpPr>
            <a:spLocks noChangeShapeType="1"/>
          </p:cNvSpPr>
          <p:nvPr/>
        </p:nvSpPr>
        <p:spPr bwMode="auto">
          <a:xfrm flipH="1">
            <a:off x="4608513" y="1546225"/>
            <a:ext cx="2557461" cy="3698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6" name="Line 7"/>
          <p:cNvSpPr>
            <a:spLocks noChangeShapeType="1"/>
          </p:cNvSpPr>
          <p:nvPr/>
        </p:nvSpPr>
        <p:spPr bwMode="auto">
          <a:xfrm flipH="1">
            <a:off x="5819775" y="1565275"/>
            <a:ext cx="132080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7" name="Text Box 8"/>
          <p:cNvSpPr txBox="1">
            <a:spLocks noChangeArrowheads="1"/>
          </p:cNvSpPr>
          <p:nvPr/>
        </p:nvSpPr>
        <p:spPr bwMode="auto">
          <a:xfrm>
            <a:off x="6988175" y="2522538"/>
            <a:ext cx="1085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r>
              <a:rPr lang="en-US" altLang="en-US" sz="1800"/>
              <a:t>tuples</a:t>
            </a:r>
          </a:p>
          <a:p>
            <a:pPr algn="ctr"/>
            <a:r>
              <a:rPr lang="en-US" altLang="en-US" sz="1800"/>
              <a:t>(or rows)</a:t>
            </a:r>
            <a:endParaRPr lang="en-US" altLang="en-US"/>
          </a:p>
        </p:txBody>
      </p:sp>
      <p:sp>
        <p:nvSpPr>
          <p:cNvPr id="5128" name="Line 9"/>
          <p:cNvSpPr>
            <a:spLocks noChangeShapeType="1"/>
          </p:cNvSpPr>
          <p:nvPr/>
        </p:nvSpPr>
        <p:spPr bwMode="auto">
          <a:xfrm flipH="1" flipV="1">
            <a:off x="6742113" y="2487613"/>
            <a:ext cx="369887" cy="2206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29" name="Line 10"/>
          <p:cNvSpPr>
            <a:spLocks noChangeShapeType="1"/>
          </p:cNvSpPr>
          <p:nvPr/>
        </p:nvSpPr>
        <p:spPr bwMode="auto">
          <a:xfrm flipH="1">
            <a:off x="6729413" y="2706688"/>
            <a:ext cx="369887" cy="11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30" name="Line 11"/>
          <p:cNvSpPr>
            <a:spLocks noChangeShapeType="1"/>
          </p:cNvSpPr>
          <p:nvPr/>
        </p:nvSpPr>
        <p:spPr bwMode="auto">
          <a:xfrm flipH="1">
            <a:off x="6718300" y="2717800"/>
            <a:ext cx="392113" cy="3127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5131" name="Line 12"/>
          <p:cNvSpPr>
            <a:spLocks noChangeShapeType="1"/>
          </p:cNvSpPr>
          <p:nvPr/>
        </p:nvSpPr>
        <p:spPr bwMode="auto">
          <a:xfrm flipH="1">
            <a:off x="6729413" y="2727325"/>
            <a:ext cx="381000" cy="5556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pic>
        <p:nvPicPr>
          <p:cNvPr id="3" name="Graphic 2">
            <a:extLst>
              <a:ext uri="{FF2B5EF4-FFF2-40B4-BE49-F238E27FC236}">
                <a16:creationId xmlns:a16="http://schemas.microsoft.com/office/drawing/2014/main" id="{30151978-E921-4884-8DCD-8A5563064E4B}"/>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b="13197"/>
          <a:stretch/>
        </p:blipFill>
        <p:spPr>
          <a:xfrm>
            <a:off x="1680369" y="1756896"/>
            <a:ext cx="5154612" cy="44280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lIns="90488" tIns="44450" rIns="90488" bIns="44450" anchor="ctr"/>
          <a:lstStyle/>
          <a:p>
            <a:r>
              <a:rPr lang="en-US" dirty="0"/>
              <a:t>Relation Schema and Instance</a:t>
            </a:r>
            <a:endParaRPr lang="en-US" altLang="en-US" dirty="0"/>
          </a:p>
        </p:txBody>
      </p:sp>
      <p:sp>
        <p:nvSpPr>
          <p:cNvPr id="5122" name="Rectangle 3"/>
          <p:cNvSpPr>
            <a:spLocks noGrp="1" noChangeArrowheads="1"/>
          </p:cNvSpPr>
          <p:nvPr>
            <p:ph type="body" idx="1"/>
          </p:nvPr>
        </p:nvSpPr>
        <p:spPr>
          <a:xfrm>
            <a:off x="768350" y="1104900"/>
            <a:ext cx="7324090" cy="3832860"/>
          </a:xfrm>
        </p:spPr>
        <p:txBody>
          <a:bodyPr lIns="90488" tIns="44450" rIns="90488" bIns="44450"/>
          <a:lstStyle/>
          <a:p>
            <a:r>
              <a:rPr lang="en-US" altLang="en-US" i="1" dirty="0">
                <a:ea typeface="ＭＳ Ｐゴシック" panose="020B0600070205080204" pitchFamily="34" charset="-128"/>
              </a:rPr>
              <a:t>A</a:t>
            </a:r>
            <a:r>
              <a:rPr lang="en-US" altLang="en-US" baseline="-25000" dirty="0">
                <a:ea typeface="ＭＳ Ｐゴシック" panose="020B0600070205080204" pitchFamily="34" charset="-128"/>
              </a:rPr>
              <a:t>1</a:t>
            </a:r>
            <a:r>
              <a:rPr lang="en-US" altLang="en-US" dirty="0">
                <a:ea typeface="ＭＳ Ｐゴシック" panose="020B0600070205080204" pitchFamily="34" charset="-128"/>
              </a:rPr>
              <a:t>, </a:t>
            </a:r>
            <a:r>
              <a:rPr lang="en-US" altLang="en-US" i="1" dirty="0">
                <a:ea typeface="ＭＳ Ｐゴシック" panose="020B0600070205080204" pitchFamily="34" charset="-128"/>
              </a:rPr>
              <a:t>A</a:t>
            </a:r>
            <a:r>
              <a:rPr lang="en-US" altLang="en-US" baseline="-25000" dirty="0">
                <a:ea typeface="ＭＳ Ｐゴシック" panose="020B0600070205080204" pitchFamily="34" charset="-128"/>
              </a:rPr>
              <a:t>2</a:t>
            </a:r>
            <a:r>
              <a:rPr lang="en-US" altLang="en-US" dirty="0">
                <a:ea typeface="ＭＳ Ｐゴシック" panose="020B0600070205080204" pitchFamily="34" charset="-128"/>
              </a:rPr>
              <a:t>, …, </a:t>
            </a:r>
            <a:r>
              <a:rPr lang="en-US" altLang="en-US" i="1" dirty="0">
                <a:ea typeface="ＭＳ Ｐゴシック" panose="020B0600070205080204" pitchFamily="34" charset="-128"/>
              </a:rPr>
              <a:t>A</a:t>
            </a:r>
            <a:r>
              <a:rPr lang="en-US" altLang="en-US" i="1" baseline="-25000" dirty="0">
                <a:ea typeface="ＭＳ Ｐゴシック" panose="020B0600070205080204" pitchFamily="34" charset="-128"/>
              </a:rPr>
              <a:t>n</a:t>
            </a:r>
            <a:r>
              <a:rPr lang="en-US" altLang="en-US" i="1" dirty="0">
                <a:ea typeface="ＭＳ Ｐゴシック" panose="020B0600070205080204" pitchFamily="34" charset="-128"/>
              </a:rPr>
              <a:t> </a:t>
            </a:r>
            <a:r>
              <a:rPr lang="en-US" altLang="en-US" dirty="0">
                <a:ea typeface="ＭＳ Ｐゴシック" panose="020B0600070205080204" pitchFamily="34" charset="-128"/>
              </a:rPr>
              <a:t>are </a:t>
            </a:r>
            <a:r>
              <a:rPr lang="en-US" altLang="en-US" i="1" dirty="0">
                <a:ea typeface="ＭＳ Ｐゴシック" panose="020B0600070205080204" pitchFamily="34" charset="-128"/>
              </a:rPr>
              <a:t>attributes</a:t>
            </a:r>
            <a:endParaRPr lang="en-US" altLang="en-US" dirty="0">
              <a:ea typeface="ＭＳ Ｐゴシック" panose="020B0600070205080204" pitchFamily="34" charset="-128"/>
            </a:endParaRPr>
          </a:p>
          <a:p>
            <a:r>
              <a:rPr lang="en-US" altLang="en-US" i="1" dirty="0">
                <a:ea typeface="ＭＳ Ｐゴシック" panose="020B0600070205080204" pitchFamily="34" charset="-128"/>
              </a:rPr>
              <a:t>R</a:t>
            </a:r>
            <a:r>
              <a:rPr lang="en-US" altLang="en-US" dirty="0">
                <a:ea typeface="ＭＳ Ｐゴシック" panose="020B0600070205080204" pitchFamily="34" charset="-128"/>
              </a:rPr>
              <a:t> = (</a:t>
            </a:r>
            <a:r>
              <a:rPr lang="en-US" altLang="en-US" i="1" dirty="0">
                <a:ea typeface="ＭＳ Ｐゴシック" panose="020B0600070205080204" pitchFamily="34" charset="-128"/>
              </a:rPr>
              <a:t>A</a:t>
            </a:r>
            <a:r>
              <a:rPr lang="en-US" altLang="en-US" baseline="-25000" dirty="0">
                <a:ea typeface="ＭＳ Ｐゴシック" panose="020B0600070205080204" pitchFamily="34" charset="-128"/>
              </a:rPr>
              <a:t>1</a:t>
            </a:r>
            <a:r>
              <a:rPr lang="en-US" altLang="en-US" dirty="0">
                <a:ea typeface="ＭＳ Ｐゴシック" panose="020B0600070205080204" pitchFamily="34" charset="-128"/>
              </a:rPr>
              <a:t>, </a:t>
            </a:r>
            <a:r>
              <a:rPr lang="en-US" altLang="en-US" i="1" dirty="0">
                <a:ea typeface="ＭＳ Ｐゴシック" panose="020B0600070205080204" pitchFamily="34" charset="-128"/>
              </a:rPr>
              <a:t>A</a:t>
            </a:r>
            <a:r>
              <a:rPr lang="en-US" altLang="en-US" baseline="-25000" dirty="0">
                <a:ea typeface="ＭＳ Ｐゴシック" panose="020B0600070205080204" pitchFamily="34" charset="-128"/>
              </a:rPr>
              <a:t>2</a:t>
            </a:r>
            <a:r>
              <a:rPr lang="en-US" altLang="en-US" dirty="0">
                <a:ea typeface="ＭＳ Ｐゴシック" panose="020B0600070205080204" pitchFamily="34" charset="-128"/>
              </a:rPr>
              <a:t>, …, </a:t>
            </a:r>
            <a:r>
              <a:rPr lang="en-US" altLang="en-US" i="1" dirty="0">
                <a:ea typeface="ＭＳ Ｐゴシック" panose="020B0600070205080204" pitchFamily="34" charset="-128"/>
              </a:rPr>
              <a:t>A</a:t>
            </a:r>
            <a:r>
              <a:rPr lang="en-US" altLang="en-US" i="1" baseline="-25000" dirty="0">
                <a:ea typeface="ＭＳ Ｐゴシック" panose="020B0600070205080204" pitchFamily="34" charset="-128"/>
              </a:rPr>
              <a:t>n</a:t>
            </a:r>
            <a:r>
              <a:rPr lang="en-US" altLang="en-US" dirty="0">
                <a:ea typeface="ＭＳ Ｐゴシック" panose="020B0600070205080204" pitchFamily="34" charset="-128"/>
              </a:rPr>
              <a:t> ) is a </a:t>
            </a:r>
            <a:r>
              <a:rPr lang="en-US" altLang="en-US" i="1" dirty="0">
                <a:ea typeface="ＭＳ Ｐゴシック" panose="020B0600070205080204" pitchFamily="34" charset="-128"/>
              </a:rPr>
              <a:t>relation schema</a:t>
            </a:r>
          </a:p>
          <a:p>
            <a:pPr>
              <a:lnSpc>
                <a:spcPct val="120000"/>
              </a:lnSpc>
              <a:buFont typeface="Monotype Sorts" charset="2"/>
              <a:buNone/>
            </a:pPr>
            <a:r>
              <a:rPr lang="en-US" altLang="en-US" dirty="0">
                <a:ea typeface="ＭＳ Ｐゴシック" panose="020B0600070205080204" pitchFamily="34" charset="-128"/>
              </a:rPr>
              <a:t>	Example:</a:t>
            </a:r>
          </a:p>
          <a:p>
            <a:pPr>
              <a:lnSpc>
                <a:spcPct val="120000"/>
              </a:lnSpc>
              <a:buFont typeface="Monotype Sorts" charset="2"/>
              <a:buNone/>
            </a:pPr>
            <a:r>
              <a:rPr lang="en-US" altLang="en-US" dirty="0">
                <a:ea typeface="ＭＳ Ｐゴシック" panose="020B0600070205080204" pitchFamily="34" charset="-128"/>
              </a:rPr>
              <a:t>	</a:t>
            </a:r>
            <a:r>
              <a:rPr lang="en-US" altLang="en-US" i="1" dirty="0">
                <a:ea typeface="ＭＳ Ｐゴシック" panose="020B0600070205080204" pitchFamily="34" charset="-128"/>
              </a:rPr>
              <a:t>     instructor </a:t>
            </a:r>
            <a:r>
              <a:rPr lang="en-US" altLang="en-US" dirty="0">
                <a:ea typeface="ＭＳ Ｐゴシック" panose="020B0600070205080204" pitchFamily="34" charset="-128"/>
              </a:rPr>
              <a:t> = (</a:t>
            </a:r>
            <a:r>
              <a:rPr lang="en-US" altLang="en-US" i="1" dirty="0">
                <a:ea typeface="ＭＳ Ｐゴシック" panose="020B0600070205080204" pitchFamily="34" charset="-128"/>
              </a:rPr>
              <a:t>ID,  name, dept_name, salary</a:t>
            </a:r>
            <a:r>
              <a:rPr lang="en-US" altLang="en-US" dirty="0">
                <a:ea typeface="ＭＳ Ｐゴシック" panose="020B0600070205080204" pitchFamily="34" charset="-128"/>
              </a:rPr>
              <a:t>)</a:t>
            </a:r>
          </a:p>
          <a:p>
            <a:pPr>
              <a:lnSpc>
                <a:spcPct val="120000"/>
              </a:lnSpc>
            </a:pPr>
            <a:r>
              <a:rPr lang="en-US" altLang="en-US" dirty="0"/>
              <a:t>A relation instance </a:t>
            </a:r>
            <a:r>
              <a:rPr lang="en-US" altLang="en-US" i="1" dirty="0"/>
              <a:t>r</a:t>
            </a:r>
            <a:r>
              <a:rPr lang="en-US" altLang="en-US" dirty="0"/>
              <a:t> defined over schema </a:t>
            </a:r>
            <a:r>
              <a:rPr lang="en-US" altLang="en-US" i="1" dirty="0"/>
              <a:t>R</a:t>
            </a:r>
            <a:r>
              <a:rPr lang="en-US" altLang="en-US" dirty="0"/>
              <a:t> is denoted  by </a:t>
            </a:r>
            <a:r>
              <a:rPr lang="en-US" altLang="en-US" i="1" dirty="0"/>
              <a:t>r </a:t>
            </a:r>
            <a:r>
              <a:rPr lang="en-US" altLang="en-US" dirty="0"/>
              <a:t>(</a:t>
            </a:r>
            <a:r>
              <a:rPr lang="en-US" altLang="en-US" i="1" dirty="0"/>
              <a:t>R</a:t>
            </a:r>
            <a:r>
              <a:rPr lang="en-US" altLang="en-US" dirty="0"/>
              <a:t>).</a:t>
            </a:r>
          </a:p>
          <a:p>
            <a:pPr>
              <a:lnSpc>
                <a:spcPct val="120000"/>
              </a:lnSpc>
            </a:pPr>
            <a:r>
              <a:rPr lang="en-US" altLang="en-US" dirty="0"/>
              <a:t>The current values a relation are specified by a table</a:t>
            </a:r>
          </a:p>
          <a:p>
            <a:pPr>
              <a:lnSpc>
                <a:spcPct val="120000"/>
              </a:lnSpc>
            </a:pPr>
            <a:r>
              <a:rPr lang="en-US" altLang="en-US" dirty="0"/>
              <a:t>An element </a:t>
            </a:r>
            <a:r>
              <a:rPr lang="en-US" altLang="en-US" b="1" i="1" dirty="0">
                <a:solidFill>
                  <a:srgbClr val="000099"/>
                </a:solidFill>
              </a:rPr>
              <a:t>t</a:t>
            </a:r>
            <a:r>
              <a:rPr lang="en-US" altLang="en-US" b="1" dirty="0">
                <a:solidFill>
                  <a:srgbClr val="000099"/>
                </a:solidFill>
              </a:rPr>
              <a:t> </a:t>
            </a:r>
            <a:r>
              <a:rPr lang="en-US" altLang="en-US" dirty="0"/>
              <a:t>of</a:t>
            </a:r>
            <a:r>
              <a:rPr lang="en-US" altLang="en-US" b="1" dirty="0">
                <a:solidFill>
                  <a:schemeClr val="bg2"/>
                </a:solidFill>
              </a:rPr>
              <a:t> </a:t>
            </a:r>
            <a:r>
              <a:rPr lang="en-US" altLang="en-US" dirty="0"/>
              <a:t>relation</a:t>
            </a:r>
            <a:r>
              <a:rPr lang="en-US" altLang="en-US" b="1" dirty="0">
                <a:solidFill>
                  <a:schemeClr val="bg2"/>
                </a:solidFill>
              </a:rPr>
              <a:t> </a:t>
            </a:r>
            <a:r>
              <a:rPr lang="en-US" altLang="en-US" b="1" i="1" dirty="0">
                <a:solidFill>
                  <a:srgbClr val="000099"/>
                </a:solidFill>
              </a:rPr>
              <a:t>r</a:t>
            </a:r>
            <a:r>
              <a:rPr lang="en-US" altLang="en-US" dirty="0"/>
              <a:t> is called a  </a:t>
            </a:r>
            <a:r>
              <a:rPr lang="en-US" altLang="en-US" i="1" dirty="0"/>
              <a:t>tuple</a:t>
            </a:r>
            <a:r>
              <a:rPr lang="en-US" altLang="en-US" dirty="0"/>
              <a:t> and is represented by a </a:t>
            </a:r>
            <a:r>
              <a:rPr lang="en-US" altLang="en-US" i="1" dirty="0"/>
              <a:t>row </a:t>
            </a:r>
            <a:r>
              <a:rPr lang="en-US" altLang="en-US" dirty="0"/>
              <a:t>in a table</a:t>
            </a:r>
          </a:p>
          <a:p>
            <a:pPr>
              <a:lnSpc>
                <a:spcPct val="120000"/>
              </a:lnSpc>
            </a:pPr>
            <a:endParaRPr lang="en-US" altLang="en-US" sz="1700" dirty="0"/>
          </a:p>
        </p:txBody>
      </p:sp>
    </p:spTree>
    <p:extLst>
      <p:ext uri="{BB962C8B-B14F-4D97-AF65-F5344CB8AC3E}">
        <p14:creationId xmlns:p14="http://schemas.microsoft.com/office/powerpoint/2010/main" val="273649219"/>
      </p:ext>
    </p:extLst>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Attributes</a:t>
            </a:r>
          </a:p>
        </p:txBody>
      </p:sp>
      <p:sp>
        <p:nvSpPr>
          <p:cNvPr id="6146" name="Rectangle 3"/>
          <p:cNvSpPr>
            <a:spLocks noGrp="1" noChangeArrowheads="1"/>
          </p:cNvSpPr>
          <p:nvPr>
            <p:ph type="body" idx="1"/>
          </p:nvPr>
        </p:nvSpPr>
        <p:spPr>
          <a:xfrm>
            <a:off x="768351" y="1219200"/>
            <a:ext cx="7656558" cy="4230624"/>
          </a:xfrm>
        </p:spPr>
        <p:txBody>
          <a:bodyPr/>
          <a:lstStyle/>
          <a:p>
            <a:r>
              <a:rPr lang="en-US" altLang="en-US" sz="1700" dirty="0"/>
              <a:t>The set of allowed values for each attribute is called the </a:t>
            </a:r>
            <a:r>
              <a:rPr lang="en-US" altLang="en-US" sz="1700" b="1" dirty="0">
                <a:solidFill>
                  <a:srgbClr val="002060"/>
                </a:solidFill>
              </a:rPr>
              <a:t>domain</a:t>
            </a:r>
            <a:r>
              <a:rPr lang="en-US" altLang="en-US" sz="1700" dirty="0">
                <a:solidFill>
                  <a:srgbClr val="002060"/>
                </a:solidFill>
              </a:rPr>
              <a:t> </a:t>
            </a:r>
            <a:r>
              <a:rPr lang="en-US" altLang="en-US" sz="1700" dirty="0"/>
              <a:t>of the attribute</a:t>
            </a:r>
          </a:p>
          <a:p>
            <a:r>
              <a:rPr lang="en-US" altLang="en-US" sz="1700" dirty="0"/>
              <a:t>Attribute values are (normally) required to be </a:t>
            </a:r>
            <a:r>
              <a:rPr lang="en-US" altLang="en-US" sz="1700" b="1" dirty="0">
                <a:solidFill>
                  <a:srgbClr val="002060"/>
                </a:solidFill>
              </a:rPr>
              <a:t>atomic</a:t>
            </a:r>
            <a:r>
              <a:rPr lang="en-US" altLang="en-US" sz="1700" dirty="0"/>
              <a:t>; that is, indivisible</a:t>
            </a:r>
          </a:p>
          <a:p>
            <a:r>
              <a:rPr lang="en-US" altLang="en-US" sz="1700" dirty="0"/>
              <a:t>The special value</a:t>
            </a:r>
            <a:r>
              <a:rPr lang="en-US" altLang="en-US" sz="1700" b="1" dirty="0">
                <a:solidFill>
                  <a:schemeClr val="tx2"/>
                </a:solidFill>
              </a:rPr>
              <a:t> </a:t>
            </a:r>
            <a:r>
              <a:rPr lang="en-US" altLang="en-US" sz="1700" b="1" i="1" dirty="0">
                <a:solidFill>
                  <a:srgbClr val="000000"/>
                </a:solidFill>
              </a:rPr>
              <a:t>null</a:t>
            </a:r>
            <a:r>
              <a:rPr lang="en-US" altLang="en-US" sz="1700" dirty="0"/>
              <a:t>  is a member of every domain. Indicated that the value is “unknown”</a:t>
            </a:r>
          </a:p>
          <a:p>
            <a:r>
              <a:rPr lang="en-US" altLang="en-US" sz="1700" dirty="0"/>
              <a:t>The null value causes complications in the definition of many operations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Relations are Unordered</a:t>
            </a:r>
          </a:p>
        </p:txBody>
      </p:sp>
      <p:sp>
        <p:nvSpPr>
          <p:cNvPr id="6146" name="Rectangle 3"/>
          <p:cNvSpPr>
            <a:spLocks noGrp="1" noChangeArrowheads="1"/>
          </p:cNvSpPr>
          <p:nvPr>
            <p:ph type="body" idx="1"/>
          </p:nvPr>
        </p:nvSpPr>
        <p:spPr>
          <a:xfrm>
            <a:off x="768350" y="1219200"/>
            <a:ext cx="7621047" cy="1048512"/>
          </a:xfrm>
        </p:spPr>
        <p:txBody>
          <a:bodyPr/>
          <a:lstStyle/>
          <a:p>
            <a:r>
              <a:rPr lang="en-US" altLang="en-US" sz="1700" dirty="0"/>
              <a:t>Order of tuples is irrelevant (tuples may be stored in an arbitrary order)</a:t>
            </a:r>
          </a:p>
          <a:p>
            <a:r>
              <a:rPr lang="en-US" altLang="en-US" sz="1700" dirty="0"/>
              <a:t>Example: </a:t>
            </a:r>
            <a:r>
              <a:rPr lang="en-US" altLang="en-US" sz="1700" i="1" dirty="0"/>
              <a:t>instructor</a:t>
            </a:r>
            <a:r>
              <a:rPr lang="en-US" altLang="en-US" sz="1700" dirty="0"/>
              <a:t>  relation with unordered tuples</a:t>
            </a:r>
          </a:p>
          <a:p>
            <a:endParaRPr lang="en-US" altLang="en-US" dirty="0"/>
          </a:p>
          <a:p>
            <a:endParaRPr lang="en-US" altLang="en-US" dirty="0"/>
          </a:p>
        </p:txBody>
      </p:sp>
      <p:pic>
        <p:nvPicPr>
          <p:cNvPr id="6" name="Graphic 5">
            <a:extLst>
              <a:ext uri="{FF2B5EF4-FFF2-40B4-BE49-F238E27FC236}">
                <a16:creationId xmlns:a16="http://schemas.microsoft.com/office/drawing/2014/main" id="{422967B4-430E-442F-B611-B9DC46ED7A2B}"/>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t="-1" b="12197"/>
          <a:stretch/>
        </p:blipFill>
        <p:spPr>
          <a:xfrm>
            <a:off x="1948917" y="2188304"/>
            <a:ext cx="4702738" cy="37135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Database Schema</a:t>
            </a:r>
          </a:p>
        </p:txBody>
      </p:sp>
      <p:sp>
        <p:nvSpPr>
          <p:cNvPr id="9218" name="Rectangle 3"/>
          <p:cNvSpPr>
            <a:spLocks noGrp="1" noChangeArrowheads="1"/>
          </p:cNvSpPr>
          <p:nvPr>
            <p:ph type="body" idx="1"/>
          </p:nvPr>
        </p:nvSpPr>
        <p:spPr>
          <a:xfrm>
            <a:off x="768351" y="1102297"/>
            <a:ext cx="7594414" cy="2055431"/>
          </a:xfrm>
        </p:spPr>
        <p:txBody>
          <a:bodyPr/>
          <a:lstStyle/>
          <a:p>
            <a:r>
              <a:rPr lang="en-US" altLang="en-US" sz="1700" dirty="0">
                <a:sym typeface="Symbol" panose="05050102010706020507" pitchFamily="18" charset="2"/>
              </a:rPr>
              <a:t>Database schema -- is the logical structure of the database.</a:t>
            </a:r>
          </a:p>
          <a:p>
            <a:r>
              <a:rPr lang="en-US" altLang="en-US" sz="1700" dirty="0">
                <a:sym typeface="Symbol" panose="05050102010706020507" pitchFamily="18" charset="2"/>
              </a:rPr>
              <a:t>Database instance -- is a snapshot of the data in the database at a given instant in time. </a:t>
            </a:r>
          </a:p>
          <a:p>
            <a:r>
              <a:rPr lang="en-US" altLang="en-US" sz="1700" dirty="0">
                <a:sym typeface="Symbol" panose="05050102010706020507" pitchFamily="18" charset="2"/>
              </a:rPr>
              <a:t>Example:</a:t>
            </a:r>
          </a:p>
          <a:p>
            <a:pPr lvl="1"/>
            <a:r>
              <a:rPr lang="en-US" altLang="en-US" sz="1700" dirty="0">
                <a:sym typeface="Symbol" panose="05050102010706020507" pitchFamily="18" charset="2"/>
              </a:rPr>
              <a:t>schema:   i</a:t>
            </a:r>
            <a:r>
              <a:rPr lang="en-US" altLang="en-US" sz="1700" i="1" dirty="0">
                <a:sym typeface="Symbol" panose="05050102010706020507" pitchFamily="18" charset="2"/>
              </a:rPr>
              <a:t>nstructor</a:t>
            </a:r>
            <a:r>
              <a:rPr lang="en-US" altLang="en-US" sz="1700" dirty="0">
                <a:sym typeface="Symbol" panose="05050102010706020507" pitchFamily="18" charset="2"/>
              </a:rPr>
              <a:t> (</a:t>
            </a:r>
            <a:r>
              <a:rPr lang="en-US" altLang="en-US" sz="1700" i="1" dirty="0">
                <a:sym typeface="Symbol" panose="05050102010706020507" pitchFamily="18" charset="2"/>
              </a:rPr>
              <a:t>ID, name, dept_name, salary</a:t>
            </a:r>
            <a:r>
              <a:rPr lang="en-US" altLang="en-US" sz="1700" dirty="0">
                <a:sym typeface="Symbol" panose="05050102010706020507" pitchFamily="18" charset="2"/>
              </a:rPr>
              <a:t>)</a:t>
            </a:r>
          </a:p>
          <a:p>
            <a:pPr lvl="1"/>
            <a:r>
              <a:rPr lang="en-US" altLang="en-US" sz="1700" dirty="0">
                <a:sym typeface="Symbol" panose="05050102010706020507" pitchFamily="18" charset="2"/>
              </a:rPr>
              <a:t>Instance:</a:t>
            </a:r>
          </a:p>
        </p:txBody>
      </p:sp>
      <p:pic>
        <p:nvPicPr>
          <p:cNvPr id="6" name="Graphic 5">
            <a:extLst>
              <a:ext uri="{FF2B5EF4-FFF2-40B4-BE49-F238E27FC236}">
                <a16:creationId xmlns:a16="http://schemas.microsoft.com/office/drawing/2014/main" id="{BD43850F-C798-4B0C-AB3F-7891AC78428F}"/>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t="-1" b="12197"/>
          <a:stretch/>
        </p:blipFill>
        <p:spPr>
          <a:xfrm>
            <a:off x="2589387" y="2909279"/>
            <a:ext cx="4483051" cy="35401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Keys</a:t>
            </a:r>
          </a:p>
        </p:txBody>
      </p:sp>
      <p:sp>
        <p:nvSpPr>
          <p:cNvPr id="9218" name="Rectangle 3"/>
          <p:cNvSpPr>
            <a:spLocks noGrp="1" noChangeArrowheads="1"/>
          </p:cNvSpPr>
          <p:nvPr>
            <p:ph type="body" idx="1"/>
          </p:nvPr>
        </p:nvSpPr>
        <p:spPr>
          <a:xfrm>
            <a:off x="768351" y="1098865"/>
            <a:ext cx="7647680" cy="4896167"/>
          </a:xfrm>
        </p:spPr>
        <p:txBody>
          <a:bodyPr/>
          <a:lstStyle/>
          <a:p>
            <a:r>
              <a:rPr lang="en-US" altLang="en-US" sz="1700" dirty="0"/>
              <a:t>Let K </a:t>
            </a:r>
            <a:r>
              <a:rPr lang="en-US" altLang="en-US" sz="1700" dirty="0">
                <a:sym typeface="Symbol" panose="05050102010706020507" pitchFamily="18" charset="2"/>
              </a:rPr>
              <a:t> R</a:t>
            </a:r>
          </a:p>
          <a:p>
            <a:r>
              <a:rPr lang="en-US" altLang="en-US" sz="1700" i="1" dirty="0">
                <a:sym typeface="Symbol" panose="05050102010706020507" pitchFamily="18" charset="2"/>
              </a:rPr>
              <a:t>K </a:t>
            </a:r>
            <a:r>
              <a:rPr lang="en-US" altLang="en-US" sz="1700" dirty="0">
                <a:sym typeface="Symbol" panose="05050102010706020507" pitchFamily="18" charset="2"/>
              </a:rPr>
              <a:t>is a </a:t>
            </a:r>
            <a:r>
              <a:rPr lang="en-US" altLang="en-US" sz="1700" b="1" dirty="0" err="1">
                <a:solidFill>
                  <a:srgbClr val="002060"/>
                </a:solidFill>
                <a:sym typeface="Symbol" panose="05050102010706020507" pitchFamily="18" charset="2"/>
              </a:rPr>
              <a:t>superkey</a:t>
            </a:r>
            <a:r>
              <a:rPr lang="en-US" altLang="en-US" sz="1700" b="1" dirty="0">
                <a:solidFill>
                  <a:schemeClr val="tx2"/>
                </a:solidFill>
                <a:sym typeface="Symbol" panose="05050102010706020507" pitchFamily="18" charset="2"/>
              </a:rPr>
              <a:t> </a:t>
            </a:r>
            <a:r>
              <a:rPr lang="en-US" altLang="en-US" sz="1700" dirty="0">
                <a:sym typeface="Symbol" panose="05050102010706020507" pitchFamily="18" charset="2"/>
              </a:rPr>
              <a:t>of </a:t>
            </a:r>
            <a:r>
              <a:rPr lang="en-US" altLang="en-US" sz="1700" i="1" dirty="0">
                <a:sym typeface="Symbol" panose="05050102010706020507" pitchFamily="18" charset="2"/>
              </a:rPr>
              <a:t>R</a:t>
            </a:r>
            <a:r>
              <a:rPr lang="en-US" altLang="en-US" sz="1700" dirty="0">
                <a:sym typeface="Symbol" panose="05050102010706020507" pitchFamily="18" charset="2"/>
              </a:rPr>
              <a:t> if values for </a:t>
            </a:r>
            <a:r>
              <a:rPr lang="en-US" altLang="en-US" sz="1700" i="1" dirty="0">
                <a:sym typeface="Symbol" panose="05050102010706020507" pitchFamily="18" charset="2"/>
              </a:rPr>
              <a:t>K</a:t>
            </a:r>
            <a:r>
              <a:rPr lang="en-US" altLang="en-US" sz="1700" dirty="0">
                <a:sym typeface="Symbol" panose="05050102010706020507" pitchFamily="18" charset="2"/>
              </a:rPr>
              <a:t> are sufficient to identify a unique tuple of each possible relation </a:t>
            </a:r>
            <a:r>
              <a:rPr lang="en-US" altLang="en-US" sz="1700" i="1" dirty="0">
                <a:sym typeface="Symbol" panose="05050102010706020507" pitchFamily="18" charset="2"/>
              </a:rPr>
              <a:t>r(R)</a:t>
            </a:r>
            <a:r>
              <a:rPr lang="en-US" altLang="en-US" sz="1700" dirty="0">
                <a:sym typeface="Symbol" panose="05050102010706020507" pitchFamily="18" charset="2"/>
              </a:rPr>
              <a:t> </a:t>
            </a:r>
          </a:p>
          <a:p>
            <a:pPr lvl="1">
              <a:lnSpc>
                <a:spcPct val="130000"/>
              </a:lnSpc>
            </a:pPr>
            <a:r>
              <a:rPr lang="en-US" altLang="en-US" sz="1700" dirty="0">
                <a:sym typeface="Symbol" panose="05050102010706020507" pitchFamily="18" charset="2"/>
              </a:rPr>
              <a:t>Example:  {</a:t>
            </a:r>
            <a:r>
              <a:rPr lang="en-US" altLang="en-US" sz="1700" i="1" dirty="0">
                <a:sym typeface="Symbol" panose="05050102010706020507" pitchFamily="18" charset="2"/>
              </a:rPr>
              <a:t>ID</a:t>
            </a:r>
            <a:r>
              <a:rPr lang="en-US" altLang="en-US" sz="1700" dirty="0">
                <a:sym typeface="Symbol" panose="05050102010706020507" pitchFamily="18" charset="2"/>
              </a:rPr>
              <a:t>} and {</a:t>
            </a:r>
            <a:r>
              <a:rPr lang="en-US" altLang="en-US" sz="1700" dirty="0" err="1">
                <a:sym typeface="Symbol" panose="05050102010706020507" pitchFamily="18" charset="2"/>
              </a:rPr>
              <a:t>ID,name</a:t>
            </a:r>
            <a:r>
              <a:rPr lang="en-US" altLang="en-US" sz="1700" dirty="0">
                <a:sym typeface="Symbol" panose="05050102010706020507" pitchFamily="18" charset="2"/>
              </a:rPr>
              <a:t>} are both </a:t>
            </a:r>
            <a:r>
              <a:rPr lang="en-US" altLang="en-US" sz="1700" dirty="0" err="1">
                <a:sym typeface="Symbol" panose="05050102010706020507" pitchFamily="18" charset="2"/>
              </a:rPr>
              <a:t>superkeys</a:t>
            </a:r>
            <a:r>
              <a:rPr lang="en-US" altLang="en-US" sz="1700" dirty="0">
                <a:sym typeface="Symbol" panose="05050102010706020507" pitchFamily="18" charset="2"/>
              </a:rPr>
              <a:t> of </a:t>
            </a:r>
            <a:r>
              <a:rPr lang="en-US" altLang="en-US" sz="1700" i="1" dirty="0">
                <a:sym typeface="Symbol" panose="05050102010706020507" pitchFamily="18" charset="2"/>
              </a:rPr>
              <a:t>instructor.</a:t>
            </a:r>
            <a:endParaRPr lang="en-US" altLang="en-US" sz="1700" dirty="0">
              <a:sym typeface="Symbol" panose="05050102010706020507" pitchFamily="18" charset="2"/>
            </a:endParaRPr>
          </a:p>
          <a:p>
            <a:pPr>
              <a:lnSpc>
                <a:spcPct val="120000"/>
              </a:lnSpc>
            </a:pPr>
            <a:r>
              <a:rPr lang="en-US" altLang="en-US" sz="1700" dirty="0" err="1">
                <a:sym typeface="Symbol" panose="05050102010706020507" pitchFamily="18" charset="2"/>
              </a:rPr>
              <a:t>Superkey</a:t>
            </a:r>
            <a:r>
              <a:rPr lang="en-US" altLang="en-US" sz="1700" dirty="0">
                <a:sym typeface="Symbol" panose="05050102010706020507" pitchFamily="18" charset="2"/>
              </a:rPr>
              <a:t> </a:t>
            </a:r>
            <a:r>
              <a:rPr lang="en-US" altLang="en-US" sz="1700" i="1" dirty="0">
                <a:sym typeface="Symbol" panose="05050102010706020507" pitchFamily="18" charset="2"/>
              </a:rPr>
              <a:t>K</a:t>
            </a:r>
            <a:r>
              <a:rPr lang="en-US" altLang="en-US" sz="1700" dirty="0">
                <a:sym typeface="Symbol" panose="05050102010706020507" pitchFamily="18" charset="2"/>
              </a:rPr>
              <a:t> is a </a:t>
            </a:r>
            <a:r>
              <a:rPr lang="en-US" altLang="en-US" sz="1700" b="1" dirty="0">
                <a:solidFill>
                  <a:srgbClr val="002060"/>
                </a:solidFill>
                <a:sym typeface="Symbol" panose="05050102010706020507" pitchFamily="18" charset="2"/>
              </a:rPr>
              <a:t>candidate key</a:t>
            </a:r>
            <a:r>
              <a:rPr lang="en-US" altLang="en-US" sz="1700" dirty="0">
                <a:sym typeface="Symbol" panose="05050102010706020507" pitchFamily="18" charset="2"/>
              </a:rPr>
              <a:t> if </a:t>
            </a:r>
            <a:r>
              <a:rPr lang="en-US" altLang="en-US" sz="1700" i="1" dirty="0">
                <a:sym typeface="Symbol" panose="05050102010706020507" pitchFamily="18" charset="2"/>
              </a:rPr>
              <a:t>K</a:t>
            </a:r>
            <a:r>
              <a:rPr lang="en-US" altLang="en-US" sz="1700" dirty="0">
                <a:sym typeface="Symbol" panose="05050102010706020507" pitchFamily="18" charset="2"/>
              </a:rPr>
              <a:t> is minimal</a:t>
            </a:r>
            <a:br>
              <a:rPr lang="en-US" altLang="en-US" sz="1700" dirty="0">
                <a:sym typeface="Symbol" panose="05050102010706020507" pitchFamily="18" charset="2"/>
              </a:rPr>
            </a:br>
            <a:r>
              <a:rPr lang="en-US" altLang="en-US" sz="1700" dirty="0">
                <a:sym typeface="Symbol" panose="05050102010706020507" pitchFamily="18" charset="2"/>
              </a:rPr>
              <a:t>Example:  {</a:t>
            </a:r>
            <a:r>
              <a:rPr lang="en-US" altLang="en-US" sz="1700" i="1" dirty="0">
                <a:sym typeface="Symbol" panose="05050102010706020507" pitchFamily="18" charset="2"/>
              </a:rPr>
              <a:t>ID</a:t>
            </a:r>
            <a:r>
              <a:rPr lang="en-US" altLang="en-US" sz="1700" dirty="0">
                <a:sym typeface="Symbol" panose="05050102010706020507" pitchFamily="18" charset="2"/>
              </a:rPr>
              <a:t>} is a candidate key for </a:t>
            </a:r>
            <a:r>
              <a:rPr lang="en-US" altLang="en-US" sz="1700" i="1" dirty="0">
                <a:sym typeface="Symbol" panose="05050102010706020507" pitchFamily="18" charset="2"/>
              </a:rPr>
              <a:t>Instructor</a:t>
            </a:r>
            <a:endParaRPr lang="en-US" altLang="en-US" sz="1700" dirty="0">
              <a:sym typeface="Symbol" panose="05050102010706020507" pitchFamily="18" charset="2"/>
            </a:endParaRPr>
          </a:p>
          <a:p>
            <a:pPr>
              <a:lnSpc>
                <a:spcPct val="120000"/>
              </a:lnSpc>
            </a:pPr>
            <a:r>
              <a:rPr lang="en-US" altLang="en-US" sz="1700" dirty="0">
                <a:sym typeface="Symbol" panose="05050102010706020507" pitchFamily="18" charset="2"/>
              </a:rPr>
              <a:t>One of the candidate keys is selected to be the </a:t>
            </a:r>
            <a:r>
              <a:rPr lang="en-US" altLang="en-US" sz="1700" b="1" dirty="0">
                <a:solidFill>
                  <a:srgbClr val="002060"/>
                </a:solidFill>
                <a:sym typeface="Symbol" panose="05050102010706020507" pitchFamily="18" charset="2"/>
              </a:rPr>
              <a:t>primary key</a:t>
            </a:r>
            <a:r>
              <a:rPr lang="en-US" altLang="en-US" sz="1700" dirty="0">
                <a:sym typeface="Symbol" panose="05050102010706020507" pitchFamily="18" charset="2"/>
              </a:rPr>
              <a:t>.</a:t>
            </a:r>
          </a:p>
          <a:p>
            <a:pPr lvl="1">
              <a:lnSpc>
                <a:spcPct val="120000"/>
              </a:lnSpc>
            </a:pPr>
            <a:r>
              <a:rPr lang="en-US" altLang="en-US" dirty="0">
                <a:sym typeface="Symbol" panose="05050102010706020507" pitchFamily="18" charset="2"/>
              </a:rPr>
              <a:t>W</a:t>
            </a:r>
            <a:r>
              <a:rPr lang="en-US" altLang="en-US" sz="1700" dirty="0">
                <a:sym typeface="Symbol" panose="05050102010706020507" pitchFamily="18" charset="2"/>
              </a:rPr>
              <a:t>hich one?</a:t>
            </a:r>
          </a:p>
          <a:p>
            <a:r>
              <a:rPr lang="en-US" altLang="en-US" sz="1700" b="1" dirty="0">
                <a:solidFill>
                  <a:srgbClr val="002060"/>
                </a:solidFill>
              </a:rPr>
              <a:t>Foreign key</a:t>
            </a:r>
            <a:r>
              <a:rPr lang="en-US" altLang="en-US" sz="1700" dirty="0">
                <a:solidFill>
                  <a:srgbClr val="002060"/>
                </a:solidFill>
              </a:rPr>
              <a:t> </a:t>
            </a:r>
            <a:r>
              <a:rPr lang="en-US" altLang="en-US" sz="1700" dirty="0"/>
              <a:t>constraint: Value in one relation must appear in another</a:t>
            </a:r>
          </a:p>
          <a:p>
            <a:pPr lvl="1"/>
            <a:r>
              <a:rPr lang="en-US" altLang="en-US" sz="1700" b="1" dirty="0">
                <a:solidFill>
                  <a:srgbClr val="002060"/>
                </a:solidFill>
              </a:rPr>
              <a:t>Referencing</a:t>
            </a:r>
            <a:r>
              <a:rPr lang="en-US" altLang="en-US" sz="1700" dirty="0"/>
              <a:t> relation</a:t>
            </a:r>
          </a:p>
          <a:p>
            <a:pPr lvl="1"/>
            <a:r>
              <a:rPr lang="en-US" altLang="en-US" sz="1700" b="1" dirty="0">
                <a:solidFill>
                  <a:srgbClr val="002060"/>
                </a:solidFill>
              </a:rPr>
              <a:t>Referenced</a:t>
            </a:r>
            <a:r>
              <a:rPr lang="en-US" altLang="en-US" sz="1700" dirty="0"/>
              <a:t> relation</a:t>
            </a:r>
          </a:p>
          <a:p>
            <a:pPr lvl="1"/>
            <a:r>
              <a:rPr lang="en-US" altLang="en-US" sz="1700" dirty="0">
                <a:sym typeface="Symbol" panose="05050102010706020507" pitchFamily="18" charset="2"/>
              </a:rPr>
              <a:t>Example: </a:t>
            </a:r>
            <a:r>
              <a:rPr lang="en-US" altLang="en-US" sz="1700" i="1" dirty="0">
                <a:sym typeface="Symbol" panose="05050102010706020507" pitchFamily="18" charset="2"/>
              </a:rPr>
              <a:t>dept_name</a:t>
            </a:r>
            <a:r>
              <a:rPr lang="en-US" altLang="en-US" sz="1700" dirty="0">
                <a:sym typeface="Symbol" panose="05050102010706020507" pitchFamily="18" charset="2"/>
              </a:rPr>
              <a:t> in i</a:t>
            </a:r>
            <a:r>
              <a:rPr lang="en-US" altLang="en-US" sz="1700" i="1" dirty="0">
                <a:sym typeface="Symbol" panose="05050102010706020507" pitchFamily="18" charset="2"/>
              </a:rPr>
              <a:t>nstructor</a:t>
            </a:r>
            <a:r>
              <a:rPr lang="en-US" altLang="en-US" sz="1700" dirty="0">
                <a:sym typeface="Symbol" panose="05050102010706020507" pitchFamily="18" charset="2"/>
              </a:rPr>
              <a:t>  is a foreign key from </a:t>
            </a:r>
            <a:r>
              <a:rPr lang="en-US" altLang="en-US" sz="1700" i="1" dirty="0">
                <a:sym typeface="Symbol" panose="05050102010706020507" pitchFamily="18" charset="2"/>
              </a:rPr>
              <a:t>instructor</a:t>
            </a:r>
            <a:r>
              <a:rPr lang="en-US" altLang="en-US" sz="1700" dirty="0">
                <a:sym typeface="Symbol" panose="05050102010706020507" pitchFamily="18" charset="2"/>
              </a:rPr>
              <a:t> referencing </a:t>
            </a:r>
            <a:r>
              <a:rPr lang="en-US" altLang="en-US" sz="1700" i="1" dirty="0">
                <a:sym typeface="Symbol" panose="05050102010706020507" pitchFamily="18" charset="2"/>
              </a:rPr>
              <a:t>department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Schema Diagram for University Database</a:t>
            </a:r>
          </a:p>
        </p:txBody>
      </p:sp>
      <p:pic>
        <p:nvPicPr>
          <p:cNvPr id="3" name="Graphic 2">
            <a:extLst>
              <a:ext uri="{FF2B5EF4-FFF2-40B4-BE49-F238E27FC236}">
                <a16:creationId xmlns:a16="http://schemas.microsoft.com/office/drawing/2014/main" id="{D6B8FF63-5393-4696-8B56-06CDA84E94A9}"/>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506002" y="1383738"/>
            <a:ext cx="8131996" cy="48719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Relational Query Languages</a:t>
            </a:r>
          </a:p>
        </p:txBody>
      </p:sp>
      <p:sp>
        <p:nvSpPr>
          <p:cNvPr id="11266" name="Rectangle 3"/>
          <p:cNvSpPr>
            <a:spLocks noGrp="1" noChangeArrowheads="1"/>
          </p:cNvSpPr>
          <p:nvPr>
            <p:ph type="body" idx="1"/>
          </p:nvPr>
        </p:nvSpPr>
        <p:spPr>
          <a:xfrm>
            <a:off x="768349" y="1084263"/>
            <a:ext cx="7692069" cy="3555047"/>
          </a:xfrm>
        </p:spPr>
        <p:txBody>
          <a:bodyPr/>
          <a:lstStyle/>
          <a:p>
            <a:r>
              <a:rPr lang="en-US" altLang="en-US" sz="1700" dirty="0"/>
              <a:t>Procedural versus non-procedural, or declarative</a:t>
            </a:r>
          </a:p>
          <a:p>
            <a:r>
              <a:rPr lang="en-US" altLang="en-US" sz="1700" dirty="0"/>
              <a:t>“Pure” languages:</a:t>
            </a:r>
          </a:p>
          <a:p>
            <a:pPr lvl="1"/>
            <a:r>
              <a:rPr lang="en-US" altLang="en-US" sz="1700" dirty="0"/>
              <a:t>Relational algebra</a:t>
            </a:r>
          </a:p>
          <a:p>
            <a:pPr lvl="1"/>
            <a:r>
              <a:rPr lang="en-US" altLang="en-US" sz="1700" dirty="0"/>
              <a:t>Tuple relational calculus</a:t>
            </a:r>
          </a:p>
          <a:p>
            <a:pPr lvl="1"/>
            <a:r>
              <a:rPr lang="en-US" altLang="en-US" sz="1700" dirty="0"/>
              <a:t>Domain relational calculus</a:t>
            </a:r>
          </a:p>
          <a:p>
            <a:r>
              <a:rPr lang="en-US" altLang="en-US" sz="1700" dirty="0"/>
              <a:t>The above 3 pure languages are equivalent in computing power</a:t>
            </a:r>
          </a:p>
          <a:p>
            <a:r>
              <a:rPr lang="en-US" altLang="en-US" sz="1700" dirty="0"/>
              <a:t>We will concentrate in this chapter on relational algebra</a:t>
            </a:r>
          </a:p>
          <a:p>
            <a:pPr lvl="1"/>
            <a:r>
              <a:rPr lang="en-US" altLang="en-US" sz="1700" dirty="0"/>
              <a:t>Not </a:t>
            </a:r>
            <a:r>
              <a:rPr lang="en-US" altLang="en-US" dirty="0"/>
              <a:t>T</a:t>
            </a:r>
            <a:r>
              <a:rPr lang="en-US" altLang="en-US" sz="1700" dirty="0"/>
              <a:t>uring-machine equivalent</a:t>
            </a:r>
          </a:p>
          <a:p>
            <a:pPr lvl="1"/>
            <a:r>
              <a:rPr lang="en-US" altLang="en-US" sz="1700" dirty="0"/>
              <a:t>Consists of 6 basic operations</a:t>
            </a:r>
          </a:p>
          <a:p>
            <a:pPr lvl="1"/>
            <a:endParaRPr lang="en-US" altLang="en-US" dirty="0"/>
          </a:p>
          <a:p>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Relational Algebra</a:t>
            </a:r>
          </a:p>
        </p:txBody>
      </p:sp>
      <p:sp>
        <p:nvSpPr>
          <p:cNvPr id="7170" name="Rectangle 3"/>
          <p:cNvSpPr>
            <a:spLocks noGrp="1" noChangeArrowheads="1"/>
          </p:cNvSpPr>
          <p:nvPr>
            <p:ph type="body" idx="1"/>
          </p:nvPr>
        </p:nvSpPr>
        <p:spPr>
          <a:xfrm>
            <a:off x="768350" y="1077913"/>
            <a:ext cx="7558903" cy="4876800"/>
          </a:xfrm>
        </p:spPr>
        <p:txBody>
          <a:bodyPr/>
          <a:lstStyle/>
          <a:p>
            <a:r>
              <a:rPr lang="en-US" altLang="en-US" sz="1700" dirty="0"/>
              <a:t>A  procedural language consisting  of a set of operations that take one or two relations as input and produce a new relation as their result. </a:t>
            </a:r>
          </a:p>
          <a:p>
            <a:r>
              <a:rPr lang="en-US" altLang="en-US" sz="1700" dirty="0"/>
              <a:t>Six basic operators</a:t>
            </a:r>
          </a:p>
          <a:p>
            <a:pPr lvl="1"/>
            <a:r>
              <a:rPr lang="en-US" altLang="en-US" sz="1700" dirty="0"/>
              <a:t>select: </a:t>
            </a:r>
            <a:r>
              <a:rPr kumimoji="0" lang="en-US" altLang="en-US" sz="1700" dirty="0">
                <a:sym typeface="Symbol" panose="05050102010706020507" pitchFamily="18" charset="2"/>
              </a:rPr>
              <a:t></a:t>
            </a:r>
            <a:endParaRPr lang="en-US" altLang="en-US" sz="1700" dirty="0"/>
          </a:p>
          <a:p>
            <a:pPr lvl="1"/>
            <a:r>
              <a:rPr lang="en-US" altLang="en-US" sz="1700" dirty="0"/>
              <a:t>project: </a:t>
            </a:r>
            <a:r>
              <a:rPr lang="en-US" altLang="en-US" sz="1700" dirty="0">
                <a:sym typeface="Symbol" panose="05050102010706020507" pitchFamily="18" charset="2"/>
              </a:rPr>
              <a:t></a:t>
            </a:r>
            <a:endParaRPr lang="en-US" altLang="en-US" sz="1700" dirty="0"/>
          </a:p>
          <a:p>
            <a:pPr lvl="1"/>
            <a:r>
              <a:rPr lang="en-US" altLang="en-US" sz="1700" dirty="0"/>
              <a:t>union: </a:t>
            </a:r>
            <a:r>
              <a:rPr lang="en-US" altLang="en-US" sz="1700" dirty="0">
                <a:sym typeface="Symbol" panose="05050102010706020507" pitchFamily="18" charset="2"/>
              </a:rPr>
              <a:t></a:t>
            </a:r>
            <a:endParaRPr lang="en-US" altLang="en-US" sz="1700" dirty="0"/>
          </a:p>
          <a:p>
            <a:pPr lvl="1"/>
            <a:r>
              <a:rPr lang="en-US" altLang="en-US" sz="1700" dirty="0"/>
              <a:t>set difference: </a:t>
            </a:r>
            <a:r>
              <a:rPr lang="en-US" altLang="en-US" sz="1700" i="1" dirty="0"/>
              <a:t>–</a:t>
            </a:r>
            <a:r>
              <a:rPr lang="en-US" altLang="en-US" sz="1700" dirty="0"/>
              <a:t> </a:t>
            </a:r>
          </a:p>
          <a:p>
            <a:pPr lvl="1"/>
            <a:r>
              <a:rPr lang="en-US" altLang="en-US" sz="1700" dirty="0"/>
              <a:t>Cartesian product: x</a:t>
            </a:r>
          </a:p>
          <a:p>
            <a:pPr lvl="1"/>
            <a:r>
              <a:rPr lang="en-US" altLang="en-US" sz="1700" dirty="0"/>
              <a:t>rename: </a:t>
            </a:r>
            <a:r>
              <a:rPr lang="en-US" altLang="en-US" sz="1700" i="1" dirty="0">
                <a:sym typeface="Symbol" panose="05050102010706020507" pitchFamily="18" charset="2"/>
              </a:rPr>
              <a:t></a:t>
            </a:r>
          </a:p>
          <a:p>
            <a:pPr lvl="1"/>
            <a:endParaRPr lang="en-US" altLang="en-US" sz="2000" i="1"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en-US" altLang="en-US" sz="2800" dirty="0"/>
              <a:t>Select Operation</a:t>
            </a:r>
          </a:p>
        </p:txBody>
      </p:sp>
      <p:sp>
        <p:nvSpPr>
          <p:cNvPr id="8194" name="Rectangle 3"/>
          <p:cNvSpPr>
            <a:spLocks noGrp="1" noChangeArrowheads="1"/>
          </p:cNvSpPr>
          <p:nvPr>
            <p:ph type="body" idx="1"/>
          </p:nvPr>
        </p:nvSpPr>
        <p:spPr>
          <a:xfrm>
            <a:off x="768350" y="1173574"/>
            <a:ext cx="7612170" cy="3350300"/>
          </a:xfrm>
        </p:spPr>
        <p:txBody>
          <a:bodyPr/>
          <a:lstStyle/>
          <a:p>
            <a:pPr>
              <a:lnSpc>
                <a:spcPct val="90000"/>
              </a:lnSpc>
              <a:tabLst>
                <a:tab pos="1658938" algn="l"/>
                <a:tab pos="3149600" algn="ctr"/>
                <a:tab pos="3425825" algn="l"/>
              </a:tabLst>
            </a:pPr>
            <a:r>
              <a:rPr lang="en-US" altLang="en-US" sz="1700" dirty="0"/>
              <a:t>The  </a:t>
            </a:r>
            <a:r>
              <a:rPr lang="en-US" altLang="en-US" sz="1700" b="1" dirty="0"/>
              <a:t>selec</a:t>
            </a:r>
            <a:r>
              <a:rPr lang="en-US" altLang="en-US" sz="1700" dirty="0"/>
              <a:t>t operation selects tuples that satisfy a given predicate.</a:t>
            </a:r>
          </a:p>
          <a:p>
            <a:pPr>
              <a:lnSpc>
                <a:spcPct val="90000"/>
              </a:lnSpc>
              <a:tabLst>
                <a:tab pos="1658938" algn="l"/>
                <a:tab pos="3149600" algn="ctr"/>
                <a:tab pos="3425825" algn="l"/>
              </a:tabLst>
            </a:pPr>
            <a:r>
              <a:rPr lang="en-US" altLang="en-US" sz="1700" dirty="0"/>
              <a:t>Notation: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p </a:t>
            </a:r>
            <a:r>
              <a:rPr lang="en-US" altLang="en-US" sz="1700" dirty="0">
                <a:sym typeface="Symbol" panose="05050102010706020507" pitchFamily="18" charset="2"/>
              </a:rPr>
              <a:t>(</a:t>
            </a:r>
            <a:r>
              <a:rPr lang="en-US" altLang="en-US" sz="1700" i="1" dirty="0">
                <a:sym typeface="Symbol" panose="05050102010706020507" pitchFamily="18" charset="2"/>
              </a:rPr>
              <a:t>r</a:t>
            </a:r>
            <a:r>
              <a:rPr lang="en-US" altLang="en-US" sz="1700" dirty="0">
                <a:sym typeface="Symbol" panose="05050102010706020507" pitchFamily="18" charset="2"/>
              </a:rPr>
              <a:t>)</a:t>
            </a:r>
          </a:p>
          <a:p>
            <a:pPr>
              <a:lnSpc>
                <a:spcPct val="90000"/>
              </a:lnSpc>
              <a:tabLst>
                <a:tab pos="1658938" algn="l"/>
                <a:tab pos="3149600" algn="ctr"/>
                <a:tab pos="3425825" algn="l"/>
              </a:tabLst>
            </a:pPr>
            <a:r>
              <a:rPr lang="en-US" altLang="en-US" sz="1700" i="1" dirty="0">
                <a:sym typeface="Symbol" panose="05050102010706020507" pitchFamily="18" charset="2"/>
              </a:rPr>
              <a:t>p</a:t>
            </a:r>
            <a:r>
              <a:rPr lang="en-US" altLang="en-US" sz="1700" dirty="0">
                <a:sym typeface="Symbol" panose="05050102010706020507" pitchFamily="18" charset="2"/>
              </a:rPr>
              <a:t> is called the </a:t>
            </a:r>
            <a:r>
              <a:rPr lang="en-US" altLang="en-US" sz="1700" b="1" dirty="0">
                <a:solidFill>
                  <a:srgbClr val="002060"/>
                </a:solidFill>
                <a:sym typeface="Symbol" panose="05050102010706020507" pitchFamily="18" charset="2"/>
              </a:rPr>
              <a:t>selection predicate</a:t>
            </a:r>
          </a:p>
          <a:p>
            <a:pPr>
              <a:lnSpc>
                <a:spcPct val="90000"/>
              </a:lnSpc>
              <a:tabLst>
                <a:tab pos="1658938" algn="l"/>
                <a:tab pos="3149600" algn="ctr"/>
                <a:tab pos="3425825" algn="l"/>
              </a:tabLst>
            </a:pPr>
            <a:r>
              <a:rPr lang="en-US" altLang="en-US" sz="1700" dirty="0">
                <a:sym typeface="Symbol" panose="05050102010706020507" pitchFamily="18" charset="2"/>
              </a:rPr>
              <a:t>Example: select those tuples of the </a:t>
            </a:r>
            <a:r>
              <a:rPr lang="en-US" altLang="en-US" sz="1700" i="1" dirty="0">
                <a:sym typeface="Symbol" panose="05050102010706020507" pitchFamily="18" charset="2"/>
              </a:rPr>
              <a:t>instructor</a:t>
            </a:r>
            <a:r>
              <a:rPr lang="en-US" altLang="en-US" sz="1700" dirty="0">
                <a:sym typeface="Symbol" panose="05050102010706020507" pitchFamily="18" charset="2"/>
              </a:rPr>
              <a:t>  relation where the instructor is in the “Physics” department.</a:t>
            </a:r>
          </a:p>
          <a:p>
            <a:pPr lvl="1">
              <a:lnSpc>
                <a:spcPct val="90000"/>
              </a:lnSpc>
              <a:tabLst>
                <a:tab pos="1658938" algn="l"/>
                <a:tab pos="3149600" algn="ctr"/>
                <a:tab pos="3425825" algn="l"/>
              </a:tabLst>
            </a:pPr>
            <a:r>
              <a:rPr lang="en-US" altLang="en-US" sz="1700" dirty="0">
                <a:sym typeface="Symbol" panose="05050102010706020507" pitchFamily="18" charset="2"/>
              </a:rPr>
              <a:t>Query</a:t>
            </a:r>
          </a:p>
          <a:p>
            <a:pPr marL="457200" lvl="1" indent="0">
              <a:lnSpc>
                <a:spcPct val="90000"/>
              </a:lnSpc>
              <a:buNone/>
              <a:tabLst>
                <a:tab pos="1658938" algn="l"/>
                <a:tab pos="3149600" algn="ctr"/>
                <a:tab pos="3425825" algn="l"/>
              </a:tabLst>
            </a:pPr>
            <a:r>
              <a:rPr lang="en-US" altLang="en-US" sz="800" dirty="0">
                <a:sym typeface="Symbol" panose="05050102010706020507" pitchFamily="18" charset="2"/>
              </a:rPr>
              <a:t> </a:t>
            </a:r>
            <a:r>
              <a:rPr lang="en-US" altLang="en-US" sz="1700" dirty="0">
                <a:sym typeface="Symbol" panose="05050102010706020507" pitchFamily="18" charset="2"/>
              </a:rPr>
              <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900" i="1" dirty="0">
                <a:sym typeface="Symbol" panose="05050102010706020507" pitchFamily="18" charset="2"/>
              </a:rPr>
              <a:t></a:t>
            </a:r>
            <a:r>
              <a:rPr lang="en-US" altLang="en-US" sz="1900" dirty="0">
                <a:sym typeface="Symbol" panose="05050102010706020507" pitchFamily="18" charset="2"/>
              </a:rPr>
              <a:t> </a:t>
            </a:r>
            <a:r>
              <a:rPr lang="en-US" altLang="en-US" sz="1900" i="1" baseline="-25000" dirty="0">
                <a:sym typeface="Symbol" panose="05050102010706020507" pitchFamily="18" charset="2"/>
              </a:rPr>
              <a:t>dept_name=</a:t>
            </a:r>
            <a:r>
              <a:rPr lang="ja-JP" altLang="en-US" sz="1900" i="1" baseline="-25000" dirty="0">
                <a:sym typeface="Symbol" panose="05050102010706020507" pitchFamily="18" charset="2"/>
              </a:rPr>
              <a:t>“</a:t>
            </a:r>
            <a:r>
              <a:rPr lang="en-US" altLang="ja-JP" sz="1900" i="1" baseline="-25000" dirty="0">
                <a:sym typeface="Symbol" panose="05050102010706020507" pitchFamily="18" charset="2"/>
              </a:rPr>
              <a:t>Physics” </a:t>
            </a:r>
            <a:r>
              <a:rPr lang="en-US" altLang="ja-JP" sz="1700" dirty="0">
                <a:sym typeface="Symbol" panose="05050102010706020507" pitchFamily="18" charset="2"/>
              </a:rPr>
              <a:t>(</a:t>
            </a:r>
            <a:r>
              <a:rPr lang="en-US" altLang="ja-JP" sz="1700" i="1" dirty="0">
                <a:sym typeface="Symbol" panose="05050102010706020507" pitchFamily="18" charset="2"/>
              </a:rPr>
              <a:t>instructor</a:t>
            </a:r>
            <a:r>
              <a:rPr lang="en-US" altLang="ja-JP" sz="1700" dirty="0">
                <a:sym typeface="Symbol" panose="05050102010706020507" pitchFamily="18" charset="2"/>
              </a:rPr>
              <a:t>)</a:t>
            </a:r>
          </a:p>
          <a:p>
            <a:pPr lvl="1">
              <a:lnSpc>
                <a:spcPct val="90000"/>
              </a:lnSpc>
              <a:buNone/>
              <a:tabLst>
                <a:tab pos="1658938" algn="l"/>
                <a:tab pos="3149600" algn="ctr"/>
                <a:tab pos="3425825" algn="l"/>
              </a:tabLst>
            </a:pPr>
            <a:r>
              <a:rPr lang="en-US" altLang="en-US" sz="800" dirty="0">
                <a:sym typeface="Symbol" panose="05050102010706020507" pitchFamily="18" charset="2"/>
              </a:rPr>
              <a:t> </a:t>
            </a:r>
          </a:p>
          <a:p>
            <a:pPr lvl="1">
              <a:lnSpc>
                <a:spcPct val="90000"/>
              </a:lnSpc>
              <a:tabLst>
                <a:tab pos="1658938" algn="l"/>
                <a:tab pos="3149600" algn="ctr"/>
                <a:tab pos="3425825" algn="l"/>
              </a:tabLst>
            </a:pPr>
            <a:r>
              <a:rPr lang="en-US" altLang="en-US" sz="1700" dirty="0">
                <a:sym typeface="Symbol" panose="05050102010706020507" pitchFamily="18" charset="2"/>
              </a:rPr>
              <a:t>Result</a:t>
            </a:r>
          </a:p>
        </p:txBody>
      </p:sp>
      <p:pic>
        <p:nvPicPr>
          <p:cNvPr id="3" name="Graphic 2">
            <a:extLst>
              <a:ext uri="{FF2B5EF4-FFF2-40B4-BE49-F238E27FC236}">
                <a16:creationId xmlns:a16="http://schemas.microsoft.com/office/drawing/2014/main" id="{D0EA259D-031F-4208-A7F2-A15AE51650DB}"/>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b="31858"/>
          <a:stretch/>
        </p:blipFill>
        <p:spPr>
          <a:xfrm>
            <a:off x="1735698" y="4125699"/>
            <a:ext cx="4932139" cy="122313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en-US" altLang="en-US" sz="2800" dirty="0"/>
              <a:t>Select Operation (Cont.)</a:t>
            </a:r>
          </a:p>
        </p:txBody>
      </p:sp>
      <p:sp>
        <p:nvSpPr>
          <p:cNvPr id="8194" name="Rectangle 3"/>
          <p:cNvSpPr>
            <a:spLocks noGrp="1" noChangeArrowheads="1"/>
          </p:cNvSpPr>
          <p:nvPr>
            <p:ph type="body" idx="1"/>
          </p:nvPr>
        </p:nvSpPr>
        <p:spPr>
          <a:xfrm>
            <a:off x="768350" y="1138873"/>
            <a:ext cx="7656559" cy="4810823"/>
          </a:xfrm>
        </p:spPr>
        <p:txBody>
          <a:bodyPr/>
          <a:lstStyle/>
          <a:p>
            <a:pPr>
              <a:lnSpc>
                <a:spcPct val="90000"/>
              </a:lnSpc>
              <a:tabLst>
                <a:tab pos="1658938" algn="l"/>
                <a:tab pos="3149600" algn="ctr"/>
                <a:tab pos="3425825" algn="l"/>
              </a:tabLst>
            </a:pPr>
            <a:r>
              <a:rPr lang="en-US" altLang="en-US" sz="1700" dirty="0">
                <a:sym typeface="Symbol" panose="05050102010706020507" pitchFamily="18" charset="2"/>
              </a:rPr>
              <a:t>We allow comparisons using </a:t>
            </a:r>
          </a:p>
          <a:p>
            <a:pPr>
              <a:lnSpc>
                <a:spcPct val="90000"/>
              </a:lnSpc>
              <a:buNone/>
              <a:tabLst>
                <a:tab pos="1658938" algn="l"/>
                <a:tab pos="3149600" algn="ctr"/>
                <a:tab pos="3425825" algn="l"/>
              </a:tabLst>
            </a:pPr>
            <a:r>
              <a:rPr lang="en-US" altLang="en-US" sz="1700" dirty="0">
                <a:sym typeface="Symbol" panose="05050102010706020507" pitchFamily="18" charset="2"/>
              </a:rPr>
              <a:t>                     =, , &gt;, . &lt;. </a:t>
            </a:r>
          </a:p>
          <a:p>
            <a:pPr>
              <a:lnSpc>
                <a:spcPct val="90000"/>
              </a:lnSpc>
              <a:buNone/>
              <a:tabLst>
                <a:tab pos="1658938" algn="l"/>
                <a:tab pos="3149600" algn="ctr"/>
                <a:tab pos="3425825" algn="l"/>
              </a:tabLst>
            </a:pPr>
            <a:r>
              <a:rPr lang="en-US" altLang="en-US" sz="1700" dirty="0">
                <a:sym typeface="Symbol" panose="05050102010706020507" pitchFamily="18" charset="2"/>
              </a:rPr>
              <a:t>       in the selection predicate. </a:t>
            </a:r>
          </a:p>
          <a:p>
            <a:pPr>
              <a:lnSpc>
                <a:spcPct val="90000"/>
              </a:lnSpc>
              <a:tabLst>
                <a:tab pos="1658938" algn="l"/>
                <a:tab pos="3149600" algn="ctr"/>
                <a:tab pos="3425825" algn="l"/>
              </a:tabLst>
            </a:pPr>
            <a:r>
              <a:rPr lang="en-US" altLang="en-US" sz="1700" dirty="0">
                <a:sym typeface="Symbol" panose="05050102010706020507" pitchFamily="18" charset="2"/>
              </a:rPr>
              <a:t>We can combine several predicates into a larger predicate by using the connectives:</a:t>
            </a:r>
          </a:p>
          <a:p>
            <a:pPr>
              <a:lnSpc>
                <a:spcPct val="90000"/>
              </a:lnSpc>
              <a:buNone/>
              <a:tabLst>
                <a:tab pos="1658938" algn="l"/>
                <a:tab pos="3149600" algn="ctr"/>
                <a:tab pos="3425825" algn="l"/>
              </a:tabLst>
            </a:pPr>
            <a:r>
              <a:rPr lang="en-US" altLang="en-US" sz="1700" dirty="0">
                <a:sym typeface="Symbol" panose="05050102010706020507" pitchFamily="18" charset="2"/>
              </a:rPr>
              <a:t>                    (</a:t>
            </a:r>
            <a:r>
              <a:rPr lang="en-US" altLang="en-US" sz="1700" b="1" dirty="0">
                <a:sym typeface="Symbol" panose="05050102010706020507" pitchFamily="18" charset="2"/>
              </a:rPr>
              <a:t>and</a:t>
            </a:r>
            <a:r>
              <a:rPr lang="en-US" altLang="en-US" sz="1700" dirty="0">
                <a:sym typeface="Symbol" panose="05050102010706020507" pitchFamily="18" charset="2"/>
              </a:rPr>
              <a:t>),  (</a:t>
            </a:r>
            <a:r>
              <a:rPr lang="en-US" altLang="en-US" sz="1700" b="1" dirty="0">
                <a:sym typeface="Symbol" panose="05050102010706020507" pitchFamily="18" charset="2"/>
              </a:rPr>
              <a:t>or</a:t>
            </a:r>
            <a:r>
              <a:rPr lang="en-US" altLang="en-US" sz="1700" dirty="0">
                <a:sym typeface="Symbol" panose="05050102010706020507" pitchFamily="18" charset="2"/>
              </a:rPr>
              <a:t>),  (</a:t>
            </a:r>
            <a:r>
              <a:rPr lang="en-US" altLang="en-US" sz="1700" b="1" dirty="0">
                <a:sym typeface="Symbol" panose="05050102010706020507" pitchFamily="18" charset="2"/>
              </a:rPr>
              <a:t>not</a:t>
            </a:r>
            <a:r>
              <a:rPr lang="en-US" altLang="en-US" sz="1700" dirty="0">
                <a:sym typeface="Symbol" panose="05050102010706020507" pitchFamily="18" charset="2"/>
              </a:rPr>
              <a:t>)</a:t>
            </a:r>
          </a:p>
          <a:p>
            <a:pPr>
              <a:lnSpc>
                <a:spcPct val="90000"/>
              </a:lnSpc>
              <a:tabLst>
                <a:tab pos="1658938" algn="l"/>
                <a:tab pos="3149600" algn="ctr"/>
                <a:tab pos="3425825" algn="l"/>
              </a:tabLst>
            </a:pPr>
            <a:r>
              <a:rPr lang="en-US" altLang="en-US" sz="1700" dirty="0">
                <a:sym typeface="Symbol" panose="05050102010706020507" pitchFamily="18" charset="2"/>
              </a:rPr>
              <a:t>Example: Find the instructors in Physics with a salary greater $90,000, we write:</a:t>
            </a:r>
          </a:p>
          <a:p>
            <a:pPr marL="0" indent="0">
              <a:lnSpc>
                <a:spcPct val="90000"/>
              </a:lnSpc>
              <a:buNone/>
              <a:tabLst>
                <a:tab pos="1658938" algn="l"/>
                <a:tab pos="3149600" algn="ctr"/>
                <a:tab pos="3425825" algn="l"/>
              </a:tabLst>
            </a:pPr>
            <a:r>
              <a:rPr lang="en-US" altLang="en-US" sz="800" dirty="0">
                <a:sym typeface="Symbol" panose="05050102010706020507" pitchFamily="18" charset="2"/>
              </a:rPr>
              <a:t> </a:t>
            </a:r>
            <a:r>
              <a:rPr lang="en-US" altLang="en-US" sz="1700" dirty="0">
                <a:sym typeface="Symbol" panose="05050102010706020507" pitchFamily="18" charset="2"/>
              </a:rPr>
              <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dept_name=</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en-US" dirty="0">
                <a:sym typeface="Symbol" panose="05050102010706020507" pitchFamily="18" charset="2"/>
              </a:rPr>
              <a:t></a:t>
            </a:r>
            <a:r>
              <a:rPr lang="ja-JP" altLang="en-US" i="1" baseline="-25000" dirty="0">
                <a:sym typeface="Symbol" panose="05050102010706020507" pitchFamily="18" charset="2"/>
              </a:rPr>
              <a:t> </a:t>
            </a:r>
            <a:r>
              <a:rPr lang="en-US" altLang="ja-JP" i="1" baseline="-25000" dirty="0">
                <a:sym typeface="Symbol" panose="05050102010706020507" pitchFamily="18" charset="2"/>
              </a:rPr>
              <a:t>salary </a:t>
            </a:r>
            <a:r>
              <a:rPr lang="en-US" altLang="ja-JP" sz="1700" i="1" baseline="-25000" dirty="0">
                <a:sym typeface="Symbol" panose="05050102010706020507" pitchFamily="18" charset="2"/>
              </a:rPr>
              <a:t>&gt;</a:t>
            </a:r>
            <a:r>
              <a:rPr lang="en-US" altLang="ja-JP" sz="1700" i="1" dirty="0">
                <a:sym typeface="Symbol" panose="05050102010706020507" pitchFamily="18" charset="2"/>
              </a:rPr>
              <a:t> </a:t>
            </a:r>
            <a:r>
              <a:rPr lang="en-US" altLang="ja-JP" sz="1700" i="1" baseline="-25000" dirty="0">
                <a:sym typeface="Symbol" panose="05050102010706020507" pitchFamily="18" charset="2"/>
              </a:rPr>
              <a:t>90,000</a:t>
            </a:r>
            <a:r>
              <a:rPr lang="en-US" altLang="ja-JP" sz="1700" i="1"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instructor</a:t>
            </a:r>
            <a:r>
              <a:rPr lang="en-US" altLang="ja-JP" sz="1700" dirty="0">
                <a:sym typeface="Symbol" panose="05050102010706020507" pitchFamily="18" charset="2"/>
              </a:rPr>
              <a:t>)</a:t>
            </a:r>
          </a:p>
          <a:p>
            <a:pPr marL="0" indent="0">
              <a:lnSpc>
                <a:spcPct val="90000"/>
              </a:lnSpc>
              <a:buNone/>
              <a:tabLst>
                <a:tab pos="1658938" algn="l"/>
                <a:tab pos="3149600" algn="ctr"/>
                <a:tab pos="3425825" algn="l"/>
              </a:tabLst>
            </a:pPr>
            <a:r>
              <a:rPr lang="en-US" altLang="ja-JP" sz="800" i="1" dirty="0">
                <a:sym typeface="Symbol" panose="05050102010706020507" pitchFamily="18" charset="2"/>
              </a:rPr>
              <a:t> </a:t>
            </a:r>
          </a:p>
          <a:p>
            <a:pPr>
              <a:lnSpc>
                <a:spcPct val="90000"/>
              </a:lnSpc>
              <a:tabLst>
                <a:tab pos="1658938" algn="l"/>
                <a:tab pos="3149600" algn="ctr"/>
                <a:tab pos="3425825" algn="l"/>
              </a:tabLst>
            </a:pPr>
            <a:r>
              <a:rPr lang="en-US" altLang="en-US" sz="1700" dirty="0">
                <a:sym typeface="Symbol" panose="05050102010706020507" pitchFamily="18" charset="2"/>
              </a:rPr>
              <a:t>The select predicate may  include comparisons between two attributes. </a:t>
            </a:r>
          </a:p>
          <a:p>
            <a:pPr lvl="1">
              <a:lnSpc>
                <a:spcPct val="90000"/>
              </a:lnSpc>
              <a:tabLst>
                <a:tab pos="1658938" algn="l"/>
                <a:tab pos="3149600" algn="ctr"/>
                <a:tab pos="3425825" algn="l"/>
              </a:tabLst>
            </a:pPr>
            <a:r>
              <a:rPr lang="en-US" altLang="en-US" sz="1700" dirty="0">
                <a:sym typeface="Symbol" panose="05050102010706020507" pitchFamily="18" charset="2"/>
              </a:rPr>
              <a:t>Example, find all departments whose name is the same as their building name:</a:t>
            </a:r>
          </a:p>
          <a:p>
            <a:pPr lvl="1">
              <a:lnSpc>
                <a:spcPct val="90000"/>
              </a:lnSpc>
              <a:tabLst>
                <a:tab pos="1658938" algn="l"/>
                <a:tab pos="3149600" algn="ctr"/>
                <a:tab pos="3425825" algn="l"/>
              </a:tabLst>
            </a:pPr>
            <a:r>
              <a:rPr lang="en-US" altLang="en-US" sz="1700" i="1" dirty="0">
                <a:sym typeface="Symbol" panose="05050102010706020507" pitchFamily="18" charset="2"/>
              </a:rPr>
              <a:t> </a:t>
            </a:r>
            <a:r>
              <a:rPr lang="en-US" altLang="en-US" sz="1900" i="1" dirty="0">
                <a:sym typeface="Symbol" panose="05050102010706020507" pitchFamily="18" charset="2"/>
              </a:rPr>
              <a:t></a:t>
            </a:r>
            <a:r>
              <a:rPr lang="en-US" altLang="en-US" sz="1900" dirty="0">
                <a:sym typeface="Symbol" panose="05050102010706020507" pitchFamily="18" charset="2"/>
              </a:rPr>
              <a:t> </a:t>
            </a:r>
            <a:r>
              <a:rPr lang="en-US" altLang="en-US" sz="1900" i="1" baseline="-25000" dirty="0">
                <a:sym typeface="Symbol" panose="05050102010706020507" pitchFamily="18" charset="2"/>
              </a:rPr>
              <a:t>dept_name=</a:t>
            </a:r>
            <a:r>
              <a:rPr lang="en-US" altLang="ja-JP" sz="1900" i="1" baseline="-25000" dirty="0">
                <a:sym typeface="Symbol" panose="05050102010706020507" pitchFamily="18" charset="2"/>
              </a:rPr>
              <a:t>building</a:t>
            </a:r>
            <a:r>
              <a:rPr lang="en-US" altLang="ja-JP" sz="1900" i="1" dirty="0">
                <a:sym typeface="Symbol" panose="05050102010706020507" pitchFamily="18" charset="2"/>
              </a:rPr>
              <a:t> </a:t>
            </a:r>
            <a:r>
              <a:rPr lang="ja-JP" altLang="en-US" sz="1900" i="1" baseline="-25000"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department</a:t>
            </a:r>
            <a:r>
              <a:rPr lang="en-US" altLang="ja-JP" sz="1700" dirty="0">
                <a:sym typeface="Symbol" panose="05050102010706020507" pitchFamily="18" charset="2"/>
              </a:rPr>
              <a:t>)</a:t>
            </a:r>
            <a:endParaRPr lang="en-US" altLang="en-US" sz="1700" dirty="0">
              <a:sym typeface="Symbol" panose="05050102010706020507" pitchFamily="18" charset="2"/>
            </a:endParaRPr>
          </a:p>
        </p:txBody>
      </p:sp>
    </p:spTree>
    <p:extLst>
      <p:ext uri="{BB962C8B-B14F-4D97-AF65-F5344CB8AC3E}">
        <p14:creationId xmlns:p14="http://schemas.microsoft.com/office/powerpoint/2010/main" val="21508315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r>
              <a:rPr lang="en-US" altLang="en-US" sz="2800" dirty="0"/>
              <a:t>Project Operation</a:t>
            </a:r>
          </a:p>
        </p:txBody>
      </p:sp>
      <p:sp>
        <p:nvSpPr>
          <p:cNvPr id="1026" name="Rectangle 3"/>
          <p:cNvSpPr>
            <a:spLocks noGrp="1" noChangeArrowheads="1"/>
          </p:cNvSpPr>
          <p:nvPr>
            <p:ph type="body" idx="1"/>
          </p:nvPr>
        </p:nvSpPr>
        <p:spPr>
          <a:xfrm>
            <a:off x="768350" y="1077913"/>
            <a:ext cx="7683192" cy="4876800"/>
          </a:xfrm>
        </p:spPr>
        <p:txBody>
          <a:bodyPr/>
          <a:lstStyle/>
          <a:p>
            <a:pPr>
              <a:lnSpc>
                <a:spcPct val="120000"/>
              </a:lnSpc>
              <a:tabLst>
                <a:tab pos="3257550" algn="ctr"/>
              </a:tabLst>
            </a:pPr>
            <a:r>
              <a:rPr lang="en-US" altLang="en-US" sz="1700" dirty="0"/>
              <a:t>A unary operation that returns its argument relation, with certain attributes left out.  </a:t>
            </a:r>
          </a:p>
          <a:p>
            <a:pPr>
              <a:lnSpc>
                <a:spcPct val="120000"/>
              </a:lnSpc>
              <a:tabLst>
                <a:tab pos="3257550" algn="ctr"/>
              </a:tabLst>
            </a:pPr>
            <a:r>
              <a:rPr lang="en-US" altLang="en-US" sz="1700" dirty="0"/>
              <a:t>Notation:</a:t>
            </a:r>
          </a:p>
          <a:p>
            <a:pPr>
              <a:lnSpc>
                <a:spcPct val="120000"/>
              </a:lnSpc>
              <a:buNone/>
              <a:tabLst>
                <a:tab pos="3257550" algn="ctr"/>
              </a:tabLst>
            </a:pPr>
            <a:r>
              <a:rPr lang="en-US" altLang="en-US" dirty="0">
                <a:sym typeface="Symbol" panose="05050102010706020507" pitchFamily="18" charset="2"/>
              </a:rPr>
              <a:t>                   </a:t>
            </a:r>
            <a:r>
              <a:rPr lang="en-US" altLang="en-US" i="1" baseline="-25000" dirty="0">
                <a:sym typeface="Symbol" panose="05050102010706020507" pitchFamily="18" charset="2"/>
              </a:rPr>
              <a:t>A</a:t>
            </a:r>
            <a:r>
              <a:rPr lang="en-US" altLang="en-US" i="1" baseline="-50000" dirty="0">
                <a:sym typeface="Symbol" panose="05050102010706020507" pitchFamily="18" charset="2"/>
              </a:rPr>
              <a:t>1</a:t>
            </a:r>
            <a:r>
              <a:rPr lang="en-US" altLang="en-US" i="1" baseline="-25000" dirty="0">
                <a:sym typeface="Symbol" panose="05050102010706020507" pitchFamily="18" charset="2"/>
              </a:rPr>
              <a:t>,A</a:t>
            </a:r>
            <a:r>
              <a:rPr lang="en-US" altLang="en-US" i="1" baseline="-50000" dirty="0">
                <a:sym typeface="Symbol" panose="05050102010706020507" pitchFamily="18" charset="2"/>
              </a:rPr>
              <a:t>2</a:t>
            </a:r>
            <a:r>
              <a:rPr lang="en-US" altLang="en-US" i="1" baseline="-25000" dirty="0">
                <a:sym typeface="Symbol" panose="05050102010706020507" pitchFamily="18" charset="2"/>
              </a:rPr>
              <a:t>,A</a:t>
            </a:r>
            <a:r>
              <a:rPr lang="en-US" altLang="en-US" i="1" baseline="-50000" dirty="0">
                <a:sym typeface="Symbol" panose="05050102010706020507" pitchFamily="18" charset="2"/>
              </a:rPr>
              <a:t>3</a:t>
            </a:r>
            <a:r>
              <a:rPr lang="en-US" altLang="en-US" i="1" baseline="-25000" dirty="0">
                <a:sym typeface="Symbol" panose="05050102010706020507" pitchFamily="18" charset="2"/>
              </a:rPr>
              <a:t> ….</a:t>
            </a:r>
            <a:r>
              <a:rPr lang="en-US" altLang="en-US" i="1" baseline="-25000" dirty="0" err="1">
                <a:sym typeface="Symbol" panose="05050102010706020507" pitchFamily="18" charset="2"/>
              </a:rPr>
              <a:t>A</a:t>
            </a:r>
            <a:r>
              <a:rPr lang="en-US" altLang="en-US" i="1" baseline="-50000" dirty="0" err="1">
                <a:sym typeface="Symbol" panose="05050102010706020507" pitchFamily="18" charset="2"/>
              </a:rPr>
              <a:t>k</a:t>
            </a:r>
            <a:r>
              <a:rPr lang="en-US" altLang="en-US" i="1" baseline="-25000" dirty="0">
                <a:sym typeface="Symbol" panose="05050102010706020507" pitchFamily="18" charset="2"/>
              </a:rPr>
              <a:t> </a:t>
            </a:r>
            <a:r>
              <a:rPr lang="en-US" altLang="en-US" baseline="-25000" dirty="0"/>
              <a:t> </a:t>
            </a:r>
            <a:r>
              <a:rPr lang="en-US" altLang="en-US" sz="1700" dirty="0"/>
              <a:t>(</a:t>
            </a:r>
            <a:r>
              <a:rPr lang="en-US" altLang="en-US" sz="1700" i="1" dirty="0"/>
              <a:t>r</a:t>
            </a:r>
            <a:r>
              <a:rPr lang="en-US" altLang="ja-JP" sz="1700" dirty="0">
                <a:sym typeface="Symbol" panose="05050102010706020507" pitchFamily="18" charset="2"/>
              </a:rPr>
              <a:t>)</a:t>
            </a:r>
            <a:r>
              <a:rPr lang="en-US" altLang="en-US" sz="1700" dirty="0">
                <a:solidFill>
                  <a:schemeClr val="bg1">
                    <a:lumMod val="50000"/>
                  </a:schemeClr>
                </a:solidFill>
              </a:rPr>
              <a:t>	</a:t>
            </a:r>
          </a:p>
          <a:p>
            <a:pPr>
              <a:lnSpc>
                <a:spcPct val="120000"/>
              </a:lnSpc>
              <a:buFont typeface="Monotype Sorts" charset="2"/>
              <a:buNone/>
              <a:tabLst>
                <a:tab pos="3257550" algn="ctr"/>
              </a:tabLst>
            </a:pPr>
            <a:r>
              <a:rPr lang="en-US" altLang="en-US" sz="1700" dirty="0"/>
              <a:t>	where </a:t>
            </a:r>
            <a:r>
              <a:rPr lang="en-US" altLang="en-US" sz="1700" i="1" dirty="0"/>
              <a:t>A</a:t>
            </a:r>
            <a:r>
              <a:rPr lang="en-US" altLang="en-US" sz="1700" i="1" baseline="-25000" dirty="0"/>
              <a:t>1</a:t>
            </a:r>
            <a:r>
              <a:rPr lang="en-US" altLang="en-US" sz="1700" i="1" dirty="0"/>
              <a:t>, A</a:t>
            </a:r>
            <a:r>
              <a:rPr lang="en-US" altLang="en-US" sz="1700" i="1" baseline="-25000" dirty="0"/>
              <a:t>2</a:t>
            </a:r>
            <a:r>
              <a:rPr lang="en-US" altLang="en-US" sz="1700" dirty="0"/>
              <a:t>,  …, </a:t>
            </a:r>
            <a:r>
              <a:rPr lang="en-US" altLang="en-US" i="1" dirty="0" err="1"/>
              <a:t>A</a:t>
            </a:r>
            <a:r>
              <a:rPr lang="en-US" altLang="en-US" i="1" baseline="-25000" dirty="0" err="1"/>
              <a:t>k</a:t>
            </a:r>
            <a:r>
              <a:rPr lang="en-US" altLang="en-US" sz="1700" dirty="0"/>
              <a:t>  are attribute names and </a:t>
            </a:r>
            <a:r>
              <a:rPr lang="en-US" altLang="en-US" sz="1700" i="1" dirty="0"/>
              <a:t>r</a:t>
            </a:r>
            <a:r>
              <a:rPr lang="en-US" altLang="en-US" sz="1700" dirty="0"/>
              <a:t> is a relation name.</a:t>
            </a:r>
          </a:p>
          <a:p>
            <a:pPr>
              <a:tabLst>
                <a:tab pos="3257550" algn="ctr"/>
              </a:tabLst>
            </a:pPr>
            <a:r>
              <a:rPr lang="en-US" altLang="en-US" sz="1700" dirty="0"/>
              <a:t>The result is defined as the relation of </a:t>
            </a:r>
            <a:r>
              <a:rPr lang="en-US" altLang="en-US" sz="1700" i="1" dirty="0"/>
              <a:t>k</a:t>
            </a:r>
            <a:r>
              <a:rPr lang="en-US" altLang="en-US" sz="1700" dirty="0"/>
              <a:t> columns obtained by erasing the columns that are not listed</a:t>
            </a:r>
          </a:p>
          <a:p>
            <a:pPr>
              <a:tabLst>
                <a:tab pos="3257550" algn="ctr"/>
              </a:tabLst>
            </a:pPr>
            <a:r>
              <a:rPr lang="en-US" altLang="en-US" sz="1700" dirty="0"/>
              <a:t>Duplicate rows removed from result, since relations are sets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r>
              <a:rPr lang="en-US" altLang="en-US" sz="2800" dirty="0"/>
              <a:t>Project Operation Example</a:t>
            </a:r>
          </a:p>
        </p:txBody>
      </p:sp>
      <p:sp>
        <p:nvSpPr>
          <p:cNvPr id="1026" name="Rectangle 3"/>
          <p:cNvSpPr>
            <a:spLocks noGrp="1" noChangeArrowheads="1"/>
          </p:cNvSpPr>
          <p:nvPr>
            <p:ph type="body" idx="1"/>
          </p:nvPr>
        </p:nvSpPr>
        <p:spPr>
          <a:xfrm>
            <a:off x="768350" y="1077913"/>
            <a:ext cx="7912353" cy="1567751"/>
          </a:xfrm>
        </p:spPr>
        <p:txBody>
          <a:bodyPr/>
          <a:lstStyle/>
          <a:p>
            <a:pPr>
              <a:tabLst>
                <a:tab pos="3257550" algn="ctr"/>
              </a:tabLst>
            </a:pPr>
            <a:r>
              <a:rPr lang="en-US" altLang="en-US" sz="1700" dirty="0"/>
              <a:t>Example: eliminate the </a:t>
            </a:r>
            <a:r>
              <a:rPr lang="en-US" altLang="en-US" sz="1700" i="1" dirty="0"/>
              <a:t>dept_name</a:t>
            </a:r>
            <a:r>
              <a:rPr lang="en-US" altLang="en-US" sz="1700" dirty="0"/>
              <a:t> attribute of </a:t>
            </a:r>
            <a:r>
              <a:rPr lang="en-US" altLang="en-US" sz="1700" i="1" dirty="0"/>
              <a:t>instructor</a:t>
            </a:r>
          </a:p>
          <a:p>
            <a:pPr>
              <a:tabLst>
                <a:tab pos="3257550" algn="ctr"/>
              </a:tabLst>
            </a:pPr>
            <a:r>
              <a:rPr lang="en-US" altLang="en-US" sz="1700" dirty="0"/>
              <a:t>Query</a:t>
            </a:r>
            <a:r>
              <a:rPr lang="en-US" altLang="en-US" sz="1700" i="1" dirty="0"/>
              <a:t>:</a:t>
            </a:r>
            <a:r>
              <a:rPr lang="en-US" altLang="en-US" sz="1700" dirty="0"/>
              <a:t/>
            </a:r>
            <a:br>
              <a:rPr lang="en-US" altLang="en-US" sz="1700" dirty="0"/>
            </a:br>
            <a:r>
              <a:rPr lang="en-US" altLang="en-US" sz="800" dirty="0"/>
              <a:t> </a:t>
            </a:r>
            <a:r>
              <a:rPr lang="en-US" altLang="en-US" sz="1700" dirty="0"/>
              <a:t/>
            </a:r>
            <a:br>
              <a:rPr lang="en-US" altLang="en-US" sz="1700" dirty="0"/>
            </a:br>
            <a:r>
              <a:rPr lang="en-US" altLang="en-US" sz="1700" dirty="0"/>
              <a:t>         	 </a:t>
            </a:r>
            <a:r>
              <a:rPr lang="en-US" altLang="en-US" dirty="0">
                <a:sym typeface="Symbol" panose="05050102010706020507" pitchFamily="18" charset="2"/>
              </a:rPr>
              <a:t></a:t>
            </a:r>
            <a:r>
              <a:rPr lang="en-US" altLang="en-US" i="1" baseline="-25000" dirty="0"/>
              <a:t>ID, name, salary</a:t>
            </a:r>
            <a:r>
              <a:rPr lang="en-US" altLang="en-US" dirty="0"/>
              <a:t> </a:t>
            </a:r>
            <a:r>
              <a:rPr lang="en-US" altLang="en-US" sz="1700" dirty="0"/>
              <a:t>(</a:t>
            </a:r>
            <a:r>
              <a:rPr lang="en-US" altLang="en-US" sz="1700" i="1" dirty="0"/>
              <a:t>instructor</a:t>
            </a:r>
            <a:r>
              <a:rPr lang="en-US" altLang="en-US" sz="1700" dirty="0"/>
              <a:t>) </a:t>
            </a:r>
          </a:p>
          <a:p>
            <a:pPr>
              <a:tabLst>
                <a:tab pos="3257550" algn="ctr"/>
              </a:tabLst>
            </a:pPr>
            <a:r>
              <a:rPr lang="en-US" altLang="en-US" sz="1700" dirty="0"/>
              <a:t>Result:</a:t>
            </a:r>
            <a:br>
              <a:rPr lang="en-US" altLang="en-US" sz="1700" dirty="0"/>
            </a:br>
            <a:endParaRPr lang="en-US" altLang="en-US" sz="1700" dirty="0"/>
          </a:p>
        </p:txBody>
      </p:sp>
      <p:pic>
        <p:nvPicPr>
          <p:cNvPr id="3" name="Graphic 2">
            <a:extLst>
              <a:ext uri="{FF2B5EF4-FFF2-40B4-BE49-F238E27FC236}">
                <a16:creationId xmlns:a16="http://schemas.microsoft.com/office/drawing/2014/main" id="{78A827ED-B175-4A55-B05F-235A354E778B}"/>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b="9823"/>
          <a:stretch/>
        </p:blipFill>
        <p:spPr>
          <a:xfrm>
            <a:off x="2386431" y="2422578"/>
            <a:ext cx="4216669" cy="374988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Composition of Relational Operations</a:t>
            </a:r>
          </a:p>
        </p:txBody>
      </p:sp>
      <p:sp>
        <p:nvSpPr>
          <p:cNvPr id="7170" name="Rectangle 3"/>
          <p:cNvSpPr>
            <a:spLocks noGrp="1" noChangeArrowheads="1"/>
          </p:cNvSpPr>
          <p:nvPr>
            <p:ph type="body" idx="1"/>
          </p:nvPr>
        </p:nvSpPr>
        <p:spPr>
          <a:xfrm>
            <a:off x="768351" y="1242035"/>
            <a:ext cx="7558786" cy="3720109"/>
          </a:xfrm>
        </p:spPr>
        <p:txBody>
          <a:bodyPr/>
          <a:lstStyle/>
          <a:p>
            <a:r>
              <a:rPr lang="en-US" altLang="en-US" sz="1700" dirty="0"/>
              <a:t>The result of a relational-algebra operation is relation  and therefore of relational-algebra operations can be composed together into a </a:t>
            </a:r>
            <a:r>
              <a:rPr lang="en-US" altLang="en-US" sz="1700" b="1" dirty="0"/>
              <a:t>relational-algebra expression</a:t>
            </a:r>
            <a:r>
              <a:rPr lang="en-US" altLang="en-US" sz="1700" dirty="0"/>
              <a:t>.</a:t>
            </a:r>
          </a:p>
          <a:p>
            <a:r>
              <a:rPr lang="en-US" altLang="en-US" sz="1700" dirty="0"/>
              <a:t>Consider  the query -- Find the names of all instructors in the Physics department.</a:t>
            </a:r>
          </a:p>
          <a:p>
            <a:pPr>
              <a:buNone/>
            </a:pPr>
            <a:r>
              <a:rPr lang="en-US" altLang="ja-JP" sz="800" dirty="0">
                <a:sym typeface="Symbol" panose="05050102010706020507" pitchFamily="18" charset="2"/>
              </a:rPr>
              <a:t> </a:t>
            </a:r>
          </a:p>
          <a:p>
            <a:pPr>
              <a:buNone/>
            </a:pPr>
            <a:r>
              <a:rPr lang="en-US" altLang="en-US" sz="1700" dirty="0">
                <a:sym typeface="Symbol" panose="05050102010706020507" pitchFamily="18" charset="2"/>
              </a:rPr>
              <a:t>             </a:t>
            </a:r>
            <a:r>
              <a:rPr lang="en-US" altLang="en-US" dirty="0">
                <a:sym typeface="Symbol" panose="05050102010706020507" pitchFamily="18" charset="2"/>
              </a:rPr>
              <a:t></a:t>
            </a:r>
            <a:r>
              <a:rPr lang="en-US" altLang="en-US" i="1" baseline="-25000" dirty="0">
                <a:sym typeface="Symbol" panose="05050102010706020507" pitchFamily="18" charset="2"/>
              </a:rPr>
              <a:t>name</a:t>
            </a:r>
            <a:r>
              <a:rPr lang="en-US" altLang="en-US" dirty="0"/>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dept_name</a:t>
            </a:r>
            <a:r>
              <a:rPr lang="en-US" altLang="en-US" i="1" dirty="0">
                <a:sym typeface="Symbol" panose="05050102010706020507" pitchFamily="18" charset="2"/>
              </a:rPr>
              <a:t> </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a:t>
            </a:r>
            <a:r>
              <a:rPr lang="en-US" altLang="ja-JP" i="1" baseline="-25000" dirty="0">
                <a:sym typeface="Symbol" panose="05050102010706020507" pitchFamily="18" charset="2"/>
              </a:rPr>
              <a:t> </a:t>
            </a:r>
            <a:r>
              <a:rPr lang="en-US" altLang="ja-JP" i="1"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instructor</a:t>
            </a:r>
            <a:r>
              <a:rPr lang="en-US" altLang="ja-JP" sz="1700" dirty="0">
                <a:sym typeface="Symbol" panose="05050102010706020507" pitchFamily="18" charset="2"/>
              </a:rPr>
              <a:t>))</a:t>
            </a:r>
          </a:p>
          <a:p>
            <a:pPr>
              <a:buNone/>
            </a:pPr>
            <a:r>
              <a:rPr lang="en-US" altLang="ja-JP" sz="800" dirty="0">
                <a:sym typeface="Symbol" panose="05050102010706020507" pitchFamily="18" charset="2"/>
              </a:rPr>
              <a:t> </a:t>
            </a:r>
          </a:p>
          <a:p>
            <a:pPr>
              <a:lnSpc>
                <a:spcPct val="90000"/>
              </a:lnSpc>
              <a:tabLst>
                <a:tab pos="1658938" algn="l"/>
                <a:tab pos="3149600" algn="ctr"/>
                <a:tab pos="3425825" algn="l"/>
              </a:tabLst>
            </a:pPr>
            <a:r>
              <a:rPr lang="en-US" altLang="en-US" sz="1700" dirty="0">
                <a:sym typeface="Symbol" panose="05050102010706020507" pitchFamily="18" charset="2"/>
              </a:rPr>
              <a:t>Instead of giving the name of a relation as the argument of the projection operation, we give an expression that evaluates to a relation.</a:t>
            </a:r>
          </a:p>
          <a:p>
            <a:pPr>
              <a:lnSpc>
                <a:spcPct val="90000"/>
              </a:lnSpc>
              <a:tabLst>
                <a:tab pos="1658938" algn="l"/>
                <a:tab pos="3149600" algn="ctr"/>
                <a:tab pos="3425825" algn="l"/>
              </a:tabLst>
            </a:pPr>
            <a:endParaRPr lang="en-US" altLang="en-US" dirty="0">
              <a:sym typeface="Symbol" panose="05050102010706020507" pitchFamily="18" charset="2"/>
            </a:endParaRPr>
          </a:p>
          <a:p>
            <a:pPr>
              <a:lnSpc>
                <a:spcPct val="90000"/>
              </a:lnSpc>
              <a:tabLst>
                <a:tab pos="1658938" algn="l"/>
                <a:tab pos="3149600" algn="ctr"/>
                <a:tab pos="3425825" algn="l"/>
              </a:tabLst>
            </a:pPr>
            <a:endParaRPr lang="en-US" altLang="en-US" dirty="0">
              <a:sym typeface="Symbol" panose="05050102010706020507" pitchFamily="18"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r>
              <a:rPr lang="en-US" altLang="en-US" sz="2800" dirty="0"/>
              <a:t>Cartesian-Product Operation</a:t>
            </a:r>
          </a:p>
        </p:txBody>
      </p:sp>
      <p:sp>
        <p:nvSpPr>
          <p:cNvPr id="12290" name="Rectangle 3"/>
          <p:cNvSpPr>
            <a:spLocks noGrp="1" noChangeArrowheads="1"/>
          </p:cNvSpPr>
          <p:nvPr>
            <p:ph type="body" idx="1"/>
          </p:nvPr>
        </p:nvSpPr>
        <p:spPr>
          <a:xfrm>
            <a:off x="768350" y="1065721"/>
            <a:ext cx="7709825" cy="4876800"/>
          </a:xfrm>
        </p:spPr>
        <p:txBody>
          <a:bodyPr/>
          <a:lstStyle/>
          <a:p>
            <a:pPr>
              <a:tabLst>
                <a:tab pos="3149600" algn="ctr"/>
              </a:tabLst>
            </a:pPr>
            <a:r>
              <a:rPr lang="en-US" altLang="en-US" sz="1700" dirty="0"/>
              <a:t>The Cartesian-product operation (denoted by X)  allows us to combine information from any two relations.  </a:t>
            </a:r>
          </a:p>
          <a:p>
            <a:pPr>
              <a:tabLst>
                <a:tab pos="3149600" algn="ctr"/>
              </a:tabLst>
            </a:pPr>
            <a:r>
              <a:rPr lang="en-US" altLang="en-US" sz="1700" dirty="0"/>
              <a:t>Example: the Cartesian product of the relations </a:t>
            </a:r>
            <a:r>
              <a:rPr lang="en-US" altLang="en-US" sz="1700" i="1" dirty="0"/>
              <a:t>instructor</a:t>
            </a:r>
            <a:r>
              <a:rPr lang="en-US" altLang="en-US" sz="1700" dirty="0"/>
              <a:t> and t</a:t>
            </a:r>
            <a:r>
              <a:rPr lang="en-US" altLang="en-US" sz="1700" i="1" dirty="0"/>
              <a:t>eaches</a:t>
            </a:r>
            <a:r>
              <a:rPr lang="en-US" altLang="en-US" sz="1700" dirty="0"/>
              <a:t> is written  as:</a:t>
            </a:r>
          </a:p>
          <a:p>
            <a:pPr>
              <a:buNone/>
              <a:tabLst>
                <a:tab pos="3149600" algn="ctr"/>
              </a:tabLst>
            </a:pPr>
            <a:r>
              <a:rPr lang="en-US" altLang="en-US" sz="1700" i="1" dirty="0"/>
              <a:t>                instructor</a:t>
            </a:r>
            <a:r>
              <a:rPr lang="en-US" altLang="en-US" sz="1700" dirty="0"/>
              <a:t>  X  </a:t>
            </a:r>
            <a:r>
              <a:rPr lang="en-US" altLang="en-US" sz="1700" i="1" dirty="0"/>
              <a:t>teaches</a:t>
            </a:r>
          </a:p>
          <a:p>
            <a:pPr>
              <a:tabLst>
                <a:tab pos="3149600" algn="ctr"/>
              </a:tabLst>
            </a:pPr>
            <a:r>
              <a:rPr lang="en-US" altLang="en-US" sz="1700" dirty="0"/>
              <a:t>We construct a tuple of the result out of each possible pair of tuples: one from the </a:t>
            </a:r>
            <a:r>
              <a:rPr lang="en-US" altLang="en-US" sz="1700" i="1" dirty="0"/>
              <a:t>instructor</a:t>
            </a:r>
            <a:r>
              <a:rPr lang="en-US" altLang="en-US" sz="1700" dirty="0"/>
              <a:t> relation and one from the </a:t>
            </a:r>
            <a:r>
              <a:rPr lang="en-US" altLang="en-US" sz="1700" i="1" dirty="0"/>
              <a:t>teaches</a:t>
            </a:r>
            <a:r>
              <a:rPr lang="en-US" altLang="en-US" sz="1700" dirty="0"/>
              <a:t> relation (see next slide)</a:t>
            </a:r>
          </a:p>
          <a:p>
            <a:pPr>
              <a:tabLst>
                <a:tab pos="3149600" algn="ctr"/>
              </a:tabLst>
            </a:pPr>
            <a:r>
              <a:rPr lang="en-US" altLang="en-US" sz="1700" dirty="0"/>
              <a:t>Since the instructor</a:t>
            </a:r>
            <a:r>
              <a:rPr lang="en-US" altLang="en-US" sz="1700" i="1" dirty="0"/>
              <a:t> ID </a:t>
            </a:r>
            <a:r>
              <a:rPr lang="en-US" altLang="en-US" sz="1700" dirty="0"/>
              <a:t>appears in both relations we distinguish between these attribute by attaching to the attribute the name of the relation from which the attribute originally came.</a:t>
            </a:r>
          </a:p>
          <a:p>
            <a:pPr lvl="1">
              <a:tabLst>
                <a:tab pos="3149600" algn="ctr"/>
              </a:tabLst>
            </a:pPr>
            <a:r>
              <a:rPr lang="en-US" altLang="en-US" sz="1700" i="1" dirty="0"/>
              <a:t>instructor.ID</a:t>
            </a:r>
          </a:p>
          <a:p>
            <a:pPr lvl="1">
              <a:tabLst>
                <a:tab pos="3149600" algn="ctr"/>
              </a:tabLst>
            </a:pPr>
            <a:r>
              <a:rPr lang="en-US" altLang="en-US" sz="1700" i="1" dirty="0"/>
              <a:t>teaches.ID</a:t>
            </a:r>
          </a:p>
          <a:p>
            <a:pPr lvl="1">
              <a:tabLst>
                <a:tab pos="3149600" algn="ctr"/>
              </a:tabLst>
            </a:pPr>
            <a:endParaRPr lang="en-US" altLang="en-US" dirty="0"/>
          </a:p>
          <a:p>
            <a:pPr>
              <a:buNone/>
              <a:tabLst>
                <a:tab pos="3149600" algn="ctr"/>
              </a:tabLst>
            </a:pPr>
            <a:endParaRPr lang="en-US" altLang="en-US" dirty="0">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r>
              <a:rPr lang="en-US" altLang="en-US" sz="2800" dirty="0"/>
              <a:t>The</a:t>
            </a:r>
            <a:r>
              <a:rPr lang="en-US" altLang="en-US" sz="2800" i="1" dirty="0"/>
              <a:t>  instructor</a:t>
            </a:r>
            <a:r>
              <a:rPr lang="en-US" altLang="en-US" sz="2800" dirty="0"/>
              <a:t>  </a:t>
            </a:r>
            <a:r>
              <a:rPr lang="en-US" altLang="en-US" sz="2400" dirty="0"/>
              <a:t>X</a:t>
            </a:r>
            <a:r>
              <a:rPr lang="en-US" altLang="en-US" sz="2800" dirty="0"/>
              <a:t>  </a:t>
            </a:r>
            <a:r>
              <a:rPr lang="en-US" altLang="en-US" sz="2800" i="1" dirty="0"/>
              <a:t>teaches  table</a:t>
            </a:r>
            <a:endParaRPr lang="en-US" altLang="en-US" sz="2800" dirty="0"/>
          </a:p>
        </p:txBody>
      </p:sp>
      <p:pic>
        <p:nvPicPr>
          <p:cNvPr id="4" name="Graphic 3">
            <a:extLst>
              <a:ext uri="{FF2B5EF4-FFF2-40B4-BE49-F238E27FC236}">
                <a16:creationId xmlns:a16="http://schemas.microsoft.com/office/drawing/2014/main" id="{E425A146-DF78-4629-A7BE-AFD775427152}"/>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t="-2" b="6551"/>
          <a:stretch/>
        </p:blipFill>
        <p:spPr>
          <a:xfrm>
            <a:off x="1669591" y="727075"/>
            <a:ext cx="5459492" cy="5964948"/>
          </a:xfrm>
          <a:prstGeom prst="rect">
            <a:avLst/>
          </a:prstGeom>
        </p:spPr>
      </p:pic>
    </p:spTree>
    <p:extLst>
      <p:ext uri="{BB962C8B-B14F-4D97-AF65-F5344CB8AC3E}">
        <p14:creationId xmlns:p14="http://schemas.microsoft.com/office/powerpoint/2010/main" val="137113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Join Operation</a:t>
            </a:r>
          </a:p>
        </p:txBody>
      </p:sp>
      <p:sp>
        <p:nvSpPr>
          <p:cNvPr id="7170" name="Rectangle 3"/>
          <p:cNvSpPr>
            <a:spLocks noGrp="1" noChangeArrowheads="1"/>
          </p:cNvSpPr>
          <p:nvPr>
            <p:ph type="body" idx="1"/>
          </p:nvPr>
        </p:nvSpPr>
        <p:spPr>
          <a:xfrm>
            <a:off x="768351" y="1126681"/>
            <a:ext cx="7631938" cy="4664519"/>
          </a:xfrm>
        </p:spPr>
        <p:txBody>
          <a:bodyPr/>
          <a:lstStyle/>
          <a:p>
            <a:pPr>
              <a:tabLst>
                <a:tab pos="3149600" algn="ctr"/>
              </a:tabLst>
            </a:pPr>
            <a:r>
              <a:rPr lang="en-US" altLang="en-US" sz="1700" dirty="0"/>
              <a:t>The Cartesian-Product </a:t>
            </a:r>
          </a:p>
          <a:p>
            <a:pPr>
              <a:buNone/>
              <a:tabLst>
                <a:tab pos="3149600" algn="ctr"/>
              </a:tabLst>
            </a:pPr>
            <a:r>
              <a:rPr lang="en-US" altLang="en-US" sz="1700" i="1" dirty="0"/>
              <a:t>                    instructor</a:t>
            </a:r>
            <a:r>
              <a:rPr lang="en-US" altLang="en-US" sz="1700" dirty="0"/>
              <a:t>  X  </a:t>
            </a:r>
            <a:r>
              <a:rPr lang="en-US" altLang="en-US" sz="1700" i="1" dirty="0"/>
              <a:t>teaches</a:t>
            </a:r>
            <a:endParaRPr lang="en-US" altLang="en-US" sz="1700" dirty="0"/>
          </a:p>
          <a:p>
            <a:pPr>
              <a:buNone/>
              <a:tabLst>
                <a:tab pos="3149600" algn="ctr"/>
              </a:tabLst>
            </a:pPr>
            <a:r>
              <a:rPr lang="en-US" altLang="en-US" sz="1700" dirty="0"/>
              <a:t>      associates every  tuple of  instructor with every tuple of teaches.</a:t>
            </a:r>
          </a:p>
          <a:p>
            <a:pPr lvl="1"/>
            <a:r>
              <a:rPr lang="en-US" altLang="en-US" sz="1700" dirty="0"/>
              <a:t>Most of the resulting rows have information about instructors who did NOT teach a particular course. </a:t>
            </a:r>
          </a:p>
          <a:p>
            <a:r>
              <a:rPr lang="en-US" altLang="en-US" sz="1700" dirty="0"/>
              <a:t>To get only those tuples of  “</a:t>
            </a:r>
            <a:r>
              <a:rPr lang="en-US" altLang="en-US" sz="1700" i="1" dirty="0"/>
              <a:t>instructor</a:t>
            </a:r>
            <a:r>
              <a:rPr lang="en-US" altLang="en-US" sz="1700" dirty="0"/>
              <a:t>  X  </a:t>
            </a:r>
            <a:r>
              <a:rPr lang="en-US" altLang="en-US" sz="1700" i="1" dirty="0"/>
              <a:t>teaches</a:t>
            </a:r>
            <a:r>
              <a:rPr lang="en-US" altLang="en-US" sz="1700" dirty="0"/>
              <a:t> “ that pertain to instructors and the courses that they taught, we write:</a:t>
            </a:r>
          </a:p>
          <a:p>
            <a:pPr>
              <a:buNone/>
            </a:pPr>
            <a:r>
              <a:rPr lang="en-US" altLang="en-US" sz="1700" dirty="0">
                <a:solidFill>
                  <a:schemeClr val="bg1">
                    <a:lumMod val="50000"/>
                  </a:schemeClr>
                </a:solidFill>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instructor.id =  teaches.id</a:t>
            </a:r>
            <a:r>
              <a:rPr lang="en-US" altLang="ja-JP" i="1" baseline="-25000" dirty="0">
                <a:sym typeface="Symbol" panose="05050102010706020507" pitchFamily="18" charset="2"/>
              </a:rPr>
              <a:t> </a:t>
            </a:r>
            <a:r>
              <a:rPr lang="en-US" altLang="ja-JP" i="1"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instructor  </a:t>
            </a:r>
            <a:r>
              <a:rPr lang="en-US" altLang="ja-JP" sz="1700" dirty="0">
                <a:sym typeface="Symbol" panose="05050102010706020507" pitchFamily="18" charset="2"/>
              </a:rPr>
              <a:t>x</a:t>
            </a:r>
            <a:r>
              <a:rPr lang="en-US" altLang="ja-JP" sz="1700" i="1" dirty="0">
                <a:sym typeface="Symbol" panose="05050102010706020507" pitchFamily="18" charset="2"/>
              </a:rPr>
              <a:t> teaches </a:t>
            </a:r>
            <a:r>
              <a:rPr lang="en-US" altLang="ja-JP" sz="1700" dirty="0">
                <a:sym typeface="Symbol" panose="05050102010706020507" pitchFamily="18" charset="2"/>
              </a:rPr>
              <a:t>))</a:t>
            </a:r>
          </a:p>
          <a:p>
            <a:pPr>
              <a:buNone/>
            </a:pPr>
            <a:r>
              <a:rPr lang="en-US" altLang="ja-JP" sz="800" dirty="0">
                <a:sym typeface="Symbol" panose="05050102010706020507" pitchFamily="18" charset="2"/>
              </a:rPr>
              <a:t> </a:t>
            </a:r>
          </a:p>
          <a:p>
            <a:pPr lvl="1"/>
            <a:r>
              <a:rPr lang="en-US" altLang="ja-JP" sz="1700" dirty="0">
                <a:sym typeface="Symbol" panose="05050102010706020507" pitchFamily="18" charset="2"/>
              </a:rPr>
              <a:t>We get only those tuples of “</a:t>
            </a:r>
            <a:r>
              <a:rPr lang="en-US" altLang="en-US" sz="1700" i="1" dirty="0"/>
              <a:t>instructor</a:t>
            </a:r>
            <a:r>
              <a:rPr lang="en-US" altLang="en-US" sz="1700" dirty="0"/>
              <a:t>  X  </a:t>
            </a:r>
            <a:r>
              <a:rPr lang="en-US" altLang="en-US" sz="1700" i="1" dirty="0"/>
              <a:t>teaches” </a:t>
            </a:r>
            <a:r>
              <a:rPr lang="en-US" altLang="ja-JP" sz="1700" dirty="0">
                <a:sym typeface="Symbol" panose="05050102010706020507" pitchFamily="18" charset="2"/>
              </a:rPr>
              <a:t>that pertain to instructors and the courses that they taught.</a:t>
            </a:r>
          </a:p>
          <a:p>
            <a:r>
              <a:rPr lang="en-US" altLang="ja-JP" sz="1700" dirty="0">
                <a:sym typeface="Symbol" panose="05050102010706020507" pitchFamily="18" charset="2"/>
              </a:rPr>
              <a:t>The result of this expression, shown in the next slide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Join Operation (Cont.)</a:t>
            </a:r>
          </a:p>
        </p:txBody>
      </p:sp>
      <p:sp>
        <p:nvSpPr>
          <p:cNvPr id="7170" name="Rectangle 3"/>
          <p:cNvSpPr>
            <a:spLocks noGrp="1" noChangeArrowheads="1"/>
          </p:cNvSpPr>
          <p:nvPr>
            <p:ph type="body" idx="1"/>
          </p:nvPr>
        </p:nvSpPr>
        <p:spPr>
          <a:xfrm>
            <a:off x="768351" y="1077913"/>
            <a:ext cx="7436866" cy="848423"/>
          </a:xfrm>
        </p:spPr>
        <p:txBody>
          <a:bodyPr/>
          <a:lstStyle/>
          <a:p>
            <a:r>
              <a:rPr lang="en-US" altLang="en-US" sz="1700" dirty="0"/>
              <a:t>The</a:t>
            </a:r>
            <a:r>
              <a:rPr lang="en-US" altLang="en-US" sz="1700" dirty="0">
                <a:sym typeface="Symbol" panose="05050102010706020507" pitchFamily="18" charset="2"/>
              </a:rPr>
              <a:t>  table corresponding to:</a:t>
            </a:r>
          </a:p>
          <a:p>
            <a:pPr>
              <a:buNone/>
            </a:pPr>
            <a:r>
              <a:rPr lang="en-US" altLang="en-US" sz="1700" i="1" dirty="0">
                <a:solidFill>
                  <a:schemeClr val="bg1">
                    <a:lumMod val="50000"/>
                  </a:schemeClr>
                </a:solidFill>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instructor.id =  teaches.id</a:t>
            </a:r>
            <a:r>
              <a:rPr lang="en-US" altLang="ja-JP" i="1" baseline="-25000"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instructor  </a:t>
            </a:r>
            <a:r>
              <a:rPr lang="en-US" altLang="ja-JP" sz="1700" dirty="0">
                <a:sym typeface="Symbol" panose="05050102010706020507" pitchFamily="18" charset="2"/>
              </a:rPr>
              <a:t>x</a:t>
            </a:r>
            <a:r>
              <a:rPr lang="en-US" altLang="ja-JP" sz="1700" i="1" dirty="0">
                <a:sym typeface="Symbol" panose="05050102010706020507" pitchFamily="18" charset="2"/>
              </a:rPr>
              <a:t> teaches</a:t>
            </a:r>
            <a:r>
              <a:rPr lang="en-US" altLang="ja-JP" sz="1700" dirty="0">
                <a:sym typeface="Symbol" panose="05050102010706020507" pitchFamily="18" charset="2"/>
              </a:rPr>
              <a:t>))</a:t>
            </a:r>
            <a:r>
              <a:rPr lang="en-US" altLang="en-US" sz="1700" dirty="0"/>
              <a:t> </a:t>
            </a:r>
          </a:p>
          <a:p>
            <a:pPr>
              <a:buNone/>
            </a:pPr>
            <a:endParaRPr lang="en-US" altLang="en-US" dirty="0">
              <a:solidFill>
                <a:schemeClr val="bg1">
                  <a:lumMod val="50000"/>
                </a:schemeClr>
              </a:solidFill>
            </a:endParaRPr>
          </a:p>
        </p:txBody>
      </p:sp>
      <p:pic>
        <p:nvPicPr>
          <p:cNvPr id="4" name="Graphic 3">
            <a:extLst>
              <a:ext uri="{FF2B5EF4-FFF2-40B4-BE49-F238E27FC236}">
                <a16:creationId xmlns:a16="http://schemas.microsoft.com/office/drawing/2014/main" id="{54514E8B-ADB7-4B47-B765-99E7784E865C}"/>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t="-1" b="12878"/>
          <a:stretch/>
        </p:blipFill>
        <p:spPr>
          <a:xfrm>
            <a:off x="938783" y="1926336"/>
            <a:ext cx="7416310" cy="41345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Join Operation (Cont.)</a:t>
            </a:r>
          </a:p>
        </p:txBody>
      </p:sp>
      <mc:AlternateContent xmlns:mc="http://schemas.openxmlformats.org/markup-compatibility/2006" xmlns:a14="http://schemas.microsoft.com/office/drawing/2010/main">
        <mc:Choice Requires="a14">
          <p:sp>
            <p:nvSpPr>
              <p:cNvPr id="7170" name="Rectangle 3"/>
              <p:cNvSpPr>
                <a:spLocks noGrp="1" noChangeArrowheads="1"/>
              </p:cNvSpPr>
              <p:nvPr>
                <p:ph type="body" idx="1"/>
              </p:nvPr>
            </p:nvSpPr>
            <p:spPr>
              <a:xfrm>
                <a:off x="768350" y="1138873"/>
                <a:ext cx="7644131" cy="4823015"/>
              </a:xfrm>
            </p:spPr>
            <p:txBody>
              <a:bodyPr/>
              <a:lstStyle/>
              <a:p>
                <a:pPr>
                  <a:tabLst>
                    <a:tab pos="3149600" algn="ctr"/>
                  </a:tabLst>
                </a:pPr>
                <a:r>
                  <a:rPr lang="en-US" altLang="en-US" sz="1700" dirty="0"/>
                  <a:t>The </a:t>
                </a:r>
                <a:r>
                  <a:rPr lang="en-US" altLang="en-US" sz="1700" b="1" dirty="0"/>
                  <a:t>join </a:t>
                </a:r>
                <a:r>
                  <a:rPr lang="en-US" altLang="en-US" sz="1700" dirty="0"/>
                  <a:t>operation allows us to combine  a select operation and a  </a:t>
                </a:r>
                <a:r>
                  <a:rPr lang="en-US" altLang="en-US" sz="1700" b="1" dirty="0"/>
                  <a:t> </a:t>
                </a:r>
                <a:r>
                  <a:rPr lang="en-US" altLang="en-US" sz="1700" dirty="0"/>
                  <a:t>Cartesian-Product  operation into a single operation.</a:t>
                </a:r>
              </a:p>
              <a:p>
                <a:pPr>
                  <a:tabLst>
                    <a:tab pos="3149600" algn="ctr"/>
                  </a:tabLst>
                </a:pPr>
                <a:r>
                  <a:rPr lang="en-US" altLang="en-US" sz="1700" dirty="0"/>
                  <a:t>Consider relations </a:t>
                </a:r>
                <a:r>
                  <a:rPr lang="en-US" altLang="en-US" sz="1700" i="1" dirty="0"/>
                  <a:t>r </a:t>
                </a:r>
                <a:r>
                  <a:rPr lang="en-US" altLang="en-US" sz="1700" dirty="0"/>
                  <a:t>(</a:t>
                </a:r>
                <a:r>
                  <a:rPr lang="en-US" altLang="en-US" sz="1700" i="1" dirty="0"/>
                  <a:t>R</a:t>
                </a:r>
                <a:r>
                  <a:rPr lang="en-US" altLang="en-US" sz="1700" dirty="0"/>
                  <a:t>) and </a:t>
                </a:r>
                <a:r>
                  <a:rPr lang="en-US" altLang="en-US" sz="1700" i="1" dirty="0"/>
                  <a:t>s </a:t>
                </a:r>
                <a:r>
                  <a:rPr lang="en-US" altLang="en-US" sz="1700" dirty="0"/>
                  <a:t>(</a:t>
                </a:r>
                <a:r>
                  <a:rPr lang="en-US" altLang="en-US" sz="1700" i="1" dirty="0"/>
                  <a:t>S</a:t>
                </a:r>
                <a:r>
                  <a:rPr lang="en-US" altLang="en-US" sz="1700" dirty="0"/>
                  <a:t>)</a:t>
                </a:r>
              </a:p>
              <a:p>
                <a:r>
                  <a:rPr lang="en-US" altLang="en-US" sz="1700" dirty="0"/>
                  <a:t>Let  “theta” be a predicate on attributes in the schema R “union” S. The join operation  r </a:t>
                </a:r>
                <a14:m>
                  <m:oMath xmlns:m="http://schemas.openxmlformats.org/officeDocument/2006/math">
                    <m:sSub>
                      <m:sSubPr>
                        <m:ctrlPr>
                          <a:rPr lang="en-US" sz="1700" i="1">
                            <a:latin typeface="Cambria Math" panose="02040503050406030204" pitchFamily="18" charset="0"/>
                          </a:rPr>
                        </m:ctrlPr>
                      </m:sSubPr>
                      <m:e>
                        <m:r>
                          <a:rPr lang="en-US" sz="1700" i="1">
                            <a:latin typeface="Cambria Math" panose="02040503050406030204" pitchFamily="18" charset="0"/>
                          </a:rPr>
                          <m:t>⋈</m:t>
                        </m:r>
                      </m:e>
                      <m:sub>
                        <m:r>
                          <a:rPr lang="en-US" sz="1700" i="1">
                            <a:latin typeface="Cambria Math" panose="02040503050406030204" pitchFamily="18" charset="0"/>
                          </a:rPr>
                          <m:t>𝜃</m:t>
                        </m:r>
                      </m:sub>
                    </m:sSub>
                  </m:oMath>
                </a14:m>
                <a:r>
                  <a:rPr lang="en-US" altLang="en-US" sz="1700" dirty="0"/>
                  <a:t> s is defined as follows:</a:t>
                </a:r>
              </a:p>
              <a:p>
                <a:pPr>
                  <a:buNone/>
                </a:pPr>
                <a:r>
                  <a:rPr lang="en-US" altLang="en-US" sz="1700" i="1" dirty="0">
                    <a:sym typeface="Symbol" panose="05050102010706020507" pitchFamily="18" charset="2"/>
                  </a:rPr>
                  <a:t>       </a:t>
                </a:r>
                <a:r>
                  <a:rPr lang="en-US" altLang="en-US" sz="1700" dirty="0"/>
                  <a:t>         </a:t>
                </a:r>
                <a14:m>
                  <m:oMath xmlns:m="http://schemas.openxmlformats.org/officeDocument/2006/math">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m:t>
                        </m:r>
                      </m:e>
                      <m:sub>
                        <m:r>
                          <a:rPr lang="en-US" i="1">
                            <a:latin typeface="Cambria Math" panose="02040503050406030204" pitchFamily="18" charset="0"/>
                          </a:rPr>
                          <m:t>𝜃</m:t>
                        </m:r>
                      </m:sub>
                    </m:sSub>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𝜃</m:t>
                        </m:r>
                      </m:sub>
                    </m:sSub>
                    <m:r>
                      <a:rPr lang="en-US" b="0" i="1" smtClean="0">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 × </m:t>
                    </m:r>
                    <m:r>
                      <a:rPr lang="en-US" i="1">
                        <a:latin typeface="Cambria Math" panose="02040503050406030204" pitchFamily="18" charset="0"/>
                      </a:rPr>
                      <m:t>𝑠</m:t>
                    </m:r>
                    <m:r>
                      <a:rPr lang="en-US" i="1">
                        <a:latin typeface="Cambria Math" panose="02040503050406030204" pitchFamily="18" charset="0"/>
                      </a:rPr>
                      <m:t>)</m:t>
                    </m:r>
                  </m:oMath>
                </a14:m>
                <a:endParaRPr lang="en-US" altLang="ja-JP" dirty="0">
                  <a:sym typeface="Symbol" panose="05050102010706020507" pitchFamily="18" charset="2"/>
                </a:endParaRPr>
              </a:p>
              <a:p>
                <a:pPr>
                  <a:buNone/>
                </a:pPr>
                <a:r>
                  <a:rPr lang="en-US" altLang="ja-JP" sz="800" dirty="0">
                    <a:sym typeface="Symbol" panose="05050102010706020507" pitchFamily="18" charset="2"/>
                  </a:rPr>
                  <a:t> </a:t>
                </a:r>
              </a:p>
              <a:p>
                <a:r>
                  <a:rPr lang="en-US" altLang="ja-JP" sz="1700" dirty="0">
                    <a:sym typeface="Symbol" panose="05050102010706020507" pitchFamily="18" charset="2"/>
                  </a:rPr>
                  <a:t>Thus</a:t>
                </a:r>
              </a:p>
              <a:p>
                <a:pPr marL="0" indent="0">
                  <a:buNone/>
                </a:pPr>
                <a:r>
                  <a:rPr lang="en-US" altLang="en-US" sz="1700" i="1"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instructor.id =  teaches.id</a:t>
                </a:r>
                <a:r>
                  <a:rPr lang="en-US" altLang="ja-JP" i="1" baseline="-25000"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instructor  </a:t>
                </a:r>
                <a:r>
                  <a:rPr lang="en-US" altLang="ja-JP" sz="1700" dirty="0">
                    <a:sym typeface="Symbol" panose="05050102010706020507" pitchFamily="18" charset="2"/>
                  </a:rPr>
                  <a:t>x</a:t>
                </a:r>
                <a:r>
                  <a:rPr lang="en-US" altLang="ja-JP" sz="1700" i="1" dirty="0">
                    <a:sym typeface="Symbol" panose="05050102010706020507" pitchFamily="18" charset="2"/>
                  </a:rPr>
                  <a:t> teaches </a:t>
                </a:r>
                <a:r>
                  <a:rPr lang="en-US" altLang="ja-JP" sz="1700" dirty="0">
                    <a:sym typeface="Symbol" panose="05050102010706020507" pitchFamily="18" charset="2"/>
                  </a:rPr>
                  <a:t>))</a:t>
                </a:r>
              </a:p>
              <a:p>
                <a:pPr marL="0" indent="0">
                  <a:buNone/>
                </a:pPr>
                <a:r>
                  <a:rPr lang="en-US" altLang="ja-JP" sz="800" dirty="0">
                    <a:sym typeface="Symbol" panose="05050102010706020507" pitchFamily="18" charset="2"/>
                  </a:rPr>
                  <a:t> </a:t>
                </a:r>
              </a:p>
              <a:p>
                <a:r>
                  <a:rPr lang="en-US" altLang="ja-JP" sz="1700" dirty="0">
                    <a:sym typeface="Symbol" panose="05050102010706020507" pitchFamily="18" charset="2"/>
                  </a:rPr>
                  <a:t>Can equivalently be written as </a:t>
                </a:r>
              </a:p>
              <a:p>
                <a:pPr>
                  <a:buNone/>
                </a:pPr>
                <a:r>
                  <a:rPr lang="en-US" altLang="en-US" sz="1700" i="1" dirty="0">
                    <a:sym typeface="Symbol" panose="05050102010706020507" pitchFamily="18" charset="2"/>
                  </a:rPr>
                  <a:t>                 instructor</a:t>
                </a:r>
                <a:r>
                  <a:rPr lang="en-US" altLang="en-US" sz="1700" dirty="0">
                    <a:sym typeface="Symbol" panose="05050102010706020507" pitchFamily="18" charset="2"/>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e>
                      <m:sub>
                        <m:r>
                          <a:rPr lang="en-US" i="1">
                            <a:latin typeface="Cambria Math" panose="02040503050406030204" pitchFamily="18" charset="0"/>
                          </a:rPr>
                          <m:t> </m:t>
                        </m:r>
                      </m:sub>
                    </m:sSub>
                  </m:oMath>
                </a14:m>
                <a:r>
                  <a:rPr lang="en-US" i="1" baseline="-25000" dirty="0"/>
                  <a:t>Instructor.id = teaches.id</a:t>
                </a:r>
                <a:r>
                  <a:rPr lang="en-US" baseline="-25000" dirty="0"/>
                  <a:t> </a:t>
                </a:r>
                <a:r>
                  <a:rPr lang="en-US" sz="1700" i="1" dirty="0"/>
                  <a:t>teaches</a:t>
                </a:r>
                <a:r>
                  <a:rPr lang="en-US" sz="1700" dirty="0"/>
                  <a:t>.</a:t>
                </a:r>
              </a:p>
              <a:p>
                <a:pPr>
                  <a:buNone/>
                </a:pPr>
                <a:endParaRPr lang="en-US" altLang="ja-JP" dirty="0">
                  <a:sym typeface="Symbol" panose="05050102010706020507" pitchFamily="18" charset="2"/>
                </a:endParaRPr>
              </a:p>
            </p:txBody>
          </p:sp>
        </mc:Choice>
        <mc:Fallback xmlns="">
          <p:sp>
            <p:nvSpPr>
              <p:cNvPr id="7170" name="Rectangle 3"/>
              <p:cNvSpPr>
                <a:spLocks noGrp="1" noRot="1" noChangeAspect="1" noMove="1" noResize="1" noEditPoints="1" noAdjustHandles="1" noChangeArrowheads="1" noChangeShapeType="1" noTextEdit="1"/>
              </p:cNvSpPr>
              <p:nvPr>
                <p:ph type="body" idx="1"/>
              </p:nvPr>
            </p:nvSpPr>
            <p:spPr>
              <a:xfrm>
                <a:off x="768350" y="1138873"/>
                <a:ext cx="7644131" cy="4823015"/>
              </a:xfrm>
              <a:blipFill>
                <a:blip r:embed="rId3"/>
                <a:stretch>
                  <a:fillRect l="-558" t="-632"/>
                </a:stretch>
              </a:blipFill>
            </p:spPr>
            <p:txBody>
              <a:bodyPr/>
              <a:lstStyle/>
              <a:p>
                <a:r>
                  <a:rPr 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r>
              <a:rPr lang="en-US" altLang="en-US" sz="2800" dirty="0"/>
              <a:t>Union Operation</a:t>
            </a:r>
          </a:p>
        </p:txBody>
      </p:sp>
      <p:sp>
        <p:nvSpPr>
          <p:cNvPr id="9218" name="Rectangle 3"/>
          <p:cNvSpPr>
            <a:spLocks noGrp="1" noChangeArrowheads="1"/>
          </p:cNvSpPr>
          <p:nvPr>
            <p:ph type="body" idx="1"/>
          </p:nvPr>
        </p:nvSpPr>
        <p:spPr>
          <a:xfrm>
            <a:off x="768350" y="1114489"/>
            <a:ext cx="7683191" cy="4688903"/>
          </a:xfrm>
        </p:spPr>
        <p:txBody>
          <a:bodyPr/>
          <a:lstStyle/>
          <a:p>
            <a:pPr>
              <a:tabLst>
                <a:tab pos="2965450" algn="ctr"/>
              </a:tabLst>
            </a:pPr>
            <a:r>
              <a:rPr lang="en-US" altLang="en-US" sz="1700" dirty="0"/>
              <a:t>The union operation </a:t>
            </a:r>
            <a:r>
              <a:rPr lang="en-US" altLang="en-US" sz="1700" dirty="0">
                <a:sym typeface="Symbol" panose="05050102010706020507" pitchFamily="18" charset="2"/>
              </a:rPr>
              <a:t>allows us to combine two relations </a:t>
            </a:r>
            <a:endParaRPr lang="en-US" altLang="en-US" sz="1700" dirty="0"/>
          </a:p>
          <a:p>
            <a:pPr>
              <a:tabLst>
                <a:tab pos="2965450" algn="ctr"/>
              </a:tabLst>
            </a:pPr>
            <a:r>
              <a:rPr lang="en-US" altLang="en-US" sz="1700" dirty="0"/>
              <a:t>Notation:  </a:t>
            </a:r>
            <a:r>
              <a:rPr lang="en-US" altLang="en-US" sz="1700" i="1" dirty="0"/>
              <a:t>r </a:t>
            </a:r>
            <a:r>
              <a:rPr lang="en-US" altLang="en-US" sz="1700" dirty="0"/>
              <a:t> </a:t>
            </a:r>
            <a:r>
              <a:rPr lang="en-US" altLang="en-US" sz="1700" dirty="0">
                <a:sym typeface="Symbol" panose="05050102010706020507" pitchFamily="18" charset="2"/>
              </a:rPr>
              <a:t> </a:t>
            </a:r>
            <a:r>
              <a:rPr lang="en-US" altLang="en-US" sz="1700" i="1" dirty="0">
                <a:sym typeface="Symbol" panose="05050102010706020507" pitchFamily="18" charset="2"/>
              </a:rPr>
              <a:t>s</a:t>
            </a:r>
            <a:endParaRPr lang="en-US" altLang="en-US" sz="1700" dirty="0">
              <a:sym typeface="Symbol" panose="05050102010706020507" pitchFamily="18" charset="2"/>
            </a:endParaRPr>
          </a:p>
          <a:p>
            <a:pPr>
              <a:tabLst>
                <a:tab pos="2965450" algn="ctr"/>
              </a:tabLst>
            </a:pPr>
            <a:r>
              <a:rPr lang="en-US" altLang="en-US" sz="1700" dirty="0">
                <a:sym typeface="Symbol" panose="05050102010706020507" pitchFamily="18" charset="2"/>
              </a:rPr>
              <a:t>For </a:t>
            </a:r>
            <a:r>
              <a:rPr lang="en-US" altLang="en-US" sz="1700" i="1" dirty="0"/>
              <a:t>r</a:t>
            </a:r>
            <a:r>
              <a:rPr lang="en-US" altLang="en-US" sz="1700" dirty="0"/>
              <a:t>  </a:t>
            </a:r>
            <a:r>
              <a:rPr lang="en-US" altLang="en-US" sz="1700" dirty="0">
                <a:sym typeface="Symbol" panose="05050102010706020507" pitchFamily="18" charset="2"/>
              </a:rPr>
              <a:t> </a:t>
            </a:r>
            <a:r>
              <a:rPr lang="en-US" altLang="en-US" sz="1700" i="1" dirty="0">
                <a:sym typeface="Symbol" panose="05050102010706020507" pitchFamily="18" charset="2"/>
              </a:rPr>
              <a:t>s</a:t>
            </a:r>
            <a:r>
              <a:rPr lang="en-US" altLang="en-US" sz="1700" dirty="0">
                <a:sym typeface="Symbol" panose="05050102010706020507" pitchFamily="18" charset="2"/>
              </a:rPr>
              <a:t> to be valid.</a:t>
            </a:r>
          </a:p>
          <a:p>
            <a:pPr>
              <a:buFont typeface="Monotype Sorts" charset="2"/>
              <a:buNone/>
              <a:tabLst>
                <a:tab pos="2965450" algn="ctr"/>
              </a:tabLst>
            </a:pPr>
            <a:r>
              <a:rPr lang="en-US" altLang="en-US" sz="1700" i="1" dirty="0">
                <a:sym typeface="Symbol" panose="05050102010706020507" pitchFamily="18" charset="2"/>
              </a:rPr>
              <a:t>	</a:t>
            </a:r>
            <a:r>
              <a:rPr lang="en-US" altLang="en-US" sz="1700" dirty="0">
                <a:sym typeface="Symbol" panose="05050102010706020507" pitchFamily="18" charset="2"/>
              </a:rPr>
              <a:t>1.   </a:t>
            </a:r>
            <a:r>
              <a:rPr lang="en-US" altLang="en-US" sz="1700" i="1" dirty="0">
                <a:sym typeface="Symbol" panose="05050102010706020507" pitchFamily="18" charset="2"/>
              </a:rPr>
              <a:t>r,</a:t>
            </a:r>
            <a:r>
              <a:rPr lang="en-US" altLang="en-US" sz="1700" dirty="0">
                <a:sym typeface="Symbol" panose="05050102010706020507" pitchFamily="18" charset="2"/>
              </a:rPr>
              <a:t> </a:t>
            </a:r>
            <a:r>
              <a:rPr lang="en-US" altLang="en-US" sz="1700" i="1" dirty="0">
                <a:sym typeface="Symbol" panose="05050102010706020507" pitchFamily="18" charset="2"/>
              </a:rPr>
              <a:t>s</a:t>
            </a:r>
            <a:r>
              <a:rPr lang="en-US" altLang="en-US" sz="1700" dirty="0">
                <a:sym typeface="Symbol" panose="05050102010706020507" pitchFamily="18" charset="2"/>
              </a:rPr>
              <a:t> must have the </a:t>
            </a:r>
            <a:r>
              <a:rPr lang="en-US" altLang="en-US" sz="1700" i="1" dirty="0">
                <a:sym typeface="Symbol" panose="05050102010706020507" pitchFamily="18" charset="2"/>
              </a:rPr>
              <a:t>same </a:t>
            </a:r>
            <a:r>
              <a:rPr lang="en-US" altLang="en-US" sz="1700" b="1" dirty="0">
                <a:solidFill>
                  <a:srgbClr val="002060"/>
                </a:solidFill>
                <a:sym typeface="Symbol" panose="05050102010706020507" pitchFamily="18" charset="2"/>
              </a:rPr>
              <a:t>arity</a:t>
            </a:r>
            <a:r>
              <a:rPr lang="en-US" altLang="en-US" sz="1700" dirty="0">
                <a:sym typeface="Symbol" panose="05050102010706020507" pitchFamily="18" charset="2"/>
              </a:rPr>
              <a:t> (same number of attributes)</a:t>
            </a:r>
          </a:p>
          <a:p>
            <a:pPr>
              <a:spcBef>
                <a:spcPts val="0"/>
              </a:spcBef>
              <a:buNone/>
              <a:tabLst>
                <a:tab pos="2965450" algn="ctr"/>
              </a:tabLst>
            </a:pPr>
            <a:r>
              <a:rPr lang="en-US" altLang="en-US" sz="1700" dirty="0">
                <a:sym typeface="Symbol" panose="05050102010706020507" pitchFamily="18" charset="2"/>
              </a:rPr>
              <a:t>	2.   The attribute domains must be </a:t>
            </a:r>
            <a:r>
              <a:rPr lang="en-US" altLang="en-US" sz="1700" b="1" dirty="0">
                <a:solidFill>
                  <a:srgbClr val="002060"/>
                </a:solidFill>
                <a:sym typeface="Symbol" panose="05050102010706020507" pitchFamily="18" charset="2"/>
              </a:rPr>
              <a:t>compatible</a:t>
            </a:r>
            <a:r>
              <a:rPr lang="en-US" altLang="en-US" sz="1700" dirty="0">
                <a:sym typeface="Symbol" panose="05050102010706020507" pitchFamily="18" charset="2"/>
              </a:rPr>
              <a:t> (example: 2</a:t>
            </a:r>
            <a:r>
              <a:rPr lang="en-US" altLang="en-US" sz="1700" baseline="30000" dirty="0">
                <a:sym typeface="Symbol" panose="05050102010706020507" pitchFamily="18" charset="2"/>
              </a:rPr>
              <a:t>nd</a:t>
            </a:r>
            <a:r>
              <a:rPr lang="en-US" altLang="en-US" sz="1700" dirty="0">
                <a:sym typeface="Symbol" panose="05050102010706020507" pitchFamily="18" charset="2"/>
              </a:rPr>
              <a:t> </a:t>
            </a:r>
          </a:p>
          <a:p>
            <a:pPr lvl="1">
              <a:spcBef>
                <a:spcPts val="0"/>
              </a:spcBef>
              <a:buNone/>
              <a:tabLst>
                <a:tab pos="2965450" algn="ctr"/>
              </a:tabLst>
            </a:pPr>
            <a:r>
              <a:rPr lang="en-US" altLang="en-US" sz="1600" dirty="0">
                <a:sym typeface="Symbol" panose="05050102010706020507" pitchFamily="18" charset="2"/>
              </a:rPr>
              <a:t>     </a:t>
            </a:r>
            <a:r>
              <a:rPr lang="en-US" altLang="en-US" dirty="0">
                <a:sym typeface="Symbol" panose="05050102010706020507" pitchFamily="18" charset="2"/>
              </a:rPr>
              <a:t>column of </a:t>
            </a:r>
            <a:r>
              <a:rPr lang="en-US" altLang="en-US" i="1" dirty="0">
                <a:sym typeface="Symbol" panose="05050102010706020507" pitchFamily="18" charset="2"/>
              </a:rPr>
              <a:t>r</a:t>
            </a:r>
            <a:r>
              <a:rPr lang="en-US" altLang="en-US" dirty="0">
                <a:sym typeface="Symbol" panose="05050102010706020507" pitchFamily="18" charset="2"/>
              </a:rPr>
              <a:t> deals with the same type of values as does the </a:t>
            </a:r>
          </a:p>
          <a:p>
            <a:pPr lvl="1">
              <a:spcBef>
                <a:spcPts val="0"/>
              </a:spcBef>
              <a:buNone/>
              <a:tabLst>
                <a:tab pos="2965450" algn="ctr"/>
              </a:tabLst>
            </a:pPr>
            <a:r>
              <a:rPr lang="en-US" altLang="en-US" dirty="0">
                <a:sym typeface="Symbol" panose="05050102010706020507" pitchFamily="18" charset="2"/>
              </a:rPr>
              <a:t>     2</a:t>
            </a:r>
            <a:r>
              <a:rPr lang="en-US" altLang="en-US" baseline="30000" dirty="0">
                <a:sym typeface="Symbol" panose="05050102010706020507" pitchFamily="18" charset="2"/>
              </a:rPr>
              <a:t>nd </a:t>
            </a:r>
            <a:r>
              <a:rPr lang="en-US" altLang="en-US" dirty="0">
                <a:sym typeface="Symbol" panose="05050102010706020507" pitchFamily="18" charset="2"/>
              </a:rPr>
              <a:t>column of </a:t>
            </a:r>
            <a:r>
              <a:rPr lang="en-US" altLang="en-US" i="1" dirty="0">
                <a:sym typeface="Symbol" panose="05050102010706020507" pitchFamily="18" charset="2"/>
              </a:rPr>
              <a:t>s</a:t>
            </a:r>
            <a:r>
              <a:rPr lang="en-US" altLang="en-US" dirty="0">
                <a:sym typeface="Symbol" panose="05050102010706020507" pitchFamily="18" charset="2"/>
              </a:rPr>
              <a:t>)</a:t>
            </a:r>
          </a:p>
          <a:p>
            <a:pPr>
              <a:lnSpc>
                <a:spcPct val="140000"/>
              </a:lnSpc>
              <a:tabLst>
                <a:tab pos="2965450" algn="ctr"/>
              </a:tabLst>
            </a:pPr>
            <a:r>
              <a:rPr lang="en-US" altLang="en-US" sz="1700" dirty="0"/>
              <a:t>Example: to find all courses taught in the Fall 2017 semester, or in the Spring 2018 semester, or in both</a:t>
            </a:r>
            <a:br>
              <a:rPr lang="en-US" altLang="en-US" sz="1700" dirty="0"/>
            </a:br>
            <a:r>
              <a:rPr lang="en-US" altLang="en-US" dirty="0"/>
              <a:t>   </a:t>
            </a:r>
            <a:r>
              <a:rPr lang="en-US" altLang="en-US" dirty="0">
                <a:sym typeface="Symbol" panose="05050102010706020507" pitchFamily="18" charset="2"/>
              </a:rPr>
              <a:t></a:t>
            </a:r>
            <a:r>
              <a:rPr lang="en-US" altLang="en-US" i="1" baseline="-25000" dirty="0" err="1"/>
              <a:t>course_id</a:t>
            </a:r>
            <a:r>
              <a:rPr lang="en-US" altLang="en-US" dirty="0"/>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semester=</a:t>
            </a:r>
            <a:r>
              <a:rPr lang="ja-JP" altLang="en-US" i="1" baseline="-25000" dirty="0">
                <a:sym typeface="Symbol" panose="05050102010706020507" pitchFamily="18" charset="2"/>
              </a:rPr>
              <a:t>“</a:t>
            </a:r>
            <a:r>
              <a:rPr lang="en-US" altLang="ja-JP" i="1" baseline="-25000" dirty="0">
                <a:sym typeface="Symbol" panose="05050102010706020507" pitchFamily="18" charset="2"/>
              </a:rPr>
              <a:t>Fall</a:t>
            </a:r>
            <a:r>
              <a:rPr lang="ja-JP" altLang="en-US" i="1" baseline="-25000" dirty="0">
                <a:sym typeface="Symbol" panose="05050102010706020507" pitchFamily="18" charset="2"/>
              </a:rPr>
              <a:t>”</a:t>
            </a:r>
            <a:r>
              <a:rPr lang="en-US" altLang="ja-JP" i="1" baseline="-25000" dirty="0">
                <a:sym typeface="Symbol" panose="05050102010706020507" pitchFamily="18" charset="2"/>
              </a:rPr>
              <a:t>  </a:t>
            </a:r>
            <a:r>
              <a:rPr lang="el-GR" altLang="ja-JP" i="1" baseline="-25000" dirty="0">
                <a:sym typeface="Symbol" panose="05050102010706020507" pitchFamily="18" charset="2"/>
              </a:rPr>
              <a:t>Λ</a:t>
            </a:r>
            <a:r>
              <a:rPr lang="en-US" altLang="ja-JP" i="1" baseline="-25000" dirty="0">
                <a:sym typeface="Symbol" panose="05050102010706020507" pitchFamily="18" charset="2"/>
              </a:rPr>
              <a:t> year=2017 </a:t>
            </a:r>
            <a:r>
              <a:rPr lang="en-US" altLang="ja-JP" sz="1700" dirty="0">
                <a:sym typeface="Symbol" panose="05050102010706020507" pitchFamily="18" charset="2"/>
              </a:rPr>
              <a:t>(</a:t>
            </a:r>
            <a:r>
              <a:rPr lang="en-US" altLang="ja-JP" sz="1700" i="1" dirty="0">
                <a:sym typeface="Symbol" panose="05050102010706020507" pitchFamily="18" charset="2"/>
              </a:rPr>
              <a:t>section</a:t>
            </a:r>
            <a:r>
              <a:rPr lang="en-US" altLang="ja-JP" sz="1700" dirty="0">
                <a:sym typeface="Symbol" panose="05050102010706020507" pitchFamily="18" charset="2"/>
              </a:rPr>
              <a:t>))    </a:t>
            </a:r>
            <a:br>
              <a:rPr lang="en-US" altLang="ja-JP" sz="1700" dirty="0">
                <a:sym typeface="Symbol" panose="05050102010706020507" pitchFamily="18" charset="2"/>
              </a:rPr>
            </a:br>
            <a:r>
              <a:rPr lang="en-US" altLang="ja-JP" sz="1700" dirty="0">
                <a:sym typeface="Symbol" panose="05050102010706020507" pitchFamily="18" charset="2"/>
              </a:rPr>
              <a:t>   </a:t>
            </a:r>
            <a:r>
              <a:rPr lang="en-US" altLang="ja-JP" dirty="0">
                <a:sym typeface="Symbol" panose="05050102010706020507" pitchFamily="18" charset="2"/>
              </a:rPr>
              <a:t></a:t>
            </a:r>
            <a:r>
              <a:rPr lang="en-US" altLang="ja-JP" i="1" baseline="-25000" dirty="0" err="1"/>
              <a:t>course_id</a:t>
            </a:r>
            <a:r>
              <a:rPr lang="en-US" altLang="ja-JP" dirty="0"/>
              <a:t> (</a:t>
            </a:r>
            <a:r>
              <a:rPr lang="en-US" altLang="ja-JP" i="1" dirty="0">
                <a:sym typeface="Symbol" panose="05050102010706020507" pitchFamily="18" charset="2"/>
              </a:rPr>
              <a:t></a:t>
            </a:r>
            <a:r>
              <a:rPr lang="en-US" altLang="ja-JP" dirty="0">
                <a:sym typeface="Symbol" panose="05050102010706020507" pitchFamily="18" charset="2"/>
              </a:rPr>
              <a:t> </a:t>
            </a:r>
            <a:r>
              <a:rPr lang="en-US" altLang="ja-JP" i="1" baseline="-25000" dirty="0">
                <a:sym typeface="Symbol" panose="05050102010706020507" pitchFamily="18" charset="2"/>
              </a:rPr>
              <a:t>semester=</a:t>
            </a:r>
            <a:r>
              <a:rPr lang="ja-JP" altLang="en-US" i="1" baseline="-25000" dirty="0">
                <a:sym typeface="Symbol" panose="05050102010706020507" pitchFamily="18" charset="2"/>
              </a:rPr>
              <a:t>“</a:t>
            </a:r>
            <a:r>
              <a:rPr lang="en-US" altLang="ja-JP" i="1" baseline="-25000" dirty="0">
                <a:sym typeface="Symbol" panose="05050102010706020507" pitchFamily="18" charset="2"/>
              </a:rPr>
              <a:t>Spring</a:t>
            </a:r>
            <a:r>
              <a:rPr lang="ja-JP" altLang="en-US" i="1" baseline="-25000" dirty="0">
                <a:sym typeface="Symbol" panose="05050102010706020507" pitchFamily="18" charset="2"/>
              </a:rPr>
              <a:t>”</a:t>
            </a:r>
            <a:r>
              <a:rPr lang="en-US" altLang="ja-JP" i="1" baseline="-25000" dirty="0">
                <a:sym typeface="Symbol" panose="05050102010706020507" pitchFamily="18" charset="2"/>
              </a:rPr>
              <a:t>  </a:t>
            </a:r>
            <a:r>
              <a:rPr lang="el-GR" altLang="ja-JP" i="1" baseline="-25000" dirty="0">
                <a:sym typeface="Symbol" panose="05050102010706020507" pitchFamily="18" charset="2"/>
              </a:rPr>
              <a:t>Λ</a:t>
            </a:r>
            <a:r>
              <a:rPr lang="en-US" altLang="ja-JP" i="1" baseline="-25000" dirty="0">
                <a:sym typeface="Symbol" panose="05050102010706020507" pitchFamily="18" charset="2"/>
              </a:rPr>
              <a:t> year=2018 </a:t>
            </a:r>
            <a:r>
              <a:rPr lang="en-US" altLang="ja-JP" sz="1700" dirty="0">
                <a:sym typeface="Symbol" panose="05050102010706020507" pitchFamily="18" charset="2"/>
              </a:rPr>
              <a:t>(</a:t>
            </a:r>
            <a:r>
              <a:rPr lang="en-US" altLang="ja-JP" sz="1700" i="1" dirty="0">
                <a:sym typeface="Symbol" panose="05050102010706020507" pitchFamily="18" charset="2"/>
              </a:rPr>
              <a:t>section</a:t>
            </a:r>
            <a:r>
              <a:rPr lang="en-US" altLang="ja-JP" sz="1700" dirty="0">
                <a:sym typeface="Symbol" panose="05050102010706020507" pitchFamily="18" charset="2"/>
              </a:rPr>
              <a:t>))</a:t>
            </a:r>
          </a:p>
          <a:p>
            <a:pPr>
              <a:lnSpc>
                <a:spcPct val="140000"/>
              </a:lnSpc>
              <a:tabLst>
                <a:tab pos="2965450" algn="ctr"/>
              </a:tabLst>
            </a:pPr>
            <a:endParaRPr lang="en-US" altLang="en-US" sz="1700" dirty="0"/>
          </a:p>
          <a:p>
            <a:pPr>
              <a:lnSpc>
                <a:spcPct val="140000"/>
              </a:lnSpc>
              <a:buFont typeface="Monotype Sorts" charset="2"/>
              <a:buNone/>
              <a:tabLst>
                <a:tab pos="2965450" algn="ctr"/>
              </a:tabLst>
            </a:pPr>
            <a:endParaRPr lang="en-US" altLang="en-US"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r>
              <a:rPr lang="en-US" altLang="en-US" sz="2800" dirty="0"/>
              <a:t>Union Operation (Cont.)</a:t>
            </a:r>
          </a:p>
        </p:txBody>
      </p:sp>
      <p:sp>
        <p:nvSpPr>
          <p:cNvPr id="9218" name="Rectangle 3"/>
          <p:cNvSpPr>
            <a:spLocks noGrp="1" noChangeArrowheads="1"/>
          </p:cNvSpPr>
          <p:nvPr>
            <p:ph type="body" idx="1"/>
          </p:nvPr>
        </p:nvSpPr>
        <p:spPr>
          <a:xfrm>
            <a:off x="768350" y="1041338"/>
            <a:ext cx="7680706" cy="1372678"/>
          </a:xfrm>
        </p:spPr>
        <p:txBody>
          <a:bodyPr/>
          <a:lstStyle/>
          <a:p>
            <a:pPr>
              <a:lnSpc>
                <a:spcPct val="140000"/>
              </a:lnSpc>
              <a:tabLst>
                <a:tab pos="2965450" algn="ctr"/>
              </a:tabLst>
            </a:pPr>
            <a:r>
              <a:rPr lang="en-US" altLang="en-US" sz="1700" dirty="0"/>
              <a:t>Result of: </a:t>
            </a:r>
            <a:br>
              <a:rPr lang="en-US" altLang="en-US" sz="1700" dirty="0"/>
            </a:br>
            <a:r>
              <a:rPr lang="en-US" altLang="en-US" sz="1700" dirty="0"/>
              <a:t>   </a:t>
            </a:r>
            <a:r>
              <a:rPr lang="en-US" altLang="en-US" dirty="0">
                <a:sym typeface="Symbol" panose="05050102010706020507" pitchFamily="18" charset="2"/>
              </a:rPr>
              <a:t></a:t>
            </a:r>
            <a:r>
              <a:rPr lang="en-US" altLang="en-US" i="1" baseline="-25000" dirty="0" err="1"/>
              <a:t>course_id</a:t>
            </a:r>
            <a:r>
              <a:rPr lang="en-US" altLang="en-US" dirty="0"/>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semester=</a:t>
            </a:r>
            <a:r>
              <a:rPr lang="ja-JP" altLang="en-US" i="1" baseline="-25000" dirty="0">
                <a:sym typeface="Symbol" panose="05050102010706020507" pitchFamily="18" charset="2"/>
              </a:rPr>
              <a:t>“</a:t>
            </a:r>
            <a:r>
              <a:rPr lang="en-US" altLang="ja-JP" i="1" baseline="-25000" dirty="0">
                <a:sym typeface="Symbol" panose="05050102010706020507" pitchFamily="18" charset="2"/>
              </a:rPr>
              <a:t>Fall</a:t>
            </a:r>
            <a:r>
              <a:rPr lang="ja-JP" altLang="en-US" i="1" baseline="-25000" dirty="0">
                <a:sym typeface="Symbol" panose="05050102010706020507" pitchFamily="18" charset="2"/>
              </a:rPr>
              <a:t>”</a:t>
            </a:r>
            <a:r>
              <a:rPr lang="en-US" altLang="ja-JP" i="1" baseline="-25000" dirty="0">
                <a:sym typeface="Symbol" panose="05050102010706020507" pitchFamily="18" charset="2"/>
              </a:rPr>
              <a:t>  </a:t>
            </a:r>
            <a:r>
              <a:rPr lang="el-GR" altLang="ja-JP" i="1" baseline="-25000" dirty="0">
                <a:sym typeface="Symbol" panose="05050102010706020507" pitchFamily="18" charset="2"/>
              </a:rPr>
              <a:t>Λ</a:t>
            </a:r>
            <a:r>
              <a:rPr lang="en-US" altLang="ja-JP" i="1" baseline="-25000" dirty="0">
                <a:sym typeface="Symbol" panose="05050102010706020507" pitchFamily="18" charset="2"/>
              </a:rPr>
              <a:t> year=2017 </a:t>
            </a:r>
            <a:r>
              <a:rPr lang="en-US" altLang="ja-JP" sz="1700" dirty="0">
                <a:sym typeface="Symbol" panose="05050102010706020507" pitchFamily="18" charset="2"/>
              </a:rPr>
              <a:t>(</a:t>
            </a:r>
            <a:r>
              <a:rPr lang="en-US" altLang="ja-JP" sz="1700" i="1" dirty="0">
                <a:sym typeface="Symbol" panose="05050102010706020507" pitchFamily="18" charset="2"/>
              </a:rPr>
              <a:t>section</a:t>
            </a:r>
            <a:r>
              <a:rPr lang="en-US" altLang="ja-JP" sz="1700" dirty="0">
                <a:sym typeface="Symbol" panose="05050102010706020507" pitchFamily="18" charset="2"/>
              </a:rPr>
              <a:t>))    </a:t>
            </a:r>
            <a:br>
              <a:rPr lang="en-US" altLang="ja-JP" sz="1700" dirty="0">
                <a:sym typeface="Symbol" panose="05050102010706020507" pitchFamily="18" charset="2"/>
              </a:rPr>
            </a:br>
            <a:r>
              <a:rPr lang="en-US" altLang="ja-JP" dirty="0">
                <a:sym typeface="Symbol" panose="05050102010706020507" pitchFamily="18" charset="2"/>
              </a:rPr>
              <a:t>   </a:t>
            </a:r>
            <a:r>
              <a:rPr lang="en-US" altLang="ja-JP" i="1" baseline="-25000" dirty="0" err="1"/>
              <a:t>course_id</a:t>
            </a:r>
            <a:r>
              <a:rPr lang="en-US" altLang="ja-JP" dirty="0"/>
              <a:t> (</a:t>
            </a:r>
            <a:r>
              <a:rPr lang="en-US" altLang="ja-JP" i="1" dirty="0">
                <a:sym typeface="Symbol" panose="05050102010706020507" pitchFamily="18" charset="2"/>
              </a:rPr>
              <a:t></a:t>
            </a:r>
            <a:r>
              <a:rPr lang="en-US" altLang="ja-JP" dirty="0">
                <a:sym typeface="Symbol" panose="05050102010706020507" pitchFamily="18" charset="2"/>
              </a:rPr>
              <a:t> </a:t>
            </a:r>
            <a:r>
              <a:rPr lang="en-US" altLang="ja-JP" i="1" baseline="-25000" dirty="0">
                <a:sym typeface="Symbol" panose="05050102010706020507" pitchFamily="18" charset="2"/>
              </a:rPr>
              <a:t>semester=</a:t>
            </a:r>
            <a:r>
              <a:rPr lang="ja-JP" altLang="en-US" i="1" baseline="-25000" dirty="0">
                <a:sym typeface="Symbol" panose="05050102010706020507" pitchFamily="18" charset="2"/>
              </a:rPr>
              <a:t>“</a:t>
            </a:r>
            <a:r>
              <a:rPr lang="en-US" altLang="ja-JP" i="1" baseline="-25000" dirty="0">
                <a:sym typeface="Symbol" panose="05050102010706020507" pitchFamily="18" charset="2"/>
              </a:rPr>
              <a:t>Spring</a:t>
            </a:r>
            <a:r>
              <a:rPr lang="ja-JP" altLang="en-US" i="1" baseline="-25000" dirty="0">
                <a:sym typeface="Symbol" panose="05050102010706020507" pitchFamily="18" charset="2"/>
              </a:rPr>
              <a:t>”</a:t>
            </a:r>
            <a:r>
              <a:rPr lang="en-US" altLang="ja-JP" i="1" baseline="-25000" dirty="0">
                <a:sym typeface="Symbol" panose="05050102010706020507" pitchFamily="18" charset="2"/>
              </a:rPr>
              <a:t>  </a:t>
            </a:r>
            <a:r>
              <a:rPr lang="el-GR" altLang="ja-JP" i="1" baseline="-25000" dirty="0">
                <a:sym typeface="Symbol" panose="05050102010706020507" pitchFamily="18" charset="2"/>
              </a:rPr>
              <a:t>Λ</a:t>
            </a:r>
            <a:r>
              <a:rPr lang="en-US" altLang="ja-JP" i="1" baseline="-25000" dirty="0">
                <a:sym typeface="Symbol" panose="05050102010706020507" pitchFamily="18" charset="2"/>
              </a:rPr>
              <a:t> year=2018 </a:t>
            </a:r>
            <a:r>
              <a:rPr lang="en-US" altLang="ja-JP" sz="1700" dirty="0">
                <a:sym typeface="Symbol" panose="05050102010706020507" pitchFamily="18" charset="2"/>
              </a:rPr>
              <a:t>(</a:t>
            </a:r>
            <a:r>
              <a:rPr lang="en-US" altLang="ja-JP" sz="1700" i="1" dirty="0">
                <a:sym typeface="Symbol" panose="05050102010706020507" pitchFamily="18" charset="2"/>
              </a:rPr>
              <a:t>section</a:t>
            </a:r>
            <a:r>
              <a:rPr lang="en-US" altLang="ja-JP" sz="1700" dirty="0">
                <a:sym typeface="Symbol" panose="05050102010706020507" pitchFamily="18" charset="2"/>
              </a:rPr>
              <a:t>))</a:t>
            </a:r>
          </a:p>
          <a:p>
            <a:pPr>
              <a:lnSpc>
                <a:spcPct val="140000"/>
              </a:lnSpc>
              <a:tabLst>
                <a:tab pos="2965450" algn="ctr"/>
              </a:tabLst>
            </a:pPr>
            <a:endParaRPr lang="en-US" altLang="en-US" dirty="0"/>
          </a:p>
          <a:p>
            <a:pPr>
              <a:lnSpc>
                <a:spcPct val="140000"/>
              </a:lnSpc>
              <a:buFont typeface="Monotype Sorts" charset="2"/>
              <a:buNone/>
              <a:tabLst>
                <a:tab pos="2965450" algn="ctr"/>
              </a:tabLst>
            </a:pPr>
            <a:endParaRPr lang="en-US" altLang="en-US" i="1" dirty="0"/>
          </a:p>
        </p:txBody>
      </p:sp>
      <p:pic>
        <p:nvPicPr>
          <p:cNvPr id="3" name="Graphic 2">
            <a:extLst>
              <a:ext uri="{FF2B5EF4-FFF2-40B4-BE49-F238E27FC236}">
                <a16:creationId xmlns:a16="http://schemas.microsoft.com/office/drawing/2014/main" id="{E046BBCE-73BA-4F9A-A63C-4CE16E87A822}"/>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l="37449" r="37780" b="13863"/>
          <a:stretch/>
        </p:blipFill>
        <p:spPr>
          <a:xfrm>
            <a:off x="3481551" y="2414016"/>
            <a:ext cx="1818732" cy="28747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3122" name="Rectangle 2"/>
          <p:cNvSpPr>
            <a:spLocks noGrp="1" noChangeArrowheads="1"/>
          </p:cNvSpPr>
          <p:nvPr>
            <p:ph type="title"/>
          </p:nvPr>
        </p:nvSpPr>
        <p:spPr/>
        <p:txBody>
          <a:bodyPr/>
          <a:lstStyle/>
          <a:p>
            <a:r>
              <a:rPr lang="en-US" altLang="en-US" sz="2800" dirty="0"/>
              <a:t>Set-Intersection Operation</a:t>
            </a:r>
          </a:p>
        </p:txBody>
      </p:sp>
      <p:sp>
        <p:nvSpPr>
          <p:cNvPr id="11266" name="Rectangle 3"/>
          <p:cNvSpPr>
            <a:spLocks noGrp="1" noChangeArrowheads="1"/>
          </p:cNvSpPr>
          <p:nvPr>
            <p:ph type="body" idx="1"/>
          </p:nvPr>
        </p:nvSpPr>
        <p:spPr>
          <a:xfrm>
            <a:off x="768350" y="1077913"/>
            <a:ext cx="7612169" cy="3932999"/>
          </a:xfrm>
        </p:spPr>
        <p:txBody>
          <a:bodyPr/>
          <a:lstStyle/>
          <a:p>
            <a:r>
              <a:rPr lang="en-US" altLang="en-US" sz="1700" dirty="0"/>
              <a:t>The  set-intersection  operation </a:t>
            </a:r>
            <a:r>
              <a:rPr lang="en-US" altLang="en-US" sz="1700" dirty="0">
                <a:sym typeface="Symbol" panose="05050102010706020507" pitchFamily="18" charset="2"/>
              </a:rPr>
              <a:t> allows us to find tuples that are in both the input relations.</a:t>
            </a:r>
            <a:endParaRPr lang="en-US" altLang="en-US" sz="1700" dirty="0"/>
          </a:p>
          <a:p>
            <a:r>
              <a:rPr lang="en-US" altLang="en-US" sz="1700" dirty="0"/>
              <a:t>Notation: </a:t>
            </a:r>
            <a:r>
              <a:rPr lang="en-US" altLang="en-US" sz="1700" i="1" dirty="0"/>
              <a:t>r</a:t>
            </a:r>
            <a:r>
              <a:rPr lang="en-US" altLang="en-US" sz="1700" dirty="0"/>
              <a:t> </a:t>
            </a:r>
            <a:r>
              <a:rPr lang="en-US" altLang="en-US" sz="1700" dirty="0">
                <a:sym typeface="Symbol" panose="05050102010706020507" pitchFamily="18" charset="2"/>
              </a:rPr>
              <a:t> </a:t>
            </a:r>
            <a:r>
              <a:rPr lang="en-US" altLang="en-US" sz="1700" i="1" dirty="0"/>
              <a:t>s</a:t>
            </a:r>
            <a:endParaRPr lang="en-US" altLang="en-US" sz="1700" dirty="0"/>
          </a:p>
          <a:p>
            <a:r>
              <a:rPr lang="en-US" altLang="en-US" sz="1700" dirty="0"/>
              <a:t>Assume: </a:t>
            </a:r>
          </a:p>
          <a:p>
            <a:pPr lvl="1"/>
            <a:r>
              <a:rPr lang="en-US" altLang="en-US" sz="1700" i="1" dirty="0"/>
              <a:t>r</a:t>
            </a:r>
            <a:r>
              <a:rPr lang="en-US" altLang="en-US" sz="1700" dirty="0"/>
              <a:t>, </a:t>
            </a:r>
            <a:r>
              <a:rPr lang="en-US" altLang="en-US" sz="1700" i="1" dirty="0"/>
              <a:t>s</a:t>
            </a:r>
            <a:r>
              <a:rPr lang="en-US" altLang="en-US" sz="1700" dirty="0"/>
              <a:t> have the </a:t>
            </a:r>
            <a:r>
              <a:rPr lang="en-US" altLang="en-US" sz="1700" i="1" dirty="0"/>
              <a:t>same </a:t>
            </a:r>
            <a:r>
              <a:rPr lang="en-US" altLang="en-US" sz="1700" i="1" dirty="0" err="1"/>
              <a:t>arity</a:t>
            </a:r>
            <a:r>
              <a:rPr lang="en-US" altLang="en-US" sz="1700" dirty="0"/>
              <a:t> </a:t>
            </a:r>
          </a:p>
          <a:p>
            <a:pPr lvl="1"/>
            <a:r>
              <a:rPr lang="en-US" altLang="en-US" sz="1700" dirty="0"/>
              <a:t>attributes of </a:t>
            </a:r>
            <a:r>
              <a:rPr lang="en-US" altLang="en-US" sz="1700" i="1" dirty="0"/>
              <a:t>r</a:t>
            </a:r>
            <a:r>
              <a:rPr lang="en-US" altLang="en-US" sz="1700" dirty="0"/>
              <a:t> and </a:t>
            </a:r>
            <a:r>
              <a:rPr lang="en-US" altLang="en-US" sz="1700" i="1" dirty="0"/>
              <a:t>s</a:t>
            </a:r>
            <a:r>
              <a:rPr lang="en-US" altLang="en-US" sz="1700" dirty="0"/>
              <a:t> are compatible</a:t>
            </a:r>
          </a:p>
          <a:p>
            <a:r>
              <a:rPr lang="en-US" altLang="en-US" sz="1700" dirty="0"/>
              <a:t>Example: Find the set of all courses taught in both the Fall 2017 and the Spring 2018 semesters.</a:t>
            </a:r>
          </a:p>
          <a:p>
            <a:pPr>
              <a:buNone/>
            </a:pPr>
            <a:r>
              <a:rPr lang="en-US" altLang="en-US" sz="1700" dirty="0">
                <a:sym typeface="Symbol" panose="05050102010706020507" pitchFamily="18" charset="2"/>
              </a:rPr>
              <a:t>           </a:t>
            </a:r>
            <a:r>
              <a:rPr lang="en-US" altLang="en-US" dirty="0">
                <a:sym typeface="Symbol" panose="05050102010706020507" pitchFamily="18" charset="2"/>
              </a:rPr>
              <a:t></a:t>
            </a:r>
            <a:r>
              <a:rPr lang="en-US" altLang="en-US" i="1" baseline="-25000" dirty="0" err="1"/>
              <a:t>course_id</a:t>
            </a:r>
            <a:r>
              <a:rPr lang="en-US" altLang="en-US" dirty="0"/>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semester=</a:t>
            </a:r>
            <a:r>
              <a:rPr lang="ja-JP" altLang="en-US" i="1" baseline="-25000" dirty="0">
                <a:sym typeface="Symbol" panose="05050102010706020507" pitchFamily="18" charset="2"/>
              </a:rPr>
              <a:t>“</a:t>
            </a:r>
            <a:r>
              <a:rPr lang="en-US" altLang="ja-JP" i="1" baseline="-25000" dirty="0">
                <a:sym typeface="Symbol" panose="05050102010706020507" pitchFamily="18" charset="2"/>
              </a:rPr>
              <a:t>Fall</a:t>
            </a:r>
            <a:r>
              <a:rPr lang="ja-JP" altLang="en-US" i="1" baseline="-25000" dirty="0">
                <a:sym typeface="Symbol" panose="05050102010706020507" pitchFamily="18" charset="2"/>
              </a:rPr>
              <a:t>”</a:t>
            </a:r>
            <a:r>
              <a:rPr lang="en-US" altLang="ja-JP" i="1" baseline="-25000" dirty="0">
                <a:sym typeface="Symbol" panose="05050102010706020507" pitchFamily="18" charset="2"/>
              </a:rPr>
              <a:t>  </a:t>
            </a:r>
            <a:r>
              <a:rPr lang="el-GR" altLang="ja-JP" i="1" baseline="-25000" dirty="0">
                <a:sym typeface="Symbol" panose="05050102010706020507" pitchFamily="18" charset="2"/>
              </a:rPr>
              <a:t>Λ</a:t>
            </a:r>
            <a:r>
              <a:rPr lang="en-US" altLang="ja-JP" i="1" baseline="-25000" dirty="0">
                <a:sym typeface="Symbol" panose="05050102010706020507" pitchFamily="18" charset="2"/>
              </a:rPr>
              <a:t> year=2017 </a:t>
            </a:r>
            <a:r>
              <a:rPr lang="en-US" altLang="ja-JP" sz="1700" dirty="0">
                <a:sym typeface="Symbol" panose="05050102010706020507" pitchFamily="18" charset="2"/>
              </a:rPr>
              <a:t>(</a:t>
            </a:r>
            <a:r>
              <a:rPr lang="en-US" altLang="ja-JP" sz="1700" i="1" dirty="0">
                <a:sym typeface="Symbol" panose="05050102010706020507" pitchFamily="18" charset="2"/>
              </a:rPr>
              <a:t>section</a:t>
            </a:r>
            <a:r>
              <a:rPr lang="en-US" altLang="ja-JP" sz="1700" dirty="0">
                <a:sym typeface="Symbol" panose="05050102010706020507" pitchFamily="18" charset="2"/>
              </a:rPr>
              <a:t>)) </a:t>
            </a:r>
            <a:r>
              <a:rPr lang="en-US" altLang="en-US" sz="1700" dirty="0">
                <a:sym typeface="Symbol" panose="05050102010706020507" pitchFamily="18" charset="2"/>
              </a:rPr>
              <a:t> </a:t>
            </a:r>
            <a:r>
              <a:rPr lang="en-US" altLang="ja-JP" sz="1700" dirty="0">
                <a:sym typeface="Symbol" panose="05050102010706020507" pitchFamily="18" charset="2"/>
              </a:rPr>
              <a:t/>
            </a:r>
            <a:br>
              <a:rPr lang="en-US" altLang="ja-JP" sz="1700" dirty="0">
                <a:sym typeface="Symbol" panose="05050102010706020507" pitchFamily="18" charset="2"/>
              </a:rPr>
            </a:br>
            <a:r>
              <a:rPr lang="en-US" altLang="ja-JP" sz="1700" dirty="0">
                <a:sym typeface="Symbol" panose="05050102010706020507" pitchFamily="18" charset="2"/>
              </a:rPr>
              <a:t>     </a:t>
            </a:r>
            <a:r>
              <a:rPr lang="en-US" altLang="ja-JP" dirty="0">
                <a:sym typeface="Symbol" panose="05050102010706020507" pitchFamily="18" charset="2"/>
              </a:rPr>
              <a:t></a:t>
            </a:r>
            <a:r>
              <a:rPr lang="en-US" altLang="ja-JP" i="1" baseline="-25000" dirty="0" err="1"/>
              <a:t>course_id</a:t>
            </a:r>
            <a:r>
              <a:rPr lang="en-US" altLang="ja-JP" dirty="0"/>
              <a:t> (</a:t>
            </a:r>
            <a:r>
              <a:rPr lang="en-US" altLang="ja-JP" i="1" dirty="0">
                <a:sym typeface="Symbol" panose="05050102010706020507" pitchFamily="18" charset="2"/>
              </a:rPr>
              <a:t></a:t>
            </a:r>
            <a:r>
              <a:rPr lang="en-US" altLang="ja-JP" dirty="0">
                <a:sym typeface="Symbol" panose="05050102010706020507" pitchFamily="18" charset="2"/>
              </a:rPr>
              <a:t> </a:t>
            </a:r>
            <a:r>
              <a:rPr lang="en-US" altLang="ja-JP" i="1" baseline="-25000" dirty="0">
                <a:sym typeface="Symbol" panose="05050102010706020507" pitchFamily="18" charset="2"/>
              </a:rPr>
              <a:t>semester=</a:t>
            </a:r>
            <a:r>
              <a:rPr lang="ja-JP" altLang="en-US" i="1" baseline="-25000" dirty="0">
                <a:sym typeface="Symbol" panose="05050102010706020507" pitchFamily="18" charset="2"/>
              </a:rPr>
              <a:t>“</a:t>
            </a:r>
            <a:r>
              <a:rPr lang="en-US" altLang="ja-JP" i="1" baseline="-25000" dirty="0">
                <a:sym typeface="Symbol" panose="05050102010706020507" pitchFamily="18" charset="2"/>
              </a:rPr>
              <a:t>Spring</a:t>
            </a:r>
            <a:r>
              <a:rPr lang="ja-JP" altLang="en-US" i="1" baseline="-25000" dirty="0">
                <a:sym typeface="Symbol" panose="05050102010706020507" pitchFamily="18" charset="2"/>
              </a:rPr>
              <a:t>”</a:t>
            </a:r>
            <a:r>
              <a:rPr lang="en-US" altLang="ja-JP" i="1" baseline="-25000" dirty="0">
                <a:sym typeface="Symbol" panose="05050102010706020507" pitchFamily="18" charset="2"/>
              </a:rPr>
              <a:t>  </a:t>
            </a:r>
            <a:r>
              <a:rPr lang="el-GR" altLang="ja-JP" i="1" baseline="-25000" dirty="0">
                <a:sym typeface="Symbol" panose="05050102010706020507" pitchFamily="18" charset="2"/>
              </a:rPr>
              <a:t>Λ</a:t>
            </a:r>
            <a:r>
              <a:rPr lang="en-US" altLang="ja-JP" i="1" baseline="-25000" dirty="0">
                <a:sym typeface="Symbol" panose="05050102010706020507" pitchFamily="18" charset="2"/>
              </a:rPr>
              <a:t> year=2018 </a:t>
            </a:r>
            <a:r>
              <a:rPr lang="en-US" altLang="ja-JP" sz="1700" dirty="0">
                <a:sym typeface="Symbol" panose="05050102010706020507" pitchFamily="18" charset="2"/>
              </a:rPr>
              <a:t>(</a:t>
            </a:r>
            <a:r>
              <a:rPr lang="en-US" altLang="ja-JP" sz="1700" i="1" dirty="0">
                <a:sym typeface="Symbol" panose="05050102010706020507" pitchFamily="18" charset="2"/>
              </a:rPr>
              <a:t>section</a:t>
            </a:r>
            <a:r>
              <a:rPr lang="en-US" altLang="ja-JP" sz="1700" dirty="0">
                <a:sym typeface="Symbol" panose="05050102010706020507" pitchFamily="18" charset="2"/>
              </a:rPr>
              <a:t>))</a:t>
            </a:r>
          </a:p>
          <a:p>
            <a:pPr>
              <a:buNone/>
            </a:pPr>
            <a:r>
              <a:rPr lang="en-US" altLang="en-US" sz="800" dirty="0">
                <a:sym typeface="Symbol" panose="05050102010706020507" pitchFamily="18" charset="2"/>
              </a:rPr>
              <a:t> </a:t>
            </a:r>
          </a:p>
          <a:p>
            <a:pPr lvl="1"/>
            <a:r>
              <a:rPr lang="en-US" altLang="en-US" sz="1700" dirty="0">
                <a:sym typeface="Symbol" panose="05050102010706020507" pitchFamily="18" charset="2"/>
              </a:rPr>
              <a:t>Result</a:t>
            </a:r>
            <a:endParaRPr lang="en-US" altLang="en-US" sz="1700" dirty="0"/>
          </a:p>
          <a:p>
            <a:pPr>
              <a:buNone/>
            </a:pPr>
            <a:endParaRPr lang="en-US" altLang="en-US" dirty="0"/>
          </a:p>
        </p:txBody>
      </p:sp>
      <p:pic>
        <p:nvPicPr>
          <p:cNvPr id="3" name="Graphic 2">
            <a:extLst>
              <a:ext uri="{FF2B5EF4-FFF2-40B4-BE49-F238E27FC236}">
                <a16:creationId xmlns:a16="http://schemas.microsoft.com/office/drawing/2014/main" id="{EFD242B5-7E15-4908-A992-5D9C0D3A8FAE}"/>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l="38817" r="40862" b="33302"/>
          <a:stretch/>
        </p:blipFill>
        <p:spPr>
          <a:xfrm>
            <a:off x="5198419" y="4940050"/>
            <a:ext cx="2392066" cy="143523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3250" name="Rectangle 2"/>
          <p:cNvSpPr>
            <a:spLocks noGrp="1" noChangeArrowheads="1"/>
          </p:cNvSpPr>
          <p:nvPr>
            <p:ph type="title"/>
          </p:nvPr>
        </p:nvSpPr>
        <p:spPr>
          <a:xfrm>
            <a:off x="768350" y="111125"/>
            <a:ext cx="8077200" cy="609600"/>
          </a:xfrm>
        </p:spPr>
        <p:txBody>
          <a:bodyPr/>
          <a:lstStyle/>
          <a:p>
            <a:r>
              <a:rPr lang="en-US" altLang="en-US" sz="2800" dirty="0"/>
              <a:t>Set Difference Operation</a:t>
            </a:r>
          </a:p>
        </p:txBody>
      </p:sp>
      <p:sp>
        <p:nvSpPr>
          <p:cNvPr id="10242" name="Rectangle 3"/>
          <p:cNvSpPr>
            <a:spLocks noGrp="1" noChangeArrowheads="1"/>
          </p:cNvSpPr>
          <p:nvPr>
            <p:ph type="body" idx="1"/>
          </p:nvPr>
        </p:nvSpPr>
        <p:spPr>
          <a:xfrm>
            <a:off x="768351" y="1077913"/>
            <a:ext cx="7754212" cy="3737927"/>
          </a:xfrm>
        </p:spPr>
        <p:txBody>
          <a:bodyPr/>
          <a:lstStyle/>
          <a:p>
            <a:pPr>
              <a:spcBef>
                <a:spcPct val="60000"/>
              </a:spcBef>
            </a:pPr>
            <a:r>
              <a:rPr lang="en-US" altLang="en-US" sz="1700" dirty="0"/>
              <a:t>The set-difference operation allows us to find tuples that are in one relation but are not in another. </a:t>
            </a:r>
          </a:p>
          <a:p>
            <a:pPr>
              <a:spcBef>
                <a:spcPct val="60000"/>
              </a:spcBef>
            </a:pPr>
            <a:r>
              <a:rPr lang="en-US" altLang="en-US" sz="1700" dirty="0"/>
              <a:t>Notation </a:t>
            </a:r>
            <a:r>
              <a:rPr lang="en-US" altLang="en-US" sz="1700" i="1" dirty="0"/>
              <a:t>r – s</a:t>
            </a:r>
          </a:p>
          <a:p>
            <a:r>
              <a:rPr lang="en-US" altLang="en-US" sz="1700" dirty="0"/>
              <a:t>Set differences must be taken between </a:t>
            </a:r>
            <a:r>
              <a:rPr lang="en-US" altLang="en-US" sz="1700" b="1" dirty="0">
                <a:solidFill>
                  <a:srgbClr val="002060"/>
                </a:solidFill>
              </a:rPr>
              <a:t>compatible</a:t>
            </a:r>
            <a:r>
              <a:rPr lang="en-US" altLang="en-US" sz="1700" dirty="0"/>
              <a:t> relations.</a:t>
            </a:r>
          </a:p>
          <a:p>
            <a:pPr lvl="1"/>
            <a:r>
              <a:rPr lang="en-US" altLang="en-US" sz="1700" i="1" dirty="0"/>
              <a:t>r</a:t>
            </a:r>
            <a:r>
              <a:rPr lang="en-US" altLang="en-US" sz="1700" dirty="0"/>
              <a:t> and </a:t>
            </a:r>
            <a:r>
              <a:rPr lang="en-US" altLang="en-US" sz="1700" i="1" dirty="0"/>
              <a:t>s</a:t>
            </a:r>
            <a:r>
              <a:rPr lang="en-US" altLang="en-US" sz="1700" dirty="0"/>
              <a:t> must have the </a:t>
            </a:r>
            <a:r>
              <a:rPr lang="en-US" altLang="en-US" sz="1700" dirty="0">
                <a:solidFill>
                  <a:srgbClr val="002060"/>
                </a:solidFill>
              </a:rPr>
              <a:t>same</a:t>
            </a:r>
            <a:r>
              <a:rPr lang="en-US" altLang="en-US" sz="1700" dirty="0"/>
              <a:t> </a:t>
            </a:r>
            <a:r>
              <a:rPr lang="en-US" altLang="en-US" sz="1700" dirty="0" err="1"/>
              <a:t>arity</a:t>
            </a:r>
            <a:endParaRPr lang="en-US" altLang="en-US" sz="1700" dirty="0"/>
          </a:p>
          <a:p>
            <a:pPr lvl="1"/>
            <a:r>
              <a:rPr lang="en-US" altLang="en-US" sz="1700" dirty="0"/>
              <a:t>attribute domains of </a:t>
            </a:r>
            <a:r>
              <a:rPr lang="en-US" altLang="en-US" sz="1700" i="1" dirty="0"/>
              <a:t>r </a:t>
            </a:r>
            <a:r>
              <a:rPr lang="en-US" altLang="en-US" sz="1700" dirty="0"/>
              <a:t>and </a:t>
            </a:r>
            <a:r>
              <a:rPr lang="en-US" altLang="en-US" sz="1700" i="1" dirty="0"/>
              <a:t>s </a:t>
            </a:r>
            <a:r>
              <a:rPr lang="en-US" altLang="en-US" sz="1700" dirty="0"/>
              <a:t>must be compatible</a:t>
            </a:r>
          </a:p>
          <a:p>
            <a:pPr>
              <a:lnSpc>
                <a:spcPct val="140000"/>
              </a:lnSpc>
            </a:pPr>
            <a:r>
              <a:rPr lang="en-US" altLang="en-US" sz="1700" dirty="0"/>
              <a:t>Example: to find all courses taught in the Fall 2017 semester, but not in the Spring 2018 semester</a:t>
            </a:r>
            <a:br>
              <a:rPr lang="en-US" altLang="en-US" sz="1700" dirty="0"/>
            </a:br>
            <a:r>
              <a:rPr lang="en-US" altLang="en-US" sz="1700" dirty="0"/>
              <a:t>   </a:t>
            </a:r>
            <a:r>
              <a:rPr lang="en-US" altLang="en-US" sz="1700" dirty="0">
                <a:sym typeface="Symbol" panose="05050102010706020507" pitchFamily="18" charset="2"/>
              </a:rPr>
              <a:t></a:t>
            </a:r>
            <a:r>
              <a:rPr lang="en-US" altLang="en-US" sz="1700" i="1" baseline="-25000" dirty="0" err="1"/>
              <a:t>course_id</a:t>
            </a:r>
            <a:r>
              <a:rPr lang="en-US" altLang="en-US" sz="1700" dirty="0"/>
              <a:t> (</a:t>
            </a:r>
            <a:r>
              <a:rPr lang="en-US" altLang="en-US" sz="1700" i="1" dirty="0">
                <a:sym typeface="Symbol" panose="05050102010706020507" pitchFamily="18" charset="2"/>
              </a:rPr>
              <a:t></a:t>
            </a:r>
            <a:r>
              <a:rPr lang="en-US" altLang="en-US" sz="1700" dirty="0">
                <a:sym typeface="Symbol" panose="05050102010706020507" pitchFamily="18" charset="2"/>
              </a:rPr>
              <a:t> </a:t>
            </a:r>
            <a:r>
              <a:rPr lang="en-US" altLang="en-US" sz="1700" i="1" baseline="-25000" dirty="0">
                <a:sym typeface="Symbol" panose="05050102010706020507" pitchFamily="18" charset="2"/>
              </a:rPr>
              <a:t>semester=</a:t>
            </a:r>
            <a:r>
              <a:rPr lang="ja-JP" altLang="en-US" sz="1700" i="1" baseline="-25000" dirty="0">
                <a:sym typeface="Symbol" panose="05050102010706020507" pitchFamily="18" charset="2"/>
              </a:rPr>
              <a:t>“</a:t>
            </a:r>
            <a:r>
              <a:rPr lang="en-US" altLang="ja-JP" sz="1700" i="1" baseline="-25000" dirty="0">
                <a:sym typeface="Symbol" panose="05050102010706020507" pitchFamily="18" charset="2"/>
              </a:rPr>
              <a:t>Fall</a:t>
            </a:r>
            <a:r>
              <a:rPr lang="ja-JP" altLang="en-US" sz="1700" i="1" baseline="-25000" dirty="0">
                <a:sym typeface="Symbol" panose="05050102010706020507" pitchFamily="18" charset="2"/>
              </a:rPr>
              <a:t>”</a:t>
            </a:r>
            <a:r>
              <a:rPr lang="en-US" altLang="ja-JP" sz="1700" i="1" baseline="-25000" dirty="0">
                <a:sym typeface="Symbol" panose="05050102010706020507" pitchFamily="18" charset="2"/>
              </a:rPr>
              <a:t>  </a:t>
            </a:r>
            <a:r>
              <a:rPr lang="el-GR" altLang="ja-JP" sz="1700" i="1" baseline="-25000" dirty="0">
                <a:sym typeface="Symbol" panose="05050102010706020507" pitchFamily="18" charset="2"/>
              </a:rPr>
              <a:t>Λ</a:t>
            </a:r>
            <a:r>
              <a:rPr lang="en-US" altLang="ja-JP" sz="1700" i="1" baseline="-25000" dirty="0">
                <a:sym typeface="Symbol" panose="05050102010706020507" pitchFamily="18" charset="2"/>
              </a:rPr>
              <a:t> year=2017 </a:t>
            </a:r>
            <a:r>
              <a:rPr lang="en-US" altLang="ja-JP" sz="1700" dirty="0">
                <a:sym typeface="Symbol" panose="05050102010706020507" pitchFamily="18" charset="2"/>
              </a:rPr>
              <a:t>(</a:t>
            </a:r>
            <a:r>
              <a:rPr lang="en-US" altLang="ja-JP" sz="1700" i="1" dirty="0">
                <a:sym typeface="Symbol" panose="05050102010706020507" pitchFamily="18" charset="2"/>
              </a:rPr>
              <a:t>section</a:t>
            </a:r>
            <a:r>
              <a:rPr lang="en-US" altLang="ja-JP" sz="1700" dirty="0">
                <a:sym typeface="Symbol" panose="05050102010706020507" pitchFamily="18" charset="2"/>
              </a:rPr>
              <a:t>))  −  </a:t>
            </a:r>
            <a:br>
              <a:rPr lang="en-US" altLang="ja-JP" sz="1700" dirty="0">
                <a:sym typeface="Symbol" panose="05050102010706020507" pitchFamily="18" charset="2"/>
              </a:rPr>
            </a:br>
            <a:r>
              <a:rPr lang="en-US" altLang="ja-JP" sz="1700" dirty="0">
                <a:sym typeface="Symbol" panose="05050102010706020507" pitchFamily="18" charset="2"/>
              </a:rPr>
              <a:t>   </a:t>
            </a:r>
            <a:r>
              <a:rPr lang="en-US" altLang="ja-JP" sz="1700" i="1" baseline="-25000" dirty="0" err="1"/>
              <a:t>course_id</a:t>
            </a:r>
            <a:r>
              <a:rPr lang="en-US" altLang="ja-JP" sz="1700" dirty="0"/>
              <a:t> (</a:t>
            </a:r>
            <a:r>
              <a:rPr lang="en-US" altLang="ja-JP" sz="1700" i="1" dirty="0">
                <a:sym typeface="Symbol" panose="05050102010706020507" pitchFamily="18" charset="2"/>
              </a:rPr>
              <a:t></a:t>
            </a:r>
            <a:r>
              <a:rPr lang="en-US" altLang="ja-JP" sz="1700" dirty="0">
                <a:sym typeface="Symbol" panose="05050102010706020507" pitchFamily="18" charset="2"/>
              </a:rPr>
              <a:t> </a:t>
            </a:r>
            <a:r>
              <a:rPr lang="en-US" altLang="ja-JP" sz="1700" i="1" baseline="-25000" dirty="0">
                <a:sym typeface="Symbol" panose="05050102010706020507" pitchFamily="18" charset="2"/>
              </a:rPr>
              <a:t>semester=</a:t>
            </a:r>
            <a:r>
              <a:rPr lang="ja-JP" altLang="en-US" sz="1700" i="1" baseline="-25000" dirty="0">
                <a:sym typeface="Symbol" panose="05050102010706020507" pitchFamily="18" charset="2"/>
              </a:rPr>
              <a:t>“</a:t>
            </a:r>
            <a:r>
              <a:rPr lang="en-US" altLang="ja-JP" sz="1700" i="1" baseline="-25000" dirty="0">
                <a:sym typeface="Symbol" panose="05050102010706020507" pitchFamily="18" charset="2"/>
              </a:rPr>
              <a:t>Spring</a:t>
            </a:r>
            <a:r>
              <a:rPr lang="ja-JP" altLang="en-US" sz="1700" i="1" baseline="-25000" dirty="0">
                <a:sym typeface="Symbol" panose="05050102010706020507" pitchFamily="18" charset="2"/>
              </a:rPr>
              <a:t>”</a:t>
            </a:r>
            <a:r>
              <a:rPr lang="en-US" altLang="ja-JP" sz="1700" i="1" baseline="-25000" dirty="0">
                <a:sym typeface="Symbol" panose="05050102010706020507" pitchFamily="18" charset="2"/>
              </a:rPr>
              <a:t>  </a:t>
            </a:r>
            <a:r>
              <a:rPr lang="el-GR" altLang="ja-JP" sz="1700" i="1" baseline="-25000" dirty="0">
                <a:sym typeface="Symbol" panose="05050102010706020507" pitchFamily="18" charset="2"/>
              </a:rPr>
              <a:t>Λ</a:t>
            </a:r>
            <a:r>
              <a:rPr lang="en-US" altLang="ja-JP" sz="1700" i="1" baseline="-25000" dirty="0">
                <a:sym typeface="Symbol" panose="05050102010706020507" pitchFamily="18" charset="2"/>
              </a:rPr>
              <a:t> year=2018 </a:t>
            </a:r>
            <a:r>
              <a:rPr lang="en-US" altLang="ja-JP" sz="1700" dirty="0">
                <a:sym typeface="Symbol" panose="05050102010706020507" pitchFamily="18" charset="2"/>
              </a:rPr>
              <a:t>(</a:t>
            </a:r>
            <a:r>
              <a:rPr lang="en-US" altLang="ja-JP" sz="1700" i="1" dirty="0">
                <a:sym typeface="Symbol" panose="05050102010706020507" pitchFamily="18" charset="2"/>
              </a:rPr>
              <a:t>section</a:t>
            </a:r>
            <a:r>
              <a:rPr lang="en-US" altLang="ja-JP" sz="1700" dirty="0">
                <a:sym typeface="Symbol" panose="05050102010706020507" pitchFamily="18" charset="2"/>
              </a:rPr>
              <a:t>))</a:t>
            </a:r>
          </a:p>
          <a:p>
            <a:endParaRPr lang="en-US" altLang="en-US" sz="1600" dirty="0">
              <a:sym typeface="Symbol" panose="05050102010706020507" pitchFamily="18" charset="2"/>
            </a:endParaRPr>
          </a:p>
          <a:p>
            <a:pPr>
              <a:buFont typeface="Monotype Sorts" charset="2"/>
              <a:buNone/>
            </a:pPr>
            <a:endParaRPr lang="en-US" altLang="en-US" sz="1600" dirty="0">
              <a:sym typeface="Symbol" panose="05050102010706020507" pitchFamily="18" charset="2"/>
            </a:endParaRPr>
          </a:p>
          <a:p>
            <a:pPr>
              <a:buFont typeface="Monotype Sorts" charset="2"/>
              <a:buNone/>
            </a:pPr>
            <a:endParaRPr lang="en-US" altLang="en-US" sz="1600" dirty="0">
              <a:sym typeface="Symbol" panose="05050102010706020507" pitchFamily="18" charset="2"/>
            </a:endParaRPr>
          </a:p>
          <a:p>
            <a:pPr>
              <a:buFont typeface="Monotype Sorts" charset="2"/>
              <a:buNone/>
            </a:pPr>
            <a:endParaRPr lang="en-US" altLang="en-US" sz="1600" dirty="0">
              <a:sym typeface="Symbol" panose="05050102010706020507" pitchFamily="18" charset="2"/>
            </a:endParaRPr>
          </a:p>
        </p:txBody>
      </p:sp>
      <p:pic>
        <p:nvPicPr>
          <p:cNvPr id="3" name="Graphic 2">
            <a:extLst>
              <a:ext uri="{FF2B5EF4-FFF2-40B4-BE49-F238E27FC236}">
                <a16:creationId xmlns:a16="http://schemas.microsoft.com/office/drawing/2014/main" id="{2B4CEA55-B6FE-4CA5-8F34-E2CFAC349C53}"/>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l="40709" r="41294" b="41353"/>
          <a:stretch/>
        </p:blipFill>
        <p:spPr>
          <a:xfrm>
            <a:off x="4806950" y="5021021"/>
            <a:ext cx="1945642" cy="159188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The Assignment  Operation </a:t>
            </a:r>
          </a:p>
        </p:txBody>
      </p:sp>
      <p:sp>
        <p:nvSpPr>
          <p:cNvPr id="7170" name="Rectangle 3"/>
          <p:cNvSpPr>
            <a:spLocks noGrp="1" noChangeArrowheads="1"/>
          </p:cNvSpPr>
          <p:nvPr>
            <p:ph type="body" idx="1"/>
          </p:nvPr>
        </p:nvSpPr>
        <p:spPr>
          <a:xfrm>
            <a:off x="768350" y="1071563"/>
            <a:ext cx="7656322" cy="4835207"/>
          </a:xfrm>
        </p:spPr>
        <p:txBody>
          <a:bodyPr/>
          <a:lstStyle/>
          <a:p>
            <a:r>
              <a:rPr lang="en-US" altLang="en-US" sz="1700" dirty="0"/>
              <a:t>It is convenient at times to write a relational-algebra expression by assigning parts of it to temporary relation variables.  </a:t>
            </a:r>
          </a:p>
          <a:p>
            <a:r>
              <a:rPr lang="en-US" altLang="en-US" sz="1700" dirty="0"/>
              <a:t>The assignment  operation is  denoted by </a:t>
            </a:r>
            <a:r>
              <a:rPr lang="en-US" altLang="en-US" sz="1700" dirty="0">
                <a:sym typeface="Symbol" panose="05050102010706020507" pitchFamily="18" charset="2"/>
              </a:rPr>
              <a:t></a:t>
            </a:r>
            <a:r>
              <a:rPr lang="en-US" altLang="en-US" sz="1700" dirty="0">
                <a:sym typeface="Wingdings" pitchFamily="2" charset="2"/>
              </a:rPr>
              <a:t> and </a:t>
            </a:r>
            <a:r>
              <a:rPr lang="en-US" altLang="en-US" sz="1700" dirty="0"/>
              <a:t>works like assignment in a programming language.</a:t>
            </a:r>
          </a:p>
          <a:p>
            <a:pPr>
              <a:lnSpc>
                <a:spcPct val="90000"/>
              </a:lnSpc>
              <a:tabLst>
                <a:tab pos="1658938" algn="l"/>
                <a:tab pos="3149600" algn="ctr"/>
                <a:tab pos="3425825" algn="l"/>
              </a:tabLst>
            </a:pPr>
            <a:r>
              <a:rPr lang="en-US" altLang="en-US" sz="1700" dirty="0"/>
              <a:t>Example: Find all </a:t>
            </a:r>
            <a:r>
              <a:rPr lang="en-US" altLang="en-US" sz="1700" dirty="0">
                <a:sym typeface="Symbol" panose="05050102010706020507" pitchFamily="18" charset="2"/>
              </a:rPr>
              <a:t>instructor in the “Physics” and Music department.</a:t>
            </a:r>
            <a:br>
              <a:rPr lang="en-US" altLang="en-US" sz="1700" dirty="0">
                <a:sym typeface="Symbol" panose="05050102010706020507" pitchFamily="18" charset="2"/>
              </a:rPr>
            </a:br>
            <a:r>
              <a:rPr lang="en-US" altLang="en-US" sz="1700" dirty="0">
                <a:sym typeface="Symbol" panose="05050102010706020507" pitchFamily="18" charset="2"/>
              </a:rPr>
              <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700" i="1" dirty="0">
                <a:sym typeface="Symbol" panose="05050102010706020507" pitchFamily="18" charset="2"/>
              </a:rPr>
              <a:t>Physics</a:t>
            </a:r>
            <a:r>
              <a:rPr lang="en-US" altLang="en-US" sz="1700" dirty="0">
                <a:sym typeface="Symbol" panose="05050102010706020507" pitchFamily="18" charset="2"/>
              </a:rPr>
              <a:t> </a:t>
            </a:r>
            <a:r>
              <a:rPr lang="en-US" altLang="en-US" sz="1700" b="1" dirty="0">
                <a:sym typeface="Wingdings" pitchFamily="2" charset="2"/>
              </a:rPr>
              <a:t> </a:t>
            </a:r>
            <a:r>
              <a:rPr lang="en-US" altLang="en-US" sz="1800" i="1" dirty="0">
                <a:sym typeface="Symbol" panose="05050102010706020507" pitchFamily="18" charset="2"/>
              </a:rPr>
              <a:t></a:t>
            </a:r>
            <a:r>
              <a:rPr lang="en-US" altLang="en-US" sz="1800" dirty="0">
                <a:sym typeface="Symbol" panose="05050102010706020507" pitchFamily="18" charset="2"/>
              </a:rPr>
              <a:t> </a:t>
            </a:r>
            <a:r>
              <a:rPr lang="en-US" altLang="en-US" i="1" baseline="-25000" dirty="0">
                <a:sym typeface="Symbol" panose="05050102010706020507" pitchFamily="18" charset="2"/>
              </a:rPr>
              <a:t>dept_name=</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instructor</a:t>
            </a:r>
            <a:r>
              <a:rPr lang="en-US" altLang="ja-JP" sz="1700" dirty="0">
                <a:sym typeface="Symbol" panose="05050102010706020507" pitchFamily="18" charset="2"/>
              </a:rPr>
              <a:t>)</a:t>
            </a:r>
          </a:p>
          <a:p>
            <a:pPr lvl="1">
              <a:lnSpc>
                <a:spcPct val="90000"/>
              </a:lnSpc>
              <a:buNone/>
              <a:tabLst>
                <a:tab pos="1658938" algn="l"/>
                <a:tab pos="3149600" algn="ctr"/>
                <a:tab pos="3425825" algn="l"/>
              </a:tabLst>
            </a:pPr>
            <a:r>
              <a:rPr lang="en-US" altLang="en-US" sz="1700" dirty="0">
                <a:sym typeface="Symbol" panose="05050102010706020507" pitchFamily="18" charset="2"/>
              </a:rPr>
              <a:t>       </a:t>
            </a:r>
            <a:r>
              <a:rPr lang="en-US" altLang="en-US" sz="1700" i="1" dirty="0">
                <a:sym typeface="Symbol" panose="05050102010706020507" pitchFamily="18" charset="2"/>
              </a:rPr>
              <a:t>Music</a:t>
            </a:r>
            <a:r>
              <a:rPr lang="en-US" altLang="en-US" sz="1700" dirty="0">
                <a:sym typeface="Symbol" panose="05050102010706020507" pitchFamily="18" charset="2"/>
              </a:rPr>
              <a:t> </a:t>
            </a:r>
            <a:r>
              <a:rPr lang="en-US" altLang="en-US" sz="1700" b="1" dirty="0">
                <a:sym typeface="Wingdings" pitchFamily="2" charset="2"/>
              </a:rPr>
              <a:t> </a:t>
            </a:r>
            <a:r>
              <a:rPr lang="en-US" altLang="en-US" sz="1900" i="1" dirty="0">
                <a:sym typeface="Symbol" panose="05050102010706020507" pitchFamily="18" charset="2"/>
              </a:rPr>
              <a:t></a:t>
            </a:r>
            <a:r>
              <a:rPr lang="en-US" altLang="en-US" sz="1900" dirty="0">
                <a:sym typeface="Symbol" panose="05050102010706020507" pitchFamily="18" charset="2"/>
              </a:rPr>
              <a:t> </a:t>
            </a:r>
            <a:r>
              <a:rPr lang="en-US" altLang="en-US" sz="1900" i="1" baseline="-25000" dirty="0">
                <a:sym typeface="Symbol" panose="05050102010706020507" pitchFamily="18" charset="2"/>
              </a:rPr>
              <a:t>dept_name=</a:t>
            </a:r>
            <a:r>
              <a:rPr lang="ja-JP" altLang="en-US" sz="1900" i="1" baseline="-25000" dirty="0">
                <a:sym typeface="Symbol" panose="05050102010706020507" pitchFamily="18" charset="2"/>
              </a:rPr>
              <a:t>“</a:t>
            </a:r>
            <a:r>
              <a:rPr lang="en-US" altLang="ja-JP" sz="1900" i="1" baseline="-25000" dirty="0">
                <a:sym typeface="Symbol" panose="05050102010706020507" pitchFamily="18" charset="2"/>
              </a:rPr>
              <a:t>Music” </a:t>
            </a:r>
            <a:r>
              <a:rPr lang="en-US" altLang="ja-JP" sz="1700" dirty="0">
                <a:sym typeface="Symbol" panose="05050102010706020507" pitchFamily="18" charset="2"/>
              </a:rPr>
              <a:t>(</a:t>
            </a:r>
            <a:r>
              <a:rPr lang="en-US" altLang="ja-JP" sz="1700" i="1" dirty="0">
                <a:sym typeface="Symbol" panose="05050102010706020507" pitchFamily="18" charset="2"/>
              </a:rPr>
              <a:t>instructor</a:t>
            </a:r>
            <a:r>
              <a:rPr lang="en-US" altLang="ja-JP" sz="1700" dirty="0">
                <a:sym typeface="Symbol" panose="05050102010706020507" pitchFamily="18" charset="2"/>
              </a:rPr>
              <a:t>)</a:t>
            </a:r>
          </a:p>
          <a:p>
            <a:pPr lvl="1">
              <a:lnSpc>
                <a:spcPct val="90000"/>
              </a:lnSpc>
              <a:buNone/>
              <a:tabLst>
                <a:tab pos="1658938" algn="l"/>
                <a:tab pos="3149600" algn="ctr"/>
                <a:tab pos="3425825" algn="l"/>
              </a:tabLst>
            </a:pPr>
            <a:r>
              <a:rPr lang="en-US" altLang="en-US" sz="1700" dirty="0">
                <a:sym typeface="Symbol" panose="05050102010706020507" pitchFamily="18" charset="2"/>
              </a:rPr>
              <a:t>       </a:t>
            </a:r>
            <a:r>
              <a:rPr lang="en-US" altLang="en-US" sz="1700" i="1" dirty="0">
                <a:sym typeface="Symbol" panose="05050102010706020507" pitchFamily="18" charset="2"/>
              </a:rPr>
              <a:t>Physics</a:t>
            </a:r>
            <a:r>
              <a:rPr lang="en-US" altLang="en-US" sz="1700" dirty="0">
                <a:sym typeface="Symbol" panose="05050102010706020507" pitchFamily="18" charset="2"/>
              </a:rPr>
              <a:t> </a:t>
            </a:r>
            <a:r>
              <a:rPr lang="en-US" altLang="en-US" sz="1700" dirty="0"/>
              <a:t> </a:t>
            </a:r>
            <a:r>
              <a:rPr lang="en-US" altLang="en-US" sz="1700" dirty="0">
                <a:sym typeface="Symbol" panose="05050102010706020507" pitchFamily="18" charset="2"/>
              </a:rPr>
              <a:t> </a:t>
            </a:r>
            <a:r>
              <a:rPr lang="en-US" altLang="en-US" sz="1700" i="1" dirty="0">
                <a:sym typeface="Symbol" panose="05050102010706020507" pitchFamily="18" charset="2"/>
              </a:rPr>
              <a:t>Music</a:t>
            </a:r>
          </a:p>
          <a:p>
            <a:pPr lvl="1">
              <a:lnSpc>
                <a:spcPct val="90000"/>
              </a:lnSpc>
              <a:buNone/>
              <a:tabLst>
                <a:tab pos="1658938" algn="l"/>
                <a:tab pos="3149600" algn="ctr"/>
                <a:tab pos="3425825" algn="l"/>
              </a:tabLst>
            </a:pPr>
            <a:r>
              <a:rPr lang="en-US" altLang="en-US" sz="800" dirty="0">
                <a:sym typeface="Symbol" panose="05050102010706020507" pitchFamily="18" charset="2"/>
              </a:rPr>
              <a:t> </a:t>
            </a:r>
          </a:p>
          <a:p>
            <a:pPr>
              <a:tabLst>
                <a:tab pos="1658938" algn="l"/>
                <a:tab pos="3149600" algn="ctr"/>
                <a:tab pos="3425825" algn="l"/>
              </a:tabLst>
            </a:pPr>
            <a:r>
              <a:rPr lang="en-US" altLang="en-US" sz="1700" dirty="0">
                <a:sym typeface="Symbol" panose="05050102010706020507" pitchFamily="18" charset="2"/>
              </a:rPr>
              <a:t>With the assignment operation, a query can be written as a sequential program consisting of a series of assignments followed by an expression whose value is displayed as the result of the query. </a:t>
            </a:r>
          </a:p>
          <a:p>
            <a:pPr lvl="1">
              <a:lnSpc>
                <a:spcPct val="90000"/>
              </a:lnSpc>
              <a:buNone/>
              <a:tabLst>
                <a:tab pos="1658938" algn="l"/>
                <a:tab pos="3149600" algn="ctr"/>
                <a:tab pos="3425825" algn="l"/>
              </a:tabLst>
            </a:pP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The Rename Operation </a:t>
            </a:r>
          </a:p>
        </p:txBody>
      </p:sp>
      <p:sp>
        <p:nvSpPr>
          <p:cNvPr id="7170" name="Rectangle 3"/>
          <p:cNvSpPr>
            <a:spLocks noGrp="1" noChangeArrowheads="1"/>
          </p:cNvSpPr>
          <p:nvPr>
            <p:ph type="body" idx="1"/>
          </p:nvPr>
        </p:nvSpPr>
        <p:spPr>
          <a:xfrm>
            <a:off x="768350" y="1077913"/>
            <a:ext cx="7683191" cy="3201479"/>
          </a:xfrm>
        </p:spPr>
        <p:txBody>
          <a:bodyPr/>
          <a:lstStyle/>
          <a:p>
            <a:r>
              <a:rPr lang="en-US" altLang="en-US" sz="1700" dirty="0"/>
              <a:t>The results of relational-algebra expressions do not have a name that we can use to refer to them.  The  rename operator,  </a:t>
            </a:r>
            <a:r>
              <a:rPr lang="en-US" altLang="en-US" sz="1700" i="1" dirty="0">
                <a:sym typeface="Symbol" panose="05050102010706020507" pitchFamily="18" charset="2"/>
              </a:rPr>
              <a:t> ,</a:t>
            </a:r>
            <a:r>
              <a:rPr lang="en-US" altLang="en-US" sz="1700" dirty="0">
                <a:sym typeface="Symbol" panose="05050102010706020507" pitchFamily="18" charset="2"/>
              </a:rPr>
              <a:t>  is provided </a:t>
            </a:r>
            <a:r>
              <a:rPr lang="en-US" altLang="en-US" sz="1700" i="1" dirty="0">
                <a:sym typeface="Symbol" panose="05050102010706020507" pitchFamily="18" charset="2"/>
              </a:rPr>
              <a:t> </a:t>
            </a:r>
            <a:r>
              <a:rPr lang="en-US" altLang="en-US" sz="1700" dirty="0">
                <a:sym typeface="Symbol" panose="05050102010706020507" pitchFamily="18" charset="2"/>
              </a:rPr>
              <a:t>for that purpose</a:t>
            </a:r>
          </a:p>
          <a:p>
            <a:r>
              <a:rPr lang="en-US" altLang="en-US" sz="1700" dirty="0"/>
              <a:t>The expression:</a:t>
            </a:r>
          </a:p>
          <a:p>
            <a:pPr>
              <a:buNone/>
            </a:pPr>
            <a:r>
              <a:rPr lang="en-US" altLang="en-US" sz="1700" dirty="0"/>
              <a:t>                  </a:t>
            </a:r>
            <a:r>
              <a:rPr lang="en-US" altLang="en-US" i="1" dirty="0">
                <a:sym typeface="Symbol" panose="05050102010706020507" pitchFamily="18" charset="2"/>
              </a:rPr>
              <a:t></a:t>
            </a:r>
            <a:r>
              <a:rPr lang="en-US" altLang="en-US" i="1" baseline="-25000" dirty="0">
                <a:sym typeface="Symbol" panose="05050102010706020507" pitchFamily="18" charset="2"/>
              </a:rPr>
              <a:t>x</a:t>
            </a:r>
            <a:r>
              <a:rPr lang="en-US" altLang="en-US" i="1" dirty="0">
                <a:sym typeface="Symbol" panose="05050102010706020507" pitchFamily="18" charset="2"/>
              </a:rPr>
              <a:t> </a:t>
            </a:r>
            <a:r>
              <a:rPr lang="en-US" altLang="en-US" sz="1700" dirty="0">
                <a:sym typeface="Symbol" panose="05050102010706020507" pitchFamily="18" charset="2"/>
              </a:rPr>
              <a:t>(</a:t>
            </a:r>
            <a:r>
              <a:rPr lang="en-US" altLang="en-US" sz="1700" i="1" dirty="0">
                <a:sym typeface="Symbol" panose="05050102010706020507" pitchFamily="18" charset="2"/>
              </a:rPr>
              <a:t>E</a:t>
            </a:r>
            <a:r>
              <a:rPr lang="en-US" altLang="en-US" sz="1700" dirty="0">
                <a:sym typeface="Symbol" panose="05050102010706020507" pitchFamily="18" charset="2"/>
              </a:rPr>
              <a:t>)</a:t>
            </a:r>
          </a:p>
          <a:p>
            <a:pPr>
              <a:buNone/>
            </a:pPr>
            <a:r>
              <a:rPr lang="en-US" altLang="en-US" sz="1700" dirty="0">
                <a:sym typeface="Symbol" panose="05050102010706020507" pitchFamily="18" charset="2"/>
              </a:rPr>
              <a:t>      returns the result of expression </a:t>
            </a:r>
            <a:r>
              <a:rPr lang="en-US" altLang="en-US" sz="1700" i="1" dirty="0">
                <a:sym typeface="Symbol" panose="05050102010706020507" pitchFamily="18" charset="2"/>
              </a:rPr>
              <a:t>E</a:t>
            </a:r>
            <a:r>
              <a:rPr lang="en-US" altLang="en-US" sz="1700" dirty="0">
                <a:sym typeface="Symbol" panose="05050102010706020507" pitchFamily="18" charset="2"/>
              </a:rPr>
              <a:t> under the name </a:t>
            </a:r>
            <a:r>
              <a:rPr lang="en-US" altLang="en-US" sz="1700" i="1" dirty="0">
                <a:sym typeface="Symbol" panose="05050102010706020507" pitchFamily="18" charset="2"/>
              </a:rPr>
              <a:t>x</a:t>
            </a:r>
            <a:endParaRPr lang="en-US" altLang="en-US" sz="1700" i="1" dirty="0"/>
          </a:p>
          <a:p>
            <a:r>
              <a:rPr lang="en-US" altLang="en-US" sz="1700" dirty="0"/>
              <a:t>Another form of the rename operation:</a:t>
            </a:r>
          </a:p>
          <a:p>
            <a:pPr>
              <a:buNone/>
            </a:pPr>
            <a:r>
              <a:rPr lang="en-US" altLang="en-US" sz="1700" dirty="0"/>
              <a:t>                 </a:t>
            </a:r>
            <a:r>
              <a:rPr lang="en-US" altLang="en-US" i="1" dirty="0">
                <a:sym typeface="Symbol" panose="05050102010706020507" pitchFamily="18" charset="2"/>
              </a:rPr>
              <a:t></a:t>
            </a:r>
            <a:r>
              <a:rPr lang="en-US" altLang="en-US" i="1" baseline="-25000" dirty="0">
                <a:sym typeface="Symbol" panose="05050102010706020507" pitchFamily="18" charset="2"/>
              </a:rPr>
              <a:t>x(A1,A2, .. An) </a:t>
            </a:r>
            <a:r>
              <a:rPr lang="en-US" altLang="en-US" sz="1700" dirty="0">
                <a:sym typeface="Symbol" panose="05050102010706020507" pitchFamily="18" charset="2"/>
              </a:rPr>
              <a:t>(</a:t>
            </a:r>
            <a:r>
              <a:rPr lang="en-US" altLang="en-US" sz="1700" i="1" dirty="0">
                <a:sym typeface="Symbol" panose="05050102010706020507" pitchFamily="18" charset="2"/>
              </a:rPr>
              <a:t>E</a:t>
            </a:r>
            <a:r>
              <a:rPr lang="en-US" altLang="en-US" sz="1700" dirty="0">
                <a:sym typeface="Symbol" panose="05050102010706020507" pitchFamily="18" charset="2"/>
              </a:rPr>
              <a:t>)</a:t>
            </a:r>
            <a:endParaRPr lang="en-US" altLang="en-US" sz="1700" dirty="0"/>
          </a:p>
          <a:p>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Equivalent Queries</a:t>
            </a:r>
          </a:p>
        </p:txBody>
      </p:sp>
      <p:sp>
        <p:nvSpPr>
          <p:cNvPr id="7170" name="Rectangle 3"/>
          <p:cNvSpPr>
            <a:spLocks noGrp="1" noChangeArrowheads="1"/>
          </p:cNvSpPr>
          <p:nvPr>
            <p:ph type="body" idx="1"/>
          </p:nvPr>
        </p:nvSpPr>
        <p:spPr>
          <a:xfrm>
            <a:off x="768350" y="1096740"/>
            <a:ext cx="7683192" cy="4664519"/>
          </a:xfrm>
        </p:spPr>
        <p:txBody>
          <a:bodyPr/>
          <a:lstStyle/>
          <a:p>
            <a:r>
              <a:rPr lang="en-US" altLang="en-US" sz="1700" dirty="0"/>
              <a:t>There is more than one way to write a query in relational algebra. </a:t>
            </a:r>
          </a:p>
          <a:p>
            <a:r>
              <a:rPr lang="en-US" altLang="en-US" sz="1700" dirty="0"/>
              <a:t>Example:  Find information about courses taught by instructors in the Physics department with salary greater than 90,000</a:t>
            </a:r>
          </a:p>
          <a:p>
            <a:r>
              <a:rPr lang="en-US" altLang="en-US" sz="1700" dirty="0"/>
              <a:t>Query 1</a:t>
            </a:r>
          </a:p>
          <a:p>
            <a:pPr>
              <a:buNone/>
            </a:pPr>
            <a:r>
              <a:rPr lang="en-US" altLang="en-US" sz="1700" i="1"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dept_name=</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en-US" dirty="0">
                <a:sym typeface="Symbol" panose="05050102010706020507" pitchFamily="18" charset="2"/>
              </a:rPr>
              <a:t></a:t>
            </a:r>
            <a:r>
              <a:rPr lang="ja-JP" altLang="en-US" i="1" baseline="-25000" dirty="0">
                <a:sym typeface="Symbol" panose="05050102010706020507" pitchFamily="18" charset="2"/>
              </a:rPr>
              <a:t> </a:t>
            </a:r>
            <a:r>
              <a:rPr lang="en-US" altLang="ja-JP" i="1" baseline="-25000" dirty="0">
                <a:sym typeface="Symbol" panose="05050102010706020507" pitchFamily="18" charset="2"/>
              </a:rPr>
              <a:t>salary &gt; </a:t>
            </a:r>
            <a:r>
              <a:rPr lang="en-US" altLang="ja-JP" baseline="-25000" dirty="0">
                <a:sym typeface="Symbol" panose="05050102010706020507" pitchFamily="18" charset="2"/>
              </a:rPr>
              <a:t>90,000</a:t>
            </a:r>
            <a:r>
              <a:rPr lang="en-US" altLang="ja-JP"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instructor</a:t>
            </a:r>
            <a:r>
              <a:rPr lang="en-US" altLang="ja-JP" sz="1700" dirty="0">
                <a:sym typeface="Symbol" panose="05050102010706020507" pitchFamily="18" charset="2"/>
              </a:rPr>
              <a:t>)</a:t>
            </a:r>
          </a:p>
          <a:p>
            <a:pPr>
              <a:buNone/>
            </a:pPr>
            <a:r>
              <a:rPr lang="en-US" altLang="ja-JP" sz="800" dirty="0">
                <a:sym typeface="Symbol" panose="05050102010706020507" pitchFamily="18" charset="2"/>
              </a:rPr>
              <a:t> </a:t>
            </a:r>
          </a:p>
          <a:p>
            <a:r>
              <a:rPr lang="en-US" altLang="en-US" sz="1700" dirty="0">
                <a:sym typeface="Symbol" panose="05050102010706020507" pitchFamily="18" charset="2"/>
              </a:rPr>
              <a:t>Query 2</a:t>
            </a:r>
            <a:endParaRPr lang="en-US" altLang="en-US" sz="1700" dirty="0"/>
          </a:p>
          <a:p>
            <a:pPr>
              <a:buNone/>
            </a:pPr>
            <a:r>
              <a:rPr lang="en-US" altLang="en-US" sz="1700" i="1"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dept_name=</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ja-JP"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s</a:t>
            </a:r>
            <a:r>
              <a:rPr lang="en-US" altLang="ja-JP" i="1" baseline="-25000" dirty="0">
                <a:sym typeface="Symbol" panose="05050102010706020507" pitchFamily="18" charset="2"/>
              </a:rPr>
              <a:t>alary &gt; 90.000</a:t>
            </a:r>
            <a:r>
              <a:rPr lang="en-US" altLang="ja-JP" i="1" dirty="0">
                <a:sym typeface="Symbol" panose="05050102010706020507" pitchFamily="18" charset="2"/>
              </a:rPr>
              <a:t> </a:t>
            </a:r>
            <a:r>
              <a:rPr lang="en-US" altLang="ja-JP" sz="1700" dirty="0">
                <a:sym typeface="Symbol" panose="05050102010706020507" pitchFamily="18" charset="2"/>
              </a:rPr>
              <a:t>(</a:t>
            </a:r>
            <a:r>
              <a:rPr lang="en-US" altLang="ja-JP" sz="1700" i="1" dirty="0">
                <a:sym typeface="Symbol" panose="05050102010706020507" pitchFamily="18" charset="2"/>
              </a:rPr>
              <a:t>instructor</a:t>
            </a:r>
            <a:r>
              <a:rPr lang="en-US" altLang="ja-JP" sz="1700" dirty="0">
                <a:sym typeface="Symbol" panose="05050102010706020507" pitchFamily="18" charset="2"/>
              </a:rPr>
              <a:t>))</a:t>
            </a:r>
          </a:p>
          <a:p>
            <a:pPr>
              <a:buNone/>
            </a:pPr>
            <a:r>
              <a:rPr lang="en-US" altLang="ja-JP" sz="800" dirty="0">
                <a:sym typeface="Symbol" panose="05050102010706020507" pitchFamily="18" charset="2"/>
              </a:rPr>
              <a:t> </a:t>
            </a:r>
          </a:p>
          <a:p>
            <a:pPr>
              <a:lnSpc>
                <a:spcPct val="90000"/>
              </a:lnSpc>
              <a:tabLst>
                <a:tab pos="1658938" algn="l"/>
                <a:tab pos="3149600" algn="ctr"/>
                <a:tab pos="3425825" algn="l"/>
              </a:tabLst>
            </a:pPr>
            <a:r>
              <a:rPr lang="en-US" altLang="en-US" sz="1700" dirty="0">
                <a:sym typeface="Symbol" panose="05050102010706020507" pitchFamily="18" charset="2"/>
              </a:rPr>
              <a:t>The two queries are not identical; they are, however, equivalent -- they give the same result on any database.</a:t>
            </a:r>
          </a:p>
          <a:p>
            <a:pPr>
              <a:lnSpc>
                <a:spcPct val="90000"/>
              </a:lnSpc>
              <a:tabLst>
                <a:tab pos="1658938" algn="l"/>
                <a:tab pos="3149600" algn="ctr"/>
                <a:tab pos="3425825" algn="l"/>
              </a:tabLst>
            </a:pPr>
            <a:endParaRPr lang="en-US" altLang="en-US" dirty="0">
              <a:sym typeface="Symbol" panose="05050102010706020507" pitchFamily="18" charset="2"/>
            </a:endParaRPr>
          </a:p>
          <a:p>
            <a:pPr>
              <a:lnSpc>
                <a:spcPct val="90000"/>
              </a:lnSpc>
              <a:tabLst>
                <a:tab pos="1658938" algn="l"/>
                <a:tab pos="3149600" algn="ctr"/>
                <a:tab pos="3425825" algn="l"/>
              </a:tabLst>
            </a:pPr>
            <a:endParaRPr lang="en-US" altLang="en-US" dirty="0">
              <a:sym typeface="Symbol" panose="05050102010706020507" pitchFamily="18"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en-US" sz="2800" dirty="0"/>
              <a:t>Equivalent Queries</a:t>
            </a:r>
          </a:p>
        </p:txBody>
      </p:sp>
      <mc:AlternateContent xmlns:mc="http://schemas.openxmlformats.org/markup-compatibility/2006" xmlns:a14="http://schemas.microsoft.com/office/drawing/2010/main">
        <mc:Choice Requires="a14">
          <p:sp>
            <p:nvSpPr>
              <p:cNvPr id="7170" name="Rectangle 3"/>
              <p:cNvSpPr>
                <a:spLocks noGrp="1" noChangeArrowheads="1"/>
              </p:cNvSpPr>
              <p:nvPr>
                <p:ph type="body" idx="1"/>
              </p:nvPr>
            </p:nvSpPr>
            <p:spPr>
              <a:xfrm>
                <a:off x="768349" y="1138873"/>
                <a:ext cx="7638803" cy="4506023"/>
              </a:xfrm>
            </p:spPr>
            <p:txBody>
              <a:bodyPr/>
              <a:lstStyle/>
              <a:p>
                <a:r>
                  <a:rPr lang="en-US" altLang="en-US" sz="1700" dirty="0"/>
                  <a:t>There is more than one way to write a query in relational algebra. </a:t>
                </a:r>
              </a:p>
              <a:p>
                <a:r>
                  <a:rPr lang="en-US" altLang="en-US" sz="1700" dirty="0"/>
                  <a:t>Example:  Find information about courses taught by instructors in the Physics department</a:t>
                </a:r>
              </a:p>
              <a:p>
                <a:r>
                  <a:rPr lang="en-US" altLang="en-US" sz="1700" dirty="0"/>
                  <a:t>Query 1</a:t>
                </a:r>
              </a:p>
              <a:p>
                <a:pPr marL="0" indent="0">
                  <a:buNone/>
                </a:pPr>
                <a:r>
                  <a:rPr lang="en-US" altLang="en-US" sz="1700" i="1" dirty="0">
                    <a:sym typeface="Symbol" panose="05050102010706020507" pitchFamily="18" charset="2"/>
                  </a:rPr>
                  <a:t>       </a:t>
                </a:r>
                <a:r>
                  <a:rPr lang="en-US" altLang="en-US" i="1" dirty="0">
                    <a:sym typeface="Symbol" panose="05050102010706020507" pitchFamily="18" charset="2"/>
                  </a:rPr>
                  <a:t></a:t>
                </a:r>
                <a:r>
                  <a:rPr lang="en-US" altLang="en-US" i="1" baseline="-25000" dirty="0" err="1">
                    <a:sym typeface="Symbol" panose="05050102010706020507" pitchFamily="18" charset="2"/>
                  </a:rPr>
                  <a:t>dept_name</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ja-JP" sz="1700" i="1" dirty="0">
                    <a:sym typeface="Symbol" panose="05050102010706020507" pitchFamily="18" charset="2"/>
                  </a:rPr>
                  <a:t>(i</a:t>
                </a:r>
                <a:r>
                  <a:rPr lang="en-US" altLang="en-US" sz="1700" i="1" dirty="0">
                    <a:sym typeface="Symbol" panose="05050102010706020507" pitchFamily="18" charset="2"/>
                  </a:rPr>
                  <a:t>nstructor</a:t>
                </a:r>
                <a:r>
                  <a:rPr lang="en-US" altLang="en-US" sz="1700" dirty="0">
                    <a:sym typeface="Symbol" panose="05050102010706020507" pitchFamily="18" charset="2"/>
                  </a:rPr>
                  <a:t> </a:t>
                </a:r>
                <a14:m>
                  <m:oMath xmlns:m="http://schemas.openxmlformats.org/officeDocument/2006/math">
                    <m:sSub>
                      <m:sSubPr>
                        <m:ctrlPr>
                          <a:rPr lang="en-US" sz="1700" i="1">
                            <a:latin typeface="Cambria Math" panose="02040503050406030204" pitchFamily="18" charset="0"/>
                          </a:rPr>
                        </m:ctrlPr>
                      </m:sSubPr>
                      <m:e>
                        <m:r>
                          <a:rPr lang="en-US" sz="1700" i="1">
                            <a:latin typeface="Cambria Math" panose="02040503050406030204" pitchFamily="18" charset="0"/>
                          </a:rPr>
                          <m:t>⋈</m:t>
                        </m:r>
                      </m:e>
                      <m:sub>
                        <m:r>
                          <a:rPr lang="en-US" sz="1700" i="1">
                            <a:latin typeface="Cambria Math" panose="02040503050406030204" pitchFamily="18" charset="0"/>
                          </a:rPr>
                          <m:t> </m:t>
                        </m:r>
                      </m:sub>
                    </m:sSub>
                  </m:oMath>
                </a14:m>
                <a:r>
                  <a:rPr lang="en-US" i="1" baseline="-25000" dirty="0"/>
                  <a:t>instructor.ID = teaches.ID</a:t>
                </a:r>
                <a:r>
                  <a:rPr lang="en-US" baseline="-25000" dirty="0"/>
                  <a:t> </a:t>
                </a:r>
                <a:r>
                  <a:rPr lang="en-US" sz="1700" i="1" dirty="0"/>
                  <a:t>teaches)</a:t>
                </a:r>
                <a:endParaRPr lang="en-US" altLang="en-US" sz="1700" dirty="0"/>
              </a:p>
              <a:p>
                <a:pPr>
                  <a:buNone/>
                </a:pPr>
                <a:r>
                  <a:rPr lang="en-US" altLang="ja-JP" sz="800" dirty="0">
                    <a:sym typeface="Symbol" panose="05050102010706020507" pitchFamily="18" charset="2"/>
                  </a:rPr>
                  <a:t> </a:t>
                </a:r>
              </a:p>
              <a:p>
                <a:r>
                  <a:rPr lang="en-US" altLang="en-US" sz="1700" dirty="0">
                    <a:sym typeface="Symbol" panose="05050102010706020507" pitchFamily="18" charset="2"/>
                  </a:rPr>
                  <a:t>Query 2</a:t>
                </a:r>
                <a:endParaRPr lang="en-US" altLang="en-US" sz="1700" dirty="0"/>
              </a:p>
              <a:p>
                <a:pPr>
                  <a:buNone/>
                </a:pPr>
                <a:r>
                  <a:rPr lang="en-US" altLang="en-US" sz="1700" i="1" dirty="0">
                    <a:sym typeface="Symbol" panose="05050102010706020507" pitchFamily="18" charset="2"/>
                  </a:rPr>
                  <a:t>       (</a:t>
                </a:r>
                <a:r>
                  <a:rPr lang="en-US" altLang="en-US" i="1" dirty="0">
                    <a:sym typeface="Symbol" panose="05050102010706020507" pitchFamily="18" charset="2"/>
                  </a:rPr>
                  <a:t></a:t>
                </a:r>
                <a:r>
                  <a:rPr lang="en-US" altLang="en-US" i="1" baseline="-25000" dirty="0" err="1">
                    <a:sym typeface="Symbol" panose="05050102010706020507" pitchFamily="18" charset="2"/>
                  </a:rPr>
                  <a:t>dept_name</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ja-JP" sz="1700" i="1" dirty="0">
                    <a:sym typeface="Symbol" panose="05050102010706020507" pitchFamily="18" charset="2"/>
                  </a:rPr>
                  <a:t>(i</a:t>
                </a:r>
                <a:r>
                  <a:rPr lang="en-US" altLang="en-US" sz="1700" i="1" dirty="0">
                    <a:sym typeface="Symbol" panose="05050102010706020507" pitchFamily="18" charset="2"/>
                  </a:rPr>
                  <a:t>nstructor))</a:t>
                </a:r>
                <a:r>
                  <a:rPr lang="en-US" altLang="en-US" sz="1700" dirty="0">
                    <a:sym typeface="Symbol" panose="05050102010706020507" pitchFamily="18" charset="2"/>
                  </a:rPr>
                  <a:t> </a:t>
                </a:r>
                <a14:m>
                  <m:oMath xmlns:m="http://schemas.openxmlformats.org/officeDocument/2006/math">
                    <m:sSub>
                      <m:sSubPr>
                        <m:ctrlPr>
                          <a:rPr lang="en-US" sz="1700" i="1">
                            <a:latin typeface="Cambria Math" panose="02040503050406030204" pitchFamily="18" charset="0"/>
                          </a:rPr>
                        </m:ctrlPr>
                      </m:sSubPr>
                      <m:e>
                        <m:r>
                          <a:rPr lang="en-US" sz="1700" i="1">
                            <a:latin typeface="Cambria Math" panose="02040503050406030204" pitchFamily="18" charset="0"/>
                          </a:rPr>
                          <m:t>⋈</m:t>
                        </m:r>
                      </m:e>
                      <m:sub>
                        <m:r>
                          <a:rPr lang="en-US" sz="1700" i="1">
                            <a:latin typeface="Cambria Math" panose="02040503050406030204" pitchFamily="18" charset="0"/>
                          </a:rPr>
                          <m:t> </m:t>
                        </m:r>
                      </m:sub>
                    </m:sSub>
                  </m:oMath>
                </a14:m>
                <a:r>
                  <a:rPr lang="en-US" i="1" baseline="-25000" dirty="0"/>
                  <a:t>instructor.ID = teaches.ID</a:t>
                </a:r>
                <a:r>
                  <a:rPr lang="en-US" baseline="-25000" dirty="0"/>
                  <a:t> </a:t>
                </a:r>
                <a:r>
                  <a:rPr lang="en-US" sz="1700" i="1" dirty="0"/>
                  <a:t>teaches</a:t>
                </a:r>
              </a:p>
              <a:p>
                <a:pPr>
                  <a:buNone/>
                </a:pPr>
                <a:r>
                  <a:rPr lang="en-US" altLang="ja-JP" sz="800" dirty="0">
                    <a:sym typeface="Symbol" panose="05050102010706020507" pitchFamily="18" charset="2"/>
                  </a:rPr>
                  <a:t> </a:t>
                </a:r>
              </a:p>
              <a:p>
                <a:pPr>
                  <a:lnSpc>
                    <a:spcPct val="90000"/>
                  </a:lnSpc>
                  <a:tabLst>
                    <a:tab pos="1658938" algn="l"/>
                    <a:tab pos="3149600" algn="ctr"/>
                    <a:tab pos="3425825" algn="l"/>
                  </a:tabLst>
                </a:pPr>
                <a:r>
                  <a:rPr lang="en-US" altLang="en-US" sz="1700" dirty="0">
                    <a:sym typeface="Symbol" panose="05050102010706020507" pitchFamily="18" charset="2"/>
                  </a:rPr>
                  <a:t>The two queries are not identical; they are, however, equivalent -- they give the same result on any database.</a:t>
                </a:r>
              </a:p>
              <a:p>
                <a:pPr>
                  <a:lnSpc>
                    <a:spcPct val="90000"/>
                  </a:lnSpc>
                  <a:tabLst>
                    <a:tab pos="1658938" algn="l"/>
                    <a:tab pos="3149600" algn="ctr"/>
                    <a:tab pos="3425825" algn="l"/>
                  </a:tabLst>
                </a:pPr>
                <a:endParaRPr lang="en-US" altLang="en-US" dirty="0">
                  <a:sym typeface="Symbol" panose="05050102010706020507" pitchFamily="18" charset="2"/>
                </a:endParaRPr>
              </a:p>
              <a:p>
                <a:pPr>
                  <a:lnSpc>
                    <a:spcPct val="90000"/>
                  </a:lnSpc>
                  <a:tabLst>
                    <a:tab pos="1658938" algn="l"/>
                    <a:tab pos="3149600" algn="ctr"/>
                    <a:tab pos="3425825" algn="l"/>
                  </a:tabLst>
                </a:pPr>
                <a:endParaRPr lang="en-US" altLang="en-US" dirty="0">
                  <a:sym typeface="Symbol" panose="05050102010706020507" pitchFamily="18" charset="2"/>
                </a:endParaRPr>
              </a:p>
            </p:txBody>
          </p:sp>
        </mc:Choice>
        <mc:Fallback xmlns="">
          <p:sp>
            <p:nvSpPr>
              <p:cNvPr id="7170" name="Rectangle 3"/>
              <p:cNvSpPr>
                <a:spLocks noGrp="1" noRot="1" noChangeAspect="1" noMove="1" noResize="1" noEditPoints="1" noAdjustHandles="1" noChangeArrowheads="1" noChangeShapeType="1" noTextEdit="1"/>
              </p:cNvSpPr>
              <p:nvPr>
                <p:ph type="body" idx="1"/>
              </p:nvPr>
            </p:nvSpPr>
            <p:spPr>
              <a:xfrm>
                <a:off x="768349" y="1138873"/>
                <a:ext cx="7638803" cy="4506023"/>
              </a:xfrm>
              <a:blipFill>
                <a:blip r:embed="rId3"/>
                <a:stretch>
                  <a:fillRect l="-559" t="-677"/>
                </a:stretch>
              </a:blipFill>
            </p:spPr>
            <p:txBody>
              <a:bodyPr/>
              <a:lstStyle/>
              <a:p>
                <a:r>
                  <a:rPr 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5956" name="Rectangle 4"/>
          <p:cNvSpPr>
            <a:spLocks noGrp="1" noChangeArrowheads="1"/>
          </p:cNvSpPr>
          <p:nvPr>
            <p:ph type="ctrTitle"/>
          </p:nvPr>
        </p:nvSpPr>
        <p:spPr/>
        <p:txBody>
          <a:bodyPr/>
          <a:lstStyle/>
          <a:p>
            <a:r>
              <a:rPr lang="en-US" altLang="en-US" dirty="0" smtClean="0"/>
              <a:t>End</a:t>
            </a:r>
            <a:endParaRPr lang="en-US" altLang="en-US" dirty="0"/>
          </a:p>
        </p:txBody>
      </p:sp>
    </p:spTree>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94521</TotalTime>
  <Words>6166</Words>
  <Application>Microsoft Office PowerPoint</Application>
  <PresentationFormat>On-screen Show (4:3)</PresentationFormat>
  <Paragraphs>437</Paragraphs>
  <Slides>30</Slides>
  <Notes>29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Slide Titles</vt:lpstr>
      </vt:variant>
      <vt:variant>
        <vt:i4>30</vt:i4>
      </vt:variant>
      <vt:variant>
        <vt:lpstr>Custom Shows</vt:lpstr>
      </vt:variant>
      <vt:variant>
        <vt:i4>1</vt:i4>
      </vt:variant>
    </vt:vector>
  </HeadingPairs>
  <TitlesOfParts>
    <vt:vector size="42" baseType="lpstr">
      <vt:lpstr>ＭＳ Ｐゴシック</vt:lpstr>
      <vt:lpstr>ＭＳ Ｐゴシック</vt:lpstr>
      <vt:lpstr>Arial</vt:lpstr>
      <vt:lpstr>Cambria Math</vt:lpstr>
      <vt:lpstr>Helvetica</vt:lpstr>
      <vt:lpstr>Monotype Sorts</vt:lpstr>
      <vt:lpstr>Symbol</vt:lpstr>
      <vt:lpstr>Times New Roman</vt:lpstr>
      <vt:lpstr>Webdings</vt:lpstr>
      <vt:lpstr>Wingdings</vt:lpstr>
      <vt:lpstr>2_db-5-grey</vt:lpstr>
      <vt:lpstr>Introduction to Relational Model</vt:lpstr>
      <vt:lpstr>Outline</vt:lpstr>
      <vt:lpstr>Example of a Instructor  Relation</vt:lpstr>
      <vt:lpstr>Relation Schema and Instance</vt:lpstr>
      <vt:lpstr>Attributes</vt:lpstr>
      <vt:lpstr>Relations are Unordered</vt:lpstr>
      <vt:lpstr>Database Schema</vt:lpstr>
      <vt:lpstr>Keys</vt:lpstr>
      <vt:lpstr>Schema Diagram for University Database</vt:lpstr>
      <vt:lpstr>Relational Query Languages</vt:lpstr>
      <vt:lpstr>Relational Algebra</vt:lpstr>
      <vt:lpstr>Select Operation</vt:lpstr>
      <vt:lpstr>Select Operation (Cont.)</vt:lpstr>
      <vt:lpstr>Project Operation</vt:lpstr>
      <vt:lpstr>Project Operation Example</vt:lpstr>
      <vt:lpstr>Composition of Relational Operations</vt:lpstr>
      <vt:lpstr>Cartesian-Product Operation</vt:lpstr>
      <vt:lpstr>The  instructor  X  teaches  table</vt:lpstr>
      <vt:lpstr>Join Operation</vt:lpstr>
      <vt:lpstr>Join Operation (Cont.)</vt:lpstr>
      <vt:lpstr>Join Operation (Cont.)</vt:lpstr>
      <vt:lpstr>Union Operation</vt:lpstr>
      <vt:lpstr>Union Operation (Cont.)</vt:lpstr>
      <vt:lpstr>Set-Intersection Operation</vt:lpstr>
      <vt:lpstr>Set Difference Operation</vt:lpstr>
      <vt:lpstr>The Assignment  Operation </vt:lpstr>
      <vt:lpstr>The Rename Operation </vt:lpstr>
      <vt:lpstr>Equivalent Queries</vt:lpstr>
      <vt:lpstr>Equivalent Queries</vt:lpstr>
      <vt:lpstr>End</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533</cp:revision>
  <cp:lastPrinted>1999-06-28T19:27:31Z</cp:lastPrinted>
  <dcterms:created xsi:type="dcterms:W3CDTF">2009-12-21T15:40:22Z</dcterms:created>
  <dcterms:modified xsi:type="dcterms:W3CDTF">2022-02-19T13:35:49Z</dcterms:modified>
</cp:coreProperties>
</file>