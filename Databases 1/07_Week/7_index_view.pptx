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9"/>
  </p:notesMasterIdLst>
  <p:handoutMasterIdLst>
    <p:handoutMasterId r:id="rId20"/>
  </p:handoutMasterIdLst>
  <p:sldIdLst>
    <p:sldId id="445" r:id="rId2"/>
    <p:sldId id="446" r:id="rId3"/>
    <p:sldId id="356" r:id="rId4"/>
    <p:sldId id="357" r:id="rId5"/>
    <p:sldId id="358" r:id="rId6"/>
    <p:sldId id="359" r:id="rId7"/>
    <p:sldId id="360" r:id="rId8"/>
    <p:sldId id="470" r:id="rId9"/>
    <p:sldId id="362" r:id="rId10"/>
    <p:sldId id="363" r:id="rId11"/>
    <p:sldId id="364" r:id="rId12"/>
    <p:sldId id="365" r:id="rId13"/>
    <p:sldId id="366" r:id="rId14"/>
    <p:sldId id="367" r:id="rId15"/>
    <p:sldId id="384" r:id="rId16"/>
    <p:sldId id="385" r:id="rId17"/>
    <p:sldId id="395" r:id="rId18"/>
  </p:sldIdLst>
  <p:sldSz cx="9144000" cy="6858000" type="screen4x3"/>
  <p:notesSz cx="6997700" cy="9283700"/>
  <p:custShowLst>
    <p:custShow name="Custom Show 1" id="0">
      <p:sldLst/>
    </p:custShow>
  </p:custShowLst>
  <p:defaultTextStyle>
    <a:defPPr>
      <a:defRPr lang="en-US"/>
    </a:defPPr>
    <a:lvl1pPr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1pPr>
    <a:lvl2pPr marL="457200"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2pPr>
    <a:lvl3pPr marL="914400"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3pPr>
    <a:lvl4pPr marL="1371600"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4pPr>
    <a:lvl5pPr marL="1828800"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5pPr>
    <a:lvl6pPr marL="2286000" algn="l" defTabSz="914400" rtl="0" eaLnBrk="1" latinLnBrk="0" hangingPunct="1">
      <a:defRPr sz="1600" kern="1200">
        <a:solidFill>
          <a:schemeClr val="tx1"/>
        </a:solidFill>
        <a:latin typeface="Helvetica" panose="020B0604020202020204" pitchFamily="34" charset="0"/>
        <a:ea typeface="MS PGothic" panose="020B0600070205080204" pitchFamily="34" charset="-128"/>
        <a:cs typeface="+mn-cs"/>
      </a:defRPr>
    </a:lvl6pPr>
    <a:lvl7pPr marL="2743200" algn="l" defTabSz="914400" rtl="0" eaLnBrk="1" latinLnBrk="0" hangingPunct="1">
      <a:defRPr sz="1600" kern="1200">
        <a:solidFill>
          <a:schemeClr val="tx1"/>
        </a:solidFill>
        <a:latin typeface="Helvetica" panose="020B0604020202020204" pitchFamily="34" charset="0"/>
        <a:ea typeface="MS PGothic" panose="020B0600070205080204" pitchFamily="34" charset="-128"/>
        <a:cs typeface="+mn-cs"/>
      </a:defRPr>
    </a:lvl7pPr>
    <a:lvl8pPr marL="3200400" algn="l" defTabSz="914400" rtl="0" eaLnBrk="1" latinLnBrk="0" hangingPunct="1">
      <a:defRPr sz="1600" kern="1200">
        <a:solidFill>
          <a:schemeClr val="tx1"/>
        </a:solidFill>
        <a:latin typeface="Helvetica" panose="020B0604020202020204" pitchFamily="34" charset="0"/>
        <a:ea typeface="MS PGothic" panose="020B0600070205080204" pitchFamily="34" charset="-128"/>
        <a:cs typeface="+mn-cs"/>
      </a:defRPr>
    </a:lvl8pPr>
    <a:lvl9pPr marL="3657600" algn="l" defTabSz="914400" rtl="0" eaLnBrk="1" latinLnBrk="0" hangingPunct="1">
      <a:defRPr sz="1600" kern="1200">
        <a:solidFill>
          <a:schemeClr val="tx1"/>
        </a:solidFill>
        <a:latin typeface="Helvetica" panose="020B060402020202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707">
          <p15:clr>
            <a:srgbClr val="A4A3A4"/>
          </p15:clr>
        </p15:guide>
        <p15:guide id="2" pos="576">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33"/>
    <a:srgbClr val="0000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022" autoAdjust="0"/>
    <p:restoredTop sz="62004" autoAdjust="0"/>
  </p:normalViewPr>
  <p:slideViewPr>
    <p:cSldViewPr snapToGrid="0">
      <p:cViewPr varScale="1">
        <p:scale>
          <a:sx n="44" d="100"/>
          <a:sy n="44" d="100"/>
        </p:scale>
        <p:origin x="1302" y="42"/>
      </p:cViewPr>
      <p:guideLst>
        <p:guide orient="horz" pos="707"/>
        <p:guide pos="576"/>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7266" name="Rectangle 2">
            <a:extLst>
              <a:ext uri="{FF2B5EF4-FFF2-40B4-BE49-F238E27FC236}">
                <a16:creationId xmlns:a16="http://schemas.microsoft.com/office/drawing/2014/main" id="{C6EF5354-BFFB-44DF-8FA7-1A088153BD87}"/>
              </a:ext>
            </a:extLst>
          </p:cNvPr>
          <p:cNvSpPr>
            <a:spLocks noGrp="1" noChangeArrowheads="1"/>
          </p:cNvSpPr>
          <p:nvPr>
            <p:ph type="hdr" sz="quarter"/>
          </p:nvPr>
        </p:nvSpPr>
        <p:spPr bwMode="auto">
          <a:xfrm>
            <a:off x="0" y="0"/>
            <a:ext cx="3032125" cy="463550"/>
          </a:xfrm>
          <a:prstGeom prst="rect">
            <a:avLst/>
          </a:prstGeom>
          <a:noFill/>
          <a:ln w="9525">
            <a:noFill/>
            <a:miter lim="800000"/>
            <a:headEnd/>
            <a:tailEnd/>
          </a:ln>
          <a:effectLst/>
        </p:spPr>
        <p:txBody>
          <a:bodyPr vert="horz" wrap="square" lIns="93027" tIns="46514" rIns="93027" bIns="46514" numCol="1" anchor="t" anchorCtr="0" compatLnSpc="1">
            <a:prstTxWarp prst="textNoShape">
              <a:avLst/>
            </a:prstTxWarp>
          </a:bodyPr>
          <a:lstStyle>
            <a:lvl1pPr defTabSz="930275">
              <a:defRPr sz="1300">
                <a:latin typeface="Helvetica" charset="0"/>
                <a:ea typeface="+mn-ea"/>
                <a:cs typeface="+mn-cs"/>
              </a:defRPr>
            </a:lvl1pPr>
          </a:lstStyle>
          <a:p>
            <a:pPr>
              <a:defRPr/>
            </a:pPr>
            <a:endParaRPr lang="en-US"/>
          </a:p>
        </p:txBody>
      </p:sp>
      <p:sp>
        <p:nvSpPr>
          <p:cNvPr id="267267" name="Rectangle 3">
            <a:extLst>
              <a:ext uri="{FF2B5EF4-FFF2-40B4-BE49-F238E27FC236}">
                <a16:creationId xmlns:a16="http://schemas.microsoft.com/office/drawing/2014/main" id="{5BBF6CF9-ADFE-4F6E-89A0-8CB582D8FFC5}"/>
              </a:ext>
            </a:extLst>
          </p:cNvPr>
          <p:cNvSpPr>
            <a:spLocks noGrp="1" noChangeArrowheads="1"/>
          </p:cNvSpPr>
          <p:nvPr>
            <p:ph type="dt" sz="quarter" idx="1"/>
          </p:nvPr>
        </p:nvSpPr>
        <p:spPr bwMode="auto">
          <a:xfrm>
            <a:off x="3965575" y="0"/>
            <a:ext cx="3032125" cy="463550"/>
          </a:xfrm>
          <a:prstGeom prst="rect">
            <a:avLst/>
          </a:prstGeom>
          <a:noFill/>
          <a:ln w="9525">
            <a:noFill/>
            <a:miter lim="800000"/>
            <a:headEnd/>
            <a:tailEnd/>
          </a:ln>
          <a:effectLst/>
        </p:spPr>
        <p:txBody>
          <a:bodyPr vert="horz" wrap="square" lIns="93027" tIns="46514" rIns="93027" bIns="46514" numCol="1" anchor="t" anchorCtr="0" compatLnSpc="1">
            <a:prstTxWarp prst="textNoShape">
              <a:avLst/>
            </a:prstTxWarp>
          </a:bodyPr>
          <a:lstStyle>
            <a:lvl1pPr algn="r" defTabSz="930275">
              <a:defRPr sz="1300">
                <a:latin typeface="Helvetica" charset="0"/>
                <a:ea typeface="+mn-ea"/>
                <a:cs typeface="+mn-cs"/>
              </a:defRPr>
            </a:lvl1pPr>
          </a:lstStyle>
          <a:p>
            <a:pPr>
              <a:defRPr/>
            </a:pPr>
            <a:endParaRPr lang="en-US"/>
          </a:p>
        </p:txBody>
      </p:sp>
      <p:sp>
        <p:nvSpPr>
          <p:cNvPr id="267268" name="Rectangle 4">
            <a:extLst>
              <a:ext uri="{FF2B5EF4-FFF2-40B4-BE49-F238E27FC236}">
                <a16:creationId xmlns:a16="http://schemas.microsoft.com/office/drawing/2014/main" id="{8C120FC7-7BCE-4696-BB5D-C087861E4B4E}"/>
              </a:ext>
            </a:extLst>
          </p:cNvPr>
          <p:cNvSpPr>
            <a:spLocks noGrp="1" noChangeArrowheads="1"/>
          </p:cNvSpPr>
          <p:nvPr>
            <p:ph type="ftr" sz="quarter" idx="2"/>
          </p:nvPr>
        </p:nvSpPr>
        <p:spPr bwMode="auto">
          <a:xfrm>
            <a:off x="0" y="8820150"/>
            <a:ext cx="3032125" cy="463550"/>
          </a:xfrm>
          <a:prstGeom prst="rect">
            <a:avLst/>
          </a:prstGeom>
          <a:noFill/>
          <a:ln w="9525">
            <a:noFill/>
            <a:miter lim="800000"/>
            <a:headEnd/>
            <a:tailEnd/>
          </a:ln>
          <a:effectLst/>
        </p:spPr>
        <p:txBody>
          <a:bodyPr vert="horz" wrap="square" lIns="93027" tIns="46514" rIns="93027" bIns="46514" numCol="1" anchor="b" anchorCtr="0" compatLnSpc="1">
            <a:prstTxWarp prst="textNoShape">
              <a:avLst/>
            </a:prstTxWarp>
          </a:bodyPr>
          <a:lstStyle>
            <a:lvl1pPr defTabSz="930275">
              <a:defRPr sz="1300">
                <a:latin typeface="Helvetica" charset="0"/>
                <a:ea typeface="+mn-ea"/>
                <a:cs typeface="+mn-cs"/>
              </a:defRPr>
            </a:lvl1pPr>
          </a:lstStyle>
          <a:p>
            <a:pPr>
              <a:defRPr/>
            </a:pPr>
            <a:endParaRPr lang="en-US"/>
          </a:p>
        </p:txBody>
      </p:sp>
      <p:sp>
        <p:nvSpPr>
          <p:cNvPr id="267269" name="Rectangle 5">
            <a:extLst>
              <a:ext uri="{FF2B5EF4-FFF2-40B4-BE49-F238E27FC236}">
                <a16:creationId xmlns:a16="http://schemas.microsoft.com/office/drawing/2014/main" id="{6735A123-7D3E-455E-AB82-1C3749BB052A}"/>
              </a:ext>
            </a:extLst>
          </p:cNvPr>
          <p:cNvSpPr>
            <a:spLocks noGrp="1" noChangeArrowheads="1"/>
          </p:cNvSpPr>
          <p:nvPr>
            <p:ph type="sldNum" sz="quarter" idx="3"/>
          </p:nvPr>
        </p:nvSpPr>
        <p:spPr bwMode="auto">
          <a:xfrm>
            <a:off x="3965575" y="8820150"/>
            <a:ext cx="3032125" cy="463550"/>
          </a:xfrm>
          <a:prstGeom prst="rect">
            <a:avLst/>
          </a:prstGeom>
          <a:noFill/>
          <a:ln w="9525">
            <a:noFill/>
            <a:miter lim="800000"/>
            <a:headEnd/>
            <a:tailEnd/>
          </a:ln>
          <a:effectLst/>
        </p:spPr>
        <p:txBody>
          <a:bodyPr vert="horz" wrap="square" lIns="93027" tIns="46514" rIns="93027" bIns="46514" numCol="1" anchor="b" anchorCtr="0" compatLnSpc="1">
            <a:prstTxWarp prst="textNoShape">
              <a:avLst/>
            </a:prstTxWarp>
          </a:bodyPr>
          <a:lstStyle>
            <a:lvl1pPr algn="r" defTabSz="930275">
              <a:defRPr sz="1300"/>
            </a:lvl1pPr>
          </a:lstStyle>
          <a:p>
            <a:pPr>
              <a:defRPr/>
            </a:pPr>
            <a:fld id="{A8B4C920-550B-4EA7-9CB5-2D8883A273BF}"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0642" name="Rectangle 2">
            <a:extLst>
              <a:ext uri="{FF2B5EF4-FFF2-40B4-BE49-F238E27FC236}">
                <a16:creationId xmlns:a16="http://schemas.microsoft.com/office/drawing/2014/main" id="{2E8AF117-EF14-4BF3-AB7D-D75C4F934CCD}"/>
              </a:ext>
            </a:extLst>
          </p:cNvPr>
          <p:cNvSpPr>
            <a:spLocks noGrp="1" noChangeArrowheads="1"/>
          </p:cNvSpPr>
          <p:nvPr>
            <p:ph type="hdr" sz="quarter"/>
          </p:nvPr>
        </p:nvSpPr>
        <p:spPr bwMode="auto">
          <a:xfrm>
            <a:off x="0" y="0"/>
            <a:ext cx="3032125" cy="463550"/>
          </a:xfrm>
          <a:prstGeom prst="rect">
            <a:avLst/>
          </a:prstGeom>
          <a:noFill/>
          <a:ln w="9525">
            <a:noFill/>
            <a:miter lim="800000"/>
            <a:headEnd/>
            <a:tailEnd/>
          </a:ln>
          <a:effectLst/>
        </p:spPr>
        <p:txBody>
          <a:bodyPr vert="horz" wrap="none" lIns="93027" tIns="46514" rIns="93027" bIns="46514" numCol="1" anchor="t" anchorCtr="0" compatLnSpc="1">
            <a:prstTxWarp prst="textNoShape">
              <a:avLst/>
            </a:prstTxWarp>
          </a:bodyPr>
          <a:lstStyle>
            <a:lvl1pPr defTabSz="930275">
              <a:defRPr sz="1300">
                <a:latin typeface="Helvetica" charset="0"/>
                <a:ea typeface="+mn-ea"/>
                <a:cs typeface="+mn-cs"/>
              </a:defRPr>
            </a:lvl1pPr>
          </a:lstStyle>
          <a:p>
            <a:pPr>
              <a:defRPr/>
            </a:pPr>
            <a:endParaRPr lang="en-US"/>
          </a:p>
        </p:txBody>
      </p:sp>
      <p:sp>
        <p:nvSpPr>
          <p:cNvPr id="240643" name="Rectangle 3">
            <a:extLst>
              <a:ext uri="{FF2B5EF4-FFF2-40B4-BE49-F238E27FC236}">
                <a16:creationId xmlns:a16="http://schemas.microsoft.com/office/drawing/2014/main" id="{D7D2DA5C-BED3-45D1-AFD2-94AF29863ABC}"/>
              </a:ext>
            </a:extLst>
          </p:cNvPr>
          <p:cNvSpPr>
            <a:spLocks noGrp="1" noChangeArrowheads="1"/>
          </p:cNvSpPr>
          <p:nvPr>
            <p:ph type="dt" idx="1"/>
          </p:nvPr>
        </p:nvSpPr>
        <p:spPr bwMode="auto">
          <a:xfrm>
            <a:off x="3965575" y="0"/>
            <a:ext cx="3032125" cy="463550"/>
          </a:xfrm>
          <a:prstGeom prst="rect">
            <a:avLst/>
          </a:prstGeom>
          <a:noFill/>
          <a:ln w="9525">
            <a:noFill/>
            <a:miter lim="800000"/>
            <a:headEnd/>
            <a:tailEnd/>
          </a:ln>
          <a:effectLst/>
        </p:spPr>
        <p:txBody>
          <a:bodyPr vert="horz" wrap="none" lIns="93027" tIns="46514" rIns="93027" bIns="46514" numCol="1" anchor="t" anchorCtr="0" compatLnSpc="1">
            <a:prstTxWarp prst="textNoShape">
              <a:avLst/>
            </a:prstTxWarp>
          </a:bodyPr>
          <a:lstStyle>
            <a:lvl1pPr algn="r" defTabSz="930275">
              <a:defRPr sz="1300">
                <a:latin typeface="Helvetica" charset="0"/>
                <a:ea typeface="+mn-ea"/>
                <a:cs typeface="+mn-cs"/>
              </a:defRPr>
            </a:lvl1pPr>
          </a:lstStyle>
          <a:p>
            <a:pPr>
              <a:defRPr/>
            </a:pPr>
            <a:endParaRPr lang="en-US"/>
          </a:p>
        </p:txBody>
      </p:sp>
      <p:sp>
        <p:nvSpPr>
          <p:cNvPr id="3076" name="Rectangle 4">
            <a:extLst>
              <a:ext uri="{FF2B5EF4-FFF2-40B4-BE49-F238E27FC236}">
                <a16:creationId xmlns:a16="http://schemas.microsoft.com/office/drawing/2014/main" id="{A2936E5F-4C9B-4144-9261-C3F188AA67D9}"/>
              </a:ext>
            </a:extLst>
          </p:cNvPr>
          <p:cNvSpPr>
            <a:spLocks noGrp="1" noRot="1" noChangeAspect="1" noChangeArrowheads="1" noTextEdit="1"/>
          </p:cNvSpPr>
          <p:nvPr>
            <p:ph type="sldImg" idx="2"/>
          </p:nvPr>
        </p:nvSpPr>
        <p:spPr bwMode="auto">
          <a:xfrm>
            <a:off x="1177925" y="696913"/>
            <a:ext cx="4641850" cy="348138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0645" name="Rectangle 5">
            <a:extLst>
              <a:ext uri="{FF2B5EF4-FFF2-40B4-BE49-F238E27FC236}">
                <a16:creationId xmlns:a16="http://schemas.microsoft.com/office/drawing/2014/main" id="{D73F14C5-05F8-4300-9D01-F3633C854740}"/>
              </a:ext>
            </a:extLst>
          </p:cNvPr>
          <p:cNvSpPr>
            <a:spLocks noGrp="1" noChangeArrowheads="1"/>
          </p:cNvSpPr>
          <p:nvPr>
            <p:ph type="body" sz="quarter" idx="3"/>
          </p:nvPr>
        </p:nvSpPr>
        <p:spPr bwMode="auto">
          <a:xfrm>
            <a:off x="931863" y="4410075"/>
            <a:ext cx="5133975" cy="4176713"/>
          </a:xfrm>
          <a:prstGeom prst="rect">
            <a:avLst/>
          </a:prstGeom>
          <a:noFill/>
          <a:ln w="9525">
            <a:noFill/>
            <a:miter lim="800000"/>
            <a:headEnd/>
            <a:tailEnd/>
          </a:ln>
          <a:effectLst/>
        </p:spPr>
        <p:txBody>
          <a:bodyPr vert="horz" wrap="none" lIns="93027" tIns="46514" rIns="93027" bIns="46514"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40646" name="Rectangle 6">
            <a:extLst>
              <a:ext uri="{FF2B5EF4-FFF2-40B4-BE49-F238E27FC236}">
                <a16:creationId xmlns:a16="http://schemas.microsoft.com/office/drawing/2014/main" id="{BCB6CAD9-A006-4455-8054-9CACB290288C}"/>
              </a:ext>
            </a:extLst>
          </p:cNvPr>
          <p:cNvSpPr>
            <a:spLocks noGrp="1" noChangeArrowheads="1"/>
          </p:cNvSpPr>
          <p:nvPr>
            <p:ph type="ftr" sz="quarter" idx="4"/>
          </p:nvPr>
        </p:nvSpPr>
        <p:spPr bwMode="auto">
          <a:xfrm>
            <a:off x="0" y="8820150"/>
            <a:ext cx="3032125" cy="463550"/>
          </a:xfrm>
          <a:prstGeom prst="rect">
            <a:avLst/>
          </a:prstGeom>
          <a:noFill/>
          <a:ln w="9525">
            <a:noFill/>
            <a:miter lim="800000"/>
            <a:headEnd/>
            <a:tailEnd/>
          </a:ln>
          <a:effectLst/>
        </p:spPr>
        <p:txBody>
          <a:bodyPr vert="horz" wrap="none" lIns="93027" tIns="46514" rIns="93027" bIns="46514" numCol="1" anchor="b" anchorCtr="0" compatLnSpc="1">
            <a:prstTxWarp prst="textNoShape">
              <a:avLst/>
            </a:prstTxWarp>
          </a:bodyPr>
          <a:lstStyle>
            <a:lvl1pPr defTabSz="930275">
              <a:defRPr sz="1300">
                <a:latin typeface="Helvetica" charset="0"/>
                <a:ea typeface="+mn-ea"/>
                <a:cs typeface="+mn-cs"/>
              </a:defRPr>
            </a:lvl1pPr>
          </a:lstStyle>
          <a:p>
            <a:pPr>
              <a:defRPr/>
            </a:pPr>
            <a:endParaRPr lang="en-US"/>
          </a:p>
        </p:txBody>
      </p:sp>
      <p:sp>
        <p:nvSpPr>
          <p:cNvPr id="240647" name="Rectangle 7">
            <a:extLst>
              <a:ext uri="{FF2B5EF4-FFF2-40B4-BE49-F238E27FC236}">
                <a16:creationId xmlns:a16="http://schemas.microsoft.com/office/drawing/2014/main" id="{63060AD7-0C3D-477B-BD60-55C8EBDB9451}"/>
              </a:ext>
            </a:extLst>
          </p:cNvPr>
          <p:cNvSpPr>
            <a:spLocks noGrp="1" noChangeArrowheads="1"/>
          </p:cNvSpPr>
          <p:nvPr>
            <p:ph type="sldNum" sz="quarter" idx="5"/>
          </p:nvPr>
        </p:nvSpPr>
        <p:spPr bwMode="auto">
          <a:xfrm>
            <a:off x="3965575" y="8820150"/>
            <a:ext cx="3032125" cy="463550"/>
          </a:xfrm>
          <a:prstGeom prst="rect">
            <a:avLst/>
          </a:prstGeom>
          <a:noFill/>
          <a:ln w="9525">
            <a:noFill/>
            <a:miter lim="800000"/>
            <a:headEnd/>
            <a:tailEnd/>
          </a:ln>
          <a:effectLst/>
        </p:spPr>
        <p:txBody>
          <a:bodyPr vert="horz" wrap="none" lIns="93027" tIns="46514" rIns="93027" bIns="46514" numCol="1" anchor="b" anchorCtr="0" compatLnSpc="1">
            <a:prstTxWarp prst="textNoShape">
              <a:avLst/>
            </a:prstTxWarp>
          </a:bodyPr>
          <a:lstStyle>
            <a:lvl1pPr algn="r" defTabSz="930275">
              <a:defRPr sz="1300"/>
            </a:lvl1pPr>
          </a:lstStyle>
          <a:p>
            <a:pPr>
              <a:defRPr/>
            </a:pPr>
            <a:fld id="{AE66C03C-4B0E-4149-8287-A3B340EB818D}"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charset="0"/>
        <a:ea typeface="MS PGothic" panose="020B0600070205080204" pitchFamily="34" charset="-128"/>
        <a:cs typeface="ＭＳ Ｐゴシック" charset="0"/>
      </a:defRPr>
    </a:lvl1pPr>
    <a:lvl2pPr marL="457200" algn="l" rtl="0" eaLnBrk="0" fontAlgn="base" hangingPunct="0">
      <a:spcBef>
        <a:spcPct val="30000"/>
      </a:spcBef>
      <a:spcAft>
        <a:spcPct val="0"/>
      </a:spcAft>
      <a:defRPr sz="1200" kern="1200">
        <a:solidFill>
          <a:schemeClr val="tx1"/>
        </a:solidFill>
        <a:latin typeface="Times New Roman" charset="0"/>
        <a:ea typeface="MS PGothic" panose="020B0600070205080204" pitchFamily="34" charset="-128"/>
        <a:cs typeface="+mn-cs"/>
      </a:defRPr>
    </a:lvl2pPr>
    <a:lvl3pPr marL="914400" algn="l" rtl="0" eaLnBrk="0" fontAlgn="base" hangingPunct="0">
      <a:spcBef>
        <a:spcPct val="30000"/>
      </a:spcBef>
      <a:spcAft>
        <a:spcPct val="0"/>
      </a:spcAft>
      <a:defRPr sz="1200" kern="1200">
        <a:solidFill>
          <a:schemeClr val="tx1"/>
        </a:solidFill>
        <a:latin typeface="Times New Roman" charset="0"/>
        <a:ea typeface="MS PGothic" panose="020B0600070205080204" pitchFamily="34" charset="-128"/>
        <a:cs typeface="+mn-cs"/>
      </a:defRPr>
    </a:lvl3pPr>
    <a:lvl4pPr marL="1371600" algn="l" rtl="0" eaLnBrk="0" fontAlgn="base" hangingPunct="0">
      <a:spcBef>
        <a:spcPct val="30000"/>
      </a:spcBef>
      <a:spcAft>
        <a:spcPct val="0"/>
      </a:spcAft>
      <a:defRPr sz="1200" kern="1200">
        <a:solidFill>
          <a:schemeClr val="tx1"/>
        </a:solidFill>
        <a:latin typeface="Times New Roman" charset="0"/>
        <a:ea typeface="MS PGothic" panose="020B0600070205080204" pitchFamily="34" charset="-128"/>
        <a:cs typeface="+mn-cs"/>
      </a:defRPr>
    </a:lvl4pPr>
    <a:lvl5pPr marL="1828800" algn="l" rtl="0" eaLnBrk="0" fontAlgn="base" hangingPunct="0">
      <a:spcBef>
        <a:spcPct val="30000"/>
      </a:spcBef>
      <a:spcAft>
        <a:spcPct val="0"/>
      </a:spcAft>
      <a:defRPr sz="1200" kern="1200">
        <a:solidFill>
          <a:schemeClr val="tx1"/>
        </a:solidFill>
        <a:latin typeface="Times New Roman" charset="0"/>
        <a:ea typeface="MS PGothic" panose="020B0600070205080204" pitchFamily="34"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7351C3CC-85E9-4EB0-AE84-86EE2CEAA304}" type="slidenum">
              <a:rPr lang="en-US" altLang="en-US" sz="1200">
                <a:latin typeface="Times New Roman" panose="02020603050405020304" pitchFamily="18" charset="0"/>
              </a:rPr>
              <a:pPr/>
              <a:t>1</a:t>
            </a:fld>
            <a:endParaRPr lang="en-US" altLang="en-US" sz="1200">
              <a:latin typeface="Times New Roman" panose="02020603050405020304" pitchFamily="18" charset="0"/>
            </a:endParaRPr>
          </a:p>
        </p:txBody>
      </p:sp>
      <p:sp>
        <p:nvSpPr>
          <p:cNvPr id="101379" name="Rectangle 2"/>
          <p:cNvSpPr>
            <a:spLocks noGrp="1" noRot="1" noChangeAspect="1" noChangeArrowheads="1" noTextEdit="1"/>
          </p:cNvSpPr>
          <p:nvPr>
            <p:ph type="sldImg"/>
          </p:nvPr>
        </p:nvSpPr>
        <p:spPr>
          <a:ln/>
        </p:spPr>
      </p:sp>
      <p:sp>
        <p:nvSpPr>
          <p:cNvPr id="101380" name="Rectangle 3"/>
          <p:cNvSpPr>
            <a:spLocks noGrp="1" noChangeArrowheads="1"/>
          </p:cNvSpPr>
          <p:nvPr>
            <p:ph type="body" idx="1"/>
          </p:nvPr>
        </p:nvSpPr>
        <p:spPr>
          <a:xfrm>
            <a:off x="931863" y="4410075"/>
            <a:ext cx="51339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37931725" indent="-37474525" defTabSz="930275">
              <a:defRPr sz="1600">
                <a:solidFill>
                  <a:schemeClr val="tx1"/>
                </a:solidFill>
                <a:latin typeface="Helvetica" panose="020B0604020202020204" pitchFamily="34" charset="0"/>
                <a:ea typeface="MS PGothic" panose="020B0600070205080204" pitchFamily="34" charset="-128"/>
              </a:defRPr>
            </a:lvl2pPr>
            <a:lvl3pPr>
              <a:defRPr sz="1600">
                <a:solidFill>
                  <a:schemeClr val="tx1"/>
                </a:solidFill>
                <a:latin typeface="Helvetica" panose="020B0604020202020204" pitchFamily="34" charset="0"/>
                <a:ea typeface="MS PGothic" panose="020B0600070205080204" pitchFamily="34" charset="-128"/>
              </a:defRPr>
            </a:lvl3pPr>
            <a:lvl4pPr>
              <a:defRPr sz="1600">
                <a:solidFill>
                  <a:schemeClr val="tx1"/>
                </a:solidFill>
                <a:latin typeface="Helvetica" panose="020B0604020202020204" pitchFamily="34" charset="0"/>
                <a:ea typeface="MS PGothic" panose="020B0600070205080204" pitchFamily="34" charset="-128"/>
              </a:defRPr>
            </a:lvl4pPr>
            <a:lvl5pPr>
              <a:defRPr sz="1600">
                <a:solidFill>
                  <a:schemeClr val="tx1"/>
                </a:solidFill>
                <a:latin typeface="Helvetica" panose="020B0604020202020204" pitchFamily="34" charset="0"/>
                <a:ea typeface="MS PGothic" panose="020B0600070205080204" pitchFamily="34" charset="-128"/>
              </a:defRPr>
            </a:lvl5pPr>
            <a:lvl6pPr marL="4572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9144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1371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18288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1E56AE75-B906-4BBE-9F19-01C6ABDA8665}" type="slidenum">
              <a:rPr lang="en-US" altLang="en-US" sz="1200"/>
              <a:pPr/>
              <a:t>2</a:t>
            </a:fld>
            <a:endParaRPr lang="en-US" altLang="en-US" sz="1200"/>
          </a:p>
        </p:txBody>
      </p:sp>
      <p:sp>
        <p:nvSpPr>
          <p:cNvPr id="18435" name="Rectangle 2"/>
          <p:cNvSpPr>
            <a:spLocks noChangeArrowheads="1"/>
          </p:cNvSpPr>
          <p:nvPr/>
        </p:nvSpPr>
        <p:spPr bwMode="auto">
          <a:xfrm>
            <a:off x="3965576" y="0"/>
            <a:ext cx="3032125"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1600">
                <a:solidFill>
                  <a:schemeClr val="tx1"/>
                </a:solidFill>
                <a:latin typeface="Helvetica" panose="020B0604020202020204" pitchFamily="34" charset="0"/>
                <a:ea typeface="MS PGothic" panose="020B0600070205080204" pitchFamily="34" charset="-128"/>
              </a:defRPr>
            </a:lvl1pPr>
            <a:lvl2pPr marL="37931725" indent="-37474525">
              <a:defRPr sz="1600">
                <a:solidFill>
                  <a:schemeClr val="tx1"/>
                </a:solidFill>
                <a:latin typeface="Helvetica" panose="020B0604020202020204" pitchFamily="34" charset="0"/>
                <a:ea typeface="MS PGothic" panose="020B0600070205080204" pitchFamily="34" charset="-128"/>
              </a:defRPr>
            </a:lvl2pPr>
            <a:lvl3pPr>
              <a:defRPr sz="1600">
                <a:solidFill>
                  <a:schemeClr val="tx1"/>
                </a:solidFill>
                <a:latin typeface="Helvetica" panose="020B0604020202020204" pitchFamily="34" charset="0"/>
                <a:ea typeface="MS PGothic" panose="020B0600070205080204" pitchFamily="34" charset="-128"/>
              </a:defRPr>
            </a:lvl3pPr>
            <a:lvl4pPr>
              <a:defRPr sz="1600">
                <a:solidFill>
                  <a:schemeClr val="tx1"/>
                </a:solidFill>
                <a:latin typeface="Helvetica" panose="020B0604020202020204" pitchFamily="34" charset="0"/>
                <a:ea typeface="MS PGothic" panose="020B0600070205080204" pitchFamily="34" charset="-128"/>
              </a:defRPr>
            </a:lvl4pPr>
            <a:lvl5pPr>
              <a:defRPr sz="1600">
                <a:solidFill>
                  <a:schemeClr val="tx1"/>
                </a:solidFill>
                <a:latin typeface="Helvetica" panose="020B0604020202020204" pitchFamily="34" charset="0"/>
                <a:ea typeface="MS PGothic" panose="020B0600070205080204" pitchFamily="34" charset="-128"/>
              </a:defRPr>
            </a:lvl5pPr>
            <a:lvl6pPr marL="4572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9144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1371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18288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endParaRPr lang="en-US" altLang="en-US"/>
          </a:p>
        </p:txBody>
      </p:sp>
      <p:sp>
        <p:nvSpPr>
          <p:cNvPr id="18436" name="Rectangle 3"/>
          <p:cNvSpPr>
            <a:spLocks noChangeArrowheads="1"/>
          </p:cNvSpPr>
          <p:nvPr/>
        </p:nvSpPr>
        <p:spPr bwMode="auto">
          <a:xfrm>
            <a:off x="3965576" y="8820150"/>
            <a:ext cx="3032125"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2058" tIns="45221" rIns="92058" bIns="45221" anchor="b"/>
          <a:lstStyle>
            <a:lvl1pPr defTabSz="930275">
              <a:defRPr sz="1600">
                <a:solidFill>
                  <a:schemeClr val="tx1"/>
                </a:solidFill>
                <a:latin typeface="Helvetica" panose="020B0604020202020204" pitchFamily="34" charset="0"/>
                <a:ea typeface="MS PGothic" panose="020B0600070205080204" pitchFamily="34" charset="-128"/>
              </a:defRPr>
            </a:lvl1pPr>
            <a:lvl2pPr marL="37931725" indent="-37474525" defTabSz="930275">
              <a:defRPr sz="1600">
                <a:solidFill>
                  <a:schemeClr val="tx1"/>
                </a:solidFill>
                <a:latin typeface="Helvetica" panose="020B0604020202020204" pitchFamily="34" charset="0"/>
                <a:ea typeface="MS PGothic" panose="020B0600070205080204" pitchFamily="34" charset="-128"/>
              </a:defRPr>
            </a:lvl2pPr>
            <a:lvl3pPr>
              <a:defRPr sz="1600">
                <a:solidFill>
                  <a:schemeClr val="tx1"/>
                </a:solidFill>
                <a:latin typeface="Helvetica" panose="020B0604020202020204" pitchFamily="34" charset="0"/>
                <a:ea typeface="MS PGothic" panose="020B0600070205080204" pitchFamily="34" charset="-128"/>
              </a:defRPr>
            </a:lvl3pPr>
            <a:lvl4pPr>
              <a:defRPr sz="1600">
                <a:solidFill>
                  <a:schemeClr val="tx1"/>
                </a:solidFill>
                <a:latin typeface="Helvetica" panose="020B0604020202020204" pitchFamily="34" charset="0"/>
                <a:ea typeface="MS PGothic" panose="020B0600070205080204" pitchFamily="34" charset="-128"/>
              </a:defRPr>
            </a:lvl4pPr>
            <a:lvl5pPr>
              <a:defRPr sz="1600">
                <a:solidFill>
                  <a:schemeClr val="tx1"/>
                </a:solidFill>
                <a:latin typeface="Helvetica" panose="020B0604020202020204" pitchFamily="34" charset="0"/>
                <a:ea typeface="MS PGothic" panose="020B0600070205080204" pitchFamily="34" charset="-128"/>
              </a:defRPr>
            </a:lvl5pPr>
            <a:lvl6pPr marL="4572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9144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1371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18288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r"/>
            <a:r>
              <a:rPr lang="en-US" altLang="en-US" sz="1300">
                <a:latin typeface="Times New Roman" panose="02020603050405020304" pitchFamily="18" charset="0"/>
              </a:rPr>
              <a:t>1</a:t>
            </a:r>
          </a:p>
        </p:txBody>
      </p:sp>
      <p:sp>
        <p:nvSpPr>
          <p:cNvPr id="18437" name="Rectangle 4"/>
          <p:cNvSpPr>
            <a:spLocks noChangeArrowheads="1"/>
          </p:cNvSpPr>
          <p:nvPr/>
        </p:nvSpPr>
        <p:spPr bwMode="auto">
          <a:xfrm>
            <a:off x="1" y="8820150"/>
            <a:ext cx="3032125"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1600">
                <a:solidFill>
                  <a:schemeClr val="tx1"/>
                </a:solidFill>
                <a:latin typeface="Helvetica" panose="020B0604020202020204" pitchFamily="34" charset="0"/>
                <a:ea typeface="MS PGothic" panose="020B0600070205080204" pitchFamily="34" charset="-128"/>
              </a:defRPr>
            </a:lvl1pPr>
            <a:lvl2pPr marL="37931725" indent="-37474525">
              <a:defRPr sz="1600">
                <a:solidFill>
                  <a:schemeClr val="tx1"/>
                </a:solidFill>
                <a:latin typeface="Helvetica" panose="020B0604020202020204" pitchFamily="34" charset="0"/>
                <a:ea typeface="MS PGothic" panose="020B0600070205080204" pitchFamily="34" charset="-128"/>
              </a:defRPr>
            </a:lvl2pPr>
            <a:lvl3pPr>
              <a:defRPr sz="1600">
                <a:solidFill>
                  <a:schemeClr val="tx1"/>
                </a:solidFill>
                <a:latin typeface="Helvetica" panose="020B0604020202020204" pitchFamily="34" charset="0"/>
                <a:ea typeface="MS PGothic" panose="020B0600070205080204" pitchFamily="34" charset="-128"/>
              </a:defRPr>
            </a:lvl3pPr>
            <a:lvl4pPr>
              <a:defRPr sz="1600">
                <a:solidFill>
                  <a:schemeClr val="tx1"/>
                </a:solidFill>
                <a:latin typeface="Helvetica" panose="020B0604020202020204" pitchFamily="34" charset="0"/>
                <a:ea typeface="MS PGothic" panose="020B0600070205080204" pitchFamily="34" charset="-128"/>
              </a:defRPr>
            </a:lvl4pPr>
            <a:lvl5pPr>
              <a:defRPr sz="1600">
                <a:solidFill>
                  <a:schemeClr val="tx1"/>
                </a:solidFill>
                <a:latin typeface="Helvetica" panose="020B0604020202020204" pitchFamily="34" charset="0"/>
                <a:ea typeface="MS PGothic" panose="020B0600070205080204" pitchFamily="34" charset="-128"/>
              </a:defRPr>
            </a:lvl5pPr>
            <a:lvl6pPr marL="4572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9144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1371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18288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endParaRPr lang="en-US" altLang="en-US"/>
          </a:p>
        </p:txBody>
      </p:sp>
      <p:sp>
        <p:nvSpPr>
          <p:cNvPr id="18438" name="Rectangle 5"/>
          <p:cNvSpPr>
            <a:spLocks noChangeArrowheads="1"/>
          </p:cNvSpPr>
          <p:nvPr/>
        </p:nvSpPr>
        <p:spPr bwMode="auto">
          <a:xfrm>
            <a:off x="1" y="0"/>
            <a:ext cx="3032125"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1600">
                <a:solidFill>
                  <a:schemeClr val="tx1"/>
                </a:solidFill>
                <a:latin typeface="Helvetica" panose="020B0604020202020204" pitchFamily="34" charset="0"/>
                <a:ea typeface="MS PGothic" panose="020B0600070205080204" pitchFamily="34" charset="-128"/>
              </a:defRPr>
            </a:lvl1pPr>
            <a:lvl2pPr marL="37931725" indent="-37474525">
              <a:defRPr sz="1600">
                <a:solidFill>
                  <a:schemeClr val="tx1"/>
                </a:solidFill>
                <a:latin typeface="Helvetica" panose="020B0604020202020204" pitchFamily="34" charset="0"/>
                <a:ea typeface="MS PGothic" panose="020B0600070205080204" pitchFamily="34" charset="-128"/>
              </a:defRPr>
            </a:lvl2pPr>
            <a:lvl3pPr>
              <a:defRPr sz="1600">
                <a:solidFill>
                  <a:schemeClr val="tx1"/>
                </a:solidFill>
                <a:latin typeface="Helvetica" panose="020B0604020202020204" pitchFamily="34" charset="0"/>
                <a:ea typeface="MS PGothic" panose="020B0600070205080204" pitchFamily="34" charset="-128"/>
              </a:defRPr>
            </a:lvl3pPr>
            <a:lvl4pPr>
              <a:defRPr sz="1600">
                <a:solidFill>
                  <a:schemeClr val="tx1"/>
                </a:solidFill>
                <a:latin typeface="Helvetica" panose="020B0604020202020204" pitchFamily="34" charset="0"/>
                <a:ea typeface="MS PGothic" panose="020B0600070205080204" pitchFamily="34" charset="-128"/>
              </a:defRPr>
            </a:lvl4pPr>
            <a:lvl5pPr>
              <a:defRPr sz="1600">
                <a:solidFill>
                  <a:schemeClr val="tx1"/>
                </a:solidFill>
                <a:latin typeface="Helvetica" panose="020B0604020202020204" pitchFamily="34" charset="0"/>
                <a:ea typeface="MS PGothic" panose="020B0600070205080204" pitchFamily="34" charset="-128"/>
              </a:defRPr>
            </a:lvl5pPr>
            <a:lvl6pPr marL="4572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9144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1371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18288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endParaRPr lang="en-US" altLang="en-US"/>
          </a:p>
        </p:txBody>
      </p:sp>
      <p:sp>
        <p:nvSpPr>
          <p:cNvPr id="18439" name="Rectangle 6"/>
          <p:cNvSpPr>
            <a:spLocks noGrp="1" noRot="1" noChangeAspect="1" noChangeArrowheads="1" noTextEdit="1"/>
          </p:cNvSpPr>
          <p:nvPr>
            <p:ph type="sldImg"/>
          </p:nvPr>
        </p:nvSpPr>
        <p:spPr>
          <a:xfrm>
            <a:off x="1187450" y="703263"/>
            <a:ext cx="4622800" cy="3467100"/>
          </a:xfrm>
          <a:ln w="12700" cap="flat"/>
        </p:spPr>
      </p:sp>
      <p:sp>
        <p:nvSpPr>
          <p:cNvPr id="18440" name="Rectangle 7"/>
          <p:cNvSpPr>
            <a:spLocks noGrp="1" noChangeArrowheads="1"/>
          </p:cNvSpPr>
          <p:nvPr>
            <p:ph type="body" idx="1"/>
          </p:nvPr>
        </p:nvSpPr>
        <p:spPr>
          <a:xfrm>
            <a:off x="931864" y="4410076"/>
            <a:ext cx="51339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58" tIns="45221" rIns="92058" bIns="45221" anchor="ct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altLang="en-US" sz="1200" dirty="0" smtClean="0"/>
              <a:t>Join  Expressions – se </a:t>
            </a:r>
            <a:r>
              <a:rPr lang="en-US" altLang="en-US" sz="1200" dirty="0" err="1" smtClean="0"/>
              <a:t>pripojuiva</a:t>
            </a:r>
            <a:r>
              <a:rPr lang="en-US" altLang="en-US" sz="1200" dirty="0" smtClean="0"/>
              <a:t> so </a:t>
            </a:r>
            <a:r>
              <a:rPr lang="en-US" altLang="en-US" sz="1200" dirty="0" err="1" smtClean="0"/>
              <a:t>prethodna</a:t>
            </a:r>
            <a:r>
              <a:rPr lang="en-US" altLang="en-US" sz="1200" dirty="0" smtClean="0"/>
              <a:t> </a:t>
            </a:r>
            <a:r>
              <a:rPr lang="en-US" altLang="en-US" sz="1200" dirty="0" err="1" smtClean="0"/>
              <a:t>lekcija</a:t>
            </a:r>
            <a:r>
              <a:rPr lang="en-US" altLang="en-US" sz="1200" baseline="0" dirty="0" smtClean="0"/>
              <a:t> I taka se deli </a:t>
            </a:r>
            <a:r>
              <a:rPr lang="en-US" altLang="en-US" sz="1200" baseline="0" dirty="0" err="1" smtClean="0"/>
              <a:t>na</a:t>
            </a:r>
            <a:r>
              <a:rPr lang="en-US" altLang="en-US" sz="1200" baseline="0" dirty="0" smtClean="0"/>
              <a:t> </a:t>
            </a:r>
            <a:r>
              <a:rPr lang="en-US" altLang="en-US" sz="1200" baseline="0" dirty="0" err="1" smtClean="0"/>
              <a:t>dve</a:t>
            </a:r>
            <a:r>
              <a:rPr lang="en-US" altLang="en-US" sz="1200" baseline="0" dirty="0" smtClean="0"/>
              <a:t> </a:t>
            </a:r>
            <a:r>
              <a:rPr lang="en-US" altLang="en-US" sz="1200" baseline="0" dirty="0" err="1" smtClean="0"/>
              <a:t>predavanja</a:t>
            </a:r>
            <a:r>
              <a:rPr lang="en-US" altLang="en-US" sz="1200" baseline="0" dirty="0" smtClean="0"/>
              <a:t> so </a:t>
            </a:r>
            <a:r>
              <a:rPr lang="en-US" altLang="en-US" sz="1200" baseline="0" dirty="0" err="1" smtClean="0"/>
              <a:t>sto</a:t>
            </a:r>
            <a:r>
              <a:rPr lang="en-US" altLang="en-US" sz="1200" baseline="0" dirty="0" smtClean="0"/>
              <a:t> se </a:t>
            </a:r>
            <a:r>
              <a:rPr lang="en-US" altLang="en-US" sz="1200" baseline="0" dirty="0" err="1" smtClean="0"/>
              <a:t>pokriva</a:t>
            </a:r>
            <a:r>
              <a:rPr lang="en-US" altLang="en-US" sz="1200" baseline="0" dirty="0" smtClean="0"/>
              <a:t> so </a:t>
            </a:r>
            <a:r>
              <a:rPr lang="en-US" altLang="en-US" sz="1200" baseline="0" dirty="0" err="1" smtClean="0"/>
              <a:t>stari</a:t>
            </a:r>
            <a:r>
              <a:rPr lang="en-US" altLang="en-US" sz="1200" baseline="0" dirty="0" smtClean="0"/>
              <a:t> </a:t>
            </a:r>
            <a:r>
              <a:rPr lang="en-US" altLang="en-US" sz="1200" baseline="0" dirty="0" err="1" smtClean="0"/>
              <a:t>ppt</a:t>
            </a:r>
            <a:endParaRPr lang="en-US" altLang="en-US" sz="1200" baseline="0" dirty="0" smtClean="0"/>
          </a:p>
          <a:p>
            <a:pPr marL="0" marR="0" indent="0" algn="l" defTabSz="914400" rtl="0" eaLnBrk="0" fontAlgn="base" latinLnBrk="0" hangingPunct="0">
              <a:lnSpc>
                <a:spcPct val="100000"/>
              </a:lnSpc>
              <a:spcBef>
                <a:spcPct val="30000"/>
              </a:spcBef>
              <a:spcAft>
                <a:spcPct val="0"/>
              </a:spcAft>
              <a:buClrTx/>
              <a:buSzTx/>
              <a:buFontTx/>
              <a:buNone/>
              <a:tabLst/>
              <a:defRPr/>
            </a:pPr>
            <a:endParaRPr lang="en-US" altLang="en-US" sz="1200" baseline="0" dirty="0" smtClean="0"/>
          </a:p>
          <a:p>
            <a:pPr marL="0" marR="0" indent="0" algn="l" defTabSz="914400" rtl="0" eaLnBrk="0" fontAlgn="base" latinLnBrk="0" hangingPunct="0">
              <a:lnSpc>
                <a:spcPct val="100000"/>
              </a:lnSpc>
              <a:spcBef>
                <a:spcPct val="30000"/>
              </a:spcBef>
              <a:spcAft>
                <a:spcPct val="0"/>
              </a:spcAft>
              <a:buClrTx/>
              <a:buSzTx/>
              <a:buFontTx/>
              <a:buNone/>
              <a:tabLst/>
              <a:defRPr/>
            </a:pPr>
            <a:r>
              <a:rPr lang="en-US" altLang="en-US" sz="1200" baseline="0" dirty="0" err="1" smtClean="0"/>
              <a:t>Ostatokot</a:t>
            </a:r>
            <a:r>
              <a:rPr lang="en-US" altLang="en-US" sz="1200" baseline="0" dirty="0" smtClean="0"/>
              <a:t> se </a:t>
            </a:r>
            <a:r>
              <a:rPr lang="en-US" altLang="en-US" sz="1200" baseline="0" dirty="0" err="1" smtClean="0"/>
              <a:t>spojuva</a:t>
            </a:r>
            <a:r>
              <a:rPr lang="en-US" altLang="en-US" sz="1200" baseline="0" dirty="0" smtClean="0"/>
              <a:t> so triggers od </a:t>
            </a:r>
            <a:r>
              <a:rPr lang="en-US" altLang="en-US" sz="1200" baseline="0" dirty="0" err="1" smtClean="0"/>
              <a:t>naredna</a:t>
            </a:r>
            <a:r>
              <a:rPr lang="en-US" altLang="en-US" sz="1200" baseline="0" dirty="0" smtClean="0"/>
              <a:t> I se </a:t>
            </a:r>
            <a:r>
              <a:rPr lang="en-US" altLang="en-US" sz="1200" baseline="0" dirty="0" err="1" smtClean="0"/>
              <a:t>dobivaat</a:t>
            </a:r>
            <a:r>
              <a:rPr lang="en-US" altLang="en-US" sz="1200" baseline="0" dirty="0" smtClean="0"/>
              <a:t> 2 </a:t>
            </a:r>
            <a:r>
              <a:rPr lang="en-US" altLang="en-US" sz="1200" baseline="0" dirty="0" err="1" smtClean="0"/>
              <a:t>predavanja</a:t>
            </a:r>
            <a:endParaRPr lang="en-US" altLang="en-US" sz="1200" dirty="0" smtClean="0"/>
          </a:p>
          <a:p>
            <a:r>
              <a:rPr lang="en-US" altLang="en-US" dirty="0" smtClean="0">
                <a:latin typeface="Times New Roman" panose="02020603050405020304" pitchFamily="18" charset="0"/>
              </a:rPr>
              <a:t> </a:t>
            </a:r>
          </a:p>
          <a:p>
            <a:r>
              <a:rPr lang="en-US" dirty="0" smtClean="0"/>
              <a:t>In this chapter, </a:t>
            </a:r>
            <a:r>
              <a:rPr lang="en-US" b="1" dirty="0" smtClean="0"/>
              <a:t>we continue our study of SQL. We consider more complex forms of SQL queries, view definition, transactions</a:t>
            </a:r>
            <a:r>
              <a:rPr lang="en-US" dirty="0" smtClean="0"/>
              <a:t>, integrity constraints, more details regarding SQL data definition, and authorization.</a:t>
            </a:r>
            <a:endParaRPr lang="en-US" altLang="en-US" dirty="0" smtClean="0">
              <a:latin typeface="Times New Roman" panose="02020603050405020304" pitchFamily="18" charset="0"/>
            </a:endParaRPr>
          </a:p>
          <a:p>
            <a:endParaRPr lang="en-US" altLang="en-US" dirty="0">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37931725" indent="-37474525" defTabSz="930275">
              <a:defRPr sz="1600">
                <a:solidFill>
                  <a:schemeClr val="tx1"/>
                </a:solidFill>
                <a:latin typeface="Helvetica" panose="020B0604020202020204" pitchFamily="34" charset="0"/>
                <a:ea typeface="MS PGothic" panose="020B0600070205080204" pitchFamily="34" charset="-128"/>
              </a:defRPr>
            </a:lvl2pPr>
            <a:lvl3pPr>
              <a:defRPr sz="1600">
                <a:solidFill>
                  <a:schemeClr val="tx1"/>
                </a:solidFill>
                <a:latin typeface="Helvetica" panose="020B0604020202020204" pitchFamily="34" charset="0"/>
                <a:ea typeface="MS PGothic" panose="020B0600070205080204" pitchFamily="34" charset="-128"/>
              </a:defRPr>
            </a:lvl3pPr>
            <a:lvl4pPr>
              <a:defRPr sz="1600">
                <a:solidFill>
                  <a:schemeClr val="tx1"/>
                </a:solidFill>
                <a:latin typeface="Helvetica" panose="020B0604020202020204" pitchFamily="34" charset="0"/>
                <a:ea typeface="MS PGothic" panose="020B0600070205080204" pitchFamily="34" charset="-128"/>
              </a:defRPr>
            </a:lvl4pPr>
            <a:lvl5pPr>
              <a:defRPr sz="1600">
                <a:solidFill>
                  <a:schemeClr val="tx1"/>
                </a:solidFill>
                <a:latin typeface="Helvetica" panose="020B0604020202020204" pitchFamily="34" charset="0"/>
                <a:ea typeface="MS PGothic" panose="020B0600070205080204" pitchFamily="34" charset="-128"/>
              </a:defRPr>
            </a:lvl5pPr>
            <a:lvl6pPr marL="4572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9144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1371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18288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97D0D930-A2D8-469D-B052-FB82FC88E015}" type="slidenum">
              <a:rPr lang="en-US" altLang="en-US" sz="1200"/>
              <a:pPr/>
              <a:t>3</a:t>
            </a:fld>
            <a:endParaRPr lang="en-US" altLang="en-US" sz="1200"/>
          </a:p>
        </p:txBody>
      </p:sp>
      <p:sp>
        <p:nvSpPr>
          <p:cNvPr id="38915" name="Rectangle 2"/>
          <p:cNvSpPr>
            <a:spLocks noGrp="1" noRot="1" noChangeAspect="1" noChangeArrowheads="1" noTextEdit="1"/>
          </p:cNvSpPr>
          <p:nvPr>
            <p:ph type="sldImg"/>
          </p:nvPr>
        </p:nvSpPr>
        <p:spPr>
          <a:xfrm>
            <a:off x="1177925" y="695325"/>
            <a:ext cx="4641850" cy="3481388"/>
          </a:xfrm>
          <a:ln/>
        </p:spPr>
      </p:sp>
      <p:sp>
        <p:nvSpPr>
          <p:cNvPr id="38916" name="Rectangle 3"/>
          <p:cNvSpPr>
            <a:spLocks noGrp="1" noChangeArrowheads="1"/>
          </p:cNvSpPr>
          <p:nvPr>
            <p:ph type="body" idx="1"/>
          </p:nvPr>
        </p:nvSpPr>
        <p:spPr>
          <a:xfrm>
            <a:off x="931864" y="4410075"/>
            <a:ext cx="5133975" cy="41783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dirty="0" smtClean="0"/>
              <a:t>It is not always desirable for all users to see the entire set of relations in the database. </a:t>
            </a:r>
            <a:r>
              <a:rPr lang="en-US" dirty="0" smtClean="0"/>
              <a:t>In Section 4.7, </a:t>
            </a:r>
            <a:r>
              <a:rPr lang="en-US" b="1" dirty="0" smtClean="0"/>
              <a:t>we shall see how to use the SQL authorization mechanism to restrict access to relations, but security considerations may require that only certain data in a relation be hidden from a user. </a:t>
            </a:r>
          </a:p>
          <a:p>
            <a:endParaRPr lang="en-US" dirty="0" smtClean="0"/>
          </a:p>
          <a:p>
            <a:r>
              <a:rPr lang="en-US" b="1" dirty="0" smtClean="0"/>
              <a:t>Consider a clerk who needs to know an instructor’s ID, name, and department name, but does not have authorization to see the instructor’s salary amount. This person should see a relation described in SQL by:</a:t>
            </a:r>
          </a:p>
          <a:p>
            <a:pPr>
              <a:tabLst>
                <a:tab pos="3205163" algn="ctr"/>
              </a:tabLst>
            </a:pPr>
            <a:r>
              <a:rPr kumimoji="0" lang="en-US" altLang="en-US" sz="1200" b="1" dirty="0" smtClean="0"/>
              <a:t>select </a:t>
            </a:r>
            <a:r>
              <a:rPr kumimoji="0" lang="en-US" altLang="en-US" sz="1200" i="1" dirty="0" smtClean="0"/>
              <a:t>ID</a:t>
            </a:r>
            <a:r>
              <a:rPr kumimoji="0" lang="en-US" altLang="en-US" sz="1200" dirty="0" smtClean="0"/>
              <a:t>, </a:t>
            </a:r>
            <a:r>
              <a:rPr kumimoji="0" lang="en-US" altLang="en-US" sz="1200" i="1" dirty="0" smtClean="0"/>
              <a:t>name</a:t>
            </a:r>
            <a:r>
              <a:rPr kumimoji="0" lang="en-US" altLang="en-US" sz="1200" dirty="0" smtClean="0"/>
              <a:t>, </a:t>
            </a:r>
            <a:r>
              <a:rPr kumimoji="0" lang="en-US" altLang="en-US" sz="1200" i="1" dirty="0" err="1" smtClean="0"/>
              <a:t>dept_name</a:t>
            </a:r>
            <a:r>
              <a:rPr kumimoji="0" lang="en-US" altLang="en-US" sz="1200" i="1" dirty="0" smtClean="0"/>
              <a:t/>
            </a:r>
            <a:br>
              <a:rPr kumimoji="0" lang="en-US" altLang="en-US" sz="1200" i="1" dirty="0" smtClean="0"/>
            </a:br>
            <a:r>
              <a:rPr kumimoji="0" lang="en-US" altLang="en-US" sz="1200" i="1" dirty="0" smtClean="0"/>
              <a:t>             </a:t>
            </a:r>
            <a:r>
              <a:rPr kumimoji="0" lang="en-US" altLang="en-US" sz="1200" b="1" dirty="0" smtClean="0"/>
              <a:t>from </a:t>
            </a:r>
            <a:r>
              <a:rPr kumimoji="0" lang="en-US" altLang="en-US" sz="1200" i="1" dirty="0" smtClean="0"/>
              <a:t>instructor</a:t>
            </a:r>
            <a:endParaRPr kumimoji="0" lang="en-US" altLang="en-US" sz="1200" dirty="0" smtClean="0"/>
          </a:p>
          <a:p>
            <a:pPr>
              <a:buFont typeface="Monotype Sorts" charset="2"/>
              <a:buNone/>
              <a:tabLst>
                <a:tab pos="3205163" algn="ctr"/>
              </a:tabLst>
            </a:pPr>
            <a:r>
              <a:rPr lang="en-US" altLang="en-US" sz="500" dirty="0" smtClean="0">
                <a:sym typeface="Symbol" panose="05050102010706020507" pitchFamily="18" charset="2"/>
              </a:rPr>
              <a:t> </a:t>
            </a:r>
          </a:p>
          <a:p>
            <a:endParaRPr lang="en-US" altLang="en-US" dirty="0" smtClean="0">
              <a:latin typeface="Times New Roman" panose="02020603050405020304" pitchFamily="18" charset="0"/>
            </a:endParaRPr>
          </a:p>
          <a:p>
            <a:endParaRPr lang="en-US" altLang="en-US" dirty="0" smtClean="0">
              <a:latin typeface="Times New Roman" panose="02020603050405020304" pitchFamily="18" charset="0"/>
            </a:endParaRPr>
          </a:p>
          <a:p>
            <a:r>
              <a:rPr lang="en-US" b="1" dirty="0" smtClean="0"/>
              <a:t>Aside from security concerns, we may wish to create a personalized collection of “virtual” relations that is better matched to a certain user’s intuition of the structure of the enterprise.</a:t>
            </a:r>
          </a:p>
          <a:p>
            <a:endParaRPr lang="en-US" altLang="en-US" dirty="0" smtClean="0">
              <a:latin typeface="Times New Roman" panose="02020603050405020304" pitchFamily="18" charset="0"/>
            </a:endParaRPr>
          </a:p>
          <a:p>
            <a:r>
              <a:rPr lang="en-US" b="1" dirty="0" smtClean="0"/>
              <a:t>Instead, SQL allows a “virtual relation” to be defined by a query, and the relation conceptually contains the result of the query. The virtual relation is not precomputed and stored but instead is computed by executing the query whenever the virtual relation is used. We saw a feature for </a:t>
            </a:r>
            <a:r>
              <a:rPr lang="en-US" dirty="0" smtClean="0"/>
              <a:t>this in Section 3.8.6, </a:t>
            </a:r>
            <a:r>
              <a:rPr lang="en-US" b="1" dirty="0" smtClean="0"/>
              <a:t>where we described the with clause. The with clause allows us to </a:t>
            </a:r>
            <a:r>
              <a:rPr lang="en-US" b="1" dirty="0" err="1" smtClean="0"/>
              <a:t>to</a:t>
            </a:r>
            <a:r>
              <a:rPr lang="en-US" b="1" dirty="0" smtClean="0"/>
              <a:t> assign a name to a subquery for use as often as desired, but in one particular query only. Here, we present a way to extend this concept beyond a single query by defining a view. It is possible to support a large number of views on top of any given set of actual relations.</a:t>
            </a:r>
          </a:p>
          <a:p>
            <a:endParaRPr lang="en-US" altLang="en-US" dirty="0" smtClean="0">
              <a:latin typeface="Times New Roman" panose="02020603050405020304" pitchFamily="18" charset="0"/>
            </a:endParaRPr>
          </a:p>
          <a:p>
            <a:endParaRPr lang="en-US" altLang="en-US" dirty="0">
              <a:latin typeface="Times New Roman"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37931725" indent="-37474525" defTabSz="930275">
              <a:defRPr sz="1600">
                <a:solidFill>
                  <a:schemeClr val="tx1"/>
                </a:solidFill>
                <a:latin typeface="Helvetica" panose="020B0604020202020204" pitchFamily="34" charset="0"/>
                <a:ea typeface="MS PGothic" panose="020B0600070205080204" pitchFamily="34" charset="-128"/>
              </a:defRPr>
            </a:lvl2pPr>
            <a:lvl3pPr>
              <a:defRPr sz="1600">
                <a:solidFill>
                  <a:schemeClr val="tx1"/>
                </a:solidFill>
                <a:latin typeface="Helvetica" panose="020B0604020202020204" pitchFamily="34" charset="0"/>
                <a:ea typeface="MS PGothic" panose="020B0600070205080204" pitchFamily="34" charset="-128"/>
              </a:defRPr>
            </a:lvl3pPr>
            <a:lvl4pPr>
              <a:defRPr sz="1600">
                <a:solidFill>
                  <a:schemeClr val="tx1"/>
                </a:solidFill>
                <a:latin typeface="Helvetica" panose="020B0604020202020204" pitchFamily="34" charset="0"/>
                <a:ea typeface="MS PGothic" panose="020B0600070205080204" pitchFamily="34" charset="-128"/>
              </a:defRPr>
            </a:lvl4pPr>
            <a:lvl5pPr>
              <a:defRPr sz="1600">
                <a:solidFill>
                  <a:schemeClr val="tx1"/>
                </a:solidFill>
                <a:latin typeface="Helvetica" panose="020B0604020202020204" pitchFamily="34" charset="0"/>
                <a:ea typeface="MS PGothic" panose="020B0600070205080204" pitchFamily="34" charset="-128"/>
              </a:defRPr>
            </a:lvl5pPr>
            <a:lvl6pPr marL="4572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9144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1371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18288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304C8304-CA7E-484A-A59E-D08422FFDCB2}" type="slidenum">
              <a:rPr lang="en-US" altLang="en-US" sz="1200"/>
              <a:pPr/>
              <a:t>4</a:t>
            </a:fld>
            <a:endParaRPr lang="en-US" altLang="en-US" sz="1200"/>
          </a:p>
        </p:txBody>
      </p:sp>
      <p:sp>
        <p:nvSpPr>
          <p:cNvPr id="40963" name="Rectangle 2"/>
          <p:cNvSpPr>
            <a:spLocks noGrp="1" noRot="1" noChangeAspect="1" noChangeArrowheads="1" noTextEdit="1"/>
          </p:cNvSpPr>
          <p:nvPr>
            <p:ph type="sldImg"/>
          </p:nvPr>
        </p:nvSpPr>
        <p:spPr>
          <a:xfrm>
            <a:off x="1177925" y="695325"/>
            <a:ext cx="4641850" cy="3481388"/>
          </a:xfrm>
          <a:ln/>
        </p:spPr>
      </p:sp>
      <p:sp>
        <p:nvSpPr>
          <p:cNvPr id="40964" name="Rectangle 3"/>
          <p:cNvSpPr>
            <a:spLocks noGrp="1" noChangeArrowheads="1"/>
          </p:cNvSpPr>
          <p:nvPr>
            <p:ph type="body" idx="1"/>
          </p:nvPr>
        </p:nvSpPr>
        <p:spPr>
          <a:xfrm>
            <a:off x="931864" y="4410075"/>
            <a:ext cx="5133975" cy="41783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dirty="0" smtClean="0"/>
              <a:t>We define a view in SQL by using the create view command. To define a view, we must give the view a name and must state the query that computes the view. The form of the create view command is:</a:t>
            </a:r>
          </a:p>
          <a:p>
            <a:pPr marL="0" marR="0" indent="0" algn="l" defTabSz="914400" rtl="0" eaLnBrk="0" fontAlgn="base" latinLnBrk="0" hangingPunct="0">
              <a:lnSpc>
                <a:spcPct val="100000"/>
              </a:lnSpc>
              <a:spcBef>
                <a:spcPct val="30000"/>
              </a:spcBef>
              <a:spcAft>
                <a:spcPct val="0"/>
              </a:spcAft>
              <a:buClrTx/>
              <a:buSzTx/>
              <a:buFontTx/>
              <a:buNone/>
              <a:tabLst/>
              <a:defRPr/>
            </a:pPr>
            <a:r>
              <a:rPr lang="en-US" altLang="en-US" sz="1200" b="1" dirty="0" smtClean="0"/>
              <a:t>create view </a:t>
            </a:r>
            <a:r>
              <a:rPr lang="en-US" altLang="en-US" sz="1200" i="1" dirty="0" smtClean="0">
                <a:solidFill>
                  <a:srgbClr val="002060"/>
                </a:solidFill>
              </a:rPr>
              <a:t>v</a:t>
            </a:r>
            <a:r>
              <a:rPr lang="en-US" altLang="en-US" sz="1200" i="1" dirty="0" smtClean="0">
                <a:solidFill>
                  <a:srgbClr val="000099"/>
                </a:solidFill>
              </a:rPr>
              <a:t> </a:t>
            </a:r>
            <a:r>
              <a:rPr lang="en-US" altLang="en-US" sz="1200" b="1" dirty="0" smtClean="0"/>
              <a:t>as </a:t>
            </a:r>
            <a:r>
              <a:rPr lang="en-US" altLang="en-US" sz="1200" i="1" dirty="0" smtClean="0"/>
              <a:t>&lt; </a:t>
            </a:r>
            <a:r>
              <a:rPr lang="en-US" altLang="en-US" sz="1200" dirty="0" smtClean="0"/>
              <a:t>query expression &gt;</a:t>
            </a:r>
          </a:p>
          <a:p>
            <a:endParaRPr lang="en-US" altLang="en-US" dirty="0" smtClean="0">
              <a:latin typeface="Times New Roman" panose="02020603050405020304" pitchFamily="18" charset="0"/>
            </a:endParaRPr>
          </a:p>
          <a:p>
            <a:r>
              <a:rPr lang="en-US" b="1" dirty="0" smtClean="0"/>
              <a:t>where </a:t>
            </a:r>
            <a:r>
              <a:rPr lang="en-US" altLang="en-US" sz="1200" dirty="0" smtClean="0"/>
              <a:t>&lt;query expression&gt;  </a:t>
            </a:r>
            <a:r>
              <a:rPr lang="en-US" b="1" dirty="0" smtClean="0"/>
              <a:t>is any legal query expression. The view name is represented by v.</a:t>
            </a:r>
          </a:p>
          <a:p>
            <a:endParaRPr lang="en-US" dirty="0" smtClean="0"/>
          </a:p>
          <a:p>
            <a:endParaRPr lang="en-US" altLang="en-US" dirty="0" smtClean="0">
              <a:latin typeface="Times New Roman" panose="02020603050405020304" pitchFamily="18" charset="0"/>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US" b="1" dirty="0" smtClean="0"/>
              <a:t>As explained earlier, the view relation conceptually contains the tuples in the query result, but it is not precomputed and stored. Instead, the database system stores the query expression associated with the view relation. Whenever the view relation is accessed, its tuples are created by computing the query result. Thus, the view relation is created whenever needed, on demand.</a:t>
            </a:r>
            <a:endParaRPr lang="en-US" altLang="en-US" b="1" dirty="0" smtClean="0">
              <a:latin typeface="Times New Roman" panose="02020603050405020304" pitchFamily="18" charset="0"/>
            </a:endParaRPr>
          </a:p>
          <a:p>
            <a:endParaRPr lang="en-US" altLang="en-US" dirty="0" smtClean="0">
              <a:latin typeface="Times New Roman" panose="02020603050405020304" pitchFamily="18" charset="0"/>
            </a:endParaRPr>
          </a:p>
          <a:p>
            <a:endParaRPr lang="en-US" altLang="en-US" dirty="0">
              <a:latin typeface="Times New Roman" panose="02020603050405020304"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37931725" indent="-37474525" defTabSz="930275">
              <a:defRPr sz="1600">
                <a:solidFill>
                  <a:schemeClr val="tx1"/>
                </a:solidFill>
                <a:latin typeface="Helvetica" panose="020B0604020202020204" pitchFamily="34" charset="0"/>
                <a:ea typeface="MS PGothic" panose="020B0600070205080204" pitchFamily="34" charset="-128"/>
              </a:defRPr>
            </a:lvl2pPr>
            <a:lvl3pPr>
              <a:defRPr sz="1600">
                <a:solidFill>
                  <a:schemeClr val="tx1"/>
                </a:solidFill>
                <a:latin typeface="Helvetica" panose="020B0604020202020204" pitchFamily="34" charset="0"/>
                <a:ea typeface="MS PGothic" panose="020B0600070205080204" pitchFamily="34" charset="-128"/>
              </a:defRPr>
            </a:lvl3pPr>
            <a:lvl4pPr>
              <a:defRPr sz="1600">
                <a:solidFill>
                  <a:schemeClr val="tx1"/>
                </a:solidFill>
                <a:latin typeface="Helvetica" panose="020B0604020202020204" pitchFamily="34" charset="0"/>
                <a:ea typeface="MS PGothic" panose="020B0600070205080204" pitchFamily="34" charset="-128"/>
              </a:defRPr>
            </a:lvl4pPr>
            <a:lvl5pPr>
              <a:defRPr sz="1600">
                <a:solidFill>
                  <a:schemeClr val="tx1"/>
                </a:solidFill>
                <a:latin typeface="Helvetica" panose="020B0604020202020204" pitchFamily="34" charset="0"/>
                <a:ea typeface="MS PGothic" panose="020B0600070205080204" pitchFamily="34" charset="-128"/>
              </a:defRPr>
            </a:lvl5pPr>
            <a:lvl6pPr marL="4572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9144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1371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18288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3E7261DA-54B3-4A93-9499-25636D977100}" type="slidenum">
              <a:rPr lang="en-US" altLang="en-US" sz="1200"/>
              <a:pPr/>
              <a:t>5</a:t>
            </a:fld>
            <a:endParaRPr lang="en-US" altLang="en-US" sz="1200"/>
          </a:p>
        </p:txBody>
      </p:sp>
      <p:sp>
        <p:nvSpPr>
          <p:cNvPr id="43011" name="Rectangle 2"/>
          <p:cNvSpPr>
            <a:spLocks noGrp="1" noRot="1" noChangeAspect="1" noChangeArrowheads="1" noTextEdit="1"/>
          </p:cNvSpPr>
          <p:nvPr>
            <p:ph type="sldImg"/>
          </p:nvPr>
        </p:nvSpPr>
        <p:spPr>
          <a:xfrm>
            <a:off x="1177925" y="695325"/>
            <a:ext cx="4641850" cy="3481388"/>
          </a:xfrm>
          <a:ln/>
        </p:spPr>
      </p:sp>
      <p:sp>
        <p:nvSpPr>
          <p:cNvPr id="43012" name="Rectangle 3"/>
          <p:cNvSpPr>
            <a:spLocks noGrp="1" noChangeArrowheads="1"/>
          </p:cNvSpPr>
          <p:nvPr>
            <p:ph type="body" idx="1"/>
          </p:nvPr>
        </p:nvSpPr>
        <p:spPr>
          <a:xfrm>
            <a:off x="931864" y="4410075"/>
            <a:ext cx="5133975" cy="41783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dirty="0" smtClean="0"/>
              <a:t>Consider again the clerk who needs to access all data in the instructor relation, except salary. The clerk should not be authorized to access the instructor relation (we see in Section 4.7, how authorizations can be specified). Instead, a view relation faculty can be made available to the clerk, with the view defined as follows:</a:t>
            </a:r>
          </a:p>
          <a:p>
            <a:endParaRPr lang="en-US" altLang="en-US" dirty="0" smtClean="0">
              <a:latin typeface="Times New Roman" panose="02020603050405020304" pitchFamily="18" charset="0"/>
            </a:endParaRPr>
          </a:p>
          <a:p>
            <a:r>
              <a:rPr lang="en-US" altLang="en-US" sz="1200" dirty="0" smtClean="0"/>
              <a:t> </a:t>
            </a:r>
            <a:r>
              <a:rPr kumimoji="0" lang="en-US" altLang="en-US" sz="1200" b="1" dirty="0" smtClean="0"/>
              <a:t>create view </a:t>
            </a:r>
            <a:r>
              <a:rPr lang="en-US" altLang="en-US" sz="1200" b="1" i="1" dirty="0" smtClean="0">
                <a:solidFill>
                  <a:srgbClr val="002060"/>
                </a:solidFill>
              </a:rPr>
              <a:t>faculty</a:t>
            </a:r>
            <a:r>
              <a:rPr kumimoji="0" lang="en-US" altLang="en-US" sz="1200" i="1" dirty="0" smtClean="0"/>
              <a:t> </a:t>
            </a:r>
            <a:r>
              <a:rPr kumimoji="0" lang="en-US" altLang="en-US" sz="1200" b="1" dirty="0" smtClean="0"/>
              <a:t>as</a:t>
            </a:r>
            <a:r>
              <a:rPr lang="en-US" altLang="en-US" sz="1200" b="1" dirty="0" smtClean="0"/>
              <a:t> </a:t>
            </a:r>
            <a:br>
              <a:rPr lang="en-US" altLang="en-US" sz="1200" b="1" dirty="0" smtClean="0"/>
            </a:br>
            <a:r>
              <a:rPr lang="en-US" altLang="en-US" sz="1200" b="1" dirty="0" smtClean="0"/>
              <a:t>                      </a:t>
            </a:r>
            <a:r>
              <a:rPr kumimoji="0" lang="en-US" altLang="en-US" sz="1200" b="1" dirty="0" smtClean="0"/>
              <a:t>select </a:t>
            </a:r>
            <a:r>
              <a:rPr kumimoji="0" lang="en-US" altLang="en-US" sz="1200" i="1" dirty="0" smtClean="0"/>
              <a:t>ID</a:t>
            </a:r>
            <a:r>
              <a:rPr kumimoji="0" lang="en-US" altLang="en-US" sz="1200" dirty="0" smtClean="0"/>
              <a:t>, </a:t>
            </a:r>
            <a:r>
              <a:rPr kumimoji="0" lang="en-US" altLang="en-US" sz="1200" i="1" dirty="0" smtClean="0"/>
              <a:t>name</a:t>
            </a:r>
            <a:r>
              <a:rPr kumimoji="0" lang="en-US" altLang="en-US" sz="1200" dirty="0" smtClean="0"/>
              <a:t>, </a:t>
            </a:r>
            <a:r>
              <a:rPr kumimoji="0" lang="en-US" altLang="en-US" sz="1200" i="1" dirty="0" err="1" smtClean="0"/>
              <a:t>dept_name</a:t>
            </a:r>
            <a:r>
              <a:rPr kumimoji="0" lang="en-US" altLang="en-US" sz="1200" i="1" dirty="0" smtClean="0"/>
              <a:t/>
            </a:r>
            <a:br>
              <a:rPr kumimoji="0" lang="en-US" altLang="en-US" sz="1200" i="1" dirty="0" smtClean="0"/>
            </a:br>
            <a:r>
              <a:rPr kumimoji="0" lang="en-US" altLang="en-US" sz="1200" i="1" dirty="0" smtClean="0"/>
              <a:t>                      </a:t>
            </a:r>
            <a:r>
              <a:rPr kumimoji="0" lang="en-US" altLang="en-US" sz="1200" b="1" dirty="0" smtClean="0"/>
              <a:t>from </a:t>
            </a:r>
            <a:r>
              <a:rPr kumimoji="0" lang="en-US" altLang="en-US" sz="1200" i="1" dirty="0" smtClean="0"/>
              <a:t>instructor</a:t>
            </a:r>
          </a:p>
          <a:p>
            <a:endParaRPr lang="en-US" altLang="en-US" dirty="0" smtClean="0">
              <a:latin typeface="Times New Roman" panose="02020603050405020304" pitchFamily="18" charset="0"/>
            </a:endParaRPr>
          </a:p>
          <a:p>
            <a:r>
              <a:rPr lang="en-US" i="1" dirty="0" smtClean="0"/>
              <a:t>Once we have defined a view, we can use the view name to refer to the virtual relation that the view generates. Using the view physics fall 2017, we can find all Physics courses offered in the Fall 2017 semester in the Watson building by writing:</a:t>
            </a:r>
            <a:endParaRPr lang="en-US" altLang="en-US" i="1" dirty="0" smtClean="0">
              <a:latin typeface="Times New Roman" panose="02020603050405020304" pitchFamily="18" charset="0"/>
            </a:endParaRPr>
          </a:p>
          <a:p>
            <a:pPr lvl="1"/>
            <a:r>
              <a:rPr lang="en-US" dirty="0" smtClean="0"/>
              <a:t>select course id </a:t>
            </a:r>
          </a:p>
          <a:p>
            <a:pPr lvl="1"/>
            <a:r>
              <a:rPr lang="en-US" dirty="0" smtClean="0"/>
              <a:t>from physics fall 2017 </a:t>
            </a:r>
          </a:p>
          <a:p>
            <a:pPr lvl="1"/>
            <a:r>
              <a:rPr lang="en-US" dirty="0" smtClean="0"/>
              <a:t>where building = 'Watson';</a:t>
            </a:r>
          </a:p>
          <a:p>
            <a:pPr lvl="1"/>
            <a:endParaRPr lang="en-US" altLang="en-US" dirty="0" smtClean="0">
              <a:latin typeface="Times New Roman" panose="02020603050405020304" pitchFamily="18" charset="0"/>
            </a:endParaRPr>
          </a:p>
          <a:p>
            <a:pPr lvl="0"/>
            <a:r>
              <a:rPr lang="en-US" b="1" dirty="0" smtClean="0"/>
              <a:t>View names may appear in a query any place where a relation name may appear, The attribute names of a view can be specified explicitly as follows:</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en-US" sz="1200" b="1" dirty="0" smtClean="0"/>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en-US" sz="1200" b="1" dirty="0" smtClean="0"/>
              <a:t>create view </a:t>
            </a:r>
            <a:r>
              <a:rPr lang="en-US" altLang="en-US" sz="1200" b="1" i="1" dirty="0" err="1" smtClean="0">
                <a:solidFill>
                  <a:srgbClr val="002060"/>
                </a:solidFill>
              </a:rPr>
              <a:t>departments_total_salary</a:t>
            </a:r>
            <a:r>
              <a:rPr lang="en-US" altLang="en-US" sz="1200" b="1" i="1" dirty="0" smtClean="0">
                <a:solidFill>
                  <a:srgbClr val="002060"/>
                </a:solidFill>
              </a:rPr>
              <a:t>(</a:t>
            </a:r>
            <a:r>
              <a:rPr lang="en-US" altLang="en-US" sz="1200" b="1" i="1" dirty="0" err="1" smtClean="0">
                <a:solidFill>
                  <a:srgbClr val="002060"/>
                </a:solidFill>
              </a:rPr>
              <a:t>dept_name</a:t>
            </a:r>
            <a:r>
              <a:rPr lang="en-US" altLang="en-US" sz="1200" b="1" i="1" dirty="0" smtClean="0">
                <a:solidFill>
                  <a:srgbClr val="002060"/>
                </a:solidFill>
              </a:rPr>
              <a:t>, </a:t>
            </a:r>
            <a:r>
              <a:rPr lang="en-US" altLang="en-US" sz="1200" b="1" i="1" dirty="0" err="1" smtClean="0">
                <a:solidFill>
                  <a:srgbClr val="002060"/>
                </a:solidFill>
              </a:rPr>
              <a:t>total_salary</a:t>
            </a:r>
            <a:r>
              <a:rPr lang="en-US" altLang="en-US" sz="1200" b="1" i="1" dirty="0" smtClean="0">
                <a:solidFill>
                  <a:srgbClr val="000099"/>
                </a:solidFill>
              </a:rPr>
              <a:t>)</a:t>
            </a:r>
            <a:r>
              <a:rPr lang="en-US" altLang="en-US" sz="1200" i="1" dirty="0" smtClean="0">
                <a:solidFill>
                  <a:srgbClr val="000099"/>
                </a:solidFill>
              </a:rPr>
              <a:t> </a:t>
            </a:r>
            <a:r>
              <a:rPr lang="en-US" altLang="en-US" sz="1200" b="1" dirty="0" smtClean="0"/>
              <a:t>as</a:t>
            </a:r>
            <a:br>
              <a:rPr lang="en-US" altLang="en-US" sz="1200" b="1" dirty="0" smtClean="0"/>
            </a:br>
            <a:r>
              <a:rPr lang="en-US" altLang="en-US" sz="1200" b="1" dirty="0" smtClean="0"/>
              <a:t>       select </a:t>
            </a:r>
            <a:r>
              <a:rPr lang="en-US" altLang="en-US" sz="1200" i="1" dirty="0" err="1" smtClean="0"/>
              <a:t>dept_name</a:t>
            </a:r>
            <a:r>
              <a:rPr lang="en-US" altLang="en-US" sz="1200" dirty="0" smtClean="0"/>
              <a:t>, </a:t>
            </a:r>
            <a:r>
              <a:rPr lang="en-US" altLang="en-US" sz="1200" b="1" dirty="0" smtClean="0"/>
              <a:t>sum </a:t>
            </a:r>
            <a:r>
              <a:rPr lang="en-US" altLang="en-US" sz="1200" dirty="0" smtClean="0"/>
              <a:t>(</a:t>
            </a:r>
            <a:r>
              <a:rPr lang="en-US" altLang="en-US" sz="1200" i="1" dirty="0" smtClean="0"/>
              <a:t>salary</a:t>
            </a:r>
            <a:r>
              <a:rPr lang="en-US" altLang="en-US" sz="1200" dirty="0" smtClean="0"/>
              <a:t>)</a:t>
            </a:r>
            <a:br>
              <a:rPr lang="en-US" altLang="en-US" sz="1200" dirty="0" smtClean="0"/>
            </a:br>
            <a:r>
              <a:rPr lang="en-US" altLang="en-US" sz="1200" dirty="0" smtClean="0"/>
              <a:t>       </a:t>
            </a:r>
            <a:r>
              <a:rPr lang="en-US" altLang="en-US" sz="1200" b="1" dirty="0" smtClean="0"/>
              <a:t>from </a:t>
            </a:r>
            <a:r>
              <a:rPr lang="en-US" altLang="en-US" sz="1200" i="1" dirty="0" smtClean="0"/>
              <a:t>instructor</a:t>
            </a:r>
            <a:br>
              <a:rPr lang="en-US" altLang="en-US" sz="1200" i="1" dirty="0" smtClean="0"/>
            </a:br>
            <a:r>
              <a:rPr lang="en-US" altLang="en-US" sz="1200" i="1" dirty="0" smtClean="0"/>
              <a:t>      </a:t>
            </a:r>
            <a:r>
              <a:rPr lang="en-US" altLang="en-US" sz="1200" b="1" dirty="0" smtClean="0"/>
              <a:t>group by </a:t>
            </a:r>
            <a:r>
              <a:rPr lang="en-US" altLang="en-US" sz="1200" i="1" dirty="0" err="1" smtClean="0"/>
              <a:t>dept_name</a:t>
            </a:r>
            <a:r>
              <a:rPr lang="en-US" altLang="en-US" sz="1200" dirty="0" smtClean="0"/>
              <a:t>;</a:t>
            </a:r>
          </a:p>
          <a:p>
            <a:pPr lvl="0"/>
            <a:endParaRPr lang="en-US" altLang="en-US" dirty="0" smtClean="0">
              <a:latin typeface="Times New Roman" panose="02020603050405020304" pitchFamily="18" charset="0"/>
            </a:endParaRPr>
          </a:p>
          <a:p>
            <a:pPr lvl="0"/>
            <a:endParaRPr lang="en-US" altLang="en-US" dirty="0" smtClean="0">
              <a:latin typeface="Times New Roman" panose="02020603050405020304" pitchFamily="18" charset="0"/>
            </a:endParaRPr>
          </a:p>
          <a:p>
            <a:pPr lvl="0"/>
            <a:r>
              <a:rPr lang="en-US" b="1" dirty="0" smtClean="0"/>
              <a:t>The preceding view gives for each department the sum of the salaries of all the instructors at that department. Since the expression sum(salary) does not have a name, the attribute name is specified explicitly in the view definition.</a:t>
            </a:r>
            <a:endParaRPr lang="en-US" altLang="en-US" b="1" dirty="0">
              <a:latin typeface="Times New Roman" panose="02020603050405020304"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37931725" indent="-37474525" defTabSz="930275">
              <a:defRPr sz="1600">
                <a:solidFill>
                  <a:schemeClr val="tx1"/>
                </a:solidFill>
                <a:latin typeface="Helvetica" panose="020B0604020202020204" pitchFamily="34" charset="0"/>
                <a:ea typeface="MS PGothic" panose="020B0600070205080204" pitchFamily="34" charset="-128"/>
              </a:defRPr>
            </a:lvl2pPr>
            <a:lvl3pPr>
              <a:defRPr sz="1600">
                <a:solidFill>
                  <a:schemeClr val="tx1"/>
                </a:solidFill>
                <a:latin typeface="Helvetica" panose="020B0604020202020204" pitchFamily="34" charset="0"/>
                <a:ea typeface="MS PGothic" panose="020B0600070205080204" pitchFamily="34" charset="-128"/>
              </a:defRPr>
            </a:lvl3pPr>
            <a:lvl4pPr>
              <a:defRPr sz="1600">
                <a:solidFill>
                  <a:schemeClr val="tx1"/>
                </a:solidFill>
                <a:latin typeface="Helvetica" panose="020B0604020202020204" pitchFamily="34" charset="0"/>
                <a:ea typeface="MS PGothic" panose="020B0600070205080204" pitchFamily="34" charset="-128"/>
              </a:defRPr>
            </a:lvl4pPr>
            <a:lvl5pPr>
              <a:defRPr sz="1600">
                <a:solidFill>
                  <a:schemeClr val="tx1"/>
                </a:solidFill>
                <a:latin typeface="Helvetica" panose="020B0604020202020204" pitchFamily="34" charset="0"/>
                <a:ea typeface="MS PGothic" panose="020B0600070205080204" pitchFamily="34" charset="-128"/>
              </a:defRPr>
            </a:lvl5pPr>
            <a:lvl6pPr marL="4572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9144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1371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18288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359C4894-872D-48F9-9264-417C7C9B2EAD}" type="slidenum">
              <a:rPr lang="en-US" altLang="en-US" sz="1200"/>
              <a:pPr/>
              <a:t>6</a:t>
            </a:fld>
            <a:endParaRPr lang="en-US" altLang="en-US" sz="1200"/>
          </a:p>
        </p:txBody>
      </p:sp>
      <p:sp>
        <p:nvSpPr>
          <p:cNvPr id="47107" name="Rectangle 2"/>
          <p:cNvSpPr>
            <a:spLocks noGrp="1" noRot="1" noChangeAspect="1" noChangeArrowheads="1" noTextEdit="1"/>
          </p:cNvSpPr>
          <p:nvPr>
            <p:ph type="sldImg"/>
          </p:nvPr>
        </p:nvSpPr>
        <p:spPr>
          <a:xfrm>
            <a:off x="1177925" y="695325"/>
            <a:ext cx="4641850" cy="3481388"/>
          </a:xfrm>
          <a:ln/>
        </p:spPr>
      </p:sp>
      <p:sp>
        <p:nvSpPr>
          <p:cNvPr id="47108" name="Rectangle 3"/>
          <p:cNvSpPr>
            <a:spLocks noGrp="1" noChangeArrowheads="1"/>
          </p:cNvSpPr>
          <p:nvPr>
            <p:ph type="body" idx="1"/>
          </p:nvPr>
        </p:nvSpPr>
        <p:spPr>
          <a:xfrm>
            <a:off x="931864" y="4410075"/>
            <a:ext cx="5133975" cy="41783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0" dirty="0" smtClean="0"/>
              <a:t>One view may be used in the expression defining another view. For example, we can define a view </a:t>
            </a:r>
            <a:r>
              <a:rPr lang="en-US" altLang="en-US" sz="1200" b="0" i="1" dirty="0" smtClean="0">
                <a:solidFill>
                  <a:srgbClr val="002060"/>
                </a:solidFill>
              </a:rPr>
              <a:t>physics_fall_2017_Watson </a:t>
            </a:r>
            <a:r>
              <a:rPr lang="en-US" b="0" dirty="0" smtClean="0"/>
              <a:t>that lists the course ID and room number of all Physics courses offered in the Fall 2017 semester in the Watson building as follows:</a:t>
            </a:r>
          </a:p>
          <a:p>
            <a:endParaRPr lang="en-US" altLang="en-US" dirty="0" smtClean="0">
              <a:latin typeface="Times New Roman" panose="02020603050405020304" pitchFamily="18" charset="0"/>
            </a:endParaRPr>
          </a:p>
          <a:p>
            <a:endParaRPr lang="en-US" altLang="en-US" dirty="0" smtClean="0">
              <a:latin typeface="Times New Roman" panose="02020603050405020304" pitchFamily="18" charset="0"/>
            </a:endParaRPr>
          </a:p>
          <a:p>
            <a:r>
              <a:rPr lang="en-US" altLang="en-US" b="1" dirty="0" err="1" smtClean="0">
                <a:latin typeface="Times New Roman" panose="02020603050405020304" pitchFamily="18" charset="0"/>
              </a:rPr>
              <a:t>Slajd</a:t>
            </a:r>
            <a:endParaRPr lang="en-US" altLang="en-US" b="1" dirty="0" smtClean="0">
              <a:latin typeface="Times New Roman" panose="02020603050405020304" pitchFamily="18" charset="0"/>
            </a:endParaRPr>
          </a:p>
          <a:p>
            <a:endParaRPr lang="en-US" altLang="en-US" dirty="0" smtClean="0">
              <a:latin typeface="Times New Roman" panose="02020603050405020304" pitchFamily="18" charset="0"/>
            </a:endParaRPr>
          </a:p>
          <a:p>
            <a:r>
              <a:rPr lang="en-US" dirty="0" smtClean="0"/>
              <a:t>          create view physics_fall_2017_watson as </a:t>
            </a:r>
          </a:p>
          <a:p>
            <a:r>
              <a:rPr lang="en-US" dirty="0" smtClean="0"/>
              <a:t>	select </a:t>
            </a:r>
            <a:r>
              <a:rPr lang="en-US" dirty="0" err="1" smtClean="0"/>
              <a:t>course_id</a:t>
            </a:r>
            <a:r>
              <a:rPr lang="en-US" dirty="0" smtClean="0"/>
              <a:t>, </a:t>
            </a:r>
            <a:r>
              <a:rPr lang="en-US" dirty="0" err="1" smtClean="0"/>
              <a:t>room_number</a:t>
            </a:r>
            <a:r>
              <a:rPr lang="en-US" dirty="0" smtClean="0"/>
              <a:t> </a:t>
            </a:r>
          </a:p>
          <a:p>
            <a:r>
              <a:rPr lang="en-US" dirty="0" smtClean="0"/>
              <a:t>	from physics fall 2017 </a:t>
            </a:r>
          </a:p>
          <a:p>
            <a:r>
              <a:rPr lang="en-US" dirty="0" smtClean="0"/>
              <a:t>	where building = 'Watson';</a:t>
            </a:r>
          </a:p>
          <a:p>
            <a:endParaRPr lang="en-US" dirty="0" smtClean="0"/>
          </a:p>
          <a:p>
            <a:r>
              <a:rPr lang="en-US" b="0" dirty="0" smtClean="0"/>
              <a:t>where physics_fall_2017_watson is itself a view relation. This is equivalent to:</a:t>
            </a:r>
            <a:endParaRPr lang="en-US" altLang="en-US" b="0" dirty="0">
              <a:latin typeface="Times New Roman" panose="02020603050405020304"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b="1" dirty="0" smtClean="0"/>
              <a:t>For example, we can define a view physics_fall_2017_watson that lists the course ID and room number of all Physics courses offered in the Fall 2017 semester in the Watson building as follows:</a:t>
            </a:r>
          </a:p>
          <a:p>
            <a:endParaRPr lang="en-US" altLang="en-US" b="0" dirty="0" smtClean="0">
              <a:latin typeface="Times New Roman" panose="02020603050405020304" pitchFamily="18" charset="0"/>
            </a:endParaRPr>
          </a:p>
          <a:p>
            <a:r>
              <a:rPr lang="en-US" b="0" dirty="0" smtClean="0"/>
              <a:t>        </a:t>
            </a:r>
            <a:r>
              <a:rPr lang="en-US" altLang="en-US" sz="1200" b="0" dirty="0" smtClean="0"/>
              <a:t>create view </a:t>
            </a:r>
            <a:r>
              <a:rPr lang="en-US" altLang="en-US" sz="1200" b="0" i="1" dirty="0" smtClean="0">
                <a:solidFill>
                  <a:srgbClr val="002060"/>
                </a:solidFill>
              </a:rPr>
              <a:t>physics_fall_2017</a:t>
            </a:r>
            <a:r>
              <a:rPr lang="en-US" altLang="en-US" sz="1200" b="0" i="1" dirty="0" smtClean="0"/>
              <a:t>_watson </a:t>
            </a:r>
            <a:r>
              <a:rPr lang="en-US" altLang="en-US" sz="1200" b="0" dirty="0" smtClean="0"/>
              <a:t>as</a:t>
            </a:r>
            <a:br>
              <a:rPr lang="en-US" altLang="en-US" sz="1200" b="0" dirty="0" smtClean="0"/>
            </a:br>
            <a:r>
              <a:rPr lang="en-US" altLang="en-US" sz="1200" b="0" dirty="0" smtClean="0"/>
              <a:t>    select </a:t>
            </a:r>
            <a:r>
              <a:rPr lang="en-US" altLang="en-US" sz="1200" b="0" i="1" dirty="0" err="1" smtClean="0"/>
              <a:t>course_id</a:t>
            </a:r>
            <a:r>
              <a:rPr lang="en-US" altLang="en-US" sz="1200" b="0" dirty="0" smtClean="0"/>
              <a:t>, </a:t>
            </a:r>
            <a:r>
              <a:rPr lang="en-US" altLang="en-US" sz="1200" b="0" i="1" dirty="0" err="1" smtClean="0"/>
              <a:t>room_number</a:t>
            </a:r>
            <a:r>
              <a:rPr lang="en-US" altLang="en-US" sz="1200" b="0" i="1" dirty="0" smtClean="0"/>
              <a:t/>
            </a:r>
            <a:br>
              <a:rPr lang="en-US" altLang="en-US" sz="1200" b="0" i="1" dirty="0" smtClean="0"/>
            </a:br>
            <a:r>
              <a:rPr lang="en-US" altLang="en-US" sz="1200" b="0" i="1" dirty="0" smtClean="0"/>
              <a:t>    </a:t>
            </a:r>
            <a:r>
              <a:rPr lang="en-US" altLang="en-US" sz="1200" b="0" dirty="0" smtClean="0"/>
              <a:t>from </a:t>
            </a:r>
            <a:r>
              <a:rPr lang="en-US" altLang="en-US" sz="1200" b="0" i="1" dirty="0" smtClean="0">
                <a:solidFill>
                  <a:srgbClr val="002060"/>
                </a:solidFill>
              </a:rPr>
              <a:t>physics_fall_2017</a:t>
            </a:r>
            <a:r>
              <a:rPr lang="en-US" altLang="en-US" sz="1200" b="0" i="1" dirty="0" smtClean="0"/>
              <a:t/>
            </a:r>
            <a:br>
              <a:rPr lang="en-US" altLang="en-US" sz="1200" b="0" i="1" dirty="0" smtClean="0"/>
            </a:br>
            <a:r>
              <a:rPr lang="en-US" altLang="en-US" sz="1200" b="0" i="1" dirty="0" smtClean="0"/>
              <a:t>    </a:t>
            </a:r>
            <a:r>
              <a:rPr lang="en-US" altLang="en-US" sz="1200" b="0" dirty="0" smtClean="0"/>
              <a:t>where </a:t>
            </a:r>
            <a:r>
              <a:rPr lang="en-US" altLang="en-US" sz="1200" b="0" i="1" dirty="0" smtClean="0"/>
              <a:t>building</a:t>
            </a:r>
            <a:r>
              <a:rPr lang="en-US" altLang="en-US" sz="1200" b="0" dirty="0" smtClean="0"/>
              <a:t>= 'Watson';</a:t>
            </a:r>
          </a:p>
          <a:p>
            <a:endParaRPr lang="en-US" b="0" dirty="0" smtClean="0"/>
          </a:p>
          <a:p>
            <a:r>
              <a:rPr lang="en-US" b="1" dirty="0" smtClean="0"/>
              <a:t>where physics_fall_2017_watson is itself a view relation. This is equivalent to:</a:t>
            </a:r>
            <a:endParaRPr lang="en-US" altLang="en-US" b="1" dirty="0" smtClean="0">
              <a:latin typeface="Times New Roman" panose="02020603050405020304" pitchFamily="18" charset="0"/>
            </a:endParaRPr>
          </a:p>
          <a:p>
            <a:endParaRPr lang="en-US" dirty="0"/>
          </a:p>
        </p:txBody>
      </p:sp>
      <p:sp>
        <p:nvSpPr>
          <p:cNvPr id="4" name="Slide Number Placeholder 3"/>
          <p:cNvSpPr>
            <a:spLocks noGrp="1"/>
          </p:cNvSpPr>
          <p:nvPr>
            <p:ph type="sldNum" sz="quarter" idx="10"/>
          </p:nvPr>
        </p:nvSpPr>
        <p:spPr/>
        <p:txBody>
          <a:bodyPr/>
          <a:lstStyle/>
          <a:p>
            <a:pPr>
              <a:defRPr/>
            </a:pPr>
            <a:fld id="{AE66C03C-4B0E-4149-8287-A3B340EB818D}" type="slidenum">
              <a:rPr lang="en-US" altLang="en-US" smtClean="0"/>
              <a:pPr>
                <a:defRPr/>
              </a:pPr>
              <a:t>7</a:t>
            </a:fld>
            <a:endParaRPr lang="en-US" altLang="en-US"/>
          </a:p>
        </p:txBody>
      </p:sp>
    </p:spTree>
    <p:extLst>
      <p:ext uri="{BB962C8B-B14F-4D97-AF65-F5344CB8AC3E}">
        <p14:creationId xmlns:p14="http://schemas.microsoft.com/office/powerpoint/2010/main" val="2584695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One view may be used in the expression defining another view. For example, we can define a view physics_fall_2017_watson that lists the course ID and room number of all Physics courses offered in the Fall 2017 semester in the Watson building as follows:</a:t>
            </a:r>
          </a:p>
          <a:p>
            <a:endParaRPr lang="en-US" b="1" dirty="0" smtClean="0"/>
          </a:p>
          <a:p>
            <a:r>
              <a:rPr lang="en-US" b="1" dirty="0" smtClean="0"/>
              <a:t>where physics fall_2017_watson is itself a view relation. This is equivalent to:</a:t>
            </a:r>
          </a:p>
          <a:p>
            <a:endParaRPr lang="en-US" dirty="0" smtClean="0"/>
          </a:p>
          <a:p>
            <a:endParaRPr lang="en-US" dirty="0"/>
          </a:p>
        </p:txBody>
      </p:sp>
      <p:sp>
        <p:nvSpPr>
          <p:cNvPr id="4" name="Slide Number Placeholder 3"/>
          <p:cNvSpPr>
            <a:spLocks noGrp="1"/>
          </p:cNvSpPr>
          <p:nvPr>
            <p:ph type="sldNum" sz="quarter" idx="10"/>
          </p:nvPr>
        </p:nvSpPr>
        <p:spPr/>
        <p:txBody>
          <a:bodyPr/>
          <a:lstStyle/>
          <a:p>
            <a:pPr>
              <a:defRPr/>
            </a:pPr>
            <a:fld id="{AE66C03C-4B0E-4149-8287-A3B340EB818D}" type="slidenum">
              <a:rPr lang="en-US" altLang="en-US" smtClean="0"/>
              <a:pPr>
                <a:defRPr/>
              </a:pPr>
              <a:t>8</a:t>
            </a:fld>
            <a:endParaRPr lang="en-US" altLang="en-US"/>
          </a:p>
        </p:txBody>
      </p:sp>
    </p:spTree>
    <p:extLst>
      <p:ext uri="{BB962C8B-B14F-4D97-AF65-F5344CB8AC3E}">
        <p14:creationId xmlns:p14="http://schemas.microsoft.com/office/powerpoint/2010/main" val="14388511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37931725" indent="-37474525" defTabSz="930275">
              <a:defRPr sz="1600">
                <a:solidFill>
                  <a:schemeClr val="tx1"/>
                </a:solidFill>
                <a:latin typeface="Helvetica" panose="020B0604020202020204" pitchFamily="34" charset="0"/>
                <a:ea typeface="MS PGothic" panose="020B0600070205080204" pitchFamily="34" charset="-128"/>
              </a:defRPr>
            </a:lvl2pPr>
            <a:lvl3pPr>
              <a:defRPr sz="1600">
                <a:solidFill>
                  <a:schemeClr val="tx1"/>
                </a:solidFill>
                <a:latin typeface="Helvetica" panose="020B0604020202020204" pitchFamily="34" charset="0"/>
                <a:ea typeface="MS PGothic" panose="020B0600070205080204" pitchFamily="34" charset="-128"/>
              </a:defRPr>
            </a:lvl3pPr>
            <a:lvl4pPr>
              <a:defRPr sz="1600">
                <a:solidFill>
                  <a:schemeClr val="tx1"/>
                </a:solidFill>
                <a:latin typeface="Helvetica" panose="020B0604020202020204" pitchFamily="34" charset="0"/>
                <a:ea typeface="MS PGothic" panose="020B0600070205080204" pitchFamily="34" charset="-128"/>
              </a:defRPr>
            </a:lvl4pPr>
            <a:lvl5pPr>
              <a:defRPr sz="1600">
                <a:solidFill>
                  <a:schemeClr val="tx1"/>
                </a:solidFill>
                <a:latin typeface="Helvetica" panose="020B0604020202020204" pitchFamily="34" charset="0"/>
                <a:ea typeface="MS PGothic" panose="020B0600070205080204" pitchFamily="34" charset="-128"/>
              </a:defRPr>
            </a:lvl5pPr>
            <a:lvl6pPr marL="4572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9144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1371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18288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652E9D7F-36E5-47CB-BEF4-89802073A499}" type="slidenum">
              <a:rPr lang="en-US" altLang="en-US" sz="1200"/>
              <a:pPr/>
              <a:t>9</a:t>
            </a:fld>
            <a:endParaRPr lang="en-US" altLang="en-US" sz="1200"/>
          </a:p>
        </p:txBody>
      </p:sp>
      <p:sp>
        <p:nvSpPr>
          <p:cNvPr id="49155" name="Rectangle 2"/>
          <p:cNvSpPr>
            <a:spLocks noGrp="1" noRot="1" noChangeAspect="1" noChangeArrowheads="1" noTextEdit="1"/>
          </p:cNvSpPr>
          <p:nvPr>
            <p:ph type="sldImg"/>
          </p:nvPr>
        </p:nvSpPr>
        <p:spPr>
          <a:xfrm>
            <a:off x="1177925" y="695325"/>
            <a:ext cx="4641850" cy="3481388"/>
          </a:xfrm>
          <a:ln/>
        </p:spPr>
      </p:sp>
      <p:sp>
        <p:nvSpPr>
          <p:cNvPr id="49156" name="Rectangle 3"/>
          <p:cNvSpPr>
            <a:spLocks noGrp="1" noChangeArrowheads="1"/>
          </p:cNvSpPr>
          <p:nvPr>
            <p:ph type="body" idx="1"/>
          </p:nvPr>
        </p:nvSpPr>
        <p:spPr>
          <a:xfrm>
            <a:off x="931864" y="4410075"/>
            <a:ext cx="5133975" cy="41783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Certain database systems allow view relations to be stored, but they make sure that, if the actual relations used in the view definition change, the view is kept up-to-date. Such views are called materialized views.</a:t>
            </a:r>
          </a:p>
          <a:p>
            <a:endParaRPr lang="en-US" dirty="0" smtClean="0"/>
          </a:p>
          <a:p>
            <a:r>
              <a:rPr lang="en-US" dirty="0" smtClean="0"/>
              <a:t>For example, </a:t>
            </a:r>
            <a:r>
              <a:rPr lang="en-US" b="1" dirty="0" smtClean="0"/>
              <a:t>consider the view </a:t>
            </a:r>
            <a:r>
              <a:rPr lang="en-US" b="1" dirty="0" err="1" smtClean="0"/>
              <a:t>departments_total_salary</a:t>
            </a:r>
            <a:r>
              <a:rPr lang="en-US" b="1" dirty="0" smtClean="0"/>
              <a:t>. If that view is materialized, its results would be stored in the database, allowing queries that use the view to potentially run much faster by using the precomputed view result, instead of </a:t>
            </a:r>
            <a:r>
              <a:rPr lang="en-US" b="1" dirty="0" err="1" smtClean="0"/>
              <a:t>recomputing</a:t>
            </a:r>
            <a:r>
              <a:rPr lang="en-US" b="1" dirty="0" smtClean="0"/>
              <a:t> it. </a:t>
            </a:r>
          </a:p>
          <a:p>
            <a:endParaRPr lang="en-US" dirty="0" smtClean="0"/>
          </a:p>
          <a:p>
            <a:r>
              <a:rPr lang="en-US" b="1" i="1" dirty="0" smtClean="0"/>
              <a:t>However, if an instructor tuple is added to or deleted from the instructor relation, the result of the query defining the view would change, and as a result the materialized view’s contents must be updated. Similarly, if an instructor’s salary is updated, the tuple in departments total salary corresponding to that instructor’s </a:t>
            </a:r>
            <a:r>
              <a:rPr lang="en-US" b="1" i="1" dirty="0" err="1" smtClean="0"/>
              <a:t>departmentt</a:t>
            </a:r>
            <a:r>
              <a:rPr lang="en-US" b="1" i="1" dirty="0" smtClean="0"/>
              <a:t> must be updated.</a:t>
            </a:r>
          </a:p>
          <a:p>
            <a:endParaRPr lang="en-US" dirty="0" smtClean="0"/>
          </a:p>
          <a:p>
            <a:endParaRPr lang="en-US" dirty="0" smtClean="0"/>
          </a:p>
          <a:p>
            <a:r>
              <a:rPr lang="en-US" b="1" dirty="0" smtClean="0"/>
              <a:t>The process of keeping the materialized view up-to-date is called materialized view maintenance </a:t>
            </a:r>
            <a:r>
              <a:rPr lang="en-US" dirty="0" smtClean="0"/>
              <a:t>(or often, just view maintenance) and is covered in Section 16.5. </a:t>
            </a:r>
            <a:r>
              <a:rPr lang="en-US" i="1" dirty="0" smtClean="0"/>
              <a:t>View maintenance can be done immediately when any of the relations on which the view is defined is updated. Some database systems, however, perform view maintenance lazily, when the view is accessed. Some systems update materialized views only periodically; in this case, the contents of the materialized view may be stale, that is, not up-to-date, when it is used, and it should not be used if the application needs up-to-date data. And some database systems permit the database administrator to control which of the preceding methods is used for each materialized view.</a:t>
            </a:r>
          </a:p>
          <a:p>
            <a:r>
              <a:rPr lang="en-US" dirty="0" smtClean="0"/>
              <a:t>Ne ova gore</a:t>
            </a:r>
            <a:endParaRPr lang="en-US" dirty="0"/>
          </a:p>
        </p:txBody>
      </p:sp>
      <p:sp>
        <p:nvSpPr>
          <p:cNvPr id="4" name="Slide Number Placeholder 3"/>
          <p:cNvSpPr>
            <a:spLocks noGrp="1"/>
          </p:cNvSpPr>
          <p:nvPr>
            <p:ph type="sldNum" sz="quarter" idx="10"/>
          </p:nvPr>
        </p:nvSpPr>
        <p:spPr/>
        <p:txBody>
          <a:bodyPr/>
          <a:lstStyle/>
          <a:p>
            <a:pPr>
              <a:defRPr/>
            </a:pPr>
            <a:fld id="{AE66C03C-4B0E-4149-8287-A3B340EB818D}" type="slidenum">
              <a:rPr lang="en-US" altLang="en-US" smtClean="0"/>
              <a:pPr>
                <a:defRPr/>
              </a:pPr>
              <a:t>10</a:t>
            </a:fld>
            <a:endParaRPr lang="en-US" altLang="en-US"/>
          </a:p>
        </p:txBody>
      </p:sp>
    </p:spTree>
    <p:extLst>
      <p:ext uri="{BB962C8B-B14F-4D97-AF65-F5344CB8AC3E}">
        <p14:creationId xmlns:p14="http://schemas.microsoft.com/office/powerpoint/2010/main" val="37479784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37931725" indent="-37474525" defTabSz="930275">
              <a:defRPr sz="1600">
                <a:solidFill>
                  <a:schemeClr val="tx1"/>
                </a:solidFill>
                <a:latin typeface="Helvetica" panose="020B0604020202020204" pitchFamily="34" charset="0"/>
                <a:ea typeface="MS PGothic" panose="020B0600070205080204" pitchFamily="34" charset="-128"/>
              </a:defRPr>
            </a:lvl2pPr>
            <a:lvl3pPr>
              <a:defRPr sz="1600">
                <a:solidFill>
                  <a:schemeClr val="tx1"/>
                </a:solidFill>
                <a:latin typeface="Helvetica" panose="020B0604020202020204" pitchFamily="34" charset="0"/>
                <a:ea typeface="MS PGothic" panose="020B0600070205080204" pitchFamily="34" charset="-128"/>
              </a:defRPr>
            </a:lvl3pPr>
            <a:lvl4pPr>
              <a:defRPr sz="1600">
                <a:solidFill>
                  <a:schemeClr val="tx1"/>
                </a:solidFill>
                <a:latin typeface="Helvetica" panose="020B0604020202020204" pitchFamily="34" charset="0"/>
                <a:ea typeface="MS PGothic" panose="020B0600070205080204" pitchFamily="34" charset="-128"/>
              </a:defRPr>
            </a:lvl4pPr>
            <a:lvl5pPr>
              <a:defRPr sz="1600">
                <a:solidFill>
                  <a:schemeClr val="tx1"/>
                </a:solidFill>
                <a:latin typeface="Helvetica" panose="020B0604020202020204" pitchFamily="34" charset="0"/>
                <a:ea typeface="MS PGothic" panose="020B0600070205080204" pitchFamily="34" charset="-128"/>
              </a:defRPr>
            </a:lvl5pPr>
            <a:lvl6pPr marL="4572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9144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1371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18288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425C1F8B-BDD5-4D70-8389-7FD988212B04}" type="slidenum">
              <a:rPr lang="en-US" altLang="en-US" sz="1200"/>
              <a:pPr/>
              <a:t>11</a:t>
            </a:fld>
            <a:endParaRPr lang="en-US" altLang="en-US" sz="1200"/>
          </a:p>
        </p:txBody>
      </p:sp>
      <p:sp>
        <p:nvSpPr>
          <p:cNvPr id="51203" name="Rectangle 2"/>
          <p:cNvSpPr>
            <a:spLocks noGrp="1" noRot="1" noChangeAspect="1" noChangeArrowheads="1" noTextEdit="1"/>
          </p:cNvSpPr>
          <p:nvPr>
            <p:ph type="sldImg"/>
          </p:nvPr>
        </p:nvSpPr>
        <p:spPr>
          <a:xfrm>
            <a:off x="1177925" y="695325"/>
            <a:ext cx="4641850" cy="3481388"/>
          </a:xfrm>
          <a:ln/>
        </p:spPr>
      </p:sp>
      <p:sp>
        <p:nvSpPr>
          <p:cNvPr id="51204" name="Rectangle 3"/>
          <p:cNvSpPr>
            <a:spLocks noGrp="1" noChangeArrowheads="1"/>
          </p:cNvSpPr>
          <p:nvPr>
            <p:ph type="body" idx="1"/>
          </p:nvPr>
        </p:nvSpPr>
        <p:spPr>
          <a:xfrm>
            <a:off x="931864" y="4410075"/>
            <a:ext cx="5133975" cy="41783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dirty="0" smtClean="0"/>
              <a:t>Although views are a useful tool for queries, they present serious problems if we express updates, insertions, or deletions with them. The difficulty is that a modification to the database expressed in terms of a view must be translated to a modification to the actual relations in the logical model of the database.</a:t>
            </a:r>
          </a:p>
          <a:p>
            <a:endParaRPr lang="en-US" altLang="en-US" dirty="0" smtClean="0">
              <a:latin typeface="Times New Roman" panose="02020603050405020304" pitchFamily="18" charset="0"/>
            </a:endParaRPr>
          </a:p>
          <a:p>
            <a:r>
              <a:rPr lang="en-US" b="1" i="1" dirty="0" smtClean="0"/>
              <a:t>Suppose the view faculty, which we saw earlier, is made available to a clerk. Since we allow a view name to appear wherever a relation name is allowed, the clerk can write:</a:t>
            </a:r>
          </a:p>
          <a:p>
            <a:endParaRPr lang="en-US" altLang="en-US" dirty="0" smtClean="0">
              <a:latin typeface="Times New Roman" panose="02020603050405020304" pitchFamily="18" charset="0"/>
            </a:endParaRPr>
          </a:p>
          <a:p>
            <a:r>
              <a:rPr lang="en-US" b="1" i="1" dirty="0" smtClean="0"/>
              <a:t>This insertion must be represented by an insertion into the relation instructor, since instructor is the actual relation from which the database system constructs the view faculty. However, to insert a tuple into instructor, we must have some value for salary. There are two reasonable approaches to dealing with this insertion:</a:t>
            </a:r>
          </a:p>
          <a:p>
            <a:pPr lvl="1"/>
            <a:r>
              <a:rPr lang="en-US" b="1" i="1" dirty="0" smtClean="0"/>
              <a:t>• Reject the insertion, and return an error message to the user. </a:t>
            </a:r>
          </a:p>
          <a:p>
            <a:pPr lvl="1"/>
            <a:r>
              <a:rPr lang="en-US" b="1" i="1" dirty="0" smtClean="0"/>
              <a:t>• Insert a tuple ('30765', 'Green', 'Music', null) into the instructor relation</a:t>
            </a:r>
            <a:r>
              <a:rPr lang="en-US" dirty="0" smtClean="0"/>
              <a:t>.</a:t>
            </a:r>
            <a:endParaRPr lang="en-US" altLang="en-US" dirty="0" smtClean="0">
              <a:latin typeface="Times New Roman" panose="02020603050405020304" pitchFamily="18" charset="0"/>
            </a:endParaRPr>
          </a:p>
          <a:p>
            <a:endParaRPr lang="en-US" altLang="en-US" dirty="0" smtClean="0">
              <a:latin typeface="Times New Roman" panose="02020603050405020304" pitchFamily="18" charset="0"/>
            </a:endParaRPr>
          </a:p>
          <a:p>
            <a:endParaRPr lang="en-US" altLang="en-US" dirty="0">
              <a:latin typeface="Times New Roman" panose="02020603050405020304"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37931725" indent="-37474525" defTabSz="930275">
              <a:defRPr sz="1600">
                <a:solidFill>
                  <a:schemeClr val="tx1"/>
                </a:solidFill>
                <a:latin typeface="Helvetica" panose="020B0604020202020204" pitchFamily="34" charset="0"/>
                <a:ea typeface="MS PGothic" panose="020B0600070205080204" pitchFamily="34" charset="-128"/>
              </a:defRPr>
            </a:lvl2pPr>
            <a:lvl3pPr>
              <a:defRPr sz="1600">
                <a:solidFill>
                  <a:schemeClr val="tx1"/>
                </a:solidFill>
                <a:latin typeface="Helvetica" panose="020B0604020202020204" pitchFamily="34" charset="0"/>
                <a:ea typeface="MS PGothic" panose="020B0600070205080204" pitchFamily="34" charset="-128"/>
              </a:defRPr>
            </a:lvl3pPr>
            <a:lvl4pPr>
              <a:defRPr sz="1600">
                <a:solidFill>
                  <a:schemeClr val="tx1"/>
                </a:solidFill>
                <a:latin typeface="Helvetica" panose="020B0604020202020204" pitchFamily="34" charset="0"/>
                <a:ea typeface="MS PGothic" panose="020B0600070205080204" pitchFamily="34" charset="-128"/>
              </a:defRPr>
            </a:lvl4pPr>
            <a:lvl5pPr>
              <a:defRPr sz="1600">
                <a:solidFill>
                  <a:schemeClr val="tx1"/>
                </a:solidFill>
                <a:latin typeface="Helvetica" panose="020B0604020202020204" pitchFamily="34" charset="0"/>
                <a:ea typeface="MS PGothic" panose="020B0600070205080204" pitchFamily="34" charset="-128"/>
              </a:defRPr>
            </a:lvl5pPr>
            <a:lvl6pPr marL="4572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9144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1371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18288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701FBBFF-88DD-4104-93D5-9ABA9DECF1D5}" type="slidenum">
              <a:rPr lang="en-US" altLang="en-US" sz="1200"/>
              <a:pPr/>
              <a:t>12</a:t>
            </a:fld>
            <a:endParaRPr lang="en-US" altLang="en-US" sz="1200"/>
          </a:p>
        </p:txBody>
      </p:sp>
      <p:sp>
        <p:nvSpPr>
          <p:cNvPr id="53251" name="Rectangle 2"/>
          <p:cNvSpPr>
            <a:spLocks noGrp="1" noRot="1" noChangeAspect="1" noChangeArrowheads="1" noTextEdit="1"/>
          </p:cNvSpPr>
          <p:nvPr>
            <p:ph type="sldImg"/>
          </p:nvPr>
        </p:nvSpPr>
        <p:spPr>
          <a:xfrm>
            <a:off x="1177925" y="695325"/>
            <a:ext cx="4641850" cy="3481388"/>
          </a:xfrm>
          <a:ln/>
        </p:spPr>
      </p:sp>
      <p:sp>
        <p:nvSpPr>
          <p:cNvPr id="53252" name="Rectangle 3"/>
          <p:cNvSpPr>
            <a:spLocks noGrp="1" noChangeArrowheads="1"/>
          </p:cNvSpPr>
          <p:nvPr>
            <p:ph type="body" idx="1"/>
          </p:nvPr>
        </p:nvSpPr>
        <p:spPr>
          <a:xfrm>
            <a:off x="931864" y="4410075"/>
            <a:ext cx="5133975" cy="41783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dirty="0" smtClean="0"/>
              <a:t>Another problem with modification of the database through views occurs with a view such as:</a:t>
            </a:r>
          </a:p>
          <a:p>
            <a:endParaRPr lang="en-US" altLang="en-US" dirty="0" smtClean="0">
              <a:latin typeface="Times New Roman" panose="02020603050405020304" pitchFamily="18" charset="0"/>
            </a:endParaRPr>
          </a:p>
          <a:p>
            <a:endParaRPr lang="en-US" altLang="en-US" dirty="0" smtClean="0">
              <a:latin typeface="Times New Roman" panose="02020603050405020304" pitchFamily="18" charset="0"/>
            </a:endParaRPr>
          </a:p>
          <a:p>
            <a:endParaRPr lang="en-US" altLang="en-US" dirty="0" smtClean="0">
              <a:latin typeface="Times New Roman" panose="02020603050405020304" pitchFamily="18" charset="0"/>
            </a:endParaRPr>
          </a:p>
          <a:p>
            <a:r>
              <a:rPr lang="en-US" b="1" dirty="0" smtClean="0"/>
              <a:t>This view lists the ID, name, and building-name of each instructor in the university. Consider the following insertion through this view:</a:t>
            </a:r>
          </a:p>
          <a:p>
            <a:endParaRPr lang="en-US" altLang="en-US" dirty="0" smtClean="0">
              <a:latin typeface="Times New Roman" panose="02020603050405020304" pitchFamily="18" charset="0"/>
            </a:endParaRPr>
          </a:p>
          <a:p>
            <a:endParaRPr lang="en-US" altLang="en-US" dirty="0" smtClean="0">
              <a:latin typeface="Times New Roman" panose="02020603050405020304" pitchFamily="18" charset="0"/>
            </a:endParaRPr>
          </a:p>
          <a:p>
            <a:r>
              <a:rPr lang="en-US" b="1" i="1" dirty="0" smtClean="0"/>
              <a:t>Suppose there is no instructor with ID 69987, and no department in the Taylor building. Then the only possible method of inserting tuples into the instructor and department relations is to insert ('69987', 'White', null, null) into instructor and (null, 'Taylor', null) into department. Then we obtain the relations shown in Figure 4.8. However, this update does not have the desired effect, since the view relation instructor info still does not include the tuple ('69987', 'White', 'Taylor'). Thus, there is no way to update the relations instructor and department by using nulls to get the desired update on instructor info.</a:t>
            </a:r>
            <a:endParaRPr lang="en-US" altLang="en-US" b="1" i="1" dirty="0">
              <a:latin typeface="Times New Roman" panose="02020603050405020304"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Under these constraints, the update, insert, and delete operations would be allowed on the following view:</a:t>
            </a:r>
          </a:p>
          <a:p>
            <a:pPr marL="0" marR="0" indent="0" algn="l" defTabSz="914400" rtl="0" eaLnBrk="0" fontAlgn="base" latinLnBrk="0" hangingPunct="0">
              <a:lnSpc>
                <a:spcPct val="100000"/>
              </a:lnSpc>
              <a:spcBef>
                <a:spcPct val="30000"/>
              </a:spcBef>
              <a:spcAft>
                <a:spcPct val="0"/>
              </a:spcAft>
              <a:buClrTx/>
              <a:buSzTx/>
              <a:buFontTx/>
              <a:buNone/>
              <a:tabLst/>
              <a:defRPr/>
            </a:pPr>
            <a:r>
              <a:rPr lang="en-US" altLang="en-US" sz="1200" b="1" dirty="0" smtClean="0"/>
              <a:t>create view </a:t>
            </a:r>
            <a:r>
              <a:rPr lang="en-US" altLang="en-US" sz="1200" i="1" dirty="0" err="1" smtClean="0"/>
              <a:t>history_instructors</a:t>
            </a:r>
            <a:r>
              <a:rPr lang="en-US" altLang="en-US" sz="1200" i="1" dirty="0" smtClean="0"/>
              <a:t> </a:t>
            </a:r>
            <a:r>
              <a:rPr lang="en-US" altLang="en-US" sz="1200" b="1" dirty="0" smtClean="0"/>
              <a:t>as</a:t>
            </a:r>
            <a:br>
              <a:rPr lang="en-US" altLang="en-US" sz="1200" b="1" dirty="0" smtClean="0"/>
            </a:br>
            <a:r>
              <a:rPr lang="en-US" altLang="en-US" sz="1200" b="1" dirty="0" smtClean="0"/>
              <a:t>   select </a:t>
            </a:r>
            <a:r>
              <a:rPr lang="en-US" altLang="en-US" sz="1200" dirty="0" smtClean="0"/>
              <a:t>*</a:t>
            </a:r>
            <a:br>
              <a:rPr lang="en-US" altLang="en-US" sz="1200" dirty="0" smtClean="0"/>
            </a:br>
            <a:r>
              <a:rPr lang="en-US" altLang="en-US" sz="1200" dirty="0" smtClean="0"/>
              <a:t>   </a:t>
            </a:r>
            <a:r>
              <a:rPr lang="en-US" altLang="en-US" sz="1200" b="1" dirty="0" smtClean="0"/>
              <a:t>from </a:t>
            </a:r>
            <a:r>
              <a:rPr lang="en-US" altLang="en-US" sz="1200" i="1" dirty="0" smtClean="0"/>
              <a:t>instructor</a:t>
            </a:r>
            <a:br>
              <a:rPr lang="en-US" altLang="en-US" sz="1200" i="1" dirty="0" smtClean="0"/>
            </a:br>
            <a:r>
              <a:rPr lang="en-US" altLang="en-US" sz="1200" i="1" dirty="0" smtClean="0"/>
              <a:t>   </a:t>
            </a:r>
            <a:r>
              <a:rPr lang="en-US" altLang="en-US" sz="1200" b="1" dirty="0" smtClean="0"/>
              <a:t>where </a:t>
            </a:r>
            <a:r>
              <a:rPr lang="en-US" altLang="en-US" sz="1200" i="1" dirty="0" err="1" smtClean="0"/>
              <a:t>dept_name</a:t>
            </a:r>
            <a:r>
              <a:rPr lang="en-US" altLang="en-US" sz="1200" dirty="0" smtClean="0"/>
              <a:t>= 'History';</a:t>
            </a:r>
          </a:p>
          <a:p>
            <a:endParaRPr lang="en-US" dirty="0" smtClean="0"/>
          </a:p>
          <a:p>
            <a:endParaRPr lang="en-US" dirty="0" smtClean="0"/>
          </a:p>
          <a:p>
            <a:r>
              <a:rPr lang="en-US" b="1" i="1" dirty="0" smtClean="0"/>
              <a:t>Even with the conditions on updatability, the following problem still remains. Suppose that a user tries to insert the tuple ('25566', 'Brown', 'Biology', 100000) into the history instructors view. This tuple can be inserted into the instructor relation, but it would not appear in the history instructors view since it does not satisfy the selection imposed by the view.</a:t>
            </a:r>
          </a:p>
          <a:p>
            <a:endParaRPr lang="en-US" dirty="0"/>
          </a:p>
        </p:txBody>
      </p:sp>
      <p:sp>
        <p:nvSpPr>
          <p:cNvPr id="4" name="Slide Number Placeholder 3"/>
          <p:cNvSpPr>
            <a:spLocks noGrp="1"/>
          </p:cNvSpPr>
          <p:nvPr>
            <p:ph type="sldNum" sz="quarter" idx="10"/>
          </p:nvPr>
        </p:nvSpPr>
        <p:spPr/>
        <p:txBody>
          <a:bodyPr/>
          <a:lstStyle/>
          <a:p>
            <a:pPr>
              <a:defRPr/>
            </a:pPr>
            <a:fld id="{AE66C03C-4B0E-4149-8287-A3B340EB818D}" type="slidenum">
              <a:rPr lang="en-US" altLang="en-US" smtClean="0"/>
              <a:pPr>
                <a:defRPr/>
              </a:pPr>
              <a:t>13</a:t>
            </a:fld>
            <a:endParaRPr lang="en-US" altLang="en-US"/>
          </a:p>
        </p:txBody>
      </p:sp>
    </p:spTree>
    <p:extLst>
      <p:ext uri="{BB962C8B-B14F-4D97-AF65-F5344CB8AC3E}">
        <p14:creationId xmlns:p14="http://schemas.microsoft.com/office/powerpoint/2010/main" val="134585827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37931725" indent="-37474525" defTabSz="930275">
              <a:defRPr sz="1600">
                <a:solidFill>
                  <a:schemeClr val="tx1"/>
                </a:solidFill>
                <a:latin typeface="Helvetica" panose="020B0604020202020204" pitchFamily="34" charset="0"/>
                <a:ea typeface="MS PGothic" panose="020B0600070205080204" pitchFamily="34" charset="-128"/>
              </a:defRPr>
            </a:lvl2pPr>
            <a:lvl3pPr>
              <a:defRPr sz="1600">
                <a:solidFill>
                  <a:schemeClr val="tx1"/>
                </a:solidFill>
                <a:latin typeface="Helvetica" panose="020B0604020202020204" pitchFamily="34" charset="0"/>
                <a:ea typeface="MS PGothic" panose="020B0600070205080204" pitchFamily="34" charset="-128"/>
              </a:defRPr>
            </a:lvl3pPr>
            <a:lvl4pPr>
              <a:defRPr sz="1600">
                <a:solidFill>
                  <a:schemeClr val="tx1"/>
                </a:solidFill>
                <a:latin typeface="Helvetica" panose="020B0604020202020204" pitchFamily="34" charset="0"/>
                <a:ea typeface="MS PGothic" panose="020B0600070205080204" pitchFamily="34" charset="-128"/>
              </a:defRPr>
            </a:lvl4pPr>
            <a:lvl5pPr>
              <a:defRPr sz="1600">
                <a:solidFill>
                  <a:schemeClr val="tx1"/>
                </a:solidFill>
                <a:latin typeface="Helvetica" panose="020B0604020202020204" pitchFamily="34" charset="0"/>
                <a:ea typeface="MS PGothic" panose="020B0600070205080204" pitchFamily="34" charset="-128"/>
              </a:defRPr>
            </a:lvl5pPr>
            <a:lvl6pPr marL="4572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9144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1371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18288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701FBBFF-88DD-4104-93D5-9ABA9DECF1D5}" type="slidenum">
              <a:rPr lang="en-US" altLang="en-US" sz="1200"/>
              <a:pPr/>
              <a:t>14</a:t>
            </a:fld>
            <a:endParaRPr lang="en-US" altLang="en-US" sz="1200"/>
          </a:p>
        </p:txBody>
      </p:sp>
      <p:sp>
        <p:nvSpPr>
          <p:cNvPr id="53251" name="Rectangle 2"/>
          <p:cNvSpPr>
            <a:spLocks noGrp="1" noRot="1" noChangeAspect="1" noChangeArrowheads="1" noTextEdit="1"/>
          </p:cNvSpPr>
          <p:nvPr>
            <p:ph type="sldImg"/>
          </p:nvPr>
        </p:nvSpPr>
        <p:spPr>
          <a:xfrm>
            <a:off x="1177925" y="695325"/>
            <a:ext cx="4641850" cy="3481388"/>
          </a:xfrm>
          <a:ln/>
        </p:spPr>
      </p:sp>
      <p:sp>
        <p:nvSpPr>
          <p:cNvPr id="53252" name="Rectangle 3"/>
          <p:cNvSpPr>
            <a:spLocks noGrp="1" noChangeArrowheads="1"/>
          </p:cNvSpPr>
          <p:nvPr>
            <p:ph type="body" idx="1"/>
          </p:nvPr>
        </p:nvSpPr>
        <p:spPr>
          <a:xfrm>
            <a:off x="931864" y="4410075"/>
            <a:ext cx="5133975" cy="41783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dirty="0" smtClean="0"/>
              <a:t>In general, an SQL view is said to be updatable (i.e., inserts, updates, or deletes can be applied on the view) if the following conditions are all satisfied by the query defining the view: </a:t>
            </a:r>
          </a:p>
          <a:p>
            <a:r>
              <a:rPr lang="en-US" b="1" i="1" dirty="0" smtClean="0"/>
              <a:t>• The from clause has only one database relation.</a:t>
            </a:r>
          </a:p>
          <a:p>
            <a:r>
              <a:rPr lang="en-US" b="1" i="1" dirty="0" smtClean="0"/>
              <a:t>• The select clause contains only attribute names of the relation and does not have any expressions, aggregates, or distinct specification. </a:t>
            </a:r>
          </a:p>
          <a:p>
            <a:r>
              <a:rPr lang="en-US" b="1" i="1" dirty="0" smtClean="0"/>
              <a:t>• Any attribute not listed in the select clause can be set to null; that is, it does not have a not null constraint and is not part of a primary key. </a:t>
            </a:r>
          </a:p>
          <a:p>
            <a:r>
              <a:rPr lang="en-US" b="1" i="1" dirty="0" smtClean="0"/>
              <a:t>• The query does not have a group by or having clause.</a:t>
            </a:r>
            <a:endParaRPr lang="en-US" altLang="en-US" b="1" i="1" dirty="0">
              <a:latin typeface="Times New Roman" panose="02020603050405020304" pitchFamily="18"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Many queries reference only a small proportion of the records in a file. For example, a query like “Find all instructors in the Physics department” or “Find the salary value of the instructor with ID 22201” references only a fraction of the instructor records. It is inefficient for the system to read every record and to check ID field for the ID “32556,” or the building field for the value “Physics”.</a:t>
            </a:r>
          </a:p>
          <a:p>
            <a:endParaRPr lang="en-US" dirty="0" smtClean="0"/>
          </a:p>
          <a:p>
            <a:r>
              <a:rPr lang="en-US" b="1" dirty="0" smtClean="0"/>
              <a:t>An index on an attribute of a relation is a data structure that allows the database system to find those tuples in the relation that have a specified value for that attribute efficiently, without scanning through all the tuples of the relation. </a:t>
            </a:r>
            <a:r>
              <a:rPr lang="en-US" b="1" i="1" dirty="0" smtClean="0"/>
              <a:t>For example, if we create an index on attribute </a:t>
            </a:r>
            <a:r>
              <a:rPr lang="en-US" b="1" i="1" dirty="0" err="1" smtClean="0"/>
              <a:t>dept_name</a:t>
            </a:r>
            <a:r>
              <a:rPr lang="en-US" b="1" i="1" dirty="0" smtClean="0"/>
              <a:t> of relation instructor, the database system can find the record with any specified </a:t>
            </a:r>
            <a:r>
              <a:rPr lang="en-US" b="1" i="1" dirty="0" err="1" smtClean="0"/>
              <a:t>dept_name</a:t>
            </a:r>
            <a:r>
              <a:rPr lang="en-US" b="1" i="1" dirty="0" smtClean="0"/>
              <a:t> value, such as “Physics”, or “Music”, directly, without reading all the tuples of the instructor relation. An index can also be created on a list of attributes, for example, on attributes name and </a:t>
            </a:r>
            <a:r>
              <a:rPr lang="en-US" b="1" i="1" dirty="0" err="1" smtClean="0"/>
              <a:t>dept_name</a:t>
            </a:r>
            <a:r>
              <a:rPr lang="en-US" b="1" i="1" dirty="0" smtClean="0"/>
              <a:t> of instructor.</a:t>
            </a:r>
          </a:p>
          <a:p>
            <a:endParaRPr lang="en-US" dirty="0" smtClean="0"/>
          </a:p>
          <a:p>
            <a:r>
              <a:rPr lang="en-US" b="1" dirty="0" smtClean="0"/>
              <a:t>We create an index with the create index command, which takes the form:</a:t>
            </a:r>
          </a:p>
          <a:p>
            <a:pPr marL="0" marR="0" indent="0" algn="l" defTabSz="914400" rtl="0" eaLnBrk="0" fontAlgn="base" latinLnBrk="0" hangingPunct="0">
              <a:lnSpc>
                <a:spcPct val="100000"/>
              </a:lnSpc>
              <a:spcBef>
                <a:spcPct val="30000"/>
              </a:spcBef>
              <a:spcAft>
                <a:spcPct val="0"/>
              </a:spcAft>
              <a:buClrTx/>
              <a:buSzTx/>
              <a:buFontTx/>
              <a:buNone/>
              <a:tabLst/>
              <a:defRPr/>
            </a:pPr>
            <a:r>
              <a:rPr lang="en-US" altLang="en-US" sz="1200" b="1" dirty="0" smtClean="0"/>
              <a:t>create index </a:t>
            </a:r>
            <a:r>
              <a:rPr lang="en-US" altLang="en-US" sz="1200" dirty="0" smtClean="0"/>
              <a:t>&lt;name&gt; </a:t>
            </a:r>
            <a:r>
              <a:rPr lang="en-US" altLang="en-US" sz="1200" b="1" dirty="0" smtClean="0"/>
              <a:t>on </a:t>
            </a:r>
            <a:r>
              <a:rPr lang="en-US" altLang="en-US" sz="1200" dirty="0" smtClean="0"/>
              <a:t>&lt;relation-name&gt; (attribute);</a:t>
            </a:r>
          </a:p>
          <a:p>
            <a:endParaRPr lang="en-US" dirty="0" smtClean="0"/>
          </a:p>
          <a:p>
            <a:r>
              <a:rPr lang="en-US" b="1" dirty="0" smtClean="0"/>
              <a:t>The attribute-list is the list of attributes of the relations that form the search key for the index.</a:t>
            </a:r>
          </a:p>
          <a:p>
            <a:endParaRPr lang="en-US" dirty="0"/>
          </a:p>
        </p:txBody>
      </p:sp>
      <p:sp>
        <p:nvSpPr>
          <p:cNvPr id="4" name="Slide Number Placeholder 3"/>
          <p:cNvSpPr>
            <a:spLocks noGrp="1"/>
          </p:cNvSpPr>
          <p:nvPr>
            <p:ph type="sldNum" sz="quarter" idx="10"/>
          </p:nvPr>
        </p:nvSpPr>
        <p:spPr/>
        <p:txBody>
          <a:bodyPr/>
          <a:lstStyle/>
          <a:p>
            <a:pPr>
              <a:defRPr/>
            </a:pPr>
            <a:fld id="{AE66C03C-4B0E-4149-8287-A3B340EB818D}" type="slidenum">
              <a:rPr lang="en-US" altLang="en-US" smtClean="0"/>
              <a:pPr>
                <a:defRPr/>
              </a:pPr>
              <a:t>15</a:t>
            </a:fld>
            <a:endParaRPr lang="en-US" altLang="en-US"/>
          </a:p>
        </p:txBody>
      </p:sp>
    </p:spTree>
    <p:extLst>
      <p:ext uri="{BB962C8B-B14F-4D97-AF65-F5344CB8AC3E}">
        <p14:creationId xmlns:p14="http://schemas.microsoft.com/office/powerpoint/2010/main" val="300183719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To define an index named </a:t>
            </a:r>
            <a:r>
              <a:rPr lang="en-US" altLang="en-US" sz="1200" b="1" i="1" dirty="0" err="1" smtClean="0"/>
              <a:t>studentID_index</a:t>
            </a:r>
            <a:r>
              <a:rPr lang="en-US" altLang="en-US" sz="1200" b="1" i="1" dirty="0" smtClean="0"/>
              <a:t> </a:t>
            </a:r>
            <a:r>
              <a:rPr lang="en-US" b="1" dirty="0" smtClean="0"/>
              <a:t>on the instructor relation with </a:t>
            </a:r>
            <a:r>
              <a:rPr lang="en-US" b="1" dirty="0" err="1" smtClean="0"/>
              <a:t>dept_name</a:t>
            </a:r>
            <a:r>
              <a:rPr lang="en-US" b="1" dirty="0" smtClean="0"/>
              <a:t> as the search key, we write: </a:t>
            </a:r>
          </a:p>
          <a:p>
            <a:endParaRPr lang="en-US" dirty="0" smtClean="0"/>
          </a:p>
          <a:p>
            <a:pPr marL="0" marR="0" indent="0" algn="l" defTabSz="914400" rtl="0" eaLnBrk="0" fontAlgn="base" latinLnBrk="0" hangingPunct="0">
              <a:lnSpc>
                <a:spcPct val="100000"/>
              </a:lnSpc>
              <a:spcBef>
                <a:spcPct val="30000"/>
              </a:spcBef>
              <a:spcAft>
                <a:spcPct val="0"/>
              </a:spcAft>
              <a:buClrTx/>
              <a:buSzTx/>
              <a:buFontTx/>
              <a:buNone/>
              <a:tabLst/>
              <a:defRPr/>
            </a:pPr>
            <a:r>
              <a:rPr lang="en-US" altLang="en-US" sz="1200" b="1" dirty="0" smtClean="0"/>
              <a:t>create index </a:t>
            </a:r>
            <a:r>
              <a:rPr lang="en-US" altLang="en-US" sz="1200" i="1" dirty="0" err="1" smtClean="0"/>
              <a:t>studentID_index</a:t>
            </a:r>
            <a:r>
              <a:rPr lang="en-US" altLang="en-US" sz="1200" i="1" dirty="0" smtClean="0"/>
              <a:t> </a:t>
            </a:r>
            <a:r>
              <a:rPr lang="en-US" altLang="en-US" sz="1200" b="1" dirty="0" smtClean="0"/>
              <a:t>on </a:t>
            </a:r>
            <a:r>
              <a:rPr lang="en-US" altLang="en-US" sz="1200" i="1" dirty="0" smtClean="0"/>
              <a:t>student</a:t>
            </a:r>
            <a:r>
              <a:rPr lang="en-US" altLang="en-US" sz="1200" dirty="0" smtClean="0"/>
              <a:t>(</a:t>
            </a:r>
            <a:r>
              <a:rPr lang="en-US" altLang="en-US" sz="1200" i="1" dirty="0" smtClean="0"/>
              <a:t>ID</a:t>
            </a:r>
            <a:r>
              <a:rPr lang="en-US" altLang="en-US" sz="1200" dirty="0" smtClean="0"/>
              <a:t>)</a:t>
            </a:r>
          </a:p>
          <a:p>
            <a:endParaRPr lang="en-US" dirty="0" smtClean="0"/>
          </a:p>
          <a:p>
            <a:endParaRPr lang="en-US" dirty="0" smtClean="0"/>
          </a:p>
          <a:p>
            <a:r>
              <a:rPr lang="en-US" b="1" dirty="0" smtClean="0"/>
              <a:t>The index name we specified for an index is required to drop an index. </a:t>
            </a:r>
          </a:p>
          <a:p>
            <a:r>
              <a:rPr lang="en-US" b="1" dirty="0" smtClean="0"/>
              <a:t>The drop index command takes the form: </a:t>
            </a:r>
          </a:p>
          <a:p>
            <a:endParaRPr lang="en-US" dirty="0" smtClean="0"/>
          </a:p>
          <a:p>
            <a:r>
              <a:rPr lang="en-US" dirty="0" smtClean="0"/>
              <a:t>drop index &lt;index-name&gt; ;</a:t>
            </a:r>
            <a:endParaRPr lang="en-US" dirty="0"/>
          </a:p>
        </p:txBody>
      </p:sp>
      <p:sp>
        <p:nvSpPr>
          <p:cNvPr id="4" name="Slide Number Placeholder 3"/>
          <p:cNvSpPr>
            <a:spLocks noGrp="1"/>
          </p:cNvSpPr>
          <p:nvPr>
            <p:ph type="sldNum" sz="quarter" idx="10"/>
          </p:nvPr>
        </p:nvSpPr>
        <p:spPr/>
        <p:txBody>
          <a:bodyPr/>
          <a:lstStyle/>
          <a:p>
            <a:pPr>
              <a:defRPr/>
            </a:pPr>
            <a:fld id="{AE66C03C-4B0E-4149-8287-A3B340EB818D}" type="slidenum">
              <a:rPr lang="en-US" altLang="en-US" smtClean="0"/>
              <a:pPr>
                <a:defRPr/>
              </a:pPr>
              <a:t>16</a:t>
            </a:fld>
            <a:endParaRPr lang="en-US" altLang="en-US"/>
          </a:p>
        </p:txBody>
      </p:sp>
    </p:spTree>
    <p:extLst>
      <p:ext uri="{BB962C8B-B14F-4D97-AF65-F5344CB8AC3E}">
        <p14:creationId xmlns:p14="http://schemas.microsoft.com/office/powerpoint/2010/main" val="175843275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37931725" indent="-37474525" defTabSz="930275">
              <a:defRPr sz="1600">
                <a:solidFill>
                  <a:schemeClr val="tx1"/>
                </a:solidFill>
                <a:latin typeface="Helvetica" panose="020B0604020202020204" pitchFamily="34" charset="0"/>
                <a:ea typeface="MS PGothic" panose="020B0600070205080204" pitchFamily="34" charset="-128"/>
              </a:defRPr>
            </a:lvl2pPr>
            <a:lvl3pPr>
              <a:defRPr sz="1600">
                <a:solidFill>
                  <a:schemeClr val="tx1"/>
                </a:solidFill>
                <a:latin typeface="Helvetica" panose="020B0604020202020204" pitchFamily="34" charset="0"/>
                <a:ea typeface="MS PGothic" panose="020B0600070205080204" pitchFamily="34" charset="-128"/>
              </a:defRPr>
            </a:lvl3pPr>
            <a:lvl4pPr>
              <a:defRPr sz="1600">
                <a:solidFill>
                  <a:schemeClr val="tx1"/>
                </a:solidFill>
                <a:latin typeface="Helvetica" panose="020B0604020202020204" pitchFamily="34" charset="0"/>
                <a:ea typeface="MS PGothic" panose="020B0600070205080204" pitchFamily="34" charset="-128"/>
              </a:defRPr>
            </a:lvl4pPr>
            <a:lvl5pPr>
              <a:defRPr sz="1600">
                <a:solidFill>
                  <a:schemeClr val="tx1"/>
                </a:solidFill>
                <a:latin typeface="Helvetica" panose="020B0604020202020204" pitchFamily="34" charset="0"/>
                <a:ea typeface="MS PGothic" panose="020B0600070205080204" pitchFamily="34" charset="-128"/>
              </a:defRPr>
            </a:lvl5pPr>
            <a:lvl6pPr marL="4572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9144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1371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18288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2ACED373-63CE-4F43-BE90-54DF58F8F5BB}" type="slidenum">
              <a:rPr lang="en-US" altLang="en-US" sz="1200"/>
              <a:pPr/>
              <a:t>17</a:t>
            </a:fld>
            <a:endParaRPr lang="en-US" altLang="en-US" sz="1200"/>
          </a:p>
        </p:txBody>
      </p:sp>
      <p:sp>
        <p:nvSpPr>
          <p:cNvPr id="91139" name="Rectangle 2"/>
          <p:cNvSpPr>
            <a:spLocks noGrp="1" noRot="1" noChangeAspect="1" noChangeArrowheads="1" noTextEdit="1"/>
          </p:cNvSpPr>
          <p:nvPr>
            <p:ph type="sldImg"/>
          </p:nvPr>
        </p:nvSpPr>
        <p:spPr>
          <a:xfrm>
            <a:off x="1177925" y="695325"/>
            <a:ext cx="4641850" cy="3481388"/>
          </a:xfrm>
          <a:ln/>
        </p:spPr>
      </p:sp>
      <p:sp>
        <p:nvSpPr>
          <p:cNvPr id="91140" name="Rectangle 3"/>
          <p:cNvSpPr>
            <a:spLocks noGrp="1" noChangeArrowheads="1"/>
          </p:cNvSpPr>
          <p:nvPr>
            <p:ph type="body" idx="1"/>
          </p:nvPr>
        </p:nvSpPr>
        <p:spPr>
          <a:xfrm>
            <a:off x="931864" y="4410075"/>
            <a:ext cx="5133975" cy="41783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hyperlink" Target="http://www.db-book.com/" TargetMode="Externa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5" name="Text Box 7">
            <a:extLst>
              <a:ext uri="{FF2B5EF4-FFF2-40B4-BE49-F238E27FC236}">
                <a16:creationId xmlns:a16="http://schemas.microsoft.com/office/drawing/2014/main" id="{A25BB261-D773-4836-B381-7A051175F570}"/>
              </a:ext>
            </a:extLst>
          </p:cNvPr>
          <p:cNvSpPr txBox="1">
            <a:spLocks noChangeArrowheads="1"/>
          </p:cNvSpPr>
          <p:nvPr/>
        </p:nvSpPr>
        <p:spPr bwMode="auto">
          <a:xfrm>
            <a:off x="2674938" y="5726113"/>
            <a:ext cx="3694112" cy="793750"/>
          </a:xfrm>
          <a:prstGeom prst="rect">
            <a:avLst/>
          </a:prstGeom>
          <a:noFill/>
          <a:ln>
            <a:noFill/>
          </a:ln>
          <a:extLst>
            <a:ext uri="{909E8E84-426E-40dd-AFC4-6F175D3DCCD1}"/>
            <a:ext uri="{91240B29-F687-4f45-9708-019B960494DF}"/>
          </a:extLst>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ctr">
              <a:spcBef>
                <a:spcPct val="50000"/>
              </a:spcBef>
              <a:defRPr/>
            </a:pPr>
            <a:r>
              <a:rPr lang="en-US" altLang="en-US" b="1" dirty="0">
                <a:solidFill>
                  <a:srgbClr val="002060"/>
                </a:solidFill>
              </a:rPr>
              <a:t>Database System Concepts, 7</a:t>
            </a:r>
            <a:r>
              <a:rPr lang="en-US" altLang="en-US" b="1" baseline="30000" dirty="0">
                <a:solidFill>
                  <a:srgbClr val="002060"/>
                </a:solidFill>
              </a:rPr>
              <a:t>th</a:t>
            </a:r>
            <a:r>
              <a:rPr lang="en-US" altLang="en-US" b="1" dirty="0">
                <a:solidFill>
                  <a:srgbClr val="002060"/>
                </a:solidFill>
              </a:rPr>
              <a:t> Ed</a:t>
            </a:r>
            <a:r>
              <a:rPr lang="en-US" altLang="en-US" dirty="0">
                <a:solidFill>
                  <a:srgbClr val="002060"/>
                </a:solidFill>
              </a:rPr>
              <a:t>.</a:t>
            </a:r>
          </a:p>
          <a:p>
            <a:pPr algn="ctr">
              <a:spcBef>
                <a:spcPct val="50000"/>
              </a:spcBef>
              <a:defRPr/>
            </a:pPr>
            <a:r>
              <a:rPr lang="en-US" altLang="en-US" sz="1200" b="1" dirty="0">
                <a:solidFill>
                  <a:srgbClr val="002060"/>
                </a:solidFill>
              </a:rPr>
              <a:t>©Silberschatz, Korth and Sudarshan</a:t>
            </a:r>
            <a:br>
              <a:rPr lang="en-US" altLang="en-US" sz="1200" b="1" dirty="0">
                <a:solidFill>
                  <a:srgbClr val="002060"/>
                </a:solidFill>
              </a:rPr>
            </a:br>
            <a:r>
              <a:rPr lang="en-US" altLang="en-US" sz="1200" b="1" dirty="0">
                <a:solidFill>
                  <a:srgbClr val="002060"/>
                </a:solidFill>
              </a:rPr>
              <a:t>See </a:t>
            </a:r>
            <a:r>
              <a:rPr lang="en-US" altLang="en-US" sz="1200" b="1" dirty="0">
                <a:solidFill>
                  <a:srgbClr val="002060"/>
                </a:solidFill>
                <a:hlinkClick r:id="rId2"/>
              </a:rPr>
              <a:t>www.db-book.com</a:t>
            </a:r>
            <a:r>
              <a:rPr lang="en-US" altLang="en-US" sz="1200" b="1" dirty="0">
                <a:solidFill>
                  <a:srgbClr val="002060"/>
                </a:solidFill>
              </a:rPr>
              <a:t> for conditions on re-use </a:t>
            </a:r>
          </a:p>
        </p:txBody>
      </p:sp>
      <p:sp>
        <p:nvSpPr>
          <p:cNvPr id="513026" name="Rectangle 2"/>
          <p:cNvSpPr>
            <a:spLocks noGrp="1" noChangeArrowheads="1"/>
          </p:cNvSpPr>
          <p:nvPr>
            <p:ph type="ctrTitle"/>
          </p:nvPr>
        </p:nvSpPr>
        <p:spPr>
          <a:xfrm>
            <a:off x="685800" y="2286000"/>
            <a:ext cx="7772400" cy="1143000"/>
          </a:xfrm>
        </p:spPr>
        <p:txBody>
          <a:bodyPr/>
          <a:lstStyle>
            <a:lvl1pPr>
              <a:defRPr>
                <a:solidFill>
                  <a:srgbClr val="002060"/>
                </a:solidFill>
              </a:defRPr>
            </a:lvl1pPr>
          </a:lstStyle>
          <a:p>
            <a:r>
              <a:rPr lang="en-US" dirty="0"/>
              <a:t>Click to edit Master title style</a:t>
            </a:r>
          </a:p>
        </p:txBody>
      </p:sp>
      <p:sp>
        <p:nvSpPr>
          <p:cNvPr id="8" name="Rectangle 5">
            <a:extLst>
              <a:ext uri="{FF2B5EF4-FFF2-40B4-BE49-F238E27FC236}">
                <a16:creationId xmlns:a16="http://schemas.microsoft.com/office/drawing/2014/main" id="{B4760F52-45E1-4E1D-A744-2F2290DE90CC}"/>
              </a:ext>
            </a:extLst>
          </p:cNvPr>
          <p:cNvSpPr>
            <a:spLocks noGrp="1" noChangeArrowheads="1"/>
          </p:cNvSpPr>
          <p:nvPr>
            <p:ph type="sldNum" sz="quarter" idx="11"/>
          </p:nvPr>
        </p:nvSpPr>
        <p:spPr>
          <a:xfrm>
            <a:off x="6596063" y="6218238"/>
            <a:ext cx="1905000" cy="457200"/>
          </a:xfrm>
        </p:spPr>
        <p:txBody>
          <a:bodyPr/>
          <a:lstStyle>
            <a:lvl1pPr>
              <a:defRPr>
                <a:solidFill>
                  <a:srgbClr val="578963"/>
                </a:solidFill>
              </a:defRPr>
            </a:lvl1pPr>
          </a:lstStyle>
          <a:p>
            <a:pPr>
              <a:defRPr/>
            </a:pPr>
            <a:fld id="{3B69BB99-A72A-4470-971F-83530C443C91}" type="slidenum">
              <a:rPr lang="en-US" altLang="en-US"/>
              <a:pPr>
                <a:defRPr/>
              </a:pPr>
              <a:t>‹#›</a:t>
            </a:fld>
            <a:endParaRPr lang="en-US" altLang="en-US"/>
          </a:p>
        </p:txBody>
      </p:sp>
      <p:pic>
        <p:nvPicPr>
          <p:cNvPr id="9" name="Picture 8" descr="Cover-6Ed"/>
          <p:cNvPicPr>
            <a:picLocks noChangeAspect="1" noChangeArrowheads="1"/>
          </p:cNvPicPr>
          <p:nvPr userDrawn="1"/>
        </p:nvPicPr>
        <p:blipFill>
          <a:blip r:embed="rId3"/>
          <a:stretch>
            <a:fillRect/>
          </a:stretch>
        </p:blipFill>
        <p:spPr bwMode="auto">
          <a:xfrm>
            <a:off x="13858" y="0"/>
            <a:ext cx="1331269" cy="170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604871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768350" y="1093788"/>
            <a:ext cx="7707313" cy="4903787"/>
          </a:xfrm>
        </p:spPr>
        <p:txBody>
          <a:bodyPr/>
          <a:lstStyle>
            <a:lvl1pPr marL="342900" indent="-342900">
              <a:buSzPct val="110000"/>
              <a:buFont typeface="Wingdings" panose="05000000000000000000" pitchFamily="2" charset="2"/>
              <a:buChar char="§"/>
              <a:defRPr sz="1700"/>
            </a:lvl1pPr>
            <a:lvl2pPr marL="742950" indent="-285750">
              <a:buSzPct val="110000"/>
              <a:buFont typeface="Arial" panose="020B0604020202020204" pitchFamily="34" charset="0"/>
              <a:buChar char="•"/>
              <a:defRPr sz="1700"/>
            </a:lvl2pPr>
            <a:lvl3pPr marL="1085850" indent="-228600">
              <a:buFont typeface="Wingdings" panose="05000000000000000000" pitchFamily="2" charset="2"/>
              <a:buChar char="§"/>
              <a:defRPr sz="1700"/>
            </a:lvl3pPr>
            <a:lvl4pPr marL="1428750" indent="-228600">
              <a:buFont typeface="Arial" panose="020B0604020202020204" pitchFamily="34" charset="0"/>
              <a:buChar char="•"/>
              <a:defRPr sz="1700"/>
            </a:lvl4pPr>
            <a:lvl5pPr marL="1771650" indent="-228600">
              <a:buFont typeface="Wingdings" panose="05000000000000000000" pitchFamily="2" charset="2"/>
              <a:buChar char="§"/>
              <a:defRPr sz="17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1243719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3">
            <a:extLst>
              <a:ext uri="{FF2B5EF4-FFF2-40B4-BE49-F238E27FC236}">
                <a16:creationId xmlns:a16="http://schemas.microsoft.com/office/drawing/2014/main" id="{336F2EBE-FF5F-4F9D-A3C2-A59A92D7809D}"/>
              </a:ext>
            </a:extLst>
          </p:cNvPr>
          <p:cNvSpPr>
            <a:spLocks noGrp="1" noChangeArrowheads="1"/>
          </p:cNvSpPr>
          <p:nvPr>
            <p:ph type="sldNum" sz="quarter" idx="10"/>
          </p:nvPr>
        </p:nvSpPr>
        <p:spPr>
          <a:ln/>
        </p:spPr>
        <p:txBody>
          <a:bodyPr/>
          <a:lstStyle>
            <a:lvl1pPr>
              <a:defRPr/>
            </a:lvl1pPr>
          </a:lstStyle>
          <a:p>
            <a:pPr>
              <a:defRPr/>
            </a:pPr>
            <a:fld id="{547F3CAF-32BF-49A6-93F1-59C9E4B7C957}" type="slidenum">
              <a:rPr lang="en-US" altLang="en-US"/>
              <a:pPr>
                <a:defRPr/>
              </a:pPr>
              <a:t>‹#›</a:t>
            </a:fld>
            <a:endParaRPr lang="en-US" altLang="en-US"/>
          </a:p>
        </p:txBody>
      </p:sp>
    </p:spTree>
    <p:extLst>
      <p:ext uri="{BB962C8B-B14F-4D97-AF65-F5344CB8AC3E}">
        <p14:creationId xmlns:p14="http://schemas.microsoft.com/office/powerpoint/2010/main" val="29607090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14388" y="1093788"/>
            <a:ext cx="3754437" cy="4903787"/>
          </a:xfrm>
        </p:spPr>
        <p:txBody>
          <a:bodyPr/>
          <a:lstStyle>
            <a:lvl1pPr>
              <a:defRPr sz="1700"/>
            </a:lvl1pPr>
            <a:lvl2pPr>
              <a:defRPr sz="1700"/>
            </a:lvl2pPr>
            <a:lvl3pPr>
              <a:defRPr sz="1700"/>
            </a:lvl3pPr>
            <a:lvl4pPr>
              <a:defRPr sz="1700"/>
            </a:lvl4pPr>
            <a:lvl5pPr>
              <a:defRPr sz="17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21225" y="1093788"/>
            <a:ext cx="3754438" cy="4903787"/>
          </a:xfrm>
        </p:spPr>
        <p:txBody>
          <a:bodyPr/>
          <a:lstStyle>
            <a:lvl1pPr>
              <a:defRPr sz="1700"/>
            </a:lvl1pPr>
            <a:lvl2pPr>
              <a:defRPr sz="1700"/>
            </a:lvl2pPr>
            <a:lvl3pPr>
              <a:defRPr sz="1700"/>
            </a:lvl3pPr>
            <a:lvl4pPr>
              <a:defRPr sz="1700"/>
            </a:lvl4pPr>
            <a:lvl5pPr>
              <a:defRPr sz="17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3">
            <a:extLst>
              <a:ext uri="{FF2B5EF4-FFF2-40B4-BE49-F238E27FC236}">
                <a16:creationId xmlns:a16="http://schemas.microsoft.com/office/drawing/2014/main" id="{A6D4A7F0-1138-4608-80AA-D0A6F5D41187}"/>
              </a:ext>
            </a:extLst>
          </p:cNvPr>
          <p:cNvSpPr>
            <a:spLocks noGrp="1" noChangeArrowheads="1"/>
          </p:cNvSpPr>
          <p:nvPr>
            <p:ph type="sldNum" sz="quarter" idx="10"/>
          </p:nvPr>
        </p:nvSpPr>
        <p:spPr>
          <a:ln/>
        </p:spPr>
        <p:txBody>
          <a:bodyPr/>
          <a:lstStyle>
            <a:lvl1pPr>
              <a:defRPr/>
            </a:lvl1pPr>
          </a:lstStyle>
          <a:p>
            <a:pPr>
              <a:defRPr/>
            </a:pPr>
            <a:fld id="{00852D5F-D37B-4E9D-98AD-511A1ABBD6A9}" type="slidenum">
              <a:rPr lang="en-US" altLang="en-US"/>
              <a:pPr>
                <a:defRPr/>
              </a:pPr>
              <a:t>‹#›</a:t>
            </a:fld>
            <a:endParaRPr lang="en-US" altLang="en-US"/>
          </a:p>
        </p:txBody>
      </p:sp>
    </p:spTree>
    <p:extLst>
      <p:ext uri="{BB962C8B-B14F-4D97-AF65-F5344CB8AC3E}">
        <p14:creationId xmlns:p14="http://schemas.microsoft.com/office/powerpoint/2010/main" val="41108020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1700"/>
            </a:lvl1pPr>
            <a:lvl2pPr>
              <a:defRPr sz="1700"/>
            </a:lvl2pPr>
            <a:lvl3pPr>
              <a:defRPr sz="1700"/>
            </a:lvl3pPr>
            <a:lvl4pPr>
              <a:defRPr sz="1700"/>
            </a:lvl4pPr>
            <a:lvl5pPr>
              <a:defRPr sz="17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1700"/>
            </a:lvl1pPr>
            <a:lvl2pPr>
              <a:defRPr sz="1700"/>
            </a:lvl2pPr>
            <a:lvl3pPr>
              <a:defRPr sz="1700"/>
            </a:lvl3pPr>
            <a:lvl4pPr>
              <a:defRPr sz="1700"/>
            </a:lvl4pPr>
            <a:lvl5pPr>
              <a:defRPr sz="17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3">
            <a:extLst>
              <a:ext uri="{FF2B5EF4-FFF2-40B4-BE49-F238E27FC236}">
                <a16:creationId xmlns:a16="http://schemas.microsoft.com/office/drawing/2014/main" id="{56DFCFB3-6710-4DD2-8404-7E55A930F352}"/>
              </a:ext>
            </a:extLst>
          </p:cNvPr>
          <p:cNvSpPr>
            <a:spLocks noGrp="1" noChangeArrowheads="1"/>
          </p:cNvSpPr>
          <p:nvPr>
            <p:ph type="sldNum" sz="quarter" idx="10"/>
          </p:nvPr>
        </p:nvSpPr>
        <p:spPr>
          <a:ln/>
        </p:spPr>
        <p:txBody>
          <a:bodyPr/>
          <a:lstStyle>
            <a:lvl1pPr>
              <a:defRPr/>
            </a:lvl1pPr>
          </a:lstStyle>
          <a:p>
            <a:pPr>
              <a:defRPr/>
            </a:pPr>
            <a:fld id="{C0191CCC-CC48-429B-87C9-7123B48E52D4}" type="slidenum">
              <a:rPr lang="en-US" altLang="en-US"/>
              <a:pPr>
                <a:defRPr/>
              </a:pPr>
              <a:t>‹#›</a:t>
            </a:fld>
            <a:endParaRPr lang="en-US" altLang="en-US"/>
          </a:p>
        </p:txBody>
      </p:sp>
    </p:spTree>
    <p:extLst>
      <p:ext uri="{BB962C8B-B14F-4D97-AF65-F5344CB8AC3E}">
        <p14:creationId xmlns:p14="http://schemas.microsoft.com/office/powerpoint/2010/main" val="25190424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3">
            <a:extLst>
              <a:ext uri="{FF2B5EF4-FFF2-40B4-BE49-F238E27FC236}">
                <a16:creationId xmlns:a16="http://schemas.microsoft.com/office/drawing/2014/main" id="{BB431453-8F56-47C4-89BA-3EDF3CD092BA}"/>
              </a:ext>
            </a:extLst>
          </p:cNvPr>
          <p:cNvSpPr>
            <a:spLocks noGrp="1" noChangeArrowheads="1"/>
          </p:cNvSpPr>
          <p:nvPr>
            <p:ph type="sldNum" sz="quarter" idx="10"/>
          </p:nvPr>
        </p:nvSpPr>
        <p:spPr>
          <a:ln/>
        </p:spPr>
        <p:txBody>
          <a:bodyPr/>
          <a:lstStyle>
            <a:lvl1pPr>
              <a:defRPr/>
            </a:lvl1pPr>
          </a:lstStyle>
          <a:p>
            <a:pPr>
              <a:defRPr/>
            </a:pPr>
            <a:fld id="{5E9D92F0-DB25-4E6B-A10D-A7937AC7A365}" type="slidenum">
              <a:rPr lang="en-US" altLang="en-US"/>
              <a:pPr>
                <a:defRPr/>
              </a:pPr>
              <a:t>‹#›</a:t>
            </a:fld>
            <a:endParaRPr lang="en-US" altLang="en-US"/>
          </a:p>
        </p:txBody>
      </p:sp>
    </p:spTree>
    <p:extLst>
      <p:ext uri="{BB962C8B-B14F-4D97-AF65-F5344CB8AC3E}">
        <p14:creationId xmlns:p14="http://schemas.microsoft.com/office/powerpoint/2010/main" val="38360057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4BE8099E-18A5-481A-9697-216087BE0676}"/>
              </a:ext>
            </a:extLst>
          </p:cNvPr>
          <p:cNvSpPr>
            <a:spLocks noGrp="1" noChangeArrowheads="1"/>
          </p:cNvSpPr>
          <p:nvPr>
            <p:ph type="sldNum" sz="quarter" idx="10"/>
          </p:nvPr>
        </p:nvSpPr>
        <p:spPr>
          <a:ln/>
        </p:spPr>
        <p:txBody>
          <a:bodyPr/>
          <a:lstStyle>
            <a:lvl1pPr>
              <a:defRPr/>
            </a:lvl1pPr>
          </a:lstStyle>
          <a:p>
            <a:pPr>
              <a:defRPr/>
            </a:pPr>
            <a:fld id="{0E555C8E-F740-4D28-8DA3-D7B8E0F6F578}" type="slidenum">
              <a:rPr lang="en-US" altLang="en-US"/>
              <a:pPr>
                <a:defRPr/>
              </a:pPr>
              <a:t>‹#›</a:t>
            </a:fld>
            <a:endParaRPr lang="en-US" altLang="en-US"/>
          </a:p>
        </p:txBody>
      </p:sp>
    </p:spTree>
    <p:extLst>
      <p:ext uri="{BB962C8B-B14F-4D97-AF65-F5344CB8AC3E}">
        <p14:creationId xmlns:p14="http://schemas.microsoft.com/office/powerpoint/2010/main" val="24321476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1700"/>
            </a:lvl1pPr>
            <a:lvl2pPr>
              <a:defRPr sz="1700"/>
            </a:lvl2pPr>
            <a:lvl3pPr>
              <a:defRPr sz="1700"/>
            </a:lvl3pPr>
            <a:lvl4pPr>
              <a:defRPr sz="1700"/>
            </a:lvl4pPr>
            <a:lvl5pPr>
              <a:defRPr sz="17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3">
            <a:extLst>
              <a:ext uri="{FF2B5EF4-FFF2-40B4-BE49-F238E27FC236}">
                <a16:creationId xmlns:a16="http://schemas.microsoft.com/office/drawing/2014/main" id="{97E2C57D-1205-411A-BA90-DF60A810F6DB}"/>
              </a:ext>
            </a:extLst>
          </p:cNvPr>
          <p:cNvSpPr>
            <a:spLocks noGrp="1" noChangeArrowheads="1"/>
          </p:cNvSpPr>
          <p:nvPr>
            <p:ph type="sldNum" sz="quarter" idx="10"/>
          </p:nvPr>
        </p:nvSpPr>
        <p:spPr>
          <a:ln/>
        </p:spPr>
        <p:txBody>
          <a:bodyPr/>
          <a:lstStyle>
            <a:lvl1pPr>
              <a:defRPr/>
            </a:lvl1pPr>
          </a:lstStyle>
          <a:p>
            <a:pPr>
              <a:defRPr/>
            </a:pPr>
            <a:fld id="{2BBBE5B0-1186-4DAB-9E97-511F15F5C63C}" type="slidenum">
              <a:rPr lang="en-US" altLang="en-US"/>
              <a:pPr>
                <a:defRPr/>
              </a:pPr>
              <a:t>‹#›</a:t>
            </a:fld>
            <a:endParaRPr lang="en-US" altLang="en-US"/>
          </a:p>
        </p:txBody>
      </p:sp>
    </p:spTree>
    <p:extLst>
      <p:ext uri="{BB962C8B-B14F-4D97-AF65-F5344CB8AC3E}">
        <p14:creationId xmlns:p14="http://schemas.microsoft.com/office/powerpoint/2010/main" val="13488098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3">
            <a:extLst>
              <a:ext uri="{FF2B5EF4-FFF2-40B4-BE49-F238E27FC236}">
                <a16:creationId xmlns:a16="http://schemas.microsoft.com/office/drawing/2014/main" id="{99EB6957-06EE-46F8-A450-3DB417A1F8A6}"/>
              </a:ext>
            </a:extLst>
          </p:cNvPr>
          <p:cNvSpPr>
            <a:spLocks noGrp="1" noChangeArrowheads="1"/>
          </p:cNvSpPr>
          <p:nvPr>
            <p:ph type="sldNum" sz="quarter" idx="10"/>
          </p:nvPr>
        </p:nvSpPr>
        <p:spPr>
          <a:ln/>
        </p:spPr>
        <p:txBody>
          <a:bodyPr/>
          <a:lstStyle>
            <a:lvl1pPr>
              <a:defRPr/>
            </a:lvl1pPr>
          </a:lstStyle>
          <a:p>
            <a:pPr>
              <a:defRPr/>
            </a:pPr>
            <a:fld id="{F291DB2E-7BC4-4C22-ACAE-0B8B3F0C5147}" type="slidenum">
              <a:rPr lang="en-US" altLang="en-US"/>
              <a:pPr>
                <a:defRPr/>
              </a:pPr>
              <a:t>‹#›</a:t>
            </a:fld>
            <a:endParaRPr lang="en-US" altLang="en-US"/>
          </a:p>
        </p:txBody>
      </p:sp>
    </p:spTree>
    <p:extLst>
      <p:ext uri="{BB962C8B-B14F-4D97-AF65-F5344CB8AC3E}">
        <p14:creationId xmlns:p14="http://schemas.microsoft.com/office/powerpoint/2010/main" val="248140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
            <a:extLst>
              <a:ext uri="{FF2B5EF4-FFF2-40B4-BE49-F238E27FC236}">
                <a16:creationId xmlns:a16="http://schemas.microsoft.com/office/drawing/2014/main" id="{85C950AD-734E-45C7-8042-5795FFAD6750}"/>
              </a:ext>
            </a:extLst>
          </p:cNvPr>
          <p:cNvSpPr>
            <a:spLocks noGrp="1" noChangeArrowheads="1"/>
          </p:cNvSpPr>
          <p:nvPr>
            <p:ph type="sldNum" sz="quarter" idx="10"/>
          </p:nvPr>
        </p:nvSpPr>
        <p:spPr>
          <a:ln/>
        </p:spPr>
        <p:txBody>
          <a:bodyPr/>
          <a:lstStyle>
            <a:lvl1pPr>
              <a:defRPr/>
            </a:lvl1pPr>
          </a:lstStyle>
          <a:p>
            <a:pPr>
              <a:defRPr/>
            </a:pPr>
            <a:fld id="{D7E5E31B-1343-4510-8DCD-65E7B6544692}" type="slidenum">
              <a:rPr lang="en-US" altLang="en-US"/>
              <a:pPr>
                <a:defRPr/>
              </a:pPr>
              <a:t>‹#›</a:t>
            </a:fld>
            <a:endParaRPr lang="en-US" altLang="en-US"/>
          </a:p>
        </p:txBody>
      </p:sp>
    </p:spTree>
    <p:extLst>
      <p:ext uri="{BB962C8B-B14F-4D97-AF65-F5344CB8AC3E}">
        <p14:creationId xmlns:p14="http://schemas.microsoft.com/office/powerpoint/2010/main" val="17630467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26250" y="117475"/>
            <a:ext cx="2019300" cy="58801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68350" y="117475"/>
            <a:ext cx="5905500" cy="58801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
            <a:extLst>
              <a:ext uri="{FF2B5EF4-FFF2-40B4-BE49-F238E27FC236}">
                <a16:creationId xmlns:a16="http://schemas.microsoft.com/office/drawing/2014/main" id="{C7A7A2CD-B5B0-4CF6-8038-339B0E99E366}"/>
              </a:ext>
            </a:extLst>
          </p:cNvPr>
          <p:cNvSpPr>
            <a:spLocks noGrp="1" noChangeArrowheads="1"/>
          </p:cNvSpPr>
          <p:nvPr>
            <p:ph type="sldNum" sz="quarter" idx="10"/>
          </p:nvPr>
        </p:nvSpPr>
        <p:spPr>
          <a:ln/>
        </p:spPr>
        <p:txBody>
          <a:bodyPr/>
          <a:lstStyle>
            <a:lvl1pPr>
              <a:defRPr/>
            </a:lvl1pPr>
          </a:lstStyle>
          <a:p>
            <a:pPr>
              <a:defRPr/>
            </a:pPr>
            <a:fld id="{833574B0-C055-4E38-82A9-667A1DF1F8D0}" type="slidenum">
              <a:rPr lang="en-US" altLang="en-US"/>
              <a:pPr>
                <a:defRPr/>
              </a:pPr>
              <a:t>‹#›</a:t>
            </a:fld>
            <a:endParaRPr lang="en-US" altLang="en-US"/>
          </a:p>
        </p:txBody>
      </p:sp>
    </p:spTree>
    <p:extLst>
      <p:ext uri="{BB962C8B-B14F-4D97-AF65-F5344CB8AC3E}">
        <p14:creationId xmlns:p14="http://schemas.microsoft.com/office/powerpoint/2010/main" val="289464998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3">
            <a:extLst>
              <a:ext uri="{FF2B5EF4-FFF2-40B4-BE49-F238E27FC236}">
                <a16:creationId xmlns:a16="http://schemas.microsoft.com/office/drawing/2014/main" id="{A9796C49-4A73-449B-A170-DFFCD45313DF}"/>
              </a:ext>
            </a:extLst>
          </p:cNvPr>
          <p:cNvSpPr>
            <a:spLocks noGrp="1" noChangeArrowheads="1"/>
          </p:cNvSpPr>
          <p:nvPr>
            <p:ph type="sldNum" sz="quarter" idx="10"/>
          </p:nvPr>
        </p:nvSpPr>
        <p:spPr>
          <a:ln/>
        </p:spPr>
        <p:txBody>
          <a:bodyPr/>
          <a:lstStyle>
            <a:lvl1pPr>
              <a:defRPr/>
            </a:lvl1pPr>
          </a:lstStyle>
          <a:p>
            <a:pPr>
              <a:defRPr/>
            </a:pPr>
            <a:fld id="{300D9E99-A0D8-4F2F-B04A-331DF655FEAB}" type="slidenum">
              <a:rPr lang="en-US" altLang="en-US"/>
              <a:pPr>
                <a:defRPr/>
              </a:pPr>
              <a:t>‹#›</a:t>
            </a:fld>
            <a:endParaRPr lang="en-US" altLang="en-US"/>
          </a:p>
        </p:txBody>
      </p:sp>
    </p:spTree>
    <p:extLst>
      <p:ext uri="{BB962C8B-B14F-4D97-AF65-F5344CB8AC3E}">
        <p14:creationId xmlns:p14="http://schemas.microsoft.com/office/powerpoint/2010/main" val="24228256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56112478-D9B7-4D0D-ADE5-62D5EFAAFBBF}"/>
              </a:ext>
            </a:extLst>
          </p:cNvPr>
          <p:cNvSpPr>
            <a:spLocks noGrp="1" noChangeArrowheads="1"/>
          </p:cNvSpPr>
          <p:nvPr>
            <p:ph type="body" idx="1"/>
          </p:nvPr>
        </p:nvSpPr>
        <p:spPr bwMode="auto">
          <a:xfrm>
            <a:off x="747558" y="1093788"/>
            <a:ext cx="7728105" cy="4903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512003" name="Rectangle 3">
            <a:extLst>
              <a:ext uri="{FF2B5EF4-FFF2-40B4-BE49-F238E27FC236}">
                <a16:creationId xmlns:a16="http://schemas.microsoft.com/office/drawing/2014/main" id="{D2EB5033-CF44-472B-B77D-FAA18581E631}"/>
              </a:ext>
            </a:extLst>
          </p:cNvPr>
          <p:cNvSpPr>
            <a:spLocks noGrp="1" noChangeArrowheads="1"/>
          </p:cNvSpPr>
          <p:nvPr>
            <p:ph type="sldNum" sz="quarter" idx="4"/>
          </p:nvPr>
        </p:nvSpPr>
        <p:spPr bwMode="auto">
          <a:xfrm>
            <a:off x="6553200" y="6400800"/>
            <a:ext cx="19050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a:spcBef>
                <a:spcPct val="50000"/>
              </a:spcBef>
              <a:defRPr sz="1400">
                <a:solidFill>
                  <a:srgbClr val="002060"/>
                </a:solidFill>
                <a:latin typeface="Times New Roman" panose="02020603050405020304" pitchFamily="18" charset="0"/>
              </a:defRPr>
            </a:lvl1pPr>
          </a:lstStyle>
          <a:p>
            <a:pPr>
              <a:defRPr/>
            </a:pPr>
            <a:fld id="{8BECA7E0-09BC-41D3-BD93-B7E81A2ACCB7}" type="slidenum">
              <a:rPr lang="en-US" altLang="en-US" smtClean="0"/>
              <a:pPr>
                <a:defRPr/>
              </a:pPr>
              <a:t>‹#›</a:t>
            </a:fld>
            <a:endParaRPr lang="en-US" altLang="en-US" dirty="0"/>
          </a:p>
        </p:txBody>
      </p:sp>
      <p:sp>
        <p:nvSpPr>
          <p:cNvPr id="1028" name="Text Box 4">
            <a:extLst>
              <a:ext uri="{FF2B5EF4-FFF2-40B4-BE49-F238E27FC236}">
                <a16:creationId xmlns:a16="http://schemas.microsoft.com/office/drawing/2014/main" id="{D0CFC8B2-2C6C-4CA4-9AFC-14298F0DD4EC}"/>
              </a:ext>
            </a:extLst>
          </p:cNvPr>
          <p:cNvSpPr txBox="1">
            <a:spLocks noChangeArrowheads="1"/>
          </p:cNvSpPr>
          <p:nvPr/>
        </p:nvSpPr>
        <p:spPr bwMode="auto">
          <a:xfrm>
            <a:off x="6762750" y="6613525"/>
            <a:ext cx="2381250" cy="244475"/>
          </a:xfrm>
          <a:prstGeom prst="rect">
            <a:avLst/>
          </a:prstGeom>
          <a:noFill/>
          <a:ln>
            <a:noFill/>
          </a:ln>
          <a:extLst>
            <a:ext uri="{909E8E84-426E-40dd-AFC4-6F175D3DCCD1}"/>
            <a:ext uri="{91240B29-F687-4f45-9708-019B960494DF}"/>
          </a:extLst>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ctr">
              <a:spcBef>
                <a:spcPct val="50000"/>
              </a:spcBef>
              <a:defRPr/>
            </a:pPr>
            <a:r>
              <a:rPr lang="en-US" altLang="en-US" sz="1000" b="1" dirty="0">
                <a:solidFill>
                  <a:srgbClr val="002060"/>
                </a:solidFill>
              </a:rPr>
              <a:t>©Silberschatz, Korth and Sudarshan</a:t>
            </a:r>
          </a:p>
        </p:txBody>
      </p:sp>
      <p:sp>
        <p:nvSpPr>
          <p:cNvPr id="512005" name="Text Box 5">
            <a:extLst>
              <a:ext uri="{FF2B5EF4-FFF2-40B4-BE49-F238E27FC236}">
                <a16:creationId xmlns:a16="http://schemas.microsoft.com/office/drawing/2014/main" id="{ED25C836-0663-424A-84A7-5AB803422860}"/>
              </a:ext>
            </a:extLst>
          </p:cNvPr>
          <p:cNvSpPr txBox="1">
            <a:spLocks noChangeArrowheads="1"/>
          </p:cNvSpPr>
          <p:nvPr userDrawn="1"/>
        </p:nvSpPr>
        <p:spPr bwMode="auto">
          <a:xfrm>
            <a:off x="4479984" y="6613525"/>
            <a:ext cx="447559" cy="246221"/>
          </a:xfrm>
          <a:prstGeom prst="rect">
            <a:avLst/>
          </a:prstGeom>
          <a:noFill/>
          <a:ln w="9525">
            <a:noFill/>
            <a:miter lim="800000"/>
            <a:headEnd/>
            <a:tailEnd/>
          </a:ln>
          <a:effectLst/>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ctr">
              <a:spcBef>
                <a:spcPct val="50000"/>
              </a:spcBef>
              <a:defRPr/>
            </a:pPr>
            <a:r>
              <a:rPr lang="en-US" altLang="en-US" sz="1000" b="1" dirty="0">
                <a:solidFill>
                  <a:srgbClr val="002060"/>
                </a:solidFill>
              </a:rPr>
              <a:t>4.</a:t>
            </a:r>
            <a:fld id="{669DE52E-05EC-4487-BE79-3F9A6A9F8797}" type="slidenum">
              <a:rPr lang="en-US" altLang="en-US" sz="1000" b="1" smtClean="0">
                <a:solidFill>
                  <a:srgbClr val="002060"/>
                </a:solidFill>
              </a:rPr>
              <a:pPr algn="ctr">
                <a:spcBef>
                  <a:spcPct val="50000"/>
                </a:spcBef>
                <a:defRPr/>
              </a:pPr>
              <a:t>‹#›</a:t>
            </a:fld>
            <a:endParaRPr lang="en-US" altLang="en-US" sz="1000" b="1" dirty="0">
              <a:solidFill>
                <a:srgbClr val="002060"/>
              </a:solidFill>
            </a:endParaRPr>
          </a:p>
        </p:txBody>
      </p:sp>
      <p:sp>
        <p:nvSpPr>
          <p:cNvPr id="512006" name="Rectangle 6">
            <a:extLst>
              <a:ext uri="{FF2B5EF4-FFF2-40B4-BE49-F238E27FC236}">
                <a16:creationId xmlns:a16="http://schemas.microsoft.com/office/drawing/2014/main" id="{BFAC4B4C-D3C2-4A14-871E-CC7D45F0769E}"/>
              </a:ext>
            </a:extLst>
          </p:cNvPr>
          <p:cNvSpPr>
            <a:spLocks noGrp="1" noChangeArrowheads="1"/>
          </p:cNvSpPr>
          <p:nvPr>
            <p:ph type="title"/>
          </p:nvPr>
        </p:nvSpPr>
        <p:spPr bwMode="auto">
          <a:xfrm>
            <a:off x="768350" y="117475"/>
            <a:ext cx="8077200" cy="6096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en-US" dirty="0"/>
              <a:t>Click to edit Master title style</a:t>
            </a:r>
          </a:p>
        </p:txBody>
      </p:sp>
      <p:sp>
        <p:nvSpPr>
          <p:cNvPr id="1031" name="Text Box 7">
            <a:extLst>
              <a:ext uri="{FF2B5EF4-FFF2-40B4-BE49-F238E27FC236}">
                <a16:creationId xmlns:a16="http://schemas.microsoft.com/office/drawing/2014/main" id="{5472E9A1-C06F-4393-872E-7F8100F91627}"/>
              </a:ext>
            </a:extLst>
          </p:cNvPr>
          <p:cNvSpPr txBox="1">
            <a:spLocks noChangeArrowheads="1"/>
          </p:cNvSpPr>
          <p:nvPr/>
        </p:nvSpPr>
        <p:spPr bwMode="auto">
          <a:xfrm>
            <a:off x="0" y="6613525"/>
            <a:ext cx="2571750" cy="244475"/>
          </a:xfrm>
          <a:prstGeom prst="rect">
            <a:avLst/>
          </a:prstGeom>
          <a:noFill/>
          <a:ln>
            <a:noFill/>
          </a:ln>
          <a:extLst>
            <a:ext uri="{909E8E84-426E-40dd-AFC4-6F175D3DCCD1}"/>
            <a:ext uri="{91240B29-F687-4f45-9708-019B960494DF}"/>
          </a:extLst>
        </p:spPr>
        <p:txBody>
          <a:bodyPr wrap="none">
            <a:spAutoFit/>
          </a:bodyPr>
          <a:lstStyle>
            <a:lvl1pPr>
              <a:defRPr sz="1600">
                <a:solidFill>
                  <a:schemeClr val="tx1"/>
                </a:solidFill>
                <a:latin typeface="Helvetica" charset="0"/>
                <a:ea typeface="ＭＳ Ｐゴシック" charset="0"/>
                <a:cs typeface="ＭＳ Ｐゴシック" charset="0"/>
              </a:defRPr>
            </a:lvl1pPr>
            <a:lvl2pPr marL="742950" indent="-285750">
              <a:defRPr sz="1600">
                <a:solidFill>
                  <a:schemeClr val="tx1"/>
                </a:solidFill>
                <a:latin typeface="Helvetica" charset="0"/>
                <a:ea typeface="ＭＳ Ｐゴシック" charset="0"/>
              </a:defRPr>
            </a:lvl2pPr>
            <a:lvl3pPr marL="1143000" indent="-228600">
              <a:defRPr sz="1600">
                <a:solidFill>
                  <a:schemeClr val="tx1"/>
                </a:solidFill>
                <a:latin typeface="Helvetica" charset="0"/>
                <a:ea typeface="ＭＳ Ｐゴシック" charset="0"/>
              </a:defRPr>
            </a:lvl3pPr>
            <a:lvl4pPr marL="1600200" indent="-228600">
              <a:defRPr sz="1600">
                <a:solidFill>
                  <a:schemeClr val="tx1"/>
                </a:solidFill>
                <a:latin typeface="Helvetica" charset="0"/>
                <a:ea typeface="ＭＳ Ｐゴシック" charset="0"/>
              </a:defRPr>
            </a:lvl4pPr>
            <a:lvl5pPr marL="2057400" indent="-228600">
              <a:defRPr sz="1600">
                <a:solidFill>
                  <a:schemeClr val="tx1"/>
                </a:solidFill>
                <a:latin typeface="Helvetica" charset="0"/>
                <a:ea typeface="ＭＳ Ｐゴシック" charset="0"/>
              </a:defRPr>
            </a:lvl5pPr>
            <a:lvl6pPr marL="2514600" indent="-228600" eaLnBrk="0" fontAlgn="base" hangingPunct="0">
              <a:spcBef>
                <a:spcPct val="0"/>
              </a:spcBef>
              <a:spcAft>
                <a:spcPct val="0"/>
              </a:spcAft>
              <a:defRPr sz="1600">
                <a:solidFill>
                  <a:schemeClr val="tx1"/>
                </a:solidFill>
                <a:latin typeface="Helvetica" charset="0"/>
                <a:ea typeface="ＭＳ Ｐゴシック" charset="0"/>
              </a:defRPr>
            </a:lvl6pPr>
            <a:lvl7pPr marL="2971800" indent="-228600" eaLnBrk="0" fontAlgn="base" hangingPunct="0">
              <a:spcBef>
                <a:spcPct val="0"/>
              </a:spcBef>
              <a:spcAft>
                <a:spcPct val="0"/>
              </a:spcAft>
              <a:defRPr sz="1600">
                <a:solidFill>
                  <a:schemeClr val="tx1"/>
                </a:solidFill>
                <a:latin typeface="Helvetica" charset="0"/>
                <a:ea typeface="ＭＳ Ｐゴシック" charset="0"/>
              </a:defRPr>
            </a:lvl7pPr>
            <a:lvl8pPr marL="3429000" indent="-228600" eaLnBrk="0" fontAlgn="base" hangingPunct="0">
              <a:spcBef>
                <a:spcPct val="0"/>
              </a:spcBef>
              <a:spcAft>
                <a:spcPct val="0"/>
              </a:spcAft>
              <a:defRPr sz="1600">
                <a:solidFill>
                  <a:schemeClr val="tx1"/>
                </a:solidFill>
                <a:latin typeface="Helvetica" charset="0"/>
                <a:ea typeface="ＭＳ Ｐゴシック" charset="0"/>
              </a:defRPr>
            </a:lvl8pPr>
            <a:lvl9pPr marL="3886200" indent="-228600" eaLnBrk="0" fontAlgn="base" hangingPunct="0">
              <a:spcBef>
                <a:spcPct val="0"/>
              </a:spcBef>
              <a:spcAft>
                <a:spcPct val="0"/>
              </a:spcAft>
              <a:defRPr sz="1600">
                <a:solidFill>
                  <a:schemeClr val="tx1"/>
                </a:solidFill>
                <a:latin typeface="Helvetica" charset="0"/>
                <a:ea typeface="ＭＳ Ｐゴシック" charset="0"/>
              </a:defRPr>
            </a:lvl9pPr>
          </a:lstStyle>
          <a:p>
            <a:pPr>
              <a:spcBef>
                <a:spcPct val="50000"/>
              </a:spcBef>
              <a:defRPr/>
            </a:pPr>
            <a:r>
              <a:rPr lang="en-US" sz="1000" b="1" dirty="0">
                <a:solidFill>
                  <a:srgbClr val="002060"/>
                </a:solidFill>
              </a:rPr>
              <a:t>Database System Concepts - 7</a:t>
            </a:r>
            <a:r>
              <a:rPr lang="en-US" sz="1000" b="1" baseline="30000" dirty="0">
                <a:solidFill>
                  <a:srgbClr val="002060"/>
                </a:solidFill>
              </a:rPr>
              <a:t>th</a:t>
            </a:r>
            <a:r>
              <a:rPr lang="en-US" sz="1000" b="1" dirty="0">
                <a:solidFill>
                  <a:srgbClr val="002060"/>
                </a:solidFill>
              </a:rPr>
              <a:t> Edition</a:t>
            </a:r>
          </a:p>
        </p:txBody>
      </p:sp>
      <p:sp>
        <p:nvSpPr>
          <p:cNvPr id="1032" name="Freeform 8">
            <a:extLst>
              <a:ext uri="{FF2B5EF4-FFF2-40B4-BE49-F238E27FC236}">
                <a16:creationId xmlns:a16="http://schemas.microsoft.com/office/drawing/2014/main" id="{0362D880-06BD-4D02-876C-3226AC8E6F10}"/>
              </a:ext>
            </a:extLst>
          </p:cNvPr>
          <p:cNvSpPr>
            <a:spLocks/>
          </p:cNvSpPr>
          <p:nvPr/>
        </p:nvSpPr>
        <p:spPr bwMode="auto">
          <a:xfrm>
            <a:off x="8916988" y="5445125"/>
            <a:ext cx="227012" cy="47625"/>
          </a:xfrm>
          <a:custGeom>
            <a:avLst/>
            <a:gdLst>
              <a:gd name="T0" fmla="*/ 0 w 285"/>
              <a:gd name="T1" fmla="*/ 2147483646 h 61"/>
              <a:gd name="T2" fmla="*/ 2147483646 w 285"/>
              <a:gd name="T3" fmla="*/ 2147483646 h 61"/>
              <a:gd name="T4" fmla="*/ 2147483646 w 285"/>
              <a:gd name="T5" fmla="*/ 2147483646 h 61"/>
              <a:gd name="T6" fmla="*/ 2147483646 w 285"/>
              <a:gd name="T7" fmla="*/ 2147483646 h 61"/>
              <a:gd name="T8" fmla="*/ 2147483646 w 285"/>
              <a:gd name="T9" fmla="*/ 2147483646 h 61"/>
              <a:gd name="T10" fmla="*/ 2147483646 w 285"/>
              <a:gd name="T11" fmla="*/ 2147483646 h 61"/>
              <a:gd name="T12" fmla="*/ 2147483646 w 285"/>
              <a:gd name="T13" fmla="*/ 2147483646 h 61"/>
              <a:gd name="T14" fmla="*/ 2147483646 w 285"/>
              <a:gd name="T15" fmla="*/ 2147483646 h 61"/>
              <a:gd name="T16" fmla="*/ 2147483646 w 285"/>
              <a:gd name="T17" fmla="*/ 0 h 61"/>
              <a:gd name="T18" fmla="*/ 2147483646 w 285"/>
              <a:gd name="T19" fmla="*/ 0 h 61"/>
              <a:gd name="T20" fmla="*/ 2147483646 w 285"/>
              <a:gd name="T21" fmla="*/ 0 h 61"/>
              <a:gd name="T22" fmla="*/ 2147483646 w 285"/>
              <a:gd name="T23" fmla="*/ 0 h 61"/>
              <a:gd name="T24" fmla="*/ 2147483646 w 285"/>
              <a:gd name="T25" fmla="*/ 2147483646 h 61"/>
              <a:gd name="T26" fmla="*/ 2147483646 w 285"/>
              <a:gd name="T27" fmla="*/ 2147483646 h 61"/>
              <a:gd name="T28" fmla="*/ 2147483646 w 285"/>
              <a:gd name="T29" fmla="*/ 2147483646 h 61"/>
              <a:gd name="T30" fmla="*/ 2147483646 w 285"/>
              <a:gd name="T31" fmla="*/ 2147483646 h 61"/>
              <a:gd name="T32" fmla="*/ 2147483646 w 285"/>
              <a:gd name="T33" fmla="*/ 2147483646 h 61"/>
              <a:gd name="T34" fmla="*/ 2147483646 w 285"/>
              <a:gd name="T35" fmla="*/ 2147483646 h 61"/>
              <a:gd name="T36" fmla="*/ 2147483646 w 285"/>
              <a:gd name="T37" fmla="*/ 2147483646 h 61"/>
              <a:gd name="T38" fmla="*/ 2147483646 w 285"/>
              <a:gd name="T39" fmla="*/ 2147483646 h 61"/>
              <a:gd name="T40" fmla="*/ 2147483646 w 285"/>
              <a:gd name="T41" fmla="*/ 2147483646 h 61"/>
              <a:gd name="T42" fmla="*/ 2147483646 w 285"/>
              <a:gd name="T43" fmla="*/ 2147483646 h 61"/>
              <a:gd name="T44" fmla="*/ 2147483646 w 285"/>
              <a:gd name="T45" fmla="*/ 2147483646 h 61"/>
              <a:gd name="T46" fmla="*/ 2147483646 w 285"/>
              <a:gd name="T47" fmla="*/ 2147483646 h 61"/>
              <a:gd name="T48" fmla="*/ 2147483646 w 285"/>
              <a:gd name="T49" fmla="*/ 2147483646 h 61"/>
              <a:gd name="T50" fmla="*/ 2147483646 w 285"/>
              <a:gd name="T51" fmla="*/ 2147483646 h 61"/>
              <a:gd name="T52" fmla="*/ 2147483646 w 285"/>
              <a:gd name="T53" fmla="*/ 2147483646 h 61"/>
              <a:gd name="T54" fmla="*/ 2147483646 w 285"/>
              <a:gd name="T55" fmla="*/ 2147483646 h 61"/>
              <a:gd name="T56" fmla="*/ 2147483646 w 285"/>
              <a:gd name="T57" fmla="*/ 2147483646 h 61"/>
              <a:gd name="T58" fmla="*/ 2147483646 w 285"/>
              <a:gd name="T59" fmla="*/ 2147483646 h 61"/>
              <a:gd name="T60" fmla="*/ 2147483646 w 285"/>
              <a:gd name="T61" fmla="*/ 2147483646 h 61"/>
              <a:gd name="T62" fmla="*/ 2147483646 w 285"/>
              <a:gd name="T63" fmla="*/ 2147483646 h 61"/>
              <a:gd name="T64" fmla="*/ 2147483646 w 285"/>
              <a:gd name="T65" fmla="*/ 2147483646 h 61"/>
              <a:gd name="T66" fmla="*/ 2147483646 w 285"/>
              <a:gd name="T67" fmla="*/ 2147483646 h 61"/>
              <a:gd name="T68" fmla="*/ 2147483646 w 285"/>
              <a:gd name="T69" fmla="*/ 2147483646 h 61"/>
              <a:gd name="T70" fmla="*/ 2147483646 w 285"/>
              <a:gd name="T71" fmla="*/ 2147483646 h 61"/>
              <a:gd name="T72" fmla="*/ 2147483646 w 285"/>
              <a:gd name="T73" fmla="*/ 2147483646 h 61"/>
              <a:gd name="T74" fmla="*/ 2147483646 w 285"/>
              <a:gd name="T75" fmla="*/ 2147483646 h 61"/>
              <a:gd name="T76" fmla="*/ 2147483646 w 285"/>
              <a:gd name="T77" fmla="*/ 2147483646 h 61"/>
              <a:gd name="T78" fmla="*/ 2147483646 w 285"/>
              <a:gd name="T79" fmla="*/ 2147483646 h 61"/>
              <a:gd name="T80" fmla="*/ 2147483646 w 285"/>
              <a:gd name="T81" fmla="*/ 2147483646 h 61"/>
              <a:gd name="T82" fmla="*/ 2147483646 w 285"/>
              <a:gd name="T83" fmla="*/ 2147483646 h 61"/>
              <a:gd name="T84" fmla="*/ 2147483646 w 285"/>
              <a:gd name="T85" fmla="*/ 2147483646 h 61"/>
              <a:gd name="T86" fmla="*/ 2147483646 w 285"/>
              <a:gd name="T87" fmla="*/ 2147483646 h 61"/>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285" h="61">
                <a:moveTo>
                  <a:pt x="2" y="61"/>
                </a:moveTo>
                <a:lnTo>
                  <a:pt x="0" y="59"/>
                </a:lnTo>
                <a:lnTo>
                  <a:pt x="0" y="55"/>
                </a:lnTo>
                <a:lnTo>
                  <a:pt x="2" y="48"/>
                </a:lnTo>
                <a:lnTo>
                  <a:pt x="5" y="40"/>
                </a:lnTo>
                <a:lnTo>
                  <a:pt x="9" y="34"/>
                </a:lnTo>
                <a:lnTo>
                  <a:pt x="13" y="31"/>
                </a:lnTo>
                <a:lnTo>
                  <a:pt x="17" y="25"/>
                </a:lnTo>
                <a:lnTo>
                  <a:pt x="24" y="21"/>
                </a:lnTo>
                <a:lnTo>
                  <a:pt x="30" y="17"/>
                </a:lnTo>
                <a:lnTo>
                  <a:pt x="40" y="13"/>
                </a:lnTo>
                <a:lnTo>
                  <a:pt x="45" y="10"/>
                </a:lnTo>
                <a:lnTo>
                  <a:pt x="51" y="8"/>
                </a:lnTo>
                <a:lnTo>
                  <a:pt x="57" y="6"/>
                </a:lnTo>
                <a:lnTo>
                  <a:pt x="64" y="6"/>
                </a:lnTo>
                <a:lnTo>
                  <a:pt x="70" y="2"/>
                </a:lnTo>
                <a:lnTo>
                  <a:pt x="78" y="2"/>
                </a:lnTo>
                <a:lnTo>
                  <a:pt x="85" y="0"/>
                </a:lnTo>
                <a:lnTo>
                  <a:pt x="93" y="0"/>
                </a:lnTo>
                <a:lnTo>
                  <a:pt x="100" y="0"/>
                </a:lnTo>
                <a:lnTo>
                  <a:pt x="110" y="0"/>
                </a:lnTo>
                <a:lnTo>
                  <a:pt x="118" y="0"/>
                </a:lnTo>
                <a:lnTo>
                  <a:pt x="129" y="0"/>
                </a:lnTo>
                <a:lnTo>
                  <a:pt x="137" y="0"/>
                </a:lnTo>
                <a:lnTo>
                  <a:pt x="146" y="2"/>
                </a:lnTo>
                <a:lnTo>
                  <a:pt x="154" y="2"/>
                </a:lnTo>
                <a:lnTo>
                  <a:pt x="163" y="4"/>
                </a:lnTo>
                <a:lnTo>
                  <a:pt x="173" y="6"/>
                </a:lnTo>
                <a:lnTo>
                  <a:pt x="182" y="8"/>
                </a:lnTo>
                <a:lnTo>
                  <a:pt x="192" y="8"/>
                </a:lnTo>
                <a:lnTo>
                  <a:pt x="201" y="12"/>
                </a:lnTo>
                <a:lnTo>
                  <a:pt x="209" y="12"/>
                </a:lnTo>
                <a:lnTo>
                  <a:pt x="216" y="13"/>
                </a:lnTo>
                <a:lnTo>
                  <a:pt x="224" y="15"/>
                </a:lnTo>
                <a:lnTo>
                  <a:pt x="234" y="17"/>
                </a:lnTo>
                <a:lnTo>
                  <a:pt x="239" y="19"/>
                </a:lnTo>
                <a:lnTo>
                  <a:pt x="247" y="21"/>
                </a:lnTo>
                <a:lnTo>
                  <a:pt x="254" y="23"/>
                </a:lnTo>
                <a:lnTo>
                  <a:pt x="260" y="25"/>
                </a:lnTo>
                <a:lnTo>
                  <a:pt x="266" y="25"/>
                </a:lnTo>
                <a:lnTo>
                  <a:pt x="270" y="27"/>
                </a:lnTo>
                <a:lnTo>
                  <a:pt x="273" y="27"/>
                </a:lnTo>
                <a:lnTo>
                  <a:pt x="279" y="29"/>
                </a:lnTo>
                <a:lnTo>
                  <a:pt x="283" y="31"/>
                </a:lnTo>
                <a:lnTo>
                  <a:pt x="285" y="32"/>
                </a:lnTo>
                <a:lnTo>
                  <a:pt x="279" y="44"/>
                </a:lnTo>
                <a:lnTo>
                  <a:pt x="277" y="44"/>
                </a:lnTo>
                <a:lnTo>
                  <a:pt x="273" y="42"/>
                </a:lnTo>
                <a:lnTo>
                  <a:pt x="268" y="42"/>
                </a:lnTo>
                <a:lnTo>
                  <a:pt x="260" y="40"/>
                </a:lnTo>
                <a:lnTo>
                  <a:pt x="251" y="38"/>
                </a:lnTo>
                <a:lnTo>
                  <a:pt x="241" y="36"/>
                </a:lnTo>
                <a:lnTo>
                  <a:pt x="235" y="34"/>
                </a:lnTo>
                <a:lnTo>
                  <a:pt x="230" y="34"/>
                </a:lnTo>
                <a:lnTo>
                  <a:pt x="224" y="32"/>
                </a:lnTo>
                <a:lnTo>
                  <a:pt x="218" y="32"/>
                </a:lnTo>
                <a:lnTo>
                  <a:pt x="213" y="31"/>
                </a:lnTo>
                <a:lnTo>
                  <a:pt x="207" y="31"/>
                </a:lnTo>
                <a:lnTo>
                  <a:pt x="201" y="29"/>
                </a:lnTo>
                <a:lnTo>
                  <a:pt x="196" y="29"/>
                </a:lnTo>
                <a:lnTo>
                  <a:pt x="190" y="27"/>
                </a:lnTo>
                <a:lnTo>
                  <a:pt x="182" y="27"/>
                </a:lnTo>
                <a:lnTo>
                  <a:pt x="178" y="25"/>
                </a:lnTo>
                <a:lnTo>
                  <a:pt x="173" y="25"/>
                </a:lnTo>
                <a:lnTo>
                  <a:pt x="167" y="23"/>
                </a:lnTo>
                <a:lnTo>
                  <a:pt x="163" y="23"/>
                </a:lnTo>
                <a:lnTo>
                  <a:pt x="158" y="21"/>
                </a:lnTo>
                <a:lnTo>
                  <a:pt x="154" y="21"/>
                </a:lnTo>
                <a:lnTo>
                  <a:pt x="148" y="19"/>
                </a:lnTo>
                <a:lnTo>
                  <a:pt x="142" y="19"/>
                </a:lnTo>
                <a:lnTo>
                  <a:pt x="144" y="48"/>
                </a:lnTo>
                <a:lnTo>
                  <a:pt x="110" y="15"/>
                </a:lnTo>
                <a:lnTo>
                  <a:pt x="118" y="48"/>
                </a:lnTo>
                <a:lnTo>
                  <a:pt x="83" y="21"/>
                </a:lnTo>
                <a:lnTo>
                  <a:pt x="91" y="48"/>
                </a:lnTo>
                <a:lnTo>
                  <a:pt x="59" y="29"/>
                </a:lnTo>
                <a:lnTo>
                  <a:pt x="57" y="29"/>
                </a:lnTo>
                <a:lnTo>
                  <a:pt x="53" y="31"/>
                </a:lnTo>
                <a:lnTo>
                  <a:pt x="49" y="31"/>
                </a:lnTo>
                <a:lnTo>
                  <a:pt x="43" y="34"/>
                </a:lnTo>
                <a:lnTo>
                  <a:pt x="38" y="36"/>
                </a:lnTo>
                <a:lnTo>
                  <a:pt x="32" y="38"/>
                </a:lnTo>
                <a:lnTo>
                  <a:pt x="26" y="42"/>
                </a:lnTo>
                <a:lnTo>
                  <a:pt x="23" y="44"/>
                </a:lnTo>
                <a:lnTo>
                  <a:pt x="15" y="50"/>
                </a:lnTo>
                <a:lnTo>
                  <a:pt x="7" y="55"/>
                </a:lnTo>
                <a:lnTo>
                  <a:pt x="4" y="59"/>
                </a:lnTo>
                <a:lnTo>
                  <a:pt x="2" y="6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pic>
        <p:nvPicPr>
          <p:cNvPr id="10" name="Picture 8" descr="Cover-6Ed"/>
          <p:cNvPicPr>
            <a:picLocks noChangeAspect="1" noChangeArrowheads="1"/>
          </p:cNvPicPr>
          <p:nvPr userDrawn="1"/>
        </p:nvPicPr>
        <p:blipFill>
          <a:blip r:embed="rId14"/>
          <a:stretch>
            <a:fillRect/>
          </a:stretch>
        </p:blipFill>
        <p:spPr bwMode="auto">
          <a:xfrm>
            <a:off x="5546" y="0"/>
            <a:ext cx="742012" cy="9476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761" r:id="rId1"/>
    <p:sldLayoutId id="2147483750" r:id="rId2"/>
    <p:sldLayoutId id="2147483751" r:id="rId3"/>
    <p:sldLayoutId id="2147483752" r:id="rId4"/>
    <p:sldLayoutId id="2147483753" r:id="rId5"/>
    <p:sldLayoutId id="2147483754" r:id="rId6"/>
    <p:sldLayoutId id="2147483755" r:id="rId7"/>
    <p:sldLayoutId id="2147483756" r:id="rId8"/>
    <p:sldLayoutId id="2147483757" r:id="rId9"/>
    <p:sldLayoutId id="2147483758" r:id="rId10"/>
    <p:sldLayoutId id="2147483759" r:id="rId11"/>
    <p:sldLayoutId id="2147483760" r:id="rId12"/>
  </p:sldLayoutIdLst>
  <p:txStyles>
    <p:titleStyle>
      <a:lvl1pPr algn="ctr" rtl="0" eaLnBrk="0" fontAlgn="base" hangingPunct="0">
        <a:spcBef>
          <a:spcPct val="0"/>
        </a:spcBef>
        <a:spcAft>
          <a:spcPct val="0"/>
        </a:spcAft>
        <a:defRPr kumimoji="1" sz="2800" b="1">
          <a:solidFill>
            <a:srgbClr val="002060"/>
          </a:solidFill>
          <a:effectLst>
            <a:outerShdw blurRad="38100" dist="38100" dir="2700000" algn="tl">
              <a:srgbClr val="DDDDDD"/>
            </a:outerShdw>
          </a:effectLst>
          <a:latin typeface="+mj-lt"/>
          <a:ea typeface="MS PGothic" panose="020B0600070205080204" pitchFamily="34" charset="-128"/>
          <a:cs typeface="ＭＳ Ｐゴシック" charset="0"/>
        </a:defRPr>
      </a:lvl1pPr>
      <a:lvl2pPr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ea typeface="MS PGothic" panose="020B0600070205080204" pitchFamily="34" charset="-128"/>
          <a:cs typeface="ＭＳ Ｐゴシック" charset="0"/>
        </a:defRPr>
      </a:lvl2pPr>
      <a:lvl3pPr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ea typeface="MS PGothic" panose="020B0600070205080204" pitchFamily="34" charset="-128"/>
          <a:cs typeface="ＭＳ Ｐゴシック" charset="0"/>
        </a:defRPr>
      </a:lvl3pPr>
      <a:lvl4pPr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ea typeface="MS PGothic" panose="020B0600070205080204" pitchFamily="34" charset="-128"/>
          <a:cs typeface="ＭＳ Ｐゴシック" charset="0"/>
        </a:defRPr>
      </a:lvl4pPr>
      <a:lvl5pPr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ea typeface="MS PGothic" panose="020B0600070205080204" pitchFamily="34" charset="-128"/>
          <a:cs typeface="ＭＳ Ｐゴシック" charset="0"/>
        </a:defRPr>
      </a:lvl5pPr>
      <a:lvl6pPr marL="457200"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defRPr>
      </a:lvl6pPr>
      <a:lvl7pPr marL="914400"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defRPr>
      </a:lvl7pPr>
      <a:lvl8pPr marL="1371600"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defRPr>
      </a:lvl8pPr>
      <a:lvl9pPr marL="1828800"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defRPr>
      </a:lvl9pPr>
    </p:titleStyle>
    <p:bodyStyle>
      <a:lvl1pPr marL="342900" indent="-342900" algn="l" rtl="0" eaLnBrk="0" fontAlgn="base" hangingPunct="0">
        <a:spcBef>
          <a:spcPct val="35000"/>
        </a:spcBef>
        <a:spcAft>
          <a:spcPct val="0"/>
        </a:spcAft>
        <a:buClr>
          <a:srgbClr val="002060"/>
        </a:buClr>
        <a:buSzPct val="100000"/>
        <a:buFont typeface="Monotype Sorts" pitchFamily="-65" charset="2"/>
        <a:buChar char="n"/>
        <a:defRPr kumimoji="1" sz="1700">
          <a:solidFill>
            <a:schemeClr val="tx1"/>
          </a:solidFill>
          <a:latin typeface="+mn-lt"/>
          <a:ea typeface="MS PGothic" panose="020B0600070205080204" pitchFamily="34" charset="-128"/>
          <a:cs typeface="ＭＳ Ｐゴシック" charset="0"/>
        </a:defRPr>
      </a:lvl1pPr>
      <a:lvl2pPr marL="742950" indent="-285750" algn="l" rtl="0" eaLnBrk="0" fontAlgn="base" hangingPunct="0">
        <a:spcBef>
          <a:spcPct val="35000"/>
        </a:spcBef>
        <a:spcAft>
          <a:spcPct val="0"/>
        </a:spcAft>
        <a:buClr>
          <a:schemeClr val="folHlink"/>
        </a:buClr>
        <a:buSzPct val="95000"/>
        <a:buFont typeface="Monotype Sorts" pitchFamily="-65" charset="2"/>
        <a:buChar char="l"/>
        <a:defRPr kumimoji="1" sz="17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33CC33"/>
        </a:buClr>
        <a:buSzPct val="85000"/>
        <a:buFont typeface="Webdings" panose="05030102010509060703" pitchFamily="18" charset="2"/>
        <a:buChar char="4"/>
        <a:defRPr kumimoji="1" sz="17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Font typeface="Times New Roman" panose="02020603050405020304" pitchFamily="18" charset="0"/>
        <a:buChar char="–"/>
        <a:defRPr kumimoji="1" sz="17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chemeClr val="tx2"/>
        </a:buClr>
        <a:buSzPct val="75000"/>
        <a:buChar char="»"/>
        <a:defRPr kumimoji="1" sz="1700">
          <a:solidFill>
            <a:schemeClr val="tx1"/>
          </a:solidFill>
          <a:latin typeface="+mn-lt"/>
          <a:ea typeface="MS PGothic" panose="020B0600070205080204" pitchFamily="34" charset="-128"/>
        </a:defRPr>
      </a:lvl5pPr>
      <a:lvl6pPr marL="2228850" indent="-228600" algn="l" rtl="0" eaLnBrk="0" fontAlgn="base" hangingPunct="0">
        <a:spcBef>
          <a:spcPct val="35000"/>
        </a:spcBef>
        <a:spcAft>
          <a:spcPct val="0"/>
        </a:spcAft>
        <a:buClr>
          <a:schemeClr val="tx2"/>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chemeClr val="tx2"/>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chemeClr val="tx2"/>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chemeClr val="tx2"/>
        </a:buClr>
        <a:buSzPct val="75000"/>
        <a:buChar char="»"/>
        <a:defRPr kumimoji="1">
          <a:solidFill>
            <a:schemeClr val="tx1"/>
          </a:solidFill>
          <a:latin typeface="+mn-lt"/>
          <a:ea typeface="ＭＳ Ｐゴシック"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8242" name="Rectangle 2"/>
          <p:cNvSpPr>
            <a:spLocks noGrp="1" noChangeArrowheads="1"/>
          </p:cNvSpPr>
          <p:nvPr>
            <p:ph type="ctrTitle"/>
          </p:nvPr>
        </p:nvSpPr>
        <p:spPr/>
        <p:txBody>
          <a:bodyPr/>
          <a:lstStyle/>
          <a:p>
            <a:pPr>
              <a:defRPr/>
            </a:pPr>
            <a:r>
              <a:rPr lang="en-US" dirty="0">
                <a:effectLst>
                  <a:outerShdw blurRad="38100" dist="38100" dir="2700000" algn="tl">
                    <a:srgbClr val="C0C0C0"/>
                  </a:outerShdw>
                </a:effectLst>
              </a:rPr>
              <a:t>Chapter 4 : </a:t>
            </a:r>
            <a:r>
              <a:rPr lang="en-US" dirty="0"/>
              <a:t>Intermediate SQL</a:t>
            </a:r>
            <a:endParaRPr lang="en-US" dirty="0">
              <a:effectLst>
                <a:outerShdw blurRad="38100" dist="38100" dir="2700000" algn="tl">
                  <a:srgbClr val="C0C0C0"/>
                </a:outerShdw>
              </a:effectLs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11298" name="Rectangle 2"/>
          <p:cNvSpPr>
            <a:spLocks noGrp="1" noChangeArrowheads="1"/>
          </p:cNvSpPr>
          <p:nvPr>
            <p:ph type="title"/>
          </p:nvPr>
        </p:nvSpPr>
        <p:spPr/>
        <p:txBody>
          <a:bodyPr lIns="90488" tIns="44450" rIns="90488" bIns="44450" anchor="ctr"/>
          <a:lstStyle/>
          <a:p>
            <a:pPr>
              <a:defRPr/>
            </a:pPr>
            <a:r>
              <a:rPr lang="en-US" sz="2800" dirty="0">
                <a:ea typeface="+mj-ea"/>
              </a:rPr>
              <a:t>Outline</a:t>
            </a:r>
          </a:p>
        </p:txBody>
      </p:sp>
      <p:sp>
        <p:nvSpPr>
          <p:cNvPr id="17411" name="Rectangle 3"/>
          <p:cNvSpPr>
            <a:spLocks noGrp="1" noChangeArrowheads="1"/>
          </p:cNvSpPr>
          <p:nvPr>
            <p:ph type="body" idx="1"/>
          </p:nvPr>
        </p:nvSpPr>
        <p:spPr>
          <a:xfrm>
            <a:off x="768351" y="1104900"/>
            <a:ext cx="6587800" cy="4135840"/>
          </a:xfrm>
          <a:noFill/>
        </p:spPr>
        <p:txBody>
          <a:bodyPr lIns="90488" tIns="44450" rIns="90488" bIns="44450"/>
          <a:lstStyle/>
          <a:p>
            <a:r>
              <a:rPr lang="en-US" altLang="en-US" sz="1700" dirty="0" smtClean="0"/>
              <a:t>Views</a:t>
            </a:r>
            <a:endParaRPr lang="en-US" altLang="en-US" sz="1700" dirty="0"/>
          </a:p>
          <a:p>
            <a:r>
              <a:rPr lang="en-US" altLang="en-US" sz="1700" dirty="0" smtClean="0"/>
              <a:t>Index </a:t>
            </a:r>
            <a:r>
              <a:rPr lang="en-US" altLang="en-US" sz="1700" dirty="0"/>
              <a:t>Definition in SQL</a:t>
            </a:r>
          </a:p>
          <a:p>
            <a:pPr marL="0" indent="0">
              <a:buNone/>
            </a:pPr>
            <a:endParaRPr lang="en-US" altLang="en-US" sz="1700" dirty="0"/>
          </a:p>
        </p:txBody>
      </p:sp>
    </p:spTree>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31778" name="Rectangle 2"/>
          <p:cNvSpPr>
            <a:spLocks noGrp="1" noChangeArrowheads="1"/>
          </p:cNvSpPr>
          <p:nvPr>
            <p:ph type="title"/>
          </p:nvPr>
        </p:nvSpPr>
        <p:spPr/>
        <p:txBody>
          <a:bodyPr/>
          <a:lstStyle/>
          <a:p>
            <a:pPr>
              <a:defRPr/>
            </a:pPr>
            <a:r>
              <a:rPr lang="en-US" sz="2800" dirty="0">
                <a:ea typeface="+mj-ea"/>
              </a:rPr>
              <a:t>Views</a:t>
            </a:r>
          </a:p>
        </p:txBody>
      </p:sp>
      <p:sp>
        <p:nvSpPr>
          <p:cNvPr id="37891" name="Rectangle 3"/>
          <p:cNvSpPr>
            <a:spLocks noGrp="1" noChangeArrowheads="1"/>
          </p:cNvSpPr>
          <p:nvPr>
            <p:ph type="body" idx="1"/>
          </p:nvPr>
        </p:nvSpPr>
        <p:spPr>
          <a:xfrm>
            <a:off x="768351" y="1106488"/>
            <a:ext cx="7583170" cy="4937125"/>
          </a:xfrm>
        </p:spPr>
        <p:txBody>
          <a:bodyPr/>
          <a:lstStyle/>
          <a:p>
            <a:pPr>
              <a:tabLst>
                <a:tab pos="3205163" algn="ctr"/>
              </a:tabLst>
            </a:pPr>
            <a:r>
              <a:rPr lang="en-US" altLang="en-US" sz="1700" dirty="0"/>
              <a:t>In some cases, it is not desirable for all users to see the entire logical model (that is, all the actual relations stored in the database.)</a:t>
            </a:r>
          </a:p>
          <a:p>
            <a:pPr>
              <a:tabLst>
                <a:tab pos="3205163" algn="ctr"/>
              </a:tabLst>
            </a:pPr>
            <a:r>
              <a:rPr lang="en-US" altLang="en-US" sz="1700" dirty="0"/>
              <a:t>Consider a person who needs to know an instructors name and department, but not the salary.  This person should see a relation described, in SQL, by </a:t>
            </a:r>
            <a:br>
              <a:rPr lang="en-US" altLang="en-US" sz="1700" dirty="0"/>
            </a:br>
            <a:r>
              <a:rPr lang="en-US" altLang="en-US" sz="1700" dirty="0"/>
              <a:t>		</a:t>
            </a:r>
            <a:r>
              <a:rPr kumimoji="0" lang="en-US" altLang="en-US" sz="1700" b="1" dirty="0"/>
              <a:t/>
            </a:r>
            <a:br>
              <a:rPr kumimoji="0" lang="en-US" altLang="en-US" sz="1700" b="1" dirty="0"/>
            </a:br>
            <a:r>
              <a:rPr kumimoji="0" lang="en-US" altLang="en-US" sz="1700" b="1" dirty="0"/>
              <a:t>             select </a:t>
            </a:r>
            <a:r>
              <a:rPr kumimoji="0" lang="en-US" altLang="en-US" sz="1700" i="1" dirty="0"/>
              <a:t>ID</a:t>
            </a:r>
            <a:r>
              <a:rPr kumimoji="0" lang="en-US" altLang="en-US" sz="1700" dirty="0"/>
              <a:t>, </a:t>
            </a:r>
            <a:r>
              <a:rPr kumimoji="0" lang="en-US" altLang="en-US" sz="1700" i="1" dirty="0"/>
              <a:t>name</a:t>
            </a:r>
            <a:r>
              <a:rPr kumimoji="0" lang="en-US" altLang="en-US" sz="1700" dirty="0"/>
              <a:t>, </a:t>
            </a:r>
            <a:r>
              <a:rPr kumimoji="0" lang="en-US" altLang="en-US" sz="1700" i="1" dirty="0" err="1"/>
              <a:t>dept_name</a:t>
            </a:r>
            <a:r>
              <a:rPr kumimoji="0" lang="en-US" altLang="en-US" sz="1700" i="1" dirty="0"/>
              <a:t/>
            </a:r>
            <a:br>
              <a:rPr kumimoji="0" lang="en-US" altLang="en-US" sz="1700" i="1" dirty="0"/>
            </a:br>
            <a:r>
              <a:rPr kumimoji="0" lang="en-US" altLang="en-US" sz="1700" i="1" dirty="0"/>
              <a:t>             </a:t>
            </a:r>
            <a:r>
              <a:rPr kumimoji="0" lang="en-US" altLang="en-US" sz="1700" b="1" dirty="0"/>
              <a:t>from </a:t>
            </a:r>
            <a:r>
              <a:rPr kumimoji="0" lang="en-US" altLang="en-US" sz="1700" i="1" dirty="0"/>
              <a:t>instructor</a:t>
            </a:r>
            <a:endParaRPr kumimoji="0" lang="en-US" altLang="en-US" sz="1700" dirty="0"/>
          </a:p>
          <a:p>
            <a:pPr>
              <a:buFont typeface="Monotype Sorts" charset="2"/>
              <a:buNone/>
              <a:tabLst>
                <a:tab pos="3205163" algn="ctr"/>
              </a:tabLst>
            </a:pPr>
            <a:r>
              <a:rPr lang="en-US" altLang="en-US" sz="800" dirty="0">
                <a:sym typeface="Symbol" panose="05050102010706020507" pitchFamily="18" charset="2"/>
              </a:rPr>
              <a:t> </a:t>
            </a:r>
          </a:p>
          <a:p>
            <a:pPr>
              <a:tabLst>
                <a:tab pos="3205163" algn="ctr"/>
              </a:tabLst>
            </a:pPr>
            <a:r>
              <a:rPr lang="en-US" altLang="en-US" sz="1700" dirty="0"/>
              <a:t>A </a:t>
            </a:r>
            <a:r>
              <a:rPr lang="en-US" altLang="en-US" sz="1700" b="1" dirty="0">
                <a:solidFill>
                  <a:srgbClr val="002060"/>
                </a:solidFill>
              </a:rPr>
              <a:t>view</a:t>
            </a:r>
            <a:r>
              <a:rPr lang="en-US" altLang="en-US" sz="1700" dirty="0"/>
              <a:t> provides a mechanism to hide certain data from the view of certain users. </a:t>
            </a:r>
          </a:p>
          <a:p>
            <a:pPr>
              <a:tabLst>
                <a:tab pos="3205163" algn="ctr"/>
              </a:tabLst>
            </a:pPr>
            <a:r>
              <a:rPr lang="en-US" altLang="en-US" sz="1700" dirty="0"/>
              <a:t>Any relation that is not of the conceptual model but is made visible to a user as a “virtual relation” is called a </a:t>
            </a:r>
            <a:r>
              <a:rPr lang="en-US" altLang="en-US" sz="1700" b="1" dirty="0">
                <a:solidFill>
                  <a:srgbClr val="002060"/>
                </a:solidFill>
              </a:rPr>
              <a:t>view</a:t>
            </a:r>
            <a:r>
              <a:rPr lang="en-US" altLang="en-US" sz="1700" dirty="0"/>
              <a:t>.</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33826" name="Rectangle 2"/>
          <p:cNvSpPr>
            <a:spLocks noGrp="1" noChangeArrowheads="1"/>
          </p:cNvSpPr>
          <p:nvPr>
            <p:ph type="title"/>
          </p:nvPr>
        </p:nvSpPr>
        <p:spPr/>
        <p:txBody>
          <a:bodyPr/>
          <a:lstStyle/>
          <a:p>
            <a:pPr>
              <a:defRPr/>
            </a:pPr>
            <a:r>
              <a:rPr lang="en-US" sz="2800" dirty="0">
                <a:ea typeface="+mj-ea"/>
              </a:rPr>
              <a:t>View Definition</a:t>
            </a:r>
          </a:p>
        </p:txBody>
      </p:sp>
      <p:sp>
        <p:nvSpPr>
          <p:cNvPr id="39939" name="Rectangle 3"/>
          <p:cNvSpPr>
            <a:spLocks noGrp="1" noChangeArrowheads="1"/>
          </p:cNvSpPr>
          <p:nvPr>
            <p:ph type="body" idx="1"/>
          </p:nvPr>
        </p:nvSpPr>
        <p:spPr>
          <a:xfrm>
            <a:off x="768350" y="1069405"/>
            <a:ext cx="7497827" cy="4307268"/>
          </a:xfrm>
        </p:spPr>
        <p:txBody>
          <a:bodyPr/>
          <a:lstStyle/>
          <a:p>
            <a:pPr>
              <a:tabLst>
                <a:tab pos="3432175" algn="ctr"/>
              </a:tabLst>
            </a:pPr>
            <a:r>
              <a:rPr lang="en-US" altLang="en-US" sz="1700" dirty="0"/>
              <a:t>A view is defined using the </a:t>
            </a:r>
            <a:r>
              <a:rPr lang="en-US" altLang="en-US" sz="1700" b="1" dirty="0"/>
              <a:t>create view </a:t>
            </a:r>
            <a:r>
              <a:rPr lang="en-US" altLang="en-US" sz="1700" dirty="0"/>
              <a:t>statement which has the form</a:t>
            </a:r>
          </a:p>
          <a:p>
            <a:pPr>
              <a:lnSpc>
                <a:spcPct val="40000"/>
              </a:lnSpc>
              <a:tabLst>
                <a:tab pos="3432175" algn="ctr"/>
              </a:tabLst>
            </a:pPr>
            <a:endParaRPr lang="en-US" altLang="en-US" sz="1700" dirty="0"/>
          </a:p>
          <a:p>
            <a:pPr>
              <a:lnSpc>
                <a:spcPct val="40000"/>
              </a:lnSpc>
              <a:buFont typeface="Monotype Sorts" charset="2"/>
              <a:buNone/>
              <a:tabLst>
                <a:tab pos="3432175" algn="ctr"/>
              </a:tabLst>
            </a:pPr>
            <a:r>
              <a:rPr lang="en-US" altLang="en-US" sz="1700" dirty="0"/>
              <a:t>		</a:t>
            </a:r>
            <a:r>
              <a:rPr lang="en-US" altLang="en-US" sz="1700" b="1" dirty="0"/>
              <a:t>create view </a:t>
            </a:r>
            <a:r>
              <a:rPr lang="en-US" altLang="en-US" sz="1700" i="1" dirty="0">
                <a:solidFill>
                  <a:srgbClr val="002060"/>
                </a:solidFill>
              </a:rPr>
              <a:t>v</a:t>
            </a:r>
            <a:r>
              <a:rPr lang="en-US" altLang="en-US" sz="1700" i="1" dirty="0">
                <a:solidFill>
                  <a:srgbClr val="000099"/>
                </a:solidFill>
              </a:rPr>
              <a:t> </a:t>
            </a:r>
            <a:r>
              <a:rPr lang="en-US" altLang="en-US" sz="1700" b="1" dirty="0"/>
              <a:t>as </a:t>
            </a:r>
            <a:r>
              <a:rPr lang="en-US" altLang="en-US" sz="1700" i="1" dirty="0"/>
              <a:t>&lt; </a:t>
            </a:r>
            <a:r>
              <a:rPr lang="en-US" altLang="en-US" sz="1700" dirty="0"/>
              <a:t>query expression &gt;</a:t>
            </a:r>
          </a:p>
          <a:p>
            <a:pPr>
              <a:lnSpc>
                <a:spcPct val="20000"/>
              </a:lnSpc>
              <a:buFont typeface="Monotype Sorts" charset="2"/>
              <a:buNone/>
              <a:tabLst>
                <a:tab pos="3432175" algn="ctr"/>
              </a:tabLst>
            </a:pPr>
            <a:endParaRPr lang="en-US" altLang="en-US" sz="1700" dirty="0"/>
          </a:p>
          <a:p>
            <a:pPr>
              <a:buFont typeface="Monotype Sorts" charset="2"/>
              <a:buNone/>
              <a:tabLst>
                <a:tab pos="3432175" algn="ctr"/>
              </a:tabLst>
            </a:pPr>
            <a:r>
              <a:rPr lang="en-US" altLang="en-US" sz="1700" dirty="0"/>
              <a:t>	where &lt;query expression&gt; is any legal SQL expression.  The view name is represented by </a:t>
            </a:r>
            <a:r>
              <a:rPr lang="en-US" altLang="en-US" sz="1700" i="1" dirty="0"/>
              <a:t>v.</a:t>
            </a:r>
            <a:endParaRPr lang="en-US" altLang="en-US" sz="1700" dirty="0"/>
          </a:p>
          <a:p>
            <a:pPr>
              <a:tabLst>
                <a:tab pos="3432175" algn="ctr"/>
              </a:tabLst>
            </a:pPr>
            <a:r>
              <a:rPr lang="en-US" altLang="en-US" sz="1700" dirty="0"/>
              <a:t>Once a view is defined, the view name can be used to refer to the virtual relation that the view generates.</a:t>
            </a:r>
          </a:p>
          <a:p>
            <a:pPr>
              <a:tabLst>
                <a:tab pos="3432175" algn="ctr"/>
              </a:tabLst>
            </a:pPr>
            <a:r>
              <a:rPr lang="en-US" altLang="en-US" sz="1700" dirty="0"/>
              <a:t>View definition is not the same as creating a new relation by evaluating the query expression  </a:t>
            </a:r>
          </a:p>
          <a:p>
            <a:pPr lvl="1">
              <a:tabLst>
                <a:tab pos="3432175" algn="ctr"/>
              </a:tabLst>
            </a:pPr>
            <a:r>
              <a:rPr lang="en-US" altLang="en-US" sz="1700" dirty="0"/>
              <a:t>Rather, a view definition causes the saving of an expression; the expression is substituted into queries using the view.</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335874" name="Rectangle 2"/>
          <p:cNvSpPr>
            <a:spLocks noGrp="1" noChangeArrowheads="1"/>
          </p:cNvSpPr>
          <p:nvPr>
            <p:ph type="title"/>
          </p:nvPr>
        </p:nvSpPr>
        <p:spPr/>
        <p:txBody>
          <a:bodyPr/>
          <a:lstStyle/>
          <a:p>
            <a:pPr>
              <a:defRPr/>
            </a:pPr>
            <a:r>
              <a:rPr lang="en-US" sz="2800" dirty="0">
                <a:ea typeface="+mj-ea"/>
              </a:rPr>
              <a:t>View Definition and Use</a:t>
            </a:r>
          </a:p>
        </p:txBody>
      </p:sp>
      <p:sp>
        <p:nvSpPr>
          <p:cNvPr id="41987" name="Rectangle 3"/>
          <p:cNvSpPr>
            <a:spLocks noGrp="1" noChangeArrowheads="1"/>
          </p:cNvSpPr>
          <p:nvPr>
            <p:ph type="body" idx="1"/>
          </p:nvPr>
        </p:nvSpPr>
        <p:spPr>
          <a:xfrm>
            <a:off x="768351" y="1106489"/>
            <a:ext cx="7550150" cy="4806632"/>
          </a:xfrm>
        </p:spPr>
        <p:txBody>
          <a:bodyPr/>
          <a:lstStyle/>
          <a:p>
            <a:pPr>
              <a:tabLst>
                <a:tab pos="1370013" algn="l"/>
              </a:tabLst>
            </a:pPr>
            <a:r>
              <a:rPr lang="en-US" altLang="en-US" sz="1700" dirty="0"/>
              <a:t>A view of instructors without their salary</a:t>
            </a:r>
          </a:p>
          <a:p>
            <a:pPr>
              <a:buNone/>
              <a:tabLst>
                <a:tab pos="1370013" algn="l"/>
              </a:tabLst>
            </a:pPr>
            <a:r>
              <a:rPr lang="en-US" altLang="en-US" sz="800" dirty="0"/>
              <a:t> </a:t>
            </a:r>
            <a:r>
              <a:rPr lang="en-US" altLang="en-US" sz="1700" dirty="0"/>
              <a:t/>
            </a:r>
            <a:br>
              <a:rPr lang="en-US" altLang="en-US" sz="1700" dirty="0"/>
            </a:br>
            <a:r>
              <a:rPr lang="en-US" altLang="en-US" sz="1700" dirty="0"/>
              <a:t>              </a:t>
            </a:r>
            <a:r>
              <a:rPr kumimoji="0" lang="en-US" altLang="en-US" sz="1700" b="1" dirty="0"/>
              <a:t>create view </a:t>
            </a:r>
            <a:r>
              <a:rPr lang="en-US" altLang="en-US" sz="1700" b="1" i="1" dirty="0">
                <a:solidFill>
                  <a:srgbClr val="002060"/>
                </a:solidFill>
              </a:rPr>
              <a:t>faculty</a:t>
            </a:r>
            <a:r>
              <a:rPr kumimoji="0" lang="en-US" altLang="en-US" sz="1700" i="1" dirty="0"/>
              <a:t> </a:t>
            </a:r>
            <a:r>
              <a:rPr kumimoji="0" lang="en-US" altLang="en-US" sz="1700" b="1" dirty="0"/>
              <a:t>as</a:t>
            </a:r>
            <a:r>
              <a:rPr lang="en-US" altLang="en-US" sz="1700" b="1" dirty="0"/>
              <a:t> </a:t>
            </a:r>
            <a:br>
              <a:rPr lang="en-US" altLang="en-US" sz="1700" b="1" dirty="0"/>
            </a:br>
            <a:r>
              <a:rPr lang="en-US" altLang="en-US" sz="1700" b="1" dirty="0"/>
              <a:t>                      </a:t>
            </a:r>
            <a:r>
              <a:rPr kumimoji="0" lang="en-US" altLang="en-US" sz="1700" b="1" dirty="0"/>
              <a:t>select </a:t>
            </a:r>
            <a:r>
              <a:rPr kumimoji="0" lang="en-US" altLang="en-US" sz="1700" i="1" dirty="0"/>
              <a:t>ID</a:t>
            </a:r>
            <a:r>
              <a:rPr kumimoji="0" lang="en-US" altLang="en-US" sz="1700" dirty="0"/>
              <a:t>, </a:t>
            </a:r>
            <a:r>
              <a:rPr kumimoji="0" lang="en-US" altLang="en-US" sz="1700" i="1" dirty="0"/>
              <a:t>name</a:t>
            </a:r>
            <a:r>
              <a:rPr kumimoji="0" lang="en-US" altLang="en-US" sz="1700" dirty="0"/>
              <a:t>, </a:t>
            </a:r>
            <a:r>
              <a:rPr kumimoji="0" lang="en-US" altLang="en-US" sz="1700" i="1" dirty="0"/>
              <a:t>dept_name</a:t>
            </a:r>
            <a:br>
              <a:rPr kumimoji="0" lang="en-US" altLang="en-US" sz="1700" i="1" dirty="0"/>
            </a:br>
            <a:r>
              <a:rPr kumimoji="0" lang="en-US" altLang="en-US" sz="1700" i="1" dirty="0"/>
              <a:t>                      </a:t>
            </a:r>
            <a:r>
              <a:rPr kumimoji="0" lang="en-US" altLang="en-US" sz="1700" b="1" dirty="0"/>
              <a:t>from </a:t>
            </a:r>
            <a:r>
              <a:rPr kumimoji="0" lang="en-US" altLang="en-US" sz="1700" i="1" dirty="0"/>
              <a:t>instructor</a:t>
            </a:r>
            <a:endParaRPr kumimoji="0" lang="en-US" altLang="en-US" sz="1700" dirty="0"/>
          </a:p>
          <a:p>
            <a:pPr>
              <a:tabLst>
                <a:tab pos="1370013" algn="l"/>
              </a:tabLst>
            </a:pPr>
            <a:r>
              <a:rPr lang="en-US" altLang="en-US" sz="1700" dirty="0"/>
              <a:t>Find all instructors in the Biology department</a:t>
            </a:r>
          </a:p>
          <a:p>
            <a:pPr>
              <a:buNone/>
              <a:tabLst>
                <a:tab pos="1370013" algn="l"/>
              </a:tabLst>
            </a:pPr>
            <a:r>
              <a:rPr lang="en-US" altLang="en-US" sz="800" dirty="0"/>
              <a:t> </a:t>
            </a:r>
            <a:r>
              <a:rPr lang="en-US" altLang="en-US" sz="1700" dirty="0"/>
              <a:t/>
            </a:r>
            <a:br>
              <a:rPr lang="en-US" altLang="en-US" sz="1700" dirty="0"/>
            </a:br>
            <a:r>
              <a:rPr lang="en-US" altLang="en-US" sz="1700" dirty="0"/>
              <a:t>                </a:t>
            </a:r>
            <a:r>
              <a:rPr lang="en-US" altLang="en-US" sz="1700" b="1" dirty="0"/>
              <a:t>select </a:t>
            </a:r>
            <a:r>
              <a:rPr lang="en-US" altLang="en-US" sz="1700" i="1" dirty="0"/>
              <a:t>name</a:t>
            </a:r>
            <a:br>
              <a:rPr lang="en-US" altLang="en-US" sz="1700" i="1" dirty="0"/>
            </a:br>
            <a:r>
              <a:rPr lang="en-US" altLang="en-US" sz="1700" i="1" dirty="0"/>
              <a:t>                </a:t>
            </a:r>
            <a:r>
              <a:rPr lang="en-US" altLang="en-US" sz="1700" b="1" dirty="0"/>
              <a:t>from </a:t>
            </a:r>
            <a:r>
              <a:rPr lang="en-US" altLang="en-US" sz="1700" b="1" i="1" dirty="0">
                <a:solidFill>
                  <a:srgbClr val="002060"/>
                </a:solidFill>
              </a:rPr>
              <a:t>faculty</a:t>
            </a:r>
            <a:r>
              <a:rPr lang="en-US" altLang="en-US" sz="1700" i="1" dirty="0"/>
              <a:t/>
            </a:r>
            <a:br>
              <a:rPr lang="en-US" altLang="en-US" sz="1700" i="1" dirty="0"/>
            </a:br>
            <a:r>
              <a:rPr lang="en-US" altLang="en-US" sz="1700" i="1" dirty="0"/>
              <a:t>                </a:t>
            </a:r>
            <a:r>
              <a:rPr lang="en-US" altLang="en-US" sz="1700" b="1" dirty="0"/>
              <a:t>where </a:t>
            </a:r>
            <a:r>
              <a:rPr lang="en-US" altLang="en-US" sz="1700" i="1" dirty="0"/>
              <a:t>dept_name = </a:t>
            </a:r>
            <a:r>
              <a:rPr lang="en-US" altLang="en-US" sz="1700" dirty="0"/>
              <a:t>'Biology'</a:t>
            </a:r>
          </a:p>
          <a:p>
            <a:pPr>
              <a:tabLst>
                <a:tab pos="1370013" algn="l"/>
              </a:tabLst>
            </a:pPr>
            <a:r>
              <a:rPr lang="en-US" altLang="en-US" sz="1700" dirty="0"/>
              <a:t>Create a view of department salary totals</a:t>
            </a:r>
          </a:p>
          <a:p>
            <a:pPr>
              <a:buNone/>
              <a:tabLst>
                <a:tab pos="1370013" algn="l"/>
              </a:tabLst>
            </a:pPr>
            <a:r>
              <a:rPr lang="en-US" altLang="en-US" sz="800" dirty="0"/>
              <a:t> </a:t>
            </a:r>
            <a:r>
              <a:rPr lang="en-US" altLang="en-US" sz="1700" dirty="0"/>
              <a:t/>
            </a:r>
            <a:br>
              <a:rPr lang="en-US" altLang="en-US" sz="1700" dirty="0"/>
            </a:br>
            <a:r>
              <a:rPr lang="en-US" altLang="en-US" sz="1700" dirty="0"/>
              <a:t>  </a:t>
            </a:r>
            <a:r>
              <a:rPr lang="en-US" altLang="en-US" sz="1700" b="1" dirty="0"/>
              <a:t>create view </a:t>
            </a:r>
            <a:r>
              <a:rPr lang="en-US" altLang="en-US" sz="1700" b="1" i="1" dirty="0" err="1">
                <a:solidFill>
                  <a:srgbClr val="002060"/>
                </a:solidFill>
              </a:rPr>
              <a:t>departments_total_salary</a:t>
            </a:r>
            <a:r>
              <a:rPr lang="en-US" altLang="en-US" sz="1700" b="1" i="1" dirty="0">
                <a:solidFill>
                  <a:srgbClr val="002060"/>
                </a:solidFill>
              </a:rPr>
              <a:t>(dept_name, </a:t>
            </a:r>
            <a:r>
              <a:rPr lang="en-US" altLang="en-US" sz="1700" b="1" i="1" dirty="0" err="1">
                <a:solidFill>
                  <a:srgbClr val="002060"/>
                </a:solidFill>
              </a:rPr>
              <a:t>total_salary</a:t>
            </a:r>
            <a:r>
              <a:rPr lang="en-US" altLang="en-US" sz="1700" b="1" i="1" dirty="0">
                <a:solidFill>
                  <a:srgbClr val="000099"/>
                </a:solidFill>
              </a:rPr>
              <a:t>)</a:t>
            </a:r>
            <a:r>
              <a:rPr lang="en-US" altLang="en-US" sz="1700" i="1" dirty="0">
                <a:solidFill>
                  <a:srgbClr val="000099"/>
                </a:solidFill>
              </a:rPr>
              <a:t> </a:t>
            </a:r>
            <a:r>
              <a:rPr lang="en-US" altLang="en-US" sz="1700" b="1" dirty="0"/>
              <a:t>as</a:t>
            </a:r>
            <a:br>
              <a:rPr lang="en-US" altLang="en-US" sz="1700" b="1" dirty="0"/>
            </a:br>
            <a:r>
              <a:rPr lang="en-US" altLang="en-US" sz="1700" b="1" dirty="0"/>
              <a:t>       select </a:t>
            </a:r>
            <a:r>
              <a:rPr lang="en-US" altLang="en-US" sz="1700" i="1" dirty="0"/>
              <a:t>dept_name</a:t>
            </a:r>
            <a:r>
              <a:rPr lang="en-US" altLang="en-US" sz="1700" dirty="0"/>
              <a:t>, </a:t>
            </a:r>
            <a:r>
              <a:rPr lang="en-US" altLang="en-US" sz="1700" b="1" dirty="0"/>
              <a:t>sum </a:t>
            </a:r>
            <a:r>
              <a:rPr lang="en-US" altLang="en-US" sz="1700" dirty="0"/>
              <a:t>(</a:t>
            </a:r>
            <a:r>
              <a:rPr lang="en-US" altLang="en-US" sz="1700" i="1" dirty="0"/>
              <a:t>salary</a:t>
            </a:r>
            <a:r>
              <a:rPr lang="en-US" altLang="en-US" sz="1700" dirty="0"/>
              <a:t>)</a:t>
            </a:r>
            <a:br>
              <a:rPr lang="en-US" altLang="en-US" sz="1700" dirty="0"/>
            </a:br>
            <a:r>
              <a:rPr lang="en-US" altLang="en-US" sz="1700" dirty="0"/>
              <a:t>       </a:t>
            </a:r>
            <a:r>
              <a:rPr lang="en-US" altLang="en-US" sz="1700" b="1" dirty="0"/>
              <a:t>from </a:t>
            </a:r>
            <a:r>
              <a:rPr lang="en-US" altLang="en-US" sz="1700" i="1" dirty="0"/>
              <a:t>instructor</a:t>
            </a:r>
            <a:br>
              <a:rPr lang="en-US" altLang="en-US" sz="1700" i="1" dirty="0"/>
            </a:br>
            <a:r>
              <a:rPr lang="en-US" altLang="en-US" sz="1700" i="1" dirty="0"/>
              <a:t>      </a:t>
            </a:r>
            <a:r>
              <a:rPr lang="en-US" altLang="en-US" sz="1700" b="1" dirty="0"/>
              <a:t>group by </a:t>
            </a:r>
            <a:r>
              <a:rPr lang="en-US" altLang="en-US" sz="1700" i="1" dirty="0"/>
              <a:t>dept_name</a:t>
            </a:r>
            <a:r>
              <a:rPr lang="en-US" altLang="en-US" sz="1700" dirty="0"/>
              <a:t>;</a:t>
            </a:r>
          </a:p>
          <a:p>
            <a:pPr>
              <a:tabLst>
                <a:tab pos="1370013" algn="l"/>
              </a:tabLst>
            </a:pPr>
            <a:endParaRPr lang="en-US" altLang="en-US" sz="2000" dirty="0"/>
          </a:p>
          <a:p>
            <a:pPr>
              <a:buNone/>
              <a:tabLst>
                <a:tab pos="1370013" algn="l"/>
              </a:tabLst>
            </a:pPr>
            <a:endParaRPr lang="en-US" altLang="en-US" sz="2400" dirty="0"/>
          </a:p>
          <a:p>
            <a:pPr>
              <a:tabLst>
                <a:tab pos="1370013" algn="l"/>
              </a:tabLst>
            </a:pPr>
            <a:endParaRPr lang="en-US" altLang="en-US" sz="2000" dirty="0"/>
          </a:p>
          <a:p>
            <a:pPr>
              <a:tabLst>
                <a:tab pos="1370013" algn="l"/>
              </a:tabLst>
            </a:pPr>
            <a:endParaRPr lang="en-US" altLang="en-US" sz="2000" dirty="0"/>
          </a:p>
        </p:txBody>
      </p:sp>
      <p:sp>
        <p:nvSpPr>
          <p:cNvPr id="335877" name="Text Box 5"/>
          <p:cNvSpPr txBox="1">
            <a:spLocks noChangeArrowheads="1"/>
          </p:cNvSpPr>
          <p:nvPr/>
        </p:nvSpPr>
        <p:spPr bwMode="auto">
          <a:xfrm>
            <a:off x="1060450" y="5232400"/>
            <a:ext cx="7550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Helvetica" panose="020B0604020202020204" pitchFamily="34" charset="0"/>
                <a:ea typeface="MS PGothic" panose="020B0600070205080204" pitchFamily="34" charset="-128"/>
              </a:defRPr>
            </a:lvl1pPr>
            <a:lvl2pPr marL="37931725" indent="-37474525">
              <a:defRPr sz="1600">
                <a:solidFill>
                  <a:schemeClr val="tx1"/>
                </a:solidFill>
                <a:latin typeface="Helvetica" panose="020B0604020202020204" pitchFamily="34" charset="0"/>
                <a:ea typeface="MS PGothic" panose="020B0600070205080204" pitchFamily="34" charset="-128"/>
              </a:defRPr>
            </a:lvl2pPr>
            <a:lvl3pPr>
              <a:defRPr sz="1600">
                <a:solidFill>
                  <a:schemeClr val="tx1"/>
                </a:solidFill>
                <a:latin typeface="Helvetica" panose="020B0604020202020204" pitchFamily="34" charset="0"/>
                <a:ea typeface="MS PGothic" panose="020B0600070205080204" pitchFamily="34" charset="-128"/>
              </a:defRPr>
            </a:lvl3pPr>
            <a:lvl4pPr>
              <a:defRPr sz="1600">
                <a:solidFill>
                  <a:schemeClr val="tx1"/>
                </a:solidFill>
                <a:latin typeface="Helvetica" panose="020B0604020202020204" pitchFamily="34" charset="0"/>
                <a:ea typeface="MS PGothic" panose="020B0600070205080204" pitchFamily="34" charset="-128"/>
              </a:defRPr>
            </a:lvl4pPr>
            <a:lvl5pPr>
              <a:defRPr sz="1600">
                <a:solidFill>
                  <a:schemeClr val="tx1"/>
                </a:solidFill>
                <a:latin typeface="Helvetica" panose="020B0604020202020204" pitchFamily="34" charset="0"/>
                <a:ea typeface="MS PGothic" panose="020B0600070205080204" pitchFamily="34" charset="-128"/>
              </a:defRPr>
            </a:lvl5pPr>
            <a:lvl6pPr marL="4572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9144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1371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18288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buClr>
                <a:schemeClr val="tx2"/>
              </a:buClr>
              <a:buSzPct val="90000"/>
              <a:buFont typeface="Monotype Sorts" charset="2"/>
              <a:buNone/>
            </a:pPr>
            <a:r>
              <a:rPr kumimoji="1" lang="en-US" altLang="en-US" sz="2400" b="1"/>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3587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5877" grpId="0" autoUpdateAnimBg="0"/>
    </p:bld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37922" name="Rectangle 2"/>
          <p:cNvSpPr>
            <a:spLocks noGrp="1" noChangeArrowheads="1"/>
          </p:cNvSpPr>
          <p:nvPr>
            <p:ph type="title"/>
          </p:nvPr>
        </p:nvSpPr>
        <p:spPr/>
        <p:txBody>
          <a:bodyPr/>
          <a:lstStyle/>
          <a:p>
            <a:pPr>
              <a:defRPr/>
            </a:pPr>
            <a:r>
              <a:rPr lang="en-US" sz="2800" dirty="0">
                <a:ea typeface="+mj-ea"/>
              </a:rPr>
              <a:t>Views Defined Using Other Views</a:t>
            </a:r>
          </a:p>
        </p:txBody>
      </p:sp>
      <p:sp>
        <p:nvSpPr>
          <p:cNvPr id="46083" name="Rectangle 3"/>
          <p:cNvSpPr>
            <a:spLocks noGrp="1" noChangeArrowheads="1"/>
          </p:cNvSpPr>
          <p:nvPr>
            <p:ph type="body" idx="1"/>
          </p:nvPr>
        </p:nvSpPr>
        <p:spPr>
          <a:xfrm>
            <a:off x="768350" y="1106488"/>
            <a:ext cx="7683191" cy="3380168"/>
          </a:xfrm>
        </p:spPr>
        <p:txBody>
          <a:bodyPr/>
          <a:lstStyle/>
          <a:p>
            <a:r>
              <a:rPr lang="en-US" altLang="en-US" sz="1700" dirty="0"/>
              <a:t>One view may be used in the expression defining another view </a:t>
            </a:r>
          </a:p>
          <a:p>
            <a:r>
              <a:rPr lang="en-US" altLang="en-US" sz="1700" dirty="0"/>
              <a:t>A view relation </a:t>
            </a:r>
            <a:r>
              <a:rPr lang="en-US" altLang="en-US" sz="1700" i="1" dirty="0"/>
              <a:t>v</a:t>
            </a:r>
            <a:r>
              <a:rPr lang="en-US" altLang="en-US" sz="1700" baseline="-25000" dirty="0"/>
              <a:t>1</a:t>
            </a:r>
            <a:r>
              <a:rPr lang="en-US" altLang="en-US" sz="1700" dirty="0"/>
              <a:t> is said to </a:t>
            </a:r>
            <a:r>
              <a:rPr lang="en-US" altLang="en-US" sz="1700" b="1" i="1" dirty="0">
                <a:solidFill>
                  <a:srgbClr val="002060"/>
                </a:solidFill>
              </a:rPr>
              <a:t>depend directly </a:t>
            </a:r>
            <a:r>
              <a:rPr lang="en-US" altLang="en-US" sz="1700" dirty="0"/>
              <a:t>on a view relation </a:t>
            </a:r>
            <a:r>
              <a:rPr lang="en-US" altLang="en-US" sz="1700" i="1" dirty="0"/>
              <a:t>v</a:t>
            </a:r>
            <a:r>
              <a:rPr lang="en-US" altLang="en-US" sz="1700" i="1" baseline="-25000" dirty="0"/>
              <a:t>2</a:t>
            </a:r>
            <a:r>
              <a:rPr lang="en-US" altLang="en-US" sz="1700" i="1" dirty="0"/>
              <a:t> </a:t>
            </a:r>
            <a:r>
              <a:rPr lang="en-US" altLang="en-US" sz="1700" dirty="0"/>
              <a:t> if </a:t>
            </a:r>
            <a:r>
              <a:rPr lang="en-US" altLang="en-US" sz="1700" i="1" dirty="0"/>
              <a:t>v</a:t>
            </a:r>
            <a:r>
              <a:rPr lang="en-US" altLang="en-US" sz="1700" baseline="-25000" dirty="0"/>
              <a:t>2</a:t>
            </a:r>
            <a:r>
              <a:rPr lang="en-US" altLang="en-US" sz="1700" dirty="0"/>
              <a:t> is used in the expression defining </a:t>
            </a:r>
            <a:r>
              <a:rPr lang="en-US" altLang="en-US" sz="1700" i="1" dirty="0"/>
              <a:t>v</a:t>
            </a:r>
            <a:r>
              <a:rPr lang="en-US" altLang="en-US" sz="1700" baseline="-25000" dirty="0"/>
              <a:t>1</a:t>
            </a:r>
            <a:endParaRPr lang="en-US" altLang="en-US" sz="1700" dirty="0"/>
          </a:p>
          <a:p>
            <a:r>
              <a:rPr lang="en-US" altLang="en-US" sz="1700" dirty="0"/>
              <a:t>A view relation </a:t>
            </a:r>
            <a:r>
              <a:rPr lang="en-US" altLang="en-US" sz="1700" i="1" dirty="0"/>
              <a:t>v</a:t>
            </a:r>
            <a:r>
              <a:rPr lang="en-US" altLang="en-US" sz="1700" baseline="-25000" dirty="0"/>
              <a:t>1</a:t>
            </a:r>
            <a:r>
              <a:rPr lang="en-US" altLang="en-US" sz="1700" dirty="0"/>
              <a:t> is said to </a:t>
            </a:r>
            <a:r>
              <a:rPr lang="en-US" altLang="en-US" sz="1700" b="1" i="1" dirty="0">
                <a:solidFill>
                  <a:srgbClr val="002060"/>
                </a:solidFill>
              </a:rPr>
              <a:t>depend on</a:t>
            </a:r>
            <a:r>
              <a:rPr lang="en-US" altLang="en-US" sz="1700" b="1" dirty="0">
                <a:solidFill>
                  <a:srgbClr val="002060"/>
                </a:solidFill>
              </a:rPr>
              <a:t> </a:t>
            </a:r>
            <a:r>
              <a:rPr lang="en-US" altLang="en-US" sz="1700" dirty="0"/>
              <a:t>view relation </a:t>
            </a:r>
            <a:r>
              <a:rPr lang="en-US" altLang="en-US" sz="1700" i="1" dirty="0"/>
              <a:t>v</a:t>
            </a:r>
            <a:r>
              <a:rPr lang="en-US" altLang="en-US" sz="1700" i="1" baseline="-25000" dirty="0"/>
              <a:t>2</a:t>
            </a:r>
            <a:r>
              <a:rPr lang="en-US" altLang="en-US" sz="1700" i="1" dirty="0"/>
              <a:t> </a:t>
            </a:r>
            <a:r>
              <a:rPr lang="en-US" altLang="en-US" sz="1700" dirty="0"/>
              <a:t>if either </a:t>
            </a:r>
            <a:r>
              <a:rPr lang="en-US" altLang="en-US" sz="1700" i="1" dirty="0"/>
              <a:t>v</a:t>
            </a:r>
            <a:r>
              <a:rPr lang="en-US" altLang="en-US" sz="1700" baseline="-25000" dirty="0"/>
              <a:t>1 </a:t>
            </a:r>
            <a:r>
              <a:rPr lang="en-US" altLang="en-US" sz="1700" dirty="0"/>
              <a:t>depends directly to </a:t>
            </a:r>
            <a:r>
              <a:rPr lang="en-US" altLang="en-US" sz="1700" i="1" dirty="0"/>
              <a:t>v</a:t>
            </a:r>
            <a:r>
              <a:rPr lang="en-US" altLang="en-US" sz="1700" baseline="-25000" dirty="0"/>
              <a:t>2 </a:t>
            </a:r>
            <a:r>
              <a:rPr lang="en-US" altLang="en-US" sz="1700" dirty="0"/>
              <a:t> or there is a path of dependencies from </a:t>
            </a:r>
            <a:r>
              <a:rPr lang="en-US" altLang="en-US" sz="1700" i="1" dirty="0"/>
              <a:t>v</a:t>
            </a:r>
            <a:r>
              <a:rPr lang="en-US" altLang="en-US" sz="1700" baseline="-25000" dirty="0"/>
              <a:t>1</a:t>
            </a:r>
            <a:r>
              <a:rPr lang="en-US" altLang="en-US" sz="1700" dirty="0"/>
              <a:t> to </a:t>
            </a:r>
            <a:r>
              <a:rPr lang="en-US" altLang="en-US" sz="1700" i="1" dirty="0"/>
              <a:t>v</a:t>
            </a:r>
            <a:r>
              <a:rPr lang="en-US" altLang="en-US" sz="1700" baseline="-25000" dirty="0"/>
              <a:t>2</a:t>
            </a:r>
            <a:r>
              <a:rPr lang="en-US" altLang="en-US" sz="1700" dirty="0"/>
              <a:t> </a:t>
            </a:r>
          </a:p>
          <a:p>
            <a:r>
              <a:rPr lang="en-US" altLang="en-US" sz="1700" dirty="0"/>
              <a:t>A view relation </a:t>
            </a:r>
            <a:r>
              <a:rPr lang="en-US" altLang="en-US" sz="1700" i="1" dirty="0"/>
              <a:t>v</a:t>
            </a:r>
            <a:r>
              <a:rPr lang="en-US" altLang="en-US" sz="1700" dirty="0"/>
              <a:t> is said to be </a:t>
            </a:r>
            <a:r>
              <a:rPr lang="en-US" altLang="en-US" sz="1700" b="1" i="1" dirty="0">
                <a:solidFill>
                  <a:srgbClr val="002060"/>
                </a:solidFill>
              </a:rPr>
              <a:t>recursive</a:t>
            </a:r>
            <a:r>
              <a:rPr lang="en-US" altLang="en-US" sz="1700" i="1" dirty="0"/>
              <a:t> </a:t>
            </a:r>
            <a:r>
              <a:rPr lang="en-US" altLang="en-US" sz="1700" dirty="0"/>
              <a:t> if it depends on itself.</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05506" name="Rectangle 2"/>
          <p:cNvSpPr>
            <a:spLocks noGrp="1" noChangeArrowheads="1"/>
          </p:cNvSpPr>
          <p:nvPr>
            <p:ph type="title"/>
          </p:nvPr>
        </p:nvSpPr>
        <p:spPr/>
        <p:txBody>
          <a:bodyPr/>
          <a:lstStyle/>
          <a:p>
            <a:pPr>
              <a:defRPr/>
            </a:pPr>
            <a:r>
              <a:rPr lang="en-US" sz="2800" dirty="0">
                <a:ea typeface="+mj-ea"/>
              </a:rPr>
              <a:t>Views Defined Using Other Views</a:t>
            </a:r>
          </a:p>
        </p:txBody>
      </p:sp>
      <p:sp>
        <p:nvSpPr>
          <p:cNvPr id="44035" name="Rectangle 3"/>
          <p:cNvSpPr>
            <a:spLocks noGrp="1" noChangeArrowheads="1"/>
          </p:cNvSpPr>
          <p:nvPr>
            <p:ph type="body" idx="1"/>
          </p:nvPr>
        </p:nvSpPr>
        <p:spPr>
          <a:xfrm>
            <a:off x="768350" y="1118173"/>
            <a:ext cx="7570979" cy="4282884"/>
          </a:xfrm>
        </p:spPr>
        <p:txBody>
          <a:bodyPr/>
          <a:lstStyle/>
          <a:p>
            <a:r>
              <a:rPr lang="en-US" altLang="en-US" sz="1700" b="1" dirty="0"/>
              <a:t>create view </a:t>
            </a:r>
            <a:r>
              <a:rPr lang="en-US" altLang="en-US" sz="1700" b="1" i="1" dirty="0">
                <a:solidFill>
                  <a:srgbClr val="002060"/>
                </a:solidFill>
              </a:rPr>
              <a:t>physics_fall_2017</a:t>
            </a:r>
            <a:r>
              <a:rPr lang="en-US" altLang="en-US" sz="1700" b="1" i="1" dirty="0"/>
              <a:t> </a:t>
            </a:r>
            <a:r>
              <a:rPr lang="en-US" altLang="en-US" sz="1700" b="1" dirty="0"/>
              <a:t>as</a:t>
            </a:r>
            <a:br>
              <a:rPr lang="en-US" altLang="en-US" sz="1700" b="1" dirty="0"/>
            </a:br>
            <a:r>
              <a:rPr lang="en-US" altLang="en-US" sz="1700" b="1" dirty="0"/>
              <a:t>   select </a:t>
            </a:r>
            <a:r>
              <a:rPr lang="en-US" altLang="en-US" sz="1700" i="1" dirty="0" err="1"/>
              <a:t>course</a:t>
            </a:r>
            <a:r>
              <a:rPr lang="en-US" altLang="en-US" sz="1700" dirty="0" err="1"/>
              <a:t>.</a:t>
            </a:r>
            <a:r>
              <a:rPr lang="en-US" altLang="en-US" sz="1700" i="1" dirty="0" err="1"/>
              <a:t>course_id</a:t>
            </a:r>
            <a:r>
              <a:rPr lang="en-US" altLang="en-US" sz="1700" dirty="0"/>
              <a:t>, </a:t>
            </a:r>
            <a:r>
              <a:rPr lang="en-US" altLang="en-US" sz="1700" i="1" dirty="0" err="1"/>
              <a:t>sec_id</a:t>
            </a:r>
            <a:r>
              <a:rPr lang="en-US" altLang="en-US" sz="1700" dirty="0"/>
              <a:t>, </a:t>
            </a:r>
            <a:r>
              <a:rPr lang="en-US" altLang="en-US" sz="1700" i="1" dirty="0"/>
              <a:t>building</a:t>
            </a:r>
            <a:r>
              <a:rPr lang="en-US" altLang="en-US" sz="1700" dirty="0"/>
              <a:t>, </a:t>
            </a:r>
            <a:r>
              <a:rPr lang="en-US" altLang="en-US" sz="1700" i="1" dirty="0" err="1"/>
              <a:t>room_number</a:t>
            </a:r>
            <a:r>
              <a:rPr lang="en-US" altLang="en-US" sz="1700" i="1" dirty="0"/>
              <a:t/>
            </a:r>
            <a:br>
              <a:rPr lang="en-US" altLang="en-US" sz="1700" i="1" dirty="0"/>
            </a:br>
            <a:r>
              <a:rPr lang="en-US" altLang="en-US" sz="1700" i="1" dirty="0"/>
              <a:t>   </a:t>
            </a:r>
            <a:r>
              <a:rPr lang="en-US" altLang="en-US" sz="1700" b="1" dirty="0"/>
              <a:t>from </a:t>
            </a:r>
            <a:r>
              <a:rPr lang="en-US" altLang="en-US" sz="1700" i="1" dirty="0"/>
              <a:t>course</a:t>
            </a:r>
            <a:r>
              <a:rPr lang="en-US" altLang="en-US" sz="1700" dirty="0"/>
              <a:t>, </a:t>
            </a:r>
            <a:r>
              <a:rPr lang="en-US" altLang="en-US" sz="1700" i="1" dirty="0"/>
              <a:t>section</a:t>
            </a:r>
            <a:br>
              <a:rPr lang="en-US" altLang="en-US" sz="1700" i="1" dirty="0"/>
            </a:br>
            <a:r>
              <a:rPr lang="en-US" altLang="en-US" sz="1700" i="1" dirty="0"/>
              <a:t>   </a:t>
            </a:r>
            <a:r>
              <a:rPr lang="en-US" altLang="en-US" sz="1700" b="1" dirty="0"/>
              <a:t>where </a:t>
            </a:r>
            <a:r>
              <a:rPr lang="en-US" altLang="en-US" sz="1700" i="1" dirty="0" err="1"/>
              <a:t>course</a:t>
            </a:r>
            <a:r>
              <a:rPr lang="en-US" altLang="en-US" sz="1700" dirty="0" err="1"/>
              <a:t>.</a:t>
            </a:r>
            <a:r>
              <a:rPr lang="en-US" altLang="en-US" sz="1700" i="1" dirty="0" err="1"/>
              <a:t>course_id</a:t>
            </a:r>
            <a:r>
              <a:rPr lang="en-US" altLang="en-US" sz="1700" i="1" dirty="0"/>
              <a:t> </a:t>
            </a:r>
            <a:r>
              <a:rPr lang="en-US" altLang="en-US" sz="1700" dirty="0"/>
              <a:t>= </a:t>
            </a:r>
            <a:r>
              <a:rPr lang="en-US" altLang="en-US" sz="1700" i="1" dirty="0" err="1"/>
              <a:t>section</a:t>
            </a:r>
            <a:r>
              <a:rPr lang="en-US" altLang="en-US" sz="1700" dirty="0" err="1"/>
              <a:t>.</a:t>
            </a:r>
            <a:r>
              <a:rPr lang="en-US" altLang="en-US" sz="1700" i="1" dirty="0" err="1"/>
              <a:t>course_id</a:t>
            </a:r>
            <a:r>
              <a:rPr lang="en-US" altLang="en-US" sz="1700" i="1" dirty="0"/>
              <a:t/>
            </a:r>
            <a:br>
              <a:rPr lang="en-US" altLang="en-US" sz="1700" i="1" dirty="0"/>
            </a:br>
            <a:r>
              <a:rPr lang="en-US" altLang="en-US" sz="1700" i="1" dirty="0"/>
              <a:t>              </a:t>
            </a:r>
            <a:r>
              <a:rPr lang="en-US" altLang="en-US" sz="1700" b="1" dirty="0"/>
              <a:t>and </a:t>
            </a:r>
            <a:r>
              <a:rPr lang="en-US" altLang="en-US" sz="1700" i="1" dirty="0" err="1"/>
              <a:t>course</a:t>
            </a:r>
            <a:r>
              <a:rPr lang="en-US" altLang="en-US" sz="1700" dirty="0" err="1"/>
              <a:t>.</a:t>
            </a:r>
            <a:r>
              <a:rPr lang="en-US" altLang="en-US" sz="1700" i="1" dirty="0" err="1"/>
              <a:t>dept_name</a:t>
            </a:r>
            <a:r>
              <a:rPr lang="en-US" altLang="en-US" sz="1700" i="1" dirty="0"/>
              <a:t> </a:t>
            </a:r>
            <a:r>
              <a:rPr lang="en-US" altLang="en-US" sz="1700" dirty="0"/>
              <a:t>= 'Physics'</a:t>
            </a:r>
            <a:br>
              <a:rPr lang="en-US" altLang="en-US" sz="1700" dirty="0"/>
            </a:br>
            <a:r>
              <a:rPr lang="en-US" altLang="en-US" sz="1700" dirty="0"/>
              <a:t>              </a:t>
            </a:r>
            <a:r>
              <a:rPr lang="en-US" altLang="en-US" sz="1700" b="1" dirty="0"/>
              <a:t>and </a:t>
            </a:r>
            <a:r>
              <a:rPr lang="en-US" altLang="en-US" sz="1700" i="1" dirty="0" err="1"/>
              <a:t>section</a:t>
            </a:r>
            <a:r>
              <a:rPr lang="en-US" altLang="en-US" sz="1700" dirty="0" err="1"/>
              <a:t>.</a:t>
            </a:r>
            <a:r>
              <a:rPr lang="en-US" altLang="en-US" sz="1700" i="1" dirty="0" err="1"/>
              <a:t>semester</a:t>
            </a:r>
            <a:r>
              <a:rPr lang="en-US" altLang="en-US" sz="1700" i="1" dirty="0"/>
              <a:t> </a:t>
            </a:r>
            <a:r>
              <a:rPr lang="en-US" altLang="en-US" sz="1700" dirty="0"/>
              <a:t>= 'Fall'</a:t>
            </a:r>
            <a:br>
              <a:rPr lang="en-US" altLang="en-US" sz="1700" dirty="0"/>
            </a:br>
            <a:r>
              <a:rPr lang="en-US" altLang="en-US" sz="1700" dirty="0"/>
              <a:t>              </a:t>
            </a:r>
            <a:r>
              <a:rPr lang="en-US" altLang="en-US" sz="1700" b="1" dirty="0"/>
              <a:t>and </a:t>
            </a:r>
            <a:r>
              <a:rPr lang="en-US" altLang="en-US" sz="1700" i="1" dirty="0" err="1"/>
              <a:t>section</a:t>
            </a:r>
            <a:r>
              <a:rPr lang="en-US" altLang="en-US" sz="1700" dirty="0" err="1"/>
              <a:t>.</a:t>
            </a:r>
            <a:r>
              <a:rPr lang="en-US" altLang="en-US" sz="1700" i="1" dirty="0" err="1"/>
              <a:t>year</a:t>
            </a:r>
            <a:r>
              <a:rPr lang="en-US" altLang="en-US" sz="1700" i="1" dirty="0"/>
              <a:t> </a:t>
            </a:r>
            <a:r>
              <a:rPr lang="en-US" altLang="en-US" sz="1700" dirty="0"/>
              <a:t>= '2017’;</a:t>
            </a:r>
          </a:p>
          <a:p>
            <a:pPr>
              <a:buNone/>
            </a:pPr>
            <a:r>
              <a:rPr lang="en-US" altLang="en-US" sz="800" dirty="0"/>
              <a:t> </a:t>
            </a:r>
          </a:p>
          <a:p>
            <a:r>
              <a:rPr lang="en-US" altLang="en-US" sz="1700" b="1" dirty="0"/>
              <a:t>create view </a:t>
            </a:r>
            <a:r>
              <a:rPr lang="en-US" altLang="en-US" sz="1700" b="1" i="1" dirty="0">
                <a:solidFill>
                  <a:srgbClr val="002060"/>
                </a:solidFill>
              </a:rPr>
              <a:t>physics_fall_2017</a:t>
            </a:r>
            <a:r>
              <a:rPr lang="en-US" altLang="en-US" sz="1700" b="1" i="1" dirty="0"/>
              <a:t>_</a:t>
            </a:r>
            <a:r>
              <a:rPr lang="en-US" altLang="en-US" sz="1700" i="1" dirty="0"/>
              <a:t>watson </a:t>
            </a:r>
            <a:r>
              <a:rPr lang="en-US" altLang="en-US" sz="1700" b="1" dirty="0"/>
              <a:t>as</a:t>
            </a:r>
            <a:br>
              <a:rPr lang="en-US" altLang="en-US" sz="1700" b="1" dirty="0"/>
            </a:br>
            <a:r>
              <a:rPr lang="en-US" altLang="en-US" sz="1700" b="1" dirty="0"/>
              <a:t>    select </a:t>
            </a:r>
            <a:r>
              <a:rPr lang="en-US" altLang="en-US" sz="1700" i="1" dirty="0" err="1"/>
              <a:t>course_id</a:t>
            </a:r>
            <a:r>
              <a:rPr lang="en-US" altLang="en-US" sz="1700" dirty="0"/>
              <a:t>, </a:t>
            </a:r>
            <a:r>
              <a:rPr lang="en-US" altLang="en-US" sz="1700" i="1" dirty="0" err="1"/>
              <a:t>room_number</a:t>
            </a:r>
            <a:r>
              <a:rPr lang="en-US" altLang="en-US" sz="1700" i="1" dirty="0"/>
              <a:t/>
            </a:r>
            <a:br>
              <a:rPr lang="en-US" altLang="en-US" sz="1700" i="1" dirty="0"/>
            </a:br>
            <a:r>
              <a:rPr lang="en-US" altLang="en-US" sz="1700" i="1" dirty="0"/>
              <a:t>    </a:t>
            </a:r>
            <a:r>
              <a:rPr lang="en-US" altLang="en-US" sz="1700" b="1" dirty="0"/>
              <a:t>from </a:t>
            </a:r>
            <a:r>
              <a:rPr lang="en-US" altLang="en-US" sz="1700" b="1" i="1" dirty="0">
                <a:solidFill>
                  <a:srgbClr val="002060"/>
                </a:solidFill>
              </a:rPr>
              <a:t>physics_fall_2017</a:t>
            </a:r>
            <a:r>
              <a:rPr lang="en-US" altLang="en-US" sz="1700" i="1" dirty="0"/>
              <a:t/>
            </a:r>
            <a:br>
              <a:rPr lang="en-US" altLang="en-US" sz="1700" i="1" dirty="0"/>
            </a:br>
            <a:r>
              <a:rPr lang="en-US" altLang="en-US" sz="1700" i="1" dirty="0"/>
              <a:t>    </a:t>
            </a:r>
            <a:r>
              <a:rPr lang="en-US" altLang="en-US" sz="1700" b="1" dirty="0"/>
              <a:t>where </a:t>
            </a:r>
            <a:r>
              <a:rPr lang="en-US" altLang="en-US" sz="1700" i="1" dirty="0"/>
              <a:t>building</a:t>
            </a:r>
            <a:r>
              <a:rPr lang="en-US" altLang="en-US" sz="1700" dirty="0"/>
              <a:t>= 'Watson';</a:t>
            </a:r>
          </a:p>
          <a:p>
            <a:endParaRPr lang="en-US" alt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06530" name="Rectangle 2"/>
          <p:cNvSpPr>
            <a:spLocks noGrp="1" noChangeArrowheads="1"/>
          </p:cNvSpPr>
          <p:nvPr>
            <p:ph type="title"/>
          </p:nvPr>
        </p:nvSpPr>
        <p:spPr/>
        <p:txBody>
          <a:bodyPr/>
          <a:lstStyle/>
          <a:p>
            <a:pPr>
              <a:defRPr/>
            </a:pPr>
            <a:r>
              <a:rPr lang="en-US" sz="2800" dirty="0">
                <a:ea typeface="+mj-ea"/>
              </a:rPr>
              <a:t>View Expansion</a:t>
            </a:r>
          </a:p>
        </p:txBody>
      </p:sp>
      <p:sp>
        <p:nvSpPr>
          <p:cNvPr id="45059" name="Rectangle 3"/>
          <p:cNvSpPr>
            <a:spLocks noGrp="1" noChangeArrowheads="1"/>
          </p:cNvSpPr>
          <p:nvPr>
            <p:ph type="body" idx="1"/>
          </p:nvPr>
        </p:nvSpPr>
        <p:spPr/>
        <p:txBody>
          <a:bodyPr/>
          <a:lstStyle/>
          <a:p>
            <a:r>
              <a:rPr lang="en-US" altLang="en-US" sz="1700" dirty="0"/>
              <a:t>Expand  the view :</a:t>
            </a:r>
          </a:p>
          <a:p>
            <a:pPr>
              <a:buNone/>
            </a:pPr>
            <a:r>
              <a:rPr lang="en-US" altLang="en-US" sz="1700" b="1" dirty="0"/>
              <a:t>          create view </a:t>
            </a:r>
            <a:r>
              <a:rPr lang="en-US" altLang="en-US" sz="1700" b="1" i="1" dirty="0">
                <a:solidFill>
                  <a:srgbClr val="002060"/>
                </a:solidFill>
              </a:rPr>
              <a:t>physics_fall_2017_watson</a:t>
            </a:r>
            <a:r>
              <a:rPr lang="en-US" altLang="en-US" sz="1700" b="1" i="1" dirty="0"/>
              <a:t>  </a:t>
            </a:r>
            <a:r>
              <a:rPr lang="en-US" altLang="en-US" sz="1700" b="1" dirty="0"/>
              <a:t>as</a:t>
            </a:r>
            <a:br>
              <a:rPr lang="en-US" altLang="en-US" sz="1700" b="1" dirty="0"/>
            </a:br>
            <a:r>
              <a:rPr lang="en-US" altLang="en-US" sz="1700" b="1" dirty="0"/>
              <a:t>        select </a:t>
            </a:r>
            <a:r>
              <a:rPr lang="en-US" altLang="en-US" sz="1700" i="1" dirty="0" err="1"/>
              <a:t>course_id</a:t>
            </a:r>
            <a:r>
              <a:rPr lang="en-US" altLang="en-US" sz="1700" dirty="0"/>
              <a:t>, </a:t>
            </a:r>
            <a:r>
              <a:rPr lang="en-US" altLang="en-US" sz="1700" i="1" dirty="0" err="1"/>
              <a:t>room_number</a:t>
            </a:r>
            <a:r>
              <a:rPr lang="en-US" altLang="en-US" sz="1700" i="1" dirty="0"/>
              <a:t/>
            </a:r>
            <a:br>
              <a:rPr lang="en-US" altLang="en-US" sz="1700" i="1" dirty="0"/>
            </a:br>
            <a:r>
              <a:rPr lang="en-US" altLang="en-US" sz="1700" i="1" dirty="0"/>
              <a:t>        </a:t>
            </a:r>
            <a:r>
              <a:rPr lang="en-US" altLang="en-US" sz="1700" b="1" dirty="0"/>
              <a:t>from </a:t>
            </a:r>
            <a:r>
              <a:rPr lang="en-US" altLang="en-US" sz="1700" b="1" i="1" dirty="0">
                <a:solidFill>
                  <a:srgbClr val="002060"/>
                </a:solidFill>
              </a:rPr>
              <a:t>physics_fall_2017</a:t>
            </a:r>
            <a:r>
              <a:rPr lang="en-US" altLang="en-US" sz="1700" i="1" dirty="0"/>
              <a:t/>
            </a:r>
            <a:br>
              <a:rPr lang="en-US" altLang="en-US" sz="1700" i="1" dirty="0"/>
            </a:br>
            <a:r>
              <a:rPr lang="en-US" altLang="en-US" sz="1700" i="1" dirty="0"/>
              <a:t>        </a:t>
            </a:r>
            <a:r>
              <a:rPr lang="en-US" altLang="en-US" sz="1700" b="1" dirty="0"/>
              <a:t>where </a:t>
            </a:r>
            <a:r>
              <a:rPr lang="en-US" altLang="en-US" sz="1700" i="1" dirty="0"/>
              <a:t>building</a:t>
            </a:r>
            <a:r>
              <a:rPr lang="en-US" altLang="en-US" sz="1700" dirty="0"/>
              <a:t>= 'Watson</a:t>
            </a:r>
            <a:r>
              <a:rPr lang="en-US" altLang="ja-JP" sz="1700" dirty="0"/>
              <a:t>'</a:t>
            </a:r>
            <a:endParaRPr lang="en-US" altLang="en-US" sz="1700" dirty="0"/>
          </a:p>
          <a:p>
            <a:r>
              <a:rPr lang="en-US" altLang="en-US" sz="1700" dirty="0"/>
              <a:t>To:</a:t>
            </a:r>
          </a:p>
          <a:p>
            <a:endParaRPr lang="en-US" altLang="en-US" sz="1700" dirty="0"/>
          </a:p>
          <a:p>
            <a:endParaRPr lang="en-US" altLang="en-US" sz="1700" dirty="0"/>
          </a:p>
          <a:p>
            <a:endParaRPr lang="en-US" altLang="en-US" sz="1700" dirty="0"/>
          </a:p>
          <a:p>
            <a:endParaRPr lang="en-US" altLang="en-US" sz="1700" dirty="0"/>
          </a:p>
          <a:p>
            <a:endParaRPr lang="en-US" altLang="en-US" sz="1700" dirty="0"/>
          </a:p>
          <a:p>
            <a:endParaRPr lang="en-US" altLang="en-US" sz="1700" dirty="0"/>
          </a:p>
          <a:p>
            <a:endParaRPr lang="en-US" altLang="en-US" sz="1700" dirty="0"/>
          </a:p>
          <a:p>
            <a:endParaRPr lang="en-US" altLang="en-US" sz="1700" dirty="0"/>
          </a:p>
          <a:p>
            <a:endParaRPr lang="en-US" altLang="en-US" sz="1700" dirty="0"/>
          </a:p>
        </p:txBody>
      </p:sp>
      <p:sp>
        <p:nvSpPr>
          <p:cNvPr id="45060" name="Text Box 4"/>
          <p:cNvSpPr txBox="1">
            <a:spLocks noChangeArrowheads="1"/>
          </p:cNvSpPr>
          <p:nvPr/>
        </p:nvSpPr>
        <p:spPr bwMode="auto">
          <a:xfrm>
            <a:off x="1477963" y="2966255"/>
            <a:ext cx="7192962" cy="275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Helvetica" panose="020B0604020202020204" pitchFamily="34" charset="0"/>
                <a:ea typeface="MS PGothic" panose="020B0600070205080204" pitchFamily="34" charset="-128"/>
              </a:defRPr>
            </a:lvl1pPr>
            <a:lvl2pPr marL="37931725" indent="-37474525">
              <a:defRPr sz="1600">
                <a:solidFill>
                  <a:schemeClr val="tx1"/>
                </a:solidFill>
                <a:latin typeface="Helvetica" panose="020B0604020202020204" pitchFamily="34" charset="0"/>
                <a:ea typeface="MS PGothic" panose="020B0600070205080204" pitchFamily="34" charset="-128"/>
              </a:defRPr>
            </a:lvl2pPr>
            <a:lvl3pPr>
              <a:defRPr sz="1600">
                <a:solidFill>
                  <a:schemeClr val="tx1"/>
                </a:solidFill>
                <a:latin typeface="Helvetica" panose="020B0604020202020204" pitchFamily="34" charset="0"/>
                <a:ea typeface="MS PGothic" panose="020B0600070205080204" pitchFamily="34" charset="-128"/>
              </a:defRPr>
            </a:lvl3pPr>
            <a:lvl4pPr>
              <a:defRPr sz="1600">
                <a:solidFill>
                  <a:schemeClr val="tx1"/>
                </a:solidFill>
                <a:latin typeface="Helvetica" panose="020B0604020202020204" pitchFamily="34" charset="0"/>
                <a:ea typeface="MS PGothic" panose="020B0600070205080204" pitchFamily="34" charset="-128"/>
              </a:defRPr>
            </a:lvl4pPr>
            <a:lvl5pPr>
              <a:defRPr sz="1600">
                <a:solidFill>
                  <a:schemeClr val="tx1"/>
                </a:solidFill>
                <a:latin typeface="Helvetica" panose="020B0604020202020204" pitchFamily="34" charset="0"/>
                <a:ea typeface="MS PGothic" panose="020B0600070205080204" pitchFamily="34" charset="-128"/>
              </a:defRPr>
            </a:lvl5pPr>
            <a:lvl6pPr marL="4572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9144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1371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18288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r>
              <a:rPr lang="en-US" altLang="en-US" sz="1700" b="1" dirty="0"/>
              <a:t>create view </a:t>
            </a:r>
            <a:r>
              <a:rPr kumimoji="1" lang="en-US" altLang="en-US" sz="1700" b="1" i="1" dirty="0">
                <a:solidFill>
                  <a:srgbClr val="002060"/>
                </a:solidFill>
                <a:latin typeface="+mn-lt"/>
              </a:rPr>
              <a:t>physics_fall_2017_watson</a:t>
            </a:r>
            <a:r>
              <a:rPr lang="en-US" altLang="en-US" sz="1700" b="1" i="1" dirty="0">
                <a:solidFill>
                  <a:srgbClr val="002060"/>
                </a:solidFill>
              </a:rPr>
              <a:t> </a:t>
            </a:r>
            <a:r>
              <a:rPr lang="en-US" altLang="en-US" sz="1700" b="1" dirty="0"/>
              <a:t>as</a:t>
            </a:r>
          </a:p>
          <a:p>
            <a:r>
              <a:rPr lang="en-US" altLang="en-US" sz="1700" dirty="0"/>
              <a:t>    </a:t>
            </a:r>
            <a:r>
              <a:rPr lang="en-US" altLang="en-US" sz="1700" b="1" dirty="0"/>
              <a:t>select </a:t>
            </a:r>
            <a:r>
              <a:rPr lang="en-US" altLang="en-US" sz="1700" i="1" dirty="0" err="1"/>
              <a:t>course_id</a:t>
            </a:r>
            <a:r>
              <a:rPr lang="en-US" altLang="en-US" sz="1700" dirty="0"/>
              <a:t>, </a:t>
            </a:r>
            <a:r>
              <a:rPr lang="en-US" altLang="en-US" sz="1700" i="1" dirty="0" err="1"/>
              <a:t>room_number</a:t>
            </a:r>
            <a:endParaRPr lang="en-US" altLang="en-US" sz="1700" i="1" dirty="0"/>
          </a:p>
          <a:p>
            <a:r>
              <a:rPr lang="en-US" altLang="en-US" sz="1700" b="1" dirty="0"/>
              <a:t>    from </a:t>
            </a:r>
            <a:r>
              <a:rPr lang="en-US" altLang="en-US" sz="1700" dirty="0"/>
              <a:t>(</a:t>
            </a:r>
            <a:r>
              <a:rPr lang="en-US" altLang="en-US" sz="1700" b="1" dirty="0"/>
              <a:t>select </a:t>
            </a:r>
            <a:r>
              <a:rPr lang="en-US" altLang="en-US" sz="1700" i="1" dirty="0" err="1"/>
              <a:t>course</a:t>
            </a:r>
            <a:r>
              <a:rPr lang="en-US" altLang="en-US" sz="1700" dirty="0" err="1"/>
              <a:t>.</a:t>
            </a:r>
            <a:r>
              <a:rPr lang="en-US" altLang="en-US" sz="1700" i="1" dirty="0" err="1"/>
              <a:t>course_id</a:t>
            </a:r>
            <a:r>
              <a:rPr lang="en-US" altLang="en-US" sz="1700" dirty="0"/>
              <a:t>, </a:t>
            </a:r>
            <a:r>
              <a:rPr lang="en-US" altLang="en-US" sz="1700" i="1" dirty="0"/>
              <a:t>building</a:t>
            </a:r>
            <a:r>
              <a:rPr lang="en-US" altLang="en-US" sz="1700" dirty="0"/>
              <a:t>, </a:t>
            </a:r>
            <a:r>
              <a:rPr lang="en-US" altLang="en-US" sz="1700" i="1" dirty="0" err="1"/>
              <a:t>room_number</a:t>
            </a:r>
            <a:endParaRPr lang="en-US" altLang="en-US" sz="1700" i="1" dirty="0"/>
          </a:p>
          <a:p>
            <a:r>
              <a:rPr lang="en-US" altLang="en-US" sz="1700" b="1" dirty="0"/>
              <a:t>          from </a:t>
            </a:r>
            <a:r>
              <a:rPr lang="en-US" altLang="en-US" sz="1700" i="1" dirty="0"/>
              <a:t>course</a:t>
            </a:r>
            <a:r>
              <a:rPr lang="en-US" altLang="en-US" sz="1700" dirty="0"/>
              <a:t>, </a:t>
            </a:r>
            <a:r>
              <a:rPr lang="en-US" altLang="en-US" sz="1700" i="1" dirty="0"/>
              <a:t>section</a:t>
            </a:r>
          </a:p>
          <a:p>
            <a:r>
              <a:rPr lang="en-US" altLang="en-US" sz="1700" b="1" dirty="0"/>
              <a:t>          where </a:t>
            </a:r>
            <a:r>
              <a:rPr lang="en-US" altLang="en-US" sz="1700" i="1" dirty="0" err="1"/>
              <a:t>course</a:t>
            </a:r>
            <a:r>
              <a:rPr lang="en-US" altLang="en-US" sz="1700" dirty="0" err="1"/>
              <a:t>.</a:t>
            </a:r>
            <a:r>
              <a:rPr lang="en-US" altLang="en-US" sz="1700" i="1" dirty="0" err="1"/>
              <a:t>course_id</a:t>
            </a:r>
            <a:r>
              <a:rPr lang="en-US" altLang="en-US" sz="1700" i="1" dirty="0"/>
              <a:t> </a:t>
            </a:r>
            <a:r>
              <a:rPr lang="en-US" altLang="en-US" sz="1700" dirty="0"/>
              <a:t>= </a:t>
            </a:r>
            <a:r>
              <a:rPr lang="en-US" altLang="en-US" sz="1700" i="1" dirty="0" err="1"/>
              <a:t>section</a:t>
            </a:r>
            <a:r>
              <a:rPr lang="en-US" altLang="en-US" sz="1700" dirty="0" err="1"/>
              <a:t>.</a:t>
            </a:r>
            <a:r>
              <a:rPr lang="en-US" altLang="en-US" sz="1700" i="1" dirty="0" err="1"/>
              <a:t>course_id</a:t>
            </a:r>
            <a:endParaRPr lang="en-US" altLang="en-US" sz="1700" i="1" dirty="0"/>
          </a:p>
          <a:p>
            <a:r>
              <a:rPr lang="en-US" altLang="en-US" sz="1700" b="1" dirty="0"/>
              <a:t>               and </a:t>
            </a:r>
            <a:r>
              <a:rPr lang="en-US" altLang="en-US" sz="1700" i="1" dirty="0" err="1"/>
              <a:t>course</a:t>
            </a:r>
            <a:r>
              <a:rPr lang="en-US" altLang="en-US" sz="1700" dirty="0" err="1"/>
              <a:t>.</a:t>
            </a:r>
            <a:r>
              <a:rPr lang="en-US" altLang="en-US" sz="1700" i="1" dirty="0" err="1"/>
              <a:t>dept_name</a:t>
            </a:r>
            <a:r>
              <a:rPr lang="en-US" altLang="en-US" sz="1700" i="1" dirty="0"/>
              <a:t> </a:t>
            </a:r>
            <a:r>
              <a:rPr lang="en-US" altLang="en-US" sz="1700" dirty="0"/>
              <a:t>= 'Physics'</a:t>
            </a:r>
          </a:p>
          <a:p>
            <a:r>
              <a:rPr lang="en-US" altLang="en-US" sz="1700" b="1" dirty="0"/>
              <a:t>               and </a:t>
            </a:r>
            <a:r>
              <a:rPr lang="en-US" altLang="en-US" sz="1700" i="1" dirty="0" err="1"/>
              <a:t>section</a:t>
            </a:r>
            <a:r>
              <a:rPr lang="en-US" altLang="en-US" sz="1700" dirty="0" err="1"/>
              <a:t>.</a:t>
            </a:r>
            <a:r>
              <a:rPr lang="en-US" altLang="en-US" sz="1700" i="1" dirty="0" err="1"/>
              <a:t>semester</a:t>
            </a:r>
            <a:r>
              <a:rPr lang="en-US" altLang="en-US" sz="1700" i="1" dirty="0"/>
              <a:t> </a:t>
            </a:r>
            <a:r>
              <a:rPr lang="en-US" altLang="en-US" sz="1700" dirty="0"/>
              <a:t>= 'Fall'</a:t>
            </a:r>
          </a:p>
          <a:p>
            <a:r>
              <a:rPr lang="en-US" altLang="en-US" sz="1700" b="1" dirty="0"/>
              <a:t>               and </a:t>
            </a:r>
            <a:r>
              <a:rPr lang="en-US" altLang="en-US" sz="1700" i="1" dirty="0" err="1"/>
              <a:t>section</a:t>
            </a:r>
            <a:r>
              <a:rPr lang="en-US" altLang="en-US" sz="1700" dirty="0" err="1"/>
              <a:t>.</a:t>
            </a:r>
            <a:r>
              <a:rPr lang="en-US" altLang="en-US" sz="1700" i="1" dirty="0" err="1"/>
              <a:t>year</a:t>
            </a:r>
            <a:r>
              <a:rPr lang="en-US" altLang="en-US" sz="1700" i="1" dirty="0"/>
              <a:t> </a:t>
            </a:r>
            <a:r>
              <a:rPr lang="en-US" altLang="en-US" sz="1700" dirty="0"/>
              <a:t>= '2017')</a:t>
            </a:r>
          </a:p>
          <a:p>
            <a:r>
              <a:rPr lang="en-US" altLang="en-US" sz="1700" b="1" dirty="0"/>
              <a:t>     where </a:t>
            </a:r>
            <a:r>
              <a:rPr lang="en-US" altLang="en-US" sz="1700" i="1" dirty="0"/>
              <a:t>building</a:t>
            </a:r>
            <a:r>
              <a:rPr lang="en-US" altLang="en-US" sz="1700" dirty="0"/>
              <a:t>= 'Watson';</a:t>
            </a:r>
          </a:p>
          <a:p>
            <a:endParaRPr lang="en-US" altLang="en-US" sz="2000" dirty="0"/>
          </a:p>
        </p:txBody>
      </p:sp>
    </p:spTree>
    <p:extLst>
      <p:ext uri="{BB962C8B-B14F-4D97-AF65-F5344CB8AC3E}">
        <p14:creationId xmlns:p14="http://schemas.microsoft.com/office/powerpoint/2010/main" val="64358788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39970" name="Rectangle 2"/>
          <p:cNvSpPr>
            <a:spLocks noGrp="1" noChangeArrowheads="1"/>
          </p:cNvSpPr>
          <p:nvPr>
            <p:ph type="title"/>
          </p:nvPr>
        </p:nvSpPr>
        <p:spPr/>
        <p:txBody>
          <a:bodyPr/>
          <a:lstStyle/>
          <a:p>
            <a:pPr>
              <a:defRPr/>
            </a:pPr>
            <a:r>
              <a:rPr lang="en-US" sz="2800" dirty="0">
                <a:ea typeface="+mj-ea"/>
              </a:rPr>
              <a:t>View Expansion (Cont.)</a:t>
            </a:r>
          </a:p>
        </p:txBody>
      </p:sp>
      <p:sp>
        <p:nvSpPr>
          <p:cNvPr id="48131" name="Rectangle 3"/>
          <p:cNvSpPr>
            <a:spLocks noGrp="1" noChangeArrowheads="1"/>
          </p:cNvSpPr>
          <p:nvPr>
            <p:ph type="body" idx="1"/>
          </p:nvPr>
        </p:nvSpPr>
        <p:spPr>
          <a:xfrm>
            <a:off x="768350" y="1093789"/>
            <a:ext cx="7638803" cy="4051236"/>
          </a:xfrm>
        </p:spPr>
        <p:txBody>
          <a:bodyPr/>
          <a:lstStyle/>
          <a:p>
            <a:pPr>
              <a:tabLst>
                <a:tab pos="681038" algn="l"/>
              </a:tabLst>
            </a:pPr>
            <a:r>
              <a:rPr lang="en-US" altLang="en-US" sz="1700" dirty="0"/>
              <a:t>A way to define the meaning of views defined in terms of other views.</a:t>
            </a:r>
          </a:p>
          <a:p>
            <a:pPr>
              <a:tabLst>
                <a:tab pos="681038" algn="l"/>
              </a:tabLst>
            </a:pPr>
            <a:r>
              <a:rPr lang="en-US" altLang="en-US" sz="1700" dirty="0"/>
              <a:t>Let view </a:t>
            </a:r>
            <a:r>
              <a:rPr lang="en-US" altLang="en-US" sz="1700" i="1" dirty="0"/>
              <a:t>v</a:t>
            </a:r>
            <a:r>
              <a:rPr lang="en-US" altLang="en-US" sz="1700" baseline="-25000" dirty="0"/>
              <a:t>1</a:t>
            </a:r>
            <a:r>
              <a:rPr lang="en-US" altLang="en-US" sz="1700" dirty="0"/>
              <a:t> be defined by an expression </a:t>
            </a:r>
            <a:r>
              <a:rPr lang="en-US" altLang="en-US" sz="1700" i="1" dirty="0"/>
              <a:t>e</a:t>
            </a:r>
            <a:r>
              <a:rPr lang="en-US" altLang="en-US" sz="1700" baseline="-25000" dirty="0"/>
              <a:t>1</a:t>
            </a:r>
            <a:r>
              <a:rPr lang="en-US" altLang="en-US" sz="1700" dirty="0"/>
              <a:t> that may itself contain uses of view relations.</a:t>
            </a:r>
          </a:p>
          <a:p>
            <a:pPr>
              <a:tabLst>
                <a:tab pos="681038" algn="l"/>
              </a:tabLst>
            </a:pPr>
            <a:r>
              <a:rPr lang="en-US" altLang="en-US" sz="1700" dirty="0"/>
              <a:t>View expansion of an expression repeats the following replacement step:</a:t>
            </a:r>
          </a:p>
          <a:p>
            <a:pPr>
              <a:buNone/>
              <a:tabLst>
                <a:tab pos="681038" algn="l"/>
              </a:tabLst>
            </a:pPr>
            <a:r>
              <a:rPr lang="en-US" altLang="en-US" sz="1700" dirty="0"/>
              <a:t>		</a:t>
            </a:r>
            <a:r>
              <a:rPr lang="en-US" altLang="en-US" sz="1700" b="1" dirty="0"/>
              <a:t>repeat</a:t>
            </a:r>
            <a:br>
              <a:rPr lang="en-US" altLang="en-US" sz="1700" b="1" dirty="0"/>
            </a:br>
            <a:r>
              <a:rPr lang="en-US" altLang="en-US" sz="1700" b="1" dirty="0"/>
              <a:t>		</a:t>
            </a:r>
            <a:r>
              <a:rPr lang="en-US" altLang="en-US" sz="1700" dirty="0"/>
              <a:t>Find any view relation </a:t>
            </a:r>
            <a:r>
              <a:rPr lang="en-US" altLang="en-US" sz="1700" i="1" dirty="0"/>
              <a:t>v</a:t>
            </a:r>
            <a:r>
              <a:rPr lang="en-US" altLang="en-US" sz="1700" i="1" baseline="-25000" dirty="0"/>
              <a:t>i</a:t>
            </a:r>
            <a:r>
              <a:rPr lang="en-US" altLang="en-US" sz="1700" dirty="0"/>
              <a:t> in </a:t>
            </a:r>
            <a:r>
              <a:rPr lang="en-US" altLang="en-US" sz="1700" i="1" dirty="0"/>
              <a:t>e</a:t>
            </a:r>
            <a:r>
              <a:rPr lang="en-US" altLang="en-US" sz="1700" baseline="-25000" dirty="0"/>
              <a:t>1</a:t>
            </a:r>
            <a:r>
              <a:rPr lang="en-US" altLang="en-US" sz="1700" dirty="0"/>
              <a:t/>
            </a:r>
            <a:br>
              <a:rPr lang="en-US" altLang="en-US" sz="1700" dirty="0"/>
            </a:br>
            <a:r>
              <a:rPr lang="en-US" altLang="en-US" sz="1700" dirty="0"/>
              <a:t>		Replace the view relation </a:t>
            </a:r>
            <a:r>
              <a:rPr lang="en-US" altLang="en-US" sz="1700" i="1" dirty="0"/>
              <a:t>v</a:t>
            </a:r>
            <a:r>
              <a:rPr lang="en-US" altLang="en-US" sz="1700" i="1" baseline="-25000" dirty="0"/>
              <a:t>i</a:t>
            </a:r>
            <a:r>
              <a:rPr lang="en-US" altLang="en-US" sz="1700" dirty="0"/>
              <a:t> by the expression defining </a:t>
            </a:r>
            <a:r>
              <a:rPr lang="en-US" altLang="en-US" sz="1700" i="1" dirty="0"/>
              <a:t>v</a:t>
            </a:r>
            <a:r>
              <a:rPr lang="en-US" altLang="en-US" sz="1700" i="1" baseline="-25000" dirty="0"/>
              <a:t>i</a:t>
            </a:r>
            <a:r>
              <a:rPr lang="en-US" altLang="en-US" sz="1700" dirty="0"/>
              <a:t>             </a:t>
            </a:r>
            <a:br>
              <a:rPr lang="en-US" altLang="en-US" sz="1700" dirty="0"/>
            </a:br>
            <a:r>
              <a:rPr lang="en-US" altLang="en-US" sz="1700" dirty="0"/>
              <a:t>	</a:t>
            </a:r>
            <a:r>
              <a:rPr lang="en-US" altLang="en-US" sz="1700" b="1" dirty="0"/>
              <a:t>until</a:t>
            </a:r>
            <a:r>
              <a:rPr lang="en-US" altLang="en-US" sz="1700" dirty="0"/>
              <a:t> no more view relations are present in </a:t>
            </a:r>
            <a:r>
              <a:rPr lang="en-US" altLang="en-US" sz="1700" i="1" dirty="0"/>
              <a:t>e</a:t>
            </a:r>
            <a:r>
              <a:rPr lang="en-US" altLang="en-US" sz="1700" baseline="-25000" dirty="0"/>
              <a:t>1</a:t>
            </a:r>
            <a:endParaRPr lang="en-US" altLang="en-US" sz="1700" dirty="0"/>
          </a:p>
          <a:p>
            <a:pPr>
              <a:tabLst>
                <a:tab pos="681038" algn="l"/>
              </a:tabLst>
            </a:pPr>
            <a:r>
              <a:rPr lang="en-US" altLang="en-US" sz="1700" dirty="0"/>
              <a:t>As long as the view definitions are not recursive, this loop will terminate</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9570" name="Rectangle 2"/>
          <p:cNvSpPr>
            <a:spLocks noGrp="1" noChangeArrowheads="1"/>
          </p:cNvSpPr>
          <p:nvPr>
            <p:ph type="title"/>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sz="2800" dirty="0">
                <a:effectLst/>
              </a:rPr>
              <a:t>Materialized Views</a:t>
            </a:r>
          </a:p>
        </p:txBody>
      </p:sp>
      <p:sp>
        <p:nvSpPr>
          <p:cNvPr id="109571" name="Rectangle 3"/>
          <p:cNvSpPr>
            <a:spLocks noGrp="1" noChangeArrowheads="1"/>
          </p:cNvSpPr>
          <p:nvPr>
            <p:ph type="body" idx="1"/>
          </p:nvPr>
        </p:nvSpPr>
        <p:spPr>
          <a:xfrm>
            <a:off x="768350" y="1203517"/>
            <a:ext cx="7665435" cy="3502596"/>
          </a:xfrm>
        </p:spPr>
        <p:txBody>
          <a:bodyPr/>
          <a:lstStyle/>
          <a:p>
            <a:r>
              <a:rPr lang="en-US" altLang="en-US" sz="1700" dirty="0"/>
              <a:t>Certain database systems allow view relations to be physically stored.</a:t>
            </a:r>
          </a:p>
          <a:p>
            <a:pPr lvl="1"/>
            <a:r>
              <a:rPr lang="en-US" altLang="en-US" sz="1700" dirty="0"/>
              <a:t> Physical copy created when the view is defined.</a:t>
            </a:r>
          </a:p>
          <a:p>
            <a:pPr lvl="1"/>
            <a:r>
              <a:rPr lang="en-US" altLang="en-US" sz="1700" dirty="0"/>
              <a:t>Such views are called </a:t>
            </a:r>
            <a:r>
              <a:rPr lang="en-US" altLang="en-US" sz="1700" b="1" dirty="0">
                <a:solidFill>
                  <a:srgbClr val="002060"/>
                </a:solidFill>
              </a:rPr>
              <a:t>Materialized view</a:t>
            </a:r>
            <a:r>
              <a:rPr lang="en-US" altLang="en-US" sz="1700" dirty="0"/>
              <a:t>:</a:t>
            </a:r>
          </a:p>
          <a:p>
            <a:r>
              <a:rPr lang="en-US" altLang="en-US" sz="1700" dirty="0"/>
              <a:t>If relations used in the query are updated, the materialized view result becomes out of date</a:t>
            </a:r>
          </a:p>
          <a:p>
            <a:pPr lvl="1"/>
            <a:r>
              <a:rPr lang="en-US" altLang="en-US" sz="1700" dirty="0"/>
              <a:t>Need to </a:t>
            </a:r>
            <a:r>
              <a:rPr lang="en-US" altLang="en-US" sz="1700" b="1" dirty="0">
                <a:solidFill>
                  <a:srgbClr val="002060"/>
                </a:solidFill>
              </a:rPr>
              <a:t>maintain</a:t>
            </a:r>
            <a:r>
              <a:rPr lang="en-US" altLang="en-US" sz="1700" dirty="0"/>
              <a:t> the view, by updating the view whenever the underlying relations are updated.</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42018" name="Rectangle 2"/>
          <p:cNvSpPr>
            <a:spLocks noGrp="1" noChangeArrowheads="1"/>
          </p:cNvSpPr>
          <p:nvPr>
            <p:ph type="title"/>
          </p:nvPr>
        </p:nvSpPr>
        <p:spPr/>
        <p:txBody>
          <a:bodyPr/>
          <a:lstStyle/>
          <a:p>
            <a:pPr>
              <a:defRPr/>
            </a:pPr>
            <a:r>
              <a:rPr lang="en-US" sz="2800" dirty="0">
                <a:ea typeface="+mj-ea"/>
              </a:rPr>
              <a:t>Update of a View</a:t>
            </a:r>
          </a:p>
        </p:txBody>
      </p:sp>
      <p:sp>
        <p:nvSpPr>
          <p:cNvPr id="50179" name="Rectangle 3"/>
          <p:cNvSpPr>
            <a:spLocks noGrp="1" noChangeArrowheads="1"/>
          </p:cNvSpPr>
          <p:nvPr>
            <p:ph type="body" idx="1"/>
          </p:nvPr>
        </p:nvSpPr>
        <p:spPr>
          <a:xfrm>
            <a:off x="768351" y="1106488"/>
            <a:ext cx="7595362" cy="4952936"/>
          </a:xfrm>
        </p:spPr>
        <p:txBody>
          <a:bodyPr/>
          <a:lstStyle/>
          <a:p>
            <a:pPr>
              <a:tabLst>
                <a:tab pos="1085850" algn="l"/>
              </a:tabLst>
            </a:pPr>
            <a:r>
              <a:rPr lang="en-US" altLang="en-US" sz="1700" dirty="0"/>
              <a:t>Add a new tuple to </a:t>
            </a:r>
            <a:r>
              <a:rPr lang="en-US" altLang="en-US" sz="1700" i="1" dirty="0"/>
              <a:t>faculty </a:t>
            </a:r>
            <a:r>
              <a:rPr lang="en-US" altLang="en-US" sz="1700" dirty="0"/>
              <a:t>view which we defined earlier</a:t>
            </a:r>
            <a:endParaRPr lang="en-US" altLang="en-US" sz="1700" b="1" dirty="0"/>
          </a:p>
          <a:p>
            <a:pPr>
              <a:buFont typeface="Monotype Sorts" charset="2"/>
              <a:buNone/>
              <a:tabLst>
                <a:tab pos="1085850" algn="l"/>
              </a:tabLst>
            </a:pPr>
            <a:r>
              <a:rPr lang="en-US" altLang="en-US" sz="1700" dirty="0"/>
              <a:t>		</a:t>
            </a:r>
            <a:r>
              <a:rPr lang="en-US" altLang="en-US" sz="1700" b="1" dirty="0"/>
              <a:t>insert into </a:t>
            </a:r>
            <a:r>
              <a:rPr lang="en-US" altLang="en-US" sz="1700" i="1" dirty="0"/>
              <a:t>faculty </a:t>
            </a:r>
          </a:p>
          <a:p>
            <a:pPr>
              <a:buFont typeface="Monotype Sorts" charset="2"/>
              <a:buNone/>
              <a:tabLst>
                <a:tab pos="1085850" algn="l"/>
              </a:tabLst>
            </a:pPr>
            <a:r>
              <a:rPr lang="en-US" altLang="en-US" sz="1700" b="1" i="1" dirty="0"/>
              <a:t>                       </a:t>
            </a:r>
            <a:r>
              <a:rPr lang="en-US" altLang="en-US" sz="1700" b="1" dirty="0"/>
              <a:t>values </a:t>
            </a:r>
            <a:r>
              <a:rPr lang="en-US" altLang="en-US" sz="1700" dirty="0"/>
              <a:t>('30765', 'Green', 'Music');</a:t>
            </a:r>
          </a:p>
          <a:p>
            <a:pPr>
              <a:tabLst>
                <a:tab pos="1085850" algn="l"/>
              </a:tabLst>
            </a:pPr>
            <a:r>
              <a:rPr lang="en-US" altLang="en-US" sz="1700" dirty="0"/>
              <a:t>This insertion must be represented by the insertion into  the </a:t>
            </a:r>
            <a:r>
              <a:rPr lang="en-US" altLang="en-US" sz="1700" i="1" dirty="0"/>
              <a:t>instructor</a:t>
            </a:r>
            <a:r>
              <a:rPr lang="en-US" altLang="en-US" sz="1700" dirty="0"/>
              <a:t> relation</a:t>
            </a:r>
          </a:p>
          <a:p>
            <a:pPr lvl="1">
              <a:tabLst>
                <a:tab pos="1085850" algn="l"/>
              </a:tabLst>
            </a:pPr>
            <a:r>
              <a:rPr lang="en-US" altLang="en-US" sz="1700" dirty="0">
                <a:cs typeface="+mn-cs"/>
              </a:rPr>
              <a:t>Must have a  value for salary.</a:t>
            </a:r>
          </a:p>
          <a:p>
            <a:pPr>
              <a:tabLst>
                <a:tab pos="1085850" algn="l"/>
              </a:tabLst>
            </a:pPr>
            <a:r>
              <a:rPr lang="en-US" altLang="en-US" sz="1700" dirty="0">
                <a:cs typeface="+mn-cs"/>
              </a:rPr>
              <a:t>Two approaches</a:t>
            </a:r>
          </a:p>
          <a:p>
            <a:pPr lvl="1">
              <a:tabLst>
                <a:tab pos="1085850" algn="l"/>
              </a:tabLst>
            </a:pPr>
            <a:r>
              <a:rPr lang="en-US" altLang="en-US" sz="1700" dirty="0">
                <a:cs typeface="+mn-cs"/>
              </a:rPr>
              <a:t>Reject the insert</a:t>
            </a:r>
          </a:p>
          <a:p>
            <a:pPr lvl="1">
              <a:tabLst>
                <a:tab pos="1085850" algn="l"/>
              </a:tabLst>
            </a:pPr>
            <a:r>
              <a:rPr lang="en-US" altLang="en-US" sz="1700" dirty="0">
                <a:cs typeface="+mn-cs"/>
              </a:rPr>
              <a:t>Inset the tuple</a:t>
            </a:r>
          </a:p>
          <a:p>
            <a:pPr>
              <a:buFont typeface="Monotype Sorts" charset="2"/>
              <a:buNone/>
              <a:tabLst>
                <a:tab pos="1085850" algn="l"/>
              </a:tabLst>
            </a:pPr>
            <a:r>
              <a:rPr lang="en-US" altLang="en-US" sz="1700" dirty="0"/>
              <a:t>			('30765', 'Green', 'Music', null)</a:t>
            </a:r>
          </a:p>
          <a:p>
            <a:pPr>
              <a:buFont typeface="Monotype Sorts" charset="2"/>
              <a:buNone/>
              <a:tabLst>
                <a:tab pos="1085850" algn="l"/>
              </a:tabLst>
            </a:pPr>
            <a:r>
              <a:rPr lang="en-US" altLang="en-US" sz="1700" dirty="0"/>
              <a:t>	      into the </a:t>
            </a:r>
            <a:r>
              <a:rPr lang="en-US" altLang="en-US" sz="1700" i="1" dirty="0"/>
              <a:t>instructor</a:t>
            </a:r>
            <a:r>
              <a:rPr lang="en-US" altLang="en-US" sz="1700" dirty="0"/>
              <a:t> relation</a:t>
            </a:r>
          </a:p>
          <a:p>
            <a:pPr>
              <a:buFont typeface="Monotype Sorts" charset="2"/>
              <a:buNone/>
              <a:tabLst>
                <a:tab pos="1085850" algn="l"/>
              </a:tabLst>
            </a:pPr>
            <a:endParaRPr lang="en-US" altLang="en-US" sz="2000"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44066" name="Rectangle 2"/>
          <p:cNvSpPr>
            <a:spLocks noGrp="1" noChangeArrowheads="1"/>
          </p:cNvSpPr>
          <p:nvPr>
            <p:ph type="title"/>
          </p:nvPr>
        </p:nvSpPr>
        <p:spPr>
          <a:xfrm>
            <a:off x="890270" y="117475"/>
            <a:ext cx="8077200" cy="609600"/>
          </a:xfrm>
        </p:spPr>
        <p:txBody>
          <a:bodyPr/>
          <a:lstStyle/>
          <a:p>
            <a:pPr>
              <a:defRPr/>
            </a:pPr>
            <a:r>
              <a:rPr lang="en-US" sz="2800" dirty="0">
                <a:ea typeface="+mj-ea"/>
              </a:rPr>
              <a:t>Some Updates Cannot be Translated Uniquely</a:t>
            </a:r>
          </a:p>
        </p:txBody>
      </p:sp>
      <p:sp>
        <p:nvSpPr>
          <p:cNvPr id="52227" name="Rectangle 3"/>
          <p:cNvSpPr>
            <a:spLocks noGrp="1" noChangeArrowheads="1"/>
          </p:cNvSpPr>
          <p:nvPr>
            <p:ph type="body" idx="1"/>
          </p:nvPr>
        </p:nvSpPr>
        <p:spPr>
          <a:xfrm>
            <a:off x="798990" y="1201917"/>
            <a:ext cx="7369651" cy="4162563"/>
          </a:xfrm>
        </p:spPr>
        <p:txBody>
          <a:bodyPr/>
          <a:lstStyle/>
          <a:p>
            <a:r>
              <a:rPr lang="en-US" altLang="en-US" sz="1700" b="1" dirty="0"/>
              <a:t>create view </a:t>
            </a:r>
            <a:r>
              <a:rPr lang="en-US" altLang="en-US" sz="1700" i="1" dirty="0" err="1"/>
              <a:t>instructor_info</a:t>
            </a:r>
            <a:r>
              <a:rPr lang="en-US" altLang="en-US" sz="1700" i="1" dirty="0"/>
              <a:t> </a:t>
            </a:r>
            <a:r>
              <a:rPr lang="en-US" altLang="en-US" sz="1700" b="1" dirty="0"/>
              <a:t>as</a:t>
            </a:r>
            <a:br>
              <a:rPr lang="en-US" altLang="en-US" sz="1700" b="1" dirty="0"/>
            </a:br>
            <a:r>
              <a:rPr lang="en-US" altLang="en-US" sz="1700" b="1" dirty="0"/>
              <a:t>      select </a:t>
            </a:r>
            <a:r>
              <a:rPr lang="en-US" altLang="en-US" sz="1700" i="1" dirty="0"/>
              <a:t>ID</a:t>
            </a:r>
            <a:r>
              <a:rPr lang="en-US" altLang="en-US" sz="1700" dirty="0"/>
              <a:t>, </a:t>
            </a:r>
            <a:r>
              <a:rPr lang="en-US" altLang="en-US" sz="1700" i="1" dirty="0"/>
              <a:t>name</a:t>
            </a:r>
            <a:r>
              <a:rPr lang="en-US" altLang="en-US" sz="1700" dirty="0"/>
              <a:t>, </a:t>
            </a:r>
            <a:r>
              <a:rPr lang="en-US" altLang="en-US" sz="1700" i="1" dirty="0"/>
              <a:t>building</a:t>
            </a:r>
            <a:br>
              <a:rPr lang="en-US" altLang="en-US" sz="1700" i="1" dirty="0"/>
            </a:br>
            <a:r>
              <a:rPr lang="en-US" altLang="en-US" sz="1700" i="1" dirty="0"/>
              <a:t>       </a:t>
            </a:r>
            <a:r>
              <a:rPr lang="en-US" altLang="en-US" sz="1700" b="1" dirty="0"/>
              <a:t>from </a:t>
            </a:r>
            <a:r>
              <a:rPr lang="en-US" altLang="en-US" sz="1700" i="1" dirty="0"/>
              <a:t>instructor</a:t>
            </a:r>
            <a:r>
              <a:rPr lang="en-US" altLang="en-US" sz="1700" dirty="0"/>
              <a:t>, </a:t>
            </a:r>
            <a:r>
              <a:rPr lang="en-US" altLang="en-US" sz="1700" i="1" dirty="0"/>
              <a:t>department</a:t>
            </a:r>
            <a:br>
              <a:rPr lang="en-US" altLang="en-US" sz="1700" i="1" dirty="0"/>
            </a:br>
            <a:r>
              <a:rPr lang="en-US" altLang="en-US" sz="1700" i="1" dirty="0"/>
              <a:t>       </a:t>
            </a:r>
            <a:r>
              <a:rPr lang="en-US" altLang="en-US" sz="1700" b="1" dirty="0"/>
              <a:t>where </a:t>
            </a:r>
            <a:r>
              <a:rPr lang="en-US" altLang="en-US" sz="1700" i="1" dirty="0" err="1"/>
              <a:t>instructor</a:t>
            </a:r>
            <a:r>
              <a:rPr lang="en-US" altLang="en-US" sz="1700" dirty="0" err="1"/>
              <a:t>.</a:t>
            </a:r>
            <a:r>
              <a:rPr lang="en-US" altLang="en-US" sz="1700" i="1" dirty="0" err="1"/>
              <a:t>dept_name</a:t>
            </a:r>
            <a:r>
              <a:rPr lang="en-US" altLang="en-US" sz="1700" dirty="0"/>
              <a:t>= </a:t>
            </a:r>
            <a:r>
              <a:rPr lang="en-US" altLang="en-US" sz="1700" i="1" dirty="0" err="1"/>
              <a:t>department</a:t>
            </a:r>
            <a:r>
              <a:rPr lang="en-US" altLang="en-US" sz="1700" dirty="0" err="1"/>
              <a:t>.</a:t>
            </a:r>
            <a:r>
              <a:rPr lang="en-US" altLang="en-US" sz="1700" i="1" dirty="0" err="1"/>
              <a:t>dept_name</a:t>
            </a:r>
            <a:r>
              <a:rPr lang="en-US" altLang="en-US" sz="1700" dirty="0"/>
              <a:t>;</a:t>
            </a:r>
          </a:p>
          <a:p>
            <a:r>
              <a:rPr lang="en-US" altLang="en-US" sz="1700" b="1" dirty="0">
                <a:sym typeface="Symbol" panose="05050102010706020507" pitchFamily="18" charset="2"/>
              </a:rPr>
              <a:t>insert into </a:t>
            </a:r>
            <a:r>
              <a:rPr lang="en-US" altLang="en-US" sz="1700" i="1" dirty="0" err="1">
                <a:sym typeface="Symbol" panose="05050102010706020507" pitchFamily="18" charset="2"/>
              </a:rPr>
              <a:t>instructor_info</a:t>
            </a:r>
            <a:r>
              <a:rPr lang="en-US" altLang="en-US" sz="1700" i="1" dirty="0">
                <a:sym typeface="Symbol" panose="05050102010706020507" pitchFamily="18" charset="2"/>
              </a:rPr>
              <a:t> </a:t>
            </a:r>
          </a:p>
          <a:p>
            <a:pPr>
              <a:buNone/>
            </a:pPr>
            <a:r>
              <a:rPr lang="en-US" altLang="en-US" sz="1700" b="1" i="1" dirty="0">
                <a:sym typeface="Symbol" panose="05050102010706020507" pitchFamily="18" charset="2"/>
              </a:rPr>
              <a:t>             </a:t>
            </a:r>
            <a:r>
              <a:rPr lang="en-US" altLang="en-US" sz="1700" b="1" dirty="0">
                <a:sym typeface="Symbol" panose="05050102010706020507" pitchFamily="18" charset="2"/>
              </a:rPr>
              <a:t>values </a:t>
            </a:r>
            <a:r>
              <a:rPr lang="en-US" altLang="en-US" sz="1700" dirty="0">
                <a:sym typeface="Symbol" panose="05050102010706020507" pitchFamily="18" charset="2"/>
              </a:rPr>
              <a:t>('69987', 'White', 'Taylor');</a:t>
            </a:r>
          </a:p>
          <a:p>
            <a:r>
              <a:rPr lang="en-US" altLang="en-US" sz="1700" dirty="0">
                <a:sym typeface="Symbol" panose="05050102010706020507" pitchFamily="18" charset="2"/>
              </a:rPr>
              <a:t>Issues</a:t>
            </a:r>
          </a:p>
          <a:p>
            <a:pPr lvl="1"/>
            <a:r>
              <a:rPr lang="en-US" altLang="en-US" sz="1700" dirty="0"/>
              <a:t>Which department, if multiple departments in Taylor?</a:t>
            </a:r>
          </a:p>
          <a:p>
            <a:pPr lvl="1"/>
            <a:r>
              <a:rPr lang="en-US" altLang="en-US" sz="1700" dirty="0"/>
              <a:t>What if no department is in Taylor?</a:t>
            </a:r>
            <a:endParaRPr lang="en-US" altLang="en-US" sz="1700" b="1"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07554" name="Rectangle 2"/>
          <p:cNvSpPr>
            <a:spLocks noGrp="1" noChangeArrowheads="1"/>
          </p:cNvSpPr>
          <p:nvPr>
            <p:ph type="title"/>
          </p:nvPr>
        </p:nvSpPr>
        <p:spPr/>
        <p:txBody>
          <a:bodyPr/>
          <a:lstStyle/>
          <a:p>
            <a:pPr>
              <a:defRPr/>
            </a:pPr>
            <a:r>
              <a:rPr lang="en-US" sz="2800" dirty="0">
                <a:ea typeface="+mj-ea"/>
              </a:rPr>
              <a:t>And Some Not at All</a:t>
            </a:r>
          </a:p>
        </p:txBody>
      </p:sp>
      <p:sp>
        <p:nvSpPr>
          <p:cNvPr id="54275" name="Rectangle 3"/>
          <p:cNvSpPr>
            <a:spLocks noGrp="1" noChangeArrowheads="1"/>
          </p:cNvSpPr>
          <p:nvPr>
            <p:ph type="body" idx="1"/>
          </p:nvPr>
        </p:nvSpPr>
        <p:spPr>
          <a:xfrm>
            <a:off x="768350" y="1093789"/>
            <a:ext cx="6400547" cy="3417252"/>
          </a:xfrm>
        </p:spPr>
        <p:txBody>
          <a:bodyPr/>
          <a:lstStyle/>
          <a:p>
            <a:r>
              <a:rPr lang="en-US" altLang="en-US" sz="1700" b="1" dirty="0"/>
              <a:t>create view </a:t>
            </a:r>
            <a:r>
              <a:rPr lang="en-US" altLang="en-US" sz="1700" i="1" dirty="0" err="1"/>
              <a:t>history_instructors</a:t>
            </a:r>
            <a:r>
              <a:rPr lang="en-US" altLang="en-US" sz="1700" i="1" dirty="0"/>
              <a:t> </a:t>
            </a:r>
            <a:r>
              <a:rPr lang="en-US" altLang="en-US" sz="1700" b="1" dirty="0"/>
              <a:t>as</a:t>
            </a:r>
            <a:br>
              <a:rPr lang="en-US" altLang="en-US" sz="1700" b="1" dirty="0"/>
            </a:br>
            <a:r>
              <a:rPr lang="en-US" altLang="en-US" sz="1700" b="1" dirty="0"/>
              <a:t>   select </a:t>
            </a:r>
            <a:r>
              <a:rPr lang="en-US" altLang="en-US" sz="1700" dirty="0"/>
              <a:t>*</a:t>
            </a:r>
            <a:br>
              <a:rPr lang="en-US" altLang="en-US" sz="1700" dirty="0"/>
            </a:br>
            <a:r>
              <a:rPr lang="en-US" altLang="en-US" sz="1700" dirty="0"/>
              <a:t>   </a:t>
            </a:r>
            <a:r>
              <a:rPr lang="en-US" altLang="en-US" sz="1700" b="1" dirty="0"/>
              <a:t>from </a:t>
            </a:r>
            <a:r>
              <a:rPr lang="en-US" altLang="en-US" sz="1700" i="1" dirty="0"/>
              <a:t>instructor</a:t>
            </a:r>
            <a:br>
              <a:rPr lang="en-US" altLang="en-US" sz="1700" i="1" dirty="0"/>
            </a:br>
            <a:r>
              <a:rPr lang="en-US" altLang="en-US" sz="1700" i="1" dirty="0"/>
              <a:t>   </a:t>
            </a:r>
            <a:r>
              <a:rPr lang="en-US" altLang="en-US" sz="1700" b="1" dirty="0"/>
              <a:t>where </a:t>
            </a:r>
            <a:r>
              <a:rPr lang="en-US" altLang="en-US" sz="1700" i="1" dirty="0"/>
              <a:t>dept_name</a:t>
            </a:r>
            <a:r>
              <a:rPr lang="en-US" altLang="en-US" sz="1700" dirty="0"/>
              <a:t>= 'History';</a:t>
            </a:r>
          </a:p>
          <a:p>
            <a:r>
              <a:rPr lang="en-US" altLang="en-US" sz="1700" dirty="0"/>
              <a:t>What happens if we insert </a:t>
            </a:r>
          </a:p>
          <a:p>
            <a:pPr>
              <a:buNone/>
            </a:pPr>
            <a:r>
              <a:rPr lang="en-US" altLang="en-US" sz="1700" dirty="0"/>
              <a:t>           ('25566', 'Brown', 'Biology', 100000)</a:t>
            </a:r>
          </a:p>
          <a:p>
            <a:pPr>
              <a:buNone/>
            </a:pPr>
            <a:r>
              <a:rPr lang="en-US" altLang="en-US" sz="1700" dirty="0"/>
              <a:t>       into </a:t>
            </a:r>
            <a:r>
              <a:rPr lang="en-US" altLang="en-US" sz="1700" i="1" dirty="0" err="1"/>
              <a:t>history_instructors</a:t>
            </a:r>
            <a:r>
              <a:rPr lang="en-US" altLang="en-US" sz="1700" i="1" dirty="0"/>
              <a:t>?</a:t>
            </a:r>
            <a:endParaRPr lang="en-US" altLang="en-US" sz="1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44066" name="Rectangle 2"/>
          <p:cNvSpPr>
            <a:spLocks noGrp="1" noChangeArrowheads="1"/>
          </p:cNvSpPr>
          <p:nvPr>
            <p:ph type="title"/>
          </p:nvPr>
        </p:nvSpPr>
        <p:spPr/>
        <p:txBody>
          <a:bodyPr/>
          <a:lstStyle/>
          <a:p>
            <a:pPr>
              <a:defRPr/>
            </a:pPr>
            <a:r>
              <a:rPr lang="en-US" sz="2800" dirty="0">
                <a:ea typeface="+mj-ea"/>
              </a:rPr>
              <a:t>View Updates in SQL </a:t>
            </a:r>
          </a:p>
        </p:txBody>
      </p:sp>
      <p:sp>
        <p:nvSpPr>
          <p:cNvPr id="52227" name="Rectangle 3"/>
          <p:cNvSpPr>
            <a:spLocks noGrp="1" noChangeArrowheads="1"/>
          </p:cNvSpPr>
          <p:nvPr>
            <p:ph type="body" idx="1"/>
          </p:nvPr>
        </p:nvSpPr>
        <p:spPr>
          <a:xfrm>
            <a:off x="768350" y="1229275"/>
            <a:ext cx="7400291" cy="3184229"/>
          </a:xfrm>
        </p:spPr>
        <p:txBody>
          <a:bodyPr/>
          <a:lstStyle/>
          <a:p>
            <a:r>
              <a:rPr lang="en-US" altLang="en-US" sz="1700" dirty="0"/>
              <a:t>Most SQL implementations allow updates only on simple views </a:t>
            </a:r>
          </a:p>
          <a:p>
            <a:pPr lvl="1"/>
            <a:r>
              <a:rPr lang="en-US" altLang="en-US" sz="1700" dirty="0"/>
              <a:t>The </a:t>
            </a:r>
            <a:r>
              <a:rPr lang="en-US" altLang="en-US" sz="1700" b="1" dirty="0"/>
              <a:t>from </a:t>
            </a:r>
            <a:r>
              <a:rPr lang="en-US" altLang="en-US" sz="1700" dirty="0"/>
              <a:t>clause has only one database relation.</a:t>
            </a:r>
          </a:p>
          <a:p>
            <a:pPr lvl="1"/>
            <a:r>
              <a:rPr lang="en-US" altLang="en-US" sz="1700" dirty="0"/>
              <a:t>The </a:t>
            </a:r>
            <a:r>
              <a:rPr lang="en-US" altLang="en-US" sz="1700" b="1" dirty="0"/>
              <a:t>select </a:t>
            </a:r>
            <a:r>
              <a:rPr lang="en-US" altLang="en-US" sz="1700" dirty="0"/>
              <a:t>clause contains only attribute names of the relation, and does not have any expressions, aggregates, or </a:t>
            </a:r>
            <a:r>
              <a:rPr lang="en-US" altLang="en-US" sz="1700" b="1" dirty="0"/>
              <a:t>distinct </a:t>
            </a:r>
            <a:r>
              <a:rPr lang="en-US" altLang="en-US" sz="1700" dirty="0"/>
              <a:t>specification.</a:t>
            </a:r>
          </a:p>
          <a:p>
            <a:pPr lvl="1"/>
            <a:r>
              <a:rPr lang="en-US" altLang="en-US" sz="1700" dirty="0"/>
              <a:t>Any attribute not listed in the </a:t>
            </a:r>
            <a:r>
              <a:rPr lang="en-US" altLang="en-US" sz="1700" b="1" dirty="0"/>
              <a:t>select </a:t>
            </a:r>
            <a:r>
              <a:rPr lang="en-US" altLang="en-US" sz="1700" dirty="0"/>
              <a:t>clause can be set to null</a:t>
            </a:r>
          </a:p>
          <a:p>
            <a:pPr lvl="1"/>
            <a:r>
              <a:rPr lang="en-US" altLang="en-US" sz="1700" dirty="0"/>
              <a:t>The query does not have a </a:t>
            </a:r>
            <a:r>
              <a:rPr lang="en-US" altLang="en-US" sz="1700" b="1" dirty="0"/>
              <a:t>group </a:t>
            </a:r>
            <a:r>
              <a:rPr lang="en-US" altLang="en-US" sz="1700" dirty="0"/>
              <a:t>by or </a:t>
            </a:r>
            <a:r>
              <a:rPr lang="en-US" altLang="en-US" sz="1700" b="1" dirty="0"/>
              <a:t>having </a:t>
            </a:r>
            <a:r>
              <a:rPr lang="en-US" altLang="en-US" sz="1700" dirty="0"/>
              <a:t>clause.</a:t>
            </a:r>
          </a:p>
          <a:p>
            <a:pPr lvl="1"/>
            <a:endParaRPr lang="en-US" alt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17794" name="Rectangle 2"/>
          <p:cNvSpPr>
            <a:spLocks noGrp="1" noChangeArrowheads="1"/>
          </p:cNvSpPr>
          <p:nvPr>
            <p:ph type="title"/>
          </p:nvPr>
        </p:nvSpPr>
        <p:spPr/>
        <p:txBody>
          <a:bodyPr/>
          <a:lstStyle/>
          <a:p>
            <a:r>
              <a:rPr lang="en-US" altLang="en-US" sz="2800" dirty="0">
                <a:effectLst>
                  <a:outerShdw blurRad="38100" dist="38100" dir="2700000" algn="tl">
                    <a:srgbClr val="C0C0C0"/>
                  </a:outerShdw>
                </a:effectLst>
              </a:rPr>
              <a:t>Index Creation</a:t>
            </a:r>
          </a:p>
        </p:txBody>
      </p:sp>
      <p:sp>
        <p:nvSpPr>
          <p:cNvPr id="72707" name="Rectangle 3"/>
          <p:cNvSpPr>
            <a:spLocks noGrp="1" noChangeArrowheads="1"/>
          </p:cNvSpPr>
          <p:nvPr>
            <p:ph type="body" idx="1"/>
          </p:nvPr>
        </p:nvSpPr>
        <p:spPr>
          <a:xfrm>
            <a:off x="768351" y="1093789"/>
            <a:ext cx="7638802" cy="4112195"/>
          </a:xfrm>
        </p:spPr>
        <p:txBody>
          <a:bodyPr/>
          <a:lstStyle/>
          <a:p>
            <a:r>
              <a:rPr lang="en-US" altLang="en-US" sz="1700" dirty="0"/>
              <a:t>Many queries reference only a small proportion of the records in a table. </a:t>
            </a:r>
          </a:p>
          <a:p>
            <a:r>
              <a:rPr lang="en-US" altLang="en-US" sz="1700" dirty="0"/>
              <a:t>It is inefficient for the system to read every record to find  a record with  particular value</a:t>
            </a:r>
          </a:p>
          <a:p>
            <a:r>
              <a:rPr lang="en-US" altLang="en-US" sz="1700" dirty="0"/>
              <a:t>An </a:t>
            </a:r>
            <a:r>
              <a:rPr lang="en-US" altLang="en-US" sz="1700" b="1" dirty="0">
                <a:solidFill>
                  <a:srgbClr val="002060"/>
                </a:solidFill>
              </a:rPr>
              <a:t>index</a:t>
            </a:r>
            <a:r>
              <a:rPr lang="en-US" altLang="en-US" sz="1700" dirty="0"/>
              <a:t> on an attribute of a relation is a data structure that allows the database system to find those tuples in the relation that have a specified value for that attribute efficiently, without scanning through all the tuples of the relation.</a:t>
            </a:r>
          </a:p>
          <a:p>
            <a:r>
              <a:rPr lang="en-US" altLang="en-US" sz="1700" dirty="0"/>
              <a:t>We create an index with the </a:t>
            </a:r>
            <a:r>
              <a:rPr lang="en-US" altLang="en-US" sz="1700" b="1" dirty="0"/>
              <a:t>create index </a:t>
            </a:r>
            <a:r>
              <a:rPr lang="en-US" altLang="en-US" sz="1700" dirty="0"/>
              <a:t>command</a:t>
            </a:r>
          </a:p>
          <a:p>
            <a:pPr>
              <a:buNone/>
            </a:pPr>
            <a:r>
              <a:rPr lang="en-US" altLang="en-US" sz="1700" dirty="0"/>
              <a:t>         </a:t>
            </a:r>
            <a:r>
              <a:rPr lang="en-US" altLang="en-US" sz="1700" b="1" dirty="0"/>
              <a:t>create index </a:t>
            </a:r>
            <a:r>
              <a:rPr lang="en-US" altLang="en-US" sz="1700" dirty="0"/>
              <a:t>&lt;name&gt; </a:t>
            </a:r>
            <a:r>
              <a:rPr lang="en-US" altLang="en-US" sz="1700" b="1" dirty="0"/>
              <a:t>on </a:t>
            </a:r>
            <a:r>
              <a:rPr lang="en-US" altLang="en-US" sz="1700" dirty="0"/>
              <a:t>&lt;relation-name&gt; (attribute);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17794" name="Rectangle 2"/>
          <p:cNvSpPr>
            <a:spLocks noGrp="1" noChangeArrowheads="1"/>
          </p:cNvSpPr>
          <p:nvPr>
            <p:ph type="title"/>
          </p:nvPr>
        </p:nvSpPr>
        <p:spPr/>
        <p:txBody>
          <a:bodyPr/>
          <a:lstStyle/>
          <a:p>
            <a:r>
              <a:rPr lang="en-US" altLang="en-US" sz="2800" dirty="0">
                <a:effectLst>
                  <a:outerShdw blurRad="38100" dist="38100" dir="2700000" algn="tl">
                    <a:srgbClr val="C0C0C0"/>
                  </a:outerShdw>
                </a:effectLst>
              </a:rPr>
              <a:t>Index Creation Example</a:t>
            </a:r>
          </a:p>
        </p:txBody>
      </p:sp>
      <p:sp>
        <p:nvSpPr>
          <p:cNvPr id="72707" name="Rectangle 3"/>
          <p:cNvSpPr>
            <a:spLocks noGrp="1" noChangeArrowheads="1"/>
          </p:cNvSpPr>
          <p:nvPr>
            <p:ph type="body" idx="1"/>
          </p:nvPr>
        </p:nvSpPr>
        <p:spPr>
          <a:xfrm>
            <a:off x="768351" y="1093789"/>
            <a:ext cx="7497826" cy="4563300"/>
          </a:xfrm>
        </p:spPr>
        <p:txBody>
          <a:bodyPr/>
          <a:lstStyle/>
          <a:p>
            <a:r>
              <a:rPr lang="en-US" altLang="en-US" sz="1700" b="1" dirty="0"/>
              <a:t>create table </a:t>
            </a:r>
            <a:r>
              <a:rPr lang="en-US" altLang="en-US" sz="1700" i="1" dirty="0"/>
              <a:t>student	</a:t>
            </a:r>
            <a:br>
              <a:rPr lang="en-US" altLang="en-US" sz="1700" i="1" dirty="0"/>
            </a:br>
            <a:r>
              <a:rPr lang="en-US" altLang="en-US" sz="1700" dirty="0"/>
              <a:t>(</a:t>
            </a:r>
            <a:r>
              <a:rPr lang="en-US" altLang="en-US" sz="1700" i="1" dirty="0"/>
              <a:t>ID </a:t>
            </a:r>
            <a:r>
              <a:rPr lang="en-US" altLang="en-US" sz="1700" b="1" dirty="0" err="1"/>
              <a:t>varchar</a:t>
            </a:r>
            <a:r>
              <a:rPr lang="en-US" altLang="en-US" sz="1700" b="1" dirty="0"/>
              <a:t> </a:t>
            </a:r>
            <a:r>
              <a:rPr lang="en-US" altLang="en-US" sz="1700" dirty="0"/>
              <a:t>(5),</a:t>
            </a:r>
            <a:br>
              <a:rPr lang="en-US" altLang="en-US" sz="1700" dirty="0"/>
            </a:br>
            <a:r>
              <a:rPr lang="en-US" altLang="en-US" sz="1700" i="1" dirty="0"/>
              <a:t>name </a:t>
            </a:r>
            <a:r>
              <a:rPr lang="en-US" altLang="en-US" sz="1700" b="1" dirty="0" err="1"/>
              <a:t>varchar</a:t>
            </a:r>
            <a:r>
              <a:rPr lang="en-US" altLang="en-US" sz="1700" b="1" dirty="0"/>
              <a:t> </a:t>
            </a:r>
            <a:r>
              <a:rPr lang="en-US" altLang="en-US" sz="1700" dirty="0"/>
              <a:t>(20) </a:t>
            </a:r>
            <a:r>
              <a:rPr lang="en-US" altLang="en-US" sz="1700" b="1" dirty="0"/>
              <a:t>not null</a:t>
            </a:r>
            <a:r>
              <a:rPr lang="en-US" altLang="en-US" sz="1700" dirty="0"/>
              <a:t>,</a:t>
            </a:r>
            <a:br>
              <a:rPr lang="en-US" altLang="en-US" sz="1700" dirty="0"/>
            </a:br>
            <a:r>
              <a:rPr lang="en-US" altLang="en-US" sz="1700" i="1" dirty="0"/>
              <a:t>dept_name </a:t>
            </a:r>
            <a:r>
              <a:rPr lang="en-US" altLang="en-US" sz="1700" b="1" dirty="0" err="1"/>
              <a:t>varchar</a:t>
            </a:r>
            <a:r>
              <a:rPr lang="en-US" altLang="en-US" sz="1700" b="1" dirty="0"/>
              <a:t> </a:t>
            </a:r>
            <a:r>
              <a:rPr lang="en-US" altLang="en-US" sz="1700" dirty="0"/>
              <a:t>(20),</a:t>
            </a:r>
            <a:br>
              <a:rPr lang="en-US" altLang="en-US" sz="1700" dirty="0"/>
            </a:br>
            <a:r>
              <a:rPr lang="en-US" altLang="en-US" sz="1700" i="1" dirty="0"/>
              <a:t>tot_cred </a:t>
            </a:r>
            <a:r>
              <a:rPr lang="en-US" altLang="en-US" sz="1700" b="1" dirty="0"/>
              <a:t>numeric </a:t>
            </a:r>
            <a:r>
              <a:rPr lang="en-US" altLang="en-US" sz="1700" dirty="0"/>
              <a:t>(3,0) </a:t>
            </a:r>
            <a:r>
              <a:rPr lang="en-US" altLang="en-US" sz="1700" b="1" dirty="0"/>
              <a:t>default </a:t>
            </a:r>
            <a:r>
              <a:rPr lang="en-US" altLang="en-US" sz="1700" dirty="0"/>
              <a:t>0,</a:t>
            </a:r>
            <a:br>
              <a:rPr lang="en-US" altLang="en-US" sz="1700" dirty="0"/>
            </a:br>
            <a:r>
              <a:rPr lang="en-US" altLang="en-US" sz="1700" b="1" dirty="0"/>
              <a:t>primary key </a:t>
            </a:r>
            <a:r>
              <a:rPr lang="en-US" altLang="en-US" sz="1700" dirty="0"/>
              <a:t>(</a:t>
            </a:r>
            <a:r>
              <a:rPr lang="en-US" altLang="en-US" sz="1700" i="1" dirty="0"/>
              <a:t>ID</a:t>
            </a:r>
            <a:r>
              <a:rPr lang="en-US" altLang="en-US" sz="1700" dirty="0"/>
              <a:t>))</a:t>
            </a:r>
          </a:p>
          <a:p>
            <a:r>
              <a:rPr lang="en-US" altLang="en-US" sz="1700" b="1" dirty="0"/>
              <a:t>create index </a:t>
            </a:r>
            <a:r>
              <a:rPr lang="en-US" altLang="en-US" sz="1700" i="1" dirty="0" err="1"/>
              <a:t>studentID_index</a:t>
            </a:r>
            <a:r>
              <a:rPr lang="en-US" altLang="en-US" sz="1700" i="1" dirty="0"/>
              <a:t> </a:t>
            </a:r>
            <a:r>
              <a:rPr lang="en-US" altLang="en-US" sz="1700" b="1" dirty="0"/>
              <a:t>on </a:t>
            </a:r>
            <a:r>
              <a:rPr lang="en-US" altLang="en-US" sz="1700" i="1" dirty="0"/>
              <a:t>student</a:t>
            </a:r>
            <a:r>
              <a:rPr lang="en-US" altLang="en-US" sz="1700" dirty="0"/>
              <a:t>(</a:t>
            </a:r>
            <a:r>
              <a:rPr lang="en-US" altLang="en-US" sz="1700" i="1" dirty="0"/>
              <a:t>ID</a:t>
            </a:r>
            <a:r>
              <a:rPr lang="en-US" altLang="en-US" sz="1700" dirty="0"/>
              <a:t>)</a:t>
            </a:r>
          </a:p>
          <a:p>
            <a:r>
              <a:rPr lang="en-US" altLang="en-US" sz="1700" dirty="0"/>
              <a:t>The query:</a:t>
            </a:r>
          </a:p>
          <a:p>
            <a:pPr>
              <a:buNone/>
            </a:pPr>
            <a:r>
              <a:rPr lang="en-US" altLang="en-US" sz="1700" b="1" dirty="0"/>
              <a:t>            select * </a:t>
            </a:r>
            <a:br>
              <a:rPr lang="en-US" altLang="en-US" sz="1700" b="1" dirty="0"/>
            </a:br>
            <a:r>
              <a:rPr lang="en-US" altLang="en-US" sz="1700" b="1" dirty="0"/>
              <a:t>       from </a:t>
            </a:r>
            <a:r>
              <a:rPr lang="en-US" altLang="en-US" sz="1700" dirty="0"/>
              <a:t> </a:t>
            </a:r>
            <a:r>
              <a:rPr lang="en-US" altLang="en-US" sz="1700" i="1" dirty="0"/>
              <a:t>student</a:t>
            </a:r>
            <a:br>
              <a:rPr lang="en-US" altLang="en-US" sz="1700" i="1" dirty="0"/>
            </a:br>
            <a:r>
              <a:rPr lang="en-US" altLang="en-US" sz="1700" i="1" dirty="0"/>
              <a:t>       </a:t>
            </a:r>
            <a:r>
              <a:rPr lang="en-US" altLang="en-US" sz="1700" b="1" dirty="0"/>
              <a:t>where </a:t>
            </a:r>
            <a:r>
              <a:rPr lang="en-US" altLang="en-US" sz="1700" i="1" dirty="0"/>
              <a:t> ID = </a:t>
            </a:r>
            <a:r>
              <a:rPr lang="en-US" altLang="en-US" sz="1700" dirty="0"/>
              <a:t>'12345'</a:t>
            </a:r>
          </a:p>
          <a:p>
            <a:pPr>
              <a:buNone/>
            </a:pPr>
            <a:r>
              <a:rPr lang="en-US" altLang="en-US" sz="1700" dirty="0"/>
              <a:t>     can be executed by using the index to find the required record,  without looking at all records of </a:t>
            </a:r>
            <a:r>
              <a:rPr lang="en-US" altLang="en-US" sz="1700" i="1" dirty="0"/>
              <a:t>student</a:t>
            </a:r>
            <a:endParaRPr lang="en-US" altLang="en-US" sz="17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89122" name="Rectangle 2"/>
          <p:cNvSpPr>
            <a:spLocks noGrp="1" noChangeArrowheads="1"/>
          </p:cNvSpPr>
          <p:nvPr>
            <p:ph type="ctrTitle"/>
          </p:nvPr>
        </p:nvSpPr>
        <p:spPr/>
        <p:txBody>
          <a:bodyPr/>
          <a:lstStyle/>
          <a:p>
            <a:pPr>
              <a:defRPr/>
            </a:pPr>
            <a:r>
              <a:rPr lang="en-US">
                <a:ea typeface="+mj-ea"/>
              </a:rPr>
              <a:t>End of Chapter 4</a:t>
            </a:r>
          </a:p>
        </p:txBody>
      </p:sp>
    </p:spTree>
  </p:cSld>
  <p:clrMapOvr>
    <a:masterClrMapping/>
  </p:clrMapOvr>
</p:sld>
</file>

<file path=ppt/theme/theme1.xml><?xml version="1.0" encoding="utf-8"?>
<a:theme xmlns:a="http://schemas.openxmlformats.org/drawingml/2006/main" name="2_db-5-grey">
  <a:themeElements>
    <a:clrScheme name="">
      <a:dk1>
        <a:srgbClr val="000000"/>
      </a:dk1>
      <a:lt1>
        <a:srgbClr val="CCECFF"/>
      </a:lt1>
      <a:dk2>
        <a:srgbClr val="CC3300"/>
      </a:dk2>
      <a:lt2>
        <a:srgbClr val="666699"/>
      </a:lt2>
      <a:accent1>
        <a:srgbClr val="FFFFFF"/>
      </a:accent1>
      <a:accent2>
        <a:srgbClr val="CCCC00"/>
      </a:accent2>
      <a:accent3>
        <a:srgbClr val="E2F4FF"/>
      </a:accent3>
      <a:accent4>
        <a:srgbClr val="000000"/>
      </a:accent4>
      <a:accent5>
        <a:srgbClr val="FFFFFF"/>
      </a:accent5>
      <a:accent6>
        <a:srgbClr val="B9B900"/>
      </a:accent6>
      <a:hlink>
        <a:srgbClr val="FF9900"/>
      </a:hlink>
      <a:folHlink>
        <a:srgbClr val="FF9933"/>
      </a:folHlink>
    </a:clrScheme>
    <a:fontScheme name="2_db-5-grey">
      <a:majorFont>
        <a:latin typeface="Helvetica"/>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600" b="0" i="0" u="none" strike="noStrike" cap="none" normalizeH="0" baseline="0">
            <a:ln>
              <a:noFill/>
            </a:ln>
            <a:solidFill>
              <a:schemeClr val="tx1"/>
            </a:solidFill>
            <a:effectLst/>
            <a:latin typeface="Helvetica"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600" b="0" i="0" u="none" strike="noStrike" cap="none" normalizeH="0" baseline="0">
            <a:ln>
              <a:noFill/>
            </a:ln>
            <a:solidFill>
              <a:schemeClr val="tx1"/>
            </a:solidFill>
            <a:effectLst/>
            <a:latin typeface="Helvetica" charset="0"/>
          </a:defRPr>
        </a:defPPr>
      </a:lstStyle>
    </a:lnDef>
  </a:objectDefaults>
  <a:extraClrSchemeLst>
    <a:extraClrScheme>
      <a:clrScheme name="2_db-5-grey 1">
        <a:dk1>
          <a:srgbClr val="333333"/>
        </a:dk1>
        <a:lt1>
          <a:srgbClr val="A9BDA9"/>
        </a:lt1>
        <a:dk2>
          <a:srgbClr val="004C2B"/>
        </a:dk2>
        <a:lt2>
          <a:srgbClr val="578963"/>
        </a:lt2>
        <a:accent1>
          <a:srgbClr val="E1B7B7"/>
        </a:accent1>
        <a:accent2>
          <a:srgbClr val="B3E1B3"/>
        </a:accent2>
        <a:accent3>
          <a:srgbClr val="D1DBD1"/>
        </a:accent3>
        <a:accent4>
          <a:srgbClr val="2A2A2A"/>
        </a:accent4>
        <a:accent5>
          <a:srgbClr val="EED8D8"/>
        </a:accent5>
        <a:accent6>
          <a:srgbClr val="A2CCA2"/>
        </a:accent6>
        <a:hlink>
          <a:srgbClr val="BDD7E5"/>
        </a:hlink>
        <a:folHlink>
          <a:srgbClr val="D2AAD2"/>
        </a:folHlink>
      </a:clrScheme>
      <a:clrMap bg1="lt1" tx1="dk1" bg2="lt2" tx2="dk2" accent1="accent1" accent2="accent2" accent3="accent3" accent4="accent4" accent5="accent5" accent6="accent6" hlink="hlink" folHlink="folHlink"/>
    </a:extraClrScheme>
    <a:extraClrScheme>
      <a:clrScheme name="2_db-5-grey 2">
        <a:dk1>
          <a:srgbClr val="333333"/>
        </a:dk1>
        <a:lt1>
          <a:srgbClr val="FFFFFF"/>
        </a:lt1>
        <a:dk2>
          <a:srgbClr val="004C2B"/>
        </a:dk2>
        <a:lt2>
          <a:srgbClr val="578963"/>
        </a:lt2>
        <a:accent1>
          <a:srgbClr val="E1B7B7"/>
        </a:accent1>
        <a:accent2>
          <a:srgbClr val="B3E1B3"/>
        </a:accent2>
        <a:accent3>
          <a:srgbClr val="FFFFFF"/>
        </a:accent3>
        <a:accent4>
          <a:srgbClr val="2A2A2A"/>
        </a:accent4>
        <a:accent5>
          <a:srgbClr val="EED8D8"/>
        </a:accent5>
        <a:accent6>
          <a:srgbClr val="A2CCA2"/>
        </a:accent6>
        <a:hlink>
          <a:srgbClr val="BDD7E5"/>
        </a:hlink>
        <a:folHlink>
          <a:srgbClr val="D2AAD2"/>
        </a:folHlink>
      </a:clrScheme>
      <a:clrMap bg1="lt1" tx1="dk1" bg2="lt2" tx2="dk2" accent1="accent1" accent2="accent2" accent3="accent3" accent4="accent4" accent5="accent5" accent6="accent6" hlink="hlink" folHlink="folHlink"/>
    </a:extraClrScheme>
    <a:extraClrScheme>
      <a:clrScheme name="2_db-5-grey 3">
        <a:dk1>
          <a:srgbClr val="000000"/>
        </a:dk1>
        <a:lt1>
          <a:srgbClr val="FFFFFF"/>
        </a:lt1>
        <a:dk2>
          <a:srgbClr val="000000"/>
        </a:dk2>
        <a:lt2>
          <a:srgbClr val="393939"/>
        </a:lt2>
        <a:accent1>
          <a:srgbClr val="CBCBCB"/>
        </a:accent1>
        <a:accent2>
          <a:srgbClr val="808080"/>
        </a:accent2>
        <a:accent3>
          <a:srgbClr val="FFFFFF"/>
        </a:accent3>
        <a:accent4>
          <a:srgbClr val="000000"/>
        </a:accent4>
        <a:accent5>
          <a:srgbClr val="E2E2E2"/>
        </a:accent5>
        <a:accent6>
          <a:srgbClr val="737373"/>
        </a:accent6>
        <a:hlink>
          <a:srgbClr val="B2B2B2"/>
        </a:hlink>
        <a:folHlink>
          <a:srgbClr val="EAEAEA"/>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DB6</Template>
  <TotalTime>93403</TotalTime>
  <Words>2212</Words>
  <Application>Microsoft Office PowerPoint</Application>
  <PresentationFormat>On-screen Show (4:3)</PresentationFormat>
  <Paragraphs>237</Paragraphs>
  <Slides>17</Slides>
  <Notes>17</Notes>
  <HiddenSlides>0</HiddenSlides>
  <MMClips>0</MMClips>
  <ScaleCrop>false</ScaleCrop>
  <HeadingPairs>
    <vt:vector size="8" baseType="variant">
      <vt:variant>
        <vt:lpstr>Fonts Used</vt:lpstr>
      </vt:variant>
      <vt:variant>
        <vt:i4>9</vt:i4>
      </vt:variant>
      <vt:variant>
        <vt:lpstr>Theme</vt:lpstr>
      </vt:variant>
      <vt:variant>
        <vt:i4>1</vt:i4>
      </vt:variant>
      <vt:variant>
        <vt:lpstr>Slide Titles</vt:lpstr>
      </vt:variant>
      <vt:variant>
        <vt:i4>17</vt:i4>
      </vt:variant>
      <vt:variant>
        <vt:lpstr>Custom Shows</vt:lpstr>
      </vt:variant>
      <vt:variant>
        <vt:i4>1</vt:i4>
      </vt:variant>
    </vt:vector>
  </HeadingPairs>
  <TitlesOfParts>
    <vt:vector size="28" baseType="lpstr">
      <vt:lpstr>ＭＳ Ｐゴシック</vt:lpstr>
      <vt:lpstr>ＭＳ Ｐゴシック</vt:lpstr>
      <vt:lpstr>Arial</vt:lpstr>
      <vt:lpstr>Helvetica</vt:lpstr>
      <vt:lpstr>Monotype Sorts</vt:lpstr>
      <vt:lpstr>Symbol</vt:lpstr>
      <vt:lpstr>Times New Roman</vt:lpstr>
      <vt:lpstr>Webdings</vt:lpstr>
      <vt:lpstr>Wingdings</vt:lpstr>
      <vt:lpstr>2_db-5-grey</vt:lpstr>
      <vt:lpstr>Chapter 4 : Intermediate SQL</vt:lpstr>
      <vt:lpstr>Outline</vt:lpstr>
      <vt:lpstr>Views</vt:lpstr>
      <vt:lpstr>View Definition</vt:lpstr>
      <vt:lpstr>View Definition and Use</vt:lpstr>
      <vt:lpstr>Views Defined Using Other Views</vt:lpstr>
      <vt:lpstr>Views Defined Using Other Views</vt:lpstr>
      <vt:lpstr>View Expansion</vt:lpstr>
      <vt:lpstr>View Expansion (Cont.)</vt:lpstr>
      <vt:lpstr>Materialized Views</vt:lpstr>
      <vt:lpstr>Update of a View</vt:lpstr>
      <vt:lpstr>Some Updates Cannot be Translated Uniquely</vt:lpstr>
      <vt:lpstr>And Some Not at All</vt:lpstr>
      <vt:lpstr>View Updates in SQL </vt:lpstr>
      <vt:lpstr>Index Creation</vt:lpstr>
      <vt:lpstr>Index Creation Example</vt:lpstr>
      <vt:lpstr>End of Chapter 4</vt:lpstr>
      <vt:lpstr>Custom Show 1</vt:lpstr>
    </vt:vector>
  </TitlesOfParts>
  <Company>Lucent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7:  Relational Database Design</dc:title>
  <dc:creator>Marilyn Turnamian</dc:creator>
  <cp:lastModifiedBy>Windows User</cp:lastModifiedBy>
  <cp:revision>532</cp:revision>
  <cp:lastPrinted>1999-06-28T19:27:31Z</cp:lastPrinted>
  <dcterms:created xsi:type="dcterms:W3CDTF">2009-12-21T15:40:22Z</dcterms:created>
  <dcterms:modified xsi:type="dcterms:W3CDTF">2022-03-17T10:07:52Z</dcterms:modified>
</cp:coreProperties>
</file>