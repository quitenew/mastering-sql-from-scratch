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embeddedFontLst>
    <p:embeddedFont>
      <p:font typeface="JetBrains Mono" panose="020B0604020202020204" charset="0"/>
      <p:regular r:id="rId12"/>
      <p:bold r:id="rId13"/>
      <p:italic r:id="rId14"/>
      <p:boldItalic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ato Light" panose="020F0502020204030203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oppins SemiBold" panose="00000700000000000000" pitchFamily="2" charset="0"/>
      <p:regular r:id="rId28"/>
      <p:bold r:id="rId29"/>
      <p:italic r:id="rId30"/>
      <p:boldItalic r:id="rId31"/>
    </p:embeddedFont>
    <p:embeddedFont>
      <p:font typeface="Verdana" panose="020B060403050404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044"/>
    <a:srgbClr val="203348"/>
    <a:srgbClr val="1F2F43"/>
    <a:srgbClr val="6D7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AB7137-7CF1-43C0-B79B-0C924FBFC0AF}">
  <a:tblStyle styleId="{2FAB7137-7CF1-43C0-B79B-0C924FBFC0A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747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9" Type="http://schemas.openxmlformats.org/officeDocument/2006/relationships/tableStyles" Target="tableStyles.xml"/><Relationship Id="rId21" Type="http://schemas.openxmlformats.org/officeDocument/2006/relationships/font" Target="fonts/font10.fntdata"/><Relationship Id="rId34" Type="http://schemas.openxmlformats.org/officeDocument/2006/relationships/font" Target="fonts/font23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font" Target="fonts/font2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40:55.55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4 24575,'0'-3'0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customXml" Target="../ink/ink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0486" y="1920821"/>
            <a:ext cx="11731028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rgbClr val="F8FAF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The History of SQL</a:t>
            </a:r>
            <a:endParaRPr sz="7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998500"/>
            <a:ext cx="1104900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8BDF8"/>
                </a:solidFill>
                <a:latin typeface="Lato Light"/>
                <a:ea typeface="Lato Light"/>
                <a:cs typeface="Lato Light"/>
                <a:sym typeface="Lato Light"/>
              </a:rPr>
              <a:t>T</a:t>
            </a:r>
            <a:r>
              <a:rPr lang="en-US" sz="2200" b="0" i="0" u="none" strike="noStrike" cap="none" dirty="0">
                <a:solidFill>
                  <a:srgbClr val="38BDF8"/>
                </a:solidFill>
                <a:latin typeface="Lato Light"/>
                <a:ea typeface="Lato Light"/>
                <a:cs typeface="Lato Light"/>
                <a:sym typeface="Lato Light"/>
              </a:rPr>
              <a:t>he Language of Modern Data</a:t>
            </a:r>
            <a:endParaRPr sz="2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040C14-727E-3636-BCB3-9D7DD1ACBF49}"/>
              </a:ext>
            </a:extLst>
          </p:cNvPr>
          <p:cNvSpPr txBox="1"/>
          <p:nvPr/>
        </p:nvSpPr>
        <p:spPr>
          <a:xfrm>
            <a:off x="8877897" y="6381750"/>
            <a:ext cx="467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From Konstantin Pandilovski 6227</a:t>
            </a:r>
            <a:endParaRPr lang="en-15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BDBC23B-88D7-467B-60C5-03CEB0A68C07}"/>
              </a:ext>
            </a:extLst>
          </p:cNvPr>
          <p:cNvSpPr/>
          <p:nvPr/>
        </p:nvSpPr>
        <p:spPr>
          <a:xfrm>
            <a:off x="-501650" y="4476750"/>
            <a:ext cx="2451100" cy="3276600"/>
          </a:xfrm>
          <a:prstGeom prst="ellipse">
            <a:avLst/>
          </a:prstGeom>
          <a:solidFill>
            <a:srgbClr val="2033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5875" y="2014537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23975" y="2052637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6381750" y="2672834"/>
            <a:ext cx="59234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Dr. Edgar F. Codd</a:t>
            </a:r>
            <a:endParaRPr sz="2400"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6381750" y="3200400"/>
            <a:ext cx="5238750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 1970, IBM researcher E.F. Codd published </a:t>
            </a:r>
            <a:r>
              <a:rPr lang="en-US" sz="1800" b="0" i="1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"A Relational Model of Data for Large Shared Data Banks.“</a:t>
            </a:r>
            <a:br>
              <a:rPr lang="en-US" sz="1800" b="0" i="1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80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He proposed moving away from hierarchical and network models toward </a:t>
            </a:r>
            <a:r>
              <a:rPr lang="en-US" sz="1800" b="1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Relational Algebra</a:t>
            </a:r>
            <a:r>
              <a:rPr lang="en-US" sz="180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—organizing data into simple tables (relations).</a:t>
            </a:r>
            <a:endParaRPr lang="en-US" sz="1800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734616" y="525288"/>
            <a:ext cx="1135141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Foundation: 1970</a:t>
            </a:r>
            <a:endParaRPr sz="4500" dirty="0"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952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42041" y="2964418"/>
            <a:ext cx="55006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Inventing the Language</a:t>
            </a:r>
            <a:endParaRPr sz="2400"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542041" y="3429000"/>
            <a:ext cx="5238750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Donald D. Chamberlin and Raymond F. Boyce developed the first iteration of SQL to interact with IBM's </a:t>
            </a:r>
            <a:r>
              <a:rPr lang="en-US" sz="180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System R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project.</a:t>
            </a:r>
            <a:b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80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Their goal was to create a language that was closer to English than mathematical notation, making it accessible to non-specialists.</a:t>
            </a:r>
            <a:endParaRPr lang="en-US" sz="1800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734616" y="525288"/>
            <a:ext cx="1135141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Implementation: IBM System R</a:t>
            </a:r>
            <a:endParaRPr sz="4500" dirty="0"/>
          </a:p>
        </p:txBody>
      </p:sp>
      <p:sp>
        <p:nvSpPr>
          <p:cNvPr id="110" name="Google Shape;110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F1363B-5A33-BE4A-B062-0E370F4F7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2215" y="3429000"/>
            <a:ext cx="3228285" cy="32282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D609D4-EC41-7089-ED10-E4876CCB2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815" y="1351502"/>
            <a:ext cx="3113786" cy="35030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60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85975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85975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85975"/>
            <a:ext cx="3492549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962025" y="3124200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SEQUEL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62025" y="3648075"/>
            <a:ext cx="27114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Originally called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Structured English Query Language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The name was intended as a "sequel" to a previous attempt called SQUARE.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740324" y="3124200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Trademark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740324" y="3648075"/>
            <a:ext cx="27114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IBM was forced to drop the vowels because "SEQUEL" was a trademark of the UK-based Hawker Siddeley aircraft company.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518624" y="3124200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SQL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518624" y="3648075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It became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Structured Query Language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Despite the spelling, many still use the original pronunciation "sequel."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5146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5146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5146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24312" y="528117"/>
            <a:ext cx="1135141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From SEQUEL to SQL</a:t>
            </a:r>
            <a:endParaRPr sz="4500" dirty="0"/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61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/>
          <p:nvPr/>
        </p:nvSpPr>
        <p:spPr>
          <a:xfrm>
            <a:off x="571500" y="3919537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708659" y="4586287"/>
            <a:ext cx="22402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+mn-lt"/>
                <a:ea typeface="Poppins"/>
                <a:cs typeface="Poppins"/>
                <a:sym typeface="Poppins"/>
              </a:rPr>
              <a:t>1979</a:t>
            </a:r>
            <a:endParaRPr sz="1800" dirty="0">
              <a:latin typeface="+mn-lt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876300" y="4903279"/>
            <a:ext cx="21336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Oracle V2 released (1st commercial SQL)</a:t>
            </a:r>
            <a:endParaRPr sz="1600"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3553360" y="3164395"/>
            <a:ext cx="22402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+mn-lt"/>
                <a:ea typeface="Poppins"/>
                <a:cs typeface="Poppins"/>
                <a:sym typeface="Poppins"/>
              </a:rPr>
              <a:t>1986</a:t>
            </a:r>
            <a:endParaRPr sz="1800" dirty="0">
              <a:latin typeface="+mn-lt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3721000" y="2262187"/>
            <a:ext cx="21336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ANSI adopts SQL-86 standard</a:t>
            </a:r>
            <a:endParaRPr sz="1600"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6398061" y="4586287"/>
            <a:ext cx="22402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+mn-lt"/>
                <a:ea typeface="Poppins"/>
                <a:cs typeface="Poppins"/>
                <a:sym typeface="Poppins"/>
              </a:rPr>
              <a:t>1987</a:t>
            </a:r>
            <a:endParaRPr sz="1800" dirty="0">
              <a:latin typeface="+mn-lt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6451401" y="4881298"/>
            <a:ext cx="21336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ISO formalization</a:t>
            </a:r>
            <a:endParaRPr sz="160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9242762" y="3164394"/>
            <a:ext cx="22402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+mn-lt"/>
                <a:ea typeface="Poppins"/>
                <a:cs typeface="Poppins"/>
                <a:sym typeface="Poppins"/>
              </a:rPr>
              <a:t>1992</a:t>
            </a:r>
            <a:endParaRPr sz="1800" dirty="0">
              <a:latin typeface="+mn-lt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9410402" y="2260473"/>
            <a:ext cx="21336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SQL-92 (The dominant baseline)</a:t>
            </a:r>
            <a:endParaRPr sz="1600"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719137" y="522069"/>
            <a:ext cx="1135141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Becoming the Global Standard</a:t>
            </a:r>
            <a:endParaRPr sz="4500" dirty="0"/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1714500" y="38052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4559200" y="38052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7403901" y="38052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10248602" y="38052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1526774" y="2517787"/>
            <a:ext cx="7861002" cy="2857500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18"/>
          <p:cNvGraphicFramePr/>
          <p:nvPr>
            <p:extLst>
              <p:ext uri="{D42A27DB-BD31-4B8C-83A1-F6EECF244321}">
                <p14:modId xmlns:p14="http://schemas.microsoft.com/office/powerpoint/2010/main" val="3036612842"/>
              </p:ext>
            </p:extLst>
          </p:nvPr>
        </p:nvGraphicFramePr>
        <p:xfrm>
          <a:off x="1526774" y="2517787"/>
          <a:ext cx="7855631" cy="2857500"/>
        </p:xfrm>
        <a:graphic>
          <a:graphicData uri="http://schemas.openxmlformats.org/drawingml/2006/table">
            <a:tbl>
              <a:tblPr firstRow="1" bandRow="1">
                <a:noFill/>
                <a:tableStyleId>{2FAB7137-7CF1-43C0-B79B-0C924FBFC0AF}</a:tableStyleId>
              </a:tblPr>
              <a:tblGrid>
                <a:gridCol w="93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1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Year</a:t>
                      </a:r>
                      <a:endParaRPr sz="1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</a:t>
                      </a:r>
                      <a:endParaRPr sz="1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Additions</a:t>
                      </a:r>
                      <a:endParaRPr sz="1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1999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SQL:1999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Triggers, Recursive Queries, Object-oriented features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2003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SQL:2003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Window Functions, XML support, Auto-generated values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2016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SQL:2016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JSON support, Polymorphic table functions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2023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SQL:2023</a:t>
                      </a:r>
                      <a:endParaRPr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Graph Query support (SQL/PGQ), multidimensional arrays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8" name="Google Shape;158;p18"/>
          <p:cNvSpPr/>
          <p:nvPr/>
        </p:nvSpPr>
        <p:spPr>
          <a:xfrm>
            <a:off x="1973460" y="3048000"/>
            <a:ext cx="223644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516031" y="3619500"/>
            <a:ext cx="7866373" cy="45719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 flipV="1">
            <a:off x="1521403" y="4200523"/>
            <a:ext cx="7866373" cy="45719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1529459" y="4765045"/>
            <a:ext cx="7855631" cy="45719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 flipV="1">
            <a:off x="1524089" y="5329567"/>
            <a:ext cx="7861002" cy="552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734616" y="525288"/>
            <a:ext cx="1135141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Evolution of Syntax</a:t>
            </a:r>
            <a:endParaRPr sz="4500" dirty="0"/>
          </a:p>
        </p:txBody>
      </p:sp>
      <p:sp>
        <p:nvSpPr>
          <p:cNvPr id="173" name="Google Shape;173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76D472-AB2F-51BC-E244-D13C79D1F4BF}"/>
              </a:ext>
            </a:extLst>
          </p:cNvPr>
          <p:cNvGrpSpPr/>
          <p:nvPr/>
        </p:nvGrpSpPr>
        <p:grpSpPr>
          <a:xfrm>
            <a:off x="10287000" y="-1635986"/>
            <a:ext cx="2014275" cy="5064986"/>
            <a:chOff x="10534649" y="-1712185"/>
            <a:chExt cx="1909502" cy="4650648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49EA970-331F-DBBE-3C0A-3CED19239307}"/>
                </a:ext>
              </a:extLst>
            </p:cNvPr>
            <p:cNvSpPr/>
            <p:nvPr/>
          </p:nvSpPr>
          <p:spPr>
            <a:xfrm rot="2262915">
              <a:off x="10534649" y="-1712185"/>
              <a:ext cx="571500" cy="30765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3069788-43FE-DCF9-E1D8-51F66C60BA8A}"/>
                </a:ext>
              </a:extLst>
            </p:cNvPr>
            <p:cNvSpPr/>
            <p:nvPr/>
          </p:nvSpPr>
          <p:spPr>
            <a:xfrm rot="2262915">
              <a:off x="10739176" y="-883509"/>
              <a:ext cx="571500" cy="30765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55A1C22-3DC3-7955-38D7-60A3E09E6FBD}"/>
                </a:ext>
              </a:extLst>
            </p:cNvPr>
            <p:cNvSpPr/>
            <p:nvPr/>
          </p:nvSpPr>
          <p:spPr>
            <a:xfrm rot="2262915">
              <a:off x="11668124" y="-966788"/>
              <a:ext cx="571500" cy="30765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7F6CC9D-6B6C-5799-3310-59A9580243DD}"/>
                </a:ext>
              </a:extLst>
            </p:cNvPr>
            <p:cNvSpPr/>
            <p:nvPr/>
          </p:nvSpPr>
          <p:spPr>
            <a:xfrm rot="2262915">
              <a:off x="11872651" y="-138112"/>
              <a:ext cx="571500" cy="307657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00400"/>
            <a:ext cx="5238750" cy="140493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819150" y="3481387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19150" y="3700462"/>
            <a:ext cx="4191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19150" y="3919537"/>
            <a:ext cx="5238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WHERE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2809875" y="3919537"/>
            <a:ext cx="13620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BBF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'Engineering'</a:t>
            </a:r>
            <a:endParaRPr dirty="0"/>
          </a:p>
        </p:txBody>
      </p:sp>
      <p:sp>
        <p:nvSpPr>
          <p:cNvPr id="184" name="Google Shape;184;p19"/>
          <p:cNvSpPr txBox="1"/>
          <p:nvPr/>
        </p:nvSpPr>
        <p:spPr>
          <a:xfrm>
            <a:off x="819150" y="4138612"/>
            <a:ext cx="838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ORDER BY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2495550" y="4138612"/>
            <a:ext cx="4191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DESC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381750" y="2733675"/>
            <a:ext cx="55006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"What" </a:t>
            </a:r>
            <a:r>
              <a:rPr lang="en-US" sz="24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"How"</a:t>
            </a:r>
            <a:endParaRPr sz="2400" dirty="0"/>
          </a:p>
        </p:txBody>
      </p:sp>
      <p:sp>
        <p:nvSpPr>
          <p:cNvPr id="187" name="Google Shape;187;p19"/>
          <p:cNvSpPr txBox="1"/>
          <p:nvPr/>
        </p:nvSpPr>
        <p:spPr>
          <a:xfrm>
            <a:off x="6381750" y="3200400"/>
            <a:ext cx="5238750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SQL is </a:t>
            </a:r>
            <a:r>
              <a:rPr lang="en-US" sz="180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declarative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You tell the database </a:t>
            </a:r>
            <a:r>
              <a:rPr lang="en-US" sz="1800" b="0" i="1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what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data you want, not </a:t>
            </a:r>
            <a:r>
              <a:rPr lang="en-US" sz="1800" b="0" i="1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how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to physically retrieve it.</a:t>
            </a:r>
            <a:b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80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800" b="1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Query Optimizer</a:t>
            </a:r>
            <a:r>
              <a:rPr lang="en-US" sz="180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handles the complexity of scanning indexes or joining tables, allowing SQL to remain relevant as hardware evolves.</a:t>
            </a:r>
            <a:endParaRPr lang="en-US" sz="1800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89" name="Google Shape;189;p19"/>
          <p:cNvSpPr txBox="1"/>
          <p:nvPr/>
        </p:nvSpPr>
        <p:spPr>
          <a:xfrm>
            <a:off x="706041" y="525288"/>
            <a:ext cx="1135141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It Works: Declarative Nature</a:t>
            </a:r>
            <a:endParaRPr sz="4500" dirty="0"/>
          </a:p>
        </p:txBody>
      </p:sp>
      <p:sp>
        <p:nvSpPr>
          <p:cNvPr id="190" name="Google Shape;190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5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571500" y="992410"/>
            <a:ext cx="52006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Adapting to Big Data</a:t>
            </a:r>
            <a:endParaRPr sz="3400" dirty="0"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1716656"/>
            <a:ext cx="5200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21st Century</a:t>
            </a:r>
            <a:endParaRPr sz="2400" dirty="0"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2287015"/>
            <a:ext cx="4953000" cy="389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Despite the "NoSQL" movement of the late 2000s, SQL adapted. It now powers Distributed SQL databases (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CockroachDB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, Spanner) and massive Data Warehouses (Snowflake,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BigQuery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b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80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Native support for semi-structured data like JSON allows SQL to handle modern web application data effortlessly.</a:t>
            </a:r>
            <a:endParaRPr lang="en-US" sz="1800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1E2CF0-EB4D-F052-FF1C-8D890703E23A}"/>
                  </a:ext>
                </a:extLst>
              </p14:cNvPr>
              <p14:cNvContentPartPr/>
              <p14:nvPr/>
            </p14:nvContentPartPr>
            <p14:xfrm>
              <a:off x="-681296" y="5969986"/>
              <a:ext cx="360" cy="1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1E2CF0-EB4D-F052-FF1C-8D890703E2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687416" y="5963866"/>
                <a:ext cx="12600" cy="13680"/>
              </a:xfrm>
              <a:prstGeom prst="rect">
                <a:avLst/>
              </a:prstGeom>
            </p:spPr>
          </p:pic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28E430-5FC1-F0C6-D156-9BB9934FBC51}"/>
              </a:ext>
            </a:extLst>
          </p:cNvPr>
          <p:cNvCxnSpPr>
            <a:cxnSpLocks/>
          </p:cNvCxnSpPr>
          <p:nvPr/>
        </p:nvCxnSpPr>
        <p:spPr>
          <a:xfrm>
            <a:off x="571500" y="1620145"/>
            <a:ext cx="4546685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295275" y="2036415"/>
            <a:ext cx="1160145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sz="7200" dirty="0"/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31603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8BDF8"/>
                </a:solidFill>
                <a:latin typeface="Lato Light"/>
                <a:ea typeface="Lato Light"/>
                <a:cs typeface="Lato Light"/>
                <a:sym typeface="Lato Light"/>
              </a:rPr>
              <a:t>Questions on the History of SQL?</a:t>
            </a:r>
            <a:endParaRPr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58B3E2B-F1E5-B2C3-71C7-B77C0A7DAB4E}"/>
              </a:ext>
            </a:extLst>
          </p:cNvPr>
          <p:cNvSpPr/>
          <p:nvPr/>
        </p:nvSpPr>
        <p:spPr>
          <a:xfrm>
            <a:off x="-501650" y="4476750"/>
            <a:ext cx="2451100" cy="3276600"/>
          </a:xfrm>
          <a:prstGeom prst="ellipse">
            <a:avLst/>
          </a:prstGeom>
          <a:solidFill>
            <a:srgbClr val="2033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6673A03-B6F1-0F18-7B84-DE232B17510E}"/>
              </a:ext>
            </a:extLst>
          </p:cNvPr>
          <p:cNvSpPr/>
          <p:nvPr/>
        </p:nvSpPr>
        <p:spPr>
          <a:xfrm rot="3471395">
            <a:off x="10181797" y="3553555"/>
            <a:ext cx="2408968" cy="4946748"/>
          </a:xfrm>
          <a:prstGeom prst="ellipse">
            <a:avLst/>
          </a:prstGeom>
          <a:solidFill>
            <a:srgbClr val="1F30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411</Words>
  <Application>Microsoft Office PowerPoint</Application>
  <PresentationFormat>Widescreen</PresentationFormat>
  <Paragraphs>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Poppins</vt:lpstr>
      <vt:lpstr>Verdana</vt:lpstr>
      <vt:lpstr>Arial</vt:lpstr>
      <vt:lpstr>Lato</vt:lpstr>
      <vt:lpstr>JetBrains Mono</vt:lpstr>
      <vt:lpstr>Poppins SemiBold</vt:lpstr>
      <vt:lpstr>Lato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Nikola Atanas</cp:lastModifiedBy>
  <cp:revision>2</cp:revision>
  <dcterms:modified xsi:type="dcterms:W3CDTF">2026-05-07T12:43:50Z</dcterms:modified>
</cp:coreProperties>
</file>