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779" r:id="rId2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85" d="100"/>
          <a:sy n="85" d="100"/>
        </p:scale>
        <p:origin x="136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E3FC6434-D320-4E13-B5F3-CA625DCE496B}" type="datetimeFigureOut">
              <a:rPr lang="mk-MK"/>
              <a:pPr>
                <a:defRPr/>
              </a:pPr>
              <a:t>6.3.2023</a:t>
            </a:fld>
            <a:endParaRPr lang="mk-M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2BF81E5-3C0C-4F06-A236-B77CBEEA7E40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368478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F0E5C910-3C77-467B-BB34-7D24B6A11930}" type="datetimeFigureOut">
              <a:rPr lang="mk-MK"/>
              <a:pPr>
                <a:defRPr/>
              </a:pPr>
              <a:t>6.3.2023</a:t>
            </a:fld>
            <a:endParaRPr lang="mk-M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pPr lvl="0"/>
            <a:endParaRPr lang="mk-M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mk-M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AAA7F49-95E7-4DEF-9FBC-9AA34CD6F2DA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42351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91459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23351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257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38475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04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6288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88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56523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0958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32151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40115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10894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55538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4155516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87341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47573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27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84987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9415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740215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27955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405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261975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09217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text styles</a:t>
            </a:r>
          </a:p>
          <a:p>
            <a:pPr lvl="1"/>
            <a:r>
              <a:rPr lang="en-US" altLang="mk-MK" dirty="0"/>
              <a:t>Second level</a:t>
            </a:r>
          </a:p>
          <a:p>
            <a:pPr lvl="2"/>
            <a:r>
              <a:rPr lang="en-US" altLang="mk-MK" dirty="0"/>
              <a:t>Third level</a:t>
            </a:r>
          </a:p>
          <a:p>
            <a:pPr lvl="3"/>
            <a:r>
              <a:rPr lang="en-US" altLang="mk-MK" dirty="0"/>
              <a:t>Fourth level</a:t>
            </a:r>
          </a:p>
          <a:p>
            <a:pPr lvl="4"/>
            <a:r>
              <a:rPr lang="en-US" altLang="mk-MK" dirty="0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528" y="0"/>
            <a:ext cx="1187453" cy="71402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mk-M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text styles</a:t>
            </a:r>
          </a:p>
          <a:p>
            <a:pPr lvl="1"/>
            <a:r>
              <a:rPr lang="en-US" altLang="mk-MK"/>
              <a:t>Second level</a:t>
            </a:r>
          </a:p>
          <a:p>
            <a:pPr lvl="2"/>
            <a:r>
              <a:rPr lang="en-US" altLang="mk-MK"/>
              <a:t>Third level</a:t>
            </a:r>
          </a:p>
          <a:p>
            <a:pPr lvl="3"/>
            <a:r>
              <a:rPr lang="en-US" altLang="mk-MK"/>
              <a:t>Fourth level</a:t>
            </a:r>
          </a:p>
          <a:p>
            <a:pPr lvl="4"/>
            <a:r>
              <a:rPr lang="en-US" altLang="mk-MK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2518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7250" y="3471863"/>
            <a:ext cx="8072438" cy="1600200"/>
          </a:xfrm>
        </p:spPr>
        <p:txBody>
          <a:bodyPr/>
          <a:lstStyle/>
          <a:p>
            <a:pPr eaLnBrk="1" hangingPunct="1"/>
            <a:r>
              <a:rPr lang="en-US" altLang="mk-MK" sz="2400" b="1"/>
              <a:t>Exc. </a:t>
            </a:r>
            <a:r>
              <a:rPr lang="mk-MK" altLang="mk-MK" sz="2400" b="1"/>
              <a:t>2</a:t>
            </a:r>
          </a:p>
          <a:p>
            <a:pPr eaLnBrk="1" hangingPunct="1"/>
            <a:endParaRPr lang="en-US" altLang="mk-MK" sz="2400" b="1"/>
          </a:p>
          <a:p>
            <a:pPr eaLnBrk="1" hangingPunct="1"/>
            <a:r>
              <a:rPr lang="en-US" altLang="mk-MK" b="1">
                <a:solidFill>
                  <a:srgbClr val="FF0000"/>
                </a:solidFill>
              </a:rPr>
              <a:t>Entity keys</a:t>
            </a:r>
          </a:p>
          <a:p>
            <a:pPr eaLnBrk="1" hangingPunct="1"/>
            <a:r>
              <a:rPr lang="en-US" altLang="mk-MK" b="1">
                <a:solidFill>
                  <a:srgbClr val="FF0000"/>
                </a:solidFill>
              </a:rPr>
              <a:t>Relations (</a:t>
            </a:r>
            <a:r>
              <a:rPr lang="en-US" altLang="mk-MK" b="1">
                <a:solidFill>
                  <a:srgbClr val="FF0000"/>
                </a:solidFill>
                <a:cs typeface="Tahoma" panose="020B0604030504040204" pitchFamily="34" charset="0"/>
              </a:rPr>
              <a:t>Cardinality constraints</a:t>
            </a:r>
            <a:r>
              <a:rPr lang="mk-MK" altLang="mk-MK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750" y="1052513"/>
            <a:ext cx="8643938" cy="1371600"/>
          </a:xfrm>
        </p:spPr>
        <p:txBody>
          <a:bodyPr/>
          <a:lstStyle/>
          <a:p>
            <a:pPr algn="ctr" eaLnBrk="1" hangingPunct="1"/>
            <a:r>
              <a:rPr lang="en-US" altLang="mk-MK" sz="3000" b="1"/>
              <a:t>SCSIT </a:t>
            </a:r>
            <a:br>
              <a:rPr lang="en-US" altLang="mk-MK" sz="3000" b="1"/>
            </a:br>
            <a:r>
              <a:rPr lang="en-US" altLang="mk-MK" sz="3000" b="1"/>
              <a:t>IV Semester</a:t>
            </a:r>
            <a:br>
              <a:rPr lang="en-US" altLang="mk-MK" sz="3000" b="1"/>
            </a:br>
            <a:br>
              <a:rPr lang="en-US" altLang="mk-MK" sz="2600" b="1"/>
            </a:br>
            <a:r>
              <a:rPr lang="en-US" altLang="mk-MK" sz="2600" b="1"/>
              <a:t>Database</a:t>
            </a:r>
            <a:endParaRPr lang="en-US" altLang="mk-MK" sz="2800" b="1"/>
          </a:p>
        </p:txBody>
      </p:sp>
    </p:spTree>
    <p:extLst>
      <p:ext uri="{BB962C8B-B14F-4D97-AF65-F5344CB8AC3E}">
        <p14:creationId xmlns:p14="http://schemas.microsoft.com/office/powerpoint/2010/main" val="366416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42938" y="630238"/>
            <a:ext cx="859472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lang="en-US" sz="3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From last time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1500" y="1785938"/>
            <a:ext cx="8528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kern="0" dirty="0">
                <a:latin typeface="+mn-lt"/>
              </a:rPr>
              <a:t>ENTITY</a:t>
            </a:r>
            <a:r>
              <a:rPr lang="mk-MK" sz="2400" b="1" kern="0" dirty="0">
                <a:latin typeface="+mn-lt"/>
              </a:rPr>
              <a:t>			</a:t>
            </a:r>
            <a:r>
              <a:rPr lang="en-US" sz="2400" i="1" u="sng" kern="0" dirty="0">
                <a:latin typeface="+mn-lt"/>
              </a:rPr>
              <a:t>INSTANCE</a:t>
            </a:r>
            <a:r>
              <a:rPr lang="mk-MK" sz="2400" i="1" kern="0" dirty="0">
                <a:latin typeface="+mn-lt"/>
              </a:rPr>
              <a:t> (????)</a:t>
            </a:r>
            <a:r>
              <a:rPr lang="mk-MK" sz="2400" b="1" kern="0" dirty="0">
                <a:latin typeface="+mn-lt"/>
              </a:rPr>
              <a:t>	</a:t>
            </a:r>
          </a:p>
          <a:p>
            <a:pPr marL="1066800" lvl="1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Attributes</a:t>
            </a:r>
            <a:endParaRPr lang="mk-MK" sz="2400" kern="0" dirty="0">
              <a:latin typeface="+mn-lt"/>
            </a:endParaRPr>
          </a:p>
          <a:p>
            <a:pPr marL="1066800" lvl="1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Composite attributes</a:t>
            </a:r>
            <a:endParaRPr lang="mk-MK" sz="2400" kern="0" dirty="0">
              <a:latin typeface="+mn-lt"/>
            </a:endParaRPr>
          </a:p>
          <a:p>
            <a:pPr marL="1066800" lvl="1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Attribute identifier</a:t>
            </a:r>
            <a:endParaRPr lang="mk-MK" sz="2400" kern="0" dirty="0">
              <a:latin typeface="+mn-lt"/>
            </a:endParaRPr>
          </a:p>
          <a:p>
            <a:pPr marL="990600" lvl="1" indent="-533400" eaLnBrk="1" hangingPunct="1">
              <a:spcBef>
                <a:spcPct val="20000"/>
              </a:spcBef>
              <a:buClr>
                <a:schemeClr val="accent2"/>
              </a:buClr>
              <a:defRPr/>
            </a:pPr>
            <a:endParaRPr lang="en-US" sz="2400" kern="0" dirty="0">
              <a:latin typeface="+mn-lt"/>
            </a:endParaRPr>
          </a:p>
          <a:p>
            <a:pPr marL="609600" indent="-6096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en-US" sz="2400" kern="0" dirty="0">
              <a:latin typeface="+mn-lt"/>
            </a:endParaRP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2EB164F-01DB-4ACA-8420-700211031D39}" type="slidenum">
              <a:rPr lang="en-US" altLang="mk-MK"/>
              <a:pPr/>
              <a:t>2</a:t>
            </a:fld>
            <a:endParaRPr lang="en-US" altLang="mk-MK"/>
          </a:p>
        </p:txBody>
      </p:sp>
      <p:sp>
        <p:nvSpPr>
          <p:cNvPr id="8198" name="Slide Number Placeholder 4"/>
          <p:cNvSpPr txBox="1">
            <a:spLocks/>
          </p:cNvSpPr>
          <p:nvPr/>
        </p:nvSpPr>
        <p:spPr bwMode="auto">
          <a:xfrm>
            <a:off x="6572250" y="6764338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/>
            <a:fld id="{F59E92CF-683F-4D3C-8C0C-7E0E57FDCE43}" type="slidenum">
              <a:rPr lang="en-US" altLang="mk-MK" sz="1200"/>
              <a:pPr algn="r" eaLnBrk="1" hangingPunct="1"/>
              <a:t>2</a:t>
            </a:fld>
            <a:endParaRPr lang="en-US" altLang="mk-MK" sz="1200"/>
          </a:p>
        </p:txBody>
      </p:sp>
      <p:grpSp>
        <p:nvGrpSpPr>
          <p:cNvPr id="8199" name="Group 28"/>
          <p:cNvGrpSpPr>
            <a:grpSpLocks/>
          </p:cNvGrpSpPr>
          <p:nvPr/>
        </p:nvGrpSpPr>
        <p:grpSpPr bwMode="auto">
          <a:xfrm>
            <a:off x="1571625" y="3786188"/>
            <a:ext cx="6929438" cy="2689225"/>
            <a:chOff x="0" y="3311506"/>
            <a:chExt cx="8858250" cy="3286125"/>
          </a:xfrm>
        </p:grpSpPr>
        <p:cxnSp>
          <p:nvCxnSpPr>
            <p:cNvPr id="8200" name="Straight Connector 36"/>
            <p:cNvCxnSpPr>
              <a:cxnSpLocks noChangeShapeType="1"/>
              <a:endCxn id="18" idx="0"/>
            </p:cNvCxnSpPr>
            <p:nvPr/>
          </p:nvCxnSpPr>
          <p:spPr bwMode="auto">
            <a:xfrm rot="16200000" flipH="1">
              <a:off x="5214937" y="3740131"/>
              <a:ext cx="1643063" cy="15001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1" name="Straight Connector 41"/>
            <p:cNvCxnSpPr>
              <a:cxnSpLocks noChangeShapeType="1"/>
            </p:cNvCxnSpPr>
            <p:nvPr/>
          </p:nvCxnSpPr>
          <p:spPr bwMode="auto">
            <a:xfrm>
              <a:off x="1143000" y="4954568"/>
              <a:ext cx="357188" cy="2857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2" name="Straight Connector 26"/>
            <p:cNvCxnSpPr>
              <a:cxnSpLocks noChangeShapeType="1"/>
              <a:stCxn id="8203" idx="1"/>
            </p:cNvCxnSpPr>
            <p:nvPr/>
          </p:nvCxnSpPr>
          <p:spPr bwMode="auto">
            <a:xfrm rot="10800000" flipV="1">
              <a:off x="2428875" y="3560743"/>
              <a:ext cx="857250" cy="1793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3" name="Rectangle 6"/>
            <p:cNvSpPr>
              <a:spLocks noChangeArrowheads="1"/>
            </p:cNvSpPr>
            <p:nvPr/>
          </p:nvSpPr>
          <p:spPr bwMode="auto">
            <a:xfrm>
              <a:off x="3286125" y="3311506"/>
              <a:ext cx="2428875" cy="50006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b="1"/>
                <a:t>Student</a:t>
              </a:r>
              <a:endParaRPr lang="mk-MK" altLang="mk-MK" b="1"/>
            </a:p>
            <a:p>
              <a:pPr algn="ctr"/>
              <a:endParaRPr lang="mk-MK" altLang="mk-MK" sz="1200"/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3713768" y="4597633"/>
              <a:ext cx="2145057" cy="42871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b="1" u="sng" dirty="0"/>
                <a:t>Id_student</a:t>
              </a:r>
              <a:endParaRPr lang="mk-MK" sz="1200" b="1" u="sng" dirty="0"/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428200" y="3524891"/>
              <a:ext cx="2143027" cy="42870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Name</a:t>
              </a:r>
              <a:endParaRPr lang="mk-MK" sz="1200" dirty="0"/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5501653" y="5311502"/>
              <a:ext cx="2571225" cy="42871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 err="1"/>
                <a:t>Student_ID_No</a:t>
              </a:r>
              <a:endParaRPr lang="mk-MK" sz="1200" dirty="0"/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6215996" y="4168925"/>
              <a:ext cx="2642254" cy="500484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 err="1"/>
                <a:t>Enroll_Date</a:t>
              </a:r>
              <a:endParaRPr lang="mk-MK" sz="1200" dirty="0"/>
            </a:p>
          </p:txBody>
        </p:sp>
        <p:sp>
          <p:nvSpPr>
            <p:cNvPr id="8208" name="Oval 13"/>
            <p:cNvSpPr>
              <a:spLocks noChangeArrowheads="1"/>
            </p:cNvSpPr>
            <p:nvPr/>
          </p:nvSpPr>
          <p:spPr bwMode="auto">
            <a:xfrm>
              <a:off x="714375" y="5097443"/>
              <a:ext cx="3143250" cy="571500"/>
            </a:xfrm>
            <a:prstGeom prst="ellipse">
              <a:avLst/>
            </a:prstGeom>
            <a:solidFill>
              <a:schemeClr val="bg2"/>
            </a:solidFill>
            <a:ln w="98425" cap="sq" cmpd="dbl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sz="1200"/>
                <a:t>Address_Data</a:t>
              </a:r>
              <a:endParaRPr lang="mk-MK" altLang="mk-MK" sz="1200"/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286143" y="6168921"/>
              <a:ext cx="2143027" cy="42871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City</a:t>
              </a:r>
              <a:endParaRPr lang="mk-MK" sz="1200" dirty="0"/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2642254" y="5955536"/>
              <a:ext cx="2145057" cy="42871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street</a:t>
              </a:r>
              <a:endParaRPr lang="mk-MK" sz="1200" dirty="0"/>
            </a:p>
          </p:txBody>
        </p:sp>
        <p:cxnSp>
          <p:nvCxnSpPr>
            <p:cNvPr id="8211" name="Straight Connector 18"/>
            <p:cNvCxnSpPr>
              <a:cxnSpLocks noChangeShapeType="1"/>
            </p:cNvCxnSpPr>
            <p:nvPr/>
          </p:nvCxnSpPr>
          <p:spPr bwMode="auto">
            <a:xfrm>
              <a:off x="2786063" y="5668943"/>
              <a:ext cx="357187" cy="2857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2" name="Straight Connector 20"/>
            <p:cNvCxnSpPr>
              <a:cxnSpLocks noChangeShapeType="1"/>
              <a:endCxn id="21" idx="0"/>
            </p:cNvCxnSpPr>
            <p:nvPr/>
          </p:nvCxnSpPr>
          <p:spPr bwMode="auto">
            <a:xfrm rot="10800000" flipV="1">
              <a:off x="1357313" y="5668943"/>
              <a:ext cx="571500" cy="50006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3" name="Straight Connector 23"/>
            <p:cNvCxnSpPr>
              <a:cxnSpLocks noChangeShapeType="1"/>
            </p:cNvCxnSpPr>
            <p:nvPr/>
          </p:nvCxnSpPr>
          <p:spPr bwMode="auto">
            <a:xfrm rot="5400000">
              <a:off x="2464594" y="4133037"/>
              <a:ext cx="1285875" cy="6429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4" name="Straight Connector 29"/>
            <p:cNvCxnSpPr>
              <a:cxnSpLocks noChangeShapeType="1"/>
              <a:stCxn id="8203" idx="2"/>
            </p:cNvCxnSpPr>
            <p:nvPr/>
          </p:nvCxnSpPr>
          <p:spPr bwMode="auto">
            <a:xfrm rot="5400000">
              <a:off x="4071937" y="4168756"/>
              <a:ext cx="785813" cy="714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5" name="Straight Connector 33"/>
            <p:cNvCxnSpPr>
              <a:cxnSpLocks noChangeShapeType="1"/>
              <a:stCxn id="8203" idx="3"/>
              <a:endCxn id="19" idx="1"/>
            </p:cNvCxnSpPr>
            <p:nvPr/>
          </p:nvCxnSpPr>
          <p:spPr bwMode="auto">
            <a:xfrm>
              <a:off x="5715000" y="3560743"/>
              <a:ext cx="887413" cy="6810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Oval 27"/>
            <p:cNvSpPr/>
            <p:nvPr/>
          </p:nvSpPr>
          <p:spPr bwMode="auto">
            <a:xfrm>
              <a:off x="0" y="4525859"/>
              <a:ext cx="2143027" cy="42870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telephone</a:t>
              </a:r>
              <a:endParaRPr lang="mk-MK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3040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954088"/>
            <a:ext cx="8594725" cy="655637"/>
          </a:xfrm>
        </p:spPr>
        <p:txBody>
          <a:bodyPr/>
          <a:lstStyle/>
          <a:p>
            <a:pPr algn="ctr" eaLnBrk="1" hangingPunct="1"/>
            <a:r>
              <a:rPr lang="en-US" altLang="mk-MK" b="1"/>
              <a:t>Identifier</a:t>
            </a:r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5530B7B-78B5-4407-BFFD-B0B5F806AE83}" type="slidenum">
              <a:rPr lang="en-US" altLang="mk-MK"/>
              <a:pPr/>
              <a:t>3</a:t>
            </a:fld>
            <a:endParaRPr lang="en-US" altLang="mk-MK"/>
          </a:p>
        </p:txBody>
      </p:sp>
      <p:sp>
        <p:nvSpPr>
          <p:cNvPr id="9221" name="Content Placeholder 2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643187"/>
          </a:xfrm>
        </p:spPr>
        <p:txBody>
          <a:bodyPr/>
          <a:lstStyle/>
          <a:p>
            <a:r>
              <a:rPr lang="en-US" altLang="mk-MK" sz="3200">
                <a:latin typeface="Calibri" panose="020F0502020204030204" pitchFamily="34" charset="0"/>
              </a:rPr>
              <a:t>One or more entity attributes that can uniquely identify every instance of a given entity or relation </a:t>
            </a:r>
          </a:p>
          <a:p>
            <a:endParaRPr lang="en-US" altLang="mk-MK" sz="2800"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mk-MK" altLang="mk-MK">
              <a:latin typeface="MAC C Swiss" panose="020B7200000000000000" pitchFamily="34" charset="0"/>
            </a:endParaRPr>
          </a:p>
          <a:p>
            <a:r>
              <a:rPr lang="en-US" altLang="mk-MK" sz="2500">
                <a:latin typeface="Times" panose="02020603050405020304" pitchFamily="18" charset="0"/>
              </a:rPr>
              <a:t>If you can not find proper attribute for this manner from the existing ones, you can define one, which will have thus role</a:t>
            </a:r>
            <a:endParaRPr lang="mk-MK" altLang="mk-MK" sz="2500">
              <a:latin typeface="Times" panose="02020603050405020304" pitchFamily="18" charset="0"/>
            </a:endParaRPr>
          </a:p>
          <a:p>
            <a:r>
              <a:rPr lang="en-US" altLang="mk-MK" sz="2500" i="1">
                <a:latin typeface="Times" panose="02020603050405020304" pitchFamily="18" charset="0"/>
              </a:rPr>
              <a:t>Very rarely, but it is possible to find entity or relation without Key</a:t>
            </a:r>
            <a:endParaRPr lang="mk-MK" altLang="mk-MK" sz="2500">
              <a:latin typeface="Times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mk-MK" altLang="mk-MK">
              <a:latin typeface="Times" panose="02020603050405020304" pitchFamily="18" charset="0"/>
            </a:endParaRP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357188" y="3357563"/>
            <a:ext cx="859472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lang="en-US" sz="3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Identifier   = KEY</a:t>
            </a:r>
          </a:p>
        </p:txBody>
      </p:sp>
    </p:spTree>
    <p:extLst>
      <p:ext uri="{BB962C8B-B14F-4D97-AF65-F5344CB8AC3E}">
        <p14:creationId xmlns:p14="http://schemas.microsoft.com/office/powerpoint/2010/main" val="3747696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Example</a:t>
            </a:r>
            <a:r>
              <a:rPr lang="mk-MK" altLang="mk-MK" b="1"/>
              <a:t> 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572500" cy="4267200"/>
          </a:xfrm>
        </p:spPr>
        <p:txBody>
          <a:bodyPr/>
          <a:lstStyle/>
          <a:p>
            <a:r>
              <a:rPr lang="en-US" altLang="mk-MK"/>
              <a:t>Student</a:t>
            </a:r>
            <a:r>
              <a:rPr lang="mk-MK" altLang="mk-MK"/>
              <a:t> (</a:t>
            </a:r>
            <a:r>
              <a:rPr lang="en-US" altLang="mk-MK"/>
              <a:t>id_student, name</a:t>
            </a:r>
            <a:r>
              <a:rPr lang="mk-MK" altLang="mk-MK"/>
              <a:t>,</a:t>
            </a:r>
            <a:r>
              <a:rPr lang="en-US" altLang="mk-MK"/>
              <a:t> study_year</a:t>
            </a:r>
            <a:r>
              <a:rPr lang="mk-MK" altLang="mk-MK"/>
              <a:t>)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FC2AD80-7FDA-4195-ABE5-55A7ECCEBD3E}" type="slidenum">
              <a:rPr lang="en-US" altLang="mk-MK"/>
              <a:pPr/>
              <a:t>4</a:t>
            </a:fld>
            <a:endParaRPr lang="en-US" altLang="mk-MK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0063" y="2286000"/>
          <a:ext cx="4521200" cy="4295776"/>
        </p:xfrm>
        <a:graphic>
          <a:graphicData uri="http://schemas.openxmlformats.org/drawingml/2006/table">
            <a:tbl>
              <a:tblPr/>
              <a:tblGrid>
                <a:gridCol w="58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1248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Marija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Vasileva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44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Martin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Simonovski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Petar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Blazevski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Slobodan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jovanovski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Aleksandar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Arial"/>
                        </a:rPr>
                        <a:t>Stankov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Trajce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Ristov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Blagoja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Naskov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Aleksandar Stefanoski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Kosta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Arial"/>
                        </a:rPr>
                        <a:t>Ilievski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Dusan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jovanovksi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Simot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Milosevik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Petar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Dimov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Petar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Stojkovski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Gjorgji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baseline="0" dirty="0" err="1">
                          <a:solidFill>
                            <a:srgbClr val="000000"/>
                          </a:solidFill>
                          <a:latin typeface="Arial"/>
                        </a:rPr>
                        <a:t>Ilievski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algn="ctr" fontAlgn="ctr"/>
                      <a:r>
                        <a:rPr lang="mk-MK" sz="14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1359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Dejan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Stankovik</a:t>
                      </a:r>
                      <a:endParaRPr lang="mk-MK" sz="14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k-MK" sz="1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0312" name="TextBox 9"/>
          <p:cNvSpPr txBox="1">
            <a:spLocks noChangeArrowheads="1"/>
          </p:cNvSpPr>
          <p:nvPr/>
        </p:nvSpPr>
        <p:spPr bwMode="auto">
          <a:xfrm>
            <a:off x="5429250" y="2643188"/>
            <a:ext cx="37147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mk-MK"/>
              <a:t>In this case,</a:t>
            </a:r>
            <a:r>
              <a:rPr lang="mk-MK" altLang="mk-MK"/>
              <a:t> </a:t>
            </a:r>
            <a:r>
              <a:rPr lang="en-US" altLang="mk-MK" b="1"/>
              <a:t>id_student</a:t>
            </a:r>
            <a:r>
              <a:rPr lang="en-US" altLang="mk-MK"/>
              <a:t> is an attribute – </a:t>
            </a:r>
            <a:r>
              <a:rPr lang="en-US" altLang="mk-MK" b="1"/>
              <a:t>entity key, </a:t>
            </a:r>
            <a:r>
              <a:rPr lang="en-US" altLang="mk-MK"/>
              <a:t>because for every entity instance, it has different value</a:t>
            </a:r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12113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Ass.</a:t>
            </a:r>
            <a:r>
              <a:rPr lang="mk-MK" altLang="mk-MK" b="1"/>
              <a:t> 1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572500" cy="4267200"/>
          </a:xfrm>
        </p:spPr>
        <p:txBody>
          <a:bodyPr/>
          <a:lstStyle/>
          <a:p>
            <a:r>
              <a:rPr lang="en-US" altLang="mk-MK"/>
              <a:t>Entities</a:t>
            </a:r>
            <a:endParaRPr lang="mk-MK" altLang="mk-MK"/>
          </a:p>
          <a:p>
            <a:pPr lvl="1"/>
            <a:r>
              <a:rPr lang="en-US" altLang="mk-MK" sz="2300" i="1"/>
              <a:t>Client</a:t>
            </a:r>
            <a:r>
              <a:rPr lang="mk-MK" altLang="mk-MK" sz="2300"/>
              <a:t>	(</a:t>
            </a:r>
            <a:r>
              <a:rPr lang="en-US" altLang="mk-MK" sz="2300"/>
              <a:t>client_no</a:t>
            </a:r>
            <a:r>
              <a:rPr lang="mk-MK" altLang="mk-MK" sz="2300"/>
              <a:t>, </a:t>
            </a:r>
            <a:r>
              <a:rPr lang="en-US" altLang="mk-MK" sz="2300"/>
              <a:t>name</a:t>
            </a:r>
            <a:r>
              <a:rPr lang="mk-MK" altLang="mk-MK" sz="2300"/>
              <a:t>, </a:t>
            </a:r>
            <a:r>
              <a:rPr lang="en-US" altLang="mk-MK" sz="2300"/>
              <a:t>PID</a:t>
            </a:r>
            <a:r>
              <a:rPr lang="mk-MK" altLang="mk-MK" sz="2300"/>
              <a:t>, </a:t>
            </a:r>
            <a:r>
              <a:rPr lang="en-US" altLang="mk-MK" sz="2300"/>
              <a:t>telephone</a:t>
            </a:r>
            <a:r>
              <a:rPr lang="mk-MK" altLang="mk-MK" sz="2300"/>
              <a:t>) </a:t>
            </a:r>
          </a:p>
          <a:p>
            <a:pPr lvl="1"/>
            <a:r>
              <a:rPr lang="en-US" altLang="mk-MK" sz="2300" i="1"/>
              <a:t>Account</a:t>
            </a:r>
            <a:r>
              <a:rPr lang="mk-MK" altLang="mk-MK" sz="2300"/>
              <a:t> 	(</a:t>
            </a:r>
            <a:r>
              <a:rPr lang="en-US" altLang="mk-MK" sz="2300"/>
              <a:t>account_no</a:t>
            </a:r>
            <a:r>
              <a:rPr lang="mk-MK" altLang="mk-MK" sz="2300"/>
              <a:t>, </a:t>
            </a:r>
            <a:r>
              <a:rPr lang="en-US" altLang="mk-MK" sz="2300"/>
              <a:t>type</a:t>
            </a:r>
            <a:r>
              <a:rPr lang="mk-MK" altLang="mk-MK" sz="2300"/>
              <a:t>)</a:t>
            </a:r>
          </a:p>
          <a:p>
            <a:pPr lvl="1"/>
            <a:r>
              <a:rPr lang="en-US" altLang="mk-MK" sz="2300" i="1"/>
              <a:t>Add_money</a:t>
            </a:r>
            <a:r>
              <a:rPr lang="mk-MK" altLang="mk-MK" sz="2300"/>
              <a:t>	(</a:t>
            </a:r>
            <a:r>
              <a:rPr lang="en-US" altLang="mk-MK" sz="2300"/>
              <a:t>amount</a:t>
            </a:r>
            <a:r>
              <a:rPr lang="mk-MK" altLang="mk-MK" sz="2300"/>
              <a:t>, </a:t>
            </a:r>
            <a:r>
              <a:rPr lang="en-US" altLang="mk-MK" sz="2300"/>
              <a:t>transaction_date</a:t>
            </a:r>
            <a:r>
              <a:rPr lang="mk-MK" altLang="mk-MK" sz="2300"/>
              <a:t>)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 sz="2300"/>
          </a:p>
          <a:p>
            <a:r>
              <a:rPr lang="en-US" altLang="mk-MK" sz="2700"/>
              <a:t>Define keys for the given entities</a:t>
            </a:r>
            <a:r>
              <a:rPr lang="mk-MK" altLang="mk-MK" sz="2700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2700"/>
          </a:p>
          <a:p>
            <a:r>
              <a:rPr lang="en-US" altLang="mk-MK" sz="2700"/>
              <a:t>Which attribute is key for add_money</a:t>
            </a:r>
            <a:r>
              <a:rPr lang="mk-MK" altLang="mk-MK" sz="2700" i="1"/>
              <a:t>?</a:t>
            </a:r>
            <a:endParaRPr lang="mk-MK" altLang="mk-MK" sz="270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4987E1F-779D-486E-B8EA-E30418EBAE87}" type="slidenum">
              <a:rPr lang="en-US" altLang="mk-MK"/>
              <a:pPr/>
              <a:t>5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04722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Entity relation</a:t>
            </a:r>
            <a:endParaRPr lang="mk-MK" altLang="mk-MK" b="1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4267200"/>
          </a:xfrm>
        </p:spPr>
        <p:txBody>
          <a:bodyPr/>
          <a:lstStyle/>
          <a:p>
            <a:r>
              <a:rPr lang="en-US" altLang="mk-MK"/>
              <a:t>Relation</a:t>
            </a:r>
            <a:r>
              <a:rPr lang="ru-RU" altLang="mk-MK"/>
              <a:t> </a:t>
            </a:r>
            <a:r>
              <a:rPr lang="en-US" altLang="mk-MK">
                <a:latin typeface="MAC C Swiss" panose="020B7200000000000000" pitchFamily="34" charset="0"/>
              </a:rPr>
              <a:t> </a:t>
            </a:r>
            <a:r>
              <a:rPr lang="en-US" altLang="mk-MK">
                <a:solidFill>
                  <a:srgbClr val="FF9966"/>
                </a:solidFill>
                <a:latin typeface="Times" panose="02020603050405020304" pitchFamily="18" charset="0"/>
              </a:rPr>
              <a:t>(relationship)</a:t>
            </a:r>
            <a:r>
              <a:rPr lang="en-US" altLang="mk-MK">
                <a:latin typeface="Times" panose="02020603050405020304" pitchFamily="18" charset="0"/>
              </a:rPr>
              <a:t> </a:t>
            </a:r>
            <a:r>
              <a:rPr lang="en-US" altLang="mk-MK"/>
              <a:t>is connection (interaction) between several entities (one, two or more) </a:t>
            </a:r>
          </a:p>
          <a:p>
            <a:pPr lvl="1"/>
            <a:r>
              <a:rPr lang="en-US" altLang="mk-MK" i="1"/>
              <a:t>It can have its own attributes</a:t>
            </a:r>
            <a:br>
              <a:rPr lang="ru-RU" altLang="mk-MK"/>
            </a:br>
            <a:endParaRPr lang="en-US" altLang="mk-MK">
              <a:latin typeface="MAC C Swiss" panose="020B7200000000000000" pitchFamily="34" charset="0"/>
            </a:endParaRPr>
          </a:p>
          <a:p>
            <a:r>
              <a:rPr lang="en-US" altLang="mk-MK">
                <a:latin typeface="Times" panose="02020603050405020304" pitchFamily="18" charset="0"/>
              </a:rPr>
              <a:t>Ex</a:t>
            </a:r>
            <a:r>
              <a:rPr lang="mk-MK" altLang="mk-MK">
                <a:latin typeface="Times" panose="02020603050405020304" pitchFamily="18" charset="0"/>
              </a:rPr>
              <a:t>.</a:t>
            </a:r>
            <a:r>
              <a:rPr lang="en-US" altLang="mk-MK">
                <a:latin typeface="Times" panose="02020603050405020304" pitchFamily="18" charset="0"/>
              </a:rPr>
              <a:t> </a:t>
            </a:r>
            <a:endParaRPr lang="mk-MK" altLang="mk-MK">
              <a:latin typeface="Times" panose="02020603050405020304" pitchFamily="18" charset="0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mk-MK">
                <a:latin typeface="Times" panose="02020603050405020304" pitchFamily="18" charset="0"/>
              </a:rPr>
              <a:t>Pero</a:t>
            </a:r>
            <a:r>
              <a:rPr lang="mk-MK" altLang="mk-MK">
                <a:latin typeface="Times" panose="02020603050405020304" pitchFamily="18" charset="0"/>
              </a:rPr>
              <a:t>		</a:t>
            </a:r>
            <a:r>
              <a:rPr lang="en-US" altLang="mk-MK">
                <a:latin typeface="Times" panose="02020603050405020304" pitchFamily="18" charset="0"/>
              </a:rPr>
              <a:t>add_money</a:t>
            </a:r>
            <a:r>
              <a:rPr lang="mk-MK" altLang="mk-MK">
                <a:latin typeface="Times" panose="02020603050405020304" pitchFamily="18" charset="0"/>
              </a:rPr>
              <a:t>	</a:t>
            </a:r>
            <a:r>
              <a:rPr lang="en-US" altLang="mk-MK">
                <a:latin typeface="Times" panose="02020603050405020304" pitchFamily="18" charset="0"/>
              </a:rPr>
              <a:t>	</a:t>
            </a:r>
            <a:r>
              <a:rPr lang="mk-MK" altLang="mk-MK">
                <a:latin typeface="Times" panose="02020603050405020304" pitchFamily="18" charset="0"/>
              </a:rPr>
              <a:t>203043346745</a:t>
            </a:r>
            <a:endParaRPr lang="en-US" altLang="mk-MK">
              <a:latin typeface="Times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mk-MK" i="1">
                <a:latin typeface="Times" panose="02020603050405020304" pitchFamily="18" charset="0"/>
              </a:rPr>
              <a:t>     </a:t>
            </a:r>
            <a:r>
              <a:rPr lang="mk-MK" altLang="mk-MK" i="1">
                <a:latin typeface="Times" panose="02020603050405020304" pitchFamily="18" charset="0"/>
              </a:rPr>
              <a:t>(</a:t>
            </a:r>
            <a:r>
              <a:rPr lang="en-US" altLang="mk-MK" i="1">
                <a:latin typeface="Times" panose="02020603050405020304" pitchFamily="18" charset="0"/>
              </a:rPr>
              <a:t>client</a:t>
            </a:r>
            <a:r>
              <a:rPr lang="mk-MK" altLang="mk-MK" i="1">
                <a:latin typeface="Times" panose="02020603050405020304" pitchFamily="18" charset="0"/>
              </a:rPr>
              <a:t>)	</a:t>
            </a:r>
            <a:r>
              <a:rPr lang="en-US" altLang="mk-MK" i="1">
                <a:latin typeface="Times" panose="02020603050405020304" pitchFamily="18" charset="0"/>
              </a:rPr>
              <a:t>	</a:t>
            </a:r>
            <a:r>
              <a:rPr lang="mk-MK" altLang="mk-MK" b="1" i="1">
                <a:latin typeface="Times" panose="02020603050405020304" pitchFamily="18" charset="0"/>
              </a:rPr>
              <a:t>(</a:t>
            </a:r>
            <a:r>
              <a:rPr lang="en-US" altLang="mk-MK" b="1" i="1">
                <a:latin typeface="Times" panose="02020603050405020304" pitchFamily="18" charset="0"/>
              </a:rPr>
              <a:t>relation</a:t>
            </a:r>
            <a:r>
              <a:rPr lang="mk-MK" altLang="mk-MK" b="1" i="1">
                <a:latin typeface="Times" panose="02020603050405020304" pitchFamily="18" charset="0"/>
              </a:rPr>
              <a:t>)</a:t>
            </a:r>
            <a:r>
              <a:rPr lang="mk-MK" altLang="mk-MK" i="1">
                <a:latin typeface="Times" panose="02020603050405020304" pitchFamily="18" charset="0"/>
              </a:rPr>
              <a:t>	</a:t>
            </a:r>
            <a:r>
              <a:rPr lang="en-US" altLang="mk-MK" i="1">
                <a:latin typeface="Times" panose="02020603050405020304" pitchFamily="18" charset="0"/>
              </a:rPr>
              <a:t>	</a:t>
            </a:r>
            <a:r>
              <a:rPr lang="mk-MK" altLang="mk-MK" i="1">
                <a:latin typeface="Times" panose="02020603050405020304" pitchFamily="18" charset="0"/>
              </a:rPr>
              <a:t>(</a:t>
            </a:r>
            <a:r>
              <a:rPr lang="en-US" altLang="mk-MK" i="1">
                <a:latin typeface="Times" panose="02020603050405020304" pitchFamily="18" charset="0"/>
              </a:rPr>
              <a:t>account</a:t>
            </a:r>
            <a:r>
              <a:rPr lang="mk-MK" altLang="mk-MK" i="1">
                <a:latin typeface="Times" panose="02020603050405020304" pitchFamily="18" charset="0"/>
              </a:rPr>
              <a:t>)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>
              <a:latin typeface="Times" panose="02020603050405020304" pitchFamily="18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6C9DFE5-DE3D-41CA-B517-7EBC025EBDCF}" type="slidenum">
              <a:rPr lang="en-US" altLang="mk-MK"/>
              <a:pPr/>
              <a:t>6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6075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Types of relations</a:t>
            </a:r>
            <a:endParaRPr lang="mk-MK" altLang="mk-MK" b="1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4267200"/>
          </a:xfrm>
        </p:spPr>
        <p:txBody>
          <a:bodyPr/>
          <a:lstStyle/>
          <a:p>
            <a:r>
              <a:rPr lang="en-US" altLang="mk-MK">
                <a:latin typeface="Times" panose="02020603050405020304" pitchFamily="18" charset="0"/>
              </a:rPr>
              <a:t>Binary</a:t>
            </a:r>
            <a:r>
              <a:rPr lang="mk-MK" altLang="mk-MK">
                <a:latin typeface="Times" panose="02020603050405020304" pitchFamily="18" charset="0"/>
              </a:rPr>
              <a:t>: </a:t>
            </a:r>
            <a:r>
              <a:rPr lang="en-US" altLang="mk-MK">
                <a:latin typeface="Times" panose="02020603050405020304" pitchFamily="18" charset="0"/>
              </a:rPr>
              <a:t>two entities relation</a:t>
            </a:r>
            <a:endParaRPr lang="mk-MK" altLang="mk-MK">
              <a:latin typeface="Times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mk-MK" altLang="mk-MK">
              <a:latin typeface="MAC C Swiss" panose="020B7200000000000000" pitchFamily="34" charset="0"/>
            </a:endParaRPr>
          </a:p>
          <a:p>
            <a:r>
              <a:rPr lang="en-US" altLang="mk-MK"/>
              <a:t>n-ary</a:t>
            </a:r>
            <a:r>
              <a:rPr lang="mk-MK" altLang="mk-MK"/>
              <a:t>: </a:t>
            </a:r>
            <a:r>
              <a:rPr lang="en-US" altLang="mk-MK"/>
              <a:t>N entities relation</a:t>
            </a:r>
            <a:endParaRPr lang="mk-MK" altLang="mk-MK">
              <a:latin typeface="MAC C Swiss" panose="020B7200000000000000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mk-MK">
              <a:latin typeface="MAC C Swiss" panose="020B7200000000000000" pitchFamily="34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mk-MK"/>
              <a:t>What kind of relation is the previous one?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7D6514C-8556-4E66-AE79-FE2E736558DF}" type="slidenum">
              <a:rPr lang="en-US" altLang="mk-MK"/>
              <a:pPr/>
              <a:t>7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89206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Relations in ER Diagrams</a:t>
            </a:r>
            <a:endParaRPr lang="mk-MK" altLang="mk-MK" b="1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00063" y="2233613"/>
            <a:ext cx="8572500" cy="42672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+mj-lt"/>
              </a:rPr>
              <a:t>Deltoids</a:t>
            </a:r>
            <a:r>
              <a:rPr lang="en-US" sz="3200" dirty="0">
                <a:solidFill>
                  <a:srgbClr val="FF9966"/>
                </a:solidFill>
                <a:latin typeface="+mj-lt"/>
              </a:rPr>
              <a:t> (diamonds)</a:t>
            </a:r>
            <a:r>
              <a:rPr lang="en-US" sz="3200" dirty="0">
                <a:latin typeface="+mj-lt"/>
              </a:rPr>
              <a:t> represent relation sets (~ relations)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sz="3200" dirty="0">
              <a:latin typeface="+mj-lt"/>
            </a:endParaRPr>
          </a:p>
          <a:p>
            <a:pPr>
              <a:defRPr/>
            </a:pPr>
            <a:r>
              <a:rPr lang="en-US" sz="3200" b="1" dirty="0">
                <a:latin typeface="+mj-lt"/>
              </a:rPr>
              <a:t>Lines </a:t>
            </a:r>
            <a:r>
              <a:rPr lang="en-US" sz="3200" dirty="0">
                <a:latin typeface="+mj-lt"/>
              </a:rPr>
              <a:t>connect entities with relations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mk-MK" dirty="0">
              <a:latin typeface="+mj-lt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0A4BB68-3C60-452F-AB6D-E12CB200AEE9}" type="slidenum">
              <a:rPr lang="en-US" altLang="mk-MK"/>
              <a:pPr/>
              <a:t>8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24783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ER Diagram for the example</a:t>
            </a:r>
            <a:endParaRPr lang="mk-MK" altLang="mk-MK"/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AD9B4A1-9117-41B6-B989-F2A8CECA815C}" type="slidenum">
              <a:rPr lang="en-US" altLang="mk-MK"/>
              <a:pPr/>
              <a:t>9</a:t>
            </a:fld>
            <a:endParaRPr lang="en-US" altLang="mk-MK"/>
          </a:p>
        </p:txBody>
      </p:sp>
      <p:sp>
        <p:nvSpPr>
          <p:cNvPr id="7" name="Rectangle 6"/>
          <p:cNvSpPr/>
          <p:nvPr/>
        </p:nvSpPr>
        <p:spPr bwMode="auto">
          <a:xfrm>
            <a:off x="714375" y="2857500"/>
            <a:ext cx="1285875" cy="42862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dirty="0"/>
              <a:t>client</a:t>
            </a:r>
            <a:endParaRPr lang="mk-MK" dirty="0"/>
          </a:p>
        </p:txBody>
      </p:sp>
      <p:sp>
        <p:nvSpPr>
          <p:cNvPr id="9" name="Rectangle 8"/>
          <p:cNvSpPr/>
          <p:nvPr/>
        </p:nvSpPr>
        <p:spPr bwMode="auto">
          <a:xfrm>
            <a:off x="6643688" y="2857500"/>
            <a:ext cx="1285875" cy="42862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dirty="0"/>
              <a:t>account</a:t>
            </a:r>
            <a:endParaRPr lang="mk-MK" dirty="0"/>
          </a:p>
        </p:txBody>
      </p:sp>
      <p:sp>
        <p:nvSpPr>
          <p:cNvPr id="10" name="Diamond 9"/>
          <p:cNvSpPr/>
          <p:nvPr/>
        </p:nvSpPr>
        <p:spPr bwMode="auto">
          <a:xfrm>
            <a:off x="3429000" y="2643188"/>
            <a:ext cx="1857375" cy="857250"/>
          </a:xfrm>
          <a:prstGeom prst="diamond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/>
          <a:lstStyle/>
          <a:p>
            <a:pPr>
              <a:defRPr/>
            </a:pPr>
            <a:r>
              <a:rPr lang="en-US" sz="1200" dirty="0" err="1"/>
              <a:t>Add_money</a:t>
            </a:r>
            <a:endParaRPr lang="mk-MK" sz="1200" dirty="0"/>
          </a:p>
        </p:txBody>
      </p:sp>
      <p:cxnSp>
        <p:nvCxnSpPr>
          <p:cNvPr id="15368" name="Straight Connector 11"/>
          <p:cNvCxnSpPr>
            <a:cxnSpLocks noChangeShapeType="1"/>
            <a:stCxn id="10" idx="1"/>
            <a:endCxn id="7" idx="3"/>
          </p:cNvCxnSpPr>
          <p:nvPr/>
        </p:nvCxnSpPr>
        <p:spPr bwMode="auto">
          <a:xfrm rot="10800000">
            <a:off x="2000250" y="3071813"/>
            <a:ext cx="1428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9" name="Straight Connector 12"/>
          <p:cNvCxnSpPr>
            <a:cxnSpLocks noChangeShapeType="1"/>
          </p:cNvCxnSpPr>
          <p:nvPr/>
        </p:nvCxnSpPr>
        <p:spPr bwMode="auto">
          <a:xfrm rot="10800000">
            <a:off x="5214938" y="3071813"/>
            <a:ext cx="1428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0" name="Oval 13"/>
          <p:cNvSpPr>
            <a:spLocks noChangeArrowheads="1"/>
          </p:cNvSpPr>
          <p:nvPr/>
        </p:nvSpPr>
        <p:spPr bwMode="auto">
          <a:xfrm>
            <a:off x="214313" y="2000250"/>
            <a:ext cx="1500187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000" b="1" u="sng"/>
              <a:t>Client_no</a:t>
            </a:r>
            <a:endParaRPr lang="mk-MK" altLang="mk-MK" sz="1000" b="1" u="sng"/>
          </a:p>
        </p:txBody>
      </p:sp>
      <p:sp>
        <p:nvSpPr>
          <p:cNvPr id="15371" name="Oval 14"/>
          <p:cNvSpPr>
            <a:spLocks noChangeArrowheads="1"/>
          </p:cNvSpPr>
          <p:nvPr/>
        </p:nvSpPr>
        <p:spPr bwMode="auto">
          <a:xfrm>
            <a:off x="1928813" y="2000250"/>
            <a:ext cx="1357312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000"/>
              <a:t>name</a:t>
            </a:r>
            <a:endParaRPr lang="mk-MK" altLang="mk-MK" sz="1000"/>
          </a:p>
        </p:txBody>
      </p:sp>
      <p:sp>
        <p:nvSpPr>
          <p:cNvPr id="15372" name="Oval 15"/>
          <p:cNvSpPr>
            <a:spLocks noChangeArrowheads="1"/>
          </p:cNvSpPr>
          <p:nvPr/>
        </p:nvSpPr>
        <p:spPr bwMode="auto">
          <a:xfrm>
            <a:off x="285750" y="4071938"/>
            <a:ext cx="1357313" cy="3571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000"/>
              <a:t>PID</a:t>
            </a:r>
            <a:endParaRPr lang="mk-MK" altLang="mk-MK" sz="1000"/>
          </a:p>
        </p:txBody>
      </p:sp>
      <p:sp>
        <p:nvSpPr>
          <p:cNvPr id="15373" name="Oval 16"/>
          <p:cNvSpPr>
            <a:spLocks noChangeArrowheads="1"/>
          </p:cNvSpPr>
          <p:nvPr/>
        </p:nvSpPr>
        <p:spPr bwMode="auto">
          <a:xfrm>
            <a:off x="1571625" y="4786313"/>
            <a:ext cx="1357313" cy="3571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000"/>
              <a:t>telephone</a:t>
            </a:r>
            <a:endParaRPr lang="mk-MK" altLang="mk-MK" sz="1000"/>
          </a:p>
        </p:txBody>
      </p:sp>
      <p:sp>
        <p:nvSpPr>
          <p:cNvPr id="15374" name="Oval 17"/>
          <p:cNvSpPr>
            <a:spLocks noChangeArrowheads="1"/>
          </p:cNvSpPr>
          <p:nvPr/>
        </p:nvSpPr>
        <p:spPr bwMode="auto">
          <a:xfrm>
            <a:off x="2571750" y="3857625"/>
            <a:ext cx="2214563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000"/>
              <a:t>Transaction_date</a:t>
            </a:r>
            <a:endParaRPr lang="mk-MK" altLang="mk-MK" sz="1000"/>
          </a:p>
          <a:p>
            <a:endParaRPr lang="mk-MK" altLang="mk-MK" sz="1000"/>
          </a:p>
        </p:txBody>
      </p:sp>
      <p:sp>
        <p:nvSpPr>
          <p:cNvPr id="15375" name="Oval 18"/>
          <p:cNvSpPr>
            <a:spLocks noChangeArrowheads="1"/>
          </p:cNvSpPr>
          <p:nvPr/>
        </p:nvSpPr>
        <p:spPr bwMode="auto">
          <a:xfrm>
            <a:off x="5214938" y="3929063"/>
            <a:ext cx="1357312" cy="357187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000"/>
              <a:t>amount</a:t>
            </a:r>
            <a:endParaRPr lang="mk-MK" altLang="mk-MK" sz="1000"/>
          </a:p>
        </p:txBody>
      </p:sp>
      <p:sp>
        <p:nvSpPr>
          <p:cNvPr id="15376" name="Oval 19"/>
          <p:cNvSpPr>
            <a:spLocks noChangeArrowheads="1"/>
          </p:cNvSpPr>
          <p:nvPr/>
        </p:nvSpPr>
        <p:spPr bwMode="auto">
          <a:xfrm>
            <a:off x="7500938" y="3714750"/>
            <a:ext cx="1571625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sz="1000" b="1" u="sng"/>
              <a:t>Account_no</a:t>
            </a:r>
            <a:endParaRPr lang="mk-MK" altLang="mk-MK" sz="1000" b="1" u="sng"/>
          </a:p>
        </p:txBody>
      </p:sp>
      <p:sp>
        <p:nvSpPr>
          <p:cNvPr id="15377" name="Oval 20"/>
          <p:cNvSpPr>
            <a:spLocks noChangeArrowheads="1"/>
          </p:cNvSpPr>
          <p:nvPr/>
        </p:nvSpPr>
        <p:spPr bwMode="auto">
          <a:xfrm>
            <a:off x="7715250" y="2286000"/>
            <a:ext cx="1357313" cy="35718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000"/>
              <a:t>type</a:t>
            </a:r>
            <a:endParaRPr lang="mk-MK" altLang="mk-MK" sz="1000"/>
          </a:p>
        </p:txBody>
      </p:sp>
      <p:cxnSp>
        <p:nvCxnSpPr>
          <p:cNvPr id="15378" name="Straight Connector 22"/>
          <p:cNvCxnSpPr>
            <a:cxnSpLocks noChangeShapeType="1"/>
            <a:endCxn id="15375" idx="0"/>
          </p:cNvCxnSpPr>
          <p:nvPr/>
        </p:nvCxnSpPr>
        <p:spPr bwMode="auto">
          <a:xfrm>
            <a:off x="4857750" y="3286125"/>
            <a:ext cx="1036638" cy="64293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9" name="Straight Connector 23"/>
          <p:cNvCxnSpPr>
            <a:cxnSpLocks noChangeShapeType="1"/>
            <a:endCxn id="15372" idx="0"/>
          </p:cNvCxnSpPr>
          <p:nvPr/>
        </p:nvCxnSpPr>
        <p:spPr bwMode="auto">
          <a:xfrm rot="5400000">
            <a:off x="700881" y="3548857"/>
            <a:ext cx="785813" cy="2603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0" name="Straight Connector 24"/>
          <p:cNvCxnSpPr>
            <a:cxnSpLocks noChangeShapeType="1"/>
            <a:endCxn id="15373" idx="0"/>
          </p:cNvCxnSpPr>
          <p:nvPr/>
        </p:nvCxnSpPr>
        <p:spPr bwMode="auto">
          <a:xfrm rot="16200000" flipH="1">
            <a:off x="1267619" y="3804444"/>
            <a:ext cx="1500188" cy="4635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1" name="Straight Connector 25"/>
          <p:cNvCxnSpPr>
            <a:cxnSpLocks noChangeShapeType="1"/>
            <a:endCxn id="15376" idx="1"/>
          </p:cNvCxnSpPr>
          <p:nvPr/>
        </p:nvCxnSpPr>
        <p:spPr bwMode="auto">
          <a:xfrm rot="16200000" flipH="1">
            <a:off x="7339806" y="3375819"/>
            <a:ext cx="481013" cy="3016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2" name="Straight Connector 26"/>
          <p:cNvCxnSpPr>
            <a:cxnSpLocks noChangeShapeType="1"/>
            <a:stCxn id="15377" idx="3"/>
            <a:endCxn id="9" idx="0"/>
          </p:cNvCxnSpPr>
          <p:nvPr/>
        </p:nvCxnSpPr>
        <p:spPr bwMode="auto">
          <a:xfrm rot="5400000">
            <a:off x="7466807" y="2410618"/>
            <a:ext cx="266700" cy="6270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3" name="Straight Connector 33"/>
          <p:cNvCxnSpPr>
            <a:cxnSpLocks noChangeShapeType="1"/>
            <a:endCxn id="15374" idx="0"/>
          </p:cNvCxnSpPr>
          <p:nvPr/>
        </p:nvCxnSpPr>
        <p:spPr bwMode="auto">
          <a:xfrm rot="5400000">
            <a:off x="3553619" y="3410744"/>
            <a:ext cx="571500" cy="3222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4" name="Straight Connector 34"/>
          <p:cNvCxnSpPr>
            <a:cxnSpLocks noChangeShapeType="1"/>
            <a:endCxn id="7" idx="0"/>
          </p:cNvCxnSpPr>
          <p:nvPr/>
        </p:nvCxnSpPr>
        <p:spPr bwMode="auto">
          <a:xfrm rot="10800000" flipV="1">
            <a:off x="1357313" y="2357438"/>
            <a:ext cx="928687" cy="5000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5" name="Straight Connector 35"/>
          <p:cNvCxnSpPr>
            <a:cxnSpLocks noChangeShapeType="1"/>
            <a:endCxn id="7" idx="0"/>
          </p:cNvCxnSpPr>
          <p:nvPr/>
        </p:nvCxnSpPr>
        <p:spPr bwMode="auto">
          <a:xfrm rot="16200000" flipH="1">
            <a:off x="857251" y="2357437"/>
            <a:ext cx="500062" cy="5000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5831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Ass.</a:t>
            </a:r>
            <a:r>
              <a:rPr lang="mk-MK" altLang="mk-MK" b="1"/>
              <a:t> 2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001000" cy="4267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mk-MK" altLang="mk-MK"/>
          </a:p>
          <a:p>
            <a:r>
              <a:rPr lang="en-US" altLang="mk-MK"/>
              <a:t>Create ER Diagrams for the following cases:</a:t>
            </a:r>
            <a:endParaRPr lang="mk-MK" altLang="mk-MK"/>
          </a:p>
          <a:p>
            <a:pPr lvl="1"/>
            <a:r>
              <a:rPr lang="en-US" altLang="mk-MK"/>
              <a:t>Student enrolls in study year</a:t>
            </a:r>
            <a:endParaRPr lang="mk-MK" altLang="mk-MK"/>
          </a:p>
          <a:p>
            <a:pPr lvl="1"/>
            <a:r>
              <a:rPr lang="en-US" altLang="mk-MK"/>
              <a:t>Student goes to exam for some course</a:t>
            </a:r>
            <a:endParaRPr lang="mk-MK" altLang="mk-MK"/>
          </a:p>
          <a:p>
            <a:pPr lvl="1"/>
            <a:r>
              <a:rPr lang="en-US" altLang="mk-MK"/>
              <a:t>The course is part of some study year</a:t>
            </a:r>
            <a:endParaRPr lang="mk-MK" altLang="mk-MK"/>
          </a:p>
          <a:p>
            <a:pPr lvl="1">
              <a:buFont typeface="Wingdings" panose="05000000000000000000" pitchFamily="2" charset="2"/>
              <a:buNone/>
            </a:pPr>
            <a:endParaRPr lang="mk-MK" altLang="mk-MK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A8B6110-6690-4A3A-A2A0-B2FA47DFCAA7}" type="slidenum">
              <a:rPr lang="en-US" altLang="mk-MK"/>
              <a:pPr/>
              <a:t>10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76079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E-R model semantics</a:t>
            </a:r>
            <a:endParaRPr lang="mk-MK" altLang="mk-MK" b="1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500063" y="1643063"/>
            <a:ext cx="8358187" cy="4267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500" dirty="0">
                <a:latin typeface="+mj-lt"/>
              </a:rPr>
              <a:t>Primary Key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200" b="1" dirty="0">
                <a:latin typeface="+mj-lt"/>
              </a:rPr>
              <a:t>One of the entities identifiers</a:t>
            </a:r>
            <a:r>
              <a:rPr lang="en-US" sz="2200" dirty="0">
                <a:latin typeface="+mj-lt"/>
              </a:rPr>
              <a:t>.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200" dirty="0">
                <a:latin typeface="+mj-lt"/>
              </a:rPr>
              <a:t>Every entity has its own identifier (recommended)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1000" dirty="0">
              <a:latin typeface="+mj-lt"/>
            </a:endParaRPr>
          </a:p>
          <a:p>
            <a:pPr>
              <a:lnSpc>
                <a:spcPct val="90000"/>
              </a:lnSpc>
              <a:defRPr/>
            </a:pPr>
            <a:r>
              <a:rPr lang="en-US" sz="2500" b="1" dirty="0">
                <a:latin typeface="+mj-lt"/>
                <a:cs typeface="Tahoma" pitchFamily="34" charset="0"/>
              </a:rPr>
              <a:t>Cardinality constraints</a:t>
            </a:r>
            <a:endParaRPr lang="en-US" sz="2500" b="1" dirty="0">
              <a:latin typeface="+mj-lt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endParaRPr lang="en-US" sz="1000" dirty="0">
              <a:latin typeface="+mj-lt"/>
            </a:endParaRPr>
          </a:p>
          <a:p>
            <a:pPr>
              <a:lnSpc>
                <a:spcPct val="90000"/>
              </a:lnSpc>
              <a:defRPr/>
            </a:pPr>
            <a:r>
              <a:rPr lang="en-US" sz="2500" b="1" dirty="0">
                <a:latin typeface="+mj-lt"/>
              </a:rPr>
              <a:t>Types of relations</a:t>
            </a:r>
            <a:endParaRPr lang="en-US" sz="2500" dirty="0">
              <a:latin typeface="+mj-lt"/>
            </a:endParaRPr>
          </a:p>
          <a:p>
            <a:pPr>
              <a:lnSpc>
                <a:spcPct val="90000"/>
              </a:lnSpc>
              <a:defRPr/>
            </a:pPr>
            <a:r>
              <a:rPr lang="en-US" sz="2500" b="1" dirty="0">
                <a:latin typeface="+mj-lt"/>
              </a:rPr>
              <a:t>Relation degree</a:t>
            </a:r>
            <a:endParaRPr lang="en-US" sz="2500" b="1" dirty="0">
              <a:solidFill>
                <a:srgbClr val="FF9966"/>
              </a:solidFill>
              <a:latin typeface="+mj-lt"/>
            </a:endParaRPr>
          </a:p>
          <a:p>
            <a:pPr>
              <a:lnSpc>
                <a:spcPct val="90000"/>
              </a:lnSpc>
              <a:defRPr/>
            </a:pPr>
            <a:r>
              <a:rPr lang="en-US" sz="2500" b="1" dirty="0">
                <a:latin typeface="+mj-lt"/>
                <a:cs typeface="Tahoma" pitchFamily="34" charset="0"/>
              </a:rPr>
              <a:t>Existence -participation constraint</a:t>
            </a:r>
            <a:endParaRPr lang="en-US" sz="2500" b="1" dirty="0">
              <a:latin typeface="+mj-lt"/>
            </a:endParaRPr>
          </a:p>
          <a:p>
            <a:pPr>
              <a:defRPr/>
            </a:pPr>
            <a:endParaRPr lang="mk-MK" sz="2500" dirty="0">
              <a:latin typeface="+mj-lt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41E3EE7-0CA6-42C2-9DC8-B8AFDE6CA274}" type="slidenum">
              <a:rPr lang="en-US" altLang="mk-MK"/>
              <a:pPr/>
              <a:t>11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7243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Primary key</a:t>
            </a:r>
            <a:endParaRPr lang="mk-MK" altLang="mk-MK" b="1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57188" y="1643063"/>
            <a:ext cx="8572500" cy="4267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mk-MK" sz="2500" b="1"/>
              <a:t>In our example</a:t>
            </a:r>
            <a:endParaRPr lang="mk-MK" altLang="mk-MK" sz="2500" b="1"/>
          </a:p>
          <a:p>
            <a:pPr>
              <a:buFont typeface="Wingdings" panose="05000000000000000000" pitchFamily="2" charset="2"/>
              <a:buNone/>
            </a:pPr>
            <a:r>
              <a:rPr lang="mk-MK" altLang="mk-MK" sz="2500"/>
              <a:t>	</a:t>
            </a:r>
            <a:r>
              <a:rPr lang="en-US" altLang="mk-MK" sz="2500"/>
              <a:t>client </a:t>
            </a:r>
            <a:r>
              <a:rPr lang="mk-MK" altLang="mk-MK" sz="2500"/>
              <a:t>– </a:t>
            </a:r>
            <a:r>
              <a:rPr lang="en-US" altLang="mk-MK" sz="2500"/>
              <a:t>add_money</a:t>
            </a:r>
            <a:r>
              <a:rPr lang="mk-MK" altLang="mk-MK" sz="2500"/>
              <a:t> </a:t>
            </a:r>
            <a:r>
              <a:rPr lang="en-US" altLang="mk-MK" sz="2500"/>
              <a:t>-</a:t>
            </a:r>
            <a:r>
              <a:rPr lang="mk-MK" altLang="mk-MK" sz="2500"/>
              <a:t> </a:t>
            </a:r>
            <a:r>
              <a:rPr lang="en-US" altLang="mk-MK" sz="2500"/>
              <a:t>account</a:t>
            </a:r>
            <a:endParaRPr lang="mk-MK" altLang="mk-MK" sz="2500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2500"/>
              <a:t>Primary keys are</a:t>
            </a:r>
            <a:r>
              <a:rPr lang="mk-MK" altLang="mk-MK" sz="2500"/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mk-MK" altLang="mk-MK"/>
              <a:t>	- </a:t>
            </a:r>
            <a:r>
              <a:rPr lang="en-US" altLang="mk-MK" sz="2200"/>
              <a:t>client</a:t>
            </a:r>
            <a:r>
              <a:rPr lang="mk-MK" altLang="mk-MK" sz="2200"/>
              <a:t>: </a:t>
            </a:r>
            <a:r>
              <a:rPr lang="en-US" altLang="mk-MK" sz="2200"/>
              <a:t>client_id</a:t>
            </a:r>
            <a:endParaRPr lang="mk-MK" altLang="mk-MK" sz="2200"/>
          </a:p>
          <a:p>
            <a:pPr>
              <a:buFont typeface="Wingdings" panose="05000000000000000000" pitchFamily="2" charset="2"/>
              <a:buNone/>
            </a:pPr>
            <a:r>
              <a:rPr lang="mk-MK" altLang="mk-MK" sz="2200"/>
              <a:t>	-</a:t>
            </a:r>
            <a:r>
              <a:rPr lang="en-US" altLang="mk-MK" sz="2200"/>
              <a:t>  accoint</a:t>
            </a:r>
            <a:r>
              <a:rPr lang="mk-MK" altLang="mk-MK" sz="2200"/>
              <a:t>: </a:t>
            </a:r>
            <a:r>
              <a:rPr lang="en-US" altLang="mk-MK" sz="2200"/>
              <a:t>account_id</a:t>
            </a:r>
          </a:p>
          <a:p>
            <a:pPr>
              <a:buFont typeface="Wingdings" panose="05000000000000000000" pitchFamily="2" charset="2"/>
              <a:buNone/>
            </a:pPr>
            <a:r>
              <a:rPr lang="mk-MK" altLang="mk-MK" sz="2200"/>
              <a:t>	- </a:t>
            </a:r>
            <a:r>
              <a:rPr lang="en-US" altLang="mk-MK" sz="2200"/>
              <a:t>add_money</a:t>
            </a:r>
            <a:r>
              <a:rPr lang="mk-MK" altLang="mk-MK" sz="2200"/>
              <a:t>: (?).... </a:t>
            </a:r>
            <a:endParaRPr lang="en-US" altLang="mk-MK" sz="2200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2200"/>
              <a:t>		- combination of </a:t>
            </a:r>
            <a:r>
              <a:rPr lang="mk-MK" altLang="mk-MK" sz="2200"/>
              <a:t>(</a:t>
            </a:r>
            <a:r>
              <a:rPr lang="en-US" altLang="mk-MK" sz="2200"/>
              <a:t>client_id</a:t>
            </a:r>
            <a:r>
              <a:rPr lang="mk-MK" altLang="mk-MK" sz="2200"/>
              <a:t>, </a:t>
            </a:r>
            <a:r>
              <a:rPr lang="en-US" altLang="mk-MK" sz="2200"/>
              <a:t>account_id</a:t>
            </a:r>
            <a:r>
              <a:rPr lang="mk-MK" altLang="mk-MK" sz="2200"/>
              <a:t>) – </a:t>
            </a:r>
            <a:r>
              <a:rPr lang="en-US" altLang="mk-MK" sz="2200"/>
              <a:t>deductive primary key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mk-MK" sz="2200"/>
              <a:t>		- or you can add additional attribute id_add_money, which will be its primary key</a:t>
            </a:r>
            <a:endParaRPr lang="mk-MK" altLang="mk-MK" sz="2200"/>
          </a:p>
          <a:p>
            <a:pPr>
              <a:buFont typeface="Wingdings" panose="05000000000000000000" pitchFamily="2" charset="2"/>
              <a:buNone/>
            </a:pPr>
            <a:endParaRPr lang="en-US" altLang="mk-MK" sz="1600" b="1">
              <a:solidFill>
                <a:srgbClr val="FF0000"/>
              </a:solidFill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1A834E6-63E5-4AC1-BA99-B6287FAF6F84}" type="slidenum">
              <a:rPr lang="en-US" altLang="mk-MK"/>
              <a:pPr/>
              <a:t>12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414800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783638" cy="1216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mk-MK" sz="4000" b="1">
                <a:cs typeface="Tahoma" panose="020B0604030504040204" pitchFamily="34" charset="0"/>
              </a:rPr>
              <a:t>Cardinality constraints</a:t>
            </a:r>
            <a:endParaRPr lang="en-US" altLang="mk-MK" sz="4000" b="1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500063" y="1643063"/>
            <a:ext cx="8001000" cy="4267200"/>
          </a:xfrm>
        </p:spPr>
        <p:txBody>
          <a:bodyPr/>
          <a:lstStyle/>
          <a:p>
            <a:pPr algn="just">
              <a:defRPr/>
            </a:pPr>
            <a:r>
              <a:rPr lang="en-US" sz="2200" b="1" dirty="0">
                <a:latin typeface="+mj-lt"/>
              </a:rPr>
              <a:t>Number </a:t>
            </a:r>
            <a:r>
              <a:rPr lang="en-US" sz="2200" dirty="0">
                <a:latin typeface="+mj-lt"/>
              </a:rPr>
              <a:t>of instances from one entity that can be in relation with one instance from another entity</a:t>
            </a:r>
          </a:p>
          <a:p>
            <a:pPr>
              <a:defRPr/>
            </a:pPr>
            <a:endParaRPr lang="en-US" sz="2200" dirty="0">
              <a:latin typeface="+mj-lt"/>
            </a:endParaRPr>
          </a:p>
          <a:p>
            <a:pPr>
              <a:defRPr/>
            </a:pPr>
            <a:r>
              <a:rPr lang="en-US" sz="2200" dirty="0">
                <a:latin typeface="+mj-lt"/>
              </a:rPr>
              <a:t>Used in binary relations</a:t>
            </a:r>
          </a:p>
          <a:p>
            <a:pPr>
              <a:defRPr/>
            </a:pPr>
            <a:endParaRPr lang="en-US" sz="2200" dirty="0">
              <a:latin typeface="+mj-lt"/>
            </a:endParaRPr>
          </a:p>
          <a:p>
            <a:pPr>
              <a:defRPr/>
            </a:pPr>
            <a:r>
              <a:rPr lang="en-US" sz="2200" dirty="0">
                <a:latin typeface="+mj-lt"/>
              </a:rPr>
              <a:t>Several types:    </a:t>
            </a:r>
          </a:p>
          <a:p>
            <a:pPr lvl="1">
              <a:defRPr/>
            </a:pPr>
            <a:r>
              <a:rPr lang="en-US" sz="2200" b="1" dirty="0">
                <a:latin typeface="+mj-lt"/>
              </a:rPr>
              <a:t>One-to-one</a:t>
            </a:r>
          </a:p>
          <a:p>
            <a:pPr lvl="1">
              <a:defRPr/>
            </a:pPr>
            <a:r>
              <a:rPr lang="en-US" sz="2200" b="1" dirty="0">
                <a:latin typeface="+mj-lt"/>
              </a:rPr>
              <a:t>One-to-many</a:t>
            </a:r>
          </a:p>
          <a:p>
            <a:pPr lvl="1">
              <a:defRPr/>
            </a:pPr>
            <a:r>
              <a:rPr lang="en-US" sz="2200" b="1" dirty="0">
                <a:latin typeface="+mj-lt"/>
              </a:rPr>
              <a:t>Many-to-one</a:t>
            </a:r>
          </a:p>
          <a:p>
            <a:pPr lvl="1">
              <a:defRPr/>
            </a:pPr>
            <a:r>
              <a:rPr lang="en-US" sz="2200" b="1" dirty="0">
                <a:latin typeface="+mj-lt"/>
              </a:rPr>
              <a:t>Many-to-many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mk-MK" sz="2200" dirty="0">
              <a:latin typeface="+mj-lt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42703DF-C9C8-423B-AC9C-B748F25488B2}" type="slidenum">
              <a:rPr lang="en-US" altLang="mk-MK"/>
              <a:pPr/>
              <a:t>13</a:t>
            </a:fld>
            <a:endParaRPr lang="en-US" altLang="mk-MK"/>
          </a:p>
        </p:txBody>
      </p:sp>
      <p:pic>
        <p:nvPicPr>
          <p:cNvPr id="1946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15" t="59547" r="23622" b="6398"/>
          <a:stretch>
            <a:fillRect/>
          </a:stretch>
        </p:blipFill>
        <p:spPr bwMode="auto">
          <a:xfrm>
            <a:off x="4786313" y="4286250"/>
            <a:ext cx="2290762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524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98" name="Straight Connector 11"/>
          <p:cNvCxnSpPr>
            <a:cxnSpLocks noChangeShapeType="1"/>
          </p:cNvCxnSpPr>
          <p:nvPr/>
        </p:nvCxnSpPr>
        <p:spPr bwMode="auto">
          <a:xfrm rot="10800000">
            <a:off x="5349875" y="522605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6" name="Diamond 9"/>
          <p:cNvSpPr>
            <a:spLocks noChangeArrowheads="1"/>
          </p:cNvSpPr>
          <p:nvPr/>
        </p:nvSpPr>
        <p:spPr bwMode="auto">
          <a:xfrm>
            <a:off x="3059113" y="4797425"/>
            <a:ext cx="2808287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Is_in_relationship</a:t>
            </a:r>
            <a:endParaRPr lang="mk-MK" altLang="mk-MK" sz="1500"/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One-to-one</a:t>
            </a:r>
            <a:endParaRPr lang="mk-MK" altLang="mk-MK" b="1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215313" cy="4267200"/>
          </a:xfrm>
        </p:spPr>
        <p:txBody>
          <a:bodyPr/>
          <a:lstStyle/>
          <a:p>
            <a:r>
              <a:rPr lang="en-US" altLang="mk-MK" sz="2200"/>
              <a:t>Every instance from E1 entity can be in relation with exactly one instance from the  E2 instance, v.v.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1400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1400"/>
              <a:t>Ex</a:t>
            </a:r>
            <a:r>
              <a:rPr lang="mk-MK" altLang="mk-MK" sz="1400"/>
              <a:t>. </a:t>
            </a:r>
            <a:r>
              <a:rPr lang="en-US" altLang="mk-MK" sz="1400"/>
              <a:t>Every human can have only one PID (if PID is entity) and v.v.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1400" b="1"/>
          </a:p>
          <a:p>
            <a:pPr>
              <a:buFont typeface="Wingdings" panose="05000000000000000000" pitchFamily="2" charset="2"/>
              <a:buNone/>
            </a:pPr>
            <a:endParaRPr lang="mk-MK" altLang="mk-MK" sz="1400" b="1"/>
          </a:p>
          <a:p>
            <a:pPr>
              <a:buFont typeface="Wingdings" panose="05000000000000000000" pitchFamily="2" charset="2"/>
              <a:buNone/>
            </a:pPr>
            <a:endParaRPr lang="mk-MK" altLang="mk-MK" sz="1400" b="1"/>
          </a:p>
          <a:p>
            <a:pPr>
              <a:buFont typeface="Wingdings" panose="05000000000000000000" pitchFamily="2" charset="2"/>
              <a:buNone/>
            </a:pPr>
            <a:endParaRPr lang="mk-MK" altLang="mk-MK" sz="1400" b="1"/>
          </a:p>
          <a:p>
            <a:pPr>
              <a:buFont typeface="Wingdings" panose="05000000000000000000" pitchFamily="2" charset="2"/>
              <a:buNone/>
            </a:pPr>
            <a:endParaRPr lang="en-US" altLang="mk-MK" sz="1400" b="1"/>
          </a:p>
          <a:p>
            <a:pPr>
              <a:buFont typeface="Wingdings" panose="05000000000000000000" pitchFamily="2" charset="2"/>
              <a:buNone/>
            </a:pPr>
            <a:endParaRPr lang="en-US" altLang="mk-MK" sz="1400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1400"/>
              <a:t>One boy is in relationship with one girl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140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78E2909-5B08-489F-A281-B45B7ECE0840}" type="slidenum">
              <a:rPr lang="en-US" altLang="mk-MK"/>
              <a:pPr/>
              <a:t>14</a:t>
            </a:fld>
            <a:endParaRPr lang="en-US" altLang="mk-MK"/>
          </a:p>
        </p:txBody>
      </p:sp>
      <p:sp>
        <p:nvSpPr>
          <p:cNvPr id="20486" name="Rectangle 7"/>
          <p:cNvSpPr>
            <a:spLocks noChangeArrowheads="1"/>
          </p:cNvSpPr>
          <p:nvPr/>
        </p:nvSpPr>
        <p:spPr bwMode="auto">
          <a:xfrm>
            <a:off x="714375" y="3429000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human</a:t>
            </a:r>
            <a:endParaRPr lang="mk-MK" altLang="mk-MK"/>
          </a:p>
        </p:txBody>
      </p:sp>
      <p:sp>
        <p:nvSpPr>
          <p:cNvPr id="20487" name="Rectangle 8"/>
          <p:cNvSpPr>
            <a:spLocks noChangeArrowheads="1"/>
          </p:cNvSpPr>
          <p:nvPr/>
        </p:nvSpPr>
        <p:spPr bwMode="auto">
          <a:xfrm>
            <a:off x="6643688" y="3429000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pid</a:t>
            </a:r>
            <a:endParaRPr lang="mk-MK" altLang="mk-MK"/>
          </a:p>
        </p:txBody>
      </p:sp>
      <p:sp>
        <p:nvSpPr>
          <p:cNvPr id="20488" name="Diamond 9"/>
          <p:cNvSpPr>
            <a:spLocks noChangeArrowheads="1"/>
          </p:cNvSpPr>
          <p:nvPr/>
        </p:nvSpPr>
        <p:spPr bwMode="auto">
          <a:xfrm>
            <a:off x="3429000" y="3214688"/>
            <a:ext cx="1857375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has</a:t>
            </a:r>
            <a:endParaRPr lang="mk-MK" altLang="mk-MK" sz="1500"/>
          </a:p>
        </p:txBody>
      </p:sp>
      <p:cxnSp>
        <p:nvCxnSpPr>
          <p:cNvPr id="20489" name="Straight Connector 10"/>
          <p:cNvCxnSpPr>
            <a:cxnSpLocks noChangeShapeType="1"/>
            <a:stCxn id="20488" idx="1"/>
            <a:endCxn id="20486" idx="3"/>
          </p:cNvCxnSpPr>
          <p:nvPr/>
        </p:nvCxnSpPr>
        <p:spPr bwMode="auto">
          <a:xfrm rot="10800000">
            <a:off x="2000250" y="3643313"/>
            <a:ext cx="1428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0" name="Straight Connector 11"/>
          <p:cNvCxnSpPr>
            <a:cxnSpLocks noChangeShapeType="1"/>
          </p:cNvCxnSpPr>
          <p:nvPr/>
        </p:nvCxnSpPr>
        <p:spPr bwMode="auto">
          <a:xfrm rot="10800000">
            <a:off x="5214938" y="3643313"/>
            <a:ext cx="1428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1" name="TextBox 12"/>
          <p:cNvSpPr txBox="1">
            <a:spLocks noChangeArrowheads="1"/>
          </p:cNvSpPr>
          <p:nvPr/>
        </p:nvSpPr>
        <p:spPr bwMode="auto">
          <a:xfrm>
            <a:off x="2071688" y="3214688"/>
            <a:ext cx="3317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  <p:sp>
        <p:nvSpPr>
          <p:cNvPr id="20492" name="TextBox 13"/>
          <p:cNvSpPr txBox="1">
            <a:spLocks noChangeArrowheads="1"/>
          </p:cNvSpPr>
          <p:nvPr/>
        </p:nvSpPr>
        <p:spPr bwMode="auto">
          <a:xfrm>
            <a:off x="6286500" y="3214688"/>
            <a:ext cx="331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  <p:sp>
        <p:nvSpPr>
          <p:cNvPr id="20494" name="Rectangle 7"/>
          <p:cNvSpPr>
            <a:spLocks noChangeArrowheads="1"/>
          </p:cNvSpPr>
          <p:nvPr/>
        </p:nvSpPr>
        <p:spPr bwMode="auto">
          <a:xfrm>
            <a:off x="849313" y="501173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Boy	</a:t>
            </a:r>
            <a:endParaRPr lang="mk-MK" altLang="mk-MK"/>
          </a:p>
        </p:txBody>
      </p:sp>
      <p:sp>
        <p:nvSpPr>
          <p:cNvPr id="20495" name="Rectangle 8"/>
          <p:cNvSpPr>
            <a:spLocks noChangeArrowheads="1"/>
          </p:cNvSpPr>
          <p:nvPr/>
        </p:nvSpPr>
        <p:spPr bwMode="auto">
          <a:xfrm>
            <a:off x="6778625" y="501173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Girl</a:t>
            </a:r>
            <a:endParaRPr lang="mk-MK" altLang="mk-MK"/>
          </a:p>
        </p:txBody>
      </p:sp>
      <p:cxnSp>
        <p:nvCxnSpPr>
          <p:cNvPr id="20497" name="Straight Connector 10"/>
          <p:cNvCxnSpPr>
            <a:cxnSpLocks noChangeShapeType="1"/>
            <a:stCxn id="20496" idx="1"/>
            <a:endCxn id="20494" idx="3"/>
          </p:cNvCxnSpPr>
          <p:nvPr/>
        </p:nvCxnSpPr>
        <p:spPr bwMode="auto">
          <a:xfrm flipH="1">
            <a:off x="2135188" y="5226050"/>
            <a:ext cx="9239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9" name="TextBox 12"/>
          <p:cNvSpPr txBox="1">
            <a:spLocks noChangeArrowheads="1"/>
          </p:cNvSpPr>
          <p:nvPr/>
        </p:nvSpPr>
        <p:spPr bwMode="auto">
          <a:xfrm>
            <a:off x="2206625" y="479742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  <p:sp>
        <p:nvSpPr>
          <p:cNvPr id="20500" name="TextBox 13"/>
          <p:cNvSpPr txBox="1">
            <a:spLocks noChangeArrowheads="1"/>
          </p:cNvSpPr>
          <p:nvPr/>
        </p:nvSpPr>
        <p:spPr bwMode="auto">
          <a:xfrm>
            <a:off x="6421438" y="479742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66967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One - to</a:t>
            </a:r>
            <a:r>
              <a:rPr lang="mk-MK" altLang="mk-MK" b="1"/>
              <a:t> - </a:t>
            </a:r>
            <a:r>
              <a:rPr lang="en-US" altLang="mk-MK" b="1"/>
              <a:t>many</a:t>
            </a:r>
            <a:endParaRPr lang="mk-MK" altLang="mk-MK" b="1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188" y="1643063"/>
            <a:ext cx="8572500" cy="5214937"/>
          </a:xfrm>
        </p:spPr>
        <p:txBody>
          <a:bodyPr/>
          <a:lstStyle/>
          <a:p>
            <a:pPr marL="0" indent="0">
              <a:defRPr/>
            </a:pPr>
            <a:r>
              <a:rPr lang="mk-MK" sz="2200" dirty="0">
                <a:latin typeface="Macedonian Tms" pitchFamily="18" charset="0"/>
              </a:rPr>
              <a:t> </a:t>
            </a:r>
            <a:r>
              <a:rPr lang="en-US" sz="2200" dirty="0"/>
              <a:t>Every instance from E1 entity can be in relation with none or more instances from the  E2 instance, but every instance from E2 must be in a relation with only one instance from E1</a:t>
            </a:r>
            <a:r>
              <a:rPr lang="en-US" sz="2200" dirty="0">
                <a:latin typeface="MAC C Times" pitchFamily="18" charset="0"/>
              </a:rPr>
              <a:t>.</a:t>
            </a:r>
            <a:endParaRPr lang="mk-MK" sz="2200" dirty="0">
              <a:latin typeface="Macedonian Tms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1400" dirty="0"/>
              <a:t>Ex</a:t>
            </a:r>
            <a:r>
              <a:rPr lang="mk-MK" sz="1400" dirty="0"/>
              <a:t>. </a:t>
            </a:r>
            <a:r>
              <a:rPr lang="en-US" sz="1400" b="1" dirty="0"/>
              <a:t>In ONE department, there are MANY employees, but One employee works in ONLY ONE department</a:t>
            </a: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1400" b="1" dirty="0"/>
              <a:t>In ONE city there are MANY people that live, but one PERSON live in only ONE city </a:t>
            </a: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400" dirty="0"/>
              <a:t>When you create DB model from this type of ER diagram, tables that represent CITY and DEPARTMENT entities are known as NOMENCLATURES.</a:t>
            </a:r>
            <a:endParaRPr lang="mk-MK" sz="1400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BE2952B-09D8-4FBA-823C-A577D855A47B}" type="slidenum">
              <a:rPr lang="en-US" altLang="mk-MK"/>
              <a:pPr/>
              <a:t>15</a:t>
            </a:fld>
            <a:endParaRPr lang="en-US" altLang="mk-MK"/>
          </a:p>
        </p:txBody>
      </p:sp>
      <p:sp>
        <p:nvSpPr>
          <p:cNvPr id="21510" name="Rectangle 15"/>
          <p:cNvSpPr>
            <a:spLocks noChangeArrowheads="1"/>
          </p:cNvSpPr>
          <p:nvPr/>
        </p:nvSpPr>
        <p:spPr bwMode="auto">
          <a:xfrm>
            <a:off x="866775" y="5572125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person</a:t>
            </a:r>
            <a:endParaRPr lang="mk-MK" altLang="mk-MK"/>
          </a:p>
        </p:txBody>
      </p:sp>
      <p:sp>
        <p:nvSpPr>
          <p:cNvPr id="21511" name="Rectangle 16"/>
          <p:cNvSpPr>
            <a:spLocks noChangeArrowheads="1"/>
          </p:cNvSpPr>
          <p:nvPr/>
        </p:nvSpPr>
        <p:spPr bwMode="auto">
          <a:xfrm>
            <a:off x="6796088" y="5572125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city</a:t>
            </a:r>
            <a:endParaRPr lang="mk-MK" altLang="mk-MK"/>
          </a:p>
        </p:txBody>
      </p:sp>
      <p:sp>
        <p:nvSpPr>
          <p:cNvPr id="21512" name="Diamond 17"/>
          <p:cNvSpPr>
            <a:spLocks noChangeArrowheads="1"/>
          </p:cNvSpPr>
          <p:nvPr/>
        </p:nvSpPr>
        <p:spPr bwMode="auto">
          <a:xfrm>
            <a:off x="3581400" y="5357813"/>
            <a:ext cx="1857375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Lives_in</a:t>
            </a:r>
            <a:endParaRPr lang="mk-MK" altLang="mk-MK" sz="1500"/>
          </a:p>
        </p:txBody>
      </p:sp>
      <p:cxnSp>
        <p:nvCxnSpPr>
          <p:cNvPr id="21513" name="Straight Connector 18"/>
          <p:cNvCxnSpPr>
            <a:cxnSpLocks noChangeShapeType="1"/>
            <a:stCxn id="21512" idx="1"/>
            <a:endCxn id="21510" idx="3"/>
          </p:cNvCxnSpPr>
          <p:nvPr/>
        </p:nvCxnSpPr>
        <p:spPr bwMode="auto">
          <a:xfrm rot="10800000">
            <a:off x="2152650" y="5786438"/>
            <a:ext cx="14287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4" name="Straight Connector 19"/>
          <p:cNvCxnSpPr>
            <a:cxnSpLocks noChangeShapeType="1"/>
          </p:cNvCxnSpPr>
          <p:nvPr/>
        </p:nvCxnSpPr>
        <p:spPr bwMode="auto">
          <a:xfrm rot="10800000">
            <a:off x="5367338" y="578485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5" name="TextBox 20"/>
          <p:cNvSpPr txBox="1">
            <a:spLocks noChangeArrowheads="1"/>
          </p:cNvSpPr>
          <p:nvPr/>
        </p:nvSpPr>
        <p:spPr bwMode="auto">
          <a:xfrm>
            <a:off x="2224088" y="5357813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n</a:t>
            </a:r>
            <a:endParaRPr lang="mk-MK" altLang="mk-MK"/>
          </a:p>
        </p:txBody>
      </p:sp>
      <p:sp>
        <p:nvSpPr>
          <p:cNvPr id="21516" name="TextBox 21"/>
          <p:cNvSpPr txBox="1">
            <a:spLocks noChangeArrowheads="1"/>
          </p:cNvSpPr>
          <p:nvPr/>
        </p:nvSpPr>
        <p:spPr bwMode="auto">
          <a:xfrm>
            <a:off x="6438900" y="5357813"/>
            <a:ext cx="331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</a:t>
            </a:r>
          </a:p>
        </p:txBody>
      </p:sp>
      <p:grpSp>
        <p:nvGrpSpPr>
          <p:cNvPr id="21517" name="Group 19"/>
          <p:cNvGrpSpPr>
            <a:grpSpLocks/>
          </p:cNvGrpSpPr>
          <p:nvPr/>
        </p:nvGrpSpPr>
        <p:grpSpPr bwMode="auto">
          <a:xfrm>
            <a:off x="714375" y="3857625"/>
            <a:ext cx="7786688" cy="869950"/>
            <a:chOff x="714375" y="4000504"/>
            <a:chExt cx="7786715" cy="869950"/>
          </a:xfrm>
        </p:grpSpPr>
        <p:sp>
          <p:nvSpPr>
            <p:cNvPr id="21518" name="Rectangle 8"/>
            <p:cNvSpPr>
              <a:spLocks noChangeArrowheads="1"/>
            </p:cNvSpPr>
            <p:nvPr/>
          </p:nvSpPr>
          <p:spPr bwMode="auto">
            <a:xfrm>
              <a:off x="714375" y="4227517"/>
              <a:ext cx="1285875" cy="42862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sz="1600"/>
                <a:t>employee</a:t>
              </a:r>
              <a:endParaRPr lang="mk-MK" altLang="mk-MK" sz="1600"/>
            </a:p>
          </p:txBody>
        </p:sp>
        <p:sp>
          <p:nvSpPr>
            <p:cNvPr id="21519" name="Rectangle 9"/>
            <p:cNvSpPr>
              <a:spLocks noChangeArrowheads="1"/>
            </p:cNvSpPr>
            <p:nvPr/>
          </p:nvSpPr>
          <p:spPr bwMode="auto">
            <a:xfrm>
              <a:off x="6643688" y="4227517"/>
              <a:ext cx="1857402" cy="42862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/>
                <a:t>department</a:t>
              </a:r>
              <a:endParaRPr lang="mk-MK" altLang="mk-MK"/>
            </a:p>
          </p:txBody>
        </p:sp>
        <p:sp>
          <p:nvSpPr>
            <p:cNvPr id="21520" name="Diamond 10"/>
            <p:cNvSpPr>
              <a:spLocks noChangeArrowheads="1"/>
            </p:cNvSpPr>
            <p:nvPr/>
          </p:nvSpPr>
          <p:spPr bwMode="auto">
            <a:xfrm>
              <a:off x="3429000" y="4013204"/>
              <a:ext cx="1857375" cy="857250"/>
            </a:xfrm>
            <a:prstGeom prst="diamond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sz="1500"/>
                <a:t>Works_in</a:t>
              </a:r>
              <a:endParaRPr lang="mk-MK" altLang="mk-MK" sz="1500"/>
            </a:p>
          </p:txBody>
        </p:sp>
        <p:cxnSp>
          <p:nvCxnSpPr>
            <p:cNvPr id="21521" name="Straight Connector 11"/>
            <p:cNvCxnSpPr>
              <a:cxnSpLocks noChangeShapeType="1"/>
              <a:stCxn id="21520" idx="1"/>
              <a:endCxn id="21518" idx="3"/>
            </p:cNvCxnSpPr>
            <p:nvPr/>
          </p:nvCxnSpPr>
          <p:spPr bwMode="auto">
            <a:xfrm rot="10800000">
              <a:off x="2000250" y="4441829"/>
              <a:ext cx="142875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2" name="Straight Connector 12"/>
            <p:cNvCxnSpPr>
              <a:cxnSpLocks noChangeShapeType="1"/>
            </p:cNvCxnSpPr>
            <p:nvPr/>
          </p:nvCxnSpPr>
          <p:spPr bwMode="auto">
            <a:xfrm rot="10800000">
              <a:off x="5214938" y="4441829"/>
              <a:ext cx="142875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23" name="TextBox 14"/>
            <p:cNvSpPr txBox="1">
              <a:spLocks noChangeArrowheads="1"/>
            </p:cNvSpPr>
            <p:nvPr/>
          </p:nvSpPr>
          <p:spPr bwMode="auto">
            <a:xfrm>
              <a:off x="6286500" y="4000504"/>
              <a:ext cx="33178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mk-MK" altLang="mk-MK"/>
                <a:t>1</a:t>
              </a:r>
            </a:p>
          </p:txBody>
        </p:sp>
        <p:sp>
          <p:nvSpPr>
            <p:cNvPr id="21524" name="TextBox 22"/>
            <p:cNvSpPr txBox="1">
              <a:spLocks noChangeArrowheads="1"/>
            </p:cNvSpPr>
            <p:nvPr/>
          </p:nvSpPr>
          <p:spPr bwMode="auto">
            <a:xfrm>
              <a:off x="2143125" y="4084642"/>
              <a:ext cx="3302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mk-MK"/>
                <a:t>n</a:t>
              </a:r>
              <a:endParaRPr lang="mk-MK" altLang="mk-MK"/>
            </a:p>
          </p:txBody>
        </p:sp>
      </p:grpSp>
    </p:spTree>
    <p:extLst>
      <p:ext uri="{BB962C8B-B14F-4D97-AF65-F5344CB8AC3E}">
        <p14:creationId xmlns:p14="http://schemas.microsoft.com/office/powerpoint/2010/main" val="3406685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Many-to-many</a:t>
            </a:r>
            <a:endParaRPr lang="mk-MK" altLang="mk-MK" b="1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358188" cy="4267200"/>
          </a:xfrm>
        </p:spPr>
        <p:txBody>
          <a:bodyPr/>
          <a:lstStyle/>
          <a:p>
            <a:pPr marL="0" indent="0">
              <a:defRPr/>
            </a:pPr>
            <a:r>
              <a:rPr lang="mk-MK" sz="2200" dirty="0">
                <a:latin typeface="Macedonian Tms" pitchFamily="18" charset="0"/>
              </a:rPr>
              <a:t> </a:t>
            </a:r>
            <a:r>
              <a:rPr lang="en-US" sz="2400" dirty="0"/>
              <a:t>Every instance from E1 entity can be in relation with none or more instances from the  E2 instance, and every instance from E2 can be in a relation with none ore more instances from E1</a:t>
            </a:r>
            <a:r>
              <a:rPr lang="en-US" sz="2400" dirty="0">
                <a:latin typeface="MAC C Times" pitchFamily="18" charset="0"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2200" dirty="0">
              <a:latin typeface="Macedonian Tms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mk-MK" sz="1400" dirty="0"/>
              <a:t>Пр. </a:t>
            </a:r>
            <a:r>
              <a:rPr lang="en-US" sz="1400" b="1" dirty="0"/>
              <a:t>MANY different students learn MANY different courses</a:t>
            </a: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600" dirty="0"/>
              <a:t>When you create DB model from this type of ER diagram, you must create, so called, </a:t>
            </a:r>
            <a:r>
              <a:rPr lang="en-US" sz="1600" b="1" dirty="0"/>
              <a:t>intersection tables </a:t>
            </a:r>
            <a:r>
              <a:rPr lang="en-US" sz="1600" dirty="0"/>
              <a:t>that represent this relation (learn)</a:t>
            </a:r>
            <a:endParaRPr lang="mk-MK" sz="1600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DAB14A2-668C-45C5-A33E-5AC81B63B9F0}" type="slidenum">
              <a:rPr lang="en-US" altLang="mk-MK"/>
              <a:pPr/>
              <a:t>16</a:t>
            </a:fld>
            <a:endParaRPr lang="en-US" altLang="mk-MK"/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714375" y="435768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student</a:t>
            </a:r>
            <a:endParaRPr lang="mk-MK" altLang="mk-MK"/>
          </a:p>
        </p:txBody>
      </p:sp>
      <p:sp>
        <p:nvSpPr>
          <p:cNvPr id="22535" name="Rectangle 9"/>
          <p:cNvSpPr>
            <a:spLocks noChangeArrowheads="1"/>
          </p:cNvSpPr>
          <p:nvPr/>
        </p:nvSpPr>
        <p:spPr bwMode="auto">
          <a:xfrm>
            <a:off x="6643688" y="435768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course</a:t>
            </a:r>
            <a:endParaRPr lang="mk-MK" altLang="mk-MK"/>
          </a:p>
        </p:txBody>
      </p:sp>
      <p:sp>
        <p:nvSpPr>
          <p:cNvPr id="22536" name="Diamond 10"/>
          <p:cNvSpPr>
            <a:spLocks noChangeArrowheads="1"/>
          </p:cNvSpPr>
          <p:nvPr/>
        </p:nvSpPr>
        <p:spPr bwMode="auto">
          <a:xfrm>
            <a:off x="3429000" y="4143375"/>
            <a:ext cx="1857375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learn</a:t>
            </a:r>
            <a:endParaRPr lang="mk-MK" altLang="mk-MK" sz="1500"/>
          </a:p>
        </p:txBody>
      </p:sp>
      <p:cxnSp>
        <p:nvCxnSpPr>
          <p:cNvPr id="22537" name="Straight Connector 11"/>
          <p:cNvCxnSpPr>
            <a:cxnSpLocks noChangeShapeType="1"/>
            <a:stCxn id="22536" idx="1"/>
            <a:endCxn id="22534" idx="3"/>
          </p:cNvCxnSpPr>
          <p:nvPr/>
        </p:nvCxnSpPr>
        <p:spPr bwMode="auto">
          <a:xfrm rot="10800000">
            <a:off x="2000250" y="457200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8" name="Straight Connector 12"/>
          <p:cNvCxnSpPr>
            <a:cxnSpLocks noChangeShapeType="1"/>
          </p:cNvCxnSpPr>
          <p:nvPr/>
        </p:nvCxnSpPr>
        <p:spPr bwMode="auto">
          <a:xfrm rot="10800000">
            <a:off x="5214938" y="457200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9" name="TextBox 13"/>
          <p:cNvSpPr txBox="1">
            <a:spLocks noChangeArrowheads="1"/>
          </p:cNvSpPr>
          <p:nvPr/>
        </p:nvSpPr>
        <p:spPr bwMode="auto">
          <a:xfrm>
            <a:off x="6286500" y="4130675"/>
            <a:ext cx="409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m</a:t>
            </a:r>
            <a:endParaRPr lang="mk-MK" altLang="mk-MK"/>
          </a:p>
        </p:txBody>
      </p:sp>
      <p:sp>
        <p:nvSpPr>
          <p:cNvPr id="22540" name="TextBox 21"/>
          <p:cNvSpPr txBox="1">
            <a:spLocks noChangeArrowheads="1"/>
          </p:cNvSpPr>
          <p:nvPr/>
        </p:nvSpPr>
        <p:spPr bwMode="auto">
          <a:xfrm>
            <a:off x="2143125" y="4214813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n</a:t>
            </a:r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4070102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Special types of constraints</a:t>
            </a:r>
            <a:endParaRPr lang="mk-MK" altLang="mk-MK" b="1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358188" cy="4267200"/>
          </a:xfrm>
        </p:spPr>
        <p:txBody>
          <a:bodyPr/>
          <a:lstStyle/>
          <a:p>
            <a:pPr algn="just">
              <a:spcBef>
                <a:spcPct val="50000"/>
              </a:spcBef>
              <a:defRPr/>
            </a:pPr>
            <a:r>
              <a:rPr lang="en-US" sz="2400" dirty="0">
                <a:latin typeface="+mj-lt"/>
              </a:rPr>
              <a:t>Ex. One student can enroll at least 1 but, max. 5 course in one semester. </a:t>
            </a:r>
          </a:p>
          <a:p>
            <a:pPr algn="just">
              <a:spcBef>
                <a:spcPct val="50000"/>
              </a:spcBef>
              <a:defRPr/>
            </a:pPr>
            <a:r>
              <a:rPr lang="en-US" sz="2400" dirty="0">
                <a:latin typeface="+mj-lt"/>
              </a:rPr>
              <a:t>One course can be enrolled by none or many (n) students.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2200" dirty="0">
              <a:latin typeface="Macedonian Tms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sz="14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1400" dirty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36B3EB7-BC06-41A1-B134-E89CEAF1EEEA}" type="slidenum">
              <a:rPr lang="en-US" altLang="mk-MK"/>
              <a:pPr/>
              <a:t>17</a:t>
            </a:fld>
            <a:endParaRPr lang="en-US" altLang="mk-MK"/>
          </a:p>
        </p:txBody>
      </p:sp>
      <p:sp>
        <p:nvSpPr>
          <p:cNvPr id="23558" name="Rectangle 9"/>
          <p:cNvSpPr>
            <a:spLocks noChangeArrowheads="1"/>
          </p:cNvSpPr>
          <p:nvPr/>
        </p:nvSpPr>
        <p:spPr bwMode="auto">
          <a:xfrm>
            <a:off x="714375" y="435768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student</a:t>
            </a:r>
            <a:endParaRPr lang="mk-MK" altLang="mk-MK"/>
          </a:p>
        </p:txBody>
      </p:sp>
      <p:sp>
        <p:nvSpPr>
          <p:cNvPr id="23559" name="Rectangle 10"/>
          <p:cNvSpPr>
            <a:spLocks noChangeArrowheads="1"/>
          </p:cNvSpPr>
          <p:nvPr/>
        </p:nvSpPr>
        <p:spPr bwMode="auto">
          <a:xfrm>
            <a:off x="6643688" y="4357688"/>
            <a:ext cx="1285875" cy="428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/>
              <a:t>course</a:t>
            </a:r>
            <a:endParaRPr lang="mk-MK" altLang="mk-MK"/>
          </a:p>
        </p:txBody>
      </p:sp>
      <p:sp>
        <p:nvSpPr>
          <p:cNvPr id="23560" name="Diamond 11"/>
          <p:cNvSpPr>
            <a:spLocks noChangeArrowheads="1"/>
          </p:cNvSpPr>
          <p:nvPr/>
        </p:nvSpPr>
        <p:spPr bwMode="auto">
          <a:xfrm>
            <a:off x="3286125" y="4143375"/>
            <a:ext cx="2000250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500"/>
              <a:t>enrolls</a:t>
            </a:r>
            <a:endParaRPr lang="mk-MK" altLang="mk-MK" sz="1500"/>
          </a:p>
        </p:txBody>
      </p:sp>
      <p:cxnSp>
        <p:nvCxnSpPr>
          <p:cNvPr id="23561" name="Straight Connector 12"/>
          <p:cNvCxnSpPr>
            <a:cxnSpLocks noChangeShapeType="1"/>
            <a:stCxn id="23560" idx="1"/>
            <a:endCxn id="23558" idx="3"/>
          </p:cNvCxnSpPr>
          <p:nvPr/>
        </p:nvCxnSpPr>
        <p:spPr bwMode="auto">
          <a:xfrm rot="10800000">
            <a:off x="2000250" y="4572000"/>
            <a:ext cx="1285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2" name="Straight Connector 13"/>
          <p:cNvCxnSpPr>
            <a:cxnSpLocks noChangeShapeType="1"/>
          </p:cNvCxnSpPr>
          <p:nvPr/>
        </p:nvCxnSpPr>
        <p:spPr bwMode="auto">
          <a:xfrm rot="10800000">
            <a:off x="5214938" y="4572000"/>
            <a:ext cx="142875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3" name="TextBox 14"/>
          <p:cNvSpPr txBox="1">
            <a:spLocks noChangeArrowheads="1"/>
          </p:cNvSpPr>
          <p:nvPr/>
        </p:nvSpPr>
        <p:spPr bwMode="auto">
          <a:xfrm>
            <a:off x="6000750" y="4130675"/>
            <a:ext cx="64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1..5</a:t>
            </a:r>
            <a:endParaRPr lang="mk-MK" altLang="mk-MK"/>
          </a:p>
        </p:txBody>
      </p:sp>
      <p:sp>
        <p:nvSpPr>
          <p:cNvPr id="23564" name="TextBox 15"/>
          <p:cNvSpPr txBox="1">
            <a:spLocks noChangeArrowheads="1"/>
          </p:cNvSpPr>
          <p:nvPr/>
        </p:nvSpPr>
        <p:spPr bwMode="auto">
          <a:xfrm>
            <a:off x="2143125" y="4214813"/>
            <a:ext cx="644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0..n</a:t>
            </a:r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3003006271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UACS_template</Template>
  <TotalTime>21</TotalTime>
  <Words>711</Words>
  <Application>Microsoft Office PowerPoint</Application>
  <PresentationFormat>On-screen Show (4:3)</PresentationFormat>
  <Paragraphs>244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Calibri</vt:lpstr>
      <vt:lpstr>MAC C Swiss</vt:lpstr>
      <vt:lpstr>MAC C Times</vt:lpstr>
      <vt:lpstr>Macedonian Tms</vt:lpstr>
      <vt:lpstr>Monotype Sorts</vt:lpstr>
      <vt:lpstr>Times</vt:lpstr>
      <vt:lpstr>Times New Roman</vt:lpstr>
      <vt:lpstr>Verdana</vt:lpstr>
      <vt:lpstr>Wingdings</vt:lpstr>
      <vt:lpstr>Profile</vt:lpstr>
      <vt:lpstr>1_Profile</vt:lpstr>
      <vt:lpstr>SCSIT  IV Semester  Database</vt:lpstr>
      <vt:lpstr>PowerPoint Presentation</vt:lpstr>
      <vt:lpstr>Identifier</vt:lpstr>
      <vt:lpstr>Example </vt:lpstr>
      <vt:lpstr>Ass. 1</vt:lpstr>
      <vt:lpstr>Entity relation</vt:lpstr>
      <vt:lpstr>Types of relations</vt:lpstr>
      <vt:lpstr>Relations in ER Diagrams</vt:lpstr>
      <vt:lpstr>ER Diagram for the example</vt:lpstr>
      <vt:lpstr>Ass. 2</vt:lpstr>
      <vt:lpstr>E-R model semantics</vt:lpstr>
      <vt:lpstr>Primary key</vt:lpstr>
      <vt:lpstr>Cardinality constraints</vt:lpstr>
      <vt:lpstr>One-to-one</vt:lpstr>
      <vt:lpstr>One - to - many</vt:lpstr>
      <vt:lpstr>Many-to-many</vt:lpstr>
      <vt:lpstr>Special types of constraints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ФКТИ V Семестар  Дистрибуирани Бази податоци</dc:title>
  <dc:creator>Bojan Bogdanovski</dc:creator>
  <cp:lastModifiedBy>Igor Janchev</cp:lastModifiedBy>
  <cp:revision>4</cp:revision>
  <dcterms:created xsi:type="dcterms:W3CDTF">2015-09-15T12:39:57Z</dcterms:created>
  <dcterms:modified xsi:type="dcterms:W3CDTF">2023-03-06T16:11:14Z</dcterms:modified>
</cp:coreProperties>
</file>