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0058400" cy="7772400"/>
  <p:notesSz cx="10058400" cy="7772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C12C5A5-8E67-4299-AEEA-49E48852D388}" v="152" dt="2025-02-11T13:45:25.192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1" d="100"/>
          <a:sy n="71" d="100"/>
        </p:scale>
        <p:origin x="1584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oran Gichevski" userId="S::zoran.gichevski@qinshift.com::5f05f42f-9df1-4f27-8d86-20ad2dc9d367" providerId="AD" clId="Web-{8C12C5A5-8E67-4299-AEEA-49E48852D388}"/>
    <pc:docChg chg="mod modSld modMainMaster">
      <pc:chgData name="Zoran Gichevski" userId="S::zoran.gichevski@qinshift.com::5f05f42f-9df1-4f27-8d86-20ad2dc9d367" providerId="AD" clId="Web-{8C12C5A5-8E67-4299-AEEA-49E48852D388}" dt="2025-02-11T13:45:21.755" v="94" actId="20577"/>
      <pc:docMkLst>
        <pc:docMk/>
      </pc:docMkLst>
      <pc:sldChg chg="modSp">
        <pc:chgData name="Zoran Gichevski" userId="S::zoran.gichevski@qinshift.com::5f05f42f-9df1-4f27-8d86-20ad2dc9d367" providerId="AD" clId="Web-{8C12C5A5-8E67-4299-AEEA-49E48852D388}" dt="2025-02-11T13:45:21.755" v="94" actId="20577"/>
        <pc:sldMkLst>
          <pc:docMk/>
          <pc:sldMk cId="0" sldId="258"/>
        </pc:sldMkLst>
        <pc:spChg chg="mod">
          <ac:chgData name="Zoran Gichevski" userId="S::zoran.gichevski@qinshift.com::5f05f42f-9df1-4f27-8d86-20ad2dc9d367" providerId="AD" clId="Web-{8C12C5A5-8E67-4299-AEEA-49E48852D388}" dt="2025-02-11T13:45:21.755" v="94" actId="20577"/>
          <ac:spMkLst>
            <pc:docMk/>
            <pc:sldMk cId="0" sldId="258"/>
            <ac:spMk id="3" creationId="{00000000-0000-0000-0000-000000000000}"/>
          </ac:spMkLst>
        </pc:spChg>
      </pc:sldChg>
      <pc:sldChg chg="modSp">
        <pc:chgData name="Zoran Gichevski" userId="S::zoran.gichevski@qinshift.com::5f05f42f-9df1-4f27-8d86-20ad2dc9d367" providerId="AD" clId="Web-{8C12C5A5-8E67-4299-AEEA-49E48852D388}" dt="2025-02-11T13:37:08.016" v="68" actId="20577"/>
        <pc:sldMkLst>
          <pc:docMk/>
          <pc:sldMk cId="0" sldId="265"/>
        </pc:sldMkLst>
        <pc:spChg chg="mod">
          <ac:chgData name="Zoran Gichevski" userId="S::zoran.gichevski@qinshift.com::5f05f42f-9df1-4f27-8d86-20ad2dc9d367" providerId="AD" clId="Web-{8C12C5A5-8E67-4299-AEEA-49E48852D388}" dt="2025-02-11T13:37:08.016" v="68" actId="20577"/>
          <ac:spMkLst>
            <pc:docMk/>
            <pc:sldMk cId="0" sldId="265"/>
            <ac:spMk id="3" creationId="{00000000-0000-0000-0000-000000000000}"/>
          </ac:spMkLst>
        </pc:spChg>
        <pc:spChg chg="mod">
          <ac:chgData name="Zoran Gichevski" userId="S::zoran.gichevski@qinshift.com::5f05f42f-9df1-4f27-8d86-20ad2dc9d367" providerId="AD" clId="Web-{8C12C5A5-8E67-4299-AEEA-49E48852D388}" dt="2025-02-11T13:34:59.808" v="4" actId="20577"/>
          <ac:spMkLst>
            <pc:docMk/>
            <pc:sldMk cId="0" sldId="265"/>
            <ac:spMk id="5" creationId="{00000000-0000-0000-0000-000000000000}"/>
          </ac:spMkLst>
        </pc:spChg>
      </pc:sldChg>
      <pc:sldChg chg="modSp">
        <pc:chgData name="Zoran Gichevski" userId="S::zoran.gichevski@qinshift.com::5f05f42f-9df1-4f27-8d86-20ad2dc9d367" providerId="AD" clId="Web-{8C12C5A5-8E67-4299-AEEA-49E48852D388}" dt="2025-02-11T13:37:31.517" v="74" actId="20577"/>
        <pc:sldMkLst>
          <pc:docMk/>
          <pc:sldMk cId="0" sldId="268"/>
        </pc:sldMkLst>
        <pc:spChg chg="mod">
          <ac:chgData name="Zoran Gichevski" userId="S::zoran.gichevski@qinshift.com::5f05f42f-9df1-4f27-8d86-20ad2dc9d367" providerId="AD" clId="Web-{8C12C5A5-8E67-4299-AEEA-49E48852D388}" dt="2025-02-11T13:37:23.845" v="72" actId="14100"/>
          <ac:spMkLst>
            <pc:docMk/>
            <pc:sldMk cId="0" sldId="268"/>
            <ac:spMk id="2" creationId="{00000000-0000-0000-0000-000000000000}"/>
          </ac:spMkLst>
        </pc:spChg>
        <pc:spChg chg="mod">
          <ac:chgData name="Zoran Gichevski" userId="S::zoran.gichevski@qinshift.com::5f05f42f-9df1-4f27-8d86-20ad2dc9d367" providerId="AD" clId="Web-{8C12C5A5-8E67-4299-AEEA-49E48852D388}" dt="2025-02-11T13:37:31.517" v="74" actId="20577"/>
          <ac:spMkLst>
            <pc:docMk/>
            <pc:sldMk cId="0" sldId="268"/>
            <ac:spMk id="3" creationId="{00000000-0000-0000-0000-000000000000}"/>
          </ac:spMkLst>
        </pc:spChg>
      </pc:sldChg>
      <pc:sldChg chg="modSp">
        <pc:chgData name="Zoran Gichevski" userId="S::zoran.gichevski@qinshift.com::5f05f42f-9df1-4f27-8d86-20ad2dc9d367" providerId="AD" clId="Web-{8C12C5A5-8E67-4299-AEEA-49E48852D388}" dt="2025-02-11T13:39:28.881" v="76" actId="14100"/>
        <pc:sldMkLst>
          <pc:docMk/>
          <pc:sldMk cId="0" sldId="272"/>
        </pc:sldMkLst>
        <pc:spChg chg="mod">
          <ac:chgData name="Zoran Gichevski" userId="S::zoran.gichevski@qinshift.com::5f05f42f-9df1-4f27-8d86-20ad2dc9d367" providerId="AD" clId="Web-{8C12C5A5-8E67-4299-AEEA-49E48852D388}" dt="2025-02-11T13:39:28.881" v="76" actId="14100"/>
          <ac:spMkLst>
            <pc:docMk/>
            <pc:sldMk cId="0" sldId="272"/>
            <ac:spMk id="2" creationId="{00000000-0000-0000-0000-000000000000}"/>
          </ac:spMkLst>
        </pc:spChg>
      </pc:sldChg>
      <pc:sldChg chg="modSp">
        <pc:chgData name="Zoran Gichevski" userId="S::zoran.gichevski@qinshift.com::5f05f42f-9df1-4f27-8d86-20ad2dc9d367" providerId="AD" clId="Web-{8C12C5A5-8E67-4299-AEEA-49E48852D388}" dt="2025-02-11T13:45:11.317" v="93" actId="14100"/>
        <pc:sldMkLst>
          <pc:docMk/>
          <pc:sldMk cId="0" sldId="276"/>
        </pc:sldMkLst>
        <pc:spChg chg="mod">
          <ac:chgData name="Zoran Gichevski" userId="S::zoran.gichevski@qinshift.com::5f05f42f-9df1-4f27-8d86-20ad2dc9d367" providerId="AD" clId="Web-{8C12C5A5-8E67-4299-AEEA-49E48852D388}" dt="2025-02-11T13:40:01.617" v="79" actId="14100"/>
          <ac:spMkLst>
            <pc:docMk/>
            <pc:sldMk cId="0" sldId="276"/>
            <ac:spMk id="2" creationId="{00000000-0000-0000-0000-000000000000}"/>
          </ac:spMkLst>
        </pc:spChg>
        <pc:spChg chg="mod">
          <ac:chgData name="Zoran Gichevski" userId="S::zoran.gichevski@qinshift.com::5f05f42f-9df1-4f27-8d86-20ad2dc9d367" providerId="AD" clId="Web-{8C12C5A5-8E67-4299-AEEA-49E48852D388}" dt="2025-02-11T13:45:11.317" v="93" actId="14100"/>
          <ac:spMkLst>
            <pc:docMk/>
            <pc:sldMk cId="0" sldId="276"/>
            <ac:spMk id="4" creationId="{00000000-0000-0000-0000-000000000000}"/>
          </ac:spMkLst>
        </pc:spChg>
      </pc:sldChg>
      <pc:sldMasterChg chg="addSp">
        <pc:chgData name="Zoran Gichevski" userId="S::zoran.gichevski@qinshift.com::5f05f42f-9df1-4f27-8d86-20ad2dc9d367" providerId="AD" clId="Web-{8C12C5A5-8E67-4299-AEEA-49E48852D388}" dt="2025-02-11T13:32:46.115" v="0" actId="33475"/>
        <pc:sldMasterMkLst>
          <pc:docMk/>
          <pc:sldMasterMk cId="0" sldId="2147483648"/>
        </pc:sldMasterMkLst>
        <pc:spChg chg="add">
          <ac:chgData name="Zoran Gichevski" userId="S::zoran.gichevski@qinshift.com::5f05f42f-9df1-4f27-8d86-20ad2dc9d367" providerId="AD" clId="Web-{8C12C5A5-8E67-4299-AEEA-49E48852D388}" dt="2025-02-11T13:32:46.115" v="0" actId="33475"/>
          <ac:spMkLst>
            <pc:docMk/>
            <pc:sldMasterMk cId="0" sldId="2147483648"/>
            <ac:spMk id="8" creationId="{5AACFFEE-79E1-8A2D-7EB0-0AAC27D9C5E0}"/>
          </ac:spMkLst>
        </pc:sp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97538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4E08A9-2C06-4B53-BC66-738E8C903E98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332163" y="971550"/>
            <a:ext cx="3394075" cy="26225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97538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9A2236-2593-404F-A2FB-BE389FBE49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3986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It’s basically the </a:t>
            </a:r>
            <a:r>
              <a:rPr lang="en-US" b="1" dirty="0"/>
              <a:t>step-by-step process of designing a database</a:t>
            </a:r>
            <a:r>
              <a:rPr lang="en-US" dirty="0"/>
              <a:t>. Think of it like building a house: you start with ideas, then make blueprints, and finally construct the actual building. The diagram shows how database design moves from abstract ideas to a working system.</a:t>
            </a:r>
          </a:p>
          <a:p>
            <a:r>
              <a:rPr lang="en-US" b="1" dirty="0"/>
              <a:t>Mini-world → This is the real-world situation you want to capture (like a shop, school, or hospital). Requirements collection and analysis → You talk to people and figure out what information the database needs (like customer names, products, grades).</a:t>
            </a:r>
          </a:p>
          <a:p>
            <a:r>
              <a:rPr lang="en-US" b="1" dirty="0"/>
              <a:t>Database requirements → A clear list of what the database must store and do.</a:t>
            </a:r>
          </a:p>
          <a:p>
            <a:r>
              <a:rPr lang="en-US" b="1" dirty="0"/>
              <a:t>Conceptual design → You sketch out the big picture, often with diagrams (like ER diagrams). This creates the conceptual schema.</a:t>
            </a:r>
          </a:p>
          <a:p>
            <a:r>
              <a:rPr lang="en-US" b="1" dirty="0"/>
              <a:t>Data model mapping → You translate that big-picture design into a more technical format that matches a specific database system. This gives you the logical schema.</a:t>
            </a:r>
          </a:p>
          <a:p>
            <a:r>
              <a:rPr lang="en-US" b="1" dirty="0"/>
              <a:t>Physical design → You decide how the data will actually be stored on the computer (indexes, storage, performance tweaks). This becomes the internal schema.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9A2236-2593-404F-A2FB-BE389FBE49A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4566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465579" y="1387855"/>
            <a:ext cx="7127241" cy="6051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180591" y="2242819"/>
            <a:ext cx="3222625" cy="39871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066800" y="2019299"/>
            <a:ext cx="7958455" cy="114300"/>
          </a:xfrm>
          <a:custGeom>
            <a:avLst/>
            <a:gdLst/>
            <a:ahLst/>
            <a:cxnLst/>
            <a:rect l="l" t="t" r="r" b="b"/>
            <a:pathLst>
              <a:path w="7958455" h="114300">
                <a:moveTo>
                  <a:pt x="7958328" y="0"/>
                </a:moveTo>
                <a:lnTo>
                  <a:pt x="0" y="0"/>
                </a:lnTo>
                <a:lnTo>
                  <a:pt x="0" y="6096"/>
                </a:lnTo>
                <a:lnTo>
                  <a:pt x="0" y="10668"/>
                </a:lnTo>
                <a:lnTo>
                  <a:pt x="0" y="114300"/>
                </a:lnTo>
                <a:lnTo>
                  <a:pt x="4655820" y="114300"/>
                </a:lnTo>
                <a:lnTo>
                  <a:pt x="4655820" y="10668"/>
                </a:lnTo>
                <a:lnTo>
                  <a:pt x="7958328" y="10668"/>
                </a:lnTo>
                <a:lnTo>
                  <a:pt x="7958328" y="0"/>
                </a:lnTo>
                <a:close/>
              </a:path>
            </a:pathLst>
          </a:custGeom>
          <a:solidFill>
            <a:srgbClr val="CC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066800" y="6627876"/>
            <a:ext cx="7924800" cy="5080"/>
          </a:xfrm>
          <a:custGeom>
            <a:avLst/>
            <a:gdLst/>
            <a:ahLst/>
            <a:cxnLst/>
            <a:rect l="l" t="t" r="r" b="b"/>
            <a:pathLst>
              <a:path w="7924800" h="5079">
                <a:moveTo>
                  <a:pt x="7924799" y="4571"/>
                </a:moveTo>
                <a:lnTo>
                  <a:pt x="7924799" y="0"/>
                </a:lnTo>
                <a:lnTo>
                  <a:pt x="0" y="0"/>
                </a:lnTo>
                <a:lnTo>
                  <a:pt x="0" y="4571"/>
                </a:lnTo>
                <a:lnTo>
                  <a:pt x="7924799" y="4571"/>
                </a:lnTo>
                <a:close/>
              </a:path>
            </a:pathLst>
          </a:custGeom>
          <a:solidFill>
            <a:srgbClr val="CC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57200" y="457200"/>
            <a:ext cx="997988" cy="59944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19658" y="799591"/>
            <a:ext cx="8419082" cy="124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65707" y="2273299"/>
            <a:ext cx="8322945" cy="19291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666984" y="6733226"/>
            <a:ext cx="271145" cy="2108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ACFFEE-79E1-8A2D-7EB0-0AAC27D9C5E0}"/>
              </a:ext>
            </a:extLst>
          </p:cNvPr>
          <p:cNvSpPr txBox="1"/>
          <p:nvPr>
            <p:extLst>
              <p:ext uri="{1162E1C5-73C7-4A58-AE30-91384D911F3F}">
                <p184:classification xmlns="" xmlns:p184="http://schemas.microsoft.com/office/powerpoint/2018/4/main" val="ftr"/>
              </p:ext>
            </p:extLst>
          </p:nvPr>
        </p:nvSpPr>
        <p:spPr>
          <a:xfrm>
            <a:off x="63500" y="7556500"/>
            <a:ext cx="86836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Qinshift Internal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43000" y="2846831"/>
            <a:ext cx="7772400" cy="114300"/>
          </a:xfrm>
          <a:custGeom>
            <a:avLst/>
            <a:gdLst/>
            <a:ahLst/>
            <a:cxnLst/>
            <a:rect l="l" t="t" r="r" b="b"/>
            <a:pathLst>
              <a:path w="7772400" h="114300">
                <a:moveTo>
                  <a:pt x="7772400" y="0"/>
                </a:moveTo>
                <a:lnTo>
                  <a:pt x="0" y="0"/>
                </a:lnTo>
                <a:lnTo>
                  <a:pt x="0" y="4572"/>
                </a:lnTo>
                <a:lnTo>
                  <a:pt x="0" y="9144"/>
                </a:lnTo>
                <a:lnTo>
                  <a:pt x="0" y="114300"/>
                </a:lnTo>
                <a:lnTo>
                  <a:pt x="4803648" y="114300"/>
                </a:lnTo>
                <a:lnTo>
                  <a:pt x="4803648" y="9144"/>
                </a:lnTo>
                <a:lnTo>
                  <a:pt x="7772400" y="9144"/>
                </a:lnTo>
                <a:lnTo>
                  <a:pt x="7772400" y="0"/>
                </a:lnTo>
                <a:close/>
              </a:path>
            </a:pathLst>
          </a:custGeom>
          <a:solidFill>
            <a:srgbClr val="CC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26644" rIns="0" bIns="0" rtlCol="0">
            <a:spAutoFit/>
          </a:bodyPr>
          <a:lstStyle/>
          <a:p>
            <a:pPr marL="75565" algn="ctr">
              <a:lnSpc>
                <a:spcPct val="100000"/>
              </a:lnSpc>
              <a:spcBef>
                <a:spcPts val="100"/>
              </a:spcBef>
            </a:pPr>
            <a:r>
              <a:rPr sz="3000" spc="-5" dirty="0"/>
              <a:t>SCSIT</a:t>
            </a:r>
            <a:endParaRPr sz="3000"/>
          </a:p>
          <a:p>
            <a:pPr marL="75565" algn="ctr">
              <a:lnSpc>
                <a:spcPct val="100000"/>
              </a:lnSpc>
            </a:pPr>
            <a:r>
              <a:rPr sz="3000" spc="-5" dirty="0"/>
              <a:t>IV</a:t>
            </a:r>
            <a:r>
              <a:rPr sz="3000" spc="-65" dirty="0"/>
              <a:t> </a:t>
            </a:r>
            <a:r>
              <a:rPr sz="3000" spc="-5" dirty="0"/>
              <a:t>Semester</a:t>
            </a:r>
            <a:endParaRPr sz="3000"/>
          </a:p>
        </p:txBody>
      </p:sp>
      <p:sp>
        <p:nvSpPr>
          <p:cNvPr id="4" name="object 4"/>
          <p:cNvSpPr txBox="1"/>
          <p:nvPr/>
        </p:nvSpPr>
        <p:spPr>
          <a:xfrm>
            <a:off x="4086858" y="2424175"/>
            <a:ext cx="1957705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b="1" spc="-5" dirty="0">
                <a:latin typeface="Verdana"/>
                <a:cs typeface="Verdana"/>
              </a:rPr>
              <a:t>D</a:t>
            </a:r>
            <a:r>
              <a:rPr sz="2600" b="1" dirty="0">
                <a:latin typeface="Verdana"/>
                <a:cs typeface="Verdana"/>
              </a:rPr>
              <a:t>atabas</a:t>
            </a:r>
            <a:r>
              <a:rPr sz="2600" b="1" spc="-5" dirty="0">
                <a:latin typeface="Verdana"/>
                <a:cs typeface="Verdana"/>
              </a:rPr>
              <a:t>e</a:t>
            </a:r>
            <a:r>
              <a:rPr sz="2600" b="1" dirty="0">
                <a:latin typeface="Verdana"/>
                <a:cs typeface="Verdana"/>
              </a:rPr>
              <a:t>s</a:t>
            </a:r>
            <a:endParaRPr sz="26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93951" y="3960366"/>
            <a:ext cx="5019040" cy="1768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Verdana"/>
                <a:cs typeface="Verdana"/>
              </a:rPr>
              <a:t>Exc.</a:t>
            </a:r>
            <a:r>
              <a:rPr sz="2400" b="1" spc="-75" dirty="0">
                <a:latin typeface="Verdana"/>
                <a:cs typeface="Verdana"/>
              </a:rPr>
              <a:t> </a:t>
            </a:r>
            <a:r>
              <a:rPr sz="2400" b="1" dirty="0">
                <a:latin typeface="Verdana"/>
                <a:cs typeface="Verdana"/>
              </a:rPr>
              <a:t>1</a:t>
            </a:r>
            <a:endParaRPr sz="24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3350">
              <a:latin typeface="Verdana"/>
              <a:cs typeface="Verdana"/>
            </a:endParaRPr>
          </a:p>
          <a:p>
            <a:pPr marL="12700" marR="5080">
              <a:lnSpc>
                <a:spcPct val="100000"/>
              </a:lnSpc>
            </a:pPr>
            <a:r>
              <a:rPr sz="2800" b="1" spc="-5" dirty="0">
                <a:solidFill>
                  <a:srgbClr val="FF0000"/>
                </a:solidFill>
                <a:latin typeface="Verdana"/>
                <a:cs typeface="Verdana"/>
              </a:rPr>
              <a:t>Introduction to database </a:t>
            </a:r>
            <a:r>
              <a:rPr sz="2800" b="1" spc="-944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800" b="1" spc="-5" dirty="0">
                <a:solidFill>
                  <a:srgbClr val="FF0000"/>
                </a:solidFill>
                <a:latin typeface="Verdana"/>
                <a:cs typeface="Verdana"/>
              </a:rPr>
              <a:t>Entity</a:t>
            </a:r>
            <a:endParaRPr sz="2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12011" y="1336039"/>
            <a:ext cx="5720080" cy="605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800" dirty="0"/>
              <a:t>What</a:t>
            </a:r>
            <a:r>
              <a:rPr sz="3800" spc="-50" dirty="0"/>
              <a:t> </a:t>
            </a:r>
            <a:r>
              <a:rPr sz="3800" dirty="0"/>
              <a:t>shall</a:t>
            </a:r>
            <a:r>
              <a:rPr sz="3800" spc="-30" dirty="0"/>
              <a:t> </a:t>
            </a:r>
            <a:r>
              <a:rPr sz="3800" spc="5" dirty="0"/>
              <a:t>we</a:t>
            </a:r>
            <a:r>
              <a:rPr sz="3800" spc="-35" dirty="0"/>
              <a:t> </a:t>
            </a:r>
            <a:r>
              <a:rPr sz="3800" dirty="0"/>
              <a:t>learn?</a:t>
            </a:r>
            <a:endParaRPr sz="38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2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1104391" y="2588766"/>
            <a:ext cx="7658609" cy="218970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81965" indent="-469900">
              <a:lnSpc>
                <a:spcPct val="100000"/>
              </a:lnSpc>
              <a:spcBef>
                <a:spcPts val="95"/>
              </a:spcBef>
              <a:buClr>
                <a:srgbClr val="CC0000"/>
              </a:buClr>
              <a:buFont typeface="Wingdings"/>
              <a:buChar char=""/>
              <a:tabLst>
                <a:tab pos="481965" algn="l"/>
                <a:tab pos="482600" algn="l"/>
              </a:tabLst>
            </a:pPr>
            <a:r>
              <a:rPr sz="2500" b="1" spc="-10" dirty="0">
                <a:latin typeface="Verdana"/>
                <a:cs typeface="Verdana"/>
              </a:rPr>
              <a:t>Entities</a:t>
            </a:r>
            <a:r>
              <a:rPr sz="2500" b="1" spc="-5" dirty="0">
                <a:latin typeface="Verdana"/>
                <a:cs typeface="Verdana"/>
              </a:rPr>
              <a:t> and </a:t>
            </a:r>
            <a:r>
              <a:rPr sz="2500" b="1" spc="-10" dirty="0">
                <a:latin typeface="Verdana"/>
                <a:cs typeface="Verdana"/>
              </a:rPr>
              <a:t>ER</a:t>
            </a:r>
            <a:r>
              <a:rPr sz="2500" b="1" spc="-5" dirty="0">
                <a:latin typeface="Verdana"/>
                <a:cs typeface="Verdana"/>
              </a:rPr>
              <a:t> </a:t>
            </a:r>
            <a:r>
              <a:rPr sz="2500" b="1" spc="-10" dirty="0">
                <a:latin typeface="Verdana"/>
                <a:cs typeface="Verdana"/>
              </a:rPr>
              <a:t>Diagrams</a:t>
            </a:r>
            <a:endParaRPr sz="250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Char char=""/>
            </a:pPr>
            <a:endParaRPr sz="3450" dirty="0">
              <a:latin typeface="Verdana"/>
              <a:cs typeface="Verdana"/>
            </a:endParaRPr>
          </a:p>
          <a:p>
            <a:pPr marL="481965" indent="-469900">
              <a:lnSpc>
                <a:spcPct val="100000"/>
              </a:lnSpc>
              <a:buClr>
                <a:srgbClr val="CC0000"/>
              </a:buClr>
              <a:buFont typeface="Wingdings"/>
              <a:buChar char=""/>
              <a:tabLst>
                <a:tab pos="481965" algn="l"/>
                <a:tab pos="482600" algn="l"/>
              </a:tabLst>
            </a:pPr>
            <a:r>
              <a:rPr sz="2500" b="1" spc="-5" dirty="0">
                <a:latin typeface="Verdana"/>
                <a:cs typeface="Verdana"/>
              </a:rPr>
              <a:t>Database</a:t>
            </a:r>
            <a:r>
              <a:rPr sz="2500" b="1" spc="5" dirty="0">
                <a:latin typeface="Verdana"/>
                <a:cs typeface="Verdana"/>
              </a:rPr>
              <a:t> </a:t>
            </a:r>
            <a:r>
              <a:rPr sz="2500" b="1" spc="-5" dirty="0">
                <a:latin typeface="Verdana"/>
                <a:cs typeface="Verdana"/>
              </a:rPr>
              <a:t>Relational</a:t>
            </a:r>
            <a:r>
              <a:rPr sz="2500" b="1" spc="-40" dirty="0">
                <a:latin typeface="Verdana"/>
                <a:cs typeface="Verdana"/>
              </a:rPr>
              <a:t> </a:t>
            </a:r>
            <a:r>
              <a:rPr sz="2500" b="1" spc="-10" dirty="0">
                <a:latin typeface="Verdana"/>
                <a:cs typeface="Verdana"/>
              </a:rPr>
              <a:t>model</a:t>
            </a:r>
            <a:endParaRPr sz="250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har char=""/>
            </a:pPr>
            <a:endParaRPr sz="3300" dirty="0">
              <a:latin typeface="Verdana"/>
              <a:cs typeface="Verdana"/>
            </a:endParaRPr>
          </a:p>
          <a:p>
            <a:pPr marL="481965" indent="-469900">
              <a:lnSpc>
                <a:spcPct val="100000"/>
              </a:lnSpc>
              <a:buClr>
                <a:srgbClr val="CC0000"/>
              </a:buClr>
              <a:buFont typeface="Wingdings"/>
              <a:buChar char=""/>
              <a:tabLst>
                <a:tab pos="481965" algn="l"/>
                <a:tab pos="482600" algn="l"/>
              </a:tabLst>
            </a:pPr>
            <a:r>
              <a:rPr sz="2400" b="1" spc="-5" dirty="0">
                <a:latin typeface="Verdana"/>
                <a:cs typeface="Verdana"/>
              </a:rPr>
              <a:t>SQL</a:t>
            </a:r>
            <a:r>
              <a:rPr lang="en-US" sz="2400" b="1" spc="-5" dirty="0">
                <a:latin typeface="Verdana"/>
                <a:cs typeface="Verdana"/>
              </a:rPr>
              <a:t> (Structured Query Language) </a:t>
            </a:r>
            <a:endParaRPr sz="24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12011" y="1336039"/>
            <a:ext cx="5499100" cy="605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800" dirty="0"/>
              <a:t>How</a:t>
            </a:r>
            <a:r>
              <a:rPr sz="3800" spc="-25" dirty="0"/>
              <a:t> </a:t>
            </a:r>
            <a:r>
              <a:rPr sz="3800" dirty="0"/>
              <a:t>shall</a:t>
            </a:r>
            <a:r>
              <a:rPr sz="3800" spc="-35" dirty="0"/>
              <a:t> </a:t>
            </a:r>
            <a:r>
              <a:rPr sz="3800" spc="5" dirty="0"/>
              <a:t>we</a:t>
            </a:r>
            <a:r>
              <a:rPr sz="3800" spc="-40" dirty="0"/>
              <a:t> </a:t>
            </a:r>
            <a:r>
              <a:rPr sz="3800" dirty="0"/>
              <a:t>learn?</a:t>
            </a:r>
            <a:endParaRPr sz="38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3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1104391" y="2753358"/>
            <a:ext cx="5888990" cy="3351559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481965" indent="-469900">
              <a:lnSpc>
                <a:spcPct val="100000"/>
              </a:lnSpc>
              <a:spcBef>
                <a:spcPts val="95"/>
              </a:spcBef>
              <a:buClr>
                <a:srgbClr val="CC0000"/>
              </a:buClr>
              <a:buFont typeface="Wingdings"/>
              <a:buChar char=""/>
              <a:tabLst>
                <a:tab pos="481965" algn="l"/>
                <a:tab pos="482600" algn="l"/>
              </a:tabLst>
            </a:pPr>
            <a:r>
              <a:rPr sz="2800" spc="-10" dirty="0">
                <a:latin typeface="Verdana"/>
                <a:cs typeface="Verdana"/>
              </a:rPr>
              <a:t>Classes</a:t>
            </a:r>
            <a:endParaRPr sz="280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CC0000"/>
              </a:buClr>
              <a:buFont typeface="Wingdings"/>
              <a:buChar char=""/>
            </a:pPr>
            <a:endParaRPr sz="3850" dirty="0">
              <a:latin typeface="Verdana"/>
              <a:cs typeface="Verdana"/>
            </a:endParaRPr>
          </a:p>
          <a:p>
            <a:pPr marL="481965" indent="-469900">
              <a:lnSpc>
                <a:spcPct val="100000"/>
              </a:lnSpc>
              <a:buClr>
                <a:srgbClr val="CC0000"/>
              </a:buClr>
              <a:buFont typeface="Wingdings"/>
              <a:buChar char=""/>
              <a:tabLst>
                <a:tab pos="481965" algn="l"/>
                <a:tab pos="482600" algn="l"/>
              </a:tabLst>
            </a:pPr>
            <a:r>
              <a:rPr lang="en-US" sz="2800" spc="-10">
                <a:latin typeface="Verdana"/>
                <a:cs typeface="Verdana"/>
              </a:rPr>
              <a:t>Homework</a:t>
            </a:r>
            <a:r>
              <a:rPr sz="2800" spc="-10">
                <a:latin typeface="Verdana"/>
                <a:cs typeface="Verdana"/>
              </a:rPr>
              <a:t>:</a:t>
            </a:r>
            <a:r>
              <a:rPr sz="2800" spc="35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individual</a:t>
            </a:r>
            <a:r>
              <a:rPr sz="2800" spc="45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works</a:t>
            </a:r>
            <a:endParaRPr sz="280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CC0000"/>
              </a:buClr>
              <a:buFont typeface="Wingdings"/>
              <a:buChar char=""/>
            </a:pPr>
            <a:endParaRPr sz="3850" dirty="0">
              <a:latin typeface="Verdana"/>
              <a:cs typeface="Verdana"/>
            </a:endParaRPr>
          </a:p>
          <a:p>
            <a:pPr marL="481965" indent="-469900">
              <a:lnSpc>
                <a:spcPct val="100000"/>
              </a:lnSpc>
              <a:buClr>
                <a:srgbClr val="CC0000"/>
              </a:buClr>
              <a:buFont typeface="Wingdings"/>
              <a:buChar char=""/>
              <a:tabLst>
                <a:tab pos="481965" algn="l"/>
                <a:tab pos="482600" algn="l"/>
              </a:tabLst>
            </a:pPr>
            <a:r>
              <a:rPr sz="2800" spc="-10" dirty="0">
                <a:latin typeface="Verdana"/>
                <a:cs typeface="Verdana"/>
              </a:rPr>
              <a:t>Projects:</a:t>
            </a:r>
            <a:r>
              <a:rPr sz="2800" spc="20" dirty="0">
                <a:latin typeface="Verdana"/>
                <a:cs typeface="Verdana"/>
              </a:rPr>
              <a:t> </a:t>
            </a:r>
            <a:r>
              <a:rPr lang="en-US" sz="2800" spc="20" dirty="0">
                <a:latin typeface="Verdana"/>
                <a:cs typeface="Verdana"/>
              </a:rPr>
              <a:t>individual or </a:t>
            </a:r>
            <a:r>
              <a:rPr sz="2800" spc="-5" dirty="0">
                <a:latin typeface="Verdana"/>
                <a:cs typeface="Verdana"/>
              </a:rPr>
              <a:t>team</a:t>
            </a:r>
            <a:r>
              <a:rPr sz="2800" spc="-10" dirty="0">
                <a:latin typeface="Verdana"/>
                <a:cs typeface="Verdana"/>
              </a:rPr>
              <a:t> work</a:t>
            </a:r>
            <a:r>
              <a:rPr lang="en-US" sz="2800" spc="-10" dirty="0">
                <a:latin typeface="Verdana"/>
                <a:cs typeface="Verdana"/>
              </a:rPr>
              <a:t> ?!? </a:t>
            </a:r>
          </a:p>
          <a:p>
            <a:pPr marL="939165" lvl="1" indent="-469900">
              <a:buClr>
                <a:srgbClr val="CC0000"/>
              </a:buClr>
              <a:buFont typeface="Wingdings"/>
              <a:buChar char=""/>
              <a:tabLst>
                <a:tab pos="481965" algn="l"/>
                <a:tab pos="482600" algn="l"/>
              </a:tabLst>
            </a:pPr>
            <a:r>
              <a:rPr lang="en-US" sz="2800" spc="-10" dirty="0">
                <a:latin typeface="Verdana"/>
                <a:cs typeface="Verdana"/>
              </a:rPr>
              <a:t>Will agree after </a:t>
            </a:r>
            <a:r>
              <a:rPr lang="en-US" sz="2800" spc="-10" dirty="0" err="1">
                <a:latin typeface="Verdana"/>
                <a:cs typeface="Verdana"/>
              </a:rPr>
              <a:t>MidTerm</a:t>
            </a:r>
            <a:endParaRPr sz="28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7731" y="1386331"/>
            <a:ext cx="4638040" cy="605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800" dirty="0"/>
              <a:t>Needed</a:t>
            </a:r>
            <a:r>
              <a:rPr sz="3800" spc="-75" dirty="0"/>
              <a:t> </a:t>
            </a:r>
            <a:r>
              <a:rPr sz="3800" dirty="0"/>
              <a:t>software</a:t>
            </a:r>
            <a:endParaRPr sz="38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4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1108963" y="2821938"/>
            <a:ext cx="6217285" cy="334200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81965" indent="-469900">
              <a:lnSpc>
                <a:spcPct val="100000"/>
              </a:lnSpc>
              <a:spcBef>
                <a:spcPts val="100"/>
              </a:spcBef>
              <a:buClr>
                <a:srgbClr val="CC0000"/>
              </a:buClr>
              <a:buFont typeface="Wingdings"/>
              <a:buChar char=""/>
              <a:tabLst>
                <a:tab pos="482600" algn="l"/>
              </a:tabLst>
            </a:pPr>
            <a:r>
              <a:rPr sz="3000" dirty="0">
                <a:latin typeface="Verdana"/>
                <a:cs typeface="Verdana"/>
              </a:rPr>
              <a:t>MS</a:t>
            </a:r>
            <a:r>
              <a:rPr sz="3000" spc="-55" dirty="0">
                <a:latin typeface="Verdana"/>
                <a:cs typeface="Verdana"/>
              </a:rPr>
              <a:t> </a:t>
            </a:r>
            <a:r>
              <a:rPr sz="3000" spc="-5" dirty="0">
                <a:latin typeface="Verdana"/>
                <a:cs typeface="Verdana"/>
              </a:rPr>
              <a:t>Word</a:t>
            </a:r>
            <a:endParaRPr sz="3000">
              <a:latin typeface="Verdana"/>
              <a:cs typeface="Verdana"/>
            </a:endParaRPr>
          </a:p>
          <a:p>
            <a:pPr marL="481965">
              <a:lnSpc>
                <a:spcPct val="100000"/>
              </a:lnSpc>
            </a:pPr>
            <a:r>
              <a:rPr sz="3000" dirty="0">
                <a:latin typeface="Verdana"/>
                <a:cs typeface="Verdana"/>
              </a:rPr>
              <a:t>(</a:t>
            </a:r>
            <a:r>
              <a:rPr sz="1800" dirty="0">
                <a:latin typeface="Verdana"/>
                <a:cs typeface="Verdana"/>
              </a:rPr>
              <a:t>or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another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Text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editor</a:t>
            </a:r>
            <a:r>
              <a:rPr sz="3000" spc="-5" dirty="0">
                <a:latin typeface="Verdana"/>
                <a:cs typeface="Verdana"/>
              </a:rPr>
              <a:t>)</a:t>
            </a:r>
            <a:endParaRPr sz="3000">
              <a:latin typeface="Verdana"/>
              <a:cs typeface="Verdana"/>
            </a:endParaRPr>
          </a:p>
          <a:p>
            <a:pPr marL="481965" indent="-469900">
              <a:lnSpc>
                <a:spcPct val="100000"/>
              </a:lnSpc>
              <a:spcBef>
                <a:spcPts val="720"/>
              </a:spcBef>
              <a:buClr>
                <a:srgbClr val="CC0000"/>
              </a:buClr>
              <a:buFont typeface="Wingdings"/>
              <a:buChar char=""/>
              <a:tabLst>
                <a:tab pos="482600" algn="l"/>
              </a:tabLst>
            </a:pPr>
            <a:r>
              <a:rPr sz="3000" spc="-5" dirty="0">
                <a:latin typeface="Verdana"/>
                <a:cs typeface="Verdana"/>
              </a:rPr>
              <a:t>ERD</a:t>
            </a:r>
            <a:r>
              <a:rPr sz="3000" spc="-55" dirty="0">
                <a:latin typeface="Verdana"/>
                <a:cs typeface="Verdana"/>
              </a:rPr>
              <a:t> </a:t>
            </a:r>
            <a:r>
              <a:rPr sz="3000" dirty="0">
                <a:latin typeface="Verdana"/>
                <a:cs typeface="Verdana"/>
              </a:rPr>
              <a:t>tool</a:t>
            </a:r>
            <a:endParaRPr sz="3000">
              <a:latin typeface="Verdana"/>
              <a:cs typeface="Verdana"/>
            </a:endParaRPr>
          </a:p>
          <a:p>
            <a:pPr marL="481965">
              <a:lnSpc>
                <a:spcPct val="100000"/>
              </a:lnSpc>
            </a:pPr>
            <a:r>
              <a:rPr sz="3000" dirty="0">
                <a:latin typeface="Verdana"/>
                <a:cs typeface="Verdana"/>
              </a:rPr>
              <a:t>(</a:t>
            </a:r>
            <a:r>
              <a:rPr sz="1800" dirty="0">
                <a:solidFill>
                  <a:srgbClr val="A5A5A5"/>
                </a:solidFill>
                <a:latin typeface="Verdana"/>
                <a:cs typeface="Verdana"/>
              </a:rPr>
              <a:t>MS</a:t>
            </a:r>
            <a:r>
              <a:rPr sz="1800" spc="-5" dirty="0">
                <a:solidFill>
                  <a:srgbClr val="A5A5A5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A5A5A5"/>
                </a:solidFill>
                <a:latin typeface="Verdana"/>
                <a:cs typeface="Verdana"/>
              </a:rPr>
              <a:t>Visio</a:t>
            </a:r>
            <a:r>
              <a:rPr sz="1800" spc="-20" dirty="0">
                <a:solidFill>
                  <a:srgbClr val="A5A5A5"/>
                </a:solidFill>
                <a:latin typeface="Verdana"/>
                <a:cs typeface="Verdana"/>
              </a:rPr>
              <a:t> </a:t>
            </a:r>
            <a:r>
              <a:rPr sz="1800" spc="-5" dirty="0">
                <a:solidFill>
                  <a:srgbClr val="A5A5A5"/>
                </a:solidFill>
                <a:latin typeface="Verdana"/>
                <a:cs typeface="Verdana"/>
              </a:rPr>
              <a:t>(obsolete)</a:t>
            </a:r>
            <a:r>
              <a:rPr sz="3000" spc="-5" dirty="0">
                <a:solidFill>
                  <a:srgbClr val="A5A5A5"/>
                </a:solidFill>
                <a:latin typeface="Verdana"/>
                <a:cs typeface="Verdana"/>
              </a:rPr>
              <a:t>,</a:t>
            </a:r>
            <a:r>
              <a:rPr sz="3000" spc="10" dirty="0">
                <a:solidFill>
                  <a:srgbClr val="A5A5A5"/>
                </a:solidFill>
                <a:latin typeface="Verdana"/>
                <a:cs typeface="Verdana"/>
              </a:rPr>
              <a:t> </a:t>
            </a:r>
            <a:r>
              <a:rPr sz="1800" b="1" u="heavy" spc="-5" dirty="0">
                <a:solidFill>
                  <a:srgbClr val="326499"/>
                </a:solidFill>
                <a:uFill>
                  <a:solidFill>
                    <a:srgbClr val="326598"/>
                  </a:solidFill>
                </a:uFill>
                <a:latin typeface="Verdana"/>
                <a:cs typeface="Verdana"/>
              </a:rPr>
              <a:t>Diagrams.net</a:t>
            </a:r>
            <a:r>
              <a:rPr sz="1800" b="1" spc="-5" dirty="0">
                <a:solidFill>
                  <a:srgbClr val="326499"/>
                </a:solidFill>
                <a:latin typeface="Verdana"/>
                <a:cs typeface="Verdana"/>
              </a:rPr>
              <a:t> </a:t>
            </a:r>
            <a:r>
              <a:rPr sz="1800" spc="-15" dirty="0">
                <a:latin typeface="Verdana"/>
                <a:cs typeface="Verdana"/>
              </a:rPr>
              <a:t>(Draw.io)</a:t>
            </a:r>
            <a:r>
              <a:rPr sz="3000" spc="-15" dirty="0">
                <a:latin typeface="Verdana"/>
                <a:cs typeface="Verdana"/>
              </a:rPr>
              <a:t>)</a:t>
            </a:r>
            <a:endParaRPr sz="3000">
              <a:latin typeface="Verdana"/>
              <a:cs typeface="Verdana"/>
            </a:endParaRPr>
          </a:p>
          <a:p>
            <a:pPr marL="481965" indent="-469900">
              <a:lnSpc>
                <a:spcPct val="100000"/>
              </a:lnSpc>
              <a:spcBef>
                <a:spcPts val="720"/>
              </a:spcBef>
              <a:buClr>
                <a:srgbClr val="CC0000"/>
              </a:buClr>
              <a:buFont typeface="Wingdings"/>
              <a:buChar char=""/>
              <a:tabLst>
                <a:tab pos="482600" algn="l"/>
              </a:tabLst>
            </a:pPr>
            <a:r>
              <a:rPr sz="3000" dirty="0">
                <a:latin typeface="Verdana"/>
                <a:cs typeface="Verdana"/>
              </a:rPr>
              <a:t>SQL</a:t>
            </a:r>
            <a:r>
              <a:rPr sz="3000" spc="-60" dirty="0">
                <a:latin typeface="Verdana"/>
                <a:cs typeface="Verdana"/>
              </a:rPr>
              <a:t> </a:t>
            </a:r>
            <a:r>
              <a:rPr sz="3000" dirty="0">
                <a:latin typeface="Verdana"/>
                <a:cs typeface="Verdana"/>
              </a:rPr>
              <a:t>Server</a:t>
            </a:r>
            <a:endParaRPr sz="3000">
              <a:latin typeface="Verdana"/>
              <a:cs typeface="Verdana"/>
            </a:endParaRPr>
          </a:p>
          <a:p>
            <a:pPr marL="939165" lvl="1" indent="-470534">
              <a:lnSpc>
                <a:spcPct val="100000"/>
              </a:lnSpc>
              <a:spcBef>
                <a:spcPts val="440"/>
              </a:spcBef>
              <a:buClr>
                <a:srgbClr val="CC0000"/>
              </a:buClr>
              <a:buFont typeface="Wingdings"/>
              <a:buChar char=""/>
              <a:tabLst>
                <a:tab pos="939165" algn="l"/>
                <a:tab pos="939800" algn="l"/>
              </a:tabLst>
            </a:pPr>
            <a:r>
              <a:rPr sz="1800" b="1" u="heavy" spc="-5" dirty="0">
                <a:solidFill>
                  <a:srgbClr val="326499"/>
                </a:solidFill>
                <a:uFill>
                  <a:solidFill>
                    <a:srgbClr val="326598"/>
                  </a:solidFill>
                </a:uFill>
                <a:latin typeface="Verdana"/>
                <a:cs typeface="Verdana"/>
              </a:rPr>
              <a:t>Microsoft®</a:t>
            </a:r>
            <a:r>
              <a:rPr sz="1800" b="1" u="heavy" dirty="0">
                <a:solidFill>
                  <a:srgbClr val="326499"/>
                </a:solidFill>
                <a:uFill>
                  <a:solidFill>
                    <a:srgbClr val="326598"/>
                  </a:solidFill>
                </a:uFill>
                <a:latin typeface="Verdana"/>
                <a:cs typeface="Verdana"/>
              </a:rPr>
              <a:t> SQL</a:t>
            </a:r>
            <a:r>
              <a:rPr sz="1800" b="1" u="heavy" spc="-30" dirty="0">
                <a:solidFill>
                  <a:srgbClr val="326499"/>
                </a:solidFill>
                <a:uFill>
                  <a:solidFill>
                    <a:srgbClr val="326598"/>
                  </a:solidFill>
                </a:uFill>
                <a:latin typeface="Verdana"/>
                <a:cs typeface="Verdana"/>
              </a:rPr>
              <a:t> </a:t>
            </a:r>
            <a:r>
              <a:rPr sz="1800" b="1" u="heavy" dirty="0">
                <a:solidFill>
                  <a:srgbClr val="326499"/>
                </a:solidFill>
                <a:uFill>
                  <a:solidFill>
                    <a:srgbClr val="326598"/>
                  </a:solidFill>
                </a:uFill>
                <a:latin typeface="Verdana"/>
                <a:cs typeface="Verdana"/>
              </a:rPr>
              <a:t>Server®</a:t>
            </a:r>
            <a:r>
              <a:rPr sz="1800" b="1" u="heavy" spc="-5" dirty="0">
                <a:solidFill>
                  <a:srgbClr val="326499"/>
                </a:solidFill>
                <a:uFill>
                  <a:solidFill>
                    <a:srgbClr val="326598"/>
                  </a:solidFill>
                </a:uFill>
                <a:latin typeface="Verdana"/>
                <a:cs typeface="Verdana"/>
              </a:rPr>
              <a:t> </a:t>
            </a:r>
            <a:r>
              <a:rPr sz="1800" b="1" u="heavy" dirty="0">
                <a:solidFill>
                  <a:srgbClr val="326499"/>
                </a:solidFill>
                <a:uFill>
                  <a:solidFill>
                    <a:srgbClr val="326598"/>
                  </a:solidFill>
                </a:uFill>
                <a:latin typeface="Verdana"/>
                <a:cs typeface="Verdana"/>
              </a:rPr>
              <a:t>2019</a:t>
            </a:r>
            <a:r>
              <a:rPr sz="1800" b="1" u="heavy" spc="-40" dirty="0">
                <a:solidFill>
                  <a:srgbClr val="326499"/>
                </a:solidFill>
                <a:uFill>
                  <a:solidFill>
                    <a:srgbClr val="326598"/>
                  </a:solidFill>
                </a:uFill>
                <a:latin typeface="Verdana"/>
                <a:cs typeface="Verdana"/>
              </a:rPr>
              <a:t> </a:t>
            </a:r>
            <a:r>
              <a:rPr sz="1800" b="1" u="heavy" spc="-5" dirty="0">
                <a:solidFill>
                  <a:srgbClr val="326499"/>
                </a:solidFill>
                <a:uFill>
                  <a:solidFill>
                    <a:srgbClr val="326598"/>
                  </a:solidFill>
                </a:uFill>
                <a:latin typeface="Verdana"/>
                <a:cs typeface="Verdana"/>
              </a:rPr>
              <a:t>Express</a:t>
            </a:r>
            <a:endParaRPr sz="1800">
              <a:latin typeface="Verdana"/>
              <a:cs typeface="Verdana"/>
            </a:endParaRPr>
          </a:p>
          <a:p>
            <a:pPr marL="939165" lvl="1" indent="-470534">
              <a:lnSpc>
                <a:spcPct val="100000"/>
              </a:lnSpc>
              <a:spcBef>
                <a:spcPts val="1910"/>
              </a:spcBef>
              <a:buClr>
                <a:srgbClr val="CC0000"/>
              </a:buClr>
              <a:buFont typeface="Wingdings"/>
              <a:buChar char=""/>
              <a:tabLst>
                <a:tab pos="939165" algn="l"/>
                <a:tab pos="939800" algn="l"/>
              </a:tabLst>
            </a:pPr>
            <a:r>
              <a:rPr sz="1800" b="1" u="heavy" dirty="0">
                <a:solidFill>
                  <a:srgbClr val="326499"/>
                </a:solidFill>
                <a:uFill>
                  <a:solidFill>
                    <a:srgbClr val="326598"/>
                  </a:solidFill>
                </a:uFill>
                <a:latin typeface="Verdana"/>
                <a:cs typeface="Verdana"/>
              </a:rPr>
              <a:t>SQL</a:t>
            </a:r>
            <a:r>
              <a:rPr sz="1800" b="1" u="heavy" spc="-35" dirty="0">
                <a:solidFill>
                  <a:srgbClr val="326499"/>
                </a:solidFill>
                <a:uFill>
                  <a:solidFill>
                    <a:srgbClr val="326598"/>
                  </a:solidFill>
                </a:uFill>
                <a:latin typeface="Verdana"/>
                <a:cs typeface="Verdana"/>
              </a:rPr>
              <a:t> </a:t>
            </a:r>
            <a:r>
              <a:rPr sz="1800" b="1" u="heavy" dirty="0">
                <a:solidFill>
                  <a:srgbClr val="326499"/>
                </a:solidFill>
                <a:uFill>
                  <a:solidFill>
                    <a:srgbClr val="326598"/>
                  </a:solidFill>
                </a:uFill>
                <a:latin typeface="Verdana"/>
                <a:cs typeface="Verdana"/>
              </a:rPr>
              <a:t>Server</a:t>
            </a:r>
            <a:r>
              <a:rPr sz="1800" b="1" u="heavy" spc="-5" dirty="0">
                <a:solidFill>
                  <a:srgbClr val="326499"/>
                </a:solidFill>
                <a:uFill>
                  <a:solidFill>
                    <a:srgbClr val="326598"/>
                  </a:solidFill>
                </a:uFill>
                <a:latin typeface="Verdana"/>
                <a:cs typeface="Verdana"/>
              </a:rPr>
              <a:t> Management</a:t>
            </a:r>
            <a:r>
              <a:rPr sz="1800" b="1" u="heavy" dirty="0">
                <a:solidFill>
                  <a:srgbClr val="326499"/>
                </a:solidFill>
                <a:uFill>
                  <a:solidFill>
                    <a:srgbClr val="326598"/>
                  </a:solidFill>
                </a:uFill>
                <a:latin typeface="Verdana"/>
                <a:cs typeface="Verdana"/>
              </a:rPr>
              <a:t> </a:t>
            </a:r>
            <a:r>
              <a:rPr sz="1800" b="1" u="heavy" spc="-5" dirty="0">
                <a:solidFill>
                  <a:srgbClr val="326499"/>
                </a:solidFill>
                <a:uFill>
                  <a:solidFill>
                    <a:srgbClr val="326598"/>
                  </a:solidFill>
                </a:uFill>
                <a:latin typeface="Verdana"/>
                <a:cs typeface="Verdana"/>
              </a:rPr>
              <a:t>Studio</a:t>
            </a:r>
            <a:r>
              <a:rPr sz="1800" b="1" u="heavy" dirty="0">
                <a:solidFill>
                  <a:srgbClr val="326499"/>
                </a:solidFill>
                <a:uFill>
                  <a:solidFill>
                    <a:srgbClr val="326598"/>
                  </a:solidFill>
                </a:uFill>
                <a:latin typeface="Verdana"/>
                <a:cs typeface="Verdana"/>
              </a:rPr>
              <a:t> (SSMS)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94179" y="1336039"/>
            <a:ext cx="6678295" cy="605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800" dirty="0"/>
              <a:t>Data</a:t>
            </a:r>
            <a:r>
              <a:rPr sz="3800" spc="-55" dirty="0"/>
              <a:t> </a:t>
            </a:r>
            <a:r>
              <a:rPr sz="3800" dirty="0"/>
              <a:t>–</a:t>
            </a:r>
            <a:r>
              <a:rPr sz="3800" spc="-25" dirty="0"/>
              <a:t> </a:t>
            </a:r>
            <a:r>
              <a:rPr sz="3800" dirty="0"/>
              <a:t>Modeling</a:t>
            </a:r>
            <a:r>
              <a:rPr sz="3800" spc="-30" dirty="0"/>
              <a:t> </a:t>
            </a:r>
            <a:r>
              <a:rPr sz="3800" spc="5" dirty="0"/>
              <a:t>procces</a:t>
            </a:r>
            <a:endParaRPr sz="3800"/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94867" y="2183130"/>
            <a:ext cx="6721600" cy="425195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5</a:t>
            </a:fld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97099" y="756919"/>
            <a:ext cx="5671820" cy="1184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65785" marR="5080" indent="-553720">
              <a:lnSpc>
                <a:spcPct val="100000"/>
              </a:lnSpc>
              <a:spcBef>
                <a:spcPts val="100"/>
              </a:spcBef>
            </a:pPr>
            <a:r>
              <a:rPr sz="3800" dirty="0"/>
              <a:t>Entity</a:t>
            </a:r>
            <a:r>
              <a:rPr sz="3800" spc="-55" dirty="0"/>
              <a:t> </a:t>
            </a:r>
            <a:r>
              <a:rPr sz="3800" dirty="0"/>
              <a:t>–</a:t>
            </a:r>
            <a:r>
              <a:rPr sz="3800" spc="-50" dirty="0"/>
              <a:t> </a:t>
            </a:r>
            <a:r>
              <a:rPr sz="3800" dirty="0"/>
              <a:t>Relationship </a:t>
            </a:r>
            <a:r>
              <a:rPr sz="3800" spc="-1285" dirty="0"/>
              <a:t> </a:t>
            </a:r>
            <a:r>
              <a:rPr sz="3800" dirty="0"/>
              <a:t>model:</a:t>
            </a:r>
            <a:r>
              <a:rPr sz="3800" spc="-30" dirty="0"/>
              <a:t> </a:t>
            </a:r>
            <a:r>
              <a:rPr sz="3800" b="0" spc="-5" dirty="0">
                <a:latin typeface="Verdana"/>
                <a:cs typeface="Verdana"/>
              </a:rPr>
              <a:t>Е-R</a:t>
            </a:r>
            <a:r>
              <a:rPr sz="3800" b="0" spc="-25" dirty="0">
                <a:latin typeface="Verdana"/>
                <a:cs typeface="Verdana"/>
              </a:rPr>
              <a:t> </a:t>
            </a:r>
            <a:r>
              <a:rPr sz="3800" b="0" dirty="0">
                <a:latin typeface="Verdana"/>
                <a:cs typeface="Verdana"/>
              </a:rPr>
              <a:t>model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6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1037335" y="2748786"/>
            <a:ext cx="7342505" cy="3042920"/>
          </a:xfrm>
          <a:prstGeom prst="rect">
            <a:avLst/>
          </a:prstGeom>
        </p:spPr>
        <p:txBody>
          <a:bodyPr vert="horz" wrap="square" lIns="0" tIns="104140" rIns="0" bIns="0" rtlCol="0">
            <a:spAutoFit/>
          </a:bodyPr>
          <a:lstStyle/>
          <a:p>
            <a:pPr marL="481965" indent="-469900">
              <a:lnSpc>
                <a:spcPct val="100000"/>
              </a:lnSpc>
              <a:spcBef>
                <a:spcPts val="820"/>
              </a:spcBef>
              <a:buClr>
                <a:srgbClr val="CC0000"/>
              </a:buClr>
              <a:buFont typeface="Wingdings"/>
              <a:buChar char=""/>
              <a:tabLst>
                <a:tab pos="482600" algn="l"/>
              </a:tabLst>
            </a:pPr>
            <a:r>
              <a:rPr sz="3000" b="1" spc="-5" dirty="0">
                <a:latin typeface="Verdana"/>
                <a:cs typeface="Verdana"/>
              </a:rPr>
              <a:t>Model</a:t>
            </a:r>
            <a:r>
              <a:rPr sz="3000" b="1" spc="-30" dirty="0">
                <a:latin typeface="Verdana"/>
                <a:cs typeface="Verdana"/>
              </a:rPr>
              <a:t> </a:t>
            </a:r>
            <a:r>
              <a:rPr sz="3000" b="1" dirty="0">
                <a:latin typeface="Verdana"/>
                <a:cs typeface="Verdana"/>
              </a:rPr>
              <a:t>for</a:t>
            </a:r>
            <a:r>
              <a:rPr sz="3000" b="1" spc="-40" dirty="0">
                <a:latin typeface="Verdana"/>
                <a:cs typeface="Verdana"/>
              </a:rPr>
              <a:t> </a:t>
            </a:r>
            <a:r>
              <a:rPr sz="3000" b="1" spc="-5" dirty="0">
                <a:latin typeface="Verdana"/>
                <a:cs typeface="Verdana"/>
              </a:rPr>
              <a:t>conceptual</a:t>
            </a:r>
            <a:r>
              <a:rPr sz="3000" b="1" spc="-20" dirty="0">
                <a:latin typeface="Verdana"/>
                <a:cs typeface="Verdana"/>
              </a:rPr>
              <a:t> </a:t>
            </a:r>
            <a:r>
              <a:rPr sz="3000" b="1" spc="-5" dirty="0">
                <a:latin typeface="Verdana"/>
                <a:cs typeface="Verdana"/>
              </a:rPr>
              <a:t>designing</a:t>
            </a:r>
            <a:endParaRPr sz="3000">
              <a:latin typeface="Verdana"/>
              <a:cs typeface="Verdana"/>
            </a:endParaRPr>
          </a:p>
          <a:p>
            <a:pPr marL="481965" indent="-469900">
              <a:lnSpc>
                <a:spcPct val="100000"/>
              </a:lnSpc>
              <a:spcBef>
                <a:spcPts val="720"/>
              </a:spcBef>
              <a:buClr>
                <a:srgbClr val="CC0000"/>
              </a:buClr>
              <a:buFont typeface="Wingdings"/>
              <a:buChar char=""/>
              <a:tabLst>
                <a:tab pos="482600" algn="l"/>
              </a:tabLst>
            </a:pPr>
            <a:r>
              <a:rPr sz="3000" spc="-5" dirty="0">
                <a:latin typeface="Verdana"/>
                <a:cs typeface="Verdana"/>
              </a:rPr>
              <a:t>ERD</a:t>
            </a:r>
            <a:r>
              <a:rPr sz="3000" spc="-80" dirty="0">
                <a:latin typeface="Verdana"/>
                <a:cs typeface="Verdana"/>
              </a:rPr>
              <a:t> </a:t>
            </a:r>
            <a:r>
              <a:rPr sz="3000" dirty="0">
                <a:latin typeface="Verdana"/>
                <a:cs typeface="Verdana"/>
              </a:rPr>
              <a:t>tools</a:t>
            </a:r>
            <a:endParaRPr sz="3000">
              <a:latin typeface="Verdana"/>
              <a:cs typeface="Verdana"/>
            </a:endParaRPr>
          </a:p>
          <a:p>
            <a:pPr marL="481965" marR="5080">
              <a:lnSpc>
                <a:spcPct val="100000"/>
              </a:lnSpc>
            </a:pPr>
            <a:r>
              <a:rPr sz="3000" spc="-5" dirty="0">
                <a:latin typeface="Verdana"/>
                <a:cs typeface="Verdana"/>
              </a:rPr>
              <a:t>(</a:t>
            </a:r>
            <a:r>
              <a:rPr sz="1800" b="1" spc="-5" dirty="0">
                <a:latin typeface="Verdana"/>
                <a:cs typeface="Verdana"/>
              </a:rPr>
              <a:t>Diagrams.net</a:t>
            </a:r>
            <a:r>
              <a:rPr sz="1800" spc="-5" dirty="0">
                <a:latin typeface="Verdana"/>
                <a:cs typeface="Verdana"/>
              </a:rPr>
              <a:t>, Lucidchart, Moqups,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SqlDBM,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Erwin,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Data </a:t>
            </a:r>
            <a:r>
              <a:rPr sz="1800" spc="-62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Architect,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Oracle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designer,</a:t>
            </a:r>
            <a:r>
              <a:rPr sz="1800" spc="2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MS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Visio</a:t>
            </a:r>
            <a:r>
              <a:rPr sz="3000" dirty="0">
                <a:latin typeface="Verdana"/>
                <a:cs typeface="Verdana"/>
              </a:rPr>
              <a:t>)</a:t>
            </a:r>
            <a:endParaRPr sz="3000">
              <a:latin typeface="Verdana"/>
              <a:cs typeface="Verdana"/>
            </a:endParaRPr>
          </a:p>
          <a:p>
            <a:pPr marL="481965" marR="675005" indent="-469900">
              <a:lnSpc>
                <a:spcPct val="100000"/>
              </a:lnSpc>
              <a:spcBef>
                <a:spcPts val="720"/>
              </a:spcBef>
              <a:buClr>
                <a:srgbClr val="CC0000"/>
              </a:buClr>
              <a:buFont typeface="Wingdings"/>
              <a:buChar char=""/>
              <a:tabLst>
                <a:tab pos="482600" algn="l"/>
              </a:tabLst>
            </a:pPr>
            <a:r>
              <a:rPr sz="3000" spc="-5" dirty="0">
                <a:latin typeface="Verdana"/>
                <a:cs typeface="Verdana"/>
              </a:rPr>
              <a:t>Result: ER Schema/ ER diagram </a:t>
            </a:r>
            <a:r>
              <a:rPr sz="3000" spc="-1040" dirty="0">
                <a:latin typeface="Verdana"/>
                <a:cs typeface="Verdana"/>
              </a:rPr>
              <a:t> </a:t>
            </a:r>
            <a:r>
              <a:rPr sz="3000" spc="-5" dirty="0">
                <a:latin typeface="Verdana"/>
                <a:cs typeface="Verdana"/>
              </a:rPr>
              <a:t>(</a:t>
            </a:r>
            <a:r>
              <a:rPr sz="1800" spc="-5" dirty="0">
                <a:latin typeface="Verdana"/>
                <a:cs typeface="Verdana"/>
              </a:rPr>
              <a:t>graphical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representation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of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the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conceptual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schema</a:t>
            </a:r>
            <a:r>
              <a:rPr sz="3000" spc="-5" dirty="0">
                <a:latin typeface="Verdana"/>
                <a:cs typeface="Verdana"/>
              </a:rPr>
              <a:t>)</a:t>
            </a:r>
            <a:endParaRPr sz="3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94072" y="3467673"/>
            <a:ext cx="3761562" cy="276108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413506" y="1336039"/>
            <a:ext cx="5238750" cy="605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800" dirty="0"/>
              <a:t>Database</a:t>
            </a:r>
            <a:r>
              <a:rPr sz="3800" spc="-90" dirty="0"/>
              <a:t> </a:t>
            </a:r>
            <a:r>
              <a:rPr sz="3800" dirty="0"/>
              <a:t>modeling</a:t>
            </a:r>
            <a:endParaRPr sz="380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7</a:t>
            </a:fld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965707" y="2526892"/>
            <a:ext cx="6870065" cy="3684270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481965" indent="-469900">
              <a:lnSpc>
                <a:spcPct val="100000"/>
              </a:lnSpc>
              <a:spcBef>
                <a:spcPts val="720"/>
              </a:spcBef>
              <a:buClr>
                <a:srgbClr val="CC0000"/>
              </a:buClr>
              <a:buFont typeface="Wingdings"/>
              <a:buChar char=""/>
              <a:tabLst>
                <a:tab pos="481965" algn="l"/>
                <a:tab pos="482600" algn="l"/>
              </a:tabLst>
            </a:pPr>
            <a:r>
              <a:rPr sz="2600" dirty="0">
                <a:latin typeface="Verdana"/>
                <a:cs typeface="Verdana"/>
              </a:rPr>
              <a:t>Collection</a:t>
            </a:r>
            <a:r>
              <a:rPr sz="2600" spc="-50" dirty="0">
                <a:latin typeface="Verdana"/>
                <a:cs typeface="Verdana"/>
              </a:rPr>
              <a:t> </a:t>
            </a:r>
            <a:r>
              <a:rPr sz="2600" dirty="0">
                <a:latin typeface="Verdana"/>
                <a:cs typeface="Verdana"/>
              </a:rPr>
              <a:t>of</a:t>
            </a:r>
            <a:r>
              <a:rPr sz="2600" spc="-15" dirty="0">
                <a:latin typeface="Verdana"/>
                <a:cs typeface="Verdana"/>
              </a:rPr>
              <a:t> </a:t>
            </a:r>
            <a:r>
              <a:rPr sz="2600" b="1" spc="-5" dirty="0">
                <a:latin typeface="Verdana"/>
                <a:cs typeface="Verdana"/>
              </a:rPr>
              <a:t>Entities</a:t>
            </a:r>
            <a:r>
              <a:rPr sz="2600" b="1" spc="-20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and</a:t>
            </a:r>
            <a:r>
              <a:rPr sz="2600" spc="15" dirty="0">
                <a:latin typeface="Verdana"/>
                <a:cs typeface="Verdana"/>
              </a:rPr>
              <a:t> </a:t>
            </a:r>
            <a:r>
              <a:rPr sz="2600" dirty="0">
                <a:latin typeface="Verdana"/>
                <a:cs typeface="Verdana"/>
              </a:rPr>
              <a:t>entity</a:t>
            </a:r>
            <a:r>
              <a:rPr sz="2600" spc="-25" dirty="0">
                <a:latin typeface="Verdana"/>
                <a:cs typeface="Verdana"/>
              </a:rPr>
              <a:t> </a:t>
            </a:r>
            <a:r>
              <a:rPr sz="2600" dirty="0">
                <a:latin typeface="Verdana"/>
                <a:cs typeface="Verdana"/>
              </a:rPr>
              <a:t>types</a:t>
            </a:r>
            <a:endParaRPr sz="2600">
              <a:latin typeface="Verdana"/>
              <a:cs typeface="Verdana"/>
            </a:endParaRPr>
          </a:p>
          <a:p>
            <a:pPr marL="481965" indent="-469900">
              <a:lnSpc>
                <a:spcPct val="100000"/>
              </a:lnSpc>
              <a:spcBef>
                <a:spcPts val="625"/>
              </a:spcBef>
              <a:buClr>
                <a:srgbClr val="CC0000"/>
              </a:buClr>
              <a:buFont typeface="Wingdings"/>
              <a:buChar char=""/>
              <a:tabLst>
                <a:tab pos="481965" algn="l"/>
                <a:tab pos="482600" algn="l"/>
              </a:tabLst>
            </a:pPr>
            <a:r>
              <a:rPr sz="2600" b="1" dirty="0">
                <a:latin typeface="Verdana"/>
                <a:cs typeface="Verdana"/>
              </a:rPr>
              <a:t>Relationships</a:t>
            </a:r>
            <a:r>
              <a:rPr sz="2600" b="1" spc="-75" dirty="0">
                <a:latin typeface="Verdana"/>
                <a:cs typeface="Verdana"/>
              </a:rPr>
              <a:t> </a:t>
            </a:r>
            <a:r>
              <a:rPr sz="2600" dirty="0">
                <a:latin typeface="Verdana"/>
                <a:cs typeface="Verdana"/>
              </a:rPr>
              <a:t>between</a:t>
            </a:r>
            <a:r>
              <a:rPr sz="2600" spc="-35" dirty="0">
                <a:latin typeface="Verdana"/>
                <a:cs typeface="Verdana"/>
              </a:rPr>
              <a:t> </a:t>
            </a:r>
            <a:r>
              <a:rPr sz="2600" dirty="0">
                <a:latin typeface="Verdana"/>
                <a:cs typeface="Verdana"/>
              </a:rPr>
              <a:t>entities</a:t>
            </a:r>
            <a:endParaRPr sz="2600">
              <a:latin typeface="Verdana"/>
              <a:cs typeface="Verdana"/>
            </a:endParaRPr>
          </a:p>
          <a:p>
            <a:pPr marL="481965" indent="-469900">
              <a:lnSpc>
                <a:spcPct val="100000"/>
              </a:lnSpc>
              <a:spcBef>
                <a:spcPts val="625"/>
              </a:spcBef>
              <a:buClr>
                <a:srgbClr val="CC0000"/>
              </a:buClr>
              <a:buFont typeface="Wingdings"/>
              <a:buChar char=""/>
              <a:tabLst>
                <a:tab pos="481965" algn="l"/>
                <a:tab pos="482600" algn="l"/>
              </a:tabLst>
            </a:pPr>
            <a:r>
              <a:rPr sz="2600" b="1" dirty="0">
                <a:latin typeface="Verdana"/>
                <a:cs typeface="Verdana"/>
              </a:rPr>
              <a:t>Constraints</a:t>
            </a:r>
            <a:endParaRPr sz="26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050">
              <a:latin typeface="Verdana"/>
              <a:cs typeface="Verdana"/>
            </a:endParaRPr>
          </a:p>
          <a:p>
            <a:pPr marL="12700" marR="2222500">
              <a:lnSpc>
                <a:spcPct val="120000"/>
              </a:lnSpc>
            </a:pPr>
            <a:r>
              <a:rPr sz="2400" spc="-5" dirty="0">
                <a:latin typeface="Verdana"/>
                <a:cs typeface="Verdana"/>
              </a:rPr>
              <a:t>Entities</a:t>
            </a:r>
            <a:r>
              <a:rPr sz="2400" spc="2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and</a:t>
            </a:r>
            <a:r>
              <a:rPr sz="2400" spc="-2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Relationships</a:t>
            </a:r>
            <a:r>
              <a:rPr sz="2400" spc="3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are </a:t>
            </a:r>
            <a:r>
              <a:rPr sz="2400" spc="-82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part of,</a:t>
            </a:r>
            <a:r>
              <a:rPr sz="2400" spc="2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so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called</a:t>
            </a:r>
            <a:r>
              <a:rPr sz="2400" spc="25" dirty="0">
                <a:latin typeface="Verdana"/>
                <a:cs typeface="Verdana"/>
              </a:rPr>
              <a:t> </a:t>
            </a:r>
            <a:r>
              <a:rPr sz="2400" b="1" spc="-5" dirty="0">
                <a:latin typeface="Verdana"/>
                <a:cs typeface="Verdana"/>
              </a:rPr>
              <a:t>mini</a:t>
            </a:r>
            <a:r>
              <a:rPr sz="2400" b="1" spc="10" dirty="0">
                <a:latin typeface="Verdana"/>
                <a:cs typeface="Verdana"/>
              </a:rPr>
              <a:t> </a:t>
            </a:r>
            <a:r>
              <a:rPr sz="2400" b="1" spc="-5" dirty="0">
                <a:latin typeface="Verdana"/>
                <a:cs typeface="Verdana"/>
              </a:rPr>
              <a:t>world</a:t>
            </a:r>
            <a:r>
              <a:rPr sz="2400" spc="-5" dirty="0">
                <a:latin typeface="Verdana"/>
                <a:cs typeface="Verdana"/>
              </a:rPr>
              <a:t>,</a:t>
            </a:r>
            <a:endParaRPr sz="2400">
              <a:latin typeface="Verdana"/>
              <a:cs typeface="Verdana"/>
            </a:endParaRPr>
          </a:p>
          <a:p>
            <a:pPr marL="12700" marR="2590165">
              <a:lnSpc>
                <a:spcPct val="120000"/>
              </a:lnSpc>
            </a:pPr>
            <a:r>
              <a:rPr sz="2400" spc="-5" dirty="0">
                <a:latin typeface="Verdana"/>
                <a:cs typeface="Verdana"/>
              </a:rPr>
              <a:t>i.e.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part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of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the </a:t>
            </a:r>
            <a:r>
              <a:rPr sz="2400" spc="-5" dirty="0">
                <a:latin typeface="Verdana"/>
                <a:cs typeface="Verdana"/>
              </a:rPr>
              <a:t>real world </a:t>
            </a:r>
            <a:r>
              <a:rPr sz="2400" dirty="0">
                <a:latin typeface="Verdana"/>
                <a:cs typeface="Verdana"/>
              </a:rPr>
              <a:t> that</a:t>
            </a:r>
            <a:r>
              <a:rPr sz="2400" spc="-10" dirty="0">
                <a:latin typeface="Verdana"/>
                <a:cs typeface="Verdana"/>
              </a:rPr>
              <a:t> is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presented with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them</a:t>
            </a:r>
            <a:endParaRPr sz="24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28775" y="1387855"/>
            <a:ext cx="4127500" cy="605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800" dirty="0"/>
              <a:t>What</a:t>
            </a:r>
            <a:r>
              <a:rPr sz="3800" spc="-65" dirty="0"/>
              <a:t> </a:t>
            </a:r>
            <a:r>
              <a:rPr sz="3800" spc="-5" dirty="0"/>
              <a:t>is</a:t>
            </a:r>
            <a:r>
              <a:rPr sz="3800" spc="-40" dirty="0"/>
              <a:t> </a:t>
            </a:r>
            <a:r>
              <a:rPr sz="3800" dirty="0"/>
              <a:t>Entity?</a:t>
            </a:r>
            <a:endParaRPr sz="38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8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1180591" y="2294634"/>
            <a:ext cx="7767320" cy="4293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2705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Verdana"/>
                <a:cs typeface="Verdana"/>
              </a:rPr>
              <a:t>An </a:t>
            </a:r>
            <a:r>
              <a:rPr sz="2000" b="1" spc="-5" dirty="0">
                <a:latin typeface="Verdana"/>
                <a:cs typeface="Verdana"/>
              </a:rPr>
              <a:t>entity </a:t>
            </a:r>
            <a:r>
              <a:rPr sz="2000" spc="-5" dirty="0">
                <a:latin typeface="Verdana"/>
                <a:cs typeface="Verdana"/>
              </a:rPr>
              <a:t>is as </a:t>
            </a:r>
            <a:r>
              <a:rPr sz="2000" dirty="0">
                <a:latin typeface="Verdana"/>
                <a:cs typeface="Verdana"/>
              </a:rPr>
              <a:t>a thing </a:t>
            </a:r>
            <a:r>
              <a:rPr sz="2000" spc="-5" dirty="0">
                <a:latin typeface="Verdana"/>
                <a:cs typeface="Verdana"/>
              </a:rPr>
              <a:t>which is recognized as being capable </a:t>
            </a:r>
            <a:r>
              <a:rPr sz="2000" spc="-69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for </a:t>
            </a:r>
            <a:r>
              <a:rPr sz="2000" spc="-5" dirty="0">
                <a:latin typeface="Verdana"/>
                <a:cs typeface="Verdana"/>
              </a:rPr>
              <a:t>independent existence </a:t>
            </a:r>
            <a:r>
              <a:rPr sz="2000" dirty="0">
                <a:latin typeface="Verdana"/>
                <a:cs typeface="Verdana"/>
              </a:rPr>
              <a:t>and </a:t>
            </a:r>
            <a:r>
              <a:rPr sz="2000" spc="-5" dirty="0">
                <a:latin typeface="Verdana"/>
                <a:cs typeface="Verdana"/>
              </a:rPr>
              <a:t>which can be uniquely </a:t>
            </a:r>
            <a:r>
              <a:rPr sz="200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identified.</a:t>
            </a:r>
            <a:endParaRPr sz="20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Verdana"/>
                <a:cs typeface="Verdana"/>
              </a:rPr>
              <a:t>Ex.</a:t>
            </a:r>
          </a:p>
          <a:p>
            <a:pPr marL="469265">
              <a:lnSpc>
                <a:spcPct val="100000"/>
              </a:lnSpc>
              <a:tabLst>
                <a:tab pos="2891155" algn="l"/>
              </a:tabLst>
            </a:pPr>
            <a:r>
              <a:rPr sz="2000" spc="-10" dirty="0">
                <a:latin typeface="Verdana"/>
                <a:cs typeface="Verdana"/>
              </a:rPr>
              <a:t>Particular</a:t>
            </a:r>
            <a:r>
              <a:rPr sz="2000" spc="-5" dirty="0">
                <a:latin typeface="Verdana"/>
                <a:cs typeface="Verdana"/>
              </a:rPr>
              <a:t> person,</a:t>
            </a:r>
            <a:r>
              <a:rPr sz="2000" spc="-5" dirty="0">
                <a:latin typeface="Times New Roman"/>
                <a:cs typeface="Times New Roman"/>
              </a:rPr>
              <a:t>	</a:t>
            </a:r>
            <a:r>
              <a:rPr sz="2000" spc="-30" dirty="0">
                <a:latin typeface="Verdana"/>
                <a:cs typeface="Verdana"/>
              </a:rPr>
              <a:t>company,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event</a:t>
            </a:r>
            <a:endParaRPr sz="200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950" dirty="0">
              <a:latin typeface="Verdana"/>
              <a:cs typeface="Verdana"/>
            </a:endParaRPr>
          </a:p>
          <a:p>
            <a:pPr marL="469265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Verdana"/>
                <a:cs typeface="Verdana"/>
              </a:rPr>
              <a:t>An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entity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may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be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a:</a:t>
            </a:r>
            <a:endParaRPr sz="2000" dirty="0">
              <a:latin typeface="Verdana"/>
              <a:cs typeface="Verdana"/>
            </a:endParaRPr>
          </a:p>
          <a:p>
            <a:pPr marL="672465" indent="-203835">
              <a:lnSpc>
                <a:spcPct val="100000"/>
              </a:lnSpc>
              <a:buFont typeface="Verdana"/>
              <a:buChar char="-"/>
              <a:tabLst>
                <a:tab pos="673100" algn="l"/>
              </a:tabLst>
            </a:pPr>
            <a:r>
              <a:rPr sz="2000" b="1" dirty="0">
                <a:latin typeface="Verdana"/>
                <a:cs typeface="Verdana"/>
              </a:rPr>
              <a:t>physical</a:t>
            </a:r>
            <a:r>
              <a:rPr sz="2000" b="1" spc="-20" dirty="0">
                <a:latin typeface="Verdana"/>
                <a:cs typeface="Verdana"/>
              </a:rPr>
              <a:t> </a:t>
            </a:r>
            <a:r>
              <a:rPr sz="2000" b="1" dirty="0">
                <a:latin typeface="Verdana"/>
                <a:cs typeface="Verdana"/>
              </a:rPr>
              <a:t>object</a:t>
            </a:r>
            <a:r>
              <a:rPr sz="2000" b="1" spc="-2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such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as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-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house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or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spc="-75" dirty="0">
                <a:latin typeface="Verdana"/>
                <a:cs typeface="Verdana"/>
              </a:rPr>
              <a:t>car,</a:t>
            </a:r>
            <a:endParaRPr sz="2000" dirty="0">
              <a:latin typeface="Verdana"/>
              <a:cs typeface="Verdana"/>
            </a:endParaRPr>
          </a:p>
          <a:p>
            <a:pPr marL="672465" indent="-203835">
              <a:lnSpc>
                <a:spcPct val="100000"/>
              </a:lnSpc>
              <a:buFont typeface="Verdana"/>
              <a:buChar char="-"/>
              <a:tabLst>
                <a:tab pos="673100" algn="l"/>
              </a:tabLst>
            </a:pPr>
            <a:r>
              <a:rPr sz="2000" b="1" dirty="0">
                <a:latin typeface="Verdana"/>
                <a:cs typeface="Verdana"/>
              </a:rPr>
              <a:t>event</a:t>
            </a:r>
            <a:r>
              <a:rPr sz="2000" b="1" spc="-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such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as 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house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sale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or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 </a:t>
            </a:r>
            <a:r>
              <a:rPr sz="2000" spc="-5" dirty="0">
                <a:latin typeface="Verdana"/>
                <a:cs typeface="Verdana"/>
              </a:rPr>
              <a:t>car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service,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or</a:t>
            </a:r>
            <a:endParaRPr sz="2000" dirty="0">
              <a:latin typeface="Verdana"/>
              <a:cs typeface="Verdana"/>
            </a:endParaRPr>
          </a:p>
          <a:p>
            <a:pPr marL="672465" indent="-203835">
              <a:lnSpc>
                <a:spcPct val="100000"/>
              </a:lnSpc>
              <a:buFont typeface="Verdana"/>
              <a:buChar char="-"/>
              <a:tabLst>
                <a:tab pos="673100" algn="l"/>
              </a:tabLst>
            </a:pPr>
            <a:r>
              <a:rPr sz="2000" b="1" dirty="0">
                <a:latin typeface="Verdana"/>
                <a:cs typeface="Verdana"/>
              </a:rPr>
              <a:t>concept</a:t>
            </a:r>
            <a:r>
              <a:rPr sz="2000" b="1" spc="-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such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as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-5" dirty="0">
                <a:latin typeface="Verdana"/>
                <a:cs typeface="Verdana"/>
              </a:rPr>
              <a:t> customer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transaction,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school,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spc="-55" dirty="0">
                <a:latin typeface="Verdana"/>
                <a:cs typeface="Verdana"/>
              </a:rPr>
              <a:t>order.</a:t>
            </a:r>
            <a:endParaRPr sz="200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95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spc="-5" dirty="0">
                <a:latin typeface="Verdana"/>
                <a:cs typeface="Verdana"/>
              </a:rPr>
              <a:t>Entities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can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be </a:t>
            </a:r>
            <a:r>
              <a:rPr sz="2000" dirty="0">
                <a:latin typeface="Verdana"/>
                <a:cs typeface="Verdana"/>
              </a:rPr>
              <a:t>thought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of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as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b="1" dirty="0">
                <a:latin typeface="Verdana"/>
                <a:cs typeface="Verdana"/>
              </a:rPr>
              <a:t>nouns</a:t>
            </a:r>
            <a:r>
              <a:rPr sz="2000" dirty="0">
                <a:latin typeface="Verdana"/>
                <a:cs typeface="Verdana"/>
              </a:rPr>
              <a:t>.</a:t>
            </a:r>
          </a:p>
          <a:p>
            <a:pPr marL="12700" marR="840105">
              <a:lnSpc>
                <a:spcPct val="100000"/>
              </a:lnSpc>
            </a:pPr>
            <a:r>
              <a:rPr sz="2000" dirty="0">
                <a:latin typeface="Verdana"/>
                <a:cs typeface="Verdana"/>
              </a:rPr>
              <a:t>Ex. a </a:t>
            </a:r>
            <a:r>
              <a:rPr sz="2000" spc="-35" dirty="0">
                <a:latin typeface="Verdana"/>
                <a:cs typeface="Verdana"/>
              </a:rPr>
              <a:t>computer, </a:t>
            </a:r>
            <a:r>
              <a:rPr sz="2000" dirty="0">
                <a:latin typeface="Verdana"/>
                <a:cs typeface="Verdana"/>
              </a:rPr>
              <a:t>an </a:t>
            </a:r>
            <a:r>
              <a:rPr sz="2000" spc="-10" dirty="0">
                <a:latin typeface="Verdana"/>
                <a:cs typeface="Verdana"/>
              </a:rPr>
              <a:t>employee, </a:t>
            </a:r>
            <a:r>
              <a:rPr sz="2000" dirty="0">
                <a:latin typeface="Verdana"/>
                <a:cs typeface="Verdana"/>
              </a:rPr>
              <a:t>a </a:t>
            </a:r>
            <a:r>
              <a:rPr sz="2000" spc="-5" dirty="0">
                <a:latin typeface="Verdana"/>
                <a:cs typeface="Verdana"/>
              </a:rPr>
              <a:t>song, </a:t>
            </a:r>
            <a:r>
              <a:rPr sz="2000" dirty="0">
                <a:latin typeface="Verdana"/>
                <a:cs typeface="Verdana"/>
              </a:rPr>
              <a:t>a </a:t>
            </a:r>
            <a:r>
              <a:rPr sz="2000" spc="-5" dirty="0">
                <a:latin typeface="Verdana"/>
                <a:cs typeface="Verdana"/>
              </a:rPr>
              <a:t>mathematical </a:t>
            </a:r>
            <a:r>
              <a:rPr sz="2000" spc="-69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theorem.</a:t>
            </a:r>
            <a:endParaRPr sz="20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12011" y="1336039"/>
            <a:ext cx="3373120" cy="605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800" dirty="0"/>
              <a:t>Entity</a:t>
            </a:r>
            <a:r>
              <a:rPr sz="3800" spc="-55" dirty="0"/>
              <a:t> </a:t>
            </a:r>
            <a:r>
              <a:rPr sz="3800" dirty="0"/>
              <a:t>-</a:t>
            </a:r>
            <a:r>
              <a:rPr sz="3800" spc="-40" dirty="0"/>
              <a:t> </a:t>
            </a:r>
            <a:r>
              <a:rPr sz="3800" dirty="0"/>
              <a:t>type</a:t>
            </a:r>
            <a:endParaRPr sz="38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9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1108963" y="2113279"/>
            <a:ext cx="8217534" cy="45612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An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entity,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instance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of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given </a:t>
            </a:r>
            <a:r>
              <a:rPr sz="2400" b="1" spc="-5" dirty="0">
                <a:latin typeface="Calibri"/>
                <a:cs typeface="Calibri"/>
              </a:rPr>
              <a:t>entity-type.</a:t>
            </a:r>
            <a:endParaRPr sz="2400">
              <a:latin typeface="Calibri"/>
              <a:cs typeface="Calibri"/>
            </a:endParaRPr>
          </a:p>
          <a:p>
            <a:pPr marL="12700" marR="63500">
              <a:lnSpc>
                <a:spcPct val="240000"/>
              </a:lnSpc>
            </a:pPr>
            <a:r>
              <a:rPr sz="2400" b="1" spc="-5" dirty="0">
                <a:latin typeface="Calibri"/>
                <a:cs typeface="Calibri"/>
              </a:rPr>
              <a:t>Entity -type </a:t>
            </a:r>
            <a:r>
              <a:rPr sz="2400" dirty="0">
                <a:latin typeface="Calibri"/>
                <a:cs typeface="Calibri"/>
              </a:rPr>
              <a:t>is a set </a:t>
            </a:r>
            <a:r>
              <a:rPr sz="2400" spc="-5" dirty="0">
                <a:latin typeface="Calibri"/>
                <a:cs typeface="Calibri"/>
              </a:rPr>
              <a:t>of </a:t>
            </a:r>
            <a:r>
              <a:rPr sz="2400" dirty="0">
                <a:latin typeface="Calibri"/>
                <a:cs typeface="Calibri"/>
              </a:rPr>
              <a:t>entities that </a:t>
            </a:r>
            <a:r>
              <a:rPr sz="2400" spc="-5" dirty="0">
                <a:latin typeface="Calibri"/>
                <a:cs typeface="Calibri"/>
              </a:rPr>
              <a:t>share common characteristics.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Ex:</a:t>
            </a:r>
            <a:endParaRPr sz="2400">
              <a:latin typeface="Calibri"/>
              <a:cs typeface="Calibri"/>
            </a:endParaRPr>
          </a:p>
          <a:p>
            <a:pPr marL="920750" marR="1167130" indent="-437515">
              <a:lnSpc>
                <a:spcPct val="100000"/>
              </a:lnSpc>
              <a:spcBef>
                <a:spcPts val="575"/>
              </a:spcBef>
            </a:pPr>
            <a:r>
              <a:rPr sz="2400" dirty="0">
                <a:latin typeface="Calibri"/>
                <a:cs typeface="Calibri"/>
              </a:rPr>
              <a:t>Set </a:t>
            </a:r>
            <a:r>
              <a:rPr sz="2400" spc="-5" dirty="0">
                <a:latin typeface="Calibri"/>
                <a:cs typeface="Calibri"/>
              </a:rPr>
              <a:t>of many people, companies, </a:t>
            </a:r>
            <a:r>
              <a:rPr sz="2400" dirty="0">
                <a:latin typeface="Calibri"/>
                <a:cs typeface="Calibri"/>
              </a:rPr>
              <a:t>trees, </a:t>
            </a:r>
            <a:r>
              <a:rPr sz="2400" spc="-5" dirty="0">
                <a:latin typeface="Calibri"/>
                <a:cs typeface="Calibri"/>
              </a:rPr>
              <a:t>festivals, bank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transactions,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countries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etc.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3300">
              <a:latin typeface="Calibri"/>
              <a:cs typeface="Calibri"/>
            </a:endParaRPr>
          </a:p>
          <a:p>
            <a:pPr marL="920750" marR="5080" indent="-437515">
              <a:lnSpc>
                <a:spcPct val="100000"/>
              </a:lnSpc>
              <a:spcBef>
                <a:spcPts val="5"/>
              </a:spcBef>
            </a:pP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Note:</a:t>
            </a:r>
            <a:r>
              <a:rPr sz="2400" b="1" spc="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Because</a:t>
            </a:r>
            <a:r>
              <a:rPr sz="2400" spc="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term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entity-type</a:t>
            </a:r>
            <a:r>
              <a:rPr sz="2400" spc="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somewhat 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cumbersome, most people tend </a:t>
            </a:r>
            <a:r>
              <a:rPr sz="2400" dirty="0">
                <a:latin typeface="Calibri"/>
                <a:cs typeface="Calibri"/>
              </a:rPr>
              <a:t>to </a:t>
            </a:r>
            <a:r>
              <a:rPr sz="2400" spc="-5" dirty="0">
                <a:latin typeface="Calibri"/>
                <a:cs typeface="Calibri"/>
              </a:rPr>
              <a:t>use </a:t>
            </a:r>
            <a:r>
              <a:rPr sz="2400" dirty="0">
                <a:latin typeface="Calibri"/>
                <a:cs typeface="Calibri"/>
              </a:rPr>
              <a:t>the term </a:t>
            </a:r>
            <a:r>
              <a:rPr sz="2400" spc="-5" dirty="0">
                <a:latin typeface="Calibri"/>
                <a:cs typeface="Calibri"/>
              </a:rPr>
              <a:t>entity </a:t>
            </a:r>
            <a:r>
              <a:rPr sz="2400" dirty="0">
                <a:latin typeface="Calibri"/>
                <a:cs typeface="Calibri"/>
              </a:rPr>
              <a:t>as a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synonym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for </a:t>
            </a:r>
            <a:r>
              <a:rPr sz="2400" dirty="0">
                <a:latin typeface="Calibri"/>
                <a:cs typeface="Calibri"/>
              </a:rPr>
              <a:t>this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term.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7731" y="1400047"/>
            <a:ext cx="4371975" cy="605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800" dirty="0"/>
              <a:t>Entity</a:t>
            </a:r>
            <a:r>
              <a:rPr sz="3800" spc="-85" dirty="0"/>
              <a:t> </a:t>
            </a:r>
            <a:r>
              <a:rPr sz="3800" dirty="0"/>
              <a:t>examples</a:t>
            </a:r>
            <a:endParaRPr sz="3800"/>
          </a:p>
        </p:txBody>
      </p:sp>
      <p:sp>
        <p:nvSpPr>
          <p:cNvPr id="3" name="object 3"/>
          <p:cNvSpPr txBox="1">
            <a:spLocks noGrp="1"/>
          </p:cNvSpPr>
          <p:nvPr>
            <p:ph sz="half" idx="2"/>
          </p:nvPr>
        </p:nvSpPr>
        <p:spPr>
          <a:xfrm>
            <a:off x="1180591" y="2242819"/>
            <a:ext cx="3222625" cy="5023106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443865" indent="-431800">
              <a:lnSpc>
                <a:spcPts val="2880"/>
              </a:lnSpc>
              <a:spcBef>
                <a:spcPts val="100"/>
              </a:spcBef>
              <a:buFont typeface="Arial"/>
              <a:buChar char="•"/>
              <a:tabLst>
                <a:tab pos="444500" algn="l"/>
              </a:tabLst>
            </a:pPr>
            <a:r>
              <a:rPr spc="-5" dirty="0"/>
              <a:t>Physical</a:t>
            </a:r>
            <a:r>
              <a:rPr spc="-25" dirty="0"/>
              <a:t> </a:t>
            </a:r>
            <a:r>
              <a:rPr spc="-5" dirty="0"/>
              <a:t>objects</a:t>
            </a:r>
            <a:endParaRPr lang="en-US" dirty="0"/>
          </a:p>
          <a:p>
            <a:pPr marL="812165" indent="-342900">
              <a:lnSpc>
                <a:spcPts val="2640"/>
              </a:lnSpc>
              <a:buFont typeface="Arial"/>
              <a:buChar char="•"/>
            </a:pPr>
            <a:r>
              <a:rPr sz="2200" b="0" spc="-5" dirty="0">
                <a:latin typeface="Verdana"/>
                <a:cs typeface="Verdana"/>
              </a:rPr>
              <a:t>Client</a:t>
            </a:r>
            <a:endParaRPr sz="2200" dirty="0">
              <a:latin typeface="Verdana"/>
              <a:ea typeface="Verdana"/>
              <a:cs typeface="Verdana"/>
            </a:endParaRPr>
          </a:p>
          <a:p>
            <a:pPr marL="812165" indent="-342900">
              <a:lnSpc>
                <a:spcPct val="100000"/>
              </a:lnSpc>
              <a:buFont typeface="Arial"/>
              <a:buChar char="•"/>
            </a:pPr>
            <a:r>
              <a:rPr sz="2200" b="0" spc="-10" dirty="0">
                <a:latin typeface="Verdana"/>
                <a:cs typeface="Verdana"/>
              </a:rPr>
              <a:t>Store</a:t>
            </a:r>
            <a:endParaRPr sz="2200" dirty="0">
              <a:latin typeface="Verdana"/>
              <a:ea typeface="Verdana"/>
              <a:cs typeface="Verdana"/>
            </a:endParaRPr>
          </a:p>
          <a:p>
            <a:pPr marL="812165" indent="-342900">
              <a:lnSpc>
                <a:spcPct val="100000"/>
              </a:lnSpc>
              <a:buFont typeface="Arial"/>
              <a:buChar char="•"/>
            </a:pPr>
            <a:r>
              <a:rPr sz="2200" b="0" spc="-10" dirty="0">
                <a:latin typeface="Verdana"/>
                <a:cs typeface="Verdana"/>
              </a:rPr>
              <a:t>Employee</a:t>
            </a:r>
            <a:endParaRPr sz="2200" dirty="0">
              <a:latin typeface="Verdana"/>
              <a:ea typeface="Verdana"/>
              <a:cs typeface="Verdana"/>
            </a:endParaRPr>
          </a:p>
          <a:p>
            <a:pPr marL="812165" indent="-342900">
              <a:lnSpc>
                <a:spcPct val="100000"/>
              </a:lnSpc>
              <a:buFont typeface="Arial"/>
              <a:buChar char="•"/>
            </a:pPr>
            <a:r>
              <a:rPr sz="2200" b="0" spc="-5" dirty="0">
                <a:latin typeface="Verdana"/>
                <a:cs typeface="Verdana"/>
              </a:rPr>
              <a:t>Video</a:t>
            </a:r>
            <a:r>
              <a:rPr sz="2200" b="0" spc="-45" dirty="0">
                <a:latin typeface="Verdana"/>
                <a:cs typeface="Verdana"/>
              </a:rPr>
              <a:t> </a:t>
            </a:r>
            <a:r>
              <a:rPr sz="2200" b="0" spc="-70" dirty="0">
                <a:latin typeface="Verdana"/>
                <a:cs typeface="Verdana"/>
              </a:rPr>
              <a:t>Tape</a:t>
            </a:r>
            <a:endParaRPr sz="2200" dirty="0">
              <a:latin typeface="Verdana"/>
              <a:ea typeface="Verdana"/>
              <a:cs typeface="Verdana"/>
            </a:endParaRPr>
          </a:p>
          <a:p>
            <a:pPr marL="443865" indent="-431800">
              <a:lnSpc>
                <a:spcPts val="2875"/>
              </a:lnSpc>
              <a:spcBef>
                <a:spcPts val="1200"/>
              </a:spcBef>
              <a:buFont typeface="Arial"/>
              <a:buChar char="•"/>
              <a:tabLst>
                <a:tab pos="444500" algn="l"/>
              </a:tabLst>
            </a:pPr>
            <a:r>
              <a:rPr spc="-5" dirty="0"/>
              <a:t>Abstract</a:t>
            </a:r>
            <a:endParaRPr spc="-5" dirty="0">
              <a:ea typeface="Verdana"/>
            </a:endParaRPr>
          </a:p>
          <a:p>
            <a:pPr marL="812165" indent="-342900">
              <a:lnSpc>
                <a:spcPts val="2395"/>
              </a:lnSpc>
              <a:buFont typeface="Arial"/>
              <a:buChar char="•"/>
            </a:pPr>
            <a:r>
              <a:rPr sz="2000" b="0" spc="-5" dirty="0">
                <a:latin typeface="Verdana"/>
                <a:cs typeface="Verdana"/>
              </a:rPr>
              <a:t>School</a:t>
            </a:r>
            <a:endParaRPr sz="2000" dirty="0">
              <a:latin typeface="Verdana"/>
              <a:ea typeface="Verdana"/>
              <a:cs typeface="Verdana"/>
            </a:endParaRPr>
          </a:p>
          <a:p>
            <a:pPr marL="812165" indent="-342900">
              <a:buFont typeface="Arial"/>
              <a:buChar char="•"/>
            </a:pPr>
            <a:r>
              <a:rPr lang="en-US" sz="2000" b="0" spc="-5" dirty="0"/>
              <a:t>Subject</a:t>
            </a:r>
            <a:endParaRPr lang="en-US" sz="2000" b="0" spc="-5" dirty="0">
              <a:ea typeface="Verdana"/>
            </a:endParaRPr>
          </a:p>
          <a:p>
            <a:pPr marL="342900" indent="-342900">
              <a:buFont typeface="Arial"/>
              <a:buChar char="•"/>
            </a:pPr>
            <a:endParaRPr lang="en-US" spc="-5" dirty="0">
              <a:ea typeface="Verdana"/>
            </a:endParaRPr>
          </a:p>
          <a:p>
            <a:pPr marL="342900" indent="-342900">
              <a:buFont typeface="Arial"/>
              <a:buChar char="•"/>
            </a:pPr>
            <a:r>
              <a:rPr lang="en-US" spc="-5" dirty="0">
                <a:ea typeface="Verdana"/>
              </a:rPr>
              <a:t>Event</a:t>
            </a:r>
            <a:endParaRPr lang="en-US" b="0" spc="-5" dirty="0">
              <a:ea typeface="Verdana"/>
            </a:endParaRPr>
          </a:p>
          <a:p>
            <a:pPr marL="342900" indent="-342900">
              <a:buFont typeface="Arial"/>
              <a:buChar char="•"/>
            </a:pPr>
            <a:r>
              <a:rPr lang="en-US" sz="2000" b="0" spc="-5" dirty="0">
                <a:ea typeface="Verdana"/>
              </a:rPr>
              <a:t>Exam</a:t>
            </a:r>
          </a:p>
          <a:p>
            <a:pPr marL="342900" indent="-342900">
              <a:buFont typeface="Arial"/>
              <a:buChar char="•"/>
            </a:pPr>
            <a:r>
              <a:rPr lang="en-US" sz="2000" b="0" spc="-5" dirty="0">
                <a:ea typeface="Verdana"/>
              </a:rPr>
              <a:t>Rent-a-tape</a:t>
            </a:r>
          </a:p>
          <a:p>
            <a:pPr marL="342900" indent="-342900">
              <a:buFont typeface="Arial"/>
              <a:buChar char="•"/>
            </a:pPr>
            <a:r>
              <a:rPr lang="en-US" sz="2000" b="0" spc="-5" dirty="0">
                <a:ea typeface="Verdana"/>
              </a:rPr>
              <a:t>Purchase</a:t>
            </a:r>
          </a:p>
          <a:p>
            <a:pPr marL="443865" indent="-431800">
              <a:lnSpc>
                <a:spcPts val="2875"/>
              </a:lnSpc>
              <a:spcBef>
                <a:spcPts val="1200"/>
              </a:spcBef>
              <a:buFont typeface="Arial"/>
              <a:buChar char="•"/>
            </a:pPr>
            <a:endParaRPr lang="en-US" sz="2000" b="0" spc="-5" dirty="0">
              <a:ea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586983" y="2100072"/>
            <a:ext cx="100965" cy="4502150"/>
          </a:xfrm>
          <a:custGeom>
            <a:avLst/>
            <a:gdLst/>
            <a:ahLst/>
            <a:cxnLst/>
            <a:rect l="l" t="t" r="r" b="b"/>
            <a:pathLst>
              <a:path w="100964" h="4502150">
                <a:moveTo>
                  <a:pt x="100583" y="4501895"/>
                </a:moveTo>
                <a:lnTo>
                  <a:pt x="28955" y="0"/>
                </a:lnTo>
                <a:lnTo>
                  <a:pt x="0" y="1523"/>
                </a:lnTo>
                <a:lnTo>
                  <a:pt x="71627" y="4501895"/>
                </a:lnTo>
                <a:lnTo>
                  <a:pt x="100583" y="450189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037577" y="2022605"/>
            <a:ext cx="2900680" cy="2047239"/>
          </a:xfrm>
          <a:prstGeom prst="rect">
            <a:avLst/>
          </a:prstGeom>
        </p:spPr>
        <p:txBody>
          <a:bodyPr vert="horz" wrap="square" lIns="0" tIns="307975" rIns="0" bIns="0" rtlCol="0" anchor="t">
            <a:spAutoFit/>
          </a:bodyPr>
          <a:lstStyle/>
          <a:p>
            <a:pPr marL="226695">
              <a:lnSpc>
                <a:spcPct val="100000"/>
              </a:lnSpc>
              <a:spcBef>
                <a:spcPts val="2425"/>
              </a:spcBef>
            </a:pPr>
            <a:r>
              <a:rPr lang="en-US" sz="3800" b="1" spc="-60" dirty="0">
                <a:latin typeface="Verdana"/>
                <a:cs typeface="Verdana"/>
              </a:rPr>
              <a:t>Task</a:t>
            </a:r>
            <a:r>
              <a:rPr sz="3800" b="1" spc="-60" dirty="0">
                <a:latin typeface="Verdana"/>
                <a:cs typeface="Verdana"/>
              </a:rPr>
              <a:t> </a:t>
            </a:r>
            <a:r>
              <a:rPr sz="3800" b="1" spc="-5" dirty="0">
                <a:latin typeface="Verdana"/>
                <a:cs typeface="Verdana"/>
              </a:rPr>
              <a:t>1:</a:t>
            </a:r>
            <a:endParaRPr lang="en-US" sz="3800">
              <a:latin typeface="Verdana"/>
              <a:ea typeface="Verdana"/>
              <a:cs typeface="Verdana"/>
            </a:endParaRPr>
          </a:p>
          <a:p>
            <a:pPr marL="12700" marR="5080">
              <a:lnSpc>
                <a:spcPct val="100000"/>
              </a:lnSpc>
              <a:spcBef>
                <a:spcPts val="1830"/>
              </a:spcBef>
            </a:pPr>
            <a:r>
              <a:rPr sz="3000" b="1" spc="-5" dirty="0">
                <a:latin typeface="Verdana"/>
                <a:cs typeface="Verdana"/>
              </a:rPr>
              <a:t>Write</a:t>
            </a:r>
            <a:r>
              <a:rPr sz="3000" b="1" spc="-45" dirty="0">
                <a:latin typeface="Verdana"/>
                <a:cs typeface="Verdana"/>
              </a:rPr>
              <a:t> </a:t>
            </a:r>
            <a:r>
              <a:rPr sz="3000" b="1" dirty="0">
                <a:latin typeface="Verdana"/>
                <a:cs typeface="Verdana"/>
              </a:rPr>
              <a:t>3</a:t>
            </a:r>
            <a:r>
              <a:rPr sz="3000" b="1" spc="-30" dirty="0">
                <a:latin typeface="Verdana"/>
                <a:cs typeface="Verdana"/>
              </a:rPr>
              <a:t> </a:t>
            </a:r>
            <a:r>
              <a:rPr sz="3000" b="1" spc="-5" dirty="0">
                <a:latin typeface="Verdana"/>
                <a:cs typeface="Verdana"/>
              </a:rPr>
              <a:t>types </a:t>
            </a:r>
            <a:r>
              <a:rPr sz="3000" b="1" spc="-1010" dirty="0">
                <a:latin typeface="Verdana"/>
                <a:cs typeface="Verdana"/>
              </a:rPr>
              <a:t> </a:t>
            </a:r>
            <a:r>
              <a:rPr sz="3000" b="1" dirty="0">
                <a:latin typeface="Verdana"/>
                <a:cs typeface="Verdana"/>
              </a:rPr>
              <a:t>of</a:t>
            </a:r>
            <a:r>
              <a:rPr sz="3000" b="1" spc="-35" dirty="0">
                <a:latin typeface="Verdana"/>
                <a:cs typeface="Verdana"/>
              </a:rPr>
              <a:t> </a:t>
            </a:r>
            <a:r>
              <a:rPr sz="3000" b="1" spc="-5" dirty="0">
                <a:latin typeface="Verdana"/>
                <a:cs typeface="Verdana"/>
              </a:rPr>
              <a:t>entities.</a:t>
            </a:r>
            <a:endParaRPr sz="3000">
              <a:latin typeface="Verdana"/>
              <a:cs typeface="Verdan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10</a:t>
            </a:fld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7731" y="1364995"/>
            <a:ext cx="469011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Entity</a:t>
            </a:r>
            <a:r>
              <a:rPr spc="-65" dirty="0"/>
              <a:t> </a:t>
            </a:r>
            <a:r>
              <a:rPr spc="-5" dirty="0"/>
              <a:t>attributes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65707" y="2093467"/>
            <a:ext cx="8292465" cy="41706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buClr>
                <a:srgbClr val="B80000"/>
              </a:buClr>
              <a:buFont typeface="Wingdings"/>
              <a:buChar char=""/>
              <a:tabLst>
                <a:tab pos="353060" algn="l"/>
              </a:tabLst>
            </a:pPr>
            <a:r>
              <a:rPr sz="2400" spc="-5" dirty="0">
                <a:latin typeface="Calibri"/>
                <a:cs typeface="Calibri"/>
              </a:rPr>
              <a:t>One entity </a:t>
            </a:r>
            <a:r>
              <a:rPr sz="2400" dirty="0">
                <a:latin typeface="Calibri"/>
                <a:cs typeface="Calibri"/>
              </a:rPr>
              <a:t>is </a:t>
            </a:r>
            <a:r>
              <a:rPr sz="2400" spc="-10" dirty="0">
                <a:latin typeface="Calibri"/>
                <a:cs typeface="Calibri"/>
              </a:rPr>
              <a:t>represented </a:t>
            </a:r>
            <a:r>
              <a:rPr sz="2400" dirty="0">
                <a:latin typeface="Calibri"/>
                <a:cs typeface="Calibri"/>
              </a:rPr>
              <a:t>with </a:t>
            </a:r>
            <a:r>
              <a:rPr sz="2400" b="1" spc="-5" dirty="0">
                <a:latin typeface="Calibri"/>
                <a:cs typeface="Calibri"/>
              </a:rPr>
              <a:t>set </a:t>
            </a:r>
            <a:r>
              <a:rPr sz="2400" b="1" dirty="0">
                <a:latin typeface="Calibri"/>
                <a:cs typeface="Calibri"/>
              </a:rPr>
              <a:t>of </a:t>
            </a:r>
            <a:r>
              <a:rPr sz="2400" b="1" spc="-10" dirty="0">
                <a:latin typeface="Calibri"/>
                <a:cs typeface="Calibri"/>
              </a:rPr>
              <a:t>attributes</a:t>
            </a:r>
            <a:r>
              <a:rPr sz="2400" spc="-10" dirty="0">
                <a:latin typeface="Calibri"/>
                <a:cs typeface="Calibri"/>
              </a:rPr>
              <a:t>. </a:t>
            </a:r>
            <a:r>
              <a:rPr sz="2400" spc="-15" dirty="0">
                <a:latin typeface="Calibri"/>
                <a:cs typeface="Calibri"/>
              </a:rPr>
              <a:t>Attributes are 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descriptive </a:t>
            </a:r>
            <a:r>
              <a:rPr sz="2400" spc="-10" dirty="0">
                <a:latin typeface="Calibri"/>
                <a:cs typeface="Calibri"/>
              </a:rPr>
              <a:t>characteristics that </a:t>
            </a:r>
            <a:r>
              <a:rPr sz="2400" spc="-15" dirty="0">
                <a:latin typeface="Calibri"/>
                <a:cs typeface="Calibri"/>
              </a:rPr>
              <a:t>are </a:t>
            </a:r>
            <a:r>
              <a:rPr sz="2400" spc="-5" dirty="0">
                <a:latin typeface="Calibri"/>
                <a:cs typeface="Calibri"/>
              </a:rPr>
              <a:t>part of </a:t>
            </a:r>
            <a:r>
              <a:rPr sz="2400" dirty="0">
                <a:latin typeface="Calibri"/>
                <a:cs typeface="Calibri"/>
              </a:rPr>
              <a:t>all </a:t>
            </a:r>
            <a:r>
              <a:rPr sz="2400" spc="-5" dirty="0">
                <a:latin typeface="Calibri"/>
                <a:cs typeface="Calibri"/>
              </a:rPr>
              <a:t>entity members. </a:t>
            </a:r>
            <a:r>
              <a:rPr sz="2400" spc="-10" dirty="0">
                <a:latin typeface="Calibri"/>
                <a:cs typeface="Calibri"/>
              </a:rPr>
              <a:t>They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can </a:t>
            </a:r>
            <a:r>
              <a:rPr sz="2400" spc="-20" dirty="0">
                <a:latin typeface="Calibri"/>
                <a:cs typeface="Calibri"/>
              </a:rPr>
              <a:t>have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same,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similar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or </a:t>
            </a:r>
            <a:r>
              <a:rPr sz="2400" spc="-20" dirty="0">
                <a:latin typeface="Calibri"/>
                <a:cs typeface="Calibri"/>
              </a:rPr>
              <a:t>different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values.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Calibri"/>
                <a:cs typeface="Calibri"/>
              </a:rPr>
              <a:t>Ex:</a:t>
            </a:r>
            <a:endParaRPr sz="2400">
              <a:latin typeface="Calibri"/>
              <a:cs typeface="Calibri"/>
            </a:endParaRPr>
          </a:p>
          <a:p>
            <a:pPr marL="809625" lvl="1" indent="-340995">
              <a:lnSpc>
                <a:spcPct val="100000"/>
              </a:lnSpc>
              <a:spcBef>
                <a:spcPts val="155"/>
              </a:spcBef>
              <a:buClr>
                <a:srgbClr val="B80000"/>
              </a:buClr>
              <a:buFont typeface="Wingdings"/>
              <a:buChar char=""/>
              <a:tabLst>
                <a:tab pos="810260" algn="l"/>
              </a:tabLst>
            </a:pPr>
            <a:r>
              <a:rPr sz="2400" spc="-5" dirty="0">
                <a:latin typeface="Calibri"/>
                <a:cs typeface="Calibri"/>
              </a:rPr>
              <a:t>user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(user_name,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social_number, </a:t>
            </a:r>
            <a:r>
              <a:rPr sz="2400" spc="-10" dirty="0">
                <a:latin typeface="Calibri"/>
                <a:cs typeface="Calibri"/>
              </a:rPr>
              <a:t>street,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city)</a:t>
            </a:r>
            <a:endParaRPr sz="2400">
              <a:latin typeface="Calibri"/>
              <a:cs typeface="Calibri"/>
            </a:endParaRPr>
          </a:p>
          <a:p>
            <a:pPr marL="741680" lvl="1" indent="-273050">
              <a:lnSpc>
                <a:spcPct val="100000"/>
              </a:lnSpc>
              <a:spcBef>
                <a:spcPts val="325"/>
              </a:spcBef>
              <a:buClr>
                <a:srgbClr val="B80000"/>
              </a:buClr>
              <a:buFont typeface="Wingdings"/>
              <a:buChar char=""/>
              <a:tabLst>
                <a:tab pos="742315" algn="l"/>
              </a:tabLst>
            </a:pPr>
            <a:r>
              <a:rPr sz="2400" spc="-10" dirty="0">
                <a:latin typeface="Calibri"/>
                <a:cs typeface="Calibri"/>
              </a:rPr>
              <a:t>account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(account_no,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amount)</a:t>
            </a:r>
            <a:endParaRPr sz="24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buClr>
                <a:srgbClr val="B80000"/>
              </a:buClr>
              <a:buFont typeface="Wingdings"/>
              <a:buChar char=""/>
            </a:pPr>
            <a:endParaRPr sz="2750">
              <a:latin typeface="Calibri"/>
              <a:cs typeface="Calibri"/>
            </a:endParaRPr>
          </a:p>
          <a:p>
            <a:pPr marL="352425" indent="-340360">
              <a:lnSpc>
                <a:spcPct val="100000"/>
              </a:lnSpc>
              <a:buClr>
                <a:srgbClr val="B80000"/>
              </a:buClr>
              <a:buFont typeface="Wingdings"/>
              <a:buChar char=""/>
              <a:tabLst>
                <a:tab pos="353060" algn="l"/>
              </a:tabLst>
            </a:pPr>
            <a:r>
              <a:rPr sz="2400" spc="-15" dirty="0">
                <a:latin typeface="Calibri"/>
                <a:cs typeface="Calibri"/>
              </a:rPr>
              <a:t>Attribute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Domain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is set </a:t>
            </a:r>
            <a:r>
              <a:rPr sz="2400" b="1" dirty="0">
                <a:latin typeface="Calibri"/>
                <a:cs typeface="Calibri"/>
              </a:rPr>
              <a:t>of</a:t>
            </a:r>
            <a:r>
              <a:rPr sz="2400" b="1" spc="-10" dirty="0">
                <a:latin typeface="Calibri"/>
                <a:cs typeface="Calibri"/>
              </a:rPr>
              <a:t> available</a:t>
            </a:r>
            <a:r>
              <a:rPr sz="2400" b="1" spc="-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values</a:t>
            </a:r>
            <a:r>
              <a:rPr sz="2400" b="1" dirty="0">
                <a:latin typeface="Calibri"/>
                <a:cs typeface="Calibri"/>
              </a:rPr>
              <a:t> </a:t>
            </a:r>
            <a:r>
              <a:rPr sz="2400" b="1" spc="-15" dirty="0">
                <a:latin typeface="Calibri"/>
                <a:cs typeface="Calibri"/>
              </a:rPr>
              <a:t>for</a:t>
            </a:r>
            <a:r>
              <a:rPr sz="2400" b="1" spc="-10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the </a:t>
            </a:r>
            <a:r>
              <a:rPr sz="2400" b="1" spc="-15" dirty="0">
                <a:latin typeface="Calibri"/>
                <a:cs typeface="Calibri"/>
              </a:rPr>
              <a:t>attribute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Calibri"/>
                <a:cs typeface="Calibri"/>
              </a:rPr>
              <a:t>Ex:</a:t>
            </a:r>
            <a:endParaRPr sz="2400">
              <a:latin typeface="Calibri"/>
              <a:cs typeface="Calibri"/>
            </a:endParaRPr>
          </a:p>
          <a:p>
            <a:pPr marL="809625" lvl="1" indent="-340995">
              <a:lnSpc>
                <a:spcPct val="100000"/>
              </a:lnSpc>
              <a:buClr>
                <a:srgbClr val="B80000"/>
              </a:buClr>
              <a:buFont typeface="Wingdings"/>
              <a:buChar char=""/>
              <a:tabLst>
                <a:tab pos="810260" algn="l"/>
                <a:tab pos="2060575" algn="l"/>
              </a:tabLst>
            </a:pPr>
            <a:r>
              <a:rPr sz="2400" spc="-15" dirty="0">
                <a:latin typeface="Calibri"/>
                <a:cs typeface="Calibri"/>
              </a:rPr>
              <a:t>Attribute</a:t>
            </a:r>
            <a:r>
              <a:rPr sz="2400" spc="-15" dirty="0">
                <a:latin typeface="Times New Roman"/>
                <a:cs typeface="Times New Roman"/>
              </a:rPr>
              <a:t>	</a:t>
            </a:r>
            <a:r>
              <a:rPr sz="2400" spc="-5" dirty="0">
                <a:latin typeface="Calibri"/>
                <a:cs typeface="Calibri"/>
              </a:rPr>
              <a:t>Gender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€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{Male,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Female}</a:t>
            </a:r>
            <a:endParaRPr sz="2400">
              <a:latin typeface="Calibri"/>
              <a:cs typeface="Calibri"/>
            </a:endParaRPr>
          </a:p>
          <a:p>
            <a:pPr marL="809625" lvl="1" indent="-340995">
              <a:lnSpc>
                <a:spcPct val="100000"/>
              </a:lnSpc>
              <a:buClr>
                <a:srgbClr val="B80000"/>
              </a:buClr>
              <a:buFont typeface="Wingdings"/>
              <a:buChar char=""/>
              <a:tabLst>
                <a:tab pos="810260" algn="l"/>
                <a:tab pos="2171700" algn="l"/>
              </a:tabLst>
            </a:pPr>
            <a:r>
              <a:rPr sz="2400" spc="-10" dirty="0">
                <a:latin typeface="Calibri"/>
                <a:cs typeface="Calibri"/>
              </a:rPr>
              <a:t>amount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5" dirty="0">
                <a:latin typeface="Calibri"/>
                <a:cs typeface="Calibri"/>
              </a:rPr>
              <a:t>number</a:t>
            </a:r>
            <a:r>
              <a:rPr sz="2400" spc="-15" dirty="0">
                <a:latin typeface="Calibri"/>
                <a:cs typeface="Calibri"/>
              </a:rPr>
              <a:t> from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(-</a:t>
            </a:r>
            <a:r>
              <a:rPr sz="2400" spc="-25" dirty="0">
                <a:latin typeface="Calibri"/>
                <a:cs typeface="Calibri"/>
              </a:rPr>
              <a:t> infinity,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+infinity)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65707" y="6604505"/>
            <a:ext cx="52228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2425" indent="-340360">
              <a:lnSpc>
                <a:spcPct val="100000"/>
              </a:lnSpc>
              <a:spcBef>
                <a:spcPts val="100"/>
              </a:spcBef>
              <a:buClr>
                <a:srgbClr val="B80000"/>
              </a:buClr>
              <a:buFont typeface="Wingdings"/>
              <a:buChar char=""/>
              <a:tabLst>
                <a:tab pos="353060" algn="l"/>
                <a:tab pos="1771014" algn="l"/>
              </a:tabLst>
            </a:pPr>
            <a:r>
              <a:rPr sz="2400" b="1" spc="-10" dirty="0">
                <a:latin typeface="Calibri"/>
                <a:cs typeface="Calibri"/>
              </a:rPr>
              <a:t>Instance</a:t>
            </a:r>
            <a:r>
              <a:rPr sz="2400" b="1" dirty="0">
                <a:latin typeface="Calibri"/>
                <a:cs typeface="Calibri"/>
              </a:rPr>
              <a:t> =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b="1" dirty="0">
                <a:latin typeface="Calibri"/>
                <a:cs typeface="Calibri"/>
              </a:rPr>
              <a:t>one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value</a:t>
            </a:r>
            <a:r>
              <a:rPr sz="2400" b="1" spc="-1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from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the</a:t>
            </a:r>
            <a:r>
              <a:rPr sz="2400" b="1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domain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692384" y="6734045"/>
            <a:ext cx="2203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5" dirty="0">
                <a:latin typeface="Verdana"/>
                <a:cs typeface="Verdana"/>
              </a:rPr>
              <a:t>1</a:t>
            </a:r>
            <a:r>
              <a:rPr sz="1200" dirty="0">
                <a:latin typeface="Verdana"/>
                <a:cs typeface="Verdana"/>
              </a:rPr>
              <a:t>1</a:t>
            </a:r>
            <a:endParaRPr sz="1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41038" y="1419859"/>
            <a:ext cx="42227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Entity</a:t>
            </a:r>
            <a:r>
              <a:rPr sz="3600" spc="-95" dirty="0"/>
              <a:t> </a:t>
            </a:r>
            <a:r>
              <a:rPr sz="3600" spc="-5" dirty="0"/>
              <a:t>attributes</a:t>
            </a:r>
            <a:endParaRPr sz="3600"/>
          </a:p>
        </p:txBody>
      </p:sp>
      <p:sp>
        <p:nvSpPr>
          <p:cNvPr id="6" name="object 6"/>
          <p:cNvSpPr txBox="1"/>
          <p:nvPr/>
        </p:nvSpPr>
        <p:spPr>
          <a:xfrm>
            <a:off x="8633456" y="6727130"/>
            <a:ext cx="304165" cy="217170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71120">
              <a:lnSpc>
                <a:spcPct val="100000"/>
              </a:lnSpc>
              <a:spcBef>
                <a:spcPts val="155"/>
              </a:spcBef>
            </a:pPr>
            <a:fld id="{81D60167-4931-47E6-BA6A-407CBD079E47}" type="slidenum">
              <a:rPr sz="1200" dirty="0">
                <a:latin typeface="Verdana"/>
                <a:cs typeface="Verdana"/>
              </a:rPr>
              <a:t>12</a:t>
            </a:fld>
            <a:endParaRPr sz="12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08963" y="3045966"/>
            <a:ext cx="32448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5" dirty="0">
                <a:latin typeface="Calibri"/>
                <a:cs typeface="Calibri"/>
              </a:rPr>
              <a:t>E</a:t>
            </a:r>
            <a:r>
              <a:rPr sz="2000" spc="-5" dirty="0">
                <a:latin typeface="Calibri"/>
                <a:cs typeface="Calibri"/>
              </a:rPr>
              <a:t>x</a:t>
            </a:r>
            <a:r>
              <a:rPr sz="2000" dirty="0">
                <a:latin typeface="Calibri"/>
                <a:cs typeface="Calibri"/>
              </a:rPr>
              <a:t>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8963" y="2076703"/>
            <a:ext cx="6656070" cy="1574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indent="-457200">
              <a:lnSpc>
                <a:spcPts val="2745"/>
              </a:lnSpc>
              <a:spcBef>
                <a:spcPts val="100"/>
              </a:spcBef>
              <a:buAutoNum type="arabicPeriod"/>
              <a:tabLst>
                <a:tab pos="469265" algn="l"/>
                <a:tab pos="469900" algn="l"/>
              </a:tabLst>
            </a:pPr>
            <a:r>
              <a:rPr sz="2400" b="1" spc="-15" dirty="0">
                <a:latin typeface="Calibri"/>
                <a:cs typeface="Calibri"/>
              </a:rPr>
              <a:t>By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value</a:t>
            </a:r>
            <a:endParaRPr sz="2400">
              <a:latin typeface="Calibri"/>
              <a:cs typeface="Calibri"/>
            </a:endParaRPr>
          </a:p>
          <a:p>
            <a:pPr marL="624840" lvl="1" indent="-156210">
              <a:lnSpc>
                <a:spcPts val="2485"/>
              </a:lnSpc>
              <a:buChar char="-"/>
              <a:tabLst>
                <a:tab pos="625475" algn="l"/>
              </a:tabLst>
            </a:pPr>
            <a:r>
              <a:rPr sz="2300" spc="-5" dirty="0">
                <a:latin typeface="Calibri"/>
                <a:cs typeface="Calibri"/>
              </a:rPr>
              <a:t>single-valued</a:t>
            </a:r>
            <a:r>
              <a:rPr sz="2300" spc="-1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=</a:t>
            </a:r>
            <a:r>
              <a:rPr sz="2300" spc="1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one </a:t>
            </a:r>
            <a:r>
              <a:rPr sz="2300" spc="-10" dirty="0">
                <a:latin typeface="Calibri"/>
                <a:cs typeface="Calibri"/>
              </a:rPr>
              <a:t>value</a:t>
            </a:r>
            <a:r>
              <a:rPr sz="2300" dirty="0">
                <a:latin typeface="Calibri"/>
                <a:cs typeface="Calibri"/>
              </a:rPr>
              <a:t> </a:t>
            </a:r>
            <a:r>
              <a:rPr sz="2300" spc="-15" dirty="0">
                <a:latin typeface="Calibri"/>
                <a:cs typeface="Calibri"/>
              </a:rPr>
              <a:t>attribute</a:t>
            </a:r>
            <a:endParaRPr sz="2300">
              <a:latin typeface="Calibri"/>
              <a:cs typeface="Calibri"/>
            </a:endParaRPr>
          </a:p>
          <a:p>
            <a:pPr marL="624840" lvl="1" indent="-156210">
              <a:lnSpc>
                <a:spcPts val="2620"/>
              </a:lnSpc>
              <a:buChar char="-"/>
              <a:tabLst>
                <a:tab pos="625475" algn="l"/>
                <a:tab pos="2254250" algn="l"/>
              </a:tabLst>
            </a:pPr>
            <a:r>
              <a:rPr sz="2300" spc="-5" dirty="0">
                <a:latin typeface="Calibri"/>
                <a:cs typeface="Calibri"/>
              </a:rPr>
              <a:t>multi-valued</a:t>
            </a:r>
            <a:r>
              <a:rPr sz="2300" spc="-5" dirty="0">
                <a:latin typeface="Times New Roman"/>
                <a:cs typeface="Times New Roman"/>
              </a:rPr>
              <a:t>	</a:t>
            </a:r>
            <a:r>
              <a:rPr sz="2300" dirty="0">
                <a:latin typeface="Calibri"/>
                <a:cs typeface="Calibri"/>
              </a:rPr>
              <a:t>=</a:t>
            </a:r>
            <a:r>
              <a:rPr sz="2300" spc="10" dirty="0">
                <a:latin typeface="Calibri"/>
                <a:cs typeface="Calibri"/>
              </a:rPr>
              <a:t> </a:t>
            </a:r>
            <a:r>
              <a:rPr sz="2300" spc="-15" dirty="0">
                <a:latin typeface="Calibri"/>
                <a:cs typeface="Calibri"/>
              </a:rPr>
              <a:t>attribute</a:t>
            </a:r>
            <a:r>
              <a:rPr sz="2300" spc="25" dirty="0">
                <a:latin typeface="Calibri"/>
                <a:cs typeface="Calibri"/>
              </a:rPr>
              <a:t> </a:t>
            </a:r>
            <a:r>
              <a:rPr sz="2300" spc="-5" dirty="0">
                <a:latin typeface="Calibri"/>
                <a:cs typeface="Calibri"/>
              </a:rPr>
              <a:t>with</a:t>
            </a:r>
            <a:r>
              <a:rPr sz="2300" spc="5" dirty="0">
                <a:latin typeface="Calibri"/>
                <a:cs typeface="Calibri"/>
              </a:rPr>
              <a:t> </a:t>
            </a:r>
            <a:r>
              <a:rPr sz="2300" spc="-15" dirty="0">
                <a:latin typeface="Calibri"/>
                <a:cs typeface="Calibri"/>
              </a:rPr>
              <a:t>more</a:t>
            </a:r>
            <a:r>
              <a:rPr sz="2300" spc="1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than</a:t>
            </a:r>
            <a:r>
              <a:rPr sz="2300" spc="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one</a:t>
            </a:r>
            <a:r>
              <a:rPr sz="2300" spc="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value</a:t>
            </a:r>
            <a:endParaRPr sz="2300">
              <a:latin typeface="Calibri"/>
              <a:cs typeface="Calibri"/>
            </a:endParaRPr>
          </a:p>
          <a:p>
            <a:pPr marL="469265">
              <a:lnSpc>
                <a:spcPct val="100000"/>
              </a:lnSpc>
              <a:spcBef>
                <a:spcPts val="1939"/>
              </a:spcBef>
              <a:tabLst>
                <a:tab pos="2755265" algn="l"/>
              </a:tabLst>
            </a:pPr>
            <a:r>
              <a:rPr sz="2000" spc="-10" dirty="0">
                <a:latin typeface="Calibri"/>
                <a:cs typeface="Calibri"/>
              </a:rPr>
              <a:t>Course </a:t>
            </a:r>
            <a:r>
              <a:rPr sz="2000" dirty="0">
                <a:latin typeface="Calibri"/>
                <a:cs typeface="Calibri"/>
              </a:rPr>
              <a:t>name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5" dirty="0">
                <a:latin typeface="Calibri"/>
                <a:cs typeface="Calibri"/>
              </a:rPr>
              <a:t>Lectures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in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course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08963" y="3859782"/>
            <a:ext cx="6997700" cy="28060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>
              <a:lnSpc>
                <a:spcPts val="2745"/>
              </a:lnSpc>
              <a:spcBef>
                <a:spcPts val="100"/>
              </a:spcBef>
            </a:pPr>
            <a:r>
              <a:rPr sz="2400" b="1" spc="-5" dirty="0">
                <a:latin typeface="Calibri"/>
                <a:cs typeface="Calibri"/>
              </a:rPr>
              <a:t>2.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spc="-15" dirty="0">
                <a:latin typeface="Calibri"/>
                <a:cs typeface="Calibri"/>
              </a:rPr>
              <a:t>By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complicity</a:t>
            </a:r>
            <a:endParaRPr sz="2400">
              <a:latin typeface="Calibri"/>
              <a:cs typeface="Calibri"/>
            </a:endParaRPr>
          </a:p>
          <a:p>
            <a:pPr marL="469265" indent="-457200">
              <a:lnSpc>
                <a:spcPts val="2485"/>
              </a:lnSpc>
              <a:buChar char="-"/>
              <a:tabLst>
                <a:tab pos="469265" algn="l"/>
                <a:tab pos="469900" algn="l"/>
              </a:tabLst>
            </a:pPr>
            <a:r>
              <a:rPr sz="2300" spc="-5" dirty="0">
                <a:latin typeface="Calibri"/>
                <a:cs typeface="Calibri"/>
              </a:rPr>
              <a:t>Simple</a:t>
            </a:r>
            <a:endParaRPr sz="2300">
              <a:latin typeface="Calibri"/>
              <a:cs typeface="Calibri"/>
            </a:endParaRPr>
          </a:p>
          <a:p>
            <a:pPr marL="469265" indent="-457200">
              <a:lnSpc>
                <a:spcPts val="2515"/>
              </a:lnSpc>
              <a:buChar char="-"/>
              <a:tabLst>
                <a:tab pos="469265" algn="l"/>
                <a:tab pos="469900" algn="l"/>
                <a:tab pos="1876425" algn="l"/>
              </a:tabLst>
            </a:pPr>
            <a:r>
              <a:rPr sz="2300" spc="-5" dirty="0">
                <a:latin typeface="Calibri"/>
                <a:cs typeface="Calibri"/>
              </a:rPr>
              <a:t>Composite</a:t>
            </a:r>
            <a:r>
              <a:rPr sz="2300" spc="-5" dirty="0">
                <a:latin typeface="Times New Roman"/>
                <a:cs typeface="Times New Roman"/>
              </a:rPr>
              <a:t>	</a:t>
            </a:r>
            <a:r>
              <a:rPr sz="2300" spc="-5" dirty="0">
                <a:latin typeface="Calibri"/>
                <a:cs typeface="Calibri"/>
              </a:rPr>
              <a:t>(values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from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spc="-15" dirty="0">
                <a:latin typeface="Calibri"/>
                <a:cs typeface="Calibri"/>
              </a:rPr>
              <a:t>different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types)</a:t>
            </a:r>
            <a:endParaRPr sz="2300">
              <a:latin typeface="Calibri"/>
              <a:cs typeface="Calibri"/>
            </a:endParaRPr>
          </a:p>
          <a:p>
            <a:pPr marL="469265">
              <a:lnSpc>
                <a:spcPts val="2170"/>
              </a:lnSpc>
            </a:pPr>
            <a:r>
              <a:rPr sz="2000" dirty="0">
                <a:latin typeface="Calibri"/>
                <a:cs typeface="Calibri"/>
              </a:rPr>
              <a:t>Ex.</a:t>
            </a:r>
            <a:endParaRPr sz="2000">
              <a:latin typeface="Calibri"/>
              <a:cs typeface="Calibri"/>
            </a:endParaRPr>
          </a:p>
          <a:p>
            <a:pPr marL="469265">
              <a:lnSpc>
                <a:spcPts val="2280"/>
              </a:lnSpc>
              <a:tabLst>
                <a:tab pos="3669665" algn="l"/>
              </a:tabLst>
            </a:pPr>
            <a:r>
              <a:rPr sz="2000" spc="-5" dirty="0">
                <a:latin typeface="Calibri"/>
                <a:cs typeface="Calibri"/>
              </a:rPr>
              <a:t>ID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number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5" dirty="0">
                <a:latin typeface="Calibri"/>
                <a:cs typeface="Calibri"/>
              </a:rPr>
              <a:t>Address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(Street,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30" dirty="0">
                <a:latin typeface="Calibri"/>
                <a:cs typeface="Calibri"/>
              </a:rPr>
              <a:t>City, </a:t>
            </a:r>
            <a:r>
              <a:rPr sz="2000" spc="-20" dirty="0">
                <a:latin typeface="Calibri"/>
                <a:cs typeface="Calibri"/>
              </a:rPr>
              <a:t>Post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Code)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500">
              <a:latin typeface="Calibri"/>
              <a:cs typeface="Calibri"/>
            </a:endParaRPr>
          </a:p>
          <a:p>
            <a:pPr marL="469265">
              <a:lnSpc>
                <a:spcPts val="2745"/>
              </a:lnSpc>
              <a:tabLst>
                <a:tab pos="926465" algn="l"/>
              </a:tabLst>
            </a:pPr>
            <a:r>
              <a:rPr sz="2400" b="1" spc="-5" dirty="0">
                <a:latin typeface="Calibri"/>
                <a:cs typeface="Calibri"/>
              </a:rPr>
              <a:t>3.</a:t>
            </a:r>
            <a:r>
              <a:rPr sz="2400" spc="-5" dirty="0">
                <a:latin typeface="Times New Roman"/>
                <a:cs typeface="Times New Roman"/>
              </a:rPr>
              <a:t>	</a:t>
            </a:r>
            <a:r>
              <a:rPr sz="2400" b="1" spc="-15" dirty="0">
                <a:latin typeface="Calibri"/>
                <a:cs typeface="Calibri"/>
              </a:rPr>
              <a:t>By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compulsority</a:t>
            </a:r>
            <a:endParaRPr sz="2400">
              <a:latin typeface="Calibri"/>
              <a:cs typeface="Calibri"/>
            </a:endParaRPr>
          </a:p>
          <a:p>
            <a:pPr marL="926465" indent="-457834">
              <a:lnSpc>
                <a:spcPts val="2485"/>
              </a:lnSpc>
              <a:buChar char="-"/>
              <a:tabLst>
                <a:tab pos="926465" algn="l"/>
                <a:tab pos="927100" algn="l"/>
              </a:tabLst>
            </a:pPr>
            <a:r>
              <a:rPr sz="2300" spc="-10" dirty="0">
                <a:latin typeface="Calibri"/>
                <a:cs typeface="Calibri"/>
              </a:rPr>
              <a:t>Required</a:t>
            </a:r>
            <a:endParaRPr sz="2300">
              <a:latin typeface="Calibri"/>
              <a:cs typeface="Calibri"/>
            </a:endParaRPr>
          </a:p>
          <a:p>
            <a:pPr marL="926465" indent="-457834">
              <a:lnSpc>
                <a:spcPts val="2620"/>
              </a:lnSpc>
              <a:buChar char="-"/>
              <a:tabLst>
                <a:tab pos="926465" algn="l"/>
                <a:tab pos="927100" algn="l"/>
              </a:tabLst>
            </a:pPr>
            <a:r>
              <a:rPr sz="2300" dirty="0">
                <a:latin typeface="Calibri"/>
                <a:cs typeface="Calibri"/>
              </a:rPr>
              <a:t>Not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required</a:t>
            </a:r>
            <a:endParaRPr sz="2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65579" y="1387855"/>
            <a:ext cx="3558322" cy="597599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800" spc="-5" dirty="0"/>
              <a:t>Task</a:t>
            </a:r>
            <a:r>
              <a:rPr sz="3800" spc="-85" dirty="0"/>
              <a:t> </a:t>
            </a:r>
            <a:r>
              <a:rPr sz="3800" spc="-5" dirty="0"/>
              <a:t>2:</a:t>
            </a:r>
            <a:endParaRPr sz="3800"/>
          </a:p>
        </p:txBody>
      </p:sp>
      <p:sp>
        <p:nvSpPr>
          <p:cNvPr id="6" name="object 6"/>
          <p:cNvSpPr txBox="1"/>
          <p:nvPr/>
        </p:nvSpPr>
        <p:spPr>
          <a:xfrm>
            <a:off x="8633456" y="6727130"/>
            <a:ext cx="304165" cy="217170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71120">
              <a:lnSpc>
                <a:spcPct val="100000"/>
              </a:lnSpc>
              <a:spcBef>
                <a:spcPts val="155"/>
              </a:spcBef>
            </a:pPr>
            <a:fld id="{81D60167-4931-47E6-BA6A-407CBD079E47}" type="slidenum">
              <a:rPr sz="1200" dirty="0">
                <a:latin typeface="Verdana"/>
                <a:cs typeface="Verdana"/>
              </a:rPr>
              <a:t>13</a:t>
            </a:fld>
            <a:endParaRPr sz="12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94079" y="2108707"/>
            <a:ext cx="7779384" cy="2684780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000" b="1" dirty="0">
                <a:latin typeface="Calibri"/>
                <a:cs typeface="Calibri"/>
              </a:rPr>
              <a:t>Write </a:t>
            </a:r>
            <a:r>
              <a:rPr sz="3000" b="1" spc="-5" dirty="0">
                <a:latin typeface="Calibri"/>
                <a:cs typeface="Calibri"/>
              </a:rPr>
              <a:t>at least </a:t>
            </a:r>
            <a:r>
              <a:rPr sz="3000" b="1" dirty="0">
                <a:latin typeface="Calibri"/>
                <a:cs typeface="Calibri"/>
              </a:rPr>
              <a:t>5 </a:t>
            </a:r>
            <a:r>
              <a:rPr sz="3000" b="1" spc="-5" dirty="0">
                <a:latin typeface="Calibri"/>
                <a:cs typeface="Calibri"/>
              </a:rPr>
              <a:t>attributes for every entity you’ve </a:t>
            </a:r>
            <a:r>
              <a:rPr sz="3000" b="1" spc="-665" dirty="0">
                <a:latin typeface="Calibri"/>
                <a:cs typeface="Calibri"/>
              </a:rPr>
              <a:t> </a:t>
            </a:r>
            <a:r>
              <a:rPr sz="3000" b="1" spc="-5" dirty="0">
                <a:latin typeface="Calibri"/>
                <a:cs typeface="Calibri"/>
              </a:rPr>
              <a:t>wrote in </a:t>
            </a:r>
            <a:r>
              <a:rPr lang="en-US" sz="3000" b="1" spc="-5" dirty="0">
                <a:latin typeface="Calibri"/>
                <a:cs typeface="Calibri"/>
              </a:rPr>
              <a:t>Task</a:t>
            </a:r>
            <a:r>
              <a:rPr sz="3000" b="1" spc="-5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1. </a:t>
            </a:r>
            <a:r>
              <a:rPr sz="3000" spc="-5" dirty="0">
                <a:latin typeface="Calibri"/>
                <a:cs typeface="Calibri"/>
              </a:rPr>
              <a:t>Try </a:t>
            </a:r>
            <a:r>
              <a:rPr sz="3000" dirty="0">
                <a:latin typeface="Calibri"/>
                <a:cs typeface="Calibri"/>
              </a:rPr>
              <a:t>to </a:t>
            </a:r>
            <a:r>
              <a:rPr sz="3000" spc="-5" dirty="0">
                <a:latin typeface="Calibri"/>
                <a:cs typeface="Calibri"/>
              </a:rPr>
              <a:t>define </a:t>
            </a:r>
            <a:r>
              <a:rPr sz="3000" dirty="0">
                <a:latin typeface="Calibri"/>
                <a:cs typeface="Calibri"/>
              </a:rPr>
              <a:t>some </a:t>
            </a:r>
            <a:r>
              <a:rPr sz="3000" spc="-5" dirty="0">
                <a:latin typeface="Calibri"/>
                <a:cs typeface="Calibri"/>
              </a:rPr>
              <a:t>composite 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attribute.</a:t>
            </a:r>
            <a:endParaRPr sz="3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sz="2400" dirty="0">
                <a:latin typeface="Calibri"/>
                <a:cs typeface="Calibri"/>
              </a:rPr>
              <a:t>Ex.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2400" b="1" spc="-5" dirty="0">
                <a:latin typeface="Calibri"/>
                <a:cs typeface="Calibri"/>
              </a:rPr>
              <a:t>Entity:</a:t>
            </a:r>
            <a:r>
              <a:rPr sz="2400" b="1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Client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50"/>
              </a:spcBef>
            </a:pPr>
            <a:r>
              <a:rPr sz="2200" b="1" spc="-10" dirty="0">
                <a:latin typeface="Calibri"/>
                <a:cs typeface="Calibri"/>
              </a:rPr>
              <a:t>Attributes: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08479" y="4814415"/>
            <a:ext cx="2072005" cy="18821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390015">
              <a:lnSpc>
                <a:spcPct val="124500"/>
              </a:lnSpc>
              <a:spcBef>
                <a:spcPts val="100"/>
              </a:spcBef>
            </a:pPr>
            <a:r>
              <a:rPr sz="2000" b="1" dirty="0">
                <a:latin typeface="Calibri"/>
                <a:cs typeface="Calibri"/>
              </a:rPr>
              <a:t>n</a:t>
            </a:r>
            <a:r>
              <a:rPr sz="2000" b="1" spc="-10" dirty="0">
                <a:latin typeface="Calibri"/>
                <a:cs typeface="Calibri"/>
              </a:rPr>
              <a:t>a</a:t>
            </a:r>
            <a:r>
              <a:rPr sz="2000" b="1" dirty="0">
                <a:latin typeface="Calibri"/>
                <a:cs typeface="Calibri"/>
              </a:rPr>
              <a:t>m</a:t>
            </a:r>
            <a:r>
              <a:rPr sz="2000" b="1" spc="-5" dirty="0">
                <a:latin typeface="Calibri"/>
                <a:cs typeface="Calibri"/>
              </a:rPr>
              <a:t>e</a:t>
            </a:r>
            <a:r>
              <a:rPr sz="2000" dirty="0">
                <a:latin typeface="Calibri"/>
                <a:cs typeface="Calibri"/>
              </a:rPr>
              <a:t>, 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Calibri"/>
                <a:cs typeface="Calibri"/>
              </a:rPr>
              <a:t>PID</a:t>
            </a:r>
            <a:endParaRPr sz="2000">
              <a:latin typeface="Calibri"/>
              <a:cs typeface="Calibri"/>
            </a:endParaRPr>
          </a:p>
          <a:p>
            <a:pPr marL="12700" marR="5080">
              <a:lnSpc>
                <a:spcPct val="120000"/>
              </a:lnSpc>
            </a:pPr>
            <a:r>
              <a:rPr sz="2000" spc="-5" dirty="0">
                <a:latin typeface="Calibri"/>
                <a:cs typeface="Calibri"/>
              </a:rPr>
              <a:t>Address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(street,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no) </a:t>
            </a:r>
            <a:r>
              <a:rPr sz="2000" spc="-434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City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2000" spc="-5" dirty="0">
                <a:latin typeface="Calibri"/>
                <a:cs typeface="Calibri"/>
              </a:rPr>
              <a:t>Gender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465965" y="4814415"/>
            <a:ext cx="2287270" cy="1882139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700" marR="5080">
              <a:lnSpc>
                <a:spcPct val="121500"/>
              </a:lnSpc>
              <a:spcBef>
                <a:spcPts val="170"/>
              </a:spcBef>
            </a:pPr>
            <a:r>
              <a:rPr sz="2000" spc="-5" dirty="0">
                <a:latin typeface="Calibri"/>
                <a:cs typeface="Calibri"/>
              </a:rPr>
              <a:t>Date_of_membership </a:t>
            </a:r>
            <a:r>
              <a:rPr sz="2000" spc="-4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Birthdate 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member_card_ID </a:t>
            </a:r>
            <a:r>
              <a:rPr sz="2000" dirty="0">
                <a:latin typeface="Calibri"/>
                <a:cs typeface="Calibri"/>
              </a:rPr>
              <a:t> Phone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2000" spc="-5" dirty="0">
                <a:latin typeface="Calibri"/>
                <a:cs typeface="Calibri"/>
              </a:rPr>
              <a:t>email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94150" y="1387855"/>
            <a:ext cx="4358640" cy="605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800" dirty="0"/>
              <a:t>Entity</a:t>
            </a:r>
            <a:r>
              <a:rPr sz="3800" spc="-85" dirty="0"/>
              <a:t> </a:t>
            </a:r>
            <a:r>
              <a:rPr sz="3800" dirty="0"/>
              <a:t>instances</a:t>
            </a:r>
            <a:endParaRPr sz="3800"/>
          </a:p>
        </p:txBody>
      </p:sp>
      <p:sp>
        <p:nvSpPr>
          <p:cNvPr id="4" name="object 4"/>
          <p:cNvSpPr txBox="1"/>
          <p:nvPr/>
        </p:nvSpPr>
        <p:spPr>
          <a:xfrm>
            <a:off x="8633456" y="6727130"/>
            <a:ext cx="304165" cy="217170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71120">
              <a:lnSpc>
                <a:spcPct val="100000"/>
              </a:lnSpc>
              <a:spcBef>
                <a:spcPts val="155"/>
              </a:spcBef>
            </a:pPr>
            <a:fld id="{81D60167-4931-47E6-BA6A-407CBD079E47}" type="slidenum">
              <a:rPr sz="1200" dirty="0">
                <a:latin typeface="Verdana"/>
                <a:cs typeface="Verdana"/>
              </a:rPr>
              <a:t>14</a:t>
            </a:fld>
            <a:endParaRPr sz="12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94079" y="2181859"/>
            <a:ext cx="8094980" cy="44665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81965" marR="5080" indent="-469900">
              <a:lnSpc>
                <a:spcPct val="100000"/>
              </a:lnSpc>
              <a:spcBef>
                <a:spcPts val="95"/>
              </a:spcBef>
              <a:tabLst>
                <a:tab pos="481965" algn="l"/>
              </a:tabLst>
            </a:pPr>
            <a:r>
              <a:rPr sz="2800" spc="-5" dirty="0">
                <a:solidFill>
                  <a:srgbClr val="CC0000"/>
                </a:solidFill>
                <a:latin typeface="Wingdings"/>
                <a:cs typeface="Wingdings"/>
              </a:rPr>
              <a:t></a:t>
            </a:r>
            <a:r>
              <a:rPr sz="2800" spc="-5" dirty="0">
                <a:solidFill>
                  <a:srgbClr val="CC0000"/>
                </a:solidFill>
                <a:latin typeface="Times New Roman"/>
                <a:cs typeface="Times New Roman"/>
              </a:rPr>
              <a:t>	</a:t>
            </a:r>
            <a:r>
              <a:rPr sz="2800" spc="-10" dirty="0">
                <a:latin typeface="Calibri"/>
                <a:cs typeface="Calibri"/>
              </a:rPr>
              <a:t>Entity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instance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is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one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representative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from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the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entity 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type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that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has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its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own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values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for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very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entity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attribute.</a:t>
            </a:r>
            <a:endParaRPr sz="2800">
              <a:latin typeface="Calibri"/>
              <a:cs typeface="Calibri"/>
            </a:endParaRPr>
          </a:p>
          <a:p>
            <a:pPr marL="483234">
              <a:lnSpc>
                <a:spcPct val="100000"/>
              </a:lnSpc>
              <a:spcBef>
                <a:spcPts val="670"/>
              </a:spcBef>
            </a:pPr>
            <a:r>
              <a:rPr sz="2800" spc="-5" dirty="0">
                <a:latin typeface="Calibri"/>
                <a:cs typeface="Calibri"/>
              </a:rPr>
              <a:t>Ex.</a:t>
            </a:r>
            <a:endParaRPr sz="2800">
              <a:latin typeface="Calibri"/>
              <a:cs typeface="Calibri"/>
            </a:endParaRPr>
          </a:p>
          <a:p>
            <a:pPr marL="483234" marR="2360930">
              <a:lnSpc>
                <a:spcPct val="120000"/>
              </a:lnSpc>
              <a:spcBef>
                <a:spcPts val="30"/>
              </a:spcBef>
            </a:pPr>
            <a:r>
              <a:rPr sz="2400" spc="-5" dirty="0">
                <a:latin typeface="Calibri"/>
                <a:cs typeface="Calibri"/>
              </a:rPr>
              <a:t>For Entity </a:t>
            </a:r>
            <a:r>
              <a:rPr sz="2400" b="1" dirty="0">
                <a:latin typeface="Calibri"/>
                <a:cs typeface="Calibri"/>
              </a:rPr>
              <a:t>Employee </a:t>
            </a:r>
            <a:r>
              <a:rPr sz="2400" b="1" spc="-5" dirty="0">
                <a:latin typeface="Calibri"/>
                <a:cs typeface="Calibri"/>
              </a:rPr>
              <a:t>(</a:t>
            </a:r>
            <a:r>
              <a:rPr sz="2400" b="1" i="1" spc="-5" dirty="0">
                <a:latin typeface="Calibri"/>
                <a:cs typeface="Calibri"/>
              </a:rPr>
              <a:t>Name, Title, Salary</a:t>
            </a:r>
            <a:r>
              <a:rPr sz="2400" b="1" spc="-5" dirty="0">
                <a:latin typeface="Calibri"/>
                <a:cs typeface="Calibri"/>
              </a:rPr>
              <a:t>)</a:t>
            </a:r>
            <a:r>
              <a:rPr sz="2400" spc="-5" dirty="0">
                <a:latin typeface="Calibri"/>
                <a:cs typeface="Calibri"/>
              </a:rPr>
              <a:t>,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One possible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instance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endParaRPr sz="2400">
              <a:latin typeface="Calibri"/>
              <a:cs typeface="Calibri"/>
            </a:endParaRPr>
          </a:p>
          <a:p>
            <a:pPr marL="483234">
              <a:lnSpc>
                <a:spcPct val="100000"/>
              </a:lnSpc>
              <a:spcBef>
                <a:spcPts val="575"/>
              </a:spcBef>
            </a:pPr>
            <a:r>
              <a:rPr sz="2400" b="1" dirty="0">
                <a:latin typeface="Calibri"/>
                <a:cs typeface="Calibri"/>
              </a:rPr>
              <a:t>Employee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(“Aleksandar”,</a:t>
            </a:r>
            <a:r>
              <a:rPr sz="2400" b="1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”CEO”,</a:t>
            </a:r>
            <a:r>
              <a:rPr sz="2400" b="1" spc="15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30000)</a:t>
            </a:r>
            <a:endParaRPr sz="2400">
              <a:latin typeface="Calibri"/>
              <a:cs typeface="Calibri"/>
            </a:endParaRPr>
          </a:p>
          <a:p>
            <a:pPr marL="483234">
              <a:lnSpc>
                <a:spcPct val="100000"/>
              </a:lnSpc>
              <a:spcBef>
                <a:spcPts val="575"/>
              </a:spcBef>
            </a:pPr>
            <a:r>
              <a:rPr sz="2400" spc="-5" dirty="0">
                <a:latin typeface="Calibri"/>
                <a:cs typeface="Calibri"/>
              </a:rPr>
              <a:t>or</a:t>
            </a:r>
            <a:endParaRPr sz="2400">
              <a:latin typeface="Calibri"/>
              <a:cs typeface="Calibri"/>
            </a:endParaRPr>
          </a:p>
          <a:p>
            <a:pPr marL="483234">
              <a:lnSpc>
                <a:spcPct val="100000"/>
              </a:lnSpc>
              <a:spcBef>
                <a:spcPts val="575"/>
              </a:spcBef>
            </a:pPr>
            <a:r>
              <a:rPr sz="2400" b="1" dirty="0">
                <a:latin typeface="Calibri"/>
                <a:cs typeface="Calibri"/>
              </a:rPr>
              <a:t>Employee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(“Marija”,</a:t>
            </a:r>
            <a:r>
              <a:rPr sz="2400" b="1" spc="5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”Secretary”,</a:t>
            </a:r>
            <a:r>
              <a:rPr sz="2400" b="1" spc="-10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12000)</a:t>
            </a:r>
            <a:endParaRPr sz="2400">
              <a:latin typeface="Calibri"/>
              <a:cs typeface="Calibri"/>
            </a:endParaRPr>
          </a:p>
          <a:p>
            <a:pPr marL="483234">
              <a:lnSpc>
                <a:spcPct val="100000"/>
              </a:lnSpc>
              <a:spcBef>
                <a:spcPts val="580"/>
              </a:spcBef>
            </a:pPr>
            <a:r>
              <a:rPr sz="2400" spc="-5" dirty="0">
                <a:latin typeface="Calibri"/>
                <a:cs typeface="Calibri"/>
              </a:rPr>
              <a:t>or</a:t>
            </a:r>
            <a:endParaRPr sz="2400">
              <a:latin typeface="Calibri"/>
              <a:cs typeface="Calibri"/>
            </a:endParaRPr>
          </a:p>
          <a:p>
            <a:pPr marL="483234">
              <a:lnSpc>
                <a:spcPct val="100000"/>
              </a:lnSpc>
              <a:spcBef>
                <a:spcPts val="575"/>
              </a:spcBef>
            </a:pPr>
            <a:r>
              <a:rPr sz="2400" b="1" dirty="0">
                <a:latin typeface="Calibri"/>
                <a:cs typeface="Calibri"/>
              </a:rPr>
              <a:t>Employee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(“Peter”,</a:t>
            </a:r>
            <a:r>
              <a:rPr sz="2400" b="1" spc="1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”</a:t>
            </a:r>
            <a:r>
              <a:rPr sz="2400" b="1" spc="-20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”, 12000)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65579" y="1387855"/>
            <a:ext cx="1849120" cy="605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800" b="1" spc="-5" dirty="0">
                <a:latin typeface="Verdana"/>
                <a:cs typeface="Verdana"/>
              </a:rPr>
              <a:t>Ass.</a:t>
            </a:r>
            <a:r>
              <a:rPr sz="3800" b="1" spc="-85" dirty="0">
                <a:latin typeface="Verdana"/>
                <a:cs typeface="Verdana"/>
              </a:rPr>
              <a:t> </a:t>
            </a:r>
            <a:r>
              <a:rPr sz="3800" b="1" spc="-5" dirty="0">
                <a:latin typeface="Verdana"/>
                <a:cs typeface="Verdana"/>
              </a:rPr>
              <a:t>3: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633456" y="6727130"/>
            <a:ext cx="304165" cy="217170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71120">
              <a:lnSpc>
                <a:spcPct val="100000"/>
              </a:lnSpc>
              <a:spcBef>
                <a:spcPts val="155"/>
              </a:spcBef>
            </a:pPr>
            <a:fld id="{81D60167-4931-47E6-BA6A-407CBD079E47}" type="slidenum">
              <a:rPr sz="1200" dirty="0">
                <a:latin typeface="Verdana"/>
                <a:cs typeface="Verdana"/>
              </a:rPr>
              <a:t>15</a:t>
            </a:fld>
            <a:endParaRPr sz="12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65707" y="2273299"/>
            <a:ext cx="747522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000" b="1" spc="-5" dirty="0">
                <a:latin typeface="Verdana"/>
                <a:cs typeface="Verdana"/>
              </a:rPr>
              <a:t>Write</a:t>
            </a:r>
            <a:r>
              <a:rPr sz="3000" b="1" spc="-20" dirty="0">
                <a:latin typeface="Verdana"/>
                <a:cs typeface="Verdana"/>
              </a:rPr>
              <a:t> </a:t>
            </a:r>
            <a:r>
              <a:rPr sz="3000" b="1" dirty="0">
                <a:latin typeface="Verdana"/>
                <a:cs typeface="Verdana"/>
              </a:rPr>
              <a:t>3 </a:t>
            </a:r>
            <a:r>
              <a:rPr sz="3000" b="1" spc="-5" dirty="0">
                <a:latin typeface="Verdana"/>
                <a:cs typeface="Verdana"/>
              </a:rPr>
              <a:t>instances</a:t>
            </a:r>
            <a:r>
              <a:rPr sz="3000" b="1" spc="-30" dirty="0">
                <a:latin typeface="Verdana"/>
                <a:cs typeface="Verdana"/>
              </a:rPr>
              <a:t> </a:t>
            </a:r>
            <a:r>
              <a:rPr sz="3000" b="1" dirty="0">
                <a:latin typeface="Verdana"/>
                <a:cs typeface="Verdana"/>
              </a:rPr>
              <a:t>for</a:t>
            </a:r>
            <a:r>
              <a:rPr sz="3000" b="1" spc="-20" dirty="0">
                <a:latin typeface="Verdana"/>
                <a:cs typeface="Verdana"/>
              </a:rPr>
              <a:t> </a:t>
            </a:r>
            <a:r>
              <a:rPr sz="3000" b="1" spc="-5" dirty="0">
                <a:latin typeface="Verdana"/>
                <a:cs typeface="Verdana"/>
              </a:rPr>
              <a:t>every</a:t>
            </a:r>
            <a:r>
              <a:rPr sz="3000" b="1" spc="-15" dirty="0">
                <a:latin typeface="Verdana"/>
                <a:cs typeface="Verdana"/>
              </a:rPr>
              <a:t> </a:t>
            </a:r>
            <a:r>
              <a:rPr sz="3000" b="1" dirty="0">
                <a:latin typeface="Verdana"/>
                <a:cs typeface="Verdana"/>
              </a:rPr>
              <a:t>of</a:t>
            </a:r>
            <a:r>
              <a:rPr sz="3000" b="1" spc="-25" dirty="0">
                <a:latin typeface="Verdana"/>
                <a:cs typeface="Verdana"/>
              </a:rPr>
              <a:t> </a:t>
            </a:r>
            <a:r>
              <a:rPr sz="3000" b="1" spc="-5" dirty="0">
                <a:latin typeface="Verdana"/>
                <a:cs typeface="Verdana"/>
              </a:rPr>
              <a:t>your </a:t>
            </a:r>
            <a:r>
              <a:rPr sz="3000" b="1" spc="-1010" dirty="0">
                <a:latin typeface="Verdana"/>
                <a:cs typeface="Verdana"/>
              </a:rPr>
              <a:t> </a:t>
            </a:r>
            <a:r>
              <a:rPr sz="3000" b="1" spc="-5" dirty="0">
                <a:latin typeface="Verdana"/>
                <a:cs typeface="Verdana"/>
              </a:rPr>
              <a:t>entities.</a:t>
            </a:r>
            <a:endParaRPr sz="3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7043" y="1336039"/>
            <a:ext cx="8048625" cy="605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800" dirty="0"/>
              <a:t>Uniquely</a:t>
            </a:r>
            <a:r>
              <a:rPr sz="3800" spc="-40" dirty="0"/>
              <a:t> </a:t>
            </a:r>
            <a:r>
              <a:rPr sz="3800" dirty="0"/>
              <a:t>identifying</a:t>
            </a:r>
            <a:r>
              <a:rPr sz="3800" spc="-35" dirty="0"/>
              <a:t> </a:t>
            </a:r>
            <a:r>
              <a:rPr sz="3800" dirty="0"/>
              <a:t>attribute</a:t>
            </a:r>
            <a:endParaRPr sz="3800"/>
          </a:p>
        </p:txBody>
      </p:sp>
      <p:sp>
        <p:nvSpPr>
          <p:cNvPr id="4" name="object 4"/>
          <p:cNvSpPr txBox="1"/>
          <p:nvPr/>
        </p:nvSpPr>
        <p:spPr>
          <a:xfrm>
            <a:off x="8633456" y="6727130"/>
            <a:ext cx="304165" cy="217170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71120">
              <a:lnSpc>
                <a:spcPct val="100000"/>
              </a:lnSpc>
              <a:spcBef>
                <a:spcPts val="155"/>
              </a:spcBef>
            </a:pPr>
            <a:fld id="{81D60167-4931-47E6-BA6A-407CBD079E47}" type="slidenum">
              <a:rPr sz="1200" dirty="0">
                <a:latin typeface="Verdana"/>
                <a:cs typeface="Verdana"/>
              </a:rPr>
              <a:t>16</a:t>
            </a:fld>
            <a:endParaRPr sz="12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22451" y="2184907"/>
            <a:ext cx="8228330" cy="441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353060" algn="l"/>
              </a:tabLst>
            </a:pPr>
            <a:r>
              <a:rPr sz="2400" spc="-5" dirty="0">
                <a:latin typeface="Calibri"/>
                <a:cs typeface="Calibri"/>
              </a:rPr>
              <a:t>One or </a:t>
            </a:r>
            <a:r>
              <a:rPr sz="2400" spc="-15" dirty="0">
                <a:latin typeface="Calibri"/>
                <a:cs typeface="Calibri"/>
              </a:rPr>
              <a:t>more </a:t>
            </a:r>
            <a:r>
              <a:rPr sz="2400" spc="-5" dirty="0">
                <a:latin typeface="Calibri"/>
                <a:cs typeface="Calibri"/>
              </a:rPr>
              <a:t>entity </a:t>
            </a:r>
            <a:r>
              <a:rPr sz="2400" spc="-10" dirty="0">
                <a:latin typeface="Calibri"/>
                <a:cs typeface="Calibri"/>
              </a:rPr>
              <a:t>attributes can </a:t>
            </a:r>
            <a:r>
              <a:rPr sz="2400" spc="-5" dirty="0">
                <a:latin typeface="Calibri"/>
                <a:cs typeface="Calibri"/>
              </a:rPr>
              <a:t>identify </a:t>
            </a:r>
            <a:r>
              <a:rPr sz="2400" dirty="0">
                <a:latin typeface="Calibri"/>
                <a:cs typeface="Calibri"/>
              </a:rPr>
              <a:t>an </a:t>
            </a:r>
            <a:r>
              <a:rPr sz="2400" spc="-5" dirty="0">
                <a:latin typeface="Calibri"/>
                <a:cs typeface="Calibri"/>
              </a:rPr>
              <a:t>entity </a:t>
            </a:r>
            <a:r>
              <a:rPr sz="2400" spc="-10" dirty="0">
                <a:latin typeface="Calibri"/>
                <a:cs typeface="Calibri"/>
              </a:rPr>
              <a:t>instance </a:t>
            </a:r>
            <a:r>
              <a:rPr sz="2400" dirty="0">
                <a:latin typeface="Calibri"/>
                <a:cs typeface="Calibri"/>
              </a:rPr>
              <a:t>i.e.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these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attributes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have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b="1" spc="-15" dirty="0">
                <a:latin typeface="Calibri"/>
                <a:cs typeface="Calibri"/>
              </a:rPr>
              <a:t>different</a:t>
            </a:r>
            <a:r>
              <a:rPr sz="2400" b="1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values</a:t>
            </a:r>
            <a:r>
              <a:rPr sz="2400" b="1" spc="10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in every</a:t>
            </a:r>
            <a:r>
              <a:rPr sz="2400" b="1" spc="-1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entity</a:t>
            </a:r>
            <a:r>
              <a:rPr sz="2400" b="1" spc="1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instance</a:t>
            </a:r>
            <a:r>
              <a:rPr sz="2400" b="1" spc="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(or </a:t>
            </a:r>
            <a:r>
              <a:rPr sz="2400" dirty="0">
                <a:latin typeface="Calibri"/>
                <a:cs typeface="Calibri"/>
              </a:rPr>
              <a:t> their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combination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20" dirty="0">
                <a:latin typeface="Calibri"/>
                <a:cs typeface="Calibri"/>
              </a:rPr>
              <a:t> different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every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entity</a:t>
            </a:r>
            <a:r>
              <a:rPr sz="2400" spc="-10" dirty="0">
                <a:latin typeface="Calibri"/>
                <a:cs typeface="Calibri"/>
              </a:rPr>
              <a:t> instance)</a:t>
            </a:r>
            <a:endParaRPr sz="2400">
              <a:latin typeface="Calibri"/>
              <a:cs typeface="Calibri"/>
            </a:endParaRPr>
          </a:p>
          <a:p>
            <a:pPr marL="558165" marR="5033010" indent="-546100">
              <a:lnSpc>
                <a:spcPct val="100000"/>
              </a:lnSpc>
              <a:spcBef>
                <a:spcPts val="1440"/>
              </a:spcBef>
              <a:tabLst>
                <a:tab pos="506095" algn="l"/>
              </a:tabLst>
            </a:pPr>
            <a:r>
              <a:rPr sz="2400" dirty="0">
                <a:latin typeface="Calibri"/>
                <a:cs typeface="Calibri"/>
              </a:rPr>
              <a:t>Ex.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5" dirty="0">
                <a:latin typeface="Calibri"/>
                <a:cs typeface="Calibri"/>
              </a:rPr>
              <a:t>Client </a:t>
            </a:r>
            <a:r>
              <a:rPr sz="2400" dirty="0">
                <a:latin typeface="Calibri"/>
                <a:cs typeface="Calibri"/>
              </a:rPr>
              <a:t>– </a:t>
            </a:r>
            <a:r>
              <a:rPr sz="2400" spc="-10" dirty="0">
                <a:latin typeface="Calibri"/>
                <a:cs typeface="Calibri"/>
              </a:rPr>
              <a:t>id_card </a:t>
            </a:r>
            <a:r>
              <a:rPr sz="2400" spc="-5" dirty="0">
                <a:latin typeface="Calibri"/>
                <a:cs typeface="Calibri"/>
              </a:rPr>
              <a:t> Student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–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student_ID</a:t>
            </a:r>
            <a:endParaRPr sz="2400">
              <a:latin typeface="Calibri"/>
              <a:cs typeface="Calibri"/>
            </a:endParaRPr>
          </a:p>
          <a:p>
            <a:pPr marL="490855" marR="4644390" indent="66675">
              <a:lnSpc>
                <a:spcPct val="100000"/>
              </a:lnSpc>
            </a:pPr>
            <a:r>
              <a:rPr sz="2400" spc="-5" dirty="0">
                <a:latin typeface="Calibri"/>
                <a:cs typeface="Calibri"/>
              </a:rPr>
              <a:t>NIC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Card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–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MAC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Address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Car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-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???</a:t>
            </a:r>
            <a:endParaRPr sz="2400">
              <a:latin typeface="Calibri"/>
              <a:cs typeface="Calibri"/>
            </a:endParaRPr>
          </a:p>
          <a:p>
            <a:pPr marL="12700" marR="119380">
              <a:lnSpc>
                <a:spcPct val="100000"/>
              </a:lnSpc>
              <a:spcBef>
                <a:spcPts val="1440"/>
              </a:spcBef>
              <a:buFont typeface="Wingdings"/>
              <a:buChar char=""/>
              <a:tabLst>
                <a:tab pos="353060" algn="l"/>
              </a:tabLst>
            </a:pPr>
            <a:r>
              <a:rPr sz="2400" spc="-5" dirty="0">
                <a:latin typeface="Calibri"/>
                <a:cs typeface="Calibri"/>
              </a:rPr>
              <a:t>If </a:t>
            </a:r>
            <a:r>
              <a:rPr sz="2400" spc="-10" dirty="0">
                <a:latin typeface="Calibri"/>
                <a:cs typeface="Calibri"/>
              </a:rPr>
              <a:t>you can </a:t>
            </a:r>
            <a:r>
              <a:rPr sz="2400" spc="-5" dirty="0">
                <a:latin typeface="Calibri"/>
                <a:cs typeface="Calibri"/>
              </a:rPr>
              <a:t>not find </a:t>
            </a:r>
            <a:r>
              <a:rPr sz="2400" dirty="0">
                <a:latin typeface="Calibri"/>
                <a:cs typeface="Calibri"/>
              </a:rPr>
              <a:t>an </a:t>
            </a:r>
            <a:r>
              <a:rPr sz="2400" spc="-15" dirty="0">
                <a:latin typeface="Calibri"/>
                <a:cs typeface="Calibri"/>
              </a:rPr>
              <a:t>attribute </a:t>
            </a:r>
            <a:r>
              <a:rPr sz="2400" dirty="0">
                <a:latin typeface="Calibri"/>
                <a:cs typeface="Calibri"/>
              </a:rPr>
              <a:t>with this </a:t>
            </a:r>
            <a:r>
              <a:rPr sz="2400" spc="-10" dirty="0">
                <a:latin typeface="Calibri"/>
                <a:cs typeface="Calibri"/>
              </a:rPr>
              <a:t>characteristic, </a:t>
            </a:r>
            <a:r>
              <a:rPr sz="2400" b="1" spc="-10" dirty="0">
                <a:latin typeface="Calibri"/>
                <a:cs typeface="Calibri"/>
              </a:rPr>
              <a:t>you </a:t>
            </a:r>
            <a:r>
              <a:rPr sz="2400" b="1" spc="-5" dirty="0">
                <a:latin typeface="Calibri"/>
                <a:cs typeface="Calibri"/>
              </a:rPr>
              <a:t>can </a:t>
            </a:r>
            <a:r>
              <a:rPr sz="2400" b="1" spc="-530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define special </a:t>
            </a:r>
            <a:r>
              <a:rPr sz="2400" b="1" spc="-15" dirty="0">
                <a:latin typeface="Calibri"/>
                <a:cs typeface="Calibri"/>
              </a:rPr>
              <a:t>attribute</a:t>
            </a:r>
            <a:r>
              <a:rPr sz="2400" b="1" spc="25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which will</a:t>
            </a:r>
            <a:r>
              <a:rPr sz="2400" b="1" spc="-15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be</a:t>
            </a:r>
            <a:r>
              <a:rPr sz="2400" b="1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identifier</a:t>
            </a:r>
            <a:r>
              <a:rPr sz="2400" b="1" spc="20" dirty="0">
                <a:latin typeface="Calibri"/>
                <a:cs typeface="Calibri"/>
              </a:rPr>
              <a:t> </a:t>
            </a:r>
            <a:r>
              <a:rPr sz="2400" b="1" spc="-15" dirty="0">
                <a:latin typeface="Calibri"/>
                <a:cs typeface="Calibri"/>
              </a:rPr>
              <a:t>for </a:t>
            </a:r>
            <a:r>
              <a:rPr sz="2400" b="1" spc="-5" dirty="0">
                <a:latin typeface="Calibri"/>
                <a:cs typeface="Calibri"/>
              </a:rPr>
              <a:t>the</a:t>
            </a:r>
            <a:r>
              <a:rPr sz="2400" b="1" spc="1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entity </a:t>
            </a:r>
            <a:r>
              <a:rPr sz="2400" b="1" spc="-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instances</a:t>
            </a:r>
            <a:r>
              <a:rPr sz="2400" spc="-10" dirty="0"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tabLst>
                <a:tab pos="926465" algn="l"/>
                <a:tab pos="2202180" algn="l"/>
              </a:tabLst>
            </a:pPr>
            <a:r>
              <a:rPr sz="2400" dirty="0">
                <a:latin typeface="Calibri"/>
                <a:cs typeface="Calibri"/>
              </a:rPr>
              <a:t>Ex.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5" dirty="0">
                <a:latin typeface="Calibri"/>
                <a:cs typeface="Calibri"/>
              </a:rPr>
              <a:t>id_client,</a:t>
            </a:r>
            <a:r>
              <a:rPr sz="2400" spc="-5" dirty="0">
                <a:latin typeface="Times New Roman"/>
                <a:cs typeface="Times New Roman"/>
              </a:rPr>
              <a:t>	</a:t>
            </a:r>
            <a:r>
              <a:rPr sz="2400" spc="-5" dirty="0">
                <a:latin typeface="Calibri"/>
                <a:cs typeface="Calibri"/>
              </a:rPr>
              <a:t>id_car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5183" y="1387855"/>
            <a:ext cx="2759418" cy="597599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63040" algn="l"/>
              </a:tabLst>
            </a:pPr>
            <a:r>
              <a:rPr lang="en-US" sz="3800" spc="-5" dirty="0"/>
              <a:t>Task</a:t>
            </a:r>
            <a:r>
              <a:rPr sz="3800" dirty="0"/>
              <a:t>.</a:t>
            </a:r>
            <a:r>
              <a:rPr sz="3800" b="0" dirty="0">
                <a:latin typeface="Times New Roman"/>
                <a:cs typeface="Times New Roman"/>
              </a:rPr>
              <a:t>	</a:t>
            </a:r>
            <a:r>
              <a:rPr sz="3800" spc="-5" dirty="0"/>
              <a:t>4</a:t>
            </a:r>
            <a:r>
              <a:rPr sz="3800" dirty="0"/>
              <a:t>:</a:t>
            </a:r>
            <a:endParaRPr sz="3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666984" y="6733226"/>
            <a:ext cx="309245" cy="2108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z="1200" dirty="0">
                <a:latin typeface="Verdana"/>
                <a:cs typeface="Verdana"/>
              </a:rPr>
              <a:t>17</a:t>
            </a:fld>
            <a:endParaRPr sz="1200">
              <a:latin typeface="Verdana"/>
              <a:cs typeface="Verdan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Define/ Create new attribute </a:t>
            </a:r>
            <a:r>
              <a:rPr spc="-10" dirty="0"/>
              <a:t>identifier </a:t>
            </a:r>
            <a:r>
              <a:rPr spc="-1015" dirty="0"/>
              <a:t> </a:t>
            </a:r>
            <a:r>
              <a:rPr spc="-5" dirty="0"/>
              <a:t>in your</a:t>
            </a:r>
            <a:r>
              <a:rPr spc="-10" dirty="0"/>
              <a:t> </a:t>
            </a:r>
            <a:r>
              <a:rPr spc="-5" dirty="0"/>
              <a:t>entities.</a:t>
            </a:r>
          </a:p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sz="1800" b="0" spc="-5" dirty="0">
                <a:latin typeface="Verdana"/>
                <a:cs typeface="Verdana"/>
              </a:rPr>
              <a:t>Пр.</a:t>
            </a:r>
            <a:endParaRPr sz="1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800" spc="-5" dirty="0"/>
              <a:t>Entity </a:t>
            </a:r>
            <a:r>
              <a:rPr sz="1800" dirty="0"/>
              <a:t>:</a:t>
            </a:r>
            <a:r>
              <a:rPr sz="1800" spc="-40" dirty="0"/>
              <a:t> </a:t>
            </a:r>
            <a:r>
              <a:rPr sz="1800" b="0" dirty="0">
                <a:latin typeface="Verdana"/>
                <a:cs typeface="Verdana"/>
              </a:rPr>
              <a:t>client</a:t>
            </a:r>
            <a:endParaRPr sz="1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1800" spc="-5" dirty="0"/>
              <a:t>Attributes:</a:t>
            </a:r>
            <a:endParaRPr sz="1800"/>
          </a:p>
        </p:txBody>
      </p:sp>
      <p:sp>
        <p:nvSpPr>
          <p:cNvPr id="4" name="object 4"/>
          <p:cNvSpPr txBox="1"/>
          <p:nvPr/>
        </p:nvSpPr>
        <p:spPr>
          <a:xfrm>
            <a:off x="1880107" y="4169154"/>
            <a:ext cx="1861185" cy="16656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245235">
              <a:lnSpc>
                <a:spcPct val="118900"/>
              </a:lnSpc>
              <a:spcBef>
                <a:spcPts val="100"/>
              </a:spcBef>
            </a:pPr>
            <a:r>
              <a:rPr sz="1800" b="1" spc="5" dirty="0">
                <a:latin typeface="Calibri"/>
                <a:cs typeface="Calibri"/>
              </a:rPr>
              <a:t>n</a:t>
            </a:r>
            <a:r>
              <a:rPr sz="1800" b="1" spc="-5" dirty="0">
                <a:latin typeface="Calibri"/>
                <a:cs typeface="Calibri"/>
              </a:rPr>
              <a:t>am</a:t>
            </a:r>
            <a:r>
              <a:rPr sz="1800" b="1" spc="5" dirty="0">
                <a:latin typeface="Calibri"/>
                <a:cs typeface="Calibri"/>
              </a:rPr>
              <a:t>e</a:t>
            </a:r>
            <a:r>
              <a:rPr sz="1800" dirty="0">
                <a:latin typeface="Calibri"/>
                <a:cs typeface="Calibri"/>
              </a:rPr>
              <a:t>, 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Calibri"/>
                <a:cs typeface="Calibri"/>
              </a:rPr>
              <a:t>PID</a:t>
            </a:r>
            <a:endParaRPr sz="1800">
              <a:latin typeface="Calibri"/>
              <a:cs typeface="Calibri"/>
            </a:endParaRPr>
          </a:p>
          <a:p>
            <a:pPr marL="12700" marR="5080">
              <a:lnSpc>
                <a:spcPct val="120000"/>
              </a:lnSpc>
            </a:pPr>
            <a:r>
              <a:rPr sz="1800" spc="-5" dirty="0">
                <a:latin typeface="Calibri"/>
                <a:cs typeface="Calibri"/>
              </a:rPr>
              <a:t>Address (street, no) </a:t>
            </a:r>
            <a:r>
              <a:rPr sz="1800" spc="-39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City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1800" dirty="0">
                <a:latin typeface="Calibri"/>
                <a:cs typeface="Calibri"/>
              </a:rPr>
              <a:t>Gender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537698" y="4169154"/>
            <a:ext cx="2061845" cy="166560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19600"/>
              </a:lnSpc>
              <a:spcBef>
                <a:spcPts val="85"/>
              </a:spcBef>
            </a:pPr>
            <a:r>
              <a:rPr sz="1800" spc="-5" dirty="0">
                <a:latin typeface="Calibri"/>
                <a:cs typeface="Calibri"/>
              </a:rPr>
              <a:t>Date_of_membership </a:t>
            </a:r>
            <a:r>
              <a:rPr sz="1800" spc="-39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Birthdate 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b="1" u="heavy" spc="-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member_card_ID </a:t>
            </a:r>
            <a:r>
              <a:rPr sz="1800" b="1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Phone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1800" spc="-5" dirty="0">
                <a:latin typeface="Calibri"/>
                <a:cs typeface="Calibri"/>
              </a:rPr>
              <a:t>email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65707" y="6206741"/>
            <a:ext cx="44196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Verdana"/>
                <a:cs typeface="Verdana"/>
              </a:rPr>
              <a:t>Or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you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can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create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attribute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ID_client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411854" marR="5080" indent="-284861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Graphical</a:t>
            </a:r>
            <a:r>
              <a:rPr spc="5" dirty="0"/>
              <a:t> </a:t>
            </a:r>
            <a:r>
              <a:rPr spc="-5" dirty="0"/>
              <a:t>representation</a:t>
            </a:r>
            <a:r>
              <a:rPr spc="20" dirty="0"/>
              <a:t> </a:t>
            </a:r>
            <a:r>
              <a:rPr spc="-5" dirty="0"/>
              <a:t>of </a:t>
            </a:r>
            <a:r>
              <a:rPr spc="-1350" dirty="0"/>
              <a:t> </a:t>
            </a:r>
            <a:r>
              <a:rPr spc="-5" dirty="0"/>
              <a:t>entities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65707" y="2183383"/>
            <a:ext cx="7451090" cy="221996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481965" indent="-469900">
              <a:lnSpc>
                <a:spcPct val="100000"/>
              </a:lnSpc>
              <a:spcBef>
                <a:spcPts val="675"/>
              </a:spcBef>
              <a:buClr>
                <a:srgbClr val="CC0000"/>
              </a:buClr>
              <a:buFont typeface="Wingdings"/>
              <a:buChar char=""/>
              <a:tabLst>
                <a:tab pos="481965" algn="l"/>
                <a:tab pos="482600" algn="l"/>
              </a:tabLst>
            </a:pPr>
            <a:r>
              <a:rPr sz="2400" spc="-5" dirty="0">
                <a:latin typeface="Calibri"/>
                <a:cs typeface="Calibri"/>
              </a:rPr>
              <a:t>Entities (i.e.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entity-types)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represented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rectangles</a:t>
            </a:r>
            <a:r>
              <a:rPr sz="2400" spc="-5" dirty="0"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  <a:p>
            <a:pPr marL="481965" indent="-469900">
              <a:lnSpc>
                <a:spcPct val="100000"/>
              </a:lnSpc>
              <a:spcBef>
                <a:spcPts val="575"/>
              </a:spcBef>
              <a:buClr>
                <a:srgbClr val="CC0000"/>
              </a:buClr>
              <a:buFont typeface="Wingdings"/>
              <a:buChar char=""/>
              <a:tabLst>
                <a:tab pos="481965" algn="l"/>
                <a:tab pos="482600" algn="l"/>
              </a:tabLst>
            </a:pPr>
            <a:r>
              <a:rPr sz="2400" spc="-5" dirty="0">
                <a:latin typeface="Calibri"/>
                <a:cs typeface="Calibri"/>
              </a:rPr>
              <a:t>Entity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attributes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represented</a:t>
            </a:r>
            <a:r>
              <a:rPr sz="2400" dirty="0">
                <a:latin typeface="Calibri"/>
                <a:cs typeface="Calibri"/>
              </a:rPr>
              <a:t> as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ellipses</a:t>
            </a:r>
            <a:endParaRPr sz="2400">
              <a:latin typeface="Calibri"/>
              <a:cs typeface="Calibri"/>
            </a:endParaRPr>
          </a:p>
          <a:p>
            <a:pPr marL="481965" indent="-469900">
              <a:lnSpc>
                <a:spcPct val="100000"/>
              </a:lnSpc>
              <a:spcBef>
                <a:spcPts val="575"/>
              </a:spcBef>
              <a:buClr>
                <a:srgbClr val="CC0000"/>
              </a:buClr>
              <a:buFont typeface="Wingdings"/>
              <a:buChar char=""/>
              <a:tabLst>
                <a:tab pos="481965" algn="l"/>
                <a:tab pos="482600" algn="l"/>
              </a:tabLst>
            </a:pPr>
            <a:r>
              <a:rPr sz="2400" b="1" spc="-5" dirty="0">
                <a:latin typeface="Calibri"/>
                <a:cs typeface="Calibri"/>
              </a:rPr>
              <a:t>Lines </a:t>
            </a:r>
            <a:r>
              <a:rPr sz="2400" spc="-5" dirty="0">
                <a:latin typeface="Calibri"/>
                <a:cs typeface="Calibri"/>
              </a:rPr>
              <a:t>connect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attributes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 the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entity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they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belong </a:t>
            </a:r>
            <a:r>
              <a:rPr sz="2400" dirty="0">
                <a:latin typeface="Calibri"/>
                <a:cs typeface="Calibri"/>
              </a:rPr>
              <a:t>to</a:t>
            </a:r>
            <a:endParaRPr sz="2400">
              <a:latin typeface="Calibri"/>
              <a:cs typeface="Calibri"/>
            </a:endParaRPr>
          </a:p>
          <a:p>
            <a:pPr marL="481965" indent="-469900">
              <a:lnSpc>
                <a:spcPct val="100000"/>
              </a:lnSpc>
              <a:spcBef>
                <a:spcPts val="575"/>
              </a:spcBef>
              <a:buClr>
                <a:srgbClr val="CC0000"/>
              </a:buClr>
              <a:buFont typeface="Wingdings"/>
              <a:buChar char=""/>
              <a:tabLst>
                <a:tab pos="481965" algn="l"/>
                <a:tab pos="482600" algn="l"/>
                <a:tab pos="3816985" algn="l"/>
              </a:tabLst>
            </a:pPr>
            <a:r>
              <a:rPr sz="2400" b="1" spc="-5" dirty="0">
                <a:latin typeface="Calibri"/>
                <a:cs typeface="Calibri"/>
              </a:rPr>
              <a:t>Double</a:t>
            </a:r>
            <a:r>
              <a:rPr sz="2400" b="1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ellipses</a:t>
            </a:r>
            <a:r>
              <a:rPr sz="2400" b="1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represent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5" dirty="0">
                <a:latin typeface="Calibri"/>
                <a:cs typeface="Calibri"/>
              </a:rPr>
              <a:t>composite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attributes</a:t>
            </a:r>
            <a:endParaRPr sz="2400">
              <a:latin typeface="Calibri"/>
              <a:cs typeface="Calibri"/>
            </a:endParaRPr>
          </a:p>
          <a:p>
            <a:pPr marL="481965" indent="-469900">
              <a:lnSpc>
                <a:spcPct val="100000"/>
              </a:lnSpc>
              <a:spcBef>
                <a:spcPts val="580"/>
              </a:spcBef>
              <a:buClr>
                <a:srgbClr val="CC0000"/>
              </a:buClr>
              <a:buFont typeface="Wingdings"/>
              <a:buChar char=""/>
              <a:tabLst>
                <a:tab pos="481965" algn="l"/>
                <a:tab pos="482600" algn="l"/>
              </a:tabLst>
            </a:pPr>
            <a:r>
              <a:rPr sz="2400" spc="-5" dirty="0">
                <a:latin typeface="Calibri"/>
                <a:cs typeface="Calibri"/>
              </a:rPr>
              <a:t>Attribute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identifier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underlined.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44595" y="4600955"/>
            <a:ext cx="2714244" cy="234696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666984" y="6733226"/>
            <a:ext cx="309245" cy="2108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z="1200" dirty="0">
                <a:latin typeface="Verdana"/>
                <a:cs typeface="Verdana"/>
              </a:rPr>
              <a:t>18</a:t>
            </a:fld>
            <a:endParaRPr sz="1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740907" y="3598164"/>
            <a:ext cx="1507490" cy="1649095"/>
          </a:xfrm>
          <a:custGeom>
            <a:avLst/>
            <a:gdLst/>
            <a:ahLst/>
            <a:cxnLst/>
            <a:rect l="l" t="t" r="r" b="b"/>
            <a:pathLst>
              <a:path w="1507490" h="1649095">
                <a:moveTo>
                  <a:pt x="1507235" y="1642871"/>
                </a:moveTo>
                <a:lnTo>
                  <a:pt x="7619" y="0"/>
                </a:lnTo>
                <a:lnTo>
                  <a:pt x="0" y="6095"/>
                </a:lnTo>
                <a:lnTo>
                  <a:pt x="1499615" y="1648967"/>
                </a:lnTo>
                <a:lnTo>
                  <a:pt x="1507235" y="164287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598675" y="4882895"/>
            <a:ext cx="363220" cy="294640"/>
          </a:xfrm>
          <a:custGeom>
            <a:avLst/>
            <a:gdLst/>
            <a:ahLst/>
            <a:cxnLst/>
            <a:rect l="l" t="t" r="r" b="b"/>
            <a:pathLst>
              <a:path w="363219" h="294639">
                <a:moveTo>
                  <a:pt x="362711" y="286511"/>
                </a:moveTo>
                <a:lnTo>
                  <a:pt x="4571" y="0"/>
                </a:lnTo>
                <a:lnTo>
                  <a:pt x="0" y="7619"/>
                </a:lnTo>
                <a:lnTo>
                  <a:pt x="356615" y="294131"/>
                </a:lnTo>
                <a:lnTo>
                  <a:pt x="362711" y="28651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2886455" y="3238500"/>
            <a:ext cx="3291840" cy="510540"/>
            <a:chOff x="2886455" y="3238500"/>
            <a:chExt cx="3291840" cy="510540"/>
          </a:xfrm>
        </p:grpSpPr>
        <p:sp>
          <p:nvSpPr>
            <p:cNvPr id="5" name="object 5"/>
            <p:cNvSpPr/>
            <p:nvPr/>
          </p:nvSpPr>
          <p:spPr>
            <a:xfrm>
              <a:off x="2886455" y="3488436"/>
              <a:ext cx="858519" cy="189230"/>
            </a:xfrm>
            <a:custGeom>
              <a:avLst/>
              <a:gdLst/>
              <a:ahLst/>
              <a:cxnLst/>
              <a:rect l="l" t="t" r="r" b="b"/>
              <a:pathLst>
                <a:path w="858520" h="189229">
                  <a:moveTo>
                    <a:pt x="858011" y="9143"/>
                  </a:moveTo>
                  <a:lnTo>
                    <a:pt x="856487" y="0"/>
                  </a:lnTo>
                  <a:lnTo>
                    <a:pt x="0" y="179831"/>
                  </a:lnTo>
                  <a:lnTo>
                    <a:pt x="1523" y="188975"/>
                  </a:lnTo>
                  <a:lnTo>
                    <a:pt x="858011" y="914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744467" y="3244596"/>
              <a:ext cx="2428240" cy="500380"/>
            </a:xfrm>
            <a:custGeom>
              <a:avLst/>
              <a:gdLst/>
              <a:ahLst/>
              <a:cxnLst/>
              <a:rect l="l" t="t" r="r" b="b"/>
              <a:pathLst>
                <a:path w="2428240" h="500379">
                  <a:moveTo>
                    <a:pt x="2427731" y="499871"/>
                  </a:moveTo>
                  <a:lnTo>
                    <a:pt x="2427731" y="0"/>
                  </a:lnTo>
                  <a:lnTo>
                    <a:pt x="0" y="0"/>
                  </a:lnTo>
                  <a:lnTo>
                    <a:pt x="0" y="499871"/>
                  </a:lnTo>
                  <a:lnTo>
                    <a:pt x="2427731" y="499871"/>
                  </a:lnTo>
                  <a:close/>
                </a:path>
              </a:pathLst>
            </a:custGeom>
            <a:solidFill>
              <a:srgbClr val="A2B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739896" y="3238500"/>
              <a:ext cx="2438400" cy="510540"/>
            </a:xfrm>
            <a:custGeom>
              <a:avLst/>
              <a:gdLst/>
              <a:ahLst/>
              <a:cxnLst/>
              <a:rect l="l" t="t" r="r" b="b"/>
              <a:pathLst>
                <a:path w="2438400" h="510539">
                  <a:moveTo>
                    <a:pt x="2438400" y="507492"/>
                  </a:moveTo>
                  <a:lnTo>
                    <a:pt x="2438400" y="3048"/>
                  </a:lnTo>
                  <a:lnTo>
                    <a:pt x="2435352" y="0"/>
                  </a:lnTo>
                  <a:lnTo>
                    <a:pt x="1524" y="0"/>
                  </a:lnTo>
                  <a:lnTo>
                    <a:pt x="0" y="3048"/>
                  </a:lnTo>
                  <a:lnTo>
                    <a:pt x="0" y="507492"/>
                  </a:lnTo>
                  <a:lnTo>
                    <a:pt x="1524" y="510540"/>
                  </a:lnTo>
                  <a:lnTo>
                    <a:pt x="4572" y="510540"/>
                  </a:lnTo>
                  <a:lnTo>
                    <a:pt x="4572" y="10668"/>
                  </a:lnTo>
                  <a:lnTo>
                    <a:pt x="9144" y="6096"/>
                  </a:lnTo>
                  <a:lnTo>
                    <a:pt x="9144" y="10668"/>
                  </a:lnTo>
                  <a:lnTo>
                    <a:pt x="2427732" y="10668"/>
                  </a:lnTo>
                  <a:lnTo>
                    <a:pt x="2427732" y="6096"/>
                  </a:lnTo>
                  <a:lnTo>
                    <a:pt x="2432304" y="10668"/>
                  </a:lnTo>
                  <a:lnTo>
                    <a:pt x="2432304" y="510540"/>
                  </a:lnTo>
                  <a:lnTo>
                    <a:pt x="2435352" y="510540"/>
                  </a:lnTo>
                  <a:lnTo>
                    <a:pt x="2438400" y="507492"/>
                  </a:lnTo>
                  <a:close/>
                </a:path>
                <a:path w="2438400" h="510539">
                  <a:moveTo>
                    <a:pt x="9144" y="10668"/>
                  </a:moveTo>
                  <a:lnTo>
                    <a:pt x="9144" y="6096"/>
                  </a:lnTo>
                  <a:lnTo>
                    <a:pt x="4572" y="10668"/>
                  </a:lnTo>
                  <a:lnTo>
                    <a:pt x="9144" y="10668"/>
                  </a:lnTo>
                  <a:close/>
                </a:path>
                <a:path w="2438400" h="510539">
                  <a:moveTo>
                    <a:pt x="9144" y="501396"/>
                  </a:moveTo>
                  <a:lnTo>
                    <a:pt x="9144" y="10668"/>
                  </a:lnTo>
                  <a:lnTo>
                    <a:pt x="4572" y="10668"/>
                  </a:lnTo>
                  <a:lnTo>
                    <a:pt x="4572" y="501396"/>
                  </a:lnTo>
                  <a:lnTo>
                    <a:pt x="9144" y="501396"/>
                  </a:lnTo>
                  <a:close/>
                </a:path>
                <a:path w="2438400" h="510539">
                  <a:moveTo>
                    <a:pt x="2432304" y="501396"/>
                  </a:moveTo>
                  <a:lnTo>
                    <a:pt x="4572" y="501396"/>
                  </a:lnTo>
                  <a:lnTo>
                    <a:pt x="9144" y="505968"/>
                  </a:lnTo>
                  <a:lnTo>
                    <a:pt x="9144" y="510540"/>
                  </a:lnTo>
                  <a:lnTo>
                    <a:pt x="2427732" y="510540"/>
                  </a:lnTo>
                  <a:lnTo>
                    <a:pt x="2427732" y="505968"/>
                  </a:lnTo>
                  <a:lnTo>
                    <a:pt x="2432304" y="501396"/>
                  </a:lnTo>
                  <a:close/>
                </a:path>
                <a:path w="2438400" h="510539">
                  <a:moveTo>
                    <a:pt x="9144" y="510540"/>
                  </a:moveTo>
                  <a:lnTo>
                    <a:pt x="9144" y="505968"/>
                  </a:lnTo>
                  <a:lnTo>
                    <a:pt x="4572" y="501396"/>
                  </a:lnTo>
                  <a:lnTo>
                    <a:pt x="4572" y="510540"/>
                  </a:lnTo>
                  <a:lnTo>
                    <a:pt x="9144" y="510540"/>
                  </a:lnTo>
                  <a:close/>
                </a:path>
                <a:path w="2438400" h="510539">
                  <a:moveTo>
                    <a:pt x="2432304" y="10668"/>
                  </a:moveTo>
                  <a:lnTo>
                    <a:pt x="2427732" y="6096"/>
                  </a:lnTo>
                  <a:lnTo>
                    <a:pt x="2427732" y="10668"/>
                  </a:lnTo>
                  <a:lnTo>
                    <a:pt x="2432304" y="10668"/>
                  </a:lnTo>
                  <a:close/>
                </a:path>
                <a:path w="2438400" h="510539">
                  <a:moveTo>
                    <a:pt x="2432304" y="501396"/>
                  </a:moveTo>
                  <a:lnTo>
                    <a:pt x="2432304" y="10668"/>
                  </a:lnTo>
                  <a:lnTo>
                    <a:pt x="2427732" y="10668"/>
                  </a:lnTo>
                  <a:lnTo>
                    <a:pt x="2427732" y="501396"/>
                  </a:lnTo>
                  <a:lnTo>
                    <a:pt x="2432304" y="501396"/>
                  </a:lnTo>
                  <a:close/>
                </a:path>
                <a:path w="2438400" h="510539">
                  <a:moveTo>
                    <a:pt x="2432304" y="510540"/>
                  </a:moveTo>
                  <a:lnTo>
                    <a:pt x="2432304" y="501396"/>
                  </a:lnTo>
                  <a:lnTo>
                    <a:pt x="2427732" y="505968"/>
                  </a:lnTo>
                  <a:lnTo>
                    <a:pt x="2427732" y="510540"/>
                  </a:lnTo>
                  <a:lnTo>
                    <a:pt x="2432304" y="51054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4137150" y="1470151"/>
            <a:ext cx="2336800" cy="605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800" spc="5" dirty="0"/>
              <a:t>E</a:t>
            </a:r>
            <a:r>
              <a:rPr sz="3800" spc="-5" dirty="0"/>
              <a:t>x</a:t>
            </a:r>
            <a:r>
              <a:rPr sz="3800" dirty="0"/>
              <a:t>a</a:t>
            </a:r>
            <a:r>
              <a:rPr sz="3800" spc="-5" dirty="0"/>
              <a:t>m</a:t>
            </a:r>
            <a:r>
              <a:rPr sz="3800" dirty="0"/>
              <a:t>p</a:t>
            </a:r>
            <a:r>
              <a:rPr sz="3800" spc="-5" dirty="0"/>
              <a:t>l</a:t>
            </a:r>
            <a:r>
              <a:rPr sz="3800" dirty="0"/>
              <a:t>e</a:t>
            </a:r>
            <a:endParaRPr sz="3800"/>
          </a:p>
        </p:txBody>
      </p:sp>
      <p:sp>
        <p:nvSpPr>
          <p:cNvPr id="9" name="object 9"/>
          <p:cNvSpPr txBox="1"/>
          <p:nvPr/>
        </p:nvSpPr>
        <p:spPr>
          <a:xfrm>
            <a:off x="894079" y="2194051"/>
            <a:ext cx="6816725" cy="1471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81965" marR="5080" indent="-469900">
              <a:lnSpc>
                <a:spcPct val="100000"/>
              </a:lnSpc>
              <a:spcBef>
                <a:spcPts val="100"/>
              </a:spcBef>
              <a:tabLst>
                <a:tab pos="481965" algn="l"/>
                <a:tab pos="1564005" algn="l"/>
              </a:tabLst>
            </a:pPr>
            <a:r>
              <a:rPr sz="2400" dirty="0">
                <a:solidFill>
                  <a:srgbClr val="CC0000"/>
                </a:solidFill>
                <a:latin typeface="Wingdings"/>
                <a:cs typeface="Wingdings"/>
              </a:rPr>
              <a:t></a:t>
            </a:r>
            <a:r>
              <a:rPr sz="2400" dirty="0">
                <a:solidFill>
                  <a:srgbClr val="CC0000"/>
                </a:solidFill>
                <a:latin typeface="Times New Roman"/>
                <a:cs typeface="Times New Roman"/>
              </a:rPr>
              <a:t>	</a:t>
            </a:r>
            <a:r>
              <a:rPr sz="2400" spc="-5" dirty="0">
                <a:latin typeface="Times New Roman"/>
                <a:cs typeface="Times New Roman"/>
              </a:rPr>
              <a:t>Student	</a:t>
            </a:r>
            <a:r>
              <a:rPr sz="2400" dirty="0">
                <a:latin typeface="Times New Roman"/>
                <a:cs typeface="Times New Roman"/>
              </a:rPr>
              <a:t>(id_student, </a:t>
            </a:r>
            <a:r>
              <a:rPr sz="2400" spc="-5" dirty="0">
                <a:latin typeface="Times New Roman"/>
                <a:cs typeface="Times New Roman"/>
              </a:rPr>
              <a:t>name, SID, faculty, start_date,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address_data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(street,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city,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phone))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350">
              <a:latin typeface="Times New Roman"/>
              <a:cs typeface="Times New Roman"/>
            </a:endParaRPr>
          </a:p>
          <a:p>
            <a:pPr marL="3265804">
              <a:lnSpc>
                <a:spcPct val="100000"/>
              </a:lnSpc>
            </a:pPr>
            <a:r>
              <a:rPr sz="2400" b="1" spc="-5" dirty="0">
                <a:latin typeface="Verdana"/>
                <a:cs typeface="Verdana"/>
              </a:rPr>
              <a:t>STUDENT</a:t>
            </a:r>
            <a:endParaRPr sz="2400">
              <a:latin typeface="Verdana"/>
              <a:cs typeface="Verdana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3489959"/>
            <a:ext cx="8859011" cy="3044952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4565394" y="4623306"/>
            <a:ext cx="121475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5" dirty="0">
                <a:latin typeface="Verdana"/>
                <a:cs typeface="Verdana"/>
              </a:rPr>
              <a:t>I</a:t>
            </a:r>
            <a:r>
              <a:rPr sz="1500" b="1" spc="-10" dirty="0">
                <a:latin typeface="Verdana"/>
                <a:cs typeface="Verdana"/>
              </a:rPr>
              <a:t>d</a:t>
            </a:r>
            <a:r>
              <a:rPr sz="1500" b="1" dirty="0">
                <a:latin typeface="Verdana"/>
                <a:cs typeface="Verdana"/>
              </a:rPr>
              <a:t>_</a:t>
            </a:r>
            <a:r>
              <a:rPr sz="1500" b="1" spc="-5" dirty="0">
                <a:latin typeface="Verdana"/>
                <a:cs typeface="Verdana"/>
              </a:rPr>
              <a:t>s</a:t>
            </a:r>
            <a:r>
              <a:rPr sz="1500" b="1" dirty="0">
                <a:latin typeface="Verdana"/>
                <a:cs typeface="Verdana"/>
              </a:rPr>
              <a:t>tu</a:t>
            </a:r>
            <a:r>
              <a:rPr sz="1500" b="1" spc="-5" dirty="0">
                <a:latin typeface="Verdana"/>
                <a:cs typeface="Verdana"/>
              </a:rPr>
              <a:t>dent</a:t>
            </a:r>
            <a:endParaRPr sz="1500">
              <a:latin typeface="Verdana"/>
              <a:cs typeface="Verdan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882396" y="3453384"/>
            <a:ext cx="2147570" cy="437515"/>
            <a:chOff x="882396" y="3453384"/>
            <a:chExt cx="2147570" cy="437515"/>
          </a:xfrm>
        </p:grpSpPr>
        <p:sp>
          <p:nvSpPr>
            <p:cNvPr id="13" name="object 13"/>
            <p:cNvSpPr/>
            <p:nvPr/>
          </p:nvSpPr>
          <p:spPr>
            <a:xfrm>
              <a:off x="886967" y="3457955"/>
              <a:ext cx="2143125" cy="428625"/>
            </a:xfrm>
            <a:custGeom>
              <a:avLst/>
              <a:gdLst/>
              <a:ahLst/>
              <a:cxnLst/>
              <a:rect l="l" t="t" r="r" b="b"/>
              <a:pathLst>
                <a:path w="2143125" h="428625">
                  <a:moveTo>
                    <a:pt x="2142743" y="214883"/>
                  </a:moveTo>
                  <a:lnTo>
                    <a:pt x="2120961" y="171521"/>
                  </a:lnTo>
                  <a:lnTo>
                    <a:pt x="2083570" y="144227"/>
                  </a:lnTo>
                  <a:lnTo>
                    <a:pt x="2029379" y="118520"/>
                  </a:lnTo>
                  <a:lnTo>
                    <a:pt x="1959667" y="94654"/>
                  </a:lnTo>
                  <a:lnTo>
                    <a:pt x="1919391" y="83491"/>
                  </a:lnTo>
                  <a:lnTo>
                    <a:pt x="1875715" y="72884"/>
                  </a:lnTo>
                  <a:lnTo>
                    <a:pt x="1828799" y="62864"/>
                  </a:lnTo>
                  <a:lnTo>
                    <a:pt x="1778804" y="53464"/>
                  </a:lnTo>
                  <a:lnTo>
                    <a:pt x="1725889" y="44714"/>
                  </a:lnTo>
                  <a:lnTo>
                    <a:pt x="1670214" y="36647"/>
                  </a:lnTo>
                  <a:lnTo>
                    <a:pt x="1611940" y="29294"/>
                  </a:lnTo>
                  <a:lnTo>
                    <a:pt x="1551226" y="22688"/>
                  </a:lnTo>
                  <a:lnTo>
                    <a:pt x="1488233" y="16859"/>
                  </a:lnTo>
                  <a:lnTo>
                    <a:pt x="1423121" y="11840"/>
                  </a:lnTo>
                  <a:lnTo>
                    <a:pt x="1356049" y="7662"/>
                  </a:lnTo>
                  <a:lnTo>
                    <a:pt x="1287178" y="4357"/>
                  </a:lnTo>
                  <a:lnTo>
                    <a:pt x="1216668" y="1957"/>
                  </a:lnTo>
                  <a:lnTo>
                    <a:pt x="1144679" y="494"/>
                  </a:lnTo>
                  <a:lnTo>
                    <a:pt x="1071371" y="0"/>
                  </a:lnTo>
                  <a:lnTo>
                    <a:pt x="998064" y="494"/>
                  </a:lnTo>
                  <a:lnTo>
                    <a:pt x="926075" y="1957"/>
                  </a:lnTo>
                  <a:lnTo>
                    <a:pt x="855565" y="4357"/>
                  </a:lnTo>
                  <a:lnTo>
                    <a:pt x="786694" y="7662"/>
                  </a:lnTo>
                  <a:lnTo>
                    <a:pt x="719622" y="11840"/>
                  </a:lnTo>
                  <a:lnTo>
                    <a:pt x="654510" y="16859"/>
                  </a:lnTo>
                  <a:lnTo>
                    <a:pt x="591517" y="22688"/>
                  </a:lnTo>
                  <a:lnTo>
                    <a:pt x="530803" y="29294"/>
                  </a:lnTo>
                  <a:lnTo>
                    <a:pt x="472529" y="36647"/>
                  </a:lnTo>
                  <a:lnTo>
                    <a:pt x="416854" y="44714"/>
                  </a:lnTo>
                  <a:lnTo>
                    <a:pt x="363939" y="53464"/>
                  </a:lnTo>
                  <a:lnTo>
                    <a:pt x="313943" y="62864"/>
                  </a:lnTo>
                  <a:lnTo>
                    <a:pt x="267028" y="72884"/>
                  </a:lnTo>
                  <a:lnTo>
                    <a:pt x="223352" y="83491"/>
                  </a:lnTo>
                  <a:lnTo>
                    <a:pt x="183076" y="94654"/>
                  </a:lnTo>
                  <a:lnTo>
                    <a:pt x="146360" y="106341"/>
                  </a:lnTo>
                  <a:lnTo>
                    <a:pt x="84248" y="131159"/>
                  </a:lnTo>
                  <a:lnTo>
                    <a:pt x="38297" y="157691"/>
                  </a:lnTo>
                  <a:lnTo>
                    <a:pt x="9787" y="185684"/>
                  </a:lnTo>
                  <a:lnTo>
                    <a:pt x="0" y="214883"/>
                  </a:lnTo>
                  <a:lnTo>
                    <a:pt x="2473" y="229610"/>
                  </a:lnTo>
                  <a:lnTo>
                    <a:pt x="38297" y="271963"/>
                  </a:lnTo>
                  <a:lnTo>
                    <a:pt x="84248" y="298370"/>
                  </a:lnTo>
                  <a:lnTo>
                    <a:pt x="146360" y="323031"/>
                  </a:lnTo>
                  <a:lnTo>
                    <a:pt x="183076" y="334631"/>
                  </a:lnTo>
                  <a:lnTo>
                    <a:pt x="223352" y="345702"/>
                  </a:lnTo>
                  <a:lnTo>
                    <a:pt x="267028" y="356216"/>
                  </a:lnTo>
                  <a:lnTo>
                    <a:pt x="313943" y="366140"/>
                  </a:lnTo>
                  <a:lnTo>
                    <a:pt x="363939" y="375446"/>
                  </a:lnTo>
                  <a:lnTo>
                    <a:pt x="416854" y="384102"/>
                  </a:lnTo>
                  <a:lnTo>
                    <a:pt x="472529" y="392078"/>
                  </a:lnTo>
                  <a:lnTo>
                    <a:pt x="530803" y="399344"/>
                  </a:lnTo>
                  <a:lnTo>
                    <a:pt x="591517" y="405869"/>
                  </a:lnTo>
                  <a:lnTo>
                    <a:pt x="654510" y="411622"/>
                  </a:lnTo>
                  <a:lnTo>
                    <a:pt x="719622" y="416574"/>
                  </a:lnTo>
                  <a:lnTo>
                    <a:pt x="786694" y="420694"/>
                  </a:lnTo>
                  <a:lnTo>
                    <a:pt x="855565" y="423951"/>
                  </a:lnTo>
                  <a:lnTo>
                    <a:pt x="926075" y="426316"/>
                  </a:lnTo>
                  <a:lnTo>
                    <a:pt x="998064" y="427756"/>
                  </a:lnTo>
                  <a:lnTo>
                    <a:pt x="1071371" y="428243"/>
                  </a:lnTo>
                  <a:lnTo>
                    <a:pt x="1144679" y="427756"/>
                  </a:lnTo>
                  <a:lnTo>
                    <a:pt x="1216668" y="426316"/>
                  </a:lnTo>
                  <a:lnTo>
                    <a:pt x="1287178" y="423951"/>
                  </a:lnTo>
                  <a:lnTo>
                    <a:pt x="1356049" y="420694"/>
                  </a:lnTo>
                  <a:lnTo>
                    <a:pt x="1423121" y="416574"/>
                  </a:lnTo>
                  <a:lnTo>
                    <a:pt x="1488233" y="411622"/>
                  </a:lnTo>
                  <a:lnTo>
                    <a:pt x="1551226" y="405869"/>
                  </a:lnTo>
                  <a:lnTo>
                    <a:pt x="1611940" y="399344"/>
                  </a:lnTo>
                  <a:lnTo>
                    <a:pt x="1670214" y="392078"/>
                  </a:lnTo>
                  <a:lnTo>
                    <a:pt x="1725889" y="384102"/>
                  </a:lnTo>
                  <a:lnTo>
                    <a:pt x="1778804" y="375446"/>
                  </a:lnTo>
                  <a:lnTo>
                    <a:pt x="1828799" y="366140"/>
                  </a:lnTo>
                  <a:lnTo>
                    <a:pt x="1875715" y="356216"/>
                  </a:lnTo>
                  <a:lnTo>
                    <a:pt x="1919391" y="345702"/>
                  </a:lnTo>
                  <a:lnTo>
                    <a:pt x="1959667" y="334631"/>
                  </a:lnTo>
                  <a:lnTo>
                    <a:pt x="1996383" y="323031"/>
                  </a:lnTo>
                  <a:lnTo>
                    <a:pt x="2058495" y="298370"/>
                  </a:lnTo>
                  <a:lnTo>
                    <a:pt x="2104446" y="271963"/>
                  </a:lnTo>
                  <a:lnTo>
                    <a:pt x="2132956" y="244053"/>
                  </a:lnTo>
                  <a:lnTo>
                    <a:pt x="2142743" y="214883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82396" y="3453384"/>
              <a:ext cx="2146300" cy="437515"/>
            </a:xfrm>
            <a:custGeom>
              <a:avLst/>
              <a:gdLst/>
              <a:ahLst/>
              <a:cxnLst/>
              <a:rect l="l" t="t" r="r" b="b"/>
              <a:pathLst>
                <a:path w="2146300" h="437514">
                  <a:moveTo>
                    <a:pt x="12700" y="199644"/>
                  </a:moveTo>
                  <a:lnTo>
                    <a:pt x="12700" y="178308"/>
                  </a:lnTo>
                  <a:lnTo>
                    <a:pt x="0" y="184404"/>
                  </a:lnTo>
                  <a:lnTo>
                    <a:pt x="0" y="213360"/>
                  </a:lnTo>
                  <a:lnTo>
                    <a:pt x="12700" y="199644"/>
                  </a:lnTo>
                  <a:close/>
                </a:path>
                <a:path w="2146300" h="437514">
                  <a:moveTo>
                    <a:pt x="12700" y="260604"/>
                  </a:moveTo>
                  <a:lnTo>
                    <a:pt x="12700" y="239268"/>
                  </a:lnTo>
                  <a:lnTo>
                    <a:pt x="0" y="233172"/>
                  </a:lnTo>
                  <a:lnTo>
                    <a:pt x="0" y="254508"/>
                  </a:lnTo>
                  <a:lnTo>
                    <a:pt x="12700" y="260604"/>
                  </a:lnTo>
                  <a:close/>
                </a:path>
                <a:path w="2146300" h="437514">
                  <a:moveTo>
                    <a:pt x="2108200" y="169164"/>
                  </a:moveTo>
                  <a:lnTo>
                    <a:pt x="2108200" y="156972"/>
                  </a:lnTo>
                  <a:lnTo>
                    <a:pt x="2095500" y="150876"/>
                  </a:lnTo>
                  <a:lnTo>
                    <a:pt x="2082800" y="146304"/>
                  </a:lnTo>
                  <a:lnTo>
                    <a:pt x="2082800" y="141732"/>
                  </a:lnTo>
                  <a:lnTo>
                    <a:pt x="2070100" y="135636"/>
                  </a:lnTo>
                  <a:lnTo>
                    <a:pt x="1955800" y="94488"/>
                  </a:lnTo>
                  <a:lnTo>
                    <a:pt x="1930400" y="86868"/>
                  </a:lnTo>
                  <a:lnTo>
                    <a:pt x="1892300" y="77724"/>
                  </a:lnTo>
                  <a:lnTo>
                    <a:pt x="1866900" y="70104"/>
                  </a:lnTo>
                  <a:lnTo>
                    <a:pt x="1828800" y="62484"/>
                  </a:lnTo>
                  <a:lnTo>
                    <a:pt x="1790700" y="56388"/>
                  </a:lnTo>
                  <a:lnTo>
                    <a:pt x="1752600" y="48768"/>
                  </a:lnTo>
                  <a:lnTo>
                    <a:pt x="1714500" y="42672"/>
                  </a:lnTo>
                  <a:lnTo>
                    <a:pt x="1625600" y="30480"/>
                  </a:lnTo>
                  <a:lnTo>
                    <a:pt x="1536700" y="21336"/>
                  </a:lnTo>
                  <a:lnTo>
                    <a:pt x="1485900" y="16764"/>
                  </a:lnTo>
                  <a:lnTo>
                    <a:pt x="1435100" y="13716"/>
                  </a:lnTo>
                  <a:lnTo>
                    <a:pt x="1384300" y="9144"/>
                  </a:lnTo>
                  <a:lnTo>
                    <a:pt x="1333500" y="7620"/>
                  </a:lnTo>
                  <a:lnTo>
                    <a:pt x="1282700" y="4572"/>
                  </a:lnTo>
                  <a:lnTo>
                    <a:pt x="1130300" y="0"/>
                  </a:lnTo>
                  <a:lnTo>
                    <a:pt x="1016000" y="0"/>
                  </a:lnTo>
                  <a:lnTo>
                    <a:pt x="965200" y="1524"/>
                  </a:lnTo>
                  <a:lnTo>
                    <a:pt x="850900" y="4572"/>
                  </a:lnTo>
                  <a:lnTo>
                    <a:pt x="800100" y="6096"/>
                  </a:lnTo>
                  <a:lnTo>
                    <a:pt x="749300" y="9144"/>
                  </a:lnTo>
                  <a:lnTo>
                    <a:pt x="698500" y="13716"/>
                  </a:lnTo>
                  <a:lnTo>
                    <a:pt x="647700" y="16764"/>
                  </a:lnTo>
                  <a:lnTo>
                    <a:pt x="558800" y="25908"/>
                  </a:lnTo>
                  <a:lnTo>
                    <a:pt x="508000" y="30480"/>
                  </a:lnTo>
                  <a:lnTo>
                    <a:pt x="469900" y="36576"/>
                  </a:lnTo>
                  <a:lnTo>
                    <a:pt x="381000" y="48768"/>
                  </a:lnTo>
                  <a:lnTo>
                    <a:pt x="342900" y="56388"/>
                  </a:lnTo>
                  <a:lnTo>
                    <a:pt x="304800" y="62484"/>
                  </a:lnTo>
                  <a:lnTo>
                    <a:pt x="279400" y="70104"/>
                  </a:lnTo>
                  <a:lnTo>
                    <a:pt x="241300" y="77724"/>
                  </a:lnTo>
                  <a:lnTo>
                    <a:pt x="215900" y="86868"/>
                  </a:lnTo>
                  <a:lnTo>
                    <a:pt x="177800" y="94488"/>
                  </a:lnTo>
                  <a:lnTo>
                    <a:pt x="76200" y="131064"/>
                  </a:lnTo>
                  <a:lnTo>
                    <a:pt x="63500" y="137160"/>
                  </a:lnTo>
                  <a:lnTo>
                    <a:pt x="50800" y="146304"/>
                  </a:lnTo>
                  <a:lnTo>
                    <a:pt x="38100" y="150876"/>
                  </a:lnTo>
                  <a:lnTo>
                    <a:pt x="38100" y="156972"/>
                  </a:lnTo>
                  <a:lnTo>
                    <a:pt x="25400" y="161544"/>
                  </a:lnTo>
                  <a:lnTo>
                    <a:pt x="25400" y="167640"/>
                  </a:lnTo>
                  <a:lnTo>
                    <a:pt x="12700" y="172212"/>
                  </a:lnTo>
                  <a:lnTo>
                    <a:pt x="12700" y="188976"/>
                  </a:lnTo>
                  <a:lnTo>
                    <a:pt x="25400" y="173736"/>
                  </a:lnTo>
                  <a:lnTo>
                    <a:pt x="38100" y="164592"/>
                  </a:lnTo>
                  <a:lnTo>
                    <a:pt x="50800" y="160020"/>
                  </a:lnTo>
                  <a:lnTo>
                    <a:pt x="50800" y="153924"/>
                  </a:lnTo>
                  <a:lnTo>
                    <a:pt x="88900" y="140208"/>
                  </a:lnTo>
                  <a:lnTo>
                    <a:pt x="101600" y="131064"/>
                  </a:lnTo>
                  <a:lnTo>
                    <a:pt x="177800" y="103632"/>
                  </a:lnTo>
                  <a:lnTo>
                    <a:pt x="215900" y="96012"/>
                  </a:lnTo>
                  <a:lnTo>
                    <a:pt x="241300" y="86868"/>
                  </a:lnTo>
                  <a:lnTo>
                    <a:pt x="317500" y="71628"/>
                  </a:lnTo>
                  <a:lnTo>
                    <a:pt x="355600" y="65532"/>
                  </a:lnTo>
                  <a:lnTo>
                    <a:pt x="393700" y="57912"/>
                  </a:lnTo>
                  <a:lnTo>
                    <a:pt x="469900" y="45720"/>
                  </a:lnTo>
                  <a:lnTo>
                    <a:pt x="520700" y="41148"/>
                  </a:lnTo>
                  <a:lnTo>
                    <a:pt x="558800" y="35052"/>
                  </a:lnTo>
                  <a:lnTo>
                    <a:pt x="609600" y="30480"/>
                  </a:lnTo>
                  <a:lnTo>
                    <a:pt x="647700" y="25908"/>
                  </a:lnTo>
                  <a:lnTo>
                    <a:pt x="850900" y="13716"/>
                  </a:lnTo>
                  <a:lnTo>
                    <a:pt x="965200" y="10668"/>
                  </a:lnTo>
                  <a:lnTo>
                    <a:pt x="1016000" y="9144"/>
                  </a:lnTo>
                  <a:lnTo>
                    <a:pt x="1066800" y="9144"/>
                  </a:lnTo>
                  <a:lnTo>
                    <a:pt x="1130300" y="10668"/>
                  </a:lnTo>
                  <a:lnTo>
                    <a:pt x="1181100" y="10668"/>
                  </a:lnTo>
                  <a:lnTo>
                    <a:pt x="1282700" y="13716"/>
                  </a:lnTo>
                  <a:lnTo>
                    <a:pt x="1485900" y="25908"/>
                  </a:lnTo>
                  <a:lnTo>
                    <a:pt x="1574800" y="35052"/>
                  </a:lnTo>
                  <a:lnTo>
                    <a:pt x="1663700" y="45720"/>
                  </a:lnTo>
                  <a:lnTo>
                    <a:pt x="1752600" y="57912"/>
                  </a:lnTo>
                  <a:lnTo>
                    <a:pt x="1790700" y="65532"/>
                  </a:lnTo>
                  <a:lnTo>
                    <a:pt x="1828800" y="71628"/>
                  </a:lnTo>
                  <a:lnTo>
                    <a:pt x="1866900" y="79248"/>
                  </a:lnTo>
                  <a:lnTo>
                    <a:pt x="1892300" y="86868"/>
                  </a:lnTo>
                  <a:lnTo>
                    <a:pt x="1930400" y="96012"/>
                  </a:lnTo>
                  <a:lnTo>
                    <a:pt x="1955800" y="103632"/>
                  </a:lnTo>
                  <a:lnTo>
                    <a:pt x="2070100" y="144780"/>
                  </a:lnTo>
                  <a:lnTo>
                    <a:pt x="2070100" y="149352"/>
                  </a:lnTo>
                  <a:lnTo>
                    <a:pt x="2082800" y="155448"/>
                  </a:lnTo>
                  <a:lnTo>
                    <a:pt x="2095500" y="160020"/>
                  </a:lnTo>
                  <a:lnTo>
                    <a:pt x="2095500" y="164592"/>
                  </a:lnTo>
                  <a:lnTo>
                    <a:pt x="2108200" y="169164"/>
                  </a:lnTo>
                  <a:close/>
                </a:path>
                <a:path w="2146300" h="437514">
                  <a:moveTo>
                    <a:pt x="38100" y="281940"/>
                  </a:moveTo>
                  <a:lnTo>
                    <a:pt x="38100" y="268224"/>
                  </a:lnTo>
                  <a:lnTo>
                    <a:pt x="25400" y="259080"/>
                  </a:lnTo>
                  <a:lnTo>
                    <a:pt x="12700" y="254508"/>
                  </a:lnTo>
                  <a:lnTo>
                    <a:pt x="12700" y="265176"/>
                  </a:lnTo>
                  <a:lnTo>
                    <a:pt x="25400" y="271272"/>
                  </a:lnTo>
                  <a:lnTo>
                    <a:pt x="25400" y="275844"/>
                  </a:lnTo>
                  <a:lnTo>
                    <a:pt x="38100" y="281940"/>
                  </a:lnTo>
                  <a:close/>
                </a:path>
                <a:path w="2146300" h="437514">
                  <a:moveTo>
                    <a:pt x="2120900" y="271272"/>
                  </a:moveTo>
                  <a:lnTo>
                    <a:pt x="2120900" y="259080"/>
                  </a:lnTo>
                  <a:lnTo>
                    <a:pt x="2108200" y="269748"/>
                  </a:lnTo>
                  <a:lnTo>
                    <a:pt x="2095500" y="274320"/>
                  </a:lnTo>
                  <a:lnTo>
                    <a:pt x="2095500" y="278892"/>
                  </a:lnTo>
                  <a:lnTo>
                    <a:pt x="2070100" y="288036"/>
                  </a:lnTo>
                  <a:lnTo>
                    <a:pt x="2070100" y="294132"/>
                  </a:lnTo>
                  <a:lnTo>
                    <a:pt x="1981200" y="326136"/>
                  </a:lnTo>
                  <a:lnTo>
                    <a:pt x="1955800" y="333756"/>
                  </a:lnTo>
                  <a:lnTo>
                    <a:pt x="1930400" y="342900"/>
                  </a:lnTo>
                  <a:lnTo>
                    <a:pt x="1892300" y="350520"/>
                  </a:lnTo>
                  <a:lnTo>
                    <a:pt x="1866900" y="358140"/>
                  </a:lnTo>
                  <a:lnTo>
                    <a:pt x="1790700" y="373380"/>
                  </a:lnTo>
                  <a:lnTo>
                    <a:pt x="1752600" y="379476"/>
                  </a:lnTo>
                  <a:lnTo>
                    <a:pt x="1663700" y="391668"/>
                  </a:lnTo>
                  <a:lnTo>
                    <a:pt x="1625600" y="397764"/>
                  </a:lnTo>
                  <a:lnTo>
                    <a:pt x="1574800" y="402336"/>
                  </a:lnTo>
                  <a:lnTo>
                    <a:pt x="1485900" y="411480"/>
                  </a:lnTo>
                  <a:lnTo>
                    <a:pt x="1435100" y="416052"/>
                  </a:lnTo>
                  <a:lnTo>
                    <a:pt x="1333500" y="422148"/>
                  </a:lnTo>
                  <a:lnTo>
                    <a:pt x="1282700" y="423672"/>
                  </a:lnTo>
                  <a:lnTo>
                    <a:pt x="1231900" y="426720"/>
                  </a:lnTo>
                  <a:lnTo>
                    <a:pt x="1181100" y="426720"/>
                  </a:lnTo>
                  <a:lnTo>
                    <a:pt x="1130300" y="428244"/>
                  </a:lnTo>
                  <a:lnTo>
                    <a:pt x="965200" y="428244"/>
                  </a:lnTo>
                  <a:lnTo>
                    <a:pt x="901700" y="426720"/>
                  </a:lnTo>
                  <a:lnTo>
                    <a:pt x="850900" y="423672"/>
                  </a:lnTo>
                  <a:lnTo>
                    <a:pt x="800100" y="422148"/>
                  </a:lnTo>
                  <a:lnTo>
                    <a:pt x="698500" y="416052"/>
                  </a:lnTo>
                  <a:lnTo>
                    <a:pt x="647700" y="411480"/>
                  </a:lnTo>
                  <a:lnTo>
                    <a:pt x="609600" y="406908"/>
                  </a:lnTo>
                  <a:lnTo>
                    <a:pt x="558800" y="402336"/>
                  </a:lnTo>
                  <a:lnTo>
                    <a:pt x="469900" y="391668"/>
                  </a:lnTo>
                  <a:lnTo>
                    <a:pt x="355600" y="373380"/>
                  </a:lnTo>
                  <a:lnTo>
                    <a:pt x="241300" y="350520"/>
                  </a:lnTo>
                  <a:lnTo>
                    <a:pt x="215900" y="342900"/>
                  </a:lnTo>
                  <a:lnTo>
                    <a:pt x="177800" y="333756"/>
                  </a:lnTo>
                  <a:lnTo>
                    <a:pt x="152400" y="326136"/>
                  </a:lnTo>
                  <a:lnTo>
                    <a:pt x="101600" y="307848"/>
                  </a:lnTo>
                  <a:lnTo>
                    <a:pt x="88900" y="298704"/>
                  </a:lnTo>
                  <a:lnTo>
                    <a:pt x="76200" y="294132"/>
                  </a:lnTo>
                  <a:lnTo>
                    <a:pt x="63500" y="288036"/>
                  </a:lnTo>
                  <a:lnTo>
                    <a:pt x="50800" y="283464"/>
                  </a:lnTo>
                  <a:lnTo>
                    <a:pt x="38100" y="274320"/>
                  </a:lnTo>
                  <a:lnTo>
                    <a:pt x="38100" y="286512"/>
                  </a:lnTo>
                  <a:lnTo>
                    <a:pt x="50800" y="292608"/>
                  </a:lnTo>
                  <a:lnTo>
                    <a:pt x="63500" y="301752"/>
                  </a:lnTo>
                  <a:lnTo>
                    <a:pt x="76200" y="306324"/>
                  </a:lnTo>
                  <a:lnTo>
                    <a:pt x="101600" y="316992"/>
                  </a:lnTo>
                  <a:lnTo>
                    <a:pt x="152400" y="335280"/>
                  </a:lnTo>
                  <a:lnTo>
                    <a:pt x="177800" y="342900"/>
                  </a:lnTo>
                  <a:lnTo>
                    <a:pt x="215900" y="352044"/>
                  </a:lnTo>
                  <a:lnTo>
                    <a:pt x="241300" y="359664"/>
                  </a:lnTo>
                  <a:lnTo>
                    <a:pt x="279400" y="367284"/>
                  </a:lnTo>
                  <a:lnTo>
                    <a:pt x="304800" y="374904"/>
                  </a:lnTo>
                  <a:lnTo>
                    <a:pt x="342900" y="382524"/>
                  </a:lnTo>
                  <a:lnTo>
                    <a:pt x="381000" y="388620"/>
                  </a:lnTo>
                  <a:lnTo>
                    <a:pt x="431800" y="396240"/>
                  </a:lnTo>
                  <a:lnTo>
                    <a:pt x="469900" y="402336"/>
                  </a:lnTo>
                  <a:lnTo>
                    <a:pt x="558800" y="413004"/>
                  </a:lnTo>
                  <a:lnTo>
                    <a:pt x="647700" y="422148"/>
                  </a:lnTo>
                  <a:lnTo>
                    <a:pt x="850900" y="434340"/>
                  </a:lnTo>
                  <a:lnTo>
                    <a:pt x="965200" y="437388"/>
                  </a:lnTo>
                  <a:lnTo>
                    <a:pt x="1181100" y="437388"/>
                  </a:lnTo>
                  <a:lnTo>
                    <a:pt x="1282700" y="434340"/>
                  </a:lnTo>
                  <a:lnTo>
                    <a:pt x="1435100" y="425196"/>
                  </a:lnTo>
                  <a:lnTo>
                    <a:pt x="1485900" y="420624"/>
                  </a:lnTo>
                  <a:lnTo>
                    <a:pt x="1536700" y="417576"/>
                  </a:lnTo>
                  <a:lnTo>
                    <a:pt x="1714500" y="396240"/>
                  </a:lnTo>
                  <a:lnTo>
                    <a:pt x="1752600" y="388620"/>
                  </a:lnTo>
                  <a:lnTo>
                    <a:pt x="1790700" y="382524"/>
                  </a:lnTo>
                  <a:lnTo>
                    <a:pt x="1866900" y="367284"/>
                  </a:lnTo>
                  <a:lnTo>
                    <a:pt x="1892300" y="359664"/>
                  </a:lnTo>
                  <a:lnTo>
                    <a:pt x="1930400" y="352044"/>
                  </a:lnTo>
                  <a:lnTo>
                    <a:pt x="1955800" y="342900"/>
                  </a:lnTo>
                  <a:lnTo>
                    <a:pt x="1981200" y="335280"/>
                  </a:lnTo>
                  <a:lnTo>
                    <a:pt x="2032000" y="316992"/>
                  </a:lnTo>
                  <a:lnTo>
                    <a:pt x="2057400" y="306324"/>
                  </a:lnTo>
                  <a:lnTo>
                    <a:pt x="2070100" y="301752"/>
                  </a:lnTo>
                  <a:lnTo>
                    <a:pt x="2082800" y="292608"/>
                  </a:lnTo>
                  <a:lnTo>
                    <a:pt x="2095500" y="286512"/>
                  </a:lnTo>
                  <a:lnTo>
                    <a:pt x="2108200" y="281940"/>
                  </a:lnTo>
                  <a:lnTo>
                    <a:pt x="2108200" y="275844"/>
                  </a:lnTo>
                  <a:lnTo>
                    <a:pt x="2120900" y="271272"/>
                  </a:lnTo>
                  <a:close/>
                </a:path>
                <a:path w="2146300" h="437514">
                  <a:moveTo>
                    <a:pt x="2120900" y="179832"/>
                  </a:moveTo>
                  <a:lnTo>
                    <a:pt x="2120900" y="167640"/>
                  </a:lnTo>
                  <a:lnTo>
                    <a:pt x="2108200" y="161544"/>
                  </a:lnTo>
                  <a:lnTo>
                    <a:pt x="2108200" y="175260"/>
                  </a:lnTo>
                  <a:lnTo>
                    <a:pt x="2120900" y="179832"/>
                  </a:lnTo>
                  <a:close/>
                </a:path>
                <a:path w="2146300" h="437514">
                  <a:moveTo>
                    <a:pt x="2133600" y="195072"/>
                  </a:moveTo>
                  <a:lnTo>
                    <a:pt x="2133600" y="182880"/>
                  </a:lnTo>
                  <a:lnTo>
                    <a:pt x="2120900" y="178308"/>
                  </a:lnTo>
                  <a:lnTo>
                    <a:pt x="2120900" y="188976"/>
                  </a:lnTo>
                  <a:lnTo>
                    <a:pt x="2133600" y="195072"/>
                  </a:lnTo>
                  <a:close/>
                </a:path>
                <a:path w="2146300" h="437514">
                  <a:moveTo>
                    <a:pt x="2133600" y="248412"/>
                  </a:moveTo>
                  <a:lnTo>
                    <a:pt x="2133600" y="243840"/>
                  </a:lnTo>
                  <a:lnTo>
                    <a:pt x="2120900" y="248412"/>
                  </a:lnTo>
                  <a:lnTo>
                    <a:pt x="2120900" y="260604"/>
                  </a:lnTo>
                  <a:lnTo>
                    <a:pt x="2133600" y="248412"/>
                  </a:lnTo>
                  <a:close/>
                </a:path>
                <a:path w="2146300" h="437514">
                  <a:moveTo>
                    <a:pt x="2146300" y="237744"/>
                  </a:moveTo>
                  <a:lnTo>
                    <a:pt x="2146300" y="201168"/>
                  </a:lnTo>
                  <a:lnTo>
                    <a:pt x="2133600" y="188976"/>
                  </a:lnTo>
                  <a:lnTo>
                    <a:pt x="2133600" y="242316"/>
                  </a:lnTo>
                  <a:lnTo>
                    <a:pt x="2146300" y="2377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678939" y="3551934"/>
            <a:ext cx="56007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5" dirty="0">
                <a:latin typeface="Verdana"/>
                <a:cs typeface="Verdana"/>
              </a:rPr>
              <a:t>na</a:t>
            </a:r>
            <a:r>
              <a:rPr sz="1500" spc="5" dirty="0">
                <a:latin typeface="Verdana"/>
                <a:cs typeface="Verdana"/>
              </a:rPr>
              <a:t>m</a:t>
            </a:r>
            <a:r>
              <a:rPr sz="1500" dirty="0">
                <a:latin typeface="Verdana"/>
                <a:cs typeface="Verdana"/>
              </a:rPr>
              <a:t>e</a:t>
            </a:r>
            <a:endParaRPr sz="1500">
              <a:latin typeface="Verdana"/>
              <a:cs typeface="Verdan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5954268" y="5239512"/>
            <a:ext cx="2578100" cy="437515"/>
            <a:chOff x="5954268" y="5239512"/>
            <a:chExt cx="2578100" cy="437515"/>
          </a:xfrm>
        </p:grpSpPr>
        <p:sp>
          <p:nvSpPr>
            <p:cNvPr id="17" name="object 17"/>
            <p:cNvSpPr/>
            <p:nvPr/>
          </p:nvSpPr>
          <p:spPr>
            <a:xfrm>
              <a:off x="5958840" y="5244084"/>
              <a:ext cx="2571115" cy="428625"/>
            </a:xfrm>
            <a:custGeom>
              <a:avLst/>
              <a:gdLst/>
              <a:ahLst/>
              <a:cxnLst/>
              <a:rect l="l" t="t" r="r" b="b"/>
              <a:pathLst>
                <a:path w="2571115" h="428625">
                  <a:moveTo>
                    <a:pt x="2570987" y="214883"/>
                  </a:moveTo>
                  <a:lnTo>
                    <a:pt x="2551741" y="177552"/>
                  </a:lnTo>
                  <a:lnTo>
                    <a:pt x="2518524" y="153805"/>
                  </a:lnTo>
                  <a:lnTo>
                    <a:pt x="2470118" y="131159"/>
                  </a:lnTo>
                  <a:lnTo>
                    <a:pt x="2407483" y="109772"/>
                  </a:lnTo>
                  <a:lnTo>
                    <a:pt x="2331578" y="89804"/>
                  </a:lnTo>
                  <a:lnTo>
                    <a:pt x="2288950" y="80403"/>
                  </a:lnTo>
                  <a:lnTo>
                    <a:pt x="2243364" y="71416"/>
                  </a:lnTo>
                  <a:lnTo>
                    <a:pt x="2194940" y="62864"/>
                  </a:lnTo>
                  <a:lnTo>
                    <a:pt x="2143800" y="54768"/>
                  </a:lnTo>
                  <a:lnTo>
                    <a:pt x="2090061" y="47146"/>
                  </a:lnTo>
                  <a:lnTo>
                    <a:pt x="2033845" y="40019"/>
                  </a:lnTo>
                  <a:lnTo>
                    <a:pt x="1975271" y="33406"/>
                  </a:lnTo>
                  <a:lnTo>
                    <a:pt x="1914460" y="27329"/>
                  </a:lnTo>
                  <a:lnTo>
                    <a:pt x="1851531" y="21806"/>
                  </a:lnTo>
                  <a:lnTo>
                    <a:pt x="1786604" y="16859"/>
                  </a:lnTo>
                  <a:lnTo>
                    <a:pt x="1719799" y="12506"/>
                  </a:lnTo>
                  <a:lnTo>
                    <a:pt x="1651237" y="8768"/>
                  </a:lnTo>
                  <a:lnTo>
                    <a:pt x="1581036" y="5665"/>
                  </a:lnTo>
                  <a:lnTo>
                    <a:pt x="1509318" y="3216"/>
                  </a:lnTo>
                  <a:lnTo>
                    <a:pt x="1436202" y="1442"/>
                  </a:lnTo>
                  <a:lnTo>
                    <a:pt x="1361808" y="364"/>
                  </a:lnTo>
                  <a:lnTo>
                    <a:pt x="1286255" y="0"/>
                  </a:lnTo>
                  <a:lnTo>
                    <a:pt x="1210698" y="364"/>
                  </a:lnTo>
                  <a:lnTo>
                    <a:pt x="1136287" y="1442"/>
                  </a:lnTo>
                  <a:lnTo>
                    <a:pt x="1063144" y="3216"/>
                  </a:lnTo>
                  <a:lnTo>
                    <a:pt x="991390" y="5665"/>
                  </a:lnTo>
                  <a:lnTo>
                    <a:pt x="921146" y="8768"/>
                  </a:lnTo>
                  <a:lnTo>
                    <a:pt x="852532" y="12506"/>
                  </a:lnTo>
                  <a:lnTo>
                    <a:pt x="785669" y="16859"/>
                  </a:lnTo>
                  <a:lnTo>
                    <a:pt x="720678" y="21806"/>
                  </a:lnTo>
                  <a:lnTo>
                    <a:pt x="657680" y="27329"/>
                  </a:lnTo>
                  <a:lnTo>
                    <a:pt x="596795" y="33406"/>
                  </a:lnTo>
                  <a:lnTo>
                    <a:pt x="538145" y="40019"/>
                  </a:lnTo>
                  <a:lnTo>
                    <a:pt x="481850" y="47146"/>
                  </a:lnTo>
                  <a:lnTo>
                    <a:pt x="428031" y="54768"/>
                  </a:lnTo>
                  <a:lnTo>
                    <a:pt x="376808" y="62864"/>
                  </a:lnTo>
                  <a:lnTo>
                    <a:pt x="328304" y="71416"/>
                  </a:lnTo>
                  <a:lnTo>
                    <a:pt x="282637" y="80403"/>
                  </a:lnTo>
                  <a:lnTo>
                    <a:pt x="239930" y="89804"/>
                  </a:lnTo>
                  <a:lnTo>
                    <a:pt x="200302" y="99600"/>
                  </a:lnTo>
                  <a:lnTo>
                    <a:pt x="130770" y="120298"/>
                  </a:lnTo>
                  <a:lnTo>
                    <a:pt x="75008" y="142335"/>
                  </a:lnTo>
                  <a:lnTo>
                    <a:pt x="33981" y="165551"/>
                  </a:lnTo>
                  <a:lnTo>
                    <a:pt x="2184" y="202238"/>
                  </a:lnTo>
                  <a:lnTo>
                    <a:pt x="0" y="214883"/>
                  </a:lnTo>
                  <a:lnTo>
                    <a:pt x="2184" y="227371"/>
                  </a:lnTo>
                  <a:lnTo>
                    <a:pt x="33981" y="263651"/>
                  </a:lnTo>
                  <a:lnTo>
                    <a:pt x="75008" y="286648"/>
                  </a:lnTo>
                  <a:lnTo>
                    <a:pt x="130770" y="308501"/>
                  </a:lnTo>
                  <a:lnTo>
                    <a:pt x="200302" y="329047"/>
                  </a:lnTo>
                  <a:lnTo>
                    <a:pt x="239930" y="338780"/>
                  </a:lnTo>
                  <a:lnTo>
                    <a:pt x="282637" y="348125"/>
                  </a:lnTo>
                  <a:lnTo>
                    <a:pt x="328304" y="357061"/>
                  </a:lnTo>
                  <a:lnTo>
                    <a:pt x="376808" y="365569"/>
                  </a:lnTo>
                  <a:lnTo>
                    <a:pt x="428031" y="373628"/>
                  </a:lnTo>
                  <a:lnTo>
                    <a:pt x="481850" y="381217"/>
                  </a:lnTo>
                  <a:lnTo>
                    <a:pt x="538145" y="388317"/>
                  </a:lnTo>
                  <a:lnTo>
                    <a:pt x="596795" y="394906"/>
                  </a:lnTo>
                  <a:lnTo>
                    <a:pt x="657680" y="400965"/>
                  </a:lnTo>
                  <a:lnTo>
                    <a:pt x="720678" y="406472"/>
                  </a:lnTo>
                  <a:lnTo>
                    <a:pt x="785669" y="411408"/>
                  </a:lnTo>
                  <a:lnTo>
                    <a:pt x="852532" y="415752"/>
                  </a:lnTo>
                  <a:lnTo>
                    <a:pt x="921146" y="419484"/>
                  </a:lnTo>
                  <a:lnTo>
                    <a:pt x="991390" y="422583"/>
                  </a:lnTo>
                  <a:lnTo>
                    <a:pt x="1063144" y="425029"/>
                  </a:lnTo>
                  <a:lnTo>
                    <a:pt x="1136287" y="426801"/>
                  </a:lnTo>
                  <a:lnTo>
                    <a:pt x="1210698" y="427879"/>
                  </a:lnTo>
                  <a:lnTo>
                    <a:pt x="1286255" y="428243"/>
                  </a:lnTo>
                  <a:lnTo>
                    <a:pt x="1361808" y="427879"/>
                  </a:lnTo>
                  <a:lnTo>
                    <a:pt x="1436202" y="426801"/>
                  </a:lnTo>
                  <a:lnTo>
                    <a:pt x="1509318" y="425029"/>
                  </a:lnTo>
                  <a:lnTo>
                    <a:pt x="1581036" y="422583"/>
                  </a:lnTo>
                  <a:lnTo>
                    <a:pt x="1651237" y="419484"/>
                  </a:lnTo>
                  <a:lnTo>
                    <a:pt x="1719799" y="415752"/>
                  </a:lnTo>
                  <a:lnTo>
                    <a:pt x="1786604" y="411408"/>
                  </a:lnTo>
                  <a:lnTo>
                    <a:pt x="1851531" y="406472"/>
                  </a:lnTo>
                  <a:lnTo>
                    <a:pt x="1914460" y="400965"/>
                  </a:lnTo>
                  <a:lnTo>
                    <a:pt x="1975271" y="394906"/>
                  </a:lnTo>
                  <a:lnTo>
                    <a:pt x="2033845" y="388317"/>
                  </a:lnTo>
                  <a:lnTo>
                    <a:pt x="2090061" y="381217"/>
                  </a:lnTo>
                  <a:lnTo>
                    <a:pt x="2143800" y="373628"/>
                  </a:lnTo>
                  <a:lnTo>
                    <a:pt x="2194940" y="365569"/>
                  </a:lnTo>
                  <a:lnTo>
                    <a:pt x="2243364" y="357061"/>
                  </a:lnTo>
                  <a:lnTo>
                    <a:pt x="2288950" y="348125"/>
                  </a:lnTo>
                  <a:lnTo>
                    <a:pt x="2331578" y="338780"/>
                  </a:lnTo>
                  <a:lnTo>
                    <a:pt x="2371129" y="329047"/>
                  </a:lnTo>
                  <a:lnTo>
                    <a:pt x="2440519" y="308501"/>
                  </a:lnTo>
                  <a:lnTo>
                    <a:pt x="2496159" y="286648"/>
                  </a:lnTo>
                  <a:lnTo>
                    <a:pt x="2537091" y="263651"/>
                  </a:lnTo>
                  <a:lnTo>
                    <a:pt x="2568809" y="227371"/>
                  </a:lnTo>
                  <a:lnTo>
                    <a:pt x="2570987" y="214883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954268" y="5239512"/>
              <a:ext cx="2578100" cy="437515"/>
            </a:xfrm>
            <a:custGeom>
              <a:avLst/>
              <a:gdLst/>
              <a:ahLst/>
              <a:cxnLst/>
              <a:rect l="l" t="t" r="r" b="b"/>
              <a:pathLst>
                <a:path w="2578100" h="437514">
                  <a:moveTo>
                    <a:pt x="12700" y="195072"/>
                  </a:moveTo>
                  <a:lnTo>
                    <a:pt x="12700" y="182880"/>
                  </a:lnTo>
                  <a:lnTo>
                    <a:pt x="0" y="195072"/>
                  </a:lnTo>
                  <a:lnTo>
                    <a:pt x="0" y="204216"/>
                  </a:lnTo>
                  <a:lnTo>
                    <a:pt x="12700" y="195072"/>
                  </a:lnTo>
                  <a:close/>
                </a:path>
                <a:path w="2578100" h="437514">
                  <a:moveTo>
                    <a:pt x="2540000" y="271272"/>
                  </a:moveTo>
                  <a:lnTo>
                    <a:pt x="2540000" y="263652"/>
                  </a:lnTo>
                  <a:lnTo>
                    <a:pt x="2527300" y="268224"/>
                  </a:lnTo>
                  <a:lnTo>
                    <a:pt x="2514600" y="274320"/>
                  </a:lnTo>
                  <a:lnTo>
                    <a:pt x="2501900" y="283464"/>
                  </a:lnTo>
                  <a:lnTo>
                    <a:pt x="2476500" y="292608"/>
                  </a:lnTo>
                  <a:lnTo>
                    <a:pt x="2463800" y="298704"/>
                  </a:lnTo>
                  <a:lnTo>
                    <a:pt x="2387600" y="326136"/>
                  </a:lnTo>
                  <a:lnTo>
                    <a:pt x="2362200" y="330708"/>
                  </a:lnTo>
                  <a:lnTo>
                    <a:pt x="2349500" y="333756"/>
                  </a:lnTo>
                  <a:lnTo>
                    <a:pt x="2336800" y="338328"/>
                  </a:lnTo>
                  <a:lnTo>
                    <a:pt x="2311400" y="342900"/>
                  </a:lnTo>
                  <a:lnTo>
                    <a:pt x="2298700" y="345948"/>
                  </a:lnTo>
                  <a:lnTo>
                    <a:pt x="2273300" y="350520"/>
                  </a:lnTo>
                  <a:lnTo>
                    <a:pt x="2197100" y="365760"/>
                  </a:lnTo>
                  <a:lnTo>
                    <a:pt x="2146300" y="373380"/>
                  </a:lnTo>
                  <a:lnTo>
                    <a:pt x="2095500" y="379476"/>
                  </a:lnTo>
                  <a:lnTo>
                    <a:pt x="2057400" y="385572"/>
                  </a:lnTo>
                  <a:lnTo>
                    <a:pt x="1955800" y="397764"/>
                  </a:lnTo>
                  <a:lnTo>
                    <a:pt x="1841500" y="406908"/>
                  </a:lnTo>
                  <a:lnTo>
                    <a:pt x="1778000" y="411480"/>
                  </a:lnTo>
                  <a:lnTo>
                    <a:pt x="1727200" y="416052"/>
                  </a:lnTo>
                  <a:lnTo>
                    <a:pt x="1600200" y="422148"/>
                  </a:lnTo>
                  <a:lnTo>
                    <a:pt x="1346200" y="428244"/>
                  </a:lnTo>
                  <a:lnTo>
                    <a:pt x="1219200" y="428244"/>
                  </a:lnTo>
                  <a:lnTo>
                    <a:pt x="1155700" y="426720"/>
                  </a:lnTo>
                  <a:lnTo>
                    <a:pt x="1092200" y="426720"/>
                  </a:lnTo>
                  <a:lnTo>
                    <a:pt x="1028700" y="423672"/>
                  </a:lnTo>
                  <a:lnTo>
                    <a:pt x="965200" y="422148"/>
                  </a:lnTo>
                  <a:lnTo>
                    <a:pt x="838200" y="416052"/>
                  </a:lnTo>
                  <a:lnTo>
                    <a:pt x="787400" y="411480"/>
                  </a:lnTo>
                  <a:lnTo>
                    <a:pt x="723900" y="406908"/>
                  </a:lnTo>
                  <a:lnTo>
                    <a:pt x="622300" y="397764"/>
                  </a:lnTo>
                  <a:lnTo>
                    <a:pt x="558800" y="391668"/>
                  </a:lnTo>
                  <a:lnTo>
                    <a:pt x="520700" y="385572"/>
                  </a:lnTo>
                  <a:lnTo>
                    <a:pt x="419100" y="373380"/>
                  </a:lnTo>
                  <a:lnTo>
                    <a:pt x="368300" y="365760"/>
                  </a:lnTo>
                  <a:lnTo>
                    <a:pt x="292100" y="350520"/>
                  </a:lnTo>
                  <a:lnTo>
                    <a:pt x="266700" y="345948"/>
                  </a:lnTo>
                  <a:lnTo>
                    <a:pt x="254000" y="342900"/>
                  </a:lnTo>
                  <a:lnTo>
                    <a:pt x="241300" y="338328"/>
                  </a:lnTo>
                  <a:lnTo>
                    <a:pt x="215900" y="333756"/>
                  </a:lnTo>
                  <a:lnTo>
                    <a:pt x="203200" y="330708"/>
                  </a:lnTo>
                  <a:lnTo>
                    <a:pt x="190500" y="326136"/>
                  </a:lnTo>
                  <a:lnTo>
                    <a:pt x="139700" y="312420"/>
                  </a:lnTo>
                  <a:lnTo>
                    <a:pt x="101600" y="298704"/>
                  </a:lnTo>
                  <a:lnTo>
                    <a:pt x="88900" y="292608"/>
                  </a:lnTo>
                  <a:lnTo>
                    <a:pt x="63500" y="283464"/>
                  </a:lnTo>
                  <a:lnTo>
                    <a:pt x="63500" y="278892"/>
                  </a:lnTo>
                  <a:lnTo>
                    <a:pt x="50800" y="272796"/>
                  </a:lnTo>
                  <a:lnTo>
                    <a:pt x="38100" y="263652"/>
                  </a:lnTo>
                  <a:lnTo>
                    <a:pt x="25400" y="259080"/>
                  </a:lnTo>
                  <a:lnTo>
                    <a:pt x="12700" y="243840"/>
                  </a:lnTo>
                  <a:lnTo>
                    <a:pt x="12700" y="237744"/>
                  </a:lnTo>
                  <a:lnTo>
                    <a:pt x="0" y="233172"/>
                  </a:lnTo>
                  <a:lnTo>
                    <a:pt x="0" y="249936"/>
                  </a:lnTo>
                  <a:lnTo>
                    <a:pt x="25400" y="266700"/>
                  </a:lnTo>
                  <a:lnTo>
                    <a:pt x="38100" y="275844"/>
                  </a:lnTo>
                  <a:lnTo>
                    <a:pt x="38100" y="281940"/>
                  </a:lnTo>
                  <a:lnTo>
                    <a:pt x="50800" y="286512"/>
                  </a:lnTo>
                  <a:lnTo>
                    <a:pt x="63500" y="292608"/>
                  </a:lnTo>
                  <a:lnTo>
                    <a:pt x="101600" y="306324"/>
                  </a:lnTo>
                  <a:lnTo>
                    <a:pt x="114300" y="312420"/>
                  </a:lnTo>
                  <a:lnTo>
                    <a:pt x="177800" y="335280"/>
                  </a:lnTo>
                  <a:lnTo>
                    <a:pt x="203200" y="339852"/>
                  </a:lnTo>
                  <a:lnTo>
                    <a:pt x="215900" y="342900"/>
                  </a:lnTo>
                  <a:lnTo>
                    <a:pt x="266700" y="356616"/>
                  </a:lnTo>
                  <a:lnTo>
                    <a:pt x="292100" y="359664"/>
                  </a:lnTo>
                  <a:lnTo>
                    <a:pt x="368300" y="374904"/>
                  </a:lnTo>
                  <a:lnTo>
                    <a:pt x="419100" y="382524"/>
                  </a:lnTo>
                  <a:lnTo>
                    <a:pt x="469900" y="388620"/>
                  </a:lnTo>
                  <a:lnTo>
                    <a:pt x="508000" y="396240"/>
                  </a:lnTo>
                  <a:lnTo>
                    <a:pt x="558800" y="400812"/>
                  </a:lnTo>
                  <a:lnTo>
                    <a:pt x="622300" y="406908"/>
                  </a:lnTo>
                  <a:lnTo>
                    <a:pt x="673100" y="411480"/>
                  </a:lnTo>
                  <a:lnTo>
                    <a:pt x="723900" y="417576"/>
                  </a:lnTo>
                  <a:lnTo>
                    <a:pt x="787400" y="420624"/>
                  </a:lnTo>
                  <a:lnTo>
                    <a:pt x="838200" y="425196"/>
                  </a:lnTo>
                  <a:lnTo>
                    <a:pt x="1028700" y="434340"/>
                  </a:lnTo>
                  <a:lnTo>
                    <a:pt x="1155700" y="437388"/>
                  </a:lnTo>
                  <a:lnTo>
                    <a:pt x="1409700" y="437388"/>
                  </a:lnTo>
                  <a:lnTo>
                    <a:pt x="1549400" y="434340"/>
                  </a:lnTo>
                  <a:lnTo>
                    <a:pt x="1600200" y="431292"/>
                  </a:lnTo>
                  <a:lnTo>
                    <a:pt x="1727200" y="425196"/>
                  </a:lnTo>
                  <a:lnTo>
                    <a:pt x="1778000" y="420624"/>
                  </a:lnTo>
                  <a:lnTo>
                    <a:pt x="1841500" y="417576"/>
                  </a:lnTo>
                  <a:lnTo>
                    <a:pt x="1892300" y="411480"/>
                  </a:lnTo>
                  <a:lnTo>
                    <a:pt x="1955800" y="406908"/>
                  </a:lnTo>
                  <a:lnTo>
                    <a:pt x="2006600" y="400812"/>
                  </a:lnTo>
                  <a:lnTo>
                    <a:pt x="2057400" y="396240"/>
                  </a:lnTo>
                  <a:lnTo>
                    <a:pt x="2108200" y="388620"/>
                  </a:lnTo>
                  <a:lnTo>
                    <a:pt x="2146300" y="382524"/>
                  </a:lnTo>
                  <a:lnTo>
                    <a:pt x="2197100" y="374904"/>
                  </a:lnTo>
                  <a:lnTo>
                    <a:pt x="2273300" y="359664"/>
                  </a:lnTo>
                  <a:lnTo>
                    <a:pt x="2298700" y="356616"/>
                  </a:lnTo>
                  <a:lnTo>
                    <a:pt x="2349500" y="342900"/>
                  </a:lnTo>
                  <a:lnTo>
                    <a:pt x="2362200" y="339852"/>
                  </a:lnTo>
                  <a:lnTo>
                    <a:pt x="2387600" y="335280"/>
                  </a:lnTo>
                  <a:lnTo>
                    <a:pt x="2425700" y="321564"/>
                  </a:lnTo>
                  <a:lnTo>
                    <a:pt x="2463800" y="312420"/>
                  </a:lnTo>
                  <a:lnTo>
                    <a:pt x="2463800" y="306324"/>
                  </a:lnTo>
                  <a:lnTo>
                    <a:pt x="2501900" y="292608"/>
                  </a:lnTo>
                  <a:lnTo>
                    <a:pt x="2514600" y="286512"/>
                  </a:lnTo>
                  <a:lnTo>
                    <a:pt x="2527300" y="281940"/>
                  </a:lnTo>
                  <a:lnTo>
                    <a:pt x="2527300" y="275844"/>
                  </a:lnTo>
                  <a:lnTo>
                    <a:pt x="2540000" y="271272"/>
                  </a:lnTo>
                  <a:close/>
                </a:path>
                <a:path w="2578100" h="437514">
                  <a:moveTo>
                    <a:pt x="25400" y="184404"/>
                  </a:moveTo>
                  <a:lnTo>
                    <a:pt x="25400" y="172212"/>
                  </a:lnTo>
                  <a:lnTo>
                    <a:pt x="12700" y="178308"/>
                  </a:lnTo>
                  <a:lnTo>
                    <a:pt x="12700" y="188976"/>
                  </a:lnTo>
                  <a:lnTo>
                    <a:pt x="25400" y="184404"/>
                  </a:lnTo>
                  <a:close/>
                </a:path>
                <a:path w="2578100" h="437514">
                  <a:moveTo>
                    <a:pt x="2540000" y="175260"/>
                  </a:moveTo>
                  <a:lnTo>
                    <a:pt x="2540000" y="166116"/>
                  </a:lnTo>
                  <a:lnTo>
                    <a:pt x="2527300" y="161544"/>
                  </a:lnTo>
                  <a:lnTo>
                    <a:pt x="2527300" y="155448"/>
                  </a:lnTo>
                  <a:lnTo>
                    <a:pt x="2489200" y="141732"/>
                  </a:lnTo>
                  <a:lnTo>
                    <a:pt x="2476500" y="135636"/>
                  </a:lnTo>
                  <a:lnTo>
                    <a:pt x="2463800" y="126492"/>
                  </a:lnTo>
                  <a:lnTo>
                    <a:pt x="2425700" y="117348"/>
                  </a:lnTo>
                  <a:lnTo>
                    <a:pt x="2387600" y="103632"/>
                  </a:lnTo>
                  <a:lnTo>
                    <a:pt x="2349500" y="94488"/>
                  </a:lnTo>
                  <a:lnTo>
                    <a:pt x="2336800" y="89916"/>
                  </a:lnTo>
                  <a:lnTo>
                    <a:pt x="2311400" y="86868"/>
                  </a:lnTo>
                  <a:lnTo>
                    <a:pt x="2298700" y="82296"/>
                  </a:lnTo>
                  <a:lnTo>
                    <a:pt x="2273300" y="77724"/>
                  </a:lnTo>
                  <a:lnTo>
                    <a:pt x="2197100" y="62484"/>
                  </a:lnTo>
                  <a:lnTo>
                    <a:pt x="2146300" y="56388"/>
                  </a:lnTo>
                  <a:lnTo>
                    <a:pt x="2108200" y="48768"/>
                  </a:lnTo>
                  <a:lnTo>
                    <a:pt x="1955800" y="30480"/>
                  </a:lnTo>
                  <a:lnTo>
                    <a:pt x="1892300" y="25908"/>
                  </a:lnTo>
                  <a:lnTo>
                    <a:pt x="1841500" y="21336"/>
                  </a:lnTo>
                  <a:lnTo>
                    <a:pt x="1778000" y="16764"/>
                  </a:lnTo>
                  <a:lnTo>
                    <a:pt x="1727200" y="13716"/>
                  </a:lnTo>
                  <a:lnTo>
                    <a:pt x="1663700" y="9144"/>
                  </a:lnTo>
                  <a:lnTo>
                    <a:pt x="1600200" y="6096"/>
                  </a:lnTo>
                  <a:lnTo>
                    <a:pt x="1549400" y="4572"/>
                  </a:lnTo>
                  <a:lnTo>
                    <a:pt x="1409700" y="1524"/>
                  </a:lnTo>
                  <a:lnTo>
                    <a:pt x="1346200" y="0"/>
                  </a:lnTo>
                  <a:lnTo>
                    <a:pt x="1219200" y="0"/>
                  </a:lnTo>
                  <a:lnTo>
                    <a:pt x="965200" y="6096"/>
                  </a:lnTo>
                  <a:lnTo>
                    <a:pt x="838200" y="12192"/>
                  </a:lnTo>
                  <a:lnTo>
                    <a:pt x="723900" y="21336"/>
                  </a:lnTo>
                  <a:lnTo>
                    <a:pt x="622300" y="30480"/>
                  </a:lnTo>
                  <a:lnTo>
                    <a:pt x="558800" y="36576"/>
                  </a:lnTo>
                  <a:lnTo>
                    <a:pt x="508000" y="42672"/>
                  </a:lnTo>
                  <a:lnTo>
                    <a:pt x="469900" y="48768"/>
                  </a:lnTo>
                  <a:lnTo>
                    <a:pt x="419100" y="56388"/>
                  </a:lnTo>
                  <a:lnTo>
                    <a:pt x="368300" y="62484"/>
                  </a:lnTo>
                  <a:lnTo>
                    <a:pt x="292100" y="77724"/>
                  </a:lnTo>
                  <a:lnTo>
                    <a:pt x="266700" y="82296"/>
                  </a:lnTo>
                  <a:lnTo>
                    <a:pt x="254000" y="86868"/>
                  </a:lnTo>
                  <a:lnTo>
                    <a:pt x="228600" y="89916"/>
                  </a:lnTo>
                  <a:lnTo>
                    <a:pt x="215900" y="94488"/>
                  </a:lnTo>
                  <a:lnTo>
                    <a:pt x="177800" y="103632"/>
                  </a:lnTo>
                  <a:lnTo>
                    <a:pt x="88900" y="135636"/>
                  </a:lnTo>
                  <a:lnTo>
                    <a:pt x="76200" y="141732"/>
                  </a:lnTo>
                  <a:lnTo>
                    <a:pt x="50800" y="150876"/>
                  </a:lnTo>
                  <a:lnTo>
                    <a:pt x="38100" y="156972"/>
                  </a:lnTo>
                  <a:lnTo>
                    <a:pt x="25400" y="166116"/>
                  </a:lnTo>
                  <a:lnTo>
                    <a:pt x="25400" y="179832"/>
                  </a:lnTo>
                  <a:lnTo>
                    <a:pt x="38100" y="173736"/>
                  </a:lnTo>
                  <a:lnTo>
                    <a:pt x="50800" y="164592"/>
                  </a:lnTo>
                  <a:lnTo>
                    <a:pt x="63500" y="160020"/>
                  </a:lnTo>
                  <a:lnTo>
                    <a:pt x="63500" y="153924"/>
                  </a:lnTo>
                  <a:lnTo>
                    <a:pt x="139700" y="126492"/>
                  </a:lnTo>
                  <a:lnTo>
                    <a:pt x="241300" y="99060"/>
                  </a:lnTo>
                  <a:lnTo>
                    <a:pt x="254000" y="96012"/>
                  </a:lnTo>
                  <a:lnTo>
                    <a:pt x="266700" y="91440"/>
                  </a:lnTo>
                  <a:lnTo>
                    <a:pt x="292100" y="86868"/>
                  </a:lnTo>
                  <a:lnTo>
                    <a:pt x="330200" y="79248"/>
                  </a:lnTo>
                  <a:lnTo>
                    <a:pt x="381000" y="71628"/>
                  </a:lnTo>
                  <a:lnTo>
                    <a:pt x="419100" y="65532"/>
                  </a:lnTo>
                  <a:lnTo>
                    <a:pt x="469900" y="57912"/>
                  </a:lnTo>
                  <a:lnTo>
                    <a:pt x="520700" y="51816"/>
                  </a:lnTo>
                  <a:lnTo>
                    <a:pt x="558800" y="45720"/>
                  </a:lnTo>
                  <a:lnTo>
                    <a:pt x="622300" y="41148"/>
                  </a:lnTo>
                  <a:lnTo>
                    <a:pt x="673100" y="35052"/>
                  </a:lnTo>
                  <a:lnTo>
                    <a:pt x="723900" y="30480"/>
                  </a:lnTo>
                  <a:lnTo>
                    <a:pt x="787400" y="25908"/>
                  </a:lnTo>
                  <a:lnTo>
                    <a:pt x="901700" y="19812"/>
                  </a:lnTo>
                  <a:lnTo>
                    <a:pt x="1028700" y="13716"/>
                  </a:lnTo>
                  <a:lnTo>
                    <a:pt x="1219200" y="9144"/>
                  </a:lnTo>
                  <a:lnTo>
                    <a:pt x="1346200" y="9144"/>
                  </a:lnTo>
                  <a:lnTo>
                    <a:pt x="1409700" y="10668"/>
                  </a:lnTo>
                  <a:lnTo>
                    <a:pt x="1549400" y="13716"/>
                  </a:lnTo>
                  <a:lnTo>
                    <a:pt x="1727200" y="22860"/>
                  </a:lnTo>
                  <a:lnTo>
                    <a:pt x="1778000" y="25908"/>
                  </a:lnTo>
                  <a:lnTo>
                    <a:pt x="1892300" y="35052"/>
                  </a:lnTo>
                  <a:lnTo>
                    <a:pt x="1955800" y="41148"/>
                  </a:lnTo>
                  <a:lnTo>
                    <a:pt x="2006600" y="45720"/>
                  </a:lnTo>
                  <a:lnTo>
                    <a:pt x="2057400" y="51816"/>
                  </a:lnTo>
                  <a:lnTo>
                    <a:pt x="2095500" y="57912"/>
                  </a:lnTo>
                  <a:lnTo>
                    <a:pt x="2146300" y="65532"/>
                  </a:lnTo>
                  <a:lnTo>
                    <a:pt x="2197100" y="71628"/>
                  </a:lnTo>
                  <a:lnTo>
                    <a:pt x="2273300" y="86868"/>
                  </a:lnTo>
                  <a:lnTo>
                    <a:pt x="2298700" y="91440"/>
                  </a:lnTo>
                  <a:lnTo>
                    <a:pt x="2311400" y="96012"/>
                  </a:lnTo>
                  <a:lnTo>
                    <a:pt x="2336800" y="99060"/>
                  </a:lnTo>
                  <a:lnTo>
                    <a:pt x="2362200" y="108204"/>
                  </a:lnTo>
                  <a:lnTo>
                    <a:pt x="2387600" y="112776"/>
                  </a:lnTo>
                  <a:lnTo>
                    <a:pt x="2501900" y="153924"/>
                  </a:lnTo>
                  <a:lnTo>
                    <a:pt x="2514600" y="160020"/>
                  </a:lnTo>
                  <a:lnTo>
                    <a:pt x="2514600" y="164592"/>
                  </a:lnTo>
                  <a:lnTo>
                    <a:pt x="2527300" y="169164"/>
                  </a:lnTo>
                  <a:lnTo>
                    <a:pt x="2540000" y="175260"/>
                  </a:lnTo>
                  <a:close/>
                </a:path>
                <a:path w="2578100" h="437514">
                  <a:moveTo>
                    <a:pt x="2552700" y="190500"/>
                  </a:moveTo>
                  <a:lnTo>
                    <a:pt x="2552700" y="176784"/>
                  </a:lnTo>
                  <a:lnTo>
                    <a:pt x="2540000" y="172212"/>
                  </a:lnTo>
                  <a:lnTo>
                    <a:pt x="2540000" y="184404"/>
                  </a:lnTo>
                  <a:lnTo>
                    <a:pt x="2552700" y="190500"/>
                  </a:lnTo>
                  <a:close/>
                </a:path>
                <a:path w="2578100" h="437514">
                  <a:moveTo>
                    <a:pt x="2552700" y="260604"/>
                  </a:moveTo>
                  <a:lnTo>
                    <a:pt x="2552700" y="243840"/>
                  </a:lnTo>
                  <a:lnTo>
                    <a:pt x="2540000" y="259080"/>
                  </a:lnTo>
                  <a:lnTo>
                    <a:pt x="2540000" y="265176"/>
                  </a:lnTo>
                  <a:lnTo>
                    <a:pt x="2552700" y="260604"/>
                  </a:lnTo>
                  <a:close/>
                </a:path>
                <a:path w="2578100" h="437514">
                  <a:moveTo>
                    <a:pt x="2565400" y="204216"/>
                  </a:moveTo>
                  <a:lnTo>
                    <a:pt x="2565400" y="195072"/>
                  </a:lnTo>
                  <a:lnTo>
                    <a:pt x="2552700" y="182880"/>
                  </a:lnTo>
                  <a:lnTo>
                    <a:pt x="2552700" y="195072"/>
                  </a:lnTo>
                  <a:lnTo>
                    <a:pt x="2565400" y="204216"/>
                  </a:lnTo>
                  <a:close/>
                </a:path>
                <a:path w="2578100" h="437514">
                  <a:moveTo>
                    <a:pt x="2565400" y="248412"/>
                  </a:moveTo>
                  <a:lnTo>
                    <a:pt x="2565400" y="233172"/>
                  </a:lnTo>
                  <a:lnTo>
                    <a:pt x="2552700" y="239268"/>
                  </a:lnTo>
                  <a:lnTo>
                    <a:pt x="2552700" y="254508"/>
                  </a:lnTo>
                  <a:lnTo>
                    <a:pt x="2565400" y="248412"/>
                  </a:lnTo>
                  <a:close/>
                </a:path>
                <a:path w="2578100" h="437514">
                  <a:moveTo>
                    <a:pt x="2578100" y="225552"/>
                  </a:moveTo>
                  <a:lnTo>
                    <a:pt x="2578100" y="205740"/>
                  </a:lnTo>
                  <a:lnTo>
                    <a:pt x="2565400" y="199644"/>
                  </a:lnTo>
                  <a:lnTo>
                    <a:pt x="2565400" y="237744"/>
                  </a:lnTo>
                  <a:lnTo>
                    <a:pt x="2578100" y="22555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7055608" y="5338061"/>
            <a:ext cx="38100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latin typeface="Verdana"/>
                <a:cs typeface="Verdana"/>
              </a:rPr>
              <a:t>SI</a:t>
            </a:r>
            <a:r>
              <a:rPr sz="1500" dirty="0">
                <a:latin typeface="Verdana"/>
                <a:cs typeface="Verdana"/>
              </a:rPr>
              <a:t>D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666984" y="6733226"/>
            <a:ext cx="309245" cy="2108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z="1200" dirty="0">
                <a:latin typeface="Verdana"/>
                <a:cs typeface="Verdana"/>
              </a:rPr>
              <a:t>19</a:t>
            </a:fld>
            <a:endParaRPr sz="1200">
              <a:latin typeface="Verdana"/>
              <a:cs typeface="Verdan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139429" y="4205730"/>
            <a:ext cx="97790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Verdana"/>
                <a:cs typeface="Verdana"/>
              </a:rPr>
              <a:t>Start_date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081275" y="5144513"/>
            <a:ext cx="132715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latin typeface="Verdana"/>
                <a:cs typeface="Verdana"/>
              </a:rPr>
              <a:t>A</a:t>
            </a:r>
            <a:r>
              <a:rPr sz="1500" dirty="0">
                <a:latin typeface="Verdana"/>
                <a:cs typeface="Verdana"/>
              </a:rPr>
              <a:t>dd</a:t>
            </a:r>
            <a:r>
              <a:rPr sz="1500" spc="-5" dirty="0">
                <a:latin typeface="Verdana"/>
                <a:cs typeface="Verdana"/>
              </a:rPr>
              <a:t>r</a:t>
            </a:r>
            <a:r>
              <a:rPr sz="1500" spc="-10" dirty="0">
                <a:latin typeface="Verdana"/>
                <a:cs typeface="Verdana"/>
              </a:rPr>
              <a:t>e</a:t>
            </a:r>
            <a:r>
              <a:rPr sz="1500" spc="-5" dirty="0">
                <a:latin typeface="Verdana"/>
                <a:cs typeface="Verdana"/>
              </a:rPr>
              <a:t>ss_</a:t>
            </a:r>
            <a:r>
              <a:rPr sz="1500" dirty="0">
                <a:latin typeface="Verdana"/>
                <a:cs typeface="Verdana"/>
              </a:rPr>
              <a:t>d</a:t>
            </a:r>
            <a:r>
              <a:rPr sz="1500" spc="-5" dirty="0">
                <a:latin typeface="Verdana"/>
                <a:cs typeface="Verdana"/>
              </a:rPr>
              <a:t>at</a:t>
            </a:r>
            <a:r>
              <a:rPr sz="1500" dirty="0">
                <a:latin typeface="Verdana"/>
                <a:cs typeface="Verdana"/>
              </a:rPr>
              <a:t>a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619503" y="6194549"/>
            <a:ext cx="39433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5" dirty="0">
                <a:latin typeface="Verdana"/>
                <a:cs typeface="Verdana"/>
              </a:rPr>
              <a:t>C</a:t>
            </a:r>
            <a:r>
              <a:rPr sz="1500" spc="-20" dirty="0">
                <a:latin typeface="Verdana"/>
                <a:cs typeface="Verdana"/>
              </a:rPr>
              <a:t>it</a:t>
            </a:r>
            <a:r>
              <a:rPr sz="1500" dirty="0">
                <a:latin typeface="Verdana"/>
                <a:cs typeface="Verdana"/>
              </a:rPr>
              <a:t>y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867402" y="5981189"/>
            <a:ext cx="61150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latin typeface="Verdana"/>
                <a:cs typeface="Verdana"/>
              </a:rPr>
              <a:t>Street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223263" y="4551678"/>
            <a:ext cx="61468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latin typeface="Verdana"/>
                <a:cs typeface="Verdana"/>
              </a:rPr>
              <a:t>p</a:t>
            </a:r>
            <a:r>
              <a:rPr sz="1500" spc="-5" dirty="0">
                <a:latin typeface="Verdana"/>
                <a:cs typeface="Verdana"/>
              </a:rPr>
              <a:t>h</a:t>
            </a:r>
            <a:r>
              <a:rPr sz="1500" dirty="0">
                <a:latin typeface="Verdana"/>
                <a:cs typeface="Verdana"/>
              </a:rPr>
              <a:t>o</a:t>
            </a:r>
            <a:r>
              <a:rPr sz="1500" spc="-5" dirty="0">
                <a:latin typeface="Verdana"/>
                <a:cs typeface="Verdana"/>
              </a:rPr>
              <a:t>n</a:t>
            </a:r>
            <a:r>
              <a:rPr sz="1500" dirty="0">
                <a:latin typeface="Verdana"/>
                <a:cs typeface="Verdana"/>
              </a:rPr>
              <a:t>e</a:t>
            </a:r>
            <a:endParaRPr sz="15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12011" y="941323"/>
            <a:ext cx="4238625" cy="10013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200" spc="-5" dirty="0"/>
              <a:t>Entities in </a:t>
            </a:r>
            <a:r>
              <a:rPr sz="3200" dirty="0"/>
              <a:t>Draw.io </a:t>
            </a:r>
            <a:r>
              <a:rPr sz="3200" spc="-1080" dirty="0"/>
              <a:t> </a:t>
            </a:r>
            <a:r>
              <a:rPr sz="3200" spc="-5" dirty="0"/>
              <a:t>(Diagrams.net)</a:t>
            </a:r>
            <a:endParaRPr sz="32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4127" y="2417063"/>
            <a:ext cx="8001000" cy="385419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666984" y="6733226"/>
            <a:ext cx="309245" cy="2108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z="1200" dirty="0">
                <a:latin typeface="Verdana"/>
                <a:cs typeface="Verdana"/>
              </a:rPr>
              <a:t>20</a:t>
            </a:fld>
            <a:endParaRPr sz="1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26426" y="1352803"/>
            <a:ext cx="6153785" cy="597599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800" spc="-5" dirty="0"/>
              <a:t>Task</a:t>
            </a:r>
            <a:r>
              <a:rPr sz="3800" spc="-5" dirty="0"/>
              <a:t>.</a:t>
            </a:r>
            <a:r>
              <a:rPr sz="3800" spc="-35" dirty="0"/>
              <a:t> </a:t>
            </a:r>
            <a:r>
              <a:rPr sz="3800" dirty="0"/>
              <a:t>5</a:t>
            </a:r>
            <a:r>
              <a:rPr sz="3800" spc="-25" dirty="0"/>
              <a:t> </a:t>
            </a:r>
            <a:r>
              <a:rPr sz="3800" dirty="0"/>
              <a:t>=</a:t>
            </a:r>
            <a:r>
              <a:rPr sz="3800" spc="-20" dirty="0"/>
              <a:t> </a:t>
            </a:r>
            <a:r>
              <a:rPr sz="3800" dirty="0"/>
              <a:t>Homework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666984" y="6733226"/>
            <a:ext cx="309245" cy="2108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z="1200" dirty="0">
                <a:latin typeface="Verdana"/>
                <a:cs typeface="Verdana"/>
              </a:rPr>
              <a:t>21</a:t>
            </a:fld>
            <a:endParaRPr sz="12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52091" y="2489706"/>
            <a:ext cx="61537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21665" algn="l"/>
              </a:tabLst>
            </a:pPr>
            <a:r>
              <a:rPr sz="1800" dirty="0">
                <a:solidFill>
                  <a:srgbClr val="CC0000"/>
                </a:solidFill>
                <a:latin typeface="Wingdings"/>
                <a:cs typeface="Wingdings"/>
              </a:rPr>
              <a:t></a:t>
            </a:r>
            <a:r>
              <a:rPr sz="1800" dirty="0">
                <a:solidFill>
                  <a:srgbClr val="CC0000"/>
                </a:solidFill>
                <a:latin typeface="Times New Roman"/>
                <a:cs typeface="Times New Roman"/>
              </a:rPr>
              <a:t>	</a:t>
            </a:r>
            <a:r>
              <a:rPr sz="1800" spc="-5" dirty="0">
                <a:latin typeface="Verdana"/>
                <a:cs typeface="Verdana"/>
              </a:rPr>
              <a:t>Make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graphical representation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of your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entities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52091" y="3477258"/>
            <a:ext cx="4889526" cy="289823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spcBef>
                <a:spcPts val="100"/>
              </a:spcBef>
              <a:tabLst>
                <a:tab pos="621665" algn="l"/>
                <a:tab pos="3021965" algn="l"/>
              </a:tabLst>
            </a:pPr>
            <a:r>
              <a:rPr sz="1800" dirty="0">
                <a:solidFill>
                  <a:srgbClr val="CC0000"/>
                </a:solidFill>
                <a:latin typeface="Wingdings"/>
                <a:cs typeface="Wingdings"/>
              </a:rPr>
              <a:t></a:t>
            </a:r>
            <a:r>
              <a:rPr sz="1800" dirty="0">
                <a:solidFill>
                  <a:srgbClr val="CC0000"/>
                </a:solidFill>
                <a:latin typeface="Times New Roman"/>
                <a:cs typeface="Times New Roman"/>
              </a:rPr>
              <a:t>	</a:t>
            </a:r>
            <a:r>
              <a:rPr sz="1800" dirty="0">
                <a:latin typeface="Verdana"/>
                <a:cs typeface="Verdana"/>
              </a:rPr>
              <a:t>Deadline:</a:t>
            </a:r>
            <a:r>
              <a:rPr sz="1800" spc="180" dirty="0">
                <a:latin typeface="Times New Roman"/>
                <a:cs typeface="Times New Roman"/>
              </a:rPr>
              <a:t> </a:t>
            </a:r>
            <a:r>
              <a:rPr lang="en-US" dirty="0">
                <a:latin typeface="Times New Roman"/>
                <a:cs typeface="Times New Roman"/>
              </a:rPr>
              <a:t>Start of next class</a:t>
            </a:r>
            <a:endParaRPr sz="1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167</TotalTime>
  <Words>845</Words>
  <Application>Microsoft Office PowerPoint</Application>
  <PresentationFormat>Custom</PresentationFormat>
  <Paragraphs>187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Calibri</vt:lpstr>
      <vt:lpstr>Times New Roman</vt:lpstr>
      <vt:lpstr>Verdana</vt:lpstr>
      <vt:lpstr>Wingdings</vt:lpstr>
      <vt:lpstr>Office Theme</vt:lpstr>
      <vt:lpstr>SCSIT IV Semester</vt:lpstr>
      <vt:lpstr>What shall we learn?</vt:lpstr>
      <vt:lpstr>How shall we learn?</vt:lpstr>
      <vt:lpstr>Needed software</vt:lpstr>
      <vt:lpstr>Data – Modeling procces</vt:lpstr>
      <vt:lpstr>Entity – Relationship  model: Е-R model</vt:lpstr>
      <vt:lpstr>Database modeling</vt:lpstr>
      <vt:lpstr>What is Entity?</vt:lpstr>
      <vt:lpstr>Entity - type</vt:lpstr>
      <vt:lpstr>Entity examples</vt:lpstr>
      <vt:lpstr>Entity attributes</vt:lpstr>
      <vt:lpstr>Entity attributes</vt:lpstr>
      <vt:lpstr>Task 2:</vt:lpstr>
      <vt:lpstr>Entity instances</vt:lpstr>
      <vt:lpstr>PowerPoint Presentation</vt:lpstr>
      <vt:lpstr>Uniquely identifying attribute</vt:lpstr>
      <vt:lpstr>Task. 4:</vt:lpstr>
      <vt:lpstr>Graphical representation of  entities</vt:lpstr>
      <vt:lpstr>Example</vt:lpstr>
      <vt:lpstr>Entities in Draw.io  (Diagrams.net)</vt:lpstr>
      <vt:lpstr>Task. 5 = Homework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DB_ex1-Introduction to DB, Entity</dc:title>
  <dc:creator>Goran.Chuchukovski</dc:creator>
  <cp:lastModifiedBy>Zoran Gichevski</cp:lastModifiedBy>
  <cp:revision>34</cp:revision>
  <dcterms:created xsi:type="dcterms:W3CDTF">2023-02-27T15:44:27Z</dcterms:created>
  <dcterms:modified xsi:type="dcterms:W3CDTF">2026-02-24T08:14:12Z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2022-01-29T00:00:00Z</vt:filetime>
  </property>
  <property fmtid="{D5CDD505-2E9C-101B-9397-08002B2CF9AE}" pid="3" name="Creator">
    <vt:lpwstr>PDFCreator Free 4.0.3</vt:lpwstr>
  </property>
  <property fmtid="{D5CDD505-2E9C-101B-9397-08002B2CF9AE}" pid="4" name="LastSaved">
    <vt:filetime>2023-02-27T00:00:00Z</vt:filetime>
  </property>
  <property fmtid="{D5CDD505-2E9C-101B-9397-08002B2CF9AE}" pid="5" name="MSIP_Label_6a464524-13b0-4a59-b01b-443717baf7c4_Enabled">
    <vt:lpwstr>true</vt:lpwstr>
  </property>
  <property fmtid="{D5CDD505-2E9C-101B-9397-08002B2CF9AE}" pid="6" name="MSIP_Label_6a464524-13b0-4a59-b01b-443717baf7c4_SetDate">
    <vt:lpwstr>2025-02-11T13:32:46Z</vt:lpwstr>
  </property>
  <property fmtid="{D5CDD505-2E9C-101B-9397-08002B2CF9AE}" pid="7" name="MSIP_Label_6a464524-13b0-4a59-b01b-443717baf7c4_Method">
    <vt:lpwstr>Standard</vt:lpwstr>
  </property>
  <property fmtid="{D5CDD505-2E9C-101B-9397-08002B2CF9AE}" pid="8" name="MSIP_Label_6a464524-13b0-4a59-b01b-443717baf7c4_Name">
    <vt:lpwstr>Internal_Data</vt:lpwstr>
  </property>
  <property fmtid="{D5CDD505-2E9C-101B-9397-08002B2CF9AE}" pid="9" name="MSIP_Label_6a464524-13b0-4a59-b01b-443717baf7c4_SiteId">
    <vt:lpwstr>07f9f097-894c-4976-a5f5-10f0a16703c3</vt:lpwstr>
  </property>
  <property fmtid="{D5CDD505-2E9C-101B-9397-08002B2CF9AE}" pid="10" name="MSIP_Label_6a464524-13b0-4a59-b01b-443717baf7c4_ActionId">
    <vt:lpwstr>96bb4a20-a3f5-4148-b99e-dec364926c9d</vt:lpwstr>
  </property>
  <property fmtid="{D5CDD505-2E9C-101B-9397-08002B2CF9AE}" pid="11" name="MSIP_Label_6a464524-13b0-4a59-b01b-443717baf7c4_ContentBits">
    <vt:lpwstr>2</vt:lpwstr>
  </property>
  <property fmtid="{D5CDD505-2E9C-101B-9397-08002B2CF9AE}" pid="12" name="MSIP_Label_6a464524-13b0-4a59-b01b-443717baf7c4_Tag">
    <vt:lpwstr>10, 3, 0, 2</vt:lpwstr>
  </property>
  <property fmtid="{D5CDD505-2E9C-101B-9397-08002B2CF9AE}" pid="13" name="ClassificationContentMarkingFooterLocations">
    <vt:lpwstr>Office Theme:8</vt:lpwstr>
  </property>
  <property fmtid="{D5CDD505-2E9C-101B-9397-08002B2CF9AE}" pid="14" name="ClassificationContentMarkingFooterText">
    <vt:lpwstr>Qinshift Internal</vt:lpwstr>
  </property>
</Properties>
</file>