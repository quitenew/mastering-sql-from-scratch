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779" r:id="rId2"/>
  </p:sldMasterIdLst>
  <p:notesMasterIdLst>
    <p:notesMasterId r:id="rId32"/>
  </p:notesMasterIdLst>
  <p:handoutMasterIdLst>
    <p:handoutMasterId r:id="rId33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85" d="100"/>
          <a:sy n="85" d="100"/>
        </p:scale>
        <p:origin x="136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pPr>
              <a:defRPr/>
            </a:pPr>
            <a:fld id="{E3FC6434-D320-4E13-B5F3-CA625DCE496B}" type="datetimeFigureOut">
              <a:rPr lang="mk-MK"/>
              <a:pPr>
                <a:defRPr/>
              </a:pPr>
              <a:t>6.3.2023</a:t>
            </a:fld>
            <a:endParaRPr lang="mk-M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2BF81E5-3C0C-4F06-A236-B77CBEEA7E40}" type="slidenum">
              <a:rPr lang="mk-MK" altLang="mk-MK"/>
              <a:pPr/>
              <a:t>‹#›</a:t>
            </a:fld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1368478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pPr>
              <a:defRPr/>
            </a:pPr>
            <a:fld id="{F0E5C910-3C77-467B-BB34-7D24B6A11930}" type="datetimeFigureOut">
              <a:rPr lang="mk-MK"/>
              <a:pPr>
                <a:defRPr/>
              </a:pPr>
              <a:t>6.3.2023</a:t>
            </a:fld>
            <a:endParaRPr lang="mk-M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685800"/>
            <a:ext cx="4570412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pPr lvl="0"/>
            <a:endParaRPr lang="mk-MK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32" tIns="45716" rIns="91432" bIns="4571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mk-MK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mk-M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AAA7F49-95E7-4DEF-9FBC-9AA34CD6F2DA}" type="slidenum">
              <a:rPr lang="mk-MK" altLang="mk-MK"/>
              <a:pPr/>
              <a:t>‹#›</a:t>
            </a:fld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42351342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mk-MK" altLang="mk-MK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3B1DFB0-4636-44E4-A445-5A73E6B0F7AF}" type="slidenum">
              <a:rPr lang="mk-MK" altLang="mk-MK"/>
              <a:pPr/>
              <a:t>1</a:t>
            </a:fld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2855356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mk-MK" altLang="mk-MK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6282FC5-E445-4293-8381-7452D7D73AE4}" type="slidenum">
              <a:rPr lang="mk-MK" altLang="mk-MK"/>
              <a:pPr/>
              <a:t>6</a:t>
            </a:fld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1768593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8ED86F3-D621-4266-9233-2AD5FAB42E91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914594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4AEE28-9067-43AE-B827-CB735BA80B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23351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155605-8589-4501-A6EC-5BD5BF16FEF2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6257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7B02C7-19EE-460E-BE29-02A53896C6B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38475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E7594E-69BE-4032-A71D-098E953DD82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4040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942725-DE71-4E78-805A-85657572DFEE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62888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2E4DD5-6B29-4C36-9C16-1F0BEFF74530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688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5B468F-FD2C-4BEF-959C-7AC47AD8F708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56523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mk-MK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BCB296-7D97-4441-A9C8-B2EA1193AF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809580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D0A351-2592-4299-9DF9-D976D4CF0D7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32151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9" y="304800"/>
            <a:ext cx="2001837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9" y="304800"/>
            <a:ext cx="58547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A216B8-2BE7-4C75-B8C9-0DFEDB222D5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140115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1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66739" y="1752600"/>
            <a:ext cx="8001000" cy="42672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mk-MK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0B7F90-8C43-4F35-B27B-0558E5AA7C6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10894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C8ED86F3-D621-4266-9233-2AD5FAB42E91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6555384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4AEE28-9067-43AE-B827-CB735BA80B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4155516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155605-8589-4501-A6EC-5BD5BF16FEF2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887341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9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7B02C7-19EE-460E-BE29-02A53896C6B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3475732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E7594E-69BE-4032-A71D-098E953DD82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3277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942725-DE71-4E78-805A-85657572DFEE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9849873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2E4DD5-6B29-4C36-9C16-1F0BEFF74530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494159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5B468F-FD2C-4BEF-959C-7AC47AD8F708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7402153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mk-MK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BCB296-7D97-4441-A9C8-B2EA1193AF3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1279559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D0A351-2592-4299-9DF9-D976D4CF0D74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464055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9" y="304800"/>
            <a:ext cx="2001837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9" y="304800"/>
            <a:ext cx="58547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mk-MK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A216B8-2BE7-4C75-B8C9-0DFEDB222D5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9261975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1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mk-MK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66739" y="1752600"/>
            <a:ext cx="8001000" cy="42672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mk-MK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0B7F90-8C43-4F35-B27B-0558E5AA7C63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092178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 dirty="0"/>
              <a:t>Click to edit Master text styles</a:t>
            </a:r>
          </a:p>
          <a:p>
            <a:pPr lvl="1"/>
            <a:r>
              <a:rPr lang="en-US" altLang="mk-MK" dirty="0"/>
              <a:t>Second level</a:t>
            </a:r>
          </a:p>
          <a:p>
            <a:pPr lvl="2"/>
            <a:r>
              <a:rPr lang="en-US" altLang="mk-MK" dirty="0"/>
              <a:t>Third level</a:t>
            </a:r>
          </a:p>
          <a:p>
            <a:pPr lvl="3"/>
            <a:r>
              <a:rPr lang="en-US" altLang="mk-MK" dirty="0"/>
              <a:t>Fourth level</a:t>
            </a:r>
          </a:p>
          <a:p>
            <a:pPr lvl="4"/>
            <a:r>
              <a:rPr lang="en-US" altLang="mk-MK" dirty="0"/>
              <a:t>Fifth level</a:t>
            </a:r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mk-MK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0AB2DD1-2A79-45ED-A26A-2F4756BE6A1A}" type="slidenum">
              <a:rPr lang="en-US" altLang="mk-MK"/>
              <a:pPr/>
              <a:t>‹#›</a:t>
            </a:fld>
            <a:endParaRPr lang="en-US" altLang="mk-MK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0528" y="0"/>
            <a:ext cx="1187453" cy="714024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mk-M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mk-M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mk-MK"/>
              <a:t>Click to edit Master text styles</a:t>
            </a:r>
          </a:p>
          <a:p>
            <a:pPr lvl="1"/>
            <a:r>
              <a:rPr lang="en-US" altLang="mk-MK"/>
              <a:t>Second level</a:t>
            </a:r>
          </a:p>
          <a:p>
            <a:pPr lvl="2"/>
            <a:r>
              <a:rPr lang="en-US" altLang="mk-MK"/>
              <a:t>Third level</a:t>
            </a:r>
          </a:p>
          <a:p>
            <a:pPr lvl="3"/>
            <a:r>
              <a:rPr lang="en-US" altLang="mk-MK"/>
              <a:t>Fourth level</a:t>
            </a:r>
          </a:p>
          <a:p>
            <a:pPr lvl="4"/>
            <a:r>
              <a:rPr lang="en-US" altLang="mk-MK"/>
              <a:t>Fifth level</a:t>
            </a:r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mk-MK" sz="2400">
              <a:latin typeface="Times New Roman" pitchFamily="18" charset="0"/>
            </a:endParaRP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mk-MK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0AB2DD1-2A79-45ED-A26A-2F4756BE6A1A}" type="slidenum">
              <a:rPr lang="en-US" altLang="mk-MK"/>
              <a:pPr/>
              <a:t>‹#›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25183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mk-M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5750" y="1052513"/>
            <a:ext cx="8643938" cy="1371600"/>
          </a:xfrm>
        </p:spPr>
        <p:txBody>
          <a:bodyPr/>
          <a:lstStyle/>
          <a:p>
            <a:pPr algn="ctr" eaLnBrk="1" hangingPunct="1"/>
            <a:r>
              <a:rPr lang="en-US" altLang="mk-MK" sz="3000" b="1"/>
              <a:t>SCSIT</a:t>
            </a:r>
            <a:br>
              <a:rPr lang="en-US" altLang="mk-MK" sz="3000" b="1"/>
            </a:br>
            <a:r>
              <a:rPr lang="en-US" altLang="mk-MK" sz="3000" b="1"/>
              <a:t>IV Semester</a:t>
            </a:r>
            <a:br>
              <a:rPr lang="en-US" altLang="mk-MK" sz="3000" b="1"/>
            </a:br>
            <a:br>
              <a:rPr lang="en-US" altLang="mk-MK" sz="2600" b="1"/>
            </a:br>
            <a:r>
              <a:rPr lang="en-US" altLang="mk-MK" sz="2600" b="1"/>
              <a:t>DAtabase</a:t>
            </a:r>
            <a:endParaRPr lang="en-US" altLang="mk-MK" sz="2800" b="1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57250" y="2857500"/>
            <a:ext cx="7600950" cy="1600200"/>
          </a:xfrm>
        </p:spPr>
        <p:txBody>
          <a:bodyPr/>
          <a:lstStyle/>
          <a:p>
            <a:pPr eaLnBrk="1" hangingPunct="1"/>
            <a:r>
              <a:rPr lang="en-US" altLang="mk-MK" sz="2400" b="1" dirty="0"/>
              <a:t>Exc.</a:t>
            </a:r>
            <a:r>
              <a:rPr lang="mk-MK" altLang="mk-MK" sz="2400" b="1" dirty="0"/>
              <a:t> </a:t>
            </a:r>
            <a:r>
              <a:rPr lang="en-US" altLang="mk-MK" sz="2400" b="1" dirty="0"/>
              <a:t>3</a:t>
            </a:r>
            <a:endParaRPr lang="mk-MK" altLang="mk-MK" sz="2400" b="1" dirty="0"/>
          </a:p>
          <a:p>
            <a:pPr eaLnBrk="1" hangingPunct="1"/>
            <a:endParaRPr lang="en-US" altLang="mk-MK" sz="2400" b="1" dirty="0"/>
          </a:p>
          <a:p>
            <a:pPr eaLnBrk="1" hangingPunct="1"/>
            <a:r>
              <a:rPr lang="en-US" altLang="mk-MK" b="1" dirty="0">
                <a:solidFill>
                  <a:srgbClr val="FF0000"/>
                </a:solidFill>
              </a:rPr>
              <a:t>From Entity to Table </a:t>
            </a:r>
          </a:p>
          <a:p>
            <a:pPr eaLnBrk="1" hangingPunct="1"/>
            <a:r>
              <a:rPr lang="en-US" altLang="mk-MK" b="1" dirty="0">
                <a:solidFill>
                  <a:srgbClr val="FF0000"/>
                </a:solidFill>
              </a:rPr>
              <a:t>From Relation to Table</a:t>
            </a:r>
            <a:endParaRPr lang="mk-MK" altLang="mk-MK" b="1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mk-MK" b="1" dirty="0">
                <a:solidFill>
                  <a:srgbClr val="FF0000"/>
                </a:solidFill>
              </a:rPr>
              <a:t>Diagram.net modeling</a:t>
            </a:r>
          </a:p>
          <a:p>
            <a:pPr eaLnBrk="1" hangingPunct="1"/>
            <a:endParaRPr lang="mk-MK" altLang="mk-MK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628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Exc.</a:t>
            </a:r>
            <a:r>
              <a:rPr lang="mk-MK" altLang="mk-MK" b="1"/>
              <a:t>: </a:t>
            </a:r>
            <a:r>
              <a:rPr lang="en-US" altLang="mk-MK" b="1"/>
              <a:t>Entity or Instance?</a:t>
            </a:r>
            <a:endParaRPr lang="mk-MK" altLang="mk-MK" b="1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285750" y="1643063"/>
            <a:ext cx="9072563" cy="4286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mk-MK" sz="2000"/>
              <a:t>Discover what every of the given items is: an entity or an instance?</a:t>
            </a:r>
            <a:r>
              <a:rPr lang="mk-MK" altLang="mk-MK" sz="2000"/>
              <a:t>.</a:t>
            </a: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7F6B3AD-D73D-47DB-8402-CDAC1B720D43}" type="slidenum">
              <a:rPr lang="en-US" altLang="mk-MK"/>
              <a:pPr/>
              <a:t>2</a:t>
            </a:fld>
            <a:endParaRPr lang="en-US" altLang="mk-MK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00188" y="2428875"/>
          <a:ext cx="6096000" cy="3336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6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Item</a:t>
                      </a:r>
                      <a:endParaRPr lang="mk-MK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Entity/Instance</a:t>
                      </a:r>
                      <a:endParaRPr lang="mk-MK" sz="1800" dirty="0"/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Car</a:t>
                      </a:r>
                      <a:endParaRPr lang="mk-MK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endParaRPr lang="mk-MK" sz="1800"/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Marketing</a:t>
                      </a:r>
                      <a:endParaRPr lang="mk-MK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endParaRPr lang="mk-MK" sz="1800"/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Department</a:t>
                      </a:r>
                      <a:endParaRPr lang="mk-MK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endParaRPr lang="mk-MK" sz="1800"/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Colgate</a:t>
                      </a:r>
                      <a:endParaRPr lang="mk-MK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endParaRPr lang="mk-MK" sz="1800"/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Continent</a:t>
                      </a:r>
                      <a:endParaRPr lang="mk-MK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endParaRPr lang="mk-MK" sz="1800" dirty="0"/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Village </a:t>
                      </a:r>
                      <a:r>
                        <a:rPr lang="en-US" sz="1800" dirty="0" err="1"/>
                        <a:t>Smilevo</a:t>
                      </a:r>
                      <a:endParaRPr lang="mk-MK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endParaRPr lang="mk-MK" sz="1800"/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k-MK" sz="1800" dirty="0"/>
                        <a:t>2000</a:t>
                      </a:r>
                      <a:r>
                        <a:rPr lang="mk-MK" sz="1800" baseline="0" dirty="0"/>
                        <a:t> </a:t>
                      </a:r>
                      <a:r>
                        <a:rPr lang="en-US" sz="1800" baseline="0" dirty="0"/>
                        <a:t>m. under the sea</a:t>
                      </a:r>
                      <a:endParaRPr lang="mk-MK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endParaRPr lang="mk-MK" sz="1800" dirty="0"/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769">
                <a:tc>
                  <a:txBody>
                    <a:bodyPr/>
                    <a:lstStyle/>
                    <a:p>
                      <a:r>
                        <a:rPr lang="en-US" sz="1800" dirty="0"/>
                        <a:t>University</a:t>
                      </a:r>
                      <a:endParaRPr lang="mk-MK" sz="1800" dirty="0"/>
                    </a:p>
                  </a:txBody>
                  <a:tcPr marT="45711" marB="45711"/>
                </a:tc>
                <a:tc>
                  <a:txBody>
                    <a:bodyPr/>
                    <a:lstStyle/>
                    <a:p>
                      <a:endParaRPr lang="mk-MK" sz="1800" dirty="0"/>
                    </a:p>
                  </a:txBody>
                  <a:tcPr marT="45711" marB="45711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4572000" y="5357813"/>
            <a:ext cx="3000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b="1" i="1"/>
              <a:t>Entity</a:t>
            </a:r>
            <a:endParaRPr lang="mk-MK" altLang="mk-MK" b="1" i="1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4500563" y="3559175"/>
            <a:ext cx="3000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b="1" i="1"/>
              <a:t>Entity</a:t>
            </a:r>
            <a:endParaRPr lang="mk-MK" altLang="mk-MK" b="1" i="1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500563" y="4286250"/>
            <a:ext cx="3000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b="1" i="1"/>
              <a:t>Entity</a:t>
            </a:r>
            <a:endParaRPr lang="mk-MK" altLang="mk-MK" b="1" i="1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4572000" y="2786063"/>
            <a:ext cx="3000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b="1" i="1"/>
              <a:t>Entity</a:t>
            </a:r>
            <a:endParaRPr lang="mk-MK" altLang="mk-MK" b="1" i="1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4500563" y="5000625"/>
            <a:ext cx="3000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b="1" i="1"/>
              <a:t>Instance</a:t>
            </a:r>
            <a:endParaRPr lang="mk-MK" altLang="mk-MK" b="1" i="1"/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572000" y="3929063"/>
            <a:ext cx="3000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b="1" i="1"/>
              <a:t>Instance</a:t>
            </a:r>
            <a:endParaRPr lang="mk-MK" altLang="mk-MK" b="1" i="1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572000" y="3143250"/>
            <a:ext cx="3000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b="1" i="1"/>
              <a:t>Instance</a:t>
            </a:r>
            <a:endParaRPr lang="mk-MK" altLang="mk-MK" b="1" i="1"/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4500563" y="4643438"/>
            <a:ext cx="3000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b="1" i="1"/>
              <a:t>Instance</a:t>
            </a:r>
            <a:endParaRPr lang="mk-MK" altLang="mk-MK" b="1" i="1"/>
          </a:p>
        </p:txBody>
      </p:sp>
    </p:spTree>
    <p:extLst>
      <p:ext uri="{BB962C8B-B14F-4D97-AF65-F5344CB8AC3E}">
        <p14:creationId xmlns:p14="http://schemas.microsoft.com/office/powerpoint/2010/main" val="303228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18" name="Straight Connector 17"/>
          <p:cNvCxnSpPr>
            <a:cxnSpLocks noChangeShapeType="1"/>
          </p:cNvCxnSpPr>
          <p:nvPr/>
        </p:nvCxnSpPr>
        <p:spPr bwMode="auto">
          <a:xfrm>
            <a:off x="4643438" y="2500313"/>
            <a:ext cx="2714625" cy="17145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ER</a:t>
            </a:r>
            <a:r>
              <a:rPr lang="mk-MK" altLang="mk-MK" b="1"/>
              <a:t> </a:t>
            </a:r>
            <a:r>
              <a:rPr lang="en-US" altLang="mk-MK" b="1"/>
              <a:t>diagram</a:t>
            </a:r>
            <a:endParaRPr lang="mk-MK" altLang="mk-MK" b="1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A97C348-C14A-48DF-9C66-FEDF86E59754}" type="slidenum">
              <a:rPr lang="en-US" altLang="mk-MK"/>
              <a:pPr/>
              <a:t>3</a:t>
            </a:fld>
            <a:endParaRPr lang="en-US" altLang="mk-MK"/>
          </a:p>
        </p:txBody>
      </p:sp>
      <p:sp>
        <p:nvSpPr>
          <p:cNvPr id="9221" name="Rectangle 6"/>
          <p:cNvSpPr>
            <a:spLocks noChangeArrowheads="1"/>
          </p:cNvSpPr>
          <p:nvPr/>
        </p:nvSpPr>
        <p:spPr bwMode="auto">
          <a:xfrm>
            <a:off x="2928938" y="2143125"/>
            <a:ext cx="1724025" cy="358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b="1"/>
              <a:t>Student</a:t>
            </a:r>
            <a:endParaRPr lang="mk-MK" altLang="mk-MK" b="1"/>
          </a:p>
          <a:p>
            <a:pPr algn="ctr"/>
            <a:endParaRPr lang="mk-MK" altLang="mk-MK" sz="1200"/>
          </a:p>
        </p:txBody>
      </p:sp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642938" y="4429125"/>
            <a:ext cx="1724025" cy="358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b="1"/>
              <a:t>Year</a:t>
            </a:r>
            <a:endParaRPr lang="mk-MK" altLang="mk-MK" b="1"/>
          </a:p>
          <a:p>
            <a:pPr algn="ctr"/>
            <a:endParaRPr lang="mk-MK" altLang="mk-MK" sz="1200"/>
          </a:p>
        </p:txBody>
      </p:sp>
      <p:sp>
        <p:nvSpPr>
          <p:cNvPr id="9223" name="Rectangle 6"/>
          <p:cNvSpPr>
            <a:spLocks noChangeArrowheads="1"/>
          </p:cNvSpPr>
          <p:nvPr/>
        </p:nvSpPr>
        <p:spPr bwMode="auto">
          <a:xfrm>
            <a:off x="6357938" y="4214813"/>
            <a:ext cx="1724025" cy="358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b="1"/>
              <a:t>Course</a:t>
            </a:r>
            <a:endParaRPr lang="mk-MK" altLang="mk-MK" b="1"/>
          </a:p>
          <a:p>
            <a:pPr algn="ctr"/>
            <a:endParaRPr lang="mk-MK" altLang="mk-MK" sz="1200"/>
          </a:p>
        </p:txBody>
      </p:sp>
      <p:sp>
        <p:nvSpPr>
          <p:cNvPr id="9224" name="Diamond 9"/>
          <p:cNvSpPr>
            <a:spLocks noChangeArrowheads="1"/>
          </p:cNvSpPr>
          <p:nvPr/>
        </p:nvSpPr>
        <p:spPr bwMode="auto">
          <a:xfrm>
            <a:off x="1857375" y="3214688"/>
            <a:ext cx="1500188" cy="85725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200" b="1"/>
              <a:t>Study </a:t>
            </a:r>
            <a:endParaRPr lang="mk-MK" altLang="mk-MK" sz="1200" b="1"/>
          </a:p>
        </p:txBody>
      </p:sp>
      <p:sp>
        <p:nvSpPr>
          <p:cNvPr id="9225" name="Diamond 10"/>
          <p:cNvSpPr>
            <a:spLocks noChangeArrowheads="1"/>
          </p:cNvSpPr>
          <p:nvPr/>
        </p:nvSpPr>
        <p:spPr bwMode="auto">
          <a:xfrm>
            <a:off x="4929188" y="2857500"/>
            <a:ext cx="1500187" cy="85725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200" b="1"/>
              <a:t>enrolls</a:t>
            </a:r>
            <a:endParaRPr lang="mk-MK" altLang="mk-MK" sz="1200" b="1"/>
          </a:p>
        </p:txBody>
      </p:sp>
      <p:cxnSp>
        <p:nvCxnSpPr>
          <p:cNvPr id="9226" name="Straight Connector 12"/>
          <p:cNvCxnSpPr>
            <a:cxnSpLocks noChangeShapeType="1"/>
            <a:endCxn id="9221" idx="2"/>
          </p:cNvCxnSpPr>
          <p:nvPr/>
        </p:nvCxnSpPr>
        <p:spPr bwMode="auto">
          <a:xfrm flipV="1">
            <a:off x="2857500" y="2501900"/>
            <a:ext cx="933450" cy="7842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27" name="Straight Connector 14"/>
          <p:cNvCxnSpPr>
            <a:cxnSpLocks noChangeShapeType="1"/>
            <a:endCxn id="9222" idx="0"/>
          </p:cNvCxnSpPr>
          <p:nvPr/>
        </p:nvCxnSpPr>
        <p:spPr bwMode="auto">
          <a:xfrm rot="10800000" flipV="1">
            <a:off x="1504950" y="3857625"/>
            <a:ext cx="709613" cy="5715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28" name="TextBox 18"/>
          <p:cNvSpPr txBox="1">
            <a:spLocks noChangeArrowheads="1"/>
          </p:cNvSpPr>
          <p:nvPr/>
        </p:nvSpPr>
        <p:spPr bwMode="auto">
          <a:xfrm>
            <a:off x="3143250" y="2500313"/>
            <a:ext cx="330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/>
              <a:t>n</a:t>
            </a:r>
            <a:endParaRPr lang="mk-MK" altLang="mk-MK"/>
          </a:p>
        </p:txBody>
      </p:sp>
      <p:sp>
        <p:nvSpPr>
          <p:cNvPr id="9229" name="TextBox 19"/>
          <p:cNvSpPr txBox="1">
            <a:spLocks noChangeArrowheads="1"/>
          </p:cNvSpPr>
          <p:nvPr/>
        </p:nvSpPr>
        <p:spPr bwMode="auto">
          <a:xfrm>
            <a:off x="1214438" y="4000500"/>
            <a:ext cx="3317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/>
              <a:t>1</a:t>
            </a:r>
            <a:endParaRPr lang="mk-MK" altLang="mk-MK"/>
          </a:p>
        </p:txBody>
      </p:sp>
      <p:sp>
        <p:nvSpPr>
          <p:cNvPr id="9230" name="TextBox 20"/>
          <p:cNvSpPr txBox="1">
            <a:spLocks noChangeArrowheads="1"/>
          </p:cNvSpPr>
          <p:nvPr/>
        </p:nvSpPr>
        <p:spPr bwMode="auto">
          <a:xfrm>
            <a:off x="4456113" y="2571750"/>
            <a:ext cx="33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/>
              <a:t>n</a:t>
            </a:r>
            <a:endParaRPr lang="mk-MK" altLang="mk-MK"/>
          </a:p>
        </p:txBody>
      </p:sp>
      <p:sp>
        <p:nvSpPr>
          <p:cNvPr id="9231" name="TextBox 21"/>
          <p:cNvSpPr txBox="1">
            <a:spLocks noChangeArrowheads="1"/>
          </p:cNvSpPr>
          <p:nvPr/>
        </p:nvSpPr>
        <p:spPr bwMode="auto">
          <a:xfrm>
            <a:off x="7358063" y="3786188"/>
            <a:ext cx="409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/>
              <a:t>m</a:t>
            </a:r>
            <a:endParaRPr lang="mk-MK" altLang="mk-MK"/>
          </a:p>
        </p:txBody>
      </p:sp>
      <p:sp>
        <p:nvSpPr>
          <p:cNvPr id="9232" name="TextBox 22"/>
          <p:cNvSpPr txBox="1">
            <a:spLocks noChangeArrowheads="1"/>
          </p:cNvSpPr>
          <p:nvPr/>
        </p:nvSpPr>
        <p:spPr bwMode="auto">
          <a:xfrm>
            <a:off x="1000125" y="5487988"/>
            <a:ext cx="4852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FontTx/>
              <a:buAutoNum type="arabicPeriod"/>
            </a:pPr>
            <a:r>
              <a:rPr lang="en-US" altLang="mk-MK" b="1"/>
              <a:t>Define all entities (and relations)</a:t>
            </a:r>
            <a:endParaRPr lang="mk-MK" altLang="mk-MK" b="1"/>
          </a:p>
        </p:txBody>
      </p:sp>
      <p:sp>
        <p:nvSpPr>
          <p:cNvPr id="24" name="Oval 23"/>
          <p:cNvSpPr/>
          <p:nvPr/>
        </p:nvSpPr>
        <p:spPr bwMode="auto">
          <a:xfrm>
            <a:off x="214313" y="3929063"/>
            <a:ext cx="2643187" cy="1357312"/>
          </a:xfrm>
          <a:prstGeom prst="ellipse">
            <a:avLst/>
          </a:prstGeom>
          <a:noFill/>
          <a:ln w="571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mk-MK"/>
          </a:p>
        </p:txBody>
      </p:sp>
    </p:spTree>
    <p:extLst>
      <p:ext uri="{BB962C8B-B14F-4D97-AF65-F5344CB8AC3E}">
        <p14:creationId xmlns:p14="http://schemas.microsoft.com/office/powerpoint/2010/main" val="4083552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mk-MK" b="1" dirty="0"/>
              <a:t>YEAR</a:t>
            </a:r>
            <a:r>
              <a:rPr lang="mk-MK" altLang="mk-MK" b="1" dirty="0"/>
              <a:t>:</a:t>
            </a:r>
            <a:br>
              <a:rPr lang="mk-MK" altLang="mk-MK" b="1" dirty="0"/>
            </a:br>
            <a:r>
              <a:rPr lang="en-US" altLang="mk-MK" dirty="0"/>
              <a:t>ENTITY and INSTANCES</a:t>
            </a:r>
            <a:endParaRPr lang="mk-MK" altLang="mk-MK" dirty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71438" y="4786313"/>
            <a:ext cx="9144000" cy="1481137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mk-MK" sz="1800" b="1"/>
              <a:t>YEAR</a:t>
            </a:r>
            <a:r>
              <a:rPr lang="mk-MK" altLang="mk-MK" sz="1800"/>
              <a:t>(</a:t>
            </a:r>
            <a:r>
              <a:rPr lang="en-US" altLang="mk-MK" sz="1800"/>
              <a:t>“I”, 1, “First year undergraduate”)</a:t>
            </a:r>
            <a:endParaRPr lang="mk-MK" altLang="mk-MK" sz="1800"/>
          </a:p>
          <a:p>
            <a:pPr>
              <a:buFont typeface="Wingdings" panose="05000000000000000000" pitchFamily="2" charset="2"/>
              <a:buNone/>
            </a:pPr>
            <a:r>
              <a:rPr lang="en-US" altLang="mk-MK" sz="1800" b="1"/>
              <a:t>YEAR</a:t>
            </a:r>
            <a:r>
              <a:rPr lang="mk-MK" altLang="mk-MK" sz="1800"/>
              <a:t>(</a:t>
            </a:r>
            <a:r>
              <a:rPr lang="en-US" altLang="mk-MK" sz="1800"/>
              <a:t>“II”, 2, “Second year undergraduate”)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mk-MK" sz="1800" b="1"/>
              <a:t>YEAR</a:t>
            </a:r>
            <a:r>
              <a:rPr lang="mk-MK" altLang="mk-MK" sz="1800"/>
              <a:t>(</a:t>
            </a:r>
            <a:r>
              <a:rPr lang="en-US" altLang="mk-MK" sz="1800"/>
              <a:t>“III”, 3, “Third year undergraduate”)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mk-MK" sz="1800" b="1"/>
              <a:t>YEAR</a:t>
            </a:r>
            <a:r>
              <a:rPr lang="mk-MK" altLang="mk-MK" sz="1800"/>
              <a:t>(</a:t>
            </a:r>
            <a:r>
              <a:rPr lang="en-US" altLang="mk-MK" sz="1800"/>
              <a:t>“VI”, </a:t>
            </a:r>
            <a:r>
              <a:rPr lang="mk-MK" altLang="mk-MK" sz="1800"/>
              <a:t>6</a:t>
            </a:r>
            <a:r>
              <a:rPr lang="en-US" altLang="mk-MK" sz="1800"/>
              <a:t>, “”)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mk-MK" sz="180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635BACA-7955-4846-8679-99DB44A3998D}" type="slidenum">
              <a:rPr lang="en-US" altLang="mk-MK"/>
              <a:pPr/>
              <a:t>4</a:t>
            </a:fld>
            <a:endParaRPr lang="en-US" altLang="mk-MK"/>
          </a:p>
        </p:txBody>
      </p:sp>
      <p:grpSp>
        <p:nvGrpSpPr>
          <p:cNvPr id="10245" name="Group 28"/>
          <p:cNvGrpSpPr>
            <a:grpSpLocks/>
          </p:cNvGrpSpPr>
          <p:nvPr/>
        </p:nvGrpSpPr>
        <p:grpSpPr bwMode="auto">
          <a:xfrm>
            <a:off x="446088" y="2286000"/>
            <a:ext cx="6340475" cy="1428750"/>
            <a:chOff x="428200" y="3311506"/>
            <a:chExt cx="8933395" cy="1991590"/>
          </a:xfrm>
        </p:grpSpPr>
        <p:cxnSp>
          <p:nvCxnSpPr>
            <p:cNvPr id="10249" name="Straight Connector 26"/>
            <p:cNvCxnSpPr>
              <a:cxnSpLocks noChangeShapeType="1"/>
              <a:stCxn id="10250" idx="1"/>
            </p:cNvCxnSpPr>
            <p:nvPr/>
          </p:nvCxnSpPr>
          <p:spPr bwMode="auto">
            <a:xfrm rot="10800000" flipV="1">
              <a:off x="2428875" y="3560743"/>
              <a:ext cx="857250" cy="1793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250" name="Rectangle 6"/>
            <p:cNvSpPr>
              <a:spLocks noChangeArrowheads="1"/>
            </p:cNvSpPr>
            <p:nvPr/>
          </p:nvSpPr>
          <p:spPr bwMode="auto">
            <a:xfrm>
              <a:off x="3286125" y="3311506"/>
              <a:ext cx="2428875" cy="500062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mk-MK" b="1"/>
                <a:t>YEAR</a:t>
              </a:r>
              <a:endParaRPr lang="mk-MK" altLang="mk-MK" b="1"/>
            </a:p>
            <a:p>
              <a:pPr algn="ctr"/>
              <a:endParaRPr lang="mk-MK" altLang="mk-MK" sz="1200"/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3523798" y="4597189"/>
              <a:ext cx="2335119" cy="705907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200" b="1" u="sng" dirty="0" err="1"/>
                <a:t>ID_year</a:t>
              </a:r>
              <a:endParaRPr lang="mk-MK" sz="1200" b="1" u="sng" dirty="0"/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428200" y="3523942"/>
              <a:ext cx="2142762" cy="429298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200" dirty="0"/>
                <a:t>year</a:t>
              </a:r>
              <a:endParaRPr lang="mk-MK" sz="1200" dirty="0"/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6216789" y="4167890"/>
              <a:ext cx="3144806" cy="502323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200" dirty="0"/>
                <a:t>description</a:t>
              </a:r>
              <a:endParaRPr lang="mk-MK" sz="1200" dirty="0"/>
            </a:p>
          </p:txBody>
        </p:sp>
        <p:cxnSp>
          <p:nvCxnSpPr>
            <p:cNvPr id="10254" name="Straight Connector 29"/>
            <p:cNvCxnSpPr>
              <a:cxnSpLocks noChangeShapeType="1"/>
              <a:stCxn id="10250" idx="2"/>
            </p:cNvCxnSpPr>
            <p:nvPr/>
          </p:nvCxnSpPr>
          <p:spPr bwMode="auto">
            <a:xfrm rot="5400000">
              <a:off x="4071937" y="4168756"/>
              <a:ext cx="785813" cy="7143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5" name="Straight Connector 33"/>
            <p:cNvCxnSpPr>
              <a:cxnSpLocks noChangeShapeType="1"/>
              <a:stCxn id="10250" idx="3"/>
              <a:endCxn id="13" idx="1"/>
            </p:cNvCxnSpPr>
            <p:nvPr/>
          </p:nvCxnSpPr>
          <p:spPr bwMode="auto">
            <a:xfrm>
              <a:off x="5715000" y="3561538"/>
              <a:ext cx="961656" cy="68068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9" name="Cloud Callout 28"/>
          <p:cNvSpPr/>
          <p:nvPr/>
        </p:nvSpPr>
        <p:spPr bwMode="auto">
          <a:xfrm>
            <a:off x="6786563" y="3786188"/>
            <a:ext cx="2357437" cy="857250"/>
          </a:xfrm>
          <a:prstGeom prst="cloudCallout">
            <a:avLst>
              <a:gd name="adj1" fmla="val -122284"/>
              <a:gd name="adj2" fmla="val 157264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b="1" dirty="0"/>
              <a:t>Instances</a:t>
            </a:r>
            <a:endParaRPr lang="mk-MK" b="1" dirty="0"/>
          </a:p>
        </p:txBody>
      </p:sp>
      <p:sp>
        <p:nvSpPr>
          <p:cNvPr id="30" name="Cloud Callout 29"/>
          <p:cNvSpPr/>
          <p:nvPr/>
        </p:nvSpPr>
        <p:spPr bwMode="auto">
          <a:xfrm>
            <a:off x="7000875" y="2428875"/>
            <a:ext cx="2143125" cy="857250"/>
          </a:xfrm>
          <a:prstGeom prst="cloudCallout">
            <a:avLst>
              <a:gd name="adj1" fmla="val -182729"/>
              <a:gd name="adj2" fmla="val -43624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b="1" dirty="0"/>
              <a:t>Entity</a:t>
            </a:r>
            <a:endParaRPr lang="mk-MK" b="1" dirty="0"/>
          </a:p>
        </p:txBody>
      </p:sp>
    </p:spTree>
    <p:extLst>
      <p:ext uri="{BB962C8B-B14F-4D97-AF65-F5344CB8AC3E}">
        <p14:creationId xmlns:p14="http://schemas.microsoft.com/office/powerpoint/2010/main" val="99710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569325" cy="1216025"/>
          </a:xfrm>
        </p:spPr>
        <p:txBody>
          <a:bodyPr/>
          <a:lstStyle/>
          <a:p>
            <a:pPr algn="ctr"/>
            <a:r>
              <a:rPr lang="en-US" altLang="mk-MK" b="1" dirty="0"/>
              <a:t>Transferring from entity </a:t>
            </a:r>
            <a:br>
              <a:rPr lang="en-US" altLang="mk-MK" b="1" dirty="0"/>
            </a:br>
            <a:r>
              <a:rPr lang="en-US" altLang="mk-MK" b="1" dirty="0"/>
              <a:t>into Diagram.net Table</a:t>
            </a:r>
            <a:endParaRPr lang="mk-MK" altLang="mk-MK" b="1" dirty="0"/>
          </a:p>
        </p:txBody>
      </p:sp>
      <p:sp>
        <p:nvSpPr>
          <p:cNvPr id="1126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A6E4B93-5A41-46F4-8075-8E79382436A1}" type="slidenum">
              <a:rPr lang="en-US" altLang="mk-MK"/>
              <a:pPr/>
              <a:t>5</a:t>
            </a:fld>
            <a:endParaRPr lang="en-US" altLang="mk-MK"/>
          </a:p>
        </p:txBody>
      </p:sp>
      <p:sp>
        <p:nvSpPr>
          <p:cNvPr id="29" name="Bent Arrow 28"/>
          <p:cNvSpPr/>
          <p:nvPr/>
        </p:nvSpPr>
        <p:spPr bwMode="auto">
          <a:xfrm flipV="1">
            <a:off x="3071813" y="3714750"/>
            <a:ext cx="1571625" cy="1939925"/>
          </a:xfrm>
          <a:prstGeom prst="bentArrow">
            <a:avLst>
              <a:gd name="adj1" fmla="val 25000"/>
              <a:gd name="adj2" fmla="val 25892"/>
              <a:gd name="adj3" fmla="val 25000"/>
              <a:gd name="adj4" fmla="val 50031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mk-MK"/>
          </a:p>
        </p:txBody>
      </p:sp>
      <p:grpSp>
        <p:nvGrpSpPr>
          <p:cNvPr id="11270" name="Group 28"/>
          <p:cNvGrpSpPr>
            <a:grpSpLocks/>
          </p:cNvGrpSpPr>
          <p:nvPr/>
        </p:nvGrpSpPr>
        <p:grpSpPr bwMode="auto">
          <a:xfrm>
            <a:off x="446088" y="2000250"/>
            <a:ext cx="6340475" cy="1428750"/>
            <a:chOff x="428200" y="3311506"/>
            <a:chExt cx="8933395" cy="1991590"/>
          </a:xfrm>
        </p:grpSpPr>
        <p:cxnSp>
          <p:nvCxnSpPr>
            <p:cNvPr id="11272" name="Straight Connector 26"/>
            <p:cNvCxnSpPr>
              <a:cxnSpLocks noChangeShapeType="1"/>
              <a:stCxn id="11273" idx="1"/>
            </p:cNvCxnSpPr>
            <p:nvPr/>
          </p:nvCxnSpPr>
          <p:spPr bwMode="auto">
            <a:xfrm rot="10800000" flipV="1">
              <a:off x="2428875" y="3560743"/>
              <a:ext cx="857250" cy="1793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73" name="Rectangle 6"/>
            <p:cNvSpPr>
              <a:spLocks noChangeArrowheads="1"/>
            </p:cNvSpPr>
            <p:nvPr/>
          </p:nvSpPr>
          <p:spPr bwMode="auto">
            <a:xfrm>
              <a:off x="3286125" y="3311506"/>
              <a:ext cx="2428875" cy="500062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mk-MK" b="1"/>
                <a:t>Year</a:t>
              </a:r>
              <a:endParaRPr lang="mk-MK" altLang="mk-MK" b="1"/>
            </a:p>
            <a:p>
              <a:pPr algn="ctr"/>
              <a:endParaRPr lang="mk-MK" altLang="mk-MK" sz="1200"/>
            </a:p>
          </p:txBody>
        </p:sp>
        <p:sp>
          <p:nvSpPr>
            <p:cNvPr id="33" name="Oval 32"/>
            <p:cNvSpPr/>
            <p:nvPr/>
          </p:nvSpPr>
          <p:spPr bwMode="auto">
            <a:xfrm>
              <a:off x="3523798" y="4597189"/>
              <a:ext cx="2335119" cy="705907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200" b="1" u="sng" dirty="0" err="1"/>
                <a:t>Id_year</a:t>
              </a:r>
              <a:endParaRPr lang="mk-MK" sz="1200" b="1" u="sng" dirty="0"/>
            </a:p>
          </p:txBody>
        </p:sp>
        <p:sp>
          <p:nvSpPr>
            <p:cNvPr id="34" name="Oval 33"/>
            <p:cNvSpPr/>
            <p:nvPr/>
          </p:nvSpPr>
          <p:spPr bwMode="auto">
            <a:xfrm>
              <a:off x="428200" y="3523942"/>
              <a:ext cx="2142762" cy="429298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200" dirty="0"/>
                <a:t>year</a:t>
              </a:r>
              <a:endParaRPr lang="mk-MK" sz="1200" dirty="0"/>
            </a:p>
          </p:txBody>
        </p:sp>
        <p:sp>
          <p:nvSpPr>
            <p:cNvPr id="35" name="Oval 34"/>
            <p:cNvSpPr/>
            <p:nvPr/>
          </p:nvSpPr>
          <p:spPr bwMode="auto">
            <a:xfrm>
              <a:off x="6216789" y="4167890"/>
              <a:ext cx="3144806" cy="502323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200" dirty="0"/>
                <a:t>description</a:t>
              </a:r>
              <a:endParaRPr lang="mk-MK" sz="1200" dirty="0"/>
            </a:p>
          </p:txBody>
        </p:sp>
        <p:cxnSp>
          <p:nvCxnSpPr>
            <p:cNvPr id="11277" name="Straight Connector 29"/>
            <p:cNvCxnSpPr>
              <a:cxnSpLocks noChangeShapeType="1"/>
              <a:stCxn id="11273" idx="2"/>
            </p:cNvCxnSpPr>
            <p:nvPr/>
          </p:nvCxnSpPr>
          <p:spPr bwMode="auto">
            <a:xfrm rot="5400000">
              <a:off x="4071937" y="4168756"/>
              <a:ext cx="785813" cy="7143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78" name="Straight Connector 33"/>
            <p:cNvCxnSpPr>
              <a:cxnSpLocks noChangeShapeType="1"/>
              <a:stCxn id="11273" idx="3"/>
              <a:endCxn id="35" idx="1"/>
            </p:cNvCxnSpPr>
            <p:nvPr/>
          </p:nvCxnSpPr>
          <p:spPr bwMode="auto">
            <a:xfrm>
              <a:off x="5715000" y="3561538"/>
              <a:ext cx="961656" cy="68068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11271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4214813"/>
            <a:ext cx="2071687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9942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42938" y="630238"/>
            <a:ext cx="8594725" cy="65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1" hangingPunct="1">
              <a:defRPr/>
            </a:pPr>
            <a:r>
              <a:rPr lang="mk-MK" sz="4000" b="1" kern="0" dirty="0"/>
              <a:t>1. </a:t>
            </a:r>
            <a:r>
              <a:rPr lang="en-US" sz="4000" b="1" kern="0" dirty="0"/>
              <a:t>Entity attributes identification</a:t>
            </a:r>
            <a:endParaRPr lang="en-US" sz="3800" b="1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29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280349E-20ED-4C86-AFC3-0FE86E93BA77}" type="slidenum">
              <a:rPr lang="en-US" altLang="mk-MK"/>
              <a:pPr/>
              <a:t>6</a:t>
            </a:fld>
            <a:endParaRPr lang="en-US" altLang="mk-MK"/>
          </a:p>
        </p:txBody>
      </p:sp>
      <p:sp>
        <p:nvSpPr>
          <p:cNvPr id="12293" name="TextBox 24"/>
          <p:cNvSpPr txBox="1">
            <a:spLocks noChangeArrowheads="1"/>
          </p:cNvSpPr>
          <p:nvPr/>
        </p:nvSpPr>
        <p:spPr bwMode="auto">
          <a:xfrm>
            <a:off x="428625" y="4133850"/>
            <a:ext cx="828675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mk-MK" altLang="mk-MK"/>
              <a:t>1.</a:t>
            </a:r>
            <a:r>
              <a:rPr lang="en-US" altLang="mk-MK"/>
              <a:t> Discover identifiers and composite attributes</a:t>
            </a:r>
            <a:endParaRPr lang="mk-MK" altLang="mk-MK"/>
          </a:p>
          <a:p>
            <a:endParaRPr lang="mk-MK" altLang="mk-MK" sz="1000"/>
          </a:p>
          <a:p>
            <a:r>
              <a:rPr lang="mk-MK" altLang="mk-MK"/>
              <a:t>2. </a:t>
            </a:r>
            <a:r>
              <a:rPr lang="en-US" altLang="mk-MK"/>
              <a:t>Break down the composite attributes</a:t>
            </a:r>
            <a:r>
              <a:rPr lang="mk-MK" altLang="mk-MK"/>
              <a:t>.</a:t>
            </a:r>
          </a:p>
          <a:p>
            <a:endParaRPr lang="mk-MK" altLang="mk-MK" sz="1000"/>
          </a:p>
          <a:p>
            <a:r>
              <a:rPr lang="mk-MK" altLang="mk-MK"/>
              <a:t>3. </a:t>
            </a:r>
            <a:r>
              <a:rPr lang="en-US" altLang="mk-MK"/>
              <a:t>Make a list of all entity attributes</a:t>
            </a:r>
            <a:r>
              <a:rPr lang="mk-MK" altLang="mk-MK"/>
              <a:t>. </a:t>
            </a:r>
            <a:r>
              <a:rPr lang="en-US" altLang="mk-MK" b="1"/>
              <a:t>Attribute name is </a:t>
            </a:r>
            <a:r>
              <a:rPr lang="en-US" altLang="mk-MK"/>
              <a:t>with Latin letters and without empty spaces (use “_” instead of “ “)</a:t>
            </a:r>
            <a:endParaRPr lang="mk-MK" altLang="mk-MK"/>
          </a:p>
          <a:p>
            <a:endParaRPr lang="mk-MK" altLang="mk-MK" sz="1000"/>
          </a:p>
          <a:p>
            <a:r>
              <a:rPr lang="mk-MK" altLang="mk-MK"/>
              <a:t>4. </a:t>
            </a:r>
            <a:r>
              <a:rPr lang="en-US" altLang="mk-MK"/>
              <a:t>For every attribute write whether it is an identifier or not. </a:t>
            </a:r>
            <a:endParaRPr lang="mk-MK" altLang="mk-MK"/>
          </a:p>
        </p:txBody>
      </p:sp>
      <p:grpSp>
        <p:nvGrpSpPr>
          <p:cNvPr id="12294" name="Group 28"/>
          <p:cNvGrpSpPr>
            <a:grpSpLocks/>
          </p:cNvGrpSpPr>
          <p:nvPr/>
        </p:nvGrpSpPr>
        <p:grpSpPr bwMode="auto">
          <a:xfrm>
            <a:off x="446088" y="2000250"/>
            <a:ext cx="6340475" cy="1428750"/>
            <a:chOff x="428200" y="3311506"/>
            <a:chExt cx="8933395" cy="1991590"/>
          </a:xfrm>
        </p:grpSpPr>
        <p:cxnSp>
          <p:nvCxnSpPr>
            <p:cNvPr id="12295" name="Straight Connector 26"/>
            <p:cNvCxnSpPr>
              <a:cxnSpLocks noChangeShapeType="1"/>
              <a:stCxn id="12296" idx="1"/>
            </p:cNvCxnSpPr>
            <p:nvPr/>
          </p:nvCxnSpPr>
          <p:spPr bwMode="auto">
            <a:xfrm rot="10800000" flipV="1">
              <a:off x="2428876" y="3560744"/>
              <a:ext cx="857250" cy="17938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296" name="Rectangle 6"/>
            <p:cNvSpPr>
              <a:spLocks noChangeArrowheads="1"/>
            </p:cNvSpPr>
            <p:nvPr/>
          </p:nvSpPr>
          <p:spPr bwMode="auto">
            <a:xfrm>
              <a:off x="3286126" y="3311506"/>
              <a:ext cx="2428874" cy="500062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mk-MK" b="1"/>
                <a:t>YEAR</a:t>
              </a:r>
              <a:endParaRPr lang="mk-MK" altLang="mk-MK" b="1"/>
            </a:p>
            <a:p>
              <a:pPr algn="ctr"/>
              <a:endParaRPr lang="mk-MK" altLang="mk-MK" sz="1200"/>
            </a:p>
          </p:txBody>
        </p:sp>
        <p:sp>
          <p:nvSpPr>
            <p:cNvPr id="32" name="Oval 31"/>
            <p:cNvSpPr/>
            <p:nvPr/>
          </p:nvSpPr>
          <p:spPr bwMode="auto">
            <a:xfrm>
              <a:off x="3523798" y="4597189"/>
              <a:ext cx="2335119" cy="705907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200" b="1" u="sng" dirty="0" err="1"/>
                <a:t>Id_year</a:t>
              </a:r>
              <a:endParaRPr lang="mk-MK" sz="1200" b="1" u="sng" dirty="0"/>
            </a:p>
          </p:txBody>
        </p:sp>
        <p:sp>
          <p:nvSpPr>
            <p:cNvPr id="33" name="Oval 32"/>
            <p:cNvSpPr/>
            <p:nvPr/>
          </p:nvSpPr>
          <p:spPr bwMode="auto">
            <a:xfrm>
              <a:off x="428200" y="3523942"/>
              <a:ext cx="2142762" cy="429298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200" dirty="0"/>
                <a:t>year</a:t>
              </a:r>
              <a:endParaRPr lang="mk-MK" sz="1200" dirty="0"/>
            </a:p>
          </p:txBody>
        </p:sp>
        <p:sp>
          <p:nvSpPr>
            <p:cNvPr id="34" name="Oval 33"/>
            <p:cNvSpPr/>
            <p:nvPr/>
          </p:nvSpPr>
          <p:spPr bwMode="auto">
            <a:xfrm>
              <a:off x="6216789" y="4167890"/>
              <a:ext cx="3144806" cy="502323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200" dirty="0"/>
                <a:t>Description</a:t>
              </a:r>
              <a:endParaRPr lang="mk-MK" sz="1200" dirty="0"/>
            </a:p>
          </p:txBody>
        </p:sp>
        <p:cxnSp>
          <p:nvCxnSpPr>
            <p:cNvPr id="12300" name="Straight Connector 29"/>
            <p:cNvCxnSpPr>
              <a:cxnSpLocks noChangeShapeType="1"/>
              <a:stCxn id="12296" idx="2"/>
            </p:cNvCxnSpPr>
            <p:nvPr/>
          </p:nvCxnSpPr>
          <p:spPr bwMode="auto">
            <a:xfrm rot="5400000">
              <a:off x="4071937" y="4168756"/>
              <a:ext cx="785813" cy="7143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01" name="Straight Connector 33"/>
            <p:cNvCxnSpPr>
              <a:cxnSpLocks noChangeShapeType="1"/>
              <a:stCxn id="12296" idx="3"/>
              <a:endCxn id="34" idx="1"/>
            </p:cNvCxnSpPr>
            <p:nvPr/>
          </p:nvCxnSpPr>
          <p:spPr bwMode="auto">
            <a:xfrm>
              <a:off x="5715000" y="3561538"/>
              <a:ext cx="961656" cy="68068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23336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954088"/>
            <a:ext cx="8594725" cy="655637"/>
          </a:xfrm>
        </p:spPr>
        <p:txBody>
          <a:bodyPr/>
          <a:lstStyle/>
          <a:p>
            <a:pPr algn="ctr" eaLnBrk="1" hangingPunct="1"/>
            <a:r>
              <a:rPr lang="mk-MK" altLang="mk-MK" b="1"/>
              <a:t>2. </a:t>
            </a:r>
            <a:r>
              <a:rPr lang="en-US" altLang="mk-MK" b="1"/>
              <a:t>Attribute role</a:t>
            </a:r>
          </a:p>
        </p:txBody>
      </p:sp>
      <p:sp>
        <p:nvSpPr>
          <p:cNvPr id="1331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92A677D-4ACB-4A73-8C1B-AF32B4C4A566}" type="slidenum">
              <a:rPr lang="en-US" altLang="mk-MK"/>
              <a:pPr/>
              <a:t>7</a:t>
            </a:fld>
            <a:endParaRPr lang="en-US" altLang="mk-MK"/>
          </a:p>
        </p:txBody>
      </p:sp>
      <p:sp>
        <p:nvSpPr>
          <p:cNvPr id="13317" name="Content Placeholder 23"/>
          <p:cNvSpPr>
            <a:spLocks noGrp="1"/>
          </p:cNvSpPr>
          <p:nvPr>
            <p:ph idx="1"/>
          </p:nvPr>
        </p:nvSpPr>
        <p:spPr>
          <a:xfrm>
            <a:off x="500063" y="5429250"/>
            <a:ext cx="8001000" cy="785813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mk-MK" sz="2000"/>
              <a:t>What data type should be inserted in every attribute?</a:t>
            </a:r>
            <a:r>
              <a:rPr lang="mk-MK" altLang="mk-MK" sz="2000"/>
              <a:t> </a:t>
            </a:r>
            <a:r>
              <a:rPr lang="en-US" altLang="mk-MK" sz="2000"/>
              <a:t>Digit, number, letter, word, date, boolean …</a:t>
            </a:r>
            <a:r>
              <a:rPr lang="mk-MK" altLang="mk-MK" sz="2000"/>
              <a:t> ?</a:t>
            </a:r>
            <a:endParaRPr lang="en-US" altLang="mk-MK" sz="200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00188" y="1857375"/>
          <a:ext cx="5857875" cy="1889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4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36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r>
                        <a:rPr lang="en-US" sz="1800" dirty="0"/>
                        <a:t>Name</a:t>
                      </a:r>
                      <a:endParaRPr lang="mk-MK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Identifier?</a:t>
                      </a:r>
                      <a:endParaRPr lang="mk-MK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049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year</a:t>
                      </a:r>
                      <a:r>
                        <a:rPr lang="mk-MK" sz="1600" dirty="0"/>
                        <a:t>	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Id</a:t>
                      </a:r>
                      <a:r>
                        <a:rPr lang="mk-MK" sz="1600" dirty="0"/>
                        <a:t>_</a:t>
                      </a:r>
                      <a:r>
                        <a:rPr lang="en-US" sz="1600" dirty="0"/>
                        <a:t>year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description</a:t>
                      </a:r>
                      <a:endParaRPr lang="mk-MK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no</a:t>
                      </a:r>
                      <a:endParaRPr lang="mk-MK" sz="16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Yes</a:t>
                      </a:r>
                      <a:endParaRPr lang="mk-MK" sz="16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No</a:t>
                      </a:r>
                      <a:endParaRPr lang="mk-MK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2760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954088"/>
            <a:ext cx="8594725" cy="655637"/>
          </a:xfrm>
        </p:spPr>
        <p:txBody>
          <a:bodyPr/>
          <a:lstStyle/>
          <a:p>
            <a:pPr algn="ctr" eaLnBrk="1" hangingPunct="1"/>
            <a:r>
              <a:rPr lang="mk-MK" altLang="mk-MK" b="1"/>
              <a:t>3. </a:t>
            </a:r>
            <a:r>
              <a:rPr lang="en-US" altLang="mk-MK" b="1"/>
              <a:t>Attribute data types</a:t>
            </a:r>
          </a:p>
        </p:txBody>
      </p:sp>
      <p:sp>
        <p:nvSpPr>
          <p:cNvPr id="1434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04BC801-3251-4497-8807-66DE6F355A7F}" type="slidenum">
              <a:rPr lang="en-US" altLang="mk-MK"/>
              <a:pPr/>
              <a:t>8</a:t>
            </a:fld>
            <a:endParaRPr lang="en-US" altLang="mk-MK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85750" y="1931988"/>
          <a:ext cx="85725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4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1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72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Data Type</a:t>
                      </a:r>
                      <a:endParaRPr lang="mk-MK" sz="1600" dirty="0"/>
                    </a:p>
                  </a:txBody>
                  <a:tcPr marL="91439" marR="9143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Synonyms</a:t>
                      </a:r>
                      <a:endParaRPr lang="mk-MK" sz="1600" dirty="0"/>
                    </a:p>
                  </a:txBody>
                  <a:tcPr marL="91439" marR="91439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Description</a:t>
                      </a:r>
                      <a:endParaRPr lang="mk-MK" sz="1600" dirty="0"/>
                    </a:p>
                  </a:txBody>
                  <a:tcPr marL="91439" marR="91439" marT="45730" marB="457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0380"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1600" b="1" dirty="0"/>
                        <a:t>Text</a:t>
                      </a:r>
                      <a:r>
                        <a:rPr lang="en-US" sz="1600" dirty="0"/>
                        <a:t>(size</a:t>
                      </a:r>
                      <a:r>
                        <a:rPr lang="mk-MK" sz="1600" dirty="0"/>
                        <a:t>)</a:t>
                      </a:r>
                    </a:p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1600" b="1" dirty="0"/>
                        <a:t>Number</a:t>
                      </a:r>
                      <a:r>
                        <a:rPr lang="en-US" sz="1600" dirty="0"/>
                        <a:t>(size</a:t>
                      </a:r>
                      <a:r>
                        <a:rPr lang="mk-MK" sz="1600" dirty="0"/>
                        <a:t>)</a:t>
                      </a:r>
                    </a:p>
                    <a:p>
                      <a:pPr algn="l">
                        <a:lnSpc>
                          <a:spcPct val="200000"/>
                        </a:lnSpc>
                      </a:pPr>
                      <a:endParaRPr lang="mk-MK" sz="1600" b="1" dirty="0"/>
                    </a:p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1600" b="1" dirty="0" err="1"/>
                        <a:t>Datetime</a:t>
                      </a:r>
                      <a:endParaRPr lang="mk-MK" sz="1600" b="1" dirty="0"/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600" b="1" dirty="0"/>
                        <a:t>…</a:t>
                      </a:r>
                    </a:p>
                  </a:txBody>
                  <a:tcPr marL="91439" marR="91439" marT="45730" marB="4573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1600" dirty="0"/>
                        <a:t>(N)</a:t>
                      </a:r>
                      <a:r>
                        <a:rPr lang="en-US" sz="1600" dirty="0" err="1"/>
                        <a:t>varchar</a:t>
                      </a:r>
                      <a:r>
                        <a:rPr lang="en-US" sz="1600" dirty="0"/>
                        <a:t>(50), String(100)</a:t>
                      </a:r>
                      <a:r>
                        <a:rPr lang="en-US" sz="1600" baseline="0" dirty="0"/>
                        <a:t> </a:t>
                      </a:r>
                      <a:endParaRPr lang="mk-MK" sz="1600" baseline="0" dirty="0"/>
                    </a:p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1600" baseline="0" dirty="0"/>
                        <a:t>Numeric(18), Numeric(9,2)</a:t>
                      </a:r>
                    </a:p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1600" baseline="0" dirty="0"/>
                        <a:t>Integer</a:t>
                      </a:r>
                      <a:endParaRPr lang="mk-MK" sz="1600" baseline="0" dirty="0"/>
                    </a:p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1600" baseline="0" dirty="0" err="1"/>
                        <a:t>DateTime</a:t>
                      </a:r>
                      <a:r>
                        <a:rPr lang="en-US" sz="1600" baseline="0" dirty="0"/>
                        <a:t>(8), date/time</a:t>
                      </a:r>
                    </a:p>
                  </a:txBody>
                  <a:tcPr marL="91439" marR="91439" marT="45730" marB="4573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1600" b="1" dirty="0"/>
                        <a:t>Text data</a:t>
                      </a:r>
                      <a:endParaRPr lang="mk-MK" sz="1600" dirty="0"/>
                    </a:p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1600" b="1" dirty="0"/>
                        <a:t>Numeric data</a:t>
                      </a:r>
                      <a:r>
                        <a:rPr lang="mk-MK" sz="1600" baseline="0" dirty="0"/>
                        <a:t>: </a:t>
                      </a:r>
                      <a:r>
                        <a:rPr lang="en-US" sz="1600" baseline="0" dirty="0"/>
                        <a:t>Integer, float, number, double, real</a:t>
                      </a:r>
                    </a:p>
                    <a:p>
                      <a:pPr algn="l">
                        <a:lnSpc>
                          <a:spcPct val="200000"/>
                        </a:lnSpc>
                      </a:pPr>
                      <a:r>
                        <a:rPr lang="en-US" sz="1600" b="1" baseline="0" dirty="0"/>
                        <a:t>Date </a:t>
                      </a:r>
                      <a:r>
                        <a:rPr lang="en-US" sz="1600" b="0" baseline="0" dirty="0"/>
                        <a:t>(and time)</a:t>
                      </a:r>
                      <a:endParaRPr lang="en-US" sz="1600" b="1" baseline="0" dirty="0"/>
                    </a:p>
                  </a:txBody>
                  <a:tcPr marL="91439" marR="91439" marT="45730" marB="457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1498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954088"/>
            <a:ext cx="9237663" cy="655637"/>
          </a:xfrm>
        </p:spPr>
        <p:txBody>
          <a:bodyPr/>
          <a:lstStyle/>
          <a:p>
            <a:pPr algn="ctr" eaLnBrk="1" hangingPunct="1"/>
            <a:r>
              <a:rPr lang="en-US" altLang="mk-MK" b="1"/>
              <a:t>Data types for YEAR’s attributes</a:t>
            </a:r>
          </a:p>
        </p:txBody>
      </p:sp>
      <p:sp>
        <p:nvSpPr>
          <p:cNvPr id="1536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EE57462-6AF9-48C2-8E7E-26B821B4F42B}" type="slidenum">
              <a:rPr lang="en-US" altLang="mk-MK"/>
              <a:pPr/>
              <a:t>9</a:t>
            </a:fld>
            <a:endParaRPr lang="en-US" altLang="mk-MK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28688" y="1897063"/>
          <a:ext cx="7286625" cy="1889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3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  <a:endParaRPr lang="mk-MK" sz="16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Identifier</a:t>
                      </a:r>
                      <a:endParaRPr lang="mk-MK" sz="16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Data type</a:t>
                      </a:r>
                      <a:endParaRPr lang="mk-MK" sz="16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size</a:t>
                      </a:r>
                      <a:endParaRPr lang="mk-MK" sz="16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049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year</a:t>
                      </a:r>
                      <a:endParaRPr lang="mk-MK" sz="16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Id</a:t>
                      </a:r>
                      <a:r>
                        <a:rPr lang="mk-MK" sz="1600" dirty="0"/>
                        <a:t>_</a:t>
                      </a:r>
                      <a:r>
                        <a:rPr lang="en-US" sz="1600" dirty="0"/>
                        <a:t>year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Description</a:t>
                      </a:r>
                      <a:endParaRPr lang="mk-MK" sz="16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/>
                        <a:t>No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/>
                        <a:t>No</a:t>
                      </a:r>
                      <a:endParaRPr lang="mk-MK" sz="16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 err="1"/>
                        <a:t>Varchar</a:t>
                      </a:r>
                      <a:endParaRPr lang="en-US" sz="1600" dirty="0"/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/>
                        <a:t>Numeric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 err="1"/>
                        <a:t>Varchar</a:t>
                      </a:r>
                      <a:endParaRPr lang="mk-MK" sz="16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/>
                        <a:t>2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en-US" sz="1600" dirty="0"/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/>
                        <a:t>2</a:t>
                      </a:r>
                      <a:r>
                        <a:rPr lang="mk-MK" sz="1600" dirty="0"/>
                        <a:t>00</a:t>
                      </a:r>
                      <a:endParaRPr lang="en-US" sz="16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152400" y="4773613"/>
            <a:ext cx="9237663" cy="655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1" hangingPunct="1">
              <a:defRPr/>
            </a:pPr>
            <a:r>
              <a:rPr lang="en-US" sz="28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IDENTIFIER</a:t>
            </a:r>
            <a:r>
              <a:rPr lang="mk-MK" sz="28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= </a:t>
            </a:r>
            <a:r>
              <a:rPr lang="en-US" sz="28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PRIMARY KEY</a:t>
            </a:r>
            <a:endParaRPr lang="mk-MK" sz="2800" b="1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 eaLnBrk="1" hangingPunct="1">
              <a:defRPr/>
            </a:pPr>
            <a:endParaRPr lang="en-US" sz="2800" b="1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 eaLnBrk="1" hangingPunct="1">
              <a:defRPr/>
            </a:pPr>
            <a:r>
              <a:rPr lang="en-US" sz="28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SYNONYMS</a:t>
            </a:r>
            <a:r>
              <a:rPr lang="mk-MK" sz="28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</a:t>
            </a:r>
            <a:r>
              <a:rPr lang="en-US" sz="28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Primary Key, PK, *</a:t>
            </a:r>
          </a:p>
        </p:txBody>
      </p:sp>
    </p:spTree>
    <p:extLst>
      <p:ext uri="{BB962C8B-B14F-4D97-AF65-F5344CB8AC3E}">
        <p14:creationId xmlns:p14="http://schemas.microsoft.com/office/powerpoint/2010/main" val="3998522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mk-MK" b="1"/>
              <a:t>Required attribute</a:t>
            </a:r>
            <a:endParaRPr lang="mk-MK" altLang="mk-MK" b="1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214313" y="1643063"/>
            <a:ext cx="8715375" cy="3571875"/>
          </a:xfrm>
        </p:spPr>
        <p:txBody>
          <a:bodyPr/>
          <a:lstStyle/>
          <a:p>
            <a:r>
              <a:rPr lang="en-US" altLang="mk-MK" sz="2500"/>
              <a:t>Can you create a YEAR instance without value for </a:t>
            </a:r>
            <a:r>
              <a:rPr lang="en-US" altLang="mk-MK" sz="2500" i="1"/>
              <a:t>year</a:t>
            </a:r>
            <a:r>
              <a:rPr lang="en-US" altLang="mk-MK" sz="2500"/>
              <a:t> attribute?</a:t>
            </a:r>
          </a:p>
          <a:p>
            <a:pPr>
              <a:buFont typeface="Wingdings" panose="05000000000000000000" pitchFamily="2" charset="2"/>
              <a:buNone/>
            </a:pPr>
            <a:endParaRPr lang="mk-MK" altLang="mk-MK" sz="2500"/>
          </a:p>
          <a:p>
            <a:r>
              <a:rPr lang="en-US" altLang="mk-MK" sz="2500"/>
              <a:t>Can you create a YEAR instance without </a:t>
            </a:r>
            <a:r>
              <a:rPr lang="en-US" altLang="mk-MK" sz="2500" i="1"/>
              <a:t>description</a:t>
            </a:r>
            <a:r>
              <a:rPr lang="mk-MK" altLang="mk-MK" sz="2500"/>
              <a:t>?</a:t>
            </a:r>
            <a:endParaRPr lang="en-US" altLang="mk-MK" sz="2500"/>
          </a:p>
          <a:p>
            <a:pPr>
              <a:buFont typeface="Wingdings" panose="05000000000000000000" pitchFamily="2" charset="2"/>
              <a:buNone/>
            </a:pPr>
            <a:endParaRPr lang="mk-MK" altLang="mk-MK" sz="2500"/>
          </a:p>
          <a:p>
            <a:r>
              <a:rPr lang="en-US" altLang="mk-MK" sz="2500"/>
              <a:t>Can you create a YEAR instance without value for id_</a:t>
            </a:r>
            <a:r>
              <a:rPr lang="en-US" altLang="mk-MK" sz="2500" i="1"/>
              <a:t>year</a:t>
            </a:r>
            <a:r>
              <a:rPr lang="en-US" altLang="mk-MK" sz="2500"/>
              <a:t> attribute</a:t>
            </a:r>
            <a:r>
              <a:rPr lang="mk-MK" altLang="mk-MK" sz="2500"/>
              <a:t>?</a:t>
            </a: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F9CD6F3-52A0-41DE-ADC5-8E28F64C00D3}" type="slidenum">
              <a:rPr lang="en-US" altLang="mk-MK"/>
              <a:pPr/>
              <a:t>10</a:t>
            </a:fld>
            <a:endParaRPr lang="en-US" altLang="mk-MK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1438" y="5214938"/>
            <a:ext cx="9144000" cy="1481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b="1" kern="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YEAR</a:t>
            </a:r>
            <a:r>
              <a:rPr lang="mk-MK" kern="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(</a:t>
            </a: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“I”, 1, “First year undergraduate”)</a:t>
            </a:r>
            <a:endParaRPr lang="mk-MK" kern="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b="1" kern="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YEAR</a:t>
            </a:r>
            <a:r>
              <a:rPr lang="mk-MK" kern="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(</a:t>
            </a: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“II”, 2, “Second year undergraduate”)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b="1" kern="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YEAR</a:t>
            </a:r>
            <a:r>
              <a:rPr lang="mk-MK" kern="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(</a:t>
            </a: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“III”, 3, “Third year undergraduate”)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en-US" b="1" kern="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YEAR</a:t>
            </a:r>
            <a:r>
              <a:rPr lang="mk-MK" kern="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(</a:t>
            </a: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“VI”, </a:t>
            </a:r>
            <a:r>
              <a:rPr lang="mk-MK" kern="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6</a:t>
            </a:r>
            <a:r>
              <a:rPr lang="en-US" kern="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, “”)</a:t>
            </a: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endParaRPr lang="en-US" kern="0" dirty="0">
              <a:solidFill>
                <a:schemeClr val="bg1">
                  <a:lumMod val="6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1968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mk-MK" altLang="mk-MK" b="1"/>
              <a:t>4. </a:t>
            </a:r>
            <a:r>
              <a:rPr lang="en-US" altLang="mk-MK" b="1"/>
              <a:t>Required attributes </a:t>
            </a:r>
            <a:br>
              <a:rPr lang="en-US" altLang="mk-MK" b="1"/>
            </a:br>
            <a:r>
              <a:rPr lang="en-US" altLang="mk-MK" b="1"/>
              <a:t>in YEAR</a:t>
            </a:r>
            <a:endParaRPr lang="mk-MK" altLang="mk-MK" b="1"/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59BB039-0222-4648-9411-E901200C6F2F}" type="slidenum">
              <a:rPr lang="en-US" altLang="mk-MK"/>
              <a:pPr/>
              <a:t>11</a:t>
            </a:fld>
            <a:endParaRPr lang="en-US" altLang="mk-MK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7188" y="1768475"/>
          <a:ext cx="8358186" cy="1889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1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1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862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Name</a:t>
                      </a:r>
                      <a:endParaRPr lang="mk-MK" sz="16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Identifier</a:t>
                      </a:r>
                      <a:endParaRPr lang="mk-MK" sz="16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Data type</a:t>
                      </a:r>
                      <a:endParaRPr lang="mk-MK" sz="16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size</a:t>
                      </a:r>
                      <a:endParaRPr lang="mk-MK" sz="16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required</a:t>
                      </a:r>
                      <a:r>
                        <a:rPr lang="mk-MK" sz="1600" dirty="0"/>
                        <a:t>.</a:t>
                      </a:r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049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year</a:t>
                      </a:r>
                      <a:endParaRPr lang="mk-MK" sz="16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Id</a:t>
                      </a:r>
                      <a:r>
                        <a:rPr lang="mk-MK" sz="1600" dirty="0"/>
                        <a:t>_</a:t>
                      </a:r>
                      <a:r>
                        <a:rPr lang="en-US" sz="1600" dirty="0"/>
                        <a:t>year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Description</a:t>
                      </a:r>
                      <a:endParaRPr lang="mk-MK" sz="16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/>
                        <a:t>No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/>
                        <a:t>No</a:t>
                      </a:r>
                      <a:endParaRPr lang="mk-MK" sz="16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 err="1"/>
                        <a:t>Varchar</a:t>
                      </a:r>
                      <a:endParaRPr lang="en-US" sz="1600" dirty="0"/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/>
                        <a:t>Numeric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 err="1"/>
                        <a:t>Varchar</a:t>
                      </a:r>
                      <a:endParaRPr lang="mk-MK" sz="16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/>
                        <a:t>2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en-US" sz="1600" dirty="0"/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/>
                        <a:t>2</a:t>
                      </a:r>
                      <a:r>
                        <a:rPr lang="mk-MK" sz="1600" dirty="0"/>
                        <a:t>00</a:t>
                      </a:r>
                      <a:endParaRPr lang="en-US" sz="16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/>
                        <a:t>YES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/>
                        <a:t>YES</a:t>
                      </a:r>
                      <a:endParaRPr lang="mk-MK" sz="1600" dirty="0"/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600" dirty="0"/>
                        <a:t>NO</a:t>
                      </a:r>
                      <a:endParaRPr lang="mk-MK" sz="1600" dirty="0"/>
                    </a:p>
                  </a:txBody>
                  <a:tcPr marL="91439" marR="914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433" name="Content Placeholder 2"/>
          <p:cNvSpPr>
            <a:spLocks noGrp="1"/>
          </p:cNvSpPr>
          <p:nvPr>
            <p:ph idx="1"/>
          </p:nvPr>
        </p:nvSpPr>
        <p:spPr>
          <a:xfrm>
            <a:off x="142875" y="5000625"/>
            <a:ext cx="8715375" cy="7143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mk-MK" sz="2000" b="1" dirty="0"/>
              <a:t>SYNONYMS for “required”</a:t>
            </a:r>
            <a:r>
              <a:rPr lang="en-US" altLang="mk-MK" sz="2000" dirty="0"/>
              <a:t>: mandatory</a:t>
            </a:r>
            <a:r>
              <a:rPr lang="mk-MK" altLang="mk-MK" sz="2000" dirty="0"/>
              <a:t>, </a:t>
            </a:r>
            <a:r>
              <a:rPr lang="en-US" altLang="mk-MK" sz="2000" dirty="0"/>
              <a:t>not allows null, not null</a:t>
            </a:r>
            <a:endParaRPr lang="mk-MK" altLang="mk-MK" sz="2000" dirty="0"/>
          </a:p>
        </p:txBody>
      </p:sp>
      <p:sp>
        <p:nvSpPr>
          <p:cNvPr id="17434" name="Rectangle 6"/>
          <p:cNvSpPr>
            <a:spLocks noChangeArrowheads="1"/>
          </p:cNvSpPr>
          <p:nvPr/>
        </p:nvSpPr>
        <p:spPr bwMode="auto">
          <a:xfrm>
            <a:off x="500063" y="4071938"/>
            <a:ext cx="76438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 b="1"/>
              <a:t>NON-required  </a:t>
            </a:r>
            <a:r>
              <a:rPr lang="en-US" altLang="mk-MK"/>
              <a:t>can have </a:t>
            </a:r>
            <a:r>
              <a:rPr lang="en-US" altLang="mk-MK" b="1" i="1"/>
              <a:t>NULL </a:t>
            </a:r>
            <a:r>
              <a:rPr lang="en-US" altLang="mk-MK"/>
              <a:t>value in some entity instance</a:t>
            </a:r>
          </a:p>
        </p:txBody>
      </p:sp>
    </p:spTree>
    <p:extLst>
      <p:ext uri="{BB962C8B-B14F-4D97-AF65-F5344CB8AC3E}">
        <p14:creationId xmlns:p14="http://schemas.microsoft.com/office/powerpoint/2010/main" val="3055970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Well done</a:t>
            </a:r>
            <a:r>
              <a:rPr lang="mk-MK" altLang="mk-MK" b="1"/>
              <a:t> !!!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001000" cy="4267200"/>
          </a:xfrm>
        </p:spPr>
        <p:txBody>
          <a:bodyPr/>
          <a:lstStyle/>
          <a:p>
            <a:r>
              <a:rPr lang="en-US" altLang="mk-MK"/>
              <a:t>We’ve created </a:t>
            </a:r>
            <a:r>
              <a:rPr lang="en-US" altLang="mk-MK" b="1"/>
              <a:t>table model </a:t>
            </a:r>
            <a:r>
              <a:rPr lang="en-US" altLang="mk-MK"/>
              <a:t>for the YEAR entity</a:t>
            </a:r>
          </a:p>
          <a:p>
            <a:endParaRPr lang="en-US" altLang="mk-MK"/>
          </a:p>
          <a:p>
            <a:endParaRPr lang="en-US" altLang="mk-MK"/>
          </a:p>
          <a:p>
            <a:endParaRPr lang="en-US" altLang="mk-MK"/>
          </a:p>
          <a:p>
            <a:pPr>
              <a:buFont typeface="Wingdings" panose="05000000000000000000" pitchFamily="2" charset="2"/>
              <a:buNone/>
            </a:pPr>
            <a:endParaRPr lang="en-US" altLang="mk-MK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264A594-8F57-4FC0-8EE0-5B1B6FAA7142}" type="slidenum">
              <a:rPr lang="en-US" altLang="mk-MK"/>
              <a:pPr/>
              <a:t>12</a:t>
            </a:fld>
            <a:endParaRPr lang="en-US" altLang="mk-MK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86250" y="4572000"/>
          <a:ext cx="4071938" cy="1304925"/>
        </p:xfrm>
        <a:graphic>
          <a:graphicData uri="http://schemas.openxmlformats.org/drawingml/2006/table">
            <a:tbl>
              <a:tblPr/>
              <a:tblGrid>
                <a:gridCol w="4071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49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mk-MK" sz="2000" b="1" dirty="0"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2000" b="1" dirty="0" err="1">
                          <a:latin typeface="Calibri"/>
                          <a:ea typeface="Calibri"/>
                          <a:cs typeface="Times New Roman"/>
                        </a:rPr>
                        <a:t>Id_year</a:t>
                      </a:r>
                      <a:r>
                        <a:rPr lang="en-US" sz="2000" b="1" dirty="0">
                          <a:latin typeface="Calibri"/>
                          <a:ea typeface="Calibri"/>
                          <a:cs typeface="Times New Roman"/>
                        </a:rPr>
                        <a:t>: </a:t>
                      </a: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PK, numeric(9), not</a:t>
                      </a:r>
                      <a:r>
                        <a:rPr lang="en-US" sz="2000" baseline="0" dirty="0">
                          <a:latin typeface="Calibri"/>
                          <a:ea typeface="Calibri"/>
                          <a:cs typeface="Times New Roman"/>
                        </a:rPr>
                        <a:t> null</a:t>
                      </a:r>
                      <a:endParaRPr lang="mk-MK" sz="2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latin typeface="Calibri"/>
                          <a:ea typeface="Calibri"/>
                          <a:cs typeface="Times New Roman"/>
                        </a:rPr>
                        <a:t>year: </a:t>
                      </a:r>
                      <a:r>
                        <a:rPr lang="en-US" sz="2000" b="1" dirty="0" err="1">
                          <a:latin typeface="Calibri"/>
                          <a:ea typeface="Calibri"/>
                          <a:cs typeface="Times New Roman"/>
                        </a:rPr>
                        <a:t>varchar</a:t>
                      </a: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(2), not null</a:t>
                      </a:r>
                      <a:endParaRPr lang="mk-MK" sz="2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latin typeface="Calibri"/>
                          <a:ea typeface="Calibri"/>
                          <a:cs typeface="Times New Roman"/>
                        </a:rPr>
                        <a:t>description: </a:t>
                      </a:r>
                      <a:r>
                        <a:rPr lang="en-US" sz="2000" b="1" dirty="0" err="1">
                          <a:latin typeface="Calibri"/>
                          <a:ea typeface="Calibri"/>
                          <a:cs typeface="Times New Roman"/>
                        </a:rPr>
                        <a:t>varchar</a:t>
                      </a:r>
                      <a:r>
                        <a:rPr lang="en-US" sz="2000" dirty="0">
                          <a:latin typeface="Calibri"/>
                          <a:ea typeface="Calibri"/>
                          <a:cs typeface="Times New Roman"/>
                        </a:rPr>
                        <a:t>(200)</a:t>
                      </a:r>
                      <a:endParaRPr lang="mk-MK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8444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563" y="2928938"/>
            <a:ext cx="1852612" cy="175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4802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Ass.</a:t>
            </a:r>
            <a:r>
              <a:rPr lang="mk-MK" altLang="mk-MK" b="1"/>
              <a:t> 1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001000" cy="4267200"/>
          </a:xfrm>
        </p:spPr>
        <p:txBody>
          <a:bodyPr/>
          <a:lstStyle/>
          <a:p>
            <a:pPr>
              <a:defRPr/>
            </a:pPr>
            <a:r>
              <a:rPr lang="en-US" dirty="0"/>
              <a:t>Use the </a:t>
            </a:r>
            <a:r>
              <a:rPr lang="en-US" b="1" dirty="0"/>
              <a:t>table model </a:t>
            </a:r>
            <a:r>
              <a:rPr lang="en-US" dirty="0"/>
              <a:t>for the YEAR entity and create entity-table in Diagram.net</a:t>
            </a:r>
            <a:r>
              <a:rPr lang="mk-MK" dirty="0"/>
              <a:t>.</a:t>
            </a:r>
            <a:endParaRPr lang="en-US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>
              <a:buFont typeface="Wingdings" panose="05000000000000000000" pitchFamily="2" charset="2"/>
              <a:buNone/>
              <a:defRPr/>
            </a:pPr>
            <a:endParaRPr lang="mk-MK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b="1" dirty="0"/>
          </a:p>
          <a:p>
            <a:pPr marL="92075" indent="-92075">
              <a:buFont typeface="Wingdings" panose="05000000000000000000" pitchFamily="2" charset="2"/>
              <a:buNone/>
              <a:defRPr/>
            </a:pPr>
            <a:r>
              <a:rPr lang="en-US" sz="2400" b="1" dirty="0"/>
              <a:t>NOTE</a:t>
            </a:r>
            <a:r>
              <a:rPr lang="mk-MK" sz="2400" b="1" dirty="0"/>
              <a:t>:</a:t>
            </a:r>
            <a:r>
              <a:rPr lang="en-US" sz="2400" b="1" dirty="0"/>
              <a:t> The Table name is </a:t>
            </a:r>
            <a:r>
              <a:rPr lang="en-US" sz="2400" dirty="0"/>
              <a:t>ONE word written with Latin letters (YEAR, </a:t>
            </a:r>
            <a:r>
              <a:rPr lang="en-US" sz="2400" dirty="0" err="1"/>
              <a:t>course_student</a:t>
            </a:r>
            <a:r>
              <a:rPr lang="mk-MK" sz="2400" dirty="0"/>
              <a:t>) </a:t>
            </a:r>
            <a:endParaRPr lang="en-US" sz="2400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dirty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47BFA1C-411A-4265-9CC6-B39BDA1B583D}" type="slidenum">
              <a:rPr lang="en-US" altLang="mk-MK"/>
              <a:pPr/>
              <a:t>13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2346878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574675" y="285750"/>
            <a:ext cx="8001000" cy="1216025"/>
          </a:xfrm>
        </p:spPr>
        <p:txBody>
          <a:bodyPr/>
          <a:lstStyle/>
          <a:p>
            <a:pPr algn="ctr"/>
            <a:r>
              <a:rPr lang="mk-MK" altLang="mk-MK" b="1"/>
              <a:t> </a:t>
            </a:r>
            <a:r>
              <a:rPr lang="en-US" altLang="mk-MK" b="1"/>
              <a:t>Let’s create model for another table</a:t>
            </a:r>
            <a:endParaRPr lang="mk-MK" altLang="mk-MK" b="1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4209F78-9745-4399-849D-B7A5FA9702BD}" type="slidenum">
              <a:rPr lang="en-US" altLang="mk-MK"/>
              <a:pPr/>
              <a:t>14</a:t>
            </a:fld>
            <a:endParaRPr lang="en-US" altLang="mk-MK"/>
          </a:p>
        </p:txBody>
      </p:sp>
      <p:cxnSp>
        <p:nvCxnSpPr>
          <p:cNvPr id="20485" name="Straight Connector 9"/>
          <p:cNvCxnSpPr>
            <a:cxnSpLocks noChangeShapeType="1"/>
          </p:cNvCxnSpPr>
          <p:nvPr/>
        </p:nvCxnSpPr>
        <p:spPr bwMode="auto">
          <a:xfrm>
            <a:off x="4795838" y="2652713"/>
            <a:ext cx="2714625" cy="17145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86" name="Rectangle 6"/>
          <p:cNvSpPr>
            <a:spLocks noChangeArrowheads="1"/>
          </p:cNvSpPr>
          <p:nvPr/>
        </p:nvSpPr>
        <p:spPr bwMode="auto">
          <a:xfrm>
            <a:off x="3081338" y="2295525"/>
            <a:ext cx="1724025" cy="358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b="1"/>
              <a:t>STUDENT</a:t>
            </a:r>
            <a:endParaRPr lang="mk-MK" altLang="mk-MK" b="1"/>
          </a:p>
          <a:p>
            <a:pPr algn="ctr"/>
            <a:endParaRPr lang="mk-MK" altLang="mk-MK" sz="1200"/>
          </a:p>
        </p:txBody>
      </p:sp>
      <p:sp>
        <p:nvSpPr>
          <p:cNvPr id="20487" name="Rectangle 13"/>
          <p:cNvSpPr>
            <a:spLocks noChangeArrowheads="1"/>
          </p:cNvSpPr>
          <p:nvPr/>
        </p:nvSpPr>
        <p:spPr bwMode="auto">
          <a:xfrm>
            <a:off x="795338" y="4581525"/>
            <a:ext cx="1724025" cy="358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b="1"/>
              <a:t>YEAR</a:t>
            </a:r>
            <a:endParaRPr lang="mk-MK" altLang="mk-MK" b="1"/>
          </a:p>
          <a:p>
            <a:pPr algn="ctr"/>
            <a:endParaRPr lang="mk-MK" altLang="mk-MK" sz="1200"/>
          </a:p>
        </p:txBody>
      </p:sp>
      <p:sp>
        <p:nvSpPr>
          <p:cNvPr id="20488" name="Rectangle 6"/>
          <p:cNvSpPr>
            <a:spLocks noChangeArrowheads="1"/>
          </p:cNvSpPr>
          <p:nvPr/>
        </p:nvSpPr>
        <p:spPr bwMode="auto">
          <a:xfrm>
            <a:off x="6510338" y="4367213"/>
            <a:ext cx="1724025" cy="358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b="1"/>
              <a:t>course</a:t>
            </a:r>
            <a:endParaRPr lang="mk-MK" altLang="mk-MK" b="1"/>
          </a:p>
          <a:p>
            <a:pPr algn="ctr"/>
            <a:endParaRPr lang="mk-MK" altLang="mk-MK" sz="1200"/>
          </a:p>
        </p:txBody>
      </p:sp>
      <p:sp>
        <p:nvSpPr>
          <p:cNvPr id="20489" name="Diamond 15"/>
          <p:cNvSpPr>
            <a:spLocks noChangeArrowheads="1"/>
          </p:cNvSpPr>
          <p:nvPr/>
        </p:nvSpPr>
        <p:spPr bwMode="auto">
          <a:xfrm>
            <a:off x="2009775" y="3367088"/>
            <a:ext cx="1500188" cy="85725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200" b="1"/>
              <a:t>STUDY</a:t>
            </a:r>
            <a:endParaRPr lang="mk-MK" altLang="mk-MK" sz="1200" b="1"/>
          </a:p>
        </p:txBody>
      </p:sp>
      <p:sp>
        <p:nvSpPr>
          <p:cNvPr id="20490" name="Diamond 16"/>
          <p:cNvSpPr>
            <a:spLocks noChangeArrowheads="1"/>
          </p:cNvSpPr>
          <p:nvPr/>
        </p:nvSpPr>
        <p:spPr bwMode="auto">
          <a:xfrm>
            <a:off x="5081588" y="3009900"/>
            <a:ext cx="1500187" cy="85725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200" b="1"/>
              <a:t>enrolls</a:t>
            </a:r>
            <a:endParaRPr lang="mk-MK" altLang="mk-MK" sz="1200" b="1"/>
          </a:p>
        </p:txBody>
      </p:sp>
      <p:cxnSp>
        <p:nvCxnSpPr>
          <p:cNvPr id="20491" name="Straight Connector 17"/>
          <p:cNvCxnSpPr>
            <a:cxnSpLocks noChangeShapeType="1"/>
            <a:endCxn id="20486" idx="2"/>
          </p:cNvCxnSpPr>
          <p:nvPr/>
        </p:nvCxnSpPr>
        <p:spPr bwMode="auto">
          <a:xfrm flipV="1">
            <a:off x="3009900" y="2654300"/>
            <a:ext cx="933450" cy="7842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2" name="Straight Connector 18"/>
          <p:cNvCxnSpPr>
            <a:cxnSpLocks noChangeShapeType="1"/>
            <a:endCxn id="20487" idx="0"/>
          </p:cNvCxnSpPr>
          <p:nvPr/>
        </p:nvCxnSpPr>
        <p:spPr bwMode="auto">
          <a:xfrm rot="10800000" flipV="1">
            <a:off x="1657350" y="4010025"/>
            <a:ext cx="709613" cy="5715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3" name="TextBox 19"/>
          <p:cNvSpPr txBox="1">
            <a:spLocks noChangeArrowheads="1"/>
          </p:cNvSpPr>
          <p:nvPr/>
        </p:nvSpPr>
        <p:spPr bwMode="auto">
          <a:xfrm>
            <a:off x="3214688" y="2701925"/>
            <a:ext cx="349250" cy="369888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 b="1"/>
              <a:t>n</a:t>
            </a:r>
            <a:endParaRPr lang="mk-MK" altLang="mk-MK" b="1"/>
          </a:p>
        </p:txBody>
      </p:sp>
      <p:sp>
        <p:nvSpPr>
          <p:cNvPr id="20494" name="TextBox 20"/>
          <p:cNvSpPr txBox="1">
            <a:spLocks noChangeArrowheads="1"/>
          </p:cNvSpPr>
          <p:nvPr/>
        </p:nvSpPr>
        <p:spPr bwMode="auto">
          <a:xfrm>
            <a:off x="1366838" y="4152900"/>
            <a:ext cx="3317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/>
              <a:t>1</a:t>
            </a:r>
            <a:endParaRPr lang="mk-MK" altLang="mk-MK"/>
          </a:p>
        </p:txBody>
      </p:sp>
      <p:sp>
        <p:nvSpPr>
          <p:cNvPr id="20495" name="TextBox 21"/>
          <p:cNvSpPr txBox="1">
            <a:spLocks noChangeArrowheads="1"/>
          </p:cNvSpPr>
          <p:nvPr/>
        </p:nvSpPr>
        <p:spPr bwMode="auto">
          <a:xfrm>
            <a:off x="4608513" y="2724150"/>
            <a:ext cx="33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/>
              <a:t>n</a:t>
            </a:r>
            <a:endParaRPr lang="mk-MK" altLang="mk-MK"/>
          </a:p>
        </p:txBody>
      </p:sp>
      <p:sp>
        <p:nvSpPr>
          <p:cNvPr id="20496" name="TextBox 22"/>
          <p:cNvSpPr txBox="1">
            <a:spLocks noChangeArrowheads="1"/>
          </p:cNvSpPr>
          <p:nvPr/>
        </p:nvSpPr>
        <p:spPr bwMode="auto">
          <a:xfrm>
            <a:off x="7510463" y="3938588"/>
            <a:ext cx="409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/>
              <a:t>m</a:t>
            </a:r>
            <a:endParaRPr lang="mk-MK" altLang="mk-MK"/>
          </a:p>
        </p:txBody>
      </p:sp>
      <p:sp>
        <p:nvSpPr>
          <p:cNvPr id="25" name="Oval 24"/>
          <p:cNvSpPr/>
          <p:nvPr/>
        </p:nvSpPr>
        <p:spPr bwMode="auto">
          <a:xfrm>
            <a:off x="2357438" y="1928813"/>
            <a:ext cx="2643187" cy="1357312"/>
          </a:xfrm>
          <a:prstGeom prst="ellipse">
            <a:avLst/>
          </a:prstGeom>
          <a:noFill/>
          <a:ln w="571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mk-MK"/>
          </a:p>
        </p:txBody>
      </p:sp>
      <p:sp>
        <p:nvSpPr>
          <p:cNvPr id="20498" name="TextBox 26"/>
          <p:cNvSpPr txBox="1">
            <a:spLocks noChangeArrowheads="1"/>
          </p:cNvSpPr>
          <p:nvPr/>
        </p:nvSpPr>
        <p:spPr bwMode="auto">
          <a:xfrm>
            <a:off x="735013" y="5429250"/>
            <a:ext cx="65595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/>
              <a:t>STUDENT is an entity that is in </a:t>
            </a:r>
            <a:r>
              <a:rPr lang="en-US" altLang="mk-MK" b="1"/>
              <a:t>n-1 </a:t>
            </a:r>
            <a:r>
              <a:rPr lang="en-US" altLang="mk-MK"/>
              <a:t>relation with YEAR.</a:t>
            </a:r>
          </a:p>
          <a:p>
            <a:r>
              <a:rPr lang="en-US" altLang="mk-MK"/>
              <a:t>What does it mean?</a:t>
            </a:r>
          </a:p>
          <a:p>
            <a:r>
              <a:rPr lang="mk-MK" altLang="mk-MK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425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mk-MK" b="1" dirty="0"/>
              <a:t>Transferring from entity </a:t>
            </a:r>
            <a:br>
              <a:rPr lang="en-US" altLang="mk-MK" b="1" dirty="0"/>
            </a:br>
            <a:r>
              <a:rPr lang="en-US" altLang="mk-MK" b="1" dirty="0"/>
              <a:t>into Diagram.net Table</a:t>
            </a:r>
            <a:endParaRPr lang="mk-MK" altLang="mk-MK" b="1" dirty="0"/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8EDE7AB-80F4-440C-ABA9-0142353DA927}" type="slidenum">
              <a:rPr lang="en-US" altLang="mk-MK"/>
              <a:pPr/>
              <a:t>15</a:t>
            </a:fld>
            <a:endParaRPr lang="en-US" altLang="mk-MK"/>
          </a:p>
        </p:txBody>
      </p:sp>
      <p:grpSp>
        <p:nvGrpSpPr>
          <p:cNvPr id="21509" name="Group 28"/>
          <p:cNvGrpSpPr>
            <a:grpSpLocks/>
          </p:cNvGrpSpPr>
          <p:nvPr/>
        </p:nvGrpSpPr>
        <p:grpSpPr bwMode="auto">
          <a:xfrm>
            <a:off x="142875" y="1785938"/>
            <a:ext cx="6643688" cy="2357437"/>
            <a:chOff x="0" y="3311506"/>
            <a:chExt cx="9361595" cy="3286125"/>
          </a:xfrm>
        </p:grpSpPr>
        <p:cxnSp>
          <p:nvCxnSpPr>
            <p:cNvPr id="21516" name="Straight Connector 36"/>
            <p:cNvCxnSpPr>
              <a:cxnSpLocks noChangeShapeType="1"/>
              <a:endCxn id="13" idx="0"/>
            </p:cNvCxnSpPr>
            <p:nvPr/>
          </p:nvCxnSpPr>
          <p:spPr bwMode="auto">
            <a:xfrm rot="16200000" flipH="1">
              <a:off x="5214937" y="3740131"/>
              <a:ext cx="1643063" cy="15001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7" name="Straight Connector 41"/>
            <p:cNvCxnSpPr>
              <a:cxnSpLocks noChangeShapeType="1"/>
            </p:cNvCxnSpPr>
            <p:nvPr/>
          </p:nvCxnSpPr>
          <p:spPr bwMode="auto">
            <a:xfrm>
              <a:off x="1143000" y="4954568"/>
              <a:ext cx="357188" cy="2857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18" name="Straight Connector 26"/>
            <p:cNvCxnSpPr>
              <a:cxnSpLocks noChangeShapeType="1"/>
              <a:stCxn id="21519" idx="1"/>
            </p:cNvCxnSpPr>
            <p:nvPr/>
          </p:nvCxnSpPr>
          <p:spPr bwMode="auto">
            <a:xfrm rot="10800000" flipV="1">
              <a:off x="2428875" y="3560743"/>
              <a:ext cx="857250" cy="1793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19" name="Rectangle 6"/>
            <p:cNvSpPr>
              <a:spLocks noChangeArrowheads="1"/>
            </p:cNvSpPr>
            <p:nvPr/>
          </p:nvSpPr>
          <p:spPr bwMode="auto">
            <a:xfrm>
              <a:off x="3286125" y="3311506"/>
              <a:ext cx="2428875" cy="500062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mk-MK" b="1"/>
                <a:t>student</a:t>
              </a:r>
              <a:endParaRPr lang="mk-MK" altLang="mk-MK" sz="1200"/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3523181" y="4597188"/>
              <a:ext cx="2335365" cy="407170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200" b="1" u="sng" dirty="0"/>
                <a:t>Id_student</a:t>
              </a:r>
              <a:endParaRPr lang="mk-MK" sz="1200" b="1" u="sng" dirty="0"/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427256" y="3523942"/>
              <a:ext cx="2142989" cy="429299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200" dirty="0"/>
                <a:t>name</a:t>
              </a:r>
              <a:endParaRPr lang="mk-MK" sz="1200" dirty="0"/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5500636" y="5311949"/>
              <a:ext cx="2572481" cy="429299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200" dirty="0" err="1"/>
                <a:t>ID_card</a:t>
              </a:r>
              <a:endParaRPr lang="mk-MK" sz="1200" dirty="0"/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6216457" y="4167890"/>
              <a:ext cx="3145138" cy="502324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200" dirty="0" err="1"/>
                <a:t>Enroll_date</a:t>
              </a:r>
              <a:endParaRPr lang="mk-MK" sz="1200" dirty="0"/>
            </a:p>
          </p:txBody>
        </p:sp>
        <p:sp>
          <p:nvSpPr>
            <p:cNvPr id="21524" name="Oval 13"/>
            <p:cNvSpPr>
              <a:spLocks noChangeArrowheads="1"/>
            </p:cNvSpPr>
            <p:nvPr/>
          </p:nvSpPr>
          <p:spPr bwMode="auto">
            <a:xfrm>
              <a:off x="714375" y="5097444"/>
              <a:ext cx="3010132" cy="504391"/>
            </a:xfrm>
            <a:prstGeom prst="ellipse">
              <a:avLst/>
            </a:prstGeom>
            <a:solidFill>
              <a:schemeClr val="bg2"/>
            </a:solidFill>
            <a:ln w="98425" cap="sq" cmpd="dbl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mk-MK" sz="1200"/>
                <a:t>Address_data</a:t>
              </a:r>
              <a:endParaRPr lang="mk-MK" altLang="mk-MK" sz="1200"/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286328" y="6168332"/>
              <a:ext cx="2142989" cy="429299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200" dirty="0"/>
                <a:t>city</a:t>
              </a:r>
              <a:endParaRPr lang="mk-MK" sz="1200" dirty="0"/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2641827" y="5955896"/>
              <a:ext cx="2145225" cy="429299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200" dirty="0"/>
                <a:t>street</a:t>
              </a:r>
              <a:endParaRPr lang="mk-MK" sz="1200" dirty="0"/>
            </a:p>
          </p:txBody>
        </p:sp>
        <p:cxnSp>
          <p:nvCxnSpPr>
            <p:cNvPr id="21527" name="Straight Connector 18"/>
            <p:cNvCxnSpPr>
              <a:cxnSpLocks noChangeShapeType="1"/>
            </p:cNvCxnSpPr>
            <p:nvPr/>
          </p:nvCxnSpPr>
          <p:spPr bwMode="auto">
            <a:xfrm>
              <a:off x="2786063" y="5668943"/>
              <a:ext cx="357187" cy="2857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8" name="Straight Connector 20"/>
            <p:cNvCxnSpPr>
              <a:cxnSpLocks noChangeShapeType="1"/>
              <a:endCxn id="16" idx="0"/>
            </p:cNvCxnSpPr>
            <p:nvPr/>
          </p:nvCxnSpPr>
          <p:spPr bwMode="auto">
            <a:xfrm rot="10800000" flipV="1">
              <a:off x="1357313" y="5668943"/>
              <a:ext cx="571500" cy="50006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29" name="Straight Connector 23"/>
            <p:cNvCxnSpPr>
              <a:cxnSpLocks noChangeShapeType="1"/>
            </p:cNvCxnSpPr>
            <p:nvPr/>
          </p:nvCxnSpPr>
          <p:spPr bwMode="auto">
            <a:xfrm rot="5400000">
              <a:off x="2464594" y="4133037"/>
              <a:ext cx="1285875" cy="64293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30" name="Straight Connector 29"/>
            <p:cNvCxnSpPr>
              <a:cxnSpLocks noChangeShapeType="1"/>
              <a:stCxn id="21519" idx="2"/>
            </p:cNvCxnSpPr>
            <p:nvPr/>
          </p:nvCxnSpPr>
          <p:spPr bwMode="auto">
            <a:xfrm rot="5400000">
              <a:off x="4071937" y="4168756"/>
              <a:ext cx="785813" cy="7143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31" name="Straight Connector 33"/>
            <p:cNvCxnSpPr>
              <a:cxnSpLocks noChangeShapeType="1"/>
              <a:stCxn id="21519" idx="3"/>
              <a:endCxn id="14" idx="1"/>
            </p:cNvCxnSpPr>
            <p:nvPr/>
          </p:nvCxnSpPr>
          <p:spPr bwMode="auto">
            <a:xfrm>
              <a:off x="5715000" y="3561538"/>
              <a:ext cx="961656" cy="68068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Oval 22"/>
            <p:cNvSpPr/>
            <p:nvPr/>
          </p:nvSpPr>
          <p:spPr bwMode="auto">
            <a:xfrm>
              <a:off x="0" y="4526376"/>
              <a:ext cx="2142989" cy="429299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200" dirty="0"/>
                <a:t>telephone</a:t>
              </a:r>
              <a:endParaRPr lang="mk-MK" sz="1200" dirty="0"/>
            </a:p>
          </p:txBody>
        </p:sp>
      </p:grpSp>
      <p:sp>
        <p:nvSpPr>
          <p:cNvPr id="29" name="Bent Arrow 28"/>
          <p:cNvSpPr/>
          <p:nvPr/>
        </p:nvSpPr>
        <p:spPr bwMode="auto">
          <a:xfrm flipV="1">
            <a:off x="3071813" y="4357688"/>
            <a:ext cx="1571625" cy="1296987"/>
          </a:xfrm>
          <a:prstGeom prst="bentArrow">
            <a:avLst>
              <a:gd name="adj1" fmla="val 25000"/>
              <a:gd name="adj2" fmla="val 25892"/>
              <a:gd name="adj3" fmla="val 25000"/>
              <a:gd name="adj4" fmla="val 50031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mk-MK"/>
          </a:p>
        </p:txBody>
      </p:sp>
      <p:sp>
        <p:nvSpPr>
          <p:cNvPr id="31" name="Oval 30"/>
          <p:cNvSpPr/>
          <p:nvPr/>
        </p:nvSpPr>
        <p:spPr bwMode="auto">
          <a:xfrm>
            <a:off x="6143625" y="1928813"/>
            <a:ext cx="1214438" cy="358775"/>
          </a:xfrm>
          <a:prstGeom prst="ellipse">
            <a:avLst/>
          </a:prstGeom>
          <a:solidFill>
            <a:schemeClr val="accent3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sz="1200" dirty="0"/>
              <a:t>PID</a:t>
            </a:r>
            <a:endParaRPr lang="mk-MK" sz="1200" dirty="0"/>
          </a:p>
        </p:txBody>
      </p:sp>
      <p:cxnSp>
        <p:nvCxnSpPr>
          <p:cNvPr id="21512" name="Straight Connector 33"/>
          <p:cNvCxnSpPr>
            <a:cxnSpLocks noChangeShapeType="1"/>
            <a:endCxn id="31" idx="1"/>
          </p:cNvCxnSpPr>
          <p:nvPr/>
        </p:nvCxnSpPr>
        <p:spPr bwMode="auto">
          <a:xfrm>
            <a:off x="4198938" y="1965325"/>
            <a:ext cx="2122487" cy="158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Bent Arrow 33"/>
          <p:cNvSpPr/>
          <p:nvPr/>
        </p:nvSpPr>
        <p:spPr bwMode="auto">
          <a:xfrm rot="10800000">
            <a:off x="2000250" y="4357688"/>
            <a:ext cx="1357313" cy="1357312"/>
          </a:xfrm>
          <a:prstGeom prst="ben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21514" name="Picture 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513" y="4071938"/>
            <a:ext cx="4281487" cy="219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5" name="Picture 3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4429125"/>
            <a:ext cx="1428750" cy="213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0348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Entity and instances</a:t>
            </a:r>
            <a:endParaRPr lang="mk-MK" altLang="mk-MK" b="1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71438" y="4876800"/>
            <a:ext cx="9144000" cy="148113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mk-MK" sz="1600" b="1"/>
              <a:t>student</a:t>
            </a:r>
            <a:r>
              <a:rPr lang="mk-MK" altLang="mk-MK" sz="1600"/>
              <a:t>(</a:t>
            </a:r>
            <a:r>
              <a:rPr lang="en-US" altLang="mk-MK" sz="1600"/>
              <a:t>“eva</a:t>
            </a:r>
            <a:r>
              <a:rPr lang="mk-MK" altLang="mk-MK" sz="1600"/>
              <a:t>“, 10, „2910981452212“,„01/09/2000</a:t>
            </a:r>
            <a:r>
              <a:rPr lang="en-US" altLang="mk-MK" sz="1600"/>
              <a:t>”</a:t>
            </a:r>
            <a:r>
              <a:rPr lang="mk-MK" altLang="mk-MK" sz="1600"/>
              <a:t>,</a:t>
            </a:r>
            <a:r>
              <a:rPr lang="en-US" altLang="mk-MK" sz="1600"/>
              <a:t> </a:t>
            </a:r>
            <a:r>
              <a:rPr lang="mk-MK" altLang="mk-MK" sz="1600"/>
              <a:t>7948, „078455164“,</a:t>
            </a:r>
            <a:r>
              <a:rPr lang="en-US" altLang="mk-MK" sz="1600"/>
              <a:t> </a:t>
            </a:r>
            <a:r>
              <a:rPr lang="mk-MK" altLang="mk-MK" sz="1600"/>
              <a:t>„</a:t>
            </a:r>
            <a:r>
              <a:rPr lang="en-US" altLang="mk-MK" sz="1600"/>
              <a:t>St</a:t>
            </a:r>
            <a:r>
              <a:rPr lang="mk-MK" altLang="mk-MK" sz="1600"/>
              <a:t>. </a:t>
            </a:r>
            <a:r>
              <a:rPr lang="en-US" altLang="mk-MK" sz="1600"/>
              <a:t>Jane Sandanski BB</a:t>
            </a:r>
            <a:r>
              <a:rPr lang="mk-MK" altLang="mk-MK" sz="1600"/>
              <a:t>“, „</a:t>
            </a:r>
            <a:r>
              <a:rPr lang="en-US" altLang="mk-MK" sz="1600"/>
              <a:t>Skopje</a:t>
            </a:r>
            <a:r>
              <a:rPr lang="mk-MK" altLang="mk-MK" sz="1600"/>
              <a:t>“</a:t>
            </a:r>
            <a:r>
              <a:rPr lang="en-US" altLang="mk-MK" sz="1600"/>
              <a:t>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mk-MK" sz="1600" b="1"/>
          </a:p>
          <a:p>
            <a:pPr>
              <a:buFont typeface="Wingdings" panose="05000000000000000000" pitchFamily="2" charset="2"/>
              <a:buNone/>
            </a:pPr>
            <a:r>
              <a:rPr lang="en-US" altLang="mk-MK" sz="1600" b="1"/>
              <a:t>student</a:t>
            </a:r>
            <a:r>
              <a:rPr lang="mk-MK" altLang="mk-MK" sz="1600"/>
              <a:t>(</a:t>
            </a:r>
            <a:r>
              <a:rPr lang="en-US" altLang="mk-MK" sz="1600"/>
              <a:t>“Pero</a:t>
            </a:r>
            <a:r>
              <a:rPr lang="mk-MK" altLang="mk-MK" sz="1600"/>
              <a:t>“, 32, „121213113131“,„11/09/2003</a:t>
            </a:r>
            <a:r>
              <a:rPr lang="en-US" altLang="mk-MK" sz="1600"/>
              <a:t>”</a:t>
            </a:r>
            <a:r>
              <a:rPr lang="mk-MK" altLang="mk-MK" sz="1600"/>
              <a:t>,</a:t>
            </a:r>
            <a:r>
              <a:rPr lang="en-US" altLang="mk-MK" sz="1600"/>
              <a:t> </a:t>
            </a:r>
            <a:r>
              <a:rPr lang="mk-MK" altLang="mk-MK" sz="1600"/>
              <a:t>8910, “ “,</a:t>
            </a:r>
            <a:r>
              <a:rPr lang="en-US" altLang="mk-MK" sz="1600"/>
              <a:t> “ </a:t>
            </a:r>
            <a:r>
              <a:rPr lang="mk-MK" altLang="mk-MK" sz="1600"/>
              <a:t>“, „</a:t>
            </a:r>
            <a:r>
              <a:rPr lang="en-US" altLang="mk-MK" sz="1600"/>
              <a:t>Skopje</a:t>
            </a:r>
            <a:r>
              <a:rPr lang="mk-MK" altLang="mk-MK" sz="1600"/>
              <a:t>“</a:t>
            </a:r>
            <a:r>
              <a:rPr lang="en-US" altLang="mk-MK" sz="1600"/>
              <a:t>)</a:t>
            </a:r>
            <a:endParaRPr lang="mk-MK" altLang="mk-MK" sz="1600"/>
          </a:p>
          <a:p>
            <a:pPr>
              <a:buFont typeface="Wingdings" panose="05000000000000000000" pitchFamily="2" charset="2"/>
              <a:buNone/>
            </a:pPr>
            <a:endParaRPr lang="mk-MK" altLang="mk-MK" sz="180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D2BD484-A69B-4BE0-B664-CC526A0F4E83}" type="slidenum">
              <a:rPr lang="en-US" altLang="mk-MK"/>
              <a:pPr/>
              <a:t>16</a:t>
            </a:fld>
            <a:endParaRPr lang="en-US" altLang="mk-MK"/>
          </a:p>
        </p:txBody>
      </p:sp>
      <p:sp>
        <p:nvSpPr>
          <p:cNvPr id="29" name="Cloud Callout 28"/>
          <p:cNvSpPr/>
          <p:nvPr/>
        </p:nvSpPr>
        <p:spPr bwMode="auto">
          <a:xfrm>
            <a:off x="6786563" y="3786188"/>
            <a:ext cx="2357437" cy="857250"/>
          </a:xfrm>
          <a:prstGeom prst="cloudCallout">
            <a:avLst>
              <a:gd name="adj1" fmla="val -122284"/>
              <a:gd name="adj2" fmla="val 157264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b="1" dirty="0"/>
              <a:t>instances</a:t>
            </a:r>
            <a:endParaRPr lang="mk-MK" b="1" dirty="0"/>
          </a:p>
        </p:txBody>
      </p:sp>
      <p:sp>
        <p:nvSpPr>
          <p:cNvPr id="30" name="Cloud Callout 29"/>
          <p:cNvSpPr/>
          <p:nvPr/>
        </p:nvSpPr>
        <p:spPr bwMode="auto">
          <a:xfrm>
            <a:off x="7000875" y="2428875"/>
            <a:ext cx="2143125" cy="857250"/>
          </a:xfrm>
          <a:prstGeom prst="cloudCallout">
            <a:avLst>
              <a:gd name="adj1" fmla="val -173484"/>
              <a:gd name="adj2" fmla="val -118290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b="1" dirty="0"/>
              <a:t>Entity</a:t>
            </a:r>
            <a:endParaRPr lang="mk-MK" b="1" dirty="0"/>
          </a:p>
        </p:txBody>
      </p:sp>
      <p:grpSp>
        <p:nvGrpSpPr>
          <p:cNvPr id="22535" name="Group 28"/>
          <p:cNvGrpSpPr>
            <a:grpSpLocks/>
          </p:cNvGrpSpPr>
          <p:nvPr/>
        </p:nvGrpSpPr>
        <p:grpSpPr bwMode="auto">
          <a:xfrm>
            <a:off x="214313" y="1785938"/>
            <a:ext cx="6643687" cy="2357437"/>
            <a:chOff x="0" y="3311506"/>
            <a:chExt cx="9361595" cy="3286125"/>
          </a:xfrm>
        </p:grpSpPr>
        <p:cxnSp>
          <p:nvCxnSpPr>
            <p:cNvPr id="22538" name="Straight Connector 36"/>
            <p:cNvCxnSpPr>
              <a:cxnSpLocks noChangeShapeType="1"/>
              <a:endCxn id="36" idx="0"/>
            </p:cNvCxnSpPr>
            <p:nvPr/>
          </p:nvCxnSpPr>
          <p:spPr bwMode="auto">
            <a:xfrm rot="16200000" flipH="1">
              <a:off x="5214937" y="3740131"/>
              <a:ext cx="1643063" cy="15001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39" name="Straight Connector 41"/>
            <p:cNvCxnSpPr>
              <a:cxnSpLocks noChangeShapeType="1"/>
            </p:cNvCxnSpPr>
            <p:nvPr/>
          </p:nvCxnSpPr>
          <p:spPr bwMode="auto">
            <a:xfrm>
              <a:off x="1143000" y="4954568"/>
              <a:ext cx="357188" cy="2857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0" name="Straight Connector 26"/>
            <p:cNvCxnSpPr>
              <a:cxnSpLocks noChangeShapeType="1"/>
              <a:stCxn id="22541" idx="1"/>
            </p:cNvCxnSpPr>
            <p:nvPr/>
          </p:nvCxnSpPr>
          <p:spPr bwMode="auto">
            <a:xfrm rot="10800000" flipV="1">
              <a:off x="2428875" y="3560743"/>
              <a:ext cx="857250" cy="1793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41" name="Rectangle 6"/>
            <p:cNvSpPr>
              <a:spLocks noChangeArrowheads="1"/>
            </p:cNvSpPr>
            <p:nvPr/>
          </p:nvSpPr>
          <p:spPr bwMode="auto">
            <a:xfrm>
              <a:off x="3286125" y="3311506"/>
              <a:ext cx="2428875" cy="500062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mk-MK" b="1"/>
                <a:t>student</a:t>
              </a:r>
              <a:endParaRPr lang="mk-MK" altLang="mk-MK" sz="1200"/>
            </a:p>
          </p:txBody>
        </p:sp>
        <p:sp>
          <p:nvSpPr>
            <p:cNvPr id="34" name="Oval 33"/>
            <p:cNvSpPr/>
            <p:nvPr/>
          </p:nvSpPr>
          <p:spPr bwMode="auto">
            <a:xfrm>
              <a:off x="3523180" y="4597188"/>
              <a:ext cx="2335366" cy="407170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200" b="1" u="sng" dirty="0"/>
                <a:t>Id_student</a:t>
              </a:r>
              <a:endParaRPr lang="mk-MK" sz="1200" b="1" u="sng" dirty="0"/>
            </a:p>
          </p:txBody>
        </p:sp>
        <p:sp>
          <p:nvSpPr>
            <p:cNvPr id="35" name="Oval 34"/>
            <p:cNvSpPr/>
            <p:nvPr/>
          </p:nvSpPr>
          <p:spPr bwMode="auto">
            <a:xfrm>
              <a:off x="427255" y="3523942"/>
              <a:ext cx="2142989" cy="429299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200" dirty="0"/>
                <a:t>name</a:t>
              </a:r>
              <a:endParaRPr lang="mk-MK" sz="1200" dirty="0"/>
            </a:p>
          </p:txBody>
        </p:sp>
        <p:sp>
          <p:nvSpPr>
            <p:cNvPr id="36" name="Oval 35"/>
            <p:cNvSpPr/>
            <p:nvPr/>
          </p:nvSpPr>
          <p:spPr bwMode="auto">
            <a:xfrm>
              <a:off x="5500636" y="5311949"/>
              <a:ext cx="2572481" cy="429299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200" dirty="0" err="1"/>
                <a:t>ID_card</a:t>
              </a:r>
              <a:endParaRPr lang="mk-MK" sz="1200" dirty="0"/>
            </a:p>
          </p:txBody>
        </p:sp>
        <p:sp>
          <p:nvSpPr>
            <p:cNvPr id="37" name="Oval 36"/>
            <p:cNvSpPr/>
            <p:nvPr/>
          </p:nvSpPr>
          <p:spPr bwMode="auto">
            <a:xfrm>
              <a:off x="6216457" y="4167890"/>
              <a:ext cx="3145138" cy="502324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r>
                <a:rPr lang="en-US" sz="1200" dirty="0" err="1"/>
                <a:t>Enroll_date</a:t>
              </a:r>
              <a:endParaRPr lang="mk-MK" sz="1200" dirty="0"/>
            </a:p>
          </p:txBody>
        </p:sp>
        <p:sp>
          <p:nvSpPr>
            <p:cNvPr id="22546" name="Oval 13"/>
            <p:cNvSpPr>
              <a:spLocks noChangeArrowheads="1"/>
            </p:cNvSpPr>
            <p:nvPr/>
          </p:nvSpPr>
          <p:spPr bwMode="auto">
            <a:xfrm>
              <a:off x="714375" y="5097444"/>
              <a:ext cx="3010132" cy="504391"/>
            </a:xfrm>
            <a:prstGeom prst="ellipse">
              <a:avLst/>
            </a:prstGeom>
            <a:solidFill>
              <a:schemeClr val="bg2"/>
            </a:solidFill>
            <a:ln w="98425" cap="sq" cmpd="dbl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mk-MK" sz="1200"/>
                <a:t>Address_data</a:t>
              </a:r>
              <a:endParaRPr lang="mk-MK" altLang="mk-MK" sz="1200"/>
            </a:p>
          </p:txBody>
        </p:sp>
        <p:sp>
          <p:nvSpPr>
            <p:cNvPr id="39" name="Oval 38"/>
            <p:cNvSpPr/>
            <p:nvPr/>
          </p:nvSpPr>
          <p:spPr bwMode="auto">
            <a:xfrm>
              <a:off x="286328" y="6168332"/>
              <a:ext cx="2142989" cy="429299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200" dirty="0"/>
                <a:t>city</a:t>
              </a:r>
              <a:endParaRPr lang="mk-MK" sz="1200" dirty="0"/>
            </a:p>
          </p:txBody>
        </p:sp>
        <p:sp>
          <p:nvSpPr>
            <p:cNvPr id="40" name="Oval 39"/>
            <p:cNvSpPr/>
            <p:nvPr/>
          </p:nvSpPr>
          <p:spPr bwMode="auto">
            <a:xfrm>
              <a:off x="2641826" y="5955896"/>
              <a:ext cx="2145227" cy="429299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200" dirty="0"/>
                <a:t>street</a:t>
              </a:r>
              <a:endParaRPr lang="mk-MK" sz="1200" dirty="0"/>
            </a:p>
          </p:txBody>
        </p:sp>
        <p:cxnSp>
          <p:nvCxnSpPr>
            <p:cNvPr id="22549" name="Straight Connector 18"/>
            <p:cNvCxnSpPr>
              <a:cxnSpLocks noChangeShapeType="1"/>
            </p:cNvCxnSpPr>
            <p:nvPr/>
          </p:nvCxnSpPr>
          <p:spPr bwMode="auto">
            <a:xfrm>
              <a:off x="2786063" y="5668943"/>
              <a:ext cx="357187" cy="2857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0" name="Straight Connector 20"/>
            <p:cNvCxnSpPr>
              <a:cxnSpLocks noChangeShapeType="1"/>
              <a:endCxn id="39" idx="0"/>
            </p:cNvCxnSpPr>
            <p:nvPr/>
          </p:nvCxnSpPr>
          <p:spPr bwMode="auto">
            <a:xfrm rot="10800000" flipV="1">
              <a:off x="1357313" y="5668943"/>
              <a:ext cx="571500" cy="50006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1" name="Straight Connector 23"/>
            <p:cNvCxnSpPr>
              <a:cxnSpLocks noChangeShapeType="1"/>
            </p:cNvCxnSpPr>
            <p:nvPr/>
          </p:nvCxnSpPr>
          <p:spPr bwMode="auto">
            <a:xfrm rot="5400000">
              <a:off x="2464594" y="4133037"/>
              <a:ext cx="1285875" cy="64293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2" name="Straight Connector 29"/>
            <p:cNvCxnSpPr>
              <a:cxnSpLocks noChangeShapeType="1"/>
              <a:stCxn id="22541" idx="2"/>
            </p:cNvCxnSpPr>
            <p:nvPr/>
          </p:nvCxnSpPr>
          <p:spPr bwMode="auto">
            <a:xfrm rot="5400000">
              <a:off x="4071937" y="4168756"/>
              <a:ext cx="785813" cy="7143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53" name="Straight Connector 33"/>
            <p:cNvCxnSpPr>
              <a:cxnSpLocks noChangeShapeType="1"/>
              <a:stCxn id="22541" idx="3"/>
              <a:endCxn id="37" idx="1"/>
            </p:cNvCxnSpPr>
            <p:nvPr/>
          </p:nvCxnSpPr>
          <p:spPr bwMode="auto">
            <a:xfrm>
              <a:off x="5715000" y="3561538"/>
              <a:ext cx="961656" cy="68068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Oval 45"/>
            <p:cNvSpPr/>
            <p:nvPr/>
          </p:nvSpPr>
          <p:spPr bwMode="auto">
            <a:xfrm>
              <a:off x="0" y="4526376"/>
              <a:ext cx="2142989" cy="429299"/>
            </a:xfrm>
            <a:prstGeom prst="ellipse">
              <a:avLst/>
            </a:prstGeom>
            <a:solidFill>
              <a:schemeClr val="accent3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>
                <a:defRPr/>
              </a:pPr>
              <a:r>
                <a:rPr lang="en-US" sz="1200" dirty="0"/>
                <a:t>telephone</a:t>
              </a:r>
              <a:endParaRPr lang="mk-MK" sz="1200" dirty="0"/>
            </a:p>
          </p:txBody>
        </p:sp>
      </p:grpSp>
      <p:sp>
        <p:nvSpPr>
          <p:cNvPr id="47" name="Oval 46"/>
          <p:cNvSpPr/>
          <p:nvPr/>
        </p:nvSpPr>
        <p:spPr bwMode="auto">
          <a:xfrm>
            <a:off x="6143625" y="1928813"/>
            <a:ext cx="1214438" cy="358775"/>
          </a:xfrm>
          <a:prstGeom prst="ellipse">
            <a:avLst/>
          </a:prstGeom>
          <a:solidFill>
            <a:schemeClr val="accent3">
              <a:lumMod val="85000"/>
            </a:schemeClr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sz="1200" dirty="0"/>
              <a:t>PID</a:t>
            </a:r>
            <a:endParaRPr lang="mk-MK" sz="1200" dirty="0"/>
          </a:p>
        </p:txBody>
      </p:sp>
      <p:cxnSp>
        <p:nvCxnSpPr>
          <p:cNvPr id="22537" name="Straight Connector 33"/>
          <p:cNvCxnSpPr>
            <a:cxnSpLocks noChangeShapeType="1"/>
            <a:endCxn id="47" idx="1"/>
          </p:cNvCxnSpPr>
          <p:nvPr/>
        </p:nvCxnSpPr>
        <p:spPr bwMode="auto">
          <a:xfrm>
            <a:off x="4198938" y="1965325"/>
            <a:ext cx="2122487" cy="158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524379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954088"/>
            <a:ext cx="9237663" cy="655637"/>
          </a:xfrm>
        </p:spPr>
        <p:txBody>
          <a:bodyPr/>
          <a:lstStyle/>
          <a:p>
            <a:pPr algn="ctr" eaLnBrk="1" hangingPunct="1"/>
            <a:r>
              <a:rPr lang="en-US" altLang="mk-MK" b="1" dirty="0"/>
              <a:t>Data types, requisiteness and PK for STUDENT’s attributes</a:t>
            </a:r>
          </a:p>
        </p:txBody>
      </p:sp>
      <p:sp>
        <p:nvSpPr>
          <p:cNvPr id="2355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11134CD-088C-45C9-9A0D-5A894E179B2D}" type="slidenum">
              <a:rPr lang="en-US" altLang="mk-MK"/>
              <a:pPr/>
              <a:t>17</a:t>
            </a:fld>
            <a:endParaRPr lang="en-US" altLang="mk-MK"/>
          </a:p>
        </p:txBody>
      </p:sp>
      <p:sp>
        <p:nvSpPr>
          <p:cNvPr id="23557" name="Content Placeholder 15"/>
          <p:cNvSpPr>
            <a:spLocks noGrp="1"/>
          </p:cNvSpPr>
          <p:nvPr>
            <p:ph idx="1"/>
          </p:nvPr>
        </p:nvSpPr>
        <p:spPr>
          <a:xfrm>
            <a:off x="214313" y="5072063"/>
            <a:ext cx="8643937" cy="100012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mk-MK" sz="2000" b="1">
                <a:solidFill>
                  <a:srgbClr val="FF0000"/>
                </a:solidFill>
              </a:rPr>
              <a:t>NOTE</a:t>
            </a:r>
            <a:r>
              <a:rPr lang="mk-MK" altLang="mk-MK" sz="2000" b="1">
                <a:solidFill>
                  <a:srgbClr val="FF0000"/>
                </a:solidFill>
              </a:rPr>
              <a:t>: </a:t>
            </a:r>
            <a:r>
              <a:rPr lang="mk-MK" altLang="mk-MK" sz="2000"/>
              <a:t> </a:t>
            </a:r>
            <a:r>
              <a:rPr lang="en-US" altLang="mk-MK" sz="2000" b="1"/>
              <a:t>PID</a:t>
            </a:r>
            <a:r>
              <a:rPr lang="mk-MK" altLang="mk-MK" sz="2000"/>
              <a:t> </a:t>
            </a:r>
            <a:r>
              <a:rPr lang="en-US" altLang="mk-MK" sz="2000" b="1"/>
              <a:t>is ALWAYS TEXT data type</a:t>
            </a:r>
            <a:r>
              <a:rPr lang="en-US" altLang="mk-MK" sz="2000"/>
              <a:t>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mk-MK" sz="2000"/>
              <a:t>	</a:t>
            </a:r>
            <a:r>
              <a:rPr lang="en-US" altLang="mk-MK" sz="2000" b="1"/>
              <a:t>Ex</a:t>
            </a:r>
            <a:r>
              <a:rPr lang="mk-MK" altLang="mk-MK" sz="2000" b="1"/>
              <a:t>. </a:t>
            </a:r>
            <a:r>
              <a:rPr lang="en-US" altLang="mk-MK" sz="2000"/>
              <a:t>Text(0205981454401)=0205981454401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mk-MK" sz="2000"/>
              <a:t>  	      Number(</a:t>
            </a:r>
            <a:r>
              <a:rPr lang="en-US" altLang="mk-MK" sz="2000" b="1"/>
              <a:t>0</a:t>
            </a:r>
            <a:r>
              <a:rPr lang="en-US" altLang="mk-MK" sz="2000"/>
              <a:t>205981454401)=205981454401 </a:t>
            </a:r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US" altLang="mk-MK" sz="2000"/>
              <a:t>(no starting “</a:t>
            </a:r>
            <a:r>
              <a:rPr lang="mk-MK" altLang="mk-MK" sz="2000"/>
              <a:t>0</a:t>
            </a:r>
            <a:r>
              <a:rPr lang="en-US" altLang="mk-MK" sz="2000"/>
              <a:t>” in numbers</a:t>
            </a:r>
            <a:r>
              <a:rPr lang="mk-MK" altLang="mk-MK" sz="2000"/>
              <a:t>)</a:t>
            </a:r>
            <a:r>
              <a:rPr lang="en-US" altLang="mk-MK" sz="2000"/>
              <a:t>  	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mk-MK" altLang="mk-MK" sz="2000"/>
          </a:p>
        </p:txBody>
      </p:sp>
      <p:pic>
        <p:nvPicPr>
          <p:cNvPr id="23558" name="Picture 3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8" y="1785938"/>
            <a:ext cx="5715000" cy="293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5333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9AE6F47-3703-438F-BDB1-3BDD6D848530}" type="slidenum">
              <a:rPr lang="en-US" altLang="mk-MK"/>
              <a:pPr/>
              <a:t>18</a:t>
            </a:fld>
            <a:endParaRPr lang="en-US" altLang="mk-MK"/>
          </a:p>
        </p:txBody>
      </p:sp>
      <p:pic>
        <p:nvPicPr>
          <p:cNvPr id="2458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2288" y="2519363"/>
            <a:ext cx="5067300" cy="305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571625"/>
            <a:ext cx="2214563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3472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001000" cy="4267200"/>
          </a:xfrm>
        </p:spPr>
        <p:txBody>
          <a:bodyPr/>
          <a:lstStyle/>
          <a:p>
            <a:pPr>
              <a:defRPr/>
            </a:pPr>
            <a:r>
              <a:rPr lang="en-US" sz="2200" b="1" dirty="0"/>
              <a:t>RULE</a:t>
            </a:r>
            <a:r>
              <a:rPr lang="mk-MK" sz="2200" b="1" dirty="0"/>
              <a:t>: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mk-MK" sz="2200" dirty="0"/>
              <a:t>	</a:t>
            </a:r>
            <a:r>
              <a:rPr lang="en-US" sz="2200" dirty="0"/>
              <a:t>Whenever there is an 1-n relation that should be represented (modeled), in Diagram.net you must create RELATION </a:t>
            </a:r>
            <a:r>
              <a:rPr lang="en-US" sz="2200" b="1" dirty="0"/>
              <a:t>from the entity-table with cardinality 1 to the entity-table with cardinality N</a:t>
            </a:r>
            <a:endParaRPr lang="en-US" sz="22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mk-MK" sz="2200" dirty="0"/>
              <a:t>	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22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mk-MK" sz="22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200" dirty="0"/>
              <a:t>With this, in the second table (with cardinality n), </a:t>
            </a:r>
            <a:r>
              <a:rPr lang="en-US" sz="2200" b="1" dirty="0"/>
              <a:t>a NEW attribute appears</a:t>
            </a:r>
            <a:r>
              <a:rPr lang="en-US" sz="2200" dirty="0"/>
              <a:t>, which represents the primary key of the entity with cardinality 1 (in the relation)</a:t>
            </a:r>
          </a:p>
        </p:txBody>
      </p:sp>
      <p:sp>
        <p:nvSpPr>
          <p:cNvPr id="2560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1BFCBB1-DACC-44CD-A8D1-61EECB137706}" type="slidenum">
              <a:rPr lang="en-US" altLang="mk-MK"/>
              <a:pPr/>
              <a:t>19</a:t>
            </a:fld>
            <a:endParaRPr lang="en-US" altLang="mk-MK"/>
          </a:p>
        </p:txBody>
      </p:sp>
      <p:sp>
        <p:nvSpPr>
          <p:cNvPr id="25604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8215313" cy="1216025"/>
          </a:xfrm>
        </p:spPr>
        <p:txBody>
          <a:bodyPr/>
          <a:lstStyle/>
          <a:p>
            <a:r>
              <a:rPr lang="mk-MK" altLang="mk-MK" sz="3700" b="1"/>
              <a:t>5. </a:t>
            </a:r>
            <a:r>
              <a:rPr lang="en-US" altLang="mk-MK" sz="3700" b="1"/>
              <a:t>What about the n-1 relation</a:t>
            </a:r>
            <a:r>
              <a:rPr lang="mk-MK" altLang="mk-MK" sz="3700" b="1"/>
              <a:t>?</a:t>
            </a:r>
            <a:r>
              <a:rPr lang="en-US" altLang="mk-MK" sz="3700" b="1"/>
              <a:t> How to represent it?</a:t>
            </a:r>
            <a:endParaRPr lang="mk-MK" altLang="mk-MK" sz="3700" b="1"/>
          </a:p>
        </p:txBody>
      </p:sp>
      <p:pic>
        <p:nvPicPr>
          <p:cNvPr id="2560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3" y="3786188"/>
            <a:ext cx="1643062" cy="696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Diamond 15"/>
          <p:cNvSpPr>
            <a:spLocks noChangeArrowheads="1"/>
          </p:cNvSpPr>
          <p:nvPr/>
        </p:nvSpPr>
        <p:spPr bwMode="auto">
          <a:xfrm>
            <a:off x="7500938" y="571500"/>
            <a:ext cx="1500187" cy="85725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200" b="1"/>
              <a:t>STUDY</a:t>
            </a:r>
            <a:endParaRPr lang="mk-MK" altLang="mk-MK" sz="1200" b="1"/>
          </a:p>
        </p:txBody>
      </p:sp>
    </p:spTree>
    <p:extLst>
      <p:ext uri="{BB962C8B-B14F-4D97-AF65-F5344CB8AC3E}">
        <p14:creationId xmlns:p14="http://schemas.microsoft.com/office/powerpoint/2010/main" val="307833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2D3540B-5CAE-4714-A25C-08DA5A2170EC}" type="slidenum">
              <a:rPr lang="en-US" altLang="mk-MK"/>
              <a:pPr/>
              <a:t>20</a:t>
            </a:fld>
            <a:endParaRPr lang="en-US" altLang="mk-MK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85750" y="142875"/>
            <a:ext cx="5786438" cy="1571625"/>
          </a:xfrm>
          <a:solidFill>
            <a:schemeClr val="accent3">
              <a:lumMod val="95000"/>
            </a:schemeClr>
          </a:solidFill>
        </p:spPr>
        <p:txBody>
          <a:bodyPr/>
          <a:lstStyle/>
          <a:p>
            <a:pPr>
              <a:defRPr/>
            </a:pPr>
            <a:r>
              <a:rPr lang="mk-MK" sz="2200" dirty="0"/>
              <a:t>1. </a:t>
            </a:r>
            <a:r>
              <a:rPr lang="en-US" sz="2200" dirty="0"/>
              <a:t>Drag and drop </a:t>
            </a:r>
            <a:r>
              <a:rPr lang="en-US" sz="2200" b="1" i="1" dirty="0"/>
              <a:t>relation</a:t>
            </a:r>
            <a:r>
              <a:rPr lang="en-US" sz="2200" i="1" dirty="0"/>
              <a:t> </a:t>
            </a:r>
            <a:r>
              <a:rPr lang="en-US" sz="2200" dirty="0"/>
              <a:t>from YEAR entity-table. You drag until the entity-table border doesn’t become </a:t>
            </a:r>
            <a:r>
              <a:rPr lang="en-US" sz="2200" b="1" dirty="0">
                <a:solidFill>
                  <a:srgbClr val="FF0000"/>
                </a:solidFill>
              </a:rPr>
              <a:t>RED </a:t>
            </a:r>
            <a:br>
              <a:rPr lang="en-US" sz="2200" dirty="0"/>
            </a:br>
            <a:endParaRPr lang="mk-MK" sz="2200" dirty="0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57188" y="2286000"/>
            <a:ext cx="7072312" cy="142875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mk-MK" sz="22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2. </a:t>
            </a:r>
            <a:r>
              <a:rPr lang="en-US" sz="22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Then, drag the relation  towards the STUDENT entity-table.</a:t>
            </a:r>
          </a:p>
          <a:p>
            <a:pPr>
              <a:defRPr/>
            </a:pPr>
            <a:r>
              <a:rPr lang="en-US" sz="2200" dirty="0"/>
              <a:t> You drag until the entity-table border doesn’t become</a:t>
            </a:r>
            <a:r>
              <a:rPr lang="en-US" sz="2200" b="1" dirty="0">
                <a:solidFill>
                  <a:srgbClr val="FF0000"/>
                </a:solidFill>
              </a:rPr>
              <a:t> RED </a:t>
            </a:r>
            <a:endParaRPr lang="mk-MK" sz="2200" b="1" kern="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662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63" y="428625"/>
            <a:ext cx="2590800" cy="226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3857625"/>
            <a:ext cx="6534150" cy="278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735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813" y="5214938"/>
            <a:ext cx="495300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86375"/>
            <a:ext cx="4162425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1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7438" y="3514725"/>
            <a:ext cx="4781550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513" y="357188"/>
            <a:ext cx="5535612" cy="250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Title 1"/>
          <p:cNvSpPr>
            <a:spLocks noGrp="1"/>
          </p:cNvSpPr>
          <p:nvPr>
            <p:ph type="title"/>
          </p:nvPr>
        </p:nvSpPr>
        <p:spPr>
          <a:xfrm>
            <a:off x="574675" y="-285750"/>
            <a:ext cx="8355013" cy="1216025"/>
          </a:xfrm>
        </p:spPr>
        <p:txBody>
          <a:bodyPr/>
          <a:lstStyle/>
          <a:p>
            <a:endParaRPr lang="mk-MK" altLang="mk-MK" b="1"/>
          </a:p>
        </p:txBody>
      </p:sp>
      <p:sp>
        <p:nvSpPr>
          <p:cNvPr id="27655" name="Content Placeholder 2"/>
          <p:cNvSpPr>
            <a:spLocks noGrp="1"/>
          </p:cNvSpPr>
          <p:nvPr>
            <p:ph idx="1"/>
          </p:nvPr>
        </p:nvSpPr>
        <p:spPr>
          <a:xfrm>
            <a:off x="571500" y="2947988"/>
            <a:ext cx="8001000" cy="695325"/>
          </a:xfrm>
        </p:spPr>
        <p:txBody>
          <a:bodyPr/>
          <a:lstStyle/>
          <a:p>
            <a:r>
              <a:rPr lang="en-US" altLang="mk-MK" b="1"/>
              <a:t>Relation overview</a:t>
            </a:r>
          </a:p>
        </p:txBody>
      </p:sp>
      <p:sp>
        <p:nvSpPr>
          <p:cNvPr id="2765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4F50598-C9E7-4BB3-9232-9F37B09FA2E3}" type="slidenum">
              <a:rPr lang="en-US" altLang="mk-MK"/>
              <a:pPr/>
              <a:t>21</a:t>
            </a:fld>
            <a:endParaRPr lang="en-US" altLang="mk-MK"/>
          </a:p>
        </p:txBody>
      </p:sp>
      <p:grpSp>
        <p:nvGrpSpPr>
          <p:cNvPr id="27657" name="Group 12"/>
          <p:cNvGrpSpPr>
            <a:grpSpLocks/>
          </p:cNvGrpSpPr>
          <p:nvPr/>
        </p:nvGrpSpPr>
        <p:grpSpPr bwMode="auto">
          <a:xfrm>
            <a:off x="4929188" y="2428875"/>
            <a:ext cx="3960812" cy="676275"/>
            <a:chOff x="5214942" y="3000372"/>
            <a:chExt cx="3961753" cy="675777"/>
          </a:xfrm>
        </p:grpSpPr>
        <p:sp>
          <p:nvSpPr>
            <p:cNvPr id="27661" name="Oval 5"/>
            <p:cNvSpPr>
              <a:spLocks noChangeArrowheads="1"/>
            </p:cNvSpPr>
            <p:nvPr/>
          </p:nvSpPr>
          <p:spPr bwMode="auto">
            <a:xfrm>
              <a:off x="5214942" y="3000372"/>
              <a:ext cx="1571636" cy="428628"/>
            </a:xfrm>
            <a:prstGeom prst="ellipse">
              <a:avLst/>
            </a:prstGeom>
            <a:noFill/>
            <a:ln w="9525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mk-MK" altLang="mk-MK"/>
            </a:p>
          </p:txBody>
        </p:sp>
        <p:sp>
          <p:nvSpPr>
            <p:cNvPr id="27662" name="TextBox 6"/>
            <p:cNvSpPr txBox="1">
              <a:spLocks noChangeArrowheads="1"/>
            </p:cNvSpPr>
            <p:nvPr/>
          </p:nvSpPr>
          <p:spPr bwMode="auto">
            <a:xfrm>
              <a:off x="7000894" y="3214686"/>
              <a:ext cx="2175801" cy="4614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mk-MK" sz="1200" b="1"/>
                <a:t>This field was </a:t>
              </a:r>
            </a:p>
            <a:p>
              <a:r>
                <a:rPr lang="en-US" altLang="mk-MK" sz="1200" b="1"/>
                <a:t>automatically created</a:t>
              </a:r>
              <a:r>
                <a:rPr lang="mk-MK" altLang="mk-MK" sz="1200" b="1"/>
                <a:t>и</a:t>
              </a:r>
              <a:endParaRPr lang="en-US" altLang="mk-MK" sz="1200" b="1"/>
            </a:p>
          </p:txBody>
        </p:sp>
        <p:cxnSp>
          <p:nvCxnSpPr>
            <p:cNvPr id="27663" name="Straight Arrow Connector 8"/>
            <p:cNvCxnSpPr>
              <a:cxnSpLocks noChangeShapeType="1"/>
              <a:stCxn id="27662" idx="1"/>
            </p:cNvCxnSpPr>
            <p:nvPr/>
          </p:nvCxnSpPr>
          <p:spPr bwMode="auto">
            <a:xfrm rot="10800000">
              <a:off x="6715143" y="3286198"/>
              <a:ext cx="285751" cy="15922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5" name="TextBox 14"/>
          <p:cNvSpPr txBox="1"/>
          <p:nvPr/>
        </p:nvSpPr>
        <p:spPr>
          <a:xfrm>
            <a:off x="4500563" y="6462713"/>
            <a:ext cx="1357312" cy="3238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500" b="1" dirty="0"/>
              <a:t>Cardinality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250" y="6215063"/>
            <a:ext cx="808038" cy="3238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500" b="1" dirty="0"/>
              <a:t>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8875" y="4652963"/>
            <a:ext cx="2552700" cy="3238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500" b="1" dirty="0"/>
              <a:t>Attribute referencing</a:t>
            </a:r>
          </a:p>
        </p:txBody>
      </p:sp>
    </p:spTree>
    <p:extLst>
      <p:ext uri="{BB962C8B-B14F-4D97-AF65-F5344CB8AC3E}">
        <p14:creationId xmlns:p14="http://schemas.microsoft.com/office/powerpoint/2010/main" val="4287022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k-MK" altLang="mk-MK" b="1"/>
              <a:t>6. </a:t>
            </a:r>
            <a:r>
              <a:rPr lang="en-US" altLang="mk-MK" b="1"/>
              <a:t>What is the role of the new attribute</a:t>
            </a:r>
            <a:r>
              <a:rPr lang="mk-MK" altLang="mk-MK" b="1"/>
              <a:t>?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285750" y="1804988"/>
            <a:ext cx="6929438" cy="42672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mk-MK" sz="2400" b="1"/>
              <a:t>Id_year</a:t>
            </a:r>
            <a:r>
              <a:rPr lang="en-US" altLang="mk-MK" sz="2400"/>
              <a:t> in Student is NEW</a:t>
            </a:r>
            <a:r>
              <a:rPr lang="mk-MK" altLang="mk-MK" sz="2400"/>
              <a:t> </a:t>
            </a:r>
            <a:r>
              <a:rPr lang="en-US" altLang="mk-MK" sz="2400"/>
              <a:t>attribute, that represents YEAR, i</a:t>
            </a:r>
            <a:r>
              <a:rPr lang="mk-MK" altLang="mk-MK" sz="2400"/>
              <a:t>.</a:t>
            </a:r>
            <a:r>
              <a:rPr lang="en-US" altLang="mk-MK" sz="2400"/>
              <a:t>e</a:t>
            </a:r>
            <a:r>
              <a:rPr lang="mk-MK" altLang="mk-MK" sz="2400"/>
              <a:t>. </a:t>
            </a:r>
            <a:r>
              <a:rPr lang="en-US" altLang="mk-MK" sz="2400"/>
              <a:t>it represents the entity in STUDY relation with cardinality 1.</a:t>
            </a:r>
            <a:endParaRPr lang="mk-MK" altLang="mk-MK" sz="2400"/>
          </a:p>
          <a:p>
            <a:pPr marL="0" indent="0">
              <a:buFont typeface="Wingdings" panose="05000000000000000000" pitchFamily="2" charset="2"/>
              <a:buNone/>
            </a:pPr>
            <a:endParaRPr lang="mk-MK" altLang="mk-MK" sz="220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mk-MK" sz="2200"/>
              <a:t>This attribute is called</a:t>
            </a:r>
            <a:endParaRPr lang="mk-MK" altLang="mk-MK" sz="220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mk-MK" sz="3500" b="1"/>
              <a:t>Secondary key</a:t>
            </a:r>
            <a:r>
              <a:rPr lang="mk-MK" altLang="mk-MK" sz="2200"/>
              <a:t>,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mk-MK" altLang="mk-MK" sz="2200"/>
              <a:t>т.е. </a:t>
            </a:r>
            <a:r>
              <a:rPr lang="en-US" altLang="mk-MK" sz="3500" b="1"/>
              <a:t>FOREIGN KEY </a:t>
            </a:r>
            <a:endParaRPr lang="mk-MK" altLang="mk-MK" sz="3500" b="1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mk-MK" sz="3500"/>
              <a:t>(</a:t>
            </a:r>
            <a:r>
              <a:rPr lang="en-US" altLang="mk-MK" sz="3500" b="1"/>
              <a:t>FK, #</a:t>
            </a:r>
            <a:r>
              <a:rPr lang="en-US" altLang="mk-MK" sz="3500"/>
              <a:t>) </a:t>
            </a:r>
            <a:endParaRPr lang="en-US" altLang="mk-MK" sz="3500" i="1"/>
          </a:p>
          <a:p>
            <a:pPr marL="0" indent="0">
              <a:buFont typeface="Wingdings" panose="05000000000000000000" pitchFamily="2" charset="2"/>
              <a:buNone/>
            </a:pPr>
            <a:endParaRPr lang="mk-MK" altLang="mk-MK" sz="220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17D5DF2-0009-443C-AE2A-C31BCD208CA0}" type="slidenum">
              <a:rPr lang="en-US" altLang="mk-MK"/>
              <a:pPr/>
              <a:t>22</a:t>
            </a:fld>
            <a:endParaRPr lang="en-US" altLang="mk-MK"/>
          </a:p>
        </p:txBody>
      </p:sp>
      <p:sp>
        <p:nvSpPr>
          <p:cNvPr id="28677" name="Slide Number Placeholder 3"/>
          <p:cNvSpPr txBox="1">
            <a:spLocks/>
          </p:cNvSpPr>
          <p:nvPr/>
        </p:nvSpPr>
        <p:spPr bwMode="auto">
          <a:xfrm>
            <a:off x="9998075" y="6381750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r" eaLnBrk="1" hangingPunct="1"/>
            <a:fld id="{24DA3D34-A4CB-487E-B303-0577BE93ACE3}" type="slidenum">
              <a:rPr lang="en-US" altLang="mk-MK" sz="1200"/>
              <a:pPr algn="r" eaLnBrk="1" hangingPunct="1"/>
              <a:t>22</a:t>
            </a:fld>
            <a:endParaRPr lang="en-US" altLang="mk-MK" sz="1200"/>
          </a:p>
        </p:txBody>
      </p:sp>
      <p:sp>
        <p:nvSpPr>
          <p:cNvPr id="28678" name="Rectangle 6"/>
          <p:cNvSpPr>
            <a:spLocks noChangeArrowheads="1"/>
          </p:cNvSpPr>
          <p:nvPr/>
        </p:nvSpPr>
        <p:spPr bwMode="auto">
          <a:xfrm>
            <a:off x="7134225" y="2438400"/>
            <a:ext cx="1724025" cy="358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b="1"/>
              <a:t>Student</a:t>
            </a:r>
            <a:endParaRPr lang="mk-MK" altLang="mk-MK" b="1"/>
          </a:p>
          <a:p>
            <a:pPr algn="ctr"/>
            <a:endParaRPr lang="mk-MK" altLang="mk-MK" sz="1200"/>
          </a:p>
        </p:txBody>
      </p:sp>
      <p:sp>
        <p:nvSpPr>
          <p:cNvPr id="28679" name="Rectangle 9"/>
          <p:cNvSpPr>
            <a:spLocks noChangeArrowheads="1"/>
          </p:cNvSpPr>
          <p:nvPr/>
        </p:nvSpPr>
        <p:spPr bwMode="auto">
          <a:xfrm>
            <a:off x="4848225" y="4724400"/>
            <a:ext cx="1724025" cy="3587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b="1"/>
              <a:t>YEAR</a:t>
            </a:r>
            <a:endParaRPr lang="mk-MK" altLang="mk-MK" b="1"/>
          </a:p>
          <a:p>
            <a:pPr algn="ctr"/>
            <a:endParaRPr lang="mk-MK" altLang="mk-MK" sz="1200"/>
          </a:p>
        </p:txBody>
      </p:sp>
      <p:sp>
        <p:nvSpPr>
          <p:cNvPr id="28680" name="Diamond 11"/>
          <p:cNvSpPr>
            <a:spLocks noChangeArrowheads="1"/>
          </p:cNvSpPr>
          <p:nvPr/>
        </p:nvSpPr>
        <p:spPr bwMode="auto">
          <a:xfrm>
            <a:off x="6062663" y="3509963"/>
            <a:ext cx="1500187" cy="857250"/>
          </a:xfrm>
          <a:prstGeom prst="diamond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lang="en-US" altLang="mk-MK" sz="1200" b="1"/>
              <a:t>study</a:t>
            </a:r>
            <a:endParaRPr lang="mk-MK" altLang="mk-MK" sz="1200" b="1"/>
          </a:p>
        </p:txBody>
      </p:sp>
      <p:cxnSp>
        <p:nvCxnSpPr>
          <p:cNvPr id="28681" name="Straight Connector 13"/>
          <p:cNvCxnSpPr>
            <a:cxnSpLocks noChangeShapeType="1"/>
            <a:endCxn id="28678" idx="2"/>
          </p:cNvCxnSpPr>
          <p:nvPr/>
        </p:nvCxnSpPr>
        <p:spPr bwMode="auto">
          <a:xfrm flipV="1">
            <a:off x="7062788" y="2797175"/>
            <a:ext cx="933450" cy="7842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682" name="Straight Connector 14"/>
          <p:cNvCxnSpPr>
            <a:cxnSpLocks noChangeShapeType="1"/>
            <a:endCxn id="28679" idx="0"/>
          </p:cNvCxnSpPr>
          <p:nvPr/>
        </p:nvCxnSpPr>
        <p:spPr bwMode="auto">
          <a:xfrm rot="10800000" flipV="1">
            <a:off x="5710238" y="4152900"/>
            <a:ext cx="709612" cy="5715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683" name="TextBox 15"/>
          <p:cNvSpPr txBox="1">
            <a:spLocks noChangeArrowheads="1"/>
          </p:cNvSpPr>
          <p:nvPr/>
        </p:nvSpPr>
        <p:spPr bwMode="auto">
          <a:xfrm>
            <a:off x="7267575" y="2844800"/>
            <a:ext cx="350838" cy="369888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 b="1"/>
              <a:t>n</a:t>
            </a:r>
            <a:endParaRPr lang="mk-MK" altLang="mk-MK" b="1"/>
          </a:p>
        </p:txBody>
      </p:sp>
      <p:sp>
        <p:nvSpPr>
          <p:cNvPr id="28684" name="TextBox 16"/>
          <p:cNvSpPr txBox="1">
            <a:spLocks noChangeArrowheads="1"/>
          </p:cNvSpPr>
          <p:nvPr/>
        </p:nvSpPr>
        <p:spPr bwMode="auto">
          <a:xfrm>
            <a:off x="5419725" y="4295775"/>
            <a:ext cx="331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mk-MK"/>
              <a:t>1</a:t>
            </a:r>
            <a:endParaRPr lang="mk-MK" altLang="mk-MK"/>
          </a:p>
        </p:txBody>
      </p:sp>
    </p:spTree>
    <p:extLst>
      <p:ext uri="{BB962C8B-B14F-4D97-AF65-F5344CB8AC3E}">
        <p14:creationId xmlns:p14="http://schemas.microsoft.com/office/powerpoint/2010/main" val="2218175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FK characteristics</a:t>
            </a:r>
            <a:endParaRPr lang="mk-MK" altLang="mk-MK" b="1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286750" cy="4267200"/>
          </a:xfrm>
        </p:spPr>
        <p:txBody>
          <a:bodyPr/>
          <a:lstStyle/>
          <a:p>
            <a:r>
              <a:rPr lang="en-US" altLang="mk-MK" sz="2600"/>
              <a:t>The values</a:t>
            </a:r>
            <a:r>
              <a:rPr lang="mk-MK" altLang="mk-MK" sz="2600"/>
              <a:t> </a:t>
            </a:r>
            <a:r>
              <a:rPr lang="en-US" altLang="mk-MK" sz="2600"/>
              <a:t>for this attribute are from the </a:t>
            </a:r>
            <a:r>
              <a:rPr lang="en-US" altLang="mk-MK" sz="2600" b="1"/>
              <a:t>same domain </a:t>
            </a:r>
            <a:r>
              <a:rPr lang="en-US" altLang="mk-MK" sz="2600"/>
              <a:t>with the values that the primary key of the represented entity are.  </a:t>
            </a:r>
          </a:p>
          <a:p>
            <a:r>
              <a:rPr lang="en-US" altLang="mk-MK" sz="2600"/>
              <a:t>The value that you’ll assign to this attribute in some instance </a:t>
            </a:r>
            <a:r>
              <a:rPr lang="en-US" altLang="mk-MK" sz="2600" b="1"/>
              <a:t>MUST already exists </a:t>
            </a:r>
            <a:r>
              <a:rPr lang="en-US" altLang="mk-MK" sz="2600"/>
              <a:t>in the primary key attribute of entity whose represent it is</a:t>
            </a:r>
            <a:endParaRPr lang="mk-MK" altLang="mk-MK" sz="2600"/>
          </a:p>
          <a:p>
            <a:r>
              <a:rPr lang="en-US" altLang="mk-MK" sz="2600" b="1"/>
              <a:t>Mandatory</a:t>
            </a:r>
            <a:endParaRPr lang="mk-MK" altLang="mk-MK" sz="2600" b="1"/>
          </a:p>
          <a:p>
            <a:r>
              <a:rPr lang="en-US" altLang="mk-MK" sz="2600"/>
              <a:t>Same </a:t>
            </a:r>
            <a:r>
              <a:rPr lang="en-US" altLang="mk-MK" sz="2600" b="1"/>
              <a:t>data type and size </a:t>
            </a:r>
            <a:r>
              <a:rPr lang="en-US" altLang="mk-MK" sz="2600"/>
              <a:t>as those that the primary key of the represented entity has</a:t>
            </a:r>
            <a:endParaRPr lang="mk-MK" altLang="mk-MK" sz="260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40C662D-4A5D-4558-BE10-DC88964FE5B3}" type="slidenum">
              <a:rPr lang="en-US" altLang="mk-MK"/>
              <a:pPr/>
              <a:t>23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3751474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Well done</a:t>
            </a:r>
            <a:r>
              <a:rPr lang="mk-MK" altLang="mk-MK" b="1"/>
              <a:t> !!!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001000" cy="4267200"/>
          </a:xfrm>
        </p:spPr>
        <p:txBody>
          <a:bodyPr/>
          <a:lstStyle/>
          <a:p>
            <a:r>
              <a:rPr lang="en-US" altLang="mk-MK"/>
              <a:t>You’ve created </a:t>
            </a:r>
            <a:r>
              <a:rPr lang="en-US" altLang="mk-MK" b="1"/>
              <a:t>Table model </a:t>
            </a:r>
            <a:r>
              <a:rPr lang="en-US" altLang="mk-MK"/>
              <a:t>for STUDENT</a:t>
            </a:r>
            <a:r>
              <a:rPr lang="mk-MK" altLang="mk-MK"/>
              <a:t>.</a:t>
            </a:r>
            <a:endParaRPr lang="en-US" altLang="mk-MK"/>
          </a:p>
          <a:p>
            <a:endParaRPr lang="en-US" altLang="mk-MK"/>
          </a:p>
          <a:p>
            <a:endParaRPr lang="en-US" altLang="mk-MK"/>
          </a:p>
          <a:p>
            <a:endParaRPr lang="en-US" altLang="mk-MK"/>
          </a:p>
          <a:p>
            <a:pPr>
              <a:buFont typeface="Wingdings" panose="05000000000000000000" pitchFamily="2" charset="2"/>
              <a:buNone/>
            </a:pPr>
            <a:endParaRPr lang="en-US" altLang="mk-MK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D2D61C8-CC3C-49DE-B8DD-518B5B6BF8EE}" type="slidenum">
              <a:rPr lang="en-US" altLang="mk-MK"/>
              <a:pPr/>
              <a:t>24</a:t>
            </a:fld>
            <a:endParaRPr lang="en-US" altLang="mk-MK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86125" y="2857500"/>
          <a:ext cx="4857750" cy="1431925"/>
        </p:xfrm>
        <a:graphic>
          <a:graphicData uri="http://schemas.openxmlformats.org/drawingml/2006/table">
            <a:tbl>
              <a:tblPr/>
              <a:tblGrid>
                <a:gridCol w="485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319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mk-MK" sz="1500" b="1" dirty="0"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500" b="1" dirty="0" err="1">
                          <a:latin typeface="Calibri"/>
                          <a:ea typeface="Calibri"/>
                          <a:cs typeface="Times New Roman"/>
                        </a:rPr>
                        <a:t>Id_student</a:t>
                      </a:r>
                      <a:r>
                        <a:rPr lang="en-US" sz="1500" b="1" dirty="0">
                          <a:latin typeface="Calibri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en-US" sz="1500" dirty="0">
                          <a:latin typeface="Calibri"/>
                          <a:ea typeface="Calibri"/>
                          <a:cs typeface="Times New Roman"/>
                        </a:rPr>
                        <a:t>PK, numeric(9), Mandatory</a:t>
                      </a:r>
                      <a:endParaRPr lang="mk-MK" sz="15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500" b="1" dirty="0">
                          <a:latin typeface="Calibri"/>
                          <a:ea typeface="Calibri"/>
                          <a:cs typeface="Times New Roman"/>
                        </a:rPr>
                        <a:t>name: </a:t>
                      </a:r>
                      <a:r>
                        <a:rPr lang="en-US" sz="1500" dirty="0">
                          <a:latin typeface="Calibri"/>
                          <a:ea typeface="Calibri"/>
                          <a:cs typeface="Times New Roman"/>
                        </a:rPr>
                        <a:t>text(50), not null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500" dirty="0">
                          <a:latin typeface="Calibri"/>
                          <a:ea typeface="Calibri"/>
                          <a:cs typeface="Times New Roman"/>
                        </a:rPr>
                        <a:t>….</a:t>
                      </a:r>
                      <a:endParaRPr lang="mk-MK" sz="15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500" b="1" dirty="0" err="1">
                          <a:latin typeface="Calibri"/>
                          <a:ea typeface="Calibri"/>
                          <a:cs typeface="Times New Roman"/>
                        </a:rPr>
                        <a:t>Id_year</a:t>
                      </a:r>
                      <a:r>
                        <a:rPr lang="en-US" sz="1500" b="1" dirty="0">
                          <a:latin typeface="Calibri"/>
                          <a:ea typeface="Calibri"/>
                          <a:cs typeface="Times New Roman"/>
                        </a:rPr>
                        <a:t>:</a:t>
                      </a:r>
                      <a:r>
                        <a:rPr lang="en-US" sz="1500" b="1" baseline="0" dirty="0">
                          <a:latin typeface="Calibri"/>
                          <a:ea typeface="Calibri"/>
                          <a:cs typeface="Times New Roman"/>
                        </a:rPr>
                        <a:t> FK from YEAR, numeric(9), mandatory</a:t>
                      </a:r>
                      <a:endParaRPr lang="mk-MK" sz="15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0732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2786063"/>
            <a:ext cx="2428875" cy="381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78931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/>
              <a:t>Ass.</a:t>
            </a:r>
            <a:r>
              <a:rPr lang="mk-MK" altLang="mk-MK" b="1"/>
              <a:t> 3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571500" y="1643063"/>
            <a:ext cx="8001000" cy="4267200"/>
          </a:xfrm>
        </p:spPr>
        <p:txBody>
          <a:bodyPr/>
          <a:lstStyle/>
          <a:p>
            <a:r>
              <a:rPr lang="en-US" altLang="mk-MK"/>
              <a:t>Make table model for COURSE</a:t>
            </a:r>
            <a:endParaRPr lang="mk-MK" altLang="mk-MK"/>
          </a:p>
          <a:p>
            <a:endParaRPr lang="mk-MK" altLang="mk-MK"/>
          </a:p>
          <a:p>
            <a:r>
              <a:rPr lang="en-US" altLang="mk-MK"/>
              <a:t>Create entity-table for COURSE</a:t>
            </a:r>
            <a:endParaRPr lang="mk-MK" altLang="mk-MK"/>
          </a:p>
          <a:p>
            <a:pPr>
              <a:buFont typeface="Wingdings" panose="05000000000000000000" pitchFamily="2" charset="2"/>
              <a:buNone/>
            </a:pPr>
            <a:endParaRPr lang="en-US" altLang="mk-MK"/>
          </a:p>
          <a:p>
            <a:pPr>
              <a:buFont typeface="Wingdings" panose="05000000000000000000" pitchFamily="2" charset="2"/>
              <a:buNone/>
            </a:pPr>
            <a:endParaRPr lang="en-US" altLang="mk-MK"/>
          </a:p>
          <a:p>
            <a:pPr>
              <a:buFont typeface="Wingdings" panose="05000000000000000000" pitchFamily="2" charset="2"/>
              <a:buNone/>
            </a:pPr>
            <a:endParaRPr lang="en-US" altLang="mk-MK"/>
          </a:p>
          <a:p>
            <a:pPr>
              <a:buFont typeface="Wingdings" panose="05000000000000000000" pitchFamily="2" charset="2"/>
              <a:buNone/>
            </a:pPr>
            <a:endParaRPr lang="en-US" altLang="mk-MK"/>
          </a:p>
          <a:p>
            <a:endParaRPr lang="en-US" altLang="mk-MK"/>
          </a:p>
          <a:p>
            <a:pPr>
              <a:buFont typeface="Wingdings" panose="05000000000000000000" pitchFamily="2" charset="2"/>
              <a:buNone/>
            </a:pPr>
            <a:endParaRPr lang="en-US" altLang="mk-MK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1DA03B5-BD54-4C0E-A063-F4CCB677DAD1}" type="slidenum">
              <a:rPr lang="en-US" altLang="mk-MK"/>
              <a:pPr/>
              <a:t>25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0978345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mk-MK" b="1"/>
              <a:t>Table model for m-n relation</a:t>
            </a:r>
            <a:endParaRPr lang="mk-MK" altLang="mk-MK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6F08FD0-350E-4237-943C-98B5E16D512B}" type="slidenum">
              <a:rPr lang="en-US" altLang="mk-MK"/>
              <a:pPr/>
              <a:t>26</a:t>
            </a:fld>
            <a:endParaRPr lang="en-US" altLang="mk-MK"/>
          </a:p>
        </p:txBody>
      </p:sp>
      <p:sp>
        <p:nvSpPr>
          <p:cNvPr id="32773" name="TextBox 25"/>
          <p:cNvSpPr txBox="1">
            <a:spLocks noChangeArrowheads="1"/>
          </p:cNvSpPr>
          <p:nvPr/>
        </p:nvSpPr>
        <p:spPr bwMode="auto">
          <a:xfrm>
            <a:off x="571500" y="1711325"/>
            <a:ext cx="8358188" cy="437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mk-MK" sz="2200"/>
              <a:t>Whenever there is an</a:t>
            </a:r>
            <a:r>
              <a:rPr lang="mk-MK" altLang="mk-MK" sz="2200"/>
              <a:t> </a:t>
            </a:r>
            <a:r>
              <a:rPr lang="en-US" altLang="mk-MK" sz="2200"/>
              <a:t>m-n</a:t>
            </a:r>
            <a:r>
              <a:rPr lang="mk-MK" altLang="mk-MK" sz="2200"/>
              <a:t> </a:t>
            </a:r>
            <a:r>
              <a:rPr lang="en-US" altLang="mk-MK" sz="2200"/>
              <a:t>relation</a:t>
            </a:r>
            <a:r>
              <a:rPr lang="mk-MK" altLang="mk-MK" sz="2200"/>
              <a:t> </a:t>
            </a:r>
            <a:r>
              <a:rPr lang="en-US" altLang="mk-MK" sz="2200"/>
              <a:t>between two entities, it is represented with NEW </a:t>
            </a:r>
            <a:r>
              <a:rPr lang="en-US" altLang="mk-MK" sz="2200" b="1"/>
              <a:t>INTERSECTION Table</a:t>
            </a:r>
            <a:r>
              <a:rPr lang="en-US" altLang="mk-MK" sz="2200"/>
              <a:t>, that describes this relation</a:t>
            </a:r>
            <a:endParaRPr lang="mk-MK" altLang="mk-MK" sz="2200"/>
          </a:p>
          <a:p>
            <a:pPr>
              <a:buClr>
                <a:srgbClr val="C00000"/>
              </a:buClr>
            </a:pPr>
            <a:endParaRPr lang="mk-MK" altLang="mk-MK" sz="120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mk-MK" sz="2200"/>
              <a:t> This table must have at least one attribute,</a:t>
            </a:r>
            <a:r>
              <a:rPr lang="en-US" altLang="mk-MK" sz="2200" b="1"/>
              <a:t> primary key</a:t>
            </a:r>
            <a:r>
              <a:rPr lang="mk-MK" altLang="mk-MK" sz="2200"/>
              <a:t>. </a:t>
            </a:r>
          </a:p>
          <a:p>
            <a:pPr>
              <a:buClr>
                <a:srgbClr val="C00000"/>
              </a:buClr>
            </a:pPr>
            <a:endParaRPr lang="mk-MK" altLang="mk-MK" sz="120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mk-MK" sz="2200"/>
              <a:t> It can have other attributes that describe the relation</a:t>
            </a:r>
            <a:r>
              <a:rPr lang="mk-MK" altLang="mk-MK" sz="2200"/>
              <a:t>.</a:t>
            </a:r>
            <a:endParaRPr lang="en-US" altLang="mk-MK" sz="2200"/>
          </a:p>
          <a:p>
            <a:pPr>
              <a:buClr>
                <a:srgbClr val="C00000"/>
              </a:buClr>
            </a:pPr>
            <a:endParaRPr lang="en-US" altLang="mk-MK" sz="120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altLang="mk-MK" sz="2200" b="1"/>
              <a:t> The Name of the table</a:t>
            </a:r>
            <a:r>
              <a:rPr lang="mk-MK" altLang="mk-MK" sz="2200" b="1"/>
              <a:t> </a:t>
            </a:r>
            <a:r>
              <a:rPr lang="en-US" altLang="mk-MK" sz="2200"/>
              <a:t>is either same as the relation or it is an acronym got from the names of the related tables</a:t>
            </a:r>
            <a:r>
              <a:rPr lang="en-US" altLang="mk-MK" sz="2200" b="1"/>
              <a:t>. </a:t>
            </a:r>
            <a:r>
              <a:rPr lang="mk-MK" altLang="mk-MK" sz="2200"/>
              <a:t> </a:t>
            </a:r>
          </a:p>
          <a:p>
            <a:pPr lvl="1"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mk-MK" altLang="mk-MK" sz="2000"/>
              <a:t>Пр. </a:t>
            </a:r>
            <a:r>
              <a:rPr lang="en-US" altLang="mk-MK" sz="2000" b="1"/>
              <a:t>Enroll</a:t>
            </a:r>
            <a:r>
              <a:rPr lang="mk-MK" altLang="mk-MK" sz="2000" b="1"/>
              <a:t>, </a:t>
            </a:r>
            <a:r>
              <a:rPr lang="en-US" altLang="mk-MK" sz="2000" b="1"/>
              <a:t>COURSE</a:t>
            </a:r>
            <a:r>
              <a:rPr lang="mk-MK" altLang="mk-MK" sz="2000" b="1"/>
              <a:t>_</a:t>
            </a:r>
            <a:r>
              <a:rPr lang="en-US" altLang="mk-MK" sz="2000" b="1"/>
              <a:t>STUD</a:t>
            </a:r>
            <a:endParaRPr lang="mk-MK" altLang="mk-MK" sz="2000" b="1"/>
          </a:p>
          <a:p>
            <a:pPr>
              <a:buClr>
                <a:srgbClr val="C00000"/>
              </a:buClr>
            </a:pPr>
            <a:endParaRPr lang="mk-MK" altLang="mk-MK" sz="2400"/>
          </a:p>
        </p:txBody>
      </p:sp>
      <p:pic>
        <p:nvPicPr>
          <p:cNvPr id="3277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563" y="5214938"/>
            <a:ext cx="2200275" cy="1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2523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1857375"/>
            <a:ext cx="6324600" cy="496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6" name="Title 1"/>
          <p:cNvSpPr>
            <a:spLocks noGrp="1"/>
          </p:cNvSpPr>
          <p:nvPr>
            <p:ph type="title"/>
          </p:nvPr>
        </p:nvSpPr>
        <p:spPr>
          <a:xfrm>
            <a:off x="285750" y="498475"/>
            <a:ext cx="8786813" cy="1216025"/>
          </a:xfrm>
        </p:spPr>
        <p:txBody>
          <a:bodyPr/>
          <a:lstStyle/>
          <a:p>
            <a:pPr algn="ctr"/>
            <a:r>
              <a:rPr lang="en-US" altLang="mk-MK" b="1" dirty="0"/>
              <a:t>Relations</a:t>
            </a:r>
            <a:r>
              <a:rPr lang="mk-MK" altLang="mk-MK" b="1" dirty="0"/>
              <a:t>:</a:t>
            </a:r>
            <a:br>
              <a:rPr lang="mk-MK" altLang="mk-MK" b="1" dirty="0"/>
            </a:br>
            <a:r>
              <a:rPr lang="en-US" altLang="mk-MK" b="1" dirty="0"/>
              <a:t>STUDENT </a:t>
            </a:r>
            <a:r>
              <a:rPr lang="en-US" altLang="mk-MK" sz="3000" b="1" dirty="0">
                <a:solidFill>
                  <a:srgbClr val="7030A0"/>
                </a:solidFill>
              </a:rPr>
              <a:t>1–n</a:t>
            </a:r>
            <a:r>
              <a:rPr lang="en-US" altLang="mk-MK" b="1" dirty="0"/>
              <a:t> COURSE_STUD and COURSE</a:t>
            </a:r>
            <a:r>
              <a:rPr lang="mk-MK" altLang="mk-MK" b="1" dirty="0"/>
              <a:t> </a:t>
            </a:r>
            <a:r>
              <a:rPr lang="en-US" altLang="mk-MK" sz="3000" b="1" dirty="0">
                <a:solidFill>
                  <a:srgbClr val="7030A0"/>
                </a:solidFill>
              </a:rPr>
              <a:t>1</a:t>
            </a:r>
            <a:r>
              <a:rPr lang="mk-MK" altLang="mk-MK" sz="3000" b="1" dirty="0">
                <a:solidFill>
                  <a:srgbClr val="7030A0"/>
                </a:solidFill>
              </a:rPr>
              <a:t>–</a:t>
            </a:r>
            <a:r>
              <a:rPr lang="en-US" altLang="mk-MK" sz="3000" b="1" dirty="0">
                <a:solidFill>
                  <a:srgbClr val="7030A0"/>
                </a:solidFill>
              </a:rPr>
              <a:t>n</a:t>
            </a:r>
            <a:r>
              <a:rPr lang="mk-MK" altLang="mk-MK" sz="3000" b="1" dirty="0">
                <a:solidFill>
                  <a:srgbClr val="7030A0"/>
                </a:solidFill>
              </a:rPr>
              <a:t> </a:t>
            </a:r>
            <a:r>
              <a:rPr lang="en-US" altLang="mk-MK" b="1" dirty="0"/>
              <a:t>COURSE_STUD</a:t>
            </a:r>
            <a:endParaRPr lang="mk-MK" altLang="mk-MK" b="1" dirty="0"/>
          </a:p>
        </p:txBody>
      </p:sp>
      <p:sp>
        <p:nvSpPr>
          <p:cNvPr id="3379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7FC49D9-F2BA-4FE6-A73C-49906211C046}" type="slidenum">
              <a:rPr lang="en-US" altLang="mk-MK"/>
              <a:pPr/>
              <a:t>27</a:t>
            </a:fld>
            <a:endParaRPr lang="en-US" altLang="mk-MK"/>
          </a:p>
        </p:txBody>
      </p:sp>
      <p:grpSp>
        <p:nvGrpSpPr>
          <p:cNvPr id="33798" name="Group 14"/>
          <p:cNvGrpSpPr>
            <a:grpSpLocks/>
          </p:cNvGrpSpPr>
          <p:nvPr/>
        </p:nvGrpSpPr>
        <p:grpSpPr bwMode="auto">
          <a:xfrm>
            <a:off x="214313" y="2071688"/>
            <a:ext cx="5153025" cy="2430462"/>
            <a:chOff x="3633788" y="2143125"/>
            <a:chExt cx="5153025" cy="2430463"/>
          </a:xfrm>
        </p:grpSpPr>
        <p:cxnSp>
          <p:nvCxnSpPr>
            <p:cNvPr id="33799" name="Straight Connector 5"/>
            <p:cNvCxnSpPr>
              <a:cxnSpLocks noChangeShapeType="1"/>
            </p:cNvCxnSpPr>
            <p:nvPr/>
          </p:nvCxnSpPr>
          <p:spPr bwMode="auto">
            <a:xfrm>
              <a:off x="5348288" y="2500313"/>
              <a:ext cx="2714625" cy="171450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00" name="Rectangle 6"/>
            <p:cNvSpPr>
              <a:spLocks noChangeArrowheads="1"/>
            </p:cNvSpPr>
            <p:nvPr/>
          </p:nvSpPr>
          <p:spPr bwMode="auto">
            <a:xfrm>
              <a:off x="3633788" y="2143125"/>
              <a:ext cx="1724025" cy="358775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mk-MK" b="1"/>
                <a:t>STUDENT</a:t>
              </a:r>
              <a:endParaRPr lang="mk-MK" altLang="mk-MK" b="1"/>
            </a:p>
            <a:p>
              <a:pPr algn="ctr"/>
              <a:endParaRPr lang="mk-MK" altLang="mk-MK" sz="1200"/>
            </a:p>
          </p:txBody>
        </p:sp>
        <p:sp>
          <p:nvSpPr>
            <p:cNvPr id="33801" name="Rectangle 6"/>
            <p:cNvSpPr>
              <a:spLocks noChangeArrowheads="1"/>
            </p:cNvSpPr>
            <p:nvPr/>
          </p:nvSpPr>
          <p:spPr bwMode="auto">
            <a:xfrm>
              <a:off x="7062788" y="4214813"/>
              <a:ext cx="1724025" cy="358775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mk-MK" b="1"/>
                <a:t>course</a:t>
              </a:r>
              <a:endParaRPr lang="mk-MK" altLang="mk-MK" b="1"/>
            </a:p>
            <a:p>
              <a:pPr algn="ctr"/>
              <a:endParaRPr lang="mk-MK" altLang="mk-MK" sz="1200"/>
            </a:p>
          </p:txBody>
        </p:sp>
        <p:sp>
          <p:nvSpPr>
            <p:cNvPr id="33802" name="Diamond 8"/>
            <p:cNvSpPr>
              <a:spLocks noChangeArrowheads="1"/>
            </p:cNvSpPr>
            <p:nvPr/>
          </p:nvSpPr>
          <p:spPr bwMode="auto">
            <a:xfrm>
              <a:off x="5634038" y="2857500"/>
              <a:ext cx="1500187" cy="857250"/>
            </a:xfrm>
            <a:prstGeom prst="diamond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algn="ctr"/>
              <a:r>
                <a:rPr lang="en-US" altLang="mk-MK" sz="1200" b="1"/>
                <a:t>enrolls</a:t>
              </a:r>
              <a:endParaRPr lang="mk-MK" altLang="mk-MK" sz="1200" b="1"/>
            </a:p>
          </p:txBody>
        </p:sp>
        <p:sp>
          <p:nvSpPr>
            <p:cNvPr id="33803" name="TextBox 9"/>
            <p:cNvSpPr txBox="1">
              <a:spLocks noChangeArrowheads="1"/>
            </p:cNvSpPr>
            <p:nvPr/>
          </p:nvSpPr>
          <p:spPr bwMode="auto">
            <a:xfrm>
              <a:off x="5160963" y="2571750"/>
              <a:ext cx="330200" cy="3698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mk-MK"/>
                <a:t>n</a:t>
              </a:r>
              <a:endParaRPr lang="mk-MK" altLang="mk-MK"/>
            </a:p>
          </p:txBody>
        </p:sp>
        <p:sp>
          <p:nvSpPr>
            <p:cNvPr id="33804" name="TextBox 10"/>
            <p:cNvSpPr txBox="1">
              <a:spLocks noChangeArrowheads="1"/>
            </p:cNvSpPr>
            <p:nvPr/>
          </p:nvSpPr>
          <p:spPr bwMode="auto">
            <a:xfrm>
              <a:off x="8062913" y="3786188"/>
              <a:ext cx="409575" cy="36988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r>
                <a:rPr lang="en-US" altLang="mk-MK"/>
                <a:t>m</a:t>
              </a:r>
              <a:endParaRPr lang="mk-MK" altLang="mk-MK"/>
            </a:p>
          </p:txBody>
        </p:sp>
        <p:sp>
          <p:nvSpPr>
            <p:cNvPr id="33805" name="Oval 11"/>
            <p:cNvSpPr>
              <a:spLocks noChangeArrowheads="1"/>
            </p:cNvSpPr>
            <p:nvPr/>
          </p:nvSpPr>
          <p:spPr bwMode="auto">
            <a:xfrm>
              <a:off x="5500688" y="2571750"/>
              <a:ext cx="1928812" cy="1428750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endParaRPr lang="mk-MK" altLang="mk-MK"/>
            </a:p>
          </p:txBody>
        </p:sp>
      </p:grpSp>
    </p:spTree>
    <p:extLst>
      <p:ext uri="{BB962C8B-B14F-4D97-AF65-F5344CB8AC3E}">
        <p14:creationId xmlns:p14="http://schemas.microsoft.com/office/powerpoint/2010/main" val="1042015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mk-MK" b="1" dirty="0"/>
              <a:t>Questions for homework</a:t>
            </a:r>
            <a:endParaRPr lang="mk-MK" altLang="mk-MK" b="1" dirty="0"/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357188" y="1643063"/>
            <a:ext cx="8429625" cy="4267200"/>
          </a:xfrm>
        </p:spPr>
        <p:txBody>
          <a:bodyPr/>
          <a:lstStyle/>
          <a:p>
            <a:r>
              <a:rPr lang="en-US" altLang="mk-MK" sz="2500"/>
              <a:t>Which STUDENT attribute is represented with course_stud attribute, id_student?</a:t>
            </a:r>
            <a:r>
              <a:rPr lang="mk-MK" altLang="mk-MK" sz="2500"/>
              <a:t> </a:t>
            </a:r>
            <a:r>
              <a:rPr lang="en-US" altLang="mk-MK" sz="2500"/>
              <a:t>Explain what does it mean.</a:t>
            </a:r>
          </a:p>
          <a:p>
            <a:pPr>
              <a:buFont typeface="Wingdings" panose="05000000000000000000" pitchFamily="2" charset="2"/>
              <a:buNone/>
            </a:pPr>
            <a:endParaRPr lang="mk-MK" altLang="mk-MK" sz="2500"/>
          </a:p>
          <a:p>
            <a:r>
              <a:rPr lang="en-US" altLang="mk-MK" sz="2500"/>
              <a:t>Which COURSE attribute is represented with course_stud attribute, id_course?</a:t>
            </a:r>
            <a:r>
              <a:rPr lang="mk-MK" altLang="mk-MK" sz="2500"/>
              <a:t> </a:t>
            </a:r>
            <a:r>
              <a:rPr lang="en-US" altLang="mk-MK" sz="2500"/>
              <a:t>Explain what does it mean.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mk-MK" sz="2500"/>
          </a:p>
          <a:p>
            <a:r>
              <a:rPr lang="en-US" altLang="mk-MK" sz="2500"/>
              <a:t>What is the cardinality of Student – course_stud relation and Course – course_stud relation ?</a:t>
            </a:r>
            <a:endParaRPr lang="mk-MK" altLang="mk-MK" sz="2500"/>
          </a:p>
          <a:p>
            <a:endParaRPr lang="mk-MK" altLang="mk-MK" sz="250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1162556-8AA8-46BE-87E1-37D84BD8A5C6}" type="slidenum">
              <a:rPr lang="en-US" altLang="mk-MK"/>
              <a:pPr/>
              <a:t>28</a:t>
            </a:fld>
            <a:endParaRPr lang="en-US" altLang="mk-MK"/>
          </a:p>
        </p:txBody>
      </p:sp>
    </p:spTree>
    <p:extLst>
      <p:ext uri="{BB962C8B-B14F-4D97-AF65-F5344CB8AC3E}">
        <p14:creationId xmlns:p14="http://schemas.microsoft.com/office/powerpoint/2010/main" val="18252403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662738" y="6238875"/>
            <a:ext cx="1981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04600B9-A162-4C13-AA55-30B237363491}" type="slidenum">
              <a:rPr lang="en-US" altLang="mk-MK"/>
              <a:pPr/>
              <a:t>29</a:t>
            </a:fld>
            <a:endParaRPr lang="en-US" altLang="mk-MK"/>
          </a:p>
        </p:txBody>
      </p:sp>
      <p:pic>
        <p:nvPicPr>
          <p:cNvPr id="3584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214313"/>
            <a:ext cx="8143875" cy="634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6341269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QL Server 2005.ppt [Compatibility Mode]" id="{9D323D9A-CC10-4CA8-826D-17478E3A9F41}" vid="{92B4D76A-6B69-4AFF-BEA7-B1D9981B5C5A}"/>
    </a:ext>
  </a:extLst>
</a:theme>
</file>

<file path=ppt/theme/theme2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QL Server 2005.ppt [Compatibility Mode]" id="{9D323D9A-CC10-4CA8-826D-17478E3A9F41}" vid="{92B4D76A-6B69-4AFF-BEA7-B1D9981B5C5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UACS_template</Template>
  <TotalTime>148</TotalTime>
  <Words>1141</Words>
  <Application>Microsoft Office PowerPoint</Application>
  <PresentationFormat>On-screen Show (4:3)</PresentationFormat>
  <Paragraphs>306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Calibri</vt:lpstr>
      <vt:lpstr>Times New Roman</vt:lpstr>
      <vt:lpstr>Verdana</vt:lpstr>
      <vt:lpstr>Wingdings</vt:lpstr>
      <vt:lpstr>Profile</vt:lpstr>
      <vt:lpstr>1_Profile</vt:lpstr>
      <vt:lpstr>SCSIT IV Semester  DAtabase</vt:lpstr>
      <vt:lpstr>Exc.: Entity or Instance?</vt:lpstr>
      <vt:lpstr>ER diagram</vt:lpstr>
      <vt:lpstr>YEAR: ENTITY and INSTANCES</vt:lpstr>
      <vt:lpstr>Transferring from entity  into Diagram.net Table</vt:lpstr>
      <vt:lpstr>PowerPoint Presentation</vt:lpstr>
      <vt:lpstr>2. Attribute role</vt:lpstr>
      <vt:lpstr>3. Attribute data types</vt:lpstr>
      <vt:lpstr>Data types for YEAR’s attributes</vt:lpstr>
      <vt:lpstr>Required attribute</vt:lpstr>
      <vt:lpstr>4. Required attributes  in YEAR</vt:lpstr>
      <vt:lpstr>Well done !!!</vt:lpstr>
      <vt:lpstr>Ass. 1</vt:lpstr>
      <vt:lpstr> Let’s create model for another table</vt:lpstr>
      <vt:lpstr>Transferring from entity  into Diagram.net Table</vt:lpstr>
      <vt:lpstr>Entity and instances</vt:lpstr>
      <vt:lpstr>Data types, requisiteness and PK for STUDENT’s attributes</vt:lpstr>
      <vt:lpstr>PowerPoint Presentation</vt:lpstr>
      <vt:lpstr>5. What about the n-1 relation? How to represent it?</vt:lpstr>
      <vt:lpstr>1. Drag and drop relation from YEAR entity-table. You drag until the entity-table border doesn’t become RED  </vt:lpstr>
      <vt:lpstr>PowerPoint Presentation</vt:lpstr>
      <vt:lpstr>6. What is the role of the new attribute?</vt:lpstr>
      <vt:lpstr>FK characteristics</vt:lpstr>
      <vt:lpstr>Well done !!!</vt:lpstr>
      <vt:lpstr>Ass. 3</vt:lpstr>
      <vt:lpstr>Table model for m-n relation</vt:lpstr>
      <vt:lpstr>Relations: STUDENT 1–n COURSE_STUD and COURSE 1–n COURSE_STUD</vt:lpstr>
      <vt:lpstr>Questions for homework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ФКТИ V Семестар  Дистрибуирани Бази податоци</dc:title>
  <dc:creator>Bojan Bogdanovski</dc:creator>
  <cp:lastModifiedBy>Igor Janchev</cp:lastModifiedBy>
  <cp:revision>9</cp:revision>
  <dcterms:created xsi:type="dcterms:W3CDTF">2015-09-15T12:39:57Z</dcterms:created>
  <dcterms:modified xsi:type="dcterms:W3CDTF">2023-03-06T18:19:21Z</dcterms:modified>
</cp:coreProperties>
</file>