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handoutMasterIdLst>
    <p:handoutMasterId r:id="rId25"/>
  </p:handoutMasterIdLst>
  <p:sldIdLst>
    <p:sldId id="445" r:id="rId2"/>
    <p:sldId id="446" r:id="rId3"/>
    <p:sldId id="338" r:id="rId4"/>
    <p:sldId id="339" r:id="rId5"/>
    <p:sldId id="340" r:id="rId6"/>
    <p:sldId id="341" r:id="rId7"/>
    <p:sldId id="342" r:id="rId8"/>
    <p:sldId id="343" r:id="rId9"/>
    <p:sldId id="440" r:id="rId10"/>
    <p:sldId id="447" r:id="rId11"/>
    <p:sldId id="448" r:id="rId12"/>
    <p:sldId id="449" r:id="rId13"/>
    <p:sldId id="347" r:id="rId14"/>
    <p:sldId id="450" r:id="rId15"/>
    <p:sldId id="453" r:id="rId16"/>
    <p:sldId id="454" r:id="rId17"/>
    <p:sldId id="455" r:id="rId18"/>
    <p:sldId id="352" r:id="rId19"/>
    <p:sldId id="457" r:id="rId20"/>
    <p:sldId id="458" r:id="rId21"/>
    <p:sldId id="460" r:id="rId22"/>
    <p:sldId id="395" r:id="rId23"/>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88" autoAdjust="0"/>
    <p:restoredTop sz="63705" autoAdjust="0"/>
  </p:normalViewPr>
  <p:slideViewPr>
    <p:cSldViewPr snapToGrid="0">
      <p:cViewPr varScale="1">
        <p:scale>
          <a:sx n="45" d="100"/>
          <a:sy n="45" d="100"/>
        </p:scale>
        <p:origin x="1704" y="4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351C3CC-85E9-4EB0-AE84-86EE2CEAA304}"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E56AE75-B906-4BBE-9F19-01C6ABDA8665}" type="slidenum">
              <a:rPr lang="en-US" altLang="en-US" sz="1200"/>
              <a:pPr/>
              <a:t>2</a:t>
            </a:fld>
            <a:endParaRPr lang="en-US" altLang="en-US" sz="1200"/>
          </a:p>
        </p:txBody>
      </p:sp>
      <p:sp>
        <p:nvSpPr>
          <p:cNvPr id="18435" name="Rectangle 2"/>
          <p:cNvSpPr>
            <a:spLocks noChangeArrowheads="1"/>
          </p:cNvSpPr>
          <p:nvPr/>
        </p:nvSpPr>
        <p:spPr bwMode="auto">
          <a:xfrm>
            <a:off x="3965576"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6" name="Rectangle 3"/>
          <p:cNvSpPr>
            <a:spLocks noChangeArrowheads="1"/>
          </p:cNvSpPr>
          <p:nvPr/>
        </p:nvSpPr>
        <p:spPr bwMode="auto">
          <a:xfrm>
            <a:off x="3965576"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58" tIns="45221" rIns="92058" bIns="45221" anchor="b"/>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300">
                <a:latin typeface="Times New Roman" panose="02020603050405020304" pitchFamily="18" charset="0"/>
              </a:rPr>
              <a:t>1</a:t>
            </a:r>
          </a:p>
        </p:txBody>
      </p:sp>
      <p:sp>
        <p:nvSpPr>
          <p:cNvPr id="18437" name="Rectangle 4"/>
          <p:cNvSpPr>
            <a:spLocks noChangeArrowheads="1"/>
          </p:cNvSpPr>
          <p:nvPr/>
        </p:nvSpPr>
        <p:spPr bwMode="auto">
          <a:xfrm>
            <a:off x="1"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8" name="Rectangle 5"/>
          <p:cNvSpPr>
            <a:spLocks noChangeArrowheads="1"/>
          </p:cNvSpPr>
          <p:nvPr/>
        </p:nvSpPr>
        <p:spPr bwMode="auto">
          <a:xfrm>
            <a:off x="1"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9" name="Rectangle 6"/>
          <p:cNvSpPr>
            <a:spLocks noGrp="1" noRot="1" noChangeAspect="1" noChangeArrowheads="1" noTextEdit="1"/>
          </p:cNvSpPr>
          <p:nvPr>
            <p:ph type="sldImg"/>
          </p:nvPr>
        </p:nvSpPr>
        <p:spPr>
          <a:xfrm>
            <a:off x="1187450" y="703263"/>
            <a:ext cx="4622800" cy="3467100"/>
          </a:xfrm>
          <a:ln w="12700" cap="flat"/>
        </p:spPr>
      </p:sp>
      <p:sp>
        <p:nvSpPr>
          <p:cNvPr id="18440" name="Rectangle 7"/>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58" tIns="45221" rIns="92058" bIns="45221" anchor="ct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dirty="0" smtClean="0"/>
              <a:t>Join  Expressions – se </a:t>
            </a:r>
            <a:r>
              <a:rPr lang="en-US" altLang="en-US" sz="1200" dirty="0" err="1" smtClean="0"/>
              <a:t>pripojuiva</a:t>
            </a:r>
            <a:r>
              <a:rPr lang="en-US" altLang="en-US" sz="1200" dirty="0" smtClean="0"/>
              <a:t> so </a:t>
            </a:r>
            <a:r>
              <a:rPr lang="en-US" altLang="en-US" sz="1200" dirty="0" err="1" smtClean="0"/>
              <a:t>prethodna</a:t>
            </a:r>
            <a:r>
              <a:rPr lang="en-US" altLang="en-US" sz="1200" dirty="0" smtClean="0"/>
              <a:t> </a:t>
            </a:r>
            <a:r>
              <a:rPr lang="en-US" altLang="en-US" sz="1200" dirty="0" err="1" smtClean="0"/>
              <a:t>lekcija</a:t>
            </a:r>
            <a:r>
              <a:rPr lang="en-US" altLang="en-US" sz="1200" baseline="0" dirty="0" smtClean="0"/>
              <a:t> I taka se deli </a:t>
            </a:r>
            <a:r>
              <a:rPr lang="en-US" altLang="en-US" sz="1200" baseline="0" dirty="0" err="1" smtClean="0"/>
              <a:t>na</a:t>
            </a:r>
            <a:r>
              <a:rPr lang="en-US" altLang="en-US" sz="1200" baseline="0" dirty="0" smtClean="0"/>
              <a:t> </a:t>
            </a:r>
            <a:r>
              <a:rPr lang="en-US" altLang="en-US" sz="1200" baseline="0" dirty="0" err="1" smtClean="0"/>
              <a:t>dve</a:t>
            </a:r>
            <a:r>
              <a:rPr lang="en-US" altLang="en-US" sz="1200" baseline="0" dirty="0" smtClean="0"/>
              <a:t> </a:t>
            </a:r>
            <a:r>
              <a:rPr lang="en-US" altLang="en-US" sz="1200" baseline="0" dirty="0" err="1" smtClean="0"/>
              <a:t>predavanja</a:t>
            </a:r>
            <a:r>
              <a:rPr lang="en-US" altLang="en-US" sz="1200" baseline="0" dirty="0" smtClean="0"/>
              <a:t> so </a:t>
            </a:r>
            <a:r>
              <a:rPr lang="en-US" altLang="en-US" sz="1200" baseline="0" dirty="0" err="1" smtClean="0"/>
              <a:t>sto</a:t>
            </a:r>
            <a:r>
              <a:rPr lang="en-US" altLang="en-US" sz="1200" baseline="0" dirty="0" smtClean="0"/>
              <a:t> se </a:t>
            </a:r>
            <a:r>
              <a:rPr lang="en-US" altLang="en-US" sz="1200" baseline="0" dirty="0" err="1" smtClean="0"/>
              <a:t>pokriva</a:t>
            </a:r>
            <a:r>
              <a:rPr lang="en-US" altLang="en-US" sz="1200" baseline="0" dirty="0" smtClean="0"/>
              <a:t> so </a:t>
            </a:r>
            <a:r>
              <a:rPr lang="en-US" altLang="en-US" sz="1200" baseline="0" dirty="0" err="1" smtClean="0"/>
              <a:t>stari</a:t>
            </a:r>
            <a:r>
              <a:rPr lang="en-US" altLang="en-US" sz="1200" baseline="0" dirty="0" smtClean="0"/>
              <a:t> </a:t>
            </a:r>
            <a:r>
              <a:rPr lang="en-US" altLang="en-US" sz="1200" baseline="0" dirty="0" err="1" smtClean="0"/>
              <a:t>ppt</a:t>
            </a:r>
            <a:endParaRPr lang="en-US" altLang="en-US" sz="12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sz="12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aseline="0" dirty="0" err="1" smtClean="0"/>
              <a:t>Ostatokot</a:t>
            </a:r>
            <a:r>
              <a:rPr lang="en-US" altLang="en-US" sz="1200" baseline="0" dirty="0" smtClean="0"/>
              <a:t> se </a:t>
            </a:r>
            <a:r>
              <a:rPr lang="en-US" altLang="en-US" sz="1200" baseline="0" dirty="0" err="1" smtClean="0"/>
              <a:t>spojuva</a:t>
            </a:r>
            <a:r>
              <a:rPr lang="en-US" altLang="en-US" sz="1200" baseline="0" dirty="0" smtClean="0"/>
              <a:t> so triggers od </a:t>
            </a:r>
            <a:r>
              <a:rPr lang="en-US" altLang="en-US" sz="1200" baseline="0" dirty="0" err="1" smtClean="0"/>
              <a:t>naredna</a:t>
            </a:r>
            <a:r>
              <a:rPr lang="en-US" altLang="en-US" sz="1200" baseline="0" dirty="0" smtClean="0"/>
              <a:t> I se </a:t>
            </a:r>
            <a:r>
              <a:rPr lang="en-US" altLang="en-US" sz="1200" baseline="0" dirty="0" err="1" smtClean="0"/>
              <a:t>dobivaat</a:t>
            </a:r>
            <a:r>
              <a:rPr lang="en-US" altLang="en-US" sz="1200" baseline="0" dirty="0" smtClean="0"/>
              <a:t> 2 </a:t>
            </a:r>
            <a:r>
              <a:rPr lang="en-US" altLang="en-US" sz="1200" baseline="0" dirty="0" err="1" smtClean="0"/>
              <a:t>predavanja</a:t>
            </a:r>
            <a:endParaRPr lang="en-US" altLang="en-US" sz="1200" dirty="0" smtClean="0"/>
          </a:p>
          <a:p>
            <a:r>
              <a:rPr lang="en-US" altLang="en-US" dirty="0" smtClean="0">
                <a:latin typeface="Times New Roman" panose="02020603050405020304" pitchFamily="18" charset="0"/>
              </a:rPr>
              <a:t> </a:t>
            </a:r>
          </a:p>
          <a:p>
            <a:r>
              <a:rPr lang="en-US" dirty="0" smtClean="0"/>
              <a:t>In this chapter, </a:t>
            </a:r>
            <a:r>
              <a:rPr lang="en-US" i="1" dirty="0" smtClean="0"/>
              <a:t>we continue our study of SQL. We consider more complex forms of SQL queries, view definition, transactions, integrity constraints, more details regarding SQL data definition, and authorization.</a:t>
            </a:r>
            <a:endParaRPr lang="en-US" altLang="en-US" i="1"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73449113-501E-40AA-8204-F51F280D2CC8}" type="slidenum">
              <a:rPr lang="en-US" altLang="en-US" smtClean="0"/>
              <a:pPr/>
              <a:t>3</a:t>
            </a:fld>
            <a:endParaRPr lang="en-US" altLang="en-US"/>
          </a:p>
        </p:txBody>
      </p:sp>
      <p:sp>
        <p:nvSpPr>
          <p:cNvPr id="58371" name="Rectangle 2"/>
          <p:cNvSpPr>
            <a:spLocks noGrp="1" noRot="1" noChangeAspect="1" noChangeArrowheads="1" noTextEdit="1"/>
          </p:cNvSpPr>
          <p:nvPr>
            <p:ph type="sldImg"/>
          </p:nvPr>
        </p:nvSpPr>
        <p:spPr>
          <a:xfrm>
            <a:off x="1187450" y="703263"/>
            <a:ext cx="4622800" cy="3467100"/>
          </a:xfrm>
          <a:ln/>
        </p:spPr>
      </p:sp>
      <p:sp>
        <p:nvSpPr>
          <p:cNvPr id="58372" name="Rectangle 3"/>
          <p:cNvSpPr>
            <a:spLocks noGrp="1" noChangeArrowheads="1"/>
          </p:cNvSpPr>
          <p:nvPr>
            <p:ph type="body" idx="1"/>
          </p:nvPr>
        </p:nvSpPr>
        <p:spPr>
          <a:xfrm>
            <a:off x="932400" y="4410466"/>
            <a:ext cx="5132902" cy="4175934"/>
          </a:xfrm>
          <a:noFill/>
          <a:ln/>
        </p:spPr>
        <p:txBody>
          <a:bodyPr/>
          <a:lstStyle/>
          <a:p>
            <a:r>
              <a:rPr lang="en-US" b="1" dirty="0" smtClean="0"/>
              <a:t>In all of the example queries </a:t>
            </a:r>
            <a:r>
              <a:rPr lang="en-US" b="0" dirty="0" smtClean="0"/>
              <a:t>we used in Chapter 3 (except when we used set operations), </a:t>
            </a:r>
            <a:r>
              <a:rPr lang="en-US" b="1" dirty="0" smtClean="0"/>
              <a:t>we combined information from multiple relations using the Cartesian product operator. In this section, we introduce a number of “join” operations that allow the programmer to write some queries in a more natural way and to express some queries that are difficult to do with only the Cartesian product.</a:t>
            </a:r>
          </a:p>
          <a:p>
            <a:endParaRPr lang="en-US" altLang="en-US" dirty="0">
              <a:latin typeface="Times New Roman" pitchFamily="18" charset="0"/>
              <a:ea typeface="ＭＳ Ｐゴシック"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3979B905-280D-44BD-8E31-AB90F5734834}" type="slidenum">
              <a:rPr lang="en-US" altLang="en-US" smtClean="0"/>
              <a:pPr/>
              <a:t>4</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r>
              <a:rPr lang="en-US" b="1" dirty="0" smtClean="0"/>
              <a:t>Consider the following SQL query, which computes for each student the set of courses a student has taken: </a:t>
            </a:r>
          </a:p>
          <a:p>
            <a:endParaRPr lang="en-US" altLang="en-US" b="1" dirty="0" smtClean="0">
              <a:latin typeface="Times New Roman" pitchFamily="18" charset="0"/>
              <a:ea typeface="ＭＳ Ｐゴシック" pitchFamily="34" charset="-128"/>
            </a:endParaRPr>
          </a:p>
          <a:p>
            <a:endParaRPr lang="en-US" altLang="en-US" b="1" dirty="0" smtClean="0">
              <a:latin typeface="Times New Roman" pitchFamily="18" charset="0"/>
              <a:ea typeface="ＭＳ Ｐゴシック" pitchFamily="34" charset="-128"/>
            </a:endParaRPr>
          </a:p>
          <a:p>
            <a:r>
              <a:rPr lang="en-US" b="1" dirty="0" smtClean="0"/>
              <a:t>Note that this query outputs only students who have taken some course. Students who have not taken any course are not output.</a:t>
            </a:r>
          </a:p>
          <a:p>
            <a:endParaRPr lang="en-US" altLang="en-US" b="1" dirty="0" smtClean="0">
              <a:latin typeface="Times New Roman" pitchFamily="18" charset="0"/>
              <a:ea typeface="ＭＳ Ｐゴシック" pitchFamily="34" charset="-128"/>
            </a:endParaRPr>
          </a:p>
          <a:p>
            <a:endParaRPr lang="en-US" altLang="en-US" b="1" dirty="0" smtClean="0">
              <a:latin typeface="Times New Roman" pitchFamily="18" charset="0"/>
              <a:ea typeface="ＭＳ Ｐゴシック" pitchFamily="34" charset="-128"/>
            </a:endParaRPr>
          </a:p>
          <a:p>
            <a:r>
              <a:rPr lang="en-US" b="1" dirty="0" smtClean="0"/>
              <a:t>Note that in the student and takes table, the matching condition required student.ID to be equal to takes.ID. These are the only attributes in the two relations that have the same name. In fact, this is a common case; that is, the matching condition in the from clause most often requires all attributes with matching names to be equated. </a:t>
            </a:r>
          </a:p>
          <a:p>
            <a:endParaRPr lang="en-US" b="1" dirty="0" smtClean="0"/>
          </a:p>
          <a:p>
            <a:r>
              <a:rPr lang="en-US" b="1" dirty="0" smtClean="0"/>
              <a:t>To make the life of an SQL programmer easier for this common case, SQL supports an operation called the natural join, which we describe below. In fact, SQL supports several other ways in which information from two or more relations can be joined together. We have already seen how a Cartesian product along with a where clause predicate can be used to join information from multiple relations. </a:t>
            </a:r>
            <a:r>
              <a:rPr lang="en-US" b="0" dirty="0" smtClean="0"/>
              <a:t>Other ways of joining information from multiple relations are discussed in Section 4.1.2 through Section 4.1.4. </a:t>
            </a:r>
          </a:p>
          <a:p>
            <a:endParaRPr lang="en-US" b="1" dirty="0" smtClean="0"/>
          </a:p>
          <a:p>
            <a:r>
              <a:rPr lang="en-US" b="1" dirty="0" smtClean="0"/>
              <a:t>The natural join operation operates on two relations and produces a relation as the result. Unlike the Cartesian product of two relations, which concatenates each tuple of the first relation with every tuple of the second, natural join considers only those pairs of tuples with the same value on those attributes that appear in the schemas of both relations. So, going back to the example of the relations student and takes, computing: </a:t>
            </a:r>
          </a:p>
          <a:p>
            <a:r>
              <a:rPr lang="en-US" altLang="en-US" b="1" dirty="0" smtClean="0">
                <a:latin typeface="Times New Roman" pitchFamily="18" charset="0"/>
                <a:ea typeface="ＭＳ Ｐゴシック" pitchFamily="34" charset="-128"/>
              </a:rPr>
              <a:t>	</a:t>
            </a:r>
            <a:r>
              <a:rPr lang="en-US" b="1" dirty="0" smtClean="0"/>
              <a:t>student natural join takes</a:t>
            </a:r>
          </a:p>
          <a:p>
            <a:endParaRPr lang="en-US" altLang="en-US" b="1" dirty="0" smtClean="0">
              <a:latin typeface="Times New Roman" pitchFamily="18" charset="0"/>
              <a:ea typeface="ＭＳ Ｐゴシック" pitchFamily="34" charset="-128"/>
            </a:endParaRPr>
          </a:p>
          <a:p>
            <a:r>
              <a:rPr lang="en-US" b="1" dirty="0" smtClean="0"/>
              <a:t>considers only those pairs of tuples where both the tuple from student and the tuple from takes have the same value on the common attribute, ID.</a:t>
            </a:r>
          </a:p>
          <a:p>
            <a:endParaRPr lang="en-US" altLang="en-US" dirty="0" smtClean="0">
              <a:latin typeface="Times New Roman" pitchFamily="18" charset="0"/>
              <a:ea typeface="ＭＳ Ｐゴシック" pitchFamily="34" charset="-128"/>
            </a:endParaRPr>
          </a:p>
          <a:p>
            <a:endParaRPr lang="en-US" altLang="en-US" dirty="0">
              <a:latin typeface="Times New Roman" pitchFamily="18" charset="0"/>
              <a:ea typeface="ＭＳ Ｐゴシック"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3979B905-280D-44BD-8E31-AB90F5734834}" type="slidenum">
              <a:rPr lang="en-US" altLang="en-US" smtClean="0"/>
              <a:pPr/>
              <a:t>5</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r>
              <a:rPr lang="en-US" b="1" dirty="0" smtClean="0"/>
              <a:t>The result of the natural join operation is a relation. Conceptually, expression “student natural join takes” in the from clause is replaced by the relation obtained by evaluating the natural join</a:t>
            </a:r>
            <a:r>
              <a:rPr lang="en-US" b="1" dirty="0" smtClean="0"/>
              <a:t>. </a:t>
            </a:r>
            <a:r>
              <a:rPr lang="en-US" b="1" dirty="0" smtClean="0"/>
              <a:t>The where and select clauses are then evaluated on this relation, </a:t>
            </a:r>
            <a:r>
              <a:rPr lang="en-US" b="0" dirty="0" smtClean="0"/>
              <a:t>as we saw in Section 3.3.2. </a:t>
            </a:r>
          </a:p>
          <a:p>
            <a:endParaRPr lang="en-US" b="1" dirty="0" smtClean="0"/>
          </a:p>
          <a:p>
            <a:r>
              <a:rPr lang="en-US" b="1" dirty="0" smtClean="0"/>
              <a:t>A from clause in an SQL query can have multiple relations combined using natural join, as shown here:</a:t>
            </a:r>
          </a:p>
          <a:p>
            <a:endParaRPr lang="en-US" altLang="en-US" b="1" dirty="0" smtClean="0">
              <a:latin typeface="Times New Roman" pitchFamily="18" charset="0"/>
              <a:ea typeface="ＭＳ Ｐゴシック" pitchFamily="34" charset="-128"/>
            </a:endParaRPr>
          </a:p>
          <a:p>
            <a:r>
              <a:rPr lang="en-US" b="1" dirty="0" smtClean="0"/>
              <a:t>select A1, A2, …, An </a:t>
            </a:r>
          </a:p>
          <a:p>
            <a:r>
              <a:rPr lang="en-US" b="1" dirty="0" smtClean="0"/>
              <a:t>from r</a:t>
            </a:r>
            <a:r>
              <a:rPr lang="en-US" b="1" baseline="-25000" dirty="0" smtClean="0"/>
              <a:t>1 </a:t>
            </a:r>
            <a:r>
              <a:rPr lang="en-US" b="1" dirty="0" smtClean="0"/>
              <a:t>natural join r</a:t>
            </a:r>
            <a:r>
              <a:rPr lang="en-US" b="1" baseline="-25000" dirty="0" smtClean="0"/>
              <a:t>2 </a:t>
            </a:r>
            <a:r>
              <a:rPr lang="en-US" b="1" dirty="0" smtClean="0"/>
              <a:t>natural join ... natural join </a:t>
            </a:r>
            <a:r>
              <a:rPr lang="en-US" b="1" dirty="0" err="1" smtClean="0"/>
              <a:t>r</a:t>
            </a:r>
            <a:r>
              <a:rPr lang="en-US" b="1" baseline="-25000" dirty="0" err="1" smtClean="0"/>
              <a:t>m</a:t>
            </a:r>
            <a:r>
              <a:rPr lang="en-US" b="1" dirty="0" smtClean="0"/>
              <a:t> </a:t>
            </a:r>
          </a:p>
          <a:p>
            <a:r>
              <a:rPr lang="en-US" b="1" dirty="0" smtClean="0"/>
              <a:t>where P;</a:t>
            </a:r>
          </a:p>
          <a:p>
            <a:endParaRPr lang="en-US" altLang="en-US" dirty="0" smtClean="0">
              <a:latin typeface="Times New Roman" pitchFamily="18" charset="0"/>
              <a:ea typeface="ＭＳ Ｐゴシック" pitchFamily="34" charset="-128"/>
            </a:endParaRPr>
          </a:p>
          <a:p>
            <a:endParaRPr lang="en-US" altLang="en-US" dirty="0">
              <a:latin typeface="Times New Roman" pitchFamily="18" charset="0"/>
              <a:ea typeface="ＭＳ Ｐゴシック"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6</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7</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8</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3979B905-280D-44BD-8E31-AB90F5734834}" type="slidenum">
              <a:rPr lang="en-US" altLang="en-US" smtClean="0"/>
              <a:pPr/>
              <a:t>9</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r>
              <a:rPr lang="en-US" b="1" dirty="0" smtClean="0"/>
              <a:t>More generally, a from clause can be of the form</a:t>
            </a:r>
          </a:p>
          <a:p>
            <a:endParaRPr lang="en-US" b="1" dirty="0" smtClean="0"/>
          </a:p>
          <a:p>
            <a:r>
              <a:rPr lang="en-US" b="1" dirty="0" smtClean="0"/>
              <a:t>from E</a:t>
            </a:r>
            <a:r>
              <a:rPr lang="en-US" b="1" baseline="-25000" dirty="0" smtClean="0"/>
              <a:t>1</a:t>
            </a:r>
            <a:r>
              <a:rPr lang="en-US" b="1" dirty="0" smtClean="0"/>
              <a:t>, E</a:t>
            </a:r>
            <a:r>
              <a:rPr lang="en-US" b="1" baseline="-25000" dirty="0" smtClean="0"/>
              <a:t>2</a:t>
            </a:r>
            <a:r>
              <a:rPr lang="en-US" b="1" dirty="0" smtClean="0"/>
              <a:t>,..., </a:t>
            </a:r>
            <a:r>
              <a:rPr lang="en-US" b="1" dirty="0" err="1" smtClean="0"/>
              <a:t>E</a:t>
            </a:r>
            <a:r>
              <a:rPr lang="en-US" b="1" baseline="-25000" dirty="0" err="1" smtClean="0"/>
              <a:t>n</a:t>
            </a:r>
            <a:endParaRPr lang="en-US" b="1" baseline="-25000" dirty="0" smtClean="0"/>
          </a:p>
          <a:p>
            <a:endParaRPr lang="en-US" altLang="en-US" b="1" dirty="0" smtClean="0">
              <a:latin typeface="Times New Roman" pitchFamily="18" charset="0"/>
              <a:ea typeface="ＭＳ Ｐゴシック" pitchFamily="34" charset="-128"/>
            </a:endParaRPr>
          </a:p>
          <a:p>
            <a:r>
              <a:rPr lang="en-US" b="1" dirty="0" smtClean="0"/>
              <a:t>where each </a:t>
            </a:r>
            <a:r>
              <a:rPr lang="en-US" b="1" dirty="0" err="1" smtClean="0"/>
              <a:t>E</a:t>
            </a:r>
            <a:r>
              <a:rPr lang="en-US" b="1" baseline="-25000" dirty="0" err="1" smtClean="0"/>
              <a:t>i</a:t>
            </a:r>
            <a:r>
              <a:rPr lang="en-US" b="1" dirty="0" smtClean="0"/>
              <a:t> can be a single relation or an expression involving natural joins. For example, suppose we wish to answer the query “List the names of students along with the titles of courses that they have taken.” The query can be written in SQL as follows:</a:t>
            </a:r>
          </a:p>
          <a:p>
            <a:endParaRPr lang="en-US" altLang="en-US" b="1" dirty="0" smtClean="0">
              <a:latin typeface="Times New Roman" pitchFamily="18" charset="0"/>
              <a:ea typeface="ＭＳ Ｐゴシック" pitchFamily="34" charset="-128"/>
            </a:endParaRPr>
          </a:p>
          <a:p>
            <a:endParaRPr lang="en-US" altLang="en-US" b="1" dirty="0" smtClean="0">
              <a:latin typeface="Times New Roman" pitchFamily="18" charset="0"/>
              <a:ea typeface="ＭＳ Ｐゴシック" pitchFamily="34" charset="-128"/>
            </a:endParaRPr>
          </a:p>
          <a:p>
            <a:r>
              <a:rPr lang="en-US" b="1" dirty="0" smtClean="0"/>
              <a:t>The natural join of student and takes is first computed, as we saw earlier, and a Cartesian product of this result with course is computed, from which the where clause extracts only those tuples where the course identifier from the join result matches the course identifier from the course relation. Note that </a:t>
            </a:r>
            <a:r>
              <a:rPr lang="en-US" b="1" dirty="0" err="1" smtClean="0"/>
              <a:t>takes.course_id</a:t>
            </a:r>
            <a:r>
              <a:rPr lang="en-US" b="1" dirty="0" smtClean="0"/>
              <a:t> </a:t>
            </a:r>
            <a:r>
              <a:rPr lang="en-US" b="1" dirty="0" smtClean="0"/>
              <a:t>in the where clause refers to the </a:t>
            </a:r>
            <a:r>
              <a:rPr lang="en-US" b="1" dirty="0" err="1" smtClean="0"/>
              <a:t>course_id</a:t>
            </a:r>
            <a:r>
              <a:rPr lang="en-US" b="1" dirty="0" smtClean="0"/>
              <a:t> </a:t>
            </a:r>
            <a:r>
              <a:rPr lang="en-US" b="1" dirty="0" smtClean="0"/>
              <a:t>field of the natural join result, since this field, in turn, came from the takes relation</a:t>
            </a:r>
          </a:p>
          <a:p>
            <a:endParaRPr lang="en-US" altLang="en-US" b="1" dirty="0" smtClean="0">
              <a:latin typeface="Times New Roman" pitchFamily="18" charset="0"/>
              <a:ea typeface="ＭＳ Ｐゴシック" pitchFamily="34" charset="-128"/>
            </a:endParaRPr>
          </a:p>
          <a:p>
            <a:endParaRPr lang="en-US" altLang="en-US" b="1" dirty="0" smtClean="0">
              <a:latin typeface="Times New Roman" pitchFamily="18" charset="0"/>
              <a:ea typeface="ＭＳ Ｐゴシック" pitchFamily="34" charset="-128"/>
            </a:endParaRPr>
          </a:p>
          <a:p>
            <a:r>
              <a:rPr lang="en-US" b="1" dirty="0" smtClean="0"/>
              <a:t>In contrast, the following SQL query does not compute the same result:</a:t>
            </a:r>
          </a:p>
          <a:p>
            <a:endParaRPr lang="en-US" altLang="en-US" b="1" dirty="0" smtClean="0">
              <a:latin typeface="Times New Roman" pitchFamily="18" charset="0"/>
              <a:ea typeface="ＭＳ Ｐゴシック" pitchFamily="34" charset="-128"/>
            </a:endParaRPr>
          </a:p>
          <a:p>
            <a:endParaRPr lang="en-US" altLang="en-US" b="1" dirty="0" smtClean="0">
              <a:latin typeface="Times New Roman" pitchFamily="18" charset="0"/>
              <a:ea typeface="ＭＳ Ｐゴシック" pitchFamily="34" charset="-128"/>
            </a:endParaRPr>
          </a:p>
          <a:p>
            <a:r>
              <a:rPr lang="en-US" b="1" dirty="0" smtClean="0"/>
              <a:t>To see why, note that the natural join of student and takes contains the attributes (ID, name, </a:t>
            </a:r>
            <a:r>
              <a:rPr lang="en-US" b="1" dirty="0" err="1" smtClean="0"/>
              <a:t>dept_name</a:t>
            </a:r>
            <a:r>
              <a:rPr lang="en-US" b="1" dirty="0" smtClean="0"/>
              <a:t>, </a:t>
            </a:r>
            <a:r>
              <a:rPr lang="en-US" b="1" dirty="0" err="1" smtClean="0"/>
              <a:t>tot_cred</a:t>
            </a:r>
            <a:r>
              <a:rPr lang="en-US" b="1" dirty="0" smtClean="0"/>
              <a:t>, </a:t>
            </a:r>
            <a:r>
              <a:rPr lang="en-US" b="1" dirty="0" err="1" smtClean="0"/>
              <a:t>course_id</a:t>
            </a:r>
            <a:r>
              <a:rPr lang="en-US" b="1" dirty="0" smtClean="0"/>
              <a:t>, </a:t>
            </a:r>
            <a:r>
              <a:rPr lang="en-US" b="1" dirty="0" err="1" smtClean="0"/>
              <a:t>sec_id</a:t>
            </a:r>
            <a:r>
              <a:rPr lang="en-US" b="1" dirty="0" smtClean="0"/>
              <a:t>), while the course relation contains the attributes (</a:t>
            </a:r>
            <a:r>
              <a:rPr lang="en-US" b="1" dirty="0" err="1" smtClean="0"/>
              <a:t>course_id</a:t>
            </a:r>
            <a:r>
              <a:rPr lang="en-US" b="1" dirty="0" smtClean="0"/>
              <a:t>, title, </a:t>
            </a:r>
            <a:r>
              <a:rPr lang="en-US" b="1" dirty="0" err="1" smtClean="0"/>
              <a:t>dept_name</a:t>
            </a:r>
            <a:r>
              <a:rPr lang="en-US" b="1" dirty="0" smtClean="0"/>
              <a:t>, credits). As a result, the natural join would require that the </a:t>
            </a:r>
            <a:r>
              <a:rPr lang="en-US" b="1" dirty="0" err="1" smtClean="0"/>
              <a:t>dept_name</a:t>
            </a:r>
            <a:r>
              <a:rPr lang="en-US" b="1" dirty="0" smtClean="0"/>
              <a:t> attribute values from the two relations be the same in addition to requiring that the </a:t>
            </a:r>
            <a:r>
              <a:rPr lang="en-US" b="1" dirty="0" err="1" smtClean="0"/>
              <a:t>course_id</a:t>
            </a:r>
            <a:r>
              <a:rPr lang="en-US" b="1" dirty="0" smtClean="0"/>
              <a:t> values be the same. This query would then omit all (student name, course title) pairs where the student takes a course in a department other than the student’s own department. The previous query, on the other hand, correctly outputs such pairs.</a:t>
            </a:r>
          </a:p>
          <a:p>
            <a:endParaRPr lang="en-US" altLang="en-US" dirty="0" smtClean="0">
              <a:latin typeface="Times New Roman" pitchFamily="18" charset="0"/>
              <a:ea typeface="ＭＳ Ｐゴシック" pitchFamily="34" charset="-128"/>
            </a:endParaRPr>
          </a:p>
          <a:p>
            <a:endParaRPr lang="en-US" altLang="en-US" dirty="0" smtClean="0">
              <a:latin typeface="Times New Roman" pitchFamily="18" charset="0"/>
              <a:ea typeface="ＭＳ Ｐゴシック"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10</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To provide the benefit of natural join while avoiding the danger of equating attributes erroneously, SQL provides a form of the natural join construct that allows you to specify exactly which columns should be equated. This feature is illustrated by the following query:</a:t>
            </a:r>
          </a:p>
          <a:p>
            <a:endParaRPr lang="en-US" altLang="en-US" b="1" dirty="0" smtClean="0">
              <a:latin typeface="Times New Roman" pitchFamily="18" charset="0"/>
              <a:ea typeface="ＭＳ Ｐゴシック" pitchFamily="34" charset="-128"/>
            </a:endParaRPr>
          </a:p>
          <a:p>
            <a:r>
              <a:rPr lang="en-US" b="1" dirty="0" smtClean="0"/>
              <a:t>select name, title </a:t>
            </a:r>
          </a:p>
          <a:p>
            <a:r>
              <a:rPr lang="en-US" b="1" dirty="0" smtClean="0"/>
              <a:t>from (student natural join takes) join course using (course id);</a:t>
            </a:r>
            <a:endParaRPr lang="en-US" altLang="en-US" b="1" dirty="0" smtClean="0">
              <a:latin typeface="Times New Roman" pitchFamily="18" charset="0"/>
              <a:ea typeface="ＭＳ Ｐゴシック" pitchFamily="34" charset="-128"/>
            </a:endParaRPr>
          </a:p>
          <a:p>
            <a:endParaRPr lang="en-US" altLang="en-US" b="1"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b="1" dirty="0" smtClean="0"/>
              <a:t>The operation join … using requires a list of attribute names to be specified. Both relations being joined must have attributes with the specified names. </a:t>
            </a:r>
          </a:p>
          <a:p>
            <a:r>
              <a:rPr lang="en-US" b="1" dirty="0" smtClean="0"/>
              <a:t>Consider the operation r</a:t>
            </a:r>
            <a:r>
              <a:rPr lang="en-US" b="1" baseline="-20000" dirty="0" smtClean="0"/>
              <a:t>1</a:t>
            </a:r>
            <a:r>
              <a:rPr lang="en-US" b="1" dirty="0" smtClean="0"/>
              <a:t> join r</a:t>
            </a:r>
            <a:r>
              <a:rPr lang="en-US" b="1" baseline="-20000" dirty="0" smtClean="0"/>
              <a:t>2 </a:t>
            </a:r>
            <a:r>
              <a:rPr lang="en-US" b="1" dirty="0" smtClean="0"/>
              <a:t>using(A</a:t>
            </a:r>
            <a:r>
              <a:rPr lang="en-US" b="1" baseline="-20000" dirty="0" smtClean="0"/>
              <a:t>1</a:t>
            </a:r>
            <a:r>
              <a:rPr lang="en-US" b="1" dirty="0" smtClean="0"/>
              <a:t>, A</a:t>
            </a:r>
            <a:r>
              <a:rPr lang="en-US" b="1" baseline="-20000" dirty="0" smtClean="0"/>
              <a:t>2</a:t>
            </a:r>
            <a:r>
              <a:rPr lang="en-US" b="1" dirty="0" smtClean="0"/>
              <a:t>). The operation is similar to r</a:t>
            </a:r>
            <a:r>
              <a:rPr lang="en-US" b="1" baseline="-20000" dirty="0" smtClean="0"/>
              <a:t>1</a:t>
            </a:r>
            <a:r>
              <a:rPr lang="en-US" b="1" dirty="0" smtClean="0"/>
              <a:t> natural join r</a:t>
            </a:r>
            <a:r>
              <a:rPr lang="en-US" b="1" baseline="-20000" dirty="0" smtClean="0"/>
              <a:t>2</a:t>
            </a:r>
            <a:r>
              <a:rPr lang="en-US" b="1" dirty="0" smtClean="0"/>
              <a:t>, except that a pair of tuples t</a:t>
            </a:r>
            <a:r>
              <a:rPr lang="en-US" b="1" baseline="-20000" dirty="0" smtClean="0"/>
              <a:t>1 </a:t>
            </a:r>
            <a:r>
              <a:rPr lang="en-US" b="1" dirty="0" smtClean="0"/>
              <a:t>from r</a:t>
            </a:r>
            <a:r>
              <a:rPr lang="en-US" b="1" baseline="-20000" dirty="0" smtClean="0"/>
              <a:t>1</a:t>
            </a:r>
            <a:r>
              <a:rPr lang="en-US" b="1" dirty="0" smtClean="0"/>
              <a:t> and t</a:t>
            </a:r>
            <a:r>
              <a:rPr lang="en-US" b="1" baseline="-20000" dirty="0" smtClean="0"/>
              <a:t>2</a:t>
            </a:r>
            <a:r>
              <a:rPr lang="en-US" b="1" dirty="0" smtClean="0"/>
              <a:t> from r</a:t>
            </a:r>
            <a:r>
              <a:rPr lang="en-US" b="1" baseline="-20000" dirty="0" smtClean="0"/>
              <a:t>2</a:t>
            </a:r>
            <a:r>
              <a:rPr lang="en-US" b="1" dirty="0" smtClean="0"/>
              <a:t> match if t</a:t>
            </a:r>
            <a:r>
              <a:rPr lang="en-US" b="1" baseline="-20000" dirty="0" smtClean="0"/>
              <a:t>1</a:t>
            </a:r>
            <a:r>
              <a:rPr lang="en-US" b="1" dirty="0" smtClean="0"/>
              <a:t>.A</a:t>
            </a:r>
            <a:r>
              <a:rPr lang="en-US" b="1" baseline="-20000" dirty="0" smtClean="0"/>
              <a:t>1</a:t>
            </a:r>
            <a:r>
              <a:rPr lang="en-US" b="1" dirty="0" smtClean="0"/>
              <a:t> = t</a:t>
            </a:r>
            <a:r>
              <a:rPr lang="en-US" b="1" baseline="-20000" dirty="0" smtClean="0"/>
              <a:t>2</a:t>
            </a:r>
            <a:r>
              <a:rPr lang="en-US" b="1" dirty="0" smtClean="0"/>
              <a:t>.A</a:t>
            </a:r>
            <a:r>
              <a:rPr lang="en-US" b="1" baseline="-20000" dirty="0" smtClean="0"/>
              <a:t>1</a:t>
            </a:r>
            <a:r>
              <a:rPr lang="en-US" b="1" dirty="0" smtClean="0"/>
              <a:t> and t</a:t>
            </a:r>
            <a:r>
              <a:rPr lang="en-US" b="1" baseline="-20000" dirty="0" smtClean="0"/>
              <a:t>1</a:t>
            </a:r>
            <a:r>
              <a:rPr lang="en-US" b="1" dirty="0" smtClean="0"/>
              <a:t>.A</a:t>
            </a:r>
            <a:r>
              <a:rPr lang="en-US" b="1" baseline="-20000" dirty="0" smtClean="0"/>
              <a:t>2</a:t>
            </a:r>
            <a:r>
              <a:rPr lang="en-US" b="1" dirty="0" smtClean="0"/>
              <a:t> = t</a:t>
            </a:r>
            <a:r>
              <a:rPr lang="en-US" b="1" baseline="-20000" dirty="0" smtClean="0"/>
              <a:t>2</a:t>
            </a:r>
            <a:r>
              <a:rPr lang="en-US" b="1" dirty="0" smtClean="0"/>
              <a:t>.A</a:t>
            </a:r>
            <a:r>
              <a:rPr lang="en-US" b="1" baseline="-20000" dirty="0" smtClean="0"/>
              <a:t>2</a:t>
            </a:r>
            <a:r>
              <a:rPr lang="en-US" b="1" dirty="0" smtClean="0"/>
              <a:t>; even if r</a:t>
            </a:r>
            <a:r>
              <a:rPr lang="en-US" b="1" baseline="-20000" dirty="0" smtClean="0"/>
              <a:t>1</a:t>
            </a:r>
            <a:r>
              <a:rPr lang="en-US" b="1" dirty="0" smtClean="0"/>
              <a:t> and r</a:t>
            </a:r>
            <a:r>
              <a:rPr lang="en-US" b="1" baseline="-20000" dirty="0" smtClean="0"/>
              <a:t>2</a:t>
            </a:r>
            <a:r>
              <a:rPr lang="en-US" b="1" dirty="0" smtClean="0"/>
              <a:t> both have an attribute named A</a:t>
            </a:r>
            <a:r>
              <a:rPr lang="en-US" b="1" baseline="-20000" dirty="0" smtClean="0"/>
              <a:t>3</a:t>
            </a:r>
            <a:r>
              <a:rPr lang="en-US" b="1" dirty="0" smtClean="0"/>
              <a:t>, it is not required that t</a:t>
            </a:r>
            <a:r>
              <a:rPr lang="en-US" b="1" baseline="-20000" dirty="0" smtClean="0"/>
              <a:t>1</a:t>
            </a:r>
            <a:r>
              <a:rPr lang="en-US" b="1" dirty="0" smtClean="0"/>
              <a:t>.A</a:t>
            </a:r>
            <a:r>
              <a:rPr lang="en-US" b="1" baseline="-20000" dirty="0" smtClean="0"/>
              <a:t>3</a:t>
            </a:r>
            <a:r>
              <a:rPr lang="en-US" b="1" dirty="0" smtClean="0"/>
              <a:t> = t</a:t>
            </a:r>
            <a:r>
              <a:rPr lang="en-US" b="1" baseline="-20000" dirty="0" smtClean="0"/>
              <a:t>2</a:t>
            </a:r>
            <a:r>
              <a:rPr lang="en-US" b="1" dirty="0" smtClean="0"/>
              <a:t>.A</a:t>
            </a:r>
            <a:r>
              <a:rPr lang="en-US" b="1" baseline="-20000" dirty="0" smtClean="0"/>
              <a:t>3</a:t>
            </a:r>
            <a:r>
              <a:rPr lang="en-US" b="1" dirty="0" smtClean="0"/>
              <a:t>.</a:t>
            </a:r>
          </a:p>
          <a:p>
            <a:endParaRPr lang="en-US" altLang="en-US" b="1" dirty="0" smtClean="0">
              <a:latin typeface="Times New Roman" panose="02020603050405020304" pitchFamily="18" charset="0"/>
            </a:endParaRPr>
          </a:p>
          <a:p>
            <a:r>
              <a:rPr lang="en-US" altLang="en-US" b="1" dirty="0" smtClean="0">
                <a:latin typeface="Times New Roman" panose="02020603050405020304" pitchFamily="18" charset="0"/>
              </a:rPr>
              <a:t>Ne mora </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11</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dirty="0" smtClean="0"/>
              <a:t>In Section 4.1.1, </a:t>
            </a:r>
            <a:r>
              <a:rPr lang="en-US" b="1" dirty="0" smtClean="0"/>
              <a:t>we saw how to express natural joins, and we saw the join … using clause, which is a form of natural join that requires values to match only on specified attributes. SQL supports another form of join, in which an arbitrary join condition can be specified.</a:t>
            </a:r>
          </a:p>
          <a:p>
            <a:endParaRPr lang="en-US" altLang="en-US" b="1" dirty="0" smtClean="0">
              <a:latin typeface="Times New Roman" panose="02020603050405020304" pitchFamily="18" charset="0"/>
            </a:endParaRPr>
          </a:p>
          <a:p>
            <a:r>
              <a:rPr lang="en-US" b="1" dirty="0" smtClean="0"/>
              <a:t>The on condition allows a general predicate over the relations being joined. This predicate is written like a where clause predicate except for the use of the keyword on rather than where. Like the using condition, the on condition appears at the end of the join expression.</a:t>
            </a:r>
          </a:p>
          <a:p>
            <a:endParaRPr lang="en-US" altLang="en-US" b="1" dirty="0" smtClean="0">
              <a:latin typeface="Times New Roman" panose="02020603050405020304" pitchFamily="18" charset="0"/>
            </a:endParaRPr>
          </a:p>
          <a:p>
            <a:r>
              <a:rPr lang="en-US" b="1" dirty="0" smtClean="0"/>
              <a:t>Consider the following query, which has a join expression containing the on condition:</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dirty="0" smtClean="0"/>
              <a:t>select *</a:t>
            </a:r>
            <a:r>
              <a:rPr lang="en-US" sz="1200" i="1" dirty="0" smtClean="0"/>
              <a:t/>
            </a:r>
            <a:br>
              <a:rPr lang="en-US" sz="1200" i="1" dirty="0" smtClean="0"/>
            </a:br>
            <a:r>
              <a:rPr lang="en-US" sz="1200" i="1" dirty="0" smtClean="0"/>
              <a:t>     </a:t>
            </a:r>
            <a:r>
              <a:rPr lang="en-US" sz="1200" b="1" dirty="0" smtClean="0"/>
              <a:t>from  </a:t>
            </a:r>
            <a:r>
              <a:rPr lang="en-US" sz="1200" i="1" dirty="0" smtClean="0"/>
              <a:t>student </a:t>
            </a:r>
            <a:r>
              <a:rPr lang="en-US" sz="1200" b="1" dirty="0" smtClean="0"/>
              <a:t>join </a:t>
            </a:r>
            <a:r>
              <a:rPr lang="en-US" sz="1200" i="1" dirty="0" smtClean="0"/>
              <a:t>takes</a:t>
            </a:r>
            <a:r>
              <a:rPr lang="en-US" sz="1200" dirty="0" smtClean="0"/>
              <a:t> </a:t>
            </a:r>
            <a:r>
              <a:rPr lang="en-US" sz="1200" b="1" dirty="0" smtClean="0"/>
              <a:t>on </a:t>
            </a:r>
            <a:r>
              <a:rPr lang="en-US" sz="1200" i="1" dirty="0" err="1" smtClean="0"/>
              <a:t>student_ID</a:t>
            </a:r>
            <a:r>
              <a:rPr lang="en-US" sz="1200" b="1" dirty="0" smtClean="0"/>
              <a:t>  </a:t>
            </a:r>
            <a:r>
              <a:rPr lang="en-US" sz="1200" dirty="0" smtClean="0"/>
              <a:t>=</a:t>
            </a:r>
            <a:r>
              <a:rPr lang="en-US" sz="1200" b="1" dirty="0" smtClean="0"/>
              <a:t> </a:t>
            </a:r>
            <a:r>
              <a:rPr lang="en-US" sz="1200" i="1" dirty="0" err="1" smtClean="0"/>
              <a:t>takes_ID</a:t>
            </a:r>
            <a:endParaRPr lang="en-US" sz="1200" i="1" dirty="0" smtClean="0"/>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i="1" dirty="0" smtClean="0"/>
              <a:t>The on condition above specifies that a tuple from student matches a tuple from takes if their ID values are equal. The join expression in this case is almost the same as the join expression student natural join takes, since the natural join operation also requires that for a student tuple and a takes tuple to match. The one difference is that the result has the ID attribute listed twice, in the join result, once for student and once for takes, even though their ID values must be the same.</a:t>
            </a:r>
          </a:p>
          <a:p>
            <a:endParaRPr lang="en-US" altLang="en-US" b="1" i="1" dirty="0" smtClean="0">
              <a:latin typeface="Times New Roman" panose="02020603050405020304" pitchFamily="18" charset="0"/>
            </a:endParaRPr>
          </a:p>
          <a:p>
            <a:r>
              <a:rPr lang="en-US" b="1" i="1" dirty="0" smtClean="0"/>
              <a:t>In fact, the preceding query is equivalent to the following query:</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dirty="0" smtClean="0"/>
              <a:t>select *</a:t>
            </a:r>
            <a:r>
              <a:rPr lang="en-US" sz="1200" i="1" dirty="0" smtClean="0"/>
              <a:t/>
            </a:r>
            <a:br>
              <a:rPr lang="en-US" sz="1200" i="1" dirty="0" smtClean="0"/>
            </a:br>
            <a:r>
              <a:rPr lang="en-US" sz="1200" i="1" dirty="0" smtClean="0"/>
              <a:t>        </a:t>
            </a:r>
            <a:r>
              <a:rPr lang="en-US" sz="1200" b="1" dirty="0" smtClean="0"/>
              <a:t>from  </a:t>
            </a:r>
            <a:r>
              <a:rPr lang="en-US" sz="1200" i="1" dirty="0" smtClean="0"/>
              <a:t>student , takes</a:t>
            </a:r>
            <a:r>
              <a:rPr lang="en-US" sz="1200" dirty="0" smtClean="0"/>
              <a:t> </a:t>
            </a:r>
            <a:r>
              <a:rPr lang="en-US" sz="1200" i="1" dirty="0" smtClean="0"/>
              <a:t/>
            </a:r>
            <a:br>
              <a:rPr lang="en-US" sz="1200" i="1" dirty="0" smtClean="0"/>
            </a:br>
            <a:r>
              <a:rPr lang="en-US" sz="1200" i="1" dirty="0" smtClean="0"/>
              <a:t>        </a:t>
            </a:r>
            <a:r>
              <a:rPr lang="en-US" sz="1200" b="1" dirty="0" smtClean="0"/>
              <a:t>where  </a:t>
            </a:r>
            <a:r>
              <a:rPr lang="en-US" sz="1200" i="1" dirty="0" err="1" smtClean="0"/>
              <a:t>student_ID</a:t>
            </a:r>
            <a:r>
              <a:rPr lang="en-US" sz="1200" b="1" dirty="0" smtClean="0"/>
              <a:t>  </a:t>
            </a:r>
            <a:r>
              <a:rPr lang="en-US" sz="1200" dirty="0" smtClean="0"/>
              <a:t>=</a:t>
            </a:r>
            <a:r>
              <a:rPr lang="en-US" sz="1200" b="1" dirty="0" smtClean="0"/>
              <a:t> </a:t>
            </a:r>
            <a:r>
              <a:rPr lang="en-US" sz="1200" i="1" dirty="0" err="1" smtClean="0"/>
              <a:t>takes_ID</a:t>
            </a:r>
            <a:endParaRPr lang="en-US" sz="1200" dirty="0" smtClean="0"/>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12</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Da se </a:t>
            </a:r>
            <a:r>
              <a:rPr lang="en-US" b="1" dirty="0" err="1" smtClean="0"/>
              <a:t>smeni</a:t>
            </a:r>
            <a:r>
              <a:rPr lang="en-US" b="1" dirty="0" smtClean="0"/>
              <a:t> </a:t>
            </a:r>
            <a:r>
              <a:rPr lang="en-US" b="1" dirty="0" err="1" smtClean="0"/>
              <a:t>tekstot</a:t>
            </a:r>
            <a:r>
              <a:rPr lang="en-US" b="1" dirty="0" smtClean="0"/>
              <a:t> od </a:t>
            </a:r>
            <a:r>
              <a:rPr lang="en-US" b="1" dirty="0" err="1" smtClean="0"/>
              <a:t>slajdot</a:t>
            </a:r>
            <a:r>
              <a:rPr lang="en-US" b="1" baseline="0" dirty="0" smtClean="0"/>
              <a:t> </a:t>
            </a:r>
            <a:r>
              <a:rPr lang="en-US" b="1" baseline="0" dirty="0" err="1" smtClean="0"/>
              <a:t>dupli</a:t>
            </a:r>
            <a:r>
              <a:rPr lang="en-US" b="1" baseline="0" dirty="0" smtClean="0"/>
              <a:t> e</a:t>
            </a:r>
          </a:p>
          <a:p>
            <a:endParaRPr lang="en-US" dirty="0" smtClean="0"/>
          </a:p>
          <a:p>
            <a:r>
              <a:rPr lang="en-US" b="1" dirty="0" smtClean="0"/>
              <a:t>As we have seen earlier, the relation name is used to disambiguate the attribute name ID, and thus the two occurrences can be referred to as student.ID and takes.ID, </a:t>
            </a:r>
            <a:r>
              <a:rPr lang="en-US" dirty="0" smtClean="0"/>
              <a:t>respectively. </a:t>
            </a:r>
            <a:r>
              <a:rPr lang="en-US" b="1" i="1" dirty="0" smtClean="0"/>
              <a:t>A version of this query that displays the ID value only once is as follows:</a:t>
            </a:r>
          </a:p>
          <a:p>
            <a:endParaRPr lang="en-US" altLang="en-US" dirty="0" smtClean="0">
              <a:latin typeface="Times New Roman" panose="02020603050405020304" pitchFamily="18" charset="0"/>
            </a:endParaRPr>
          </a:p>
          <a:p>
            <a:pPr lvl="1"/>
            <a:r>
              <a:rPr lang="en-US" b="1" dirty="0" smtClean="0"/>
              <a:t>select</a:t>
            </a:r>
            <a:r>
              <a:rPr lang="en-US" dirty="0" smtClean="0"/>
              <a:t> student.ID </a:t>
            </a:r>
            <a:r>
              <a:rPr lang="en-US" b="1" dirty="0" smtClean="0"/>
              <a:t>as</a:t>
            </a:r>
            <a:r>
              <a:rPr lang="en-US" dirty="0" smtClean="0"/>
              <a:t> ID, name, </a:t>
            </a:r>
            <a:r>
              <a:rPr lang="en-US" dirty="0" err="1" smtClean="0"/>
              <a:t>dept_name</a:t>
            </a:r>
            <a:r>
              <a:rPr lang="en-US" dirty="0" smtClean="0"/>
              <a:t>, </a:t>
            </a:r>
            <a:r>
              <a:rPr lang="en-US" dirty="0" err="1" smtClean="0"/>
              <a:t>tot_cred</a:t>
            </a:r>
            <a:r>
              <a:rPr lang="en-US" dirty="0" smtClean="0"/>
              <a:t>, </a:t>
            </a:r>
          </a:p>
          <a:p>
            <a:pPr lvl="1"/>
            <a:r>
              <a:rPr lang="en-US" dirty="0" smtClean="0"/>
              <a:t>	</a:t>
            </a:r>
            <a:r>
              <a:rPr lang="en-US" dirty="0" err="1" smtClean="0"/>
              <a:t>course_id</a:t>
            </a:r>
            <a:r>
              <a:rPr lang="en-US" dirty="0" smtClean="0"/>
              <a:t>, </a:t>
            </a:r>
            <a:r>
              <a:rPr lang="en-US" dirty="0" err="1" smtClean="0"/>
              <a:t>sec_id</a:t>
            </a:r>
            <a:r>
              <a:rPr lang="en-US" dirty="0" smtClean="0"/>
              <a:t>, semester, year, grade </a:t>
            </a:r>
          </a:p>
          <a:p>
            <a:pPr lvl="1"/>
            <a:r>
              <a:rPr lang="en-US" b="1" dirty="0" smtClean="0"/>
              <a:t>from</a:t>
            </a:r>
            <a:r>
              <a:rPr lang="en-US" dirty="0" smtClean="0"/>
              <a:t> student</a:t>
            </a:r>
            <a:r>
              <a:rPr lang="en-US" b="1" dirty="0" smtClean="0"/>
              <a:t> join </a:t>
            </a:r>
            <a:r>
              <a:rPr lang="en-US" dirty="0" smtClean="0"/>
              <a:t>takes </a:t>
            </a:r>
            <a:r>
              <a:rPr lang="en-US" b="1" dirty="0" smtClean="0"/>
              <a:t>on</a:t>
            </a:r>
            <a:r>
              <a:rPr lang="en-US" dirty="0" smtClean="0"/>
              <a:t> student.ID = takes.ID;</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The result of this query is exactly the same as the result of the natural join of student and takes, </a:t>
            </a:r>
            <a:r>
              <a:rPr lang="en-US" b="0" dirty="0" smtClean="0"/>
              <a:t>which we showed in Figure 4.3. </a:t>
            </a:r>
          </a:p>
          <a:p>
            <a:endParaRPr lang="en-US" b="1" dirty="0" smtClean="0"/>
          </a:p>
          <a:p>
            <a:endParaRPr lang="en-US" b="1" dirty="0" smtClean="0"/>
          </a:p>
          <a:p>
            <a:r>
              <a:rPr lang="en-US" b="1" dirty="0" smtClean="0"/>
              <a:t>The on condition can express any SQL predicate, and thus join expressions using the on condition can express a richer class of join conditions than natural join. However, as illustrated by our preceding example, a query using a join expression with an on condition can be replaced by an equivalent expression without the on condition, with the predicate in the on clause moved to the where clause. Thus, it may appear that the on condition is a redundant feature of SQL.</a:t>
            </a:r>
          </a:p>
          <a:p>
            <a:endParaRPr lang="en-US" altLang="en-US" b="1" dirty="0" smtClean="0">
              <a:latin typeface="Times New Roman" panose="02020603050405020304" pitchFamily="18" charset="0"/>
            </a:endParaRPr>
          </a:p>
          <a:p>
            <a:r>
              <a:rPr lang="en-US" b="1" dirty="0" smtClean="0"/>
              <a:t>However, there are two good reasons for introducing the on condition. </a:t>
            </a:r>
            <a:endParaRPr lang="en-US" b="1" dirty="0" smtClean="0"/>
          </a:p>
          <a:p>
            <a:r>
              <a:rPr lang="en-US" b="1" dirty="0" smtClean="0"/>
              <a:t>First</a:t>
            </a:r>
            <a:r>
              <a:rPr lang="en-US" b="1" dirty="0" smtClean="0"/>
              <a:t>, we shall see shortly that for a kind of join called an outer join, on conditions do behave in a manner different from where conditions. Second, an SQL query is often more readable by humans if the join condition is specified in the on clause and the rest of the conditions appear in the where clause.</a:t>
            </a:r>
          </a:p>
          <a:p>
            <a:endParaRPr lang="en-US" altLang="en-US" b="1" dirty="0" smtClean="0">
              <a:latin typeface="Times New Roman" panose="02020603050405020304" pitchFamily="18" charset="0"/>
            </a:endParaRPr>
          </a:p>
          <a:p>
            <a:endParaRPr lang="en-US" altLang="en-US" b="1"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altLang="en-US" b="1" dirty="0" smtClean="0">
                <a:latin typeface="Times New Roman" panose="02020603050405020304" pitchFamily="18" charset="0"/>
              </a:rPr>
              <a:t>Ne mora</a:t>
            </a:r>
          </a:p>
          <a:p>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13</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Suppose we wish to display a list of all students, displaying their ID, and name, </a:t>
            </a:r>
            <a:r>
              <a:rPr lang="en-US" b="1" dirty="0" err="1" smtClean="0"/>
              <a:t>dept_name</a:t>
            </a:r>
            <a:r>
              <a:rPr lang="en-US" b="1" dirty="0" smtClean="0"/>
              <a:t>, and </a:t>
            </a:r>
            <a:r>
              <a:rPr lang="en-US" b="1" dirty="0" err="1" smtClean="0"/>
              <a:t>tot_cred</a:t>
            </a:r>
            <a:r>
              <a:rPr lang="en-US" b="1" dirty="0" smtClean="0"/>
              <a:t>, along with the courses that they have taken. The following SQL query may appear to retrieve the required information:</a:t>
            </a:r>
          </a:p>
          <a:p>
            <a:endParaRPr lang="en-US" altLang="en-US" dirty="0" smtClean="0">
              <a:latin typeface="Times New Roman" panose="02020603050405020304" pitchFamily="18" charset="0"/>
            </a:endParaRPr>
          </a:p>
          <a:p>
            <a:r>
              <a:rPr lang="en-US" b="1" dirty="0" smtClean="0"/>
              <a:t>select</a:t>
            </a:r>
            <a:r>
              <a:rPr lang="en-US" dirty="0" smtClean="0"/>
              <a:t> * </a:t>
            </a:r>
          </a:p>
          <a:p>
            <a:r>
              <a:rPr lang="en-US" b="1" dirty="0" smtClean="0"/>
              <a:t>from</a:t>
            </a:r>
            <a:r>
              <a:rPr lang="en-US" dirty="0" smtClean="0"/>
              <a:t> student </a:t>
            </a:r>
            <a:r>
              <a:rPr lang="en-US" b="1" dirty="0" smtClean="0"/>
              <a:t>natural join </a:t>
            </a:r>
            <a:r>
              <a:rPr lang="en-US" dirty="0" smtClean="0"/>
              <a:t>takes;</a:t>
            </a:r>
          </a:p>
          <a:p>
            <a:endParaRPr lang="en-US" altLang="en-US" dirty="0" smtClean="0">
              <a:latin typeface="Times New Roman" panose="02020603050405020304" pitchFamily="18" charset="0"/>
            </a:endParaRPr>
          </a:p>
          <a:p>
            <a:r>
              <a:rPr lang="en-US" b="1" dirty="0" smtClean="0"/>
              <a:t>Unfortunately, the above query does not work quite as intended. Suppose that there is some student who takes no courses. Then the tuple in the student relation for that particular student would not satisfy the condition of a natural join with any tuple in the takes relation, and that student’s data would not appear in the result. We would thus not see any information about students who have not taken any courses. For example, in the student and takes relations of Figure 4.1 and Figure 4.2, note that student Snow, with ID 70557, has not taken any courses. Snow appears in student, but Snow’s ID number does not appear in the ID column of takes. Thus, Snow does not appear in the result of the natural join.</a:t>
            </a:r>
          </a:p>
          <a:p>
            <a:r>
              <a:rPr lang="en-US" altLang="en-US" dirty="0" smtClean="0">
                <a:latin typeface="Times New Roman" panose="02020603050405020304" pitchFamily="18" charset="0"/>
              </a:rPr>
              <a:t>Snow</a:t>
            </a:r>
            <a:r>
              <a:rPr lang="en-US" altLang="en-US" baseline="0" dirty="0" smtClean="0">
                <a:latin typeface="Times New Roman" panose="02020603050405020304" pitchFamily="18" charset="0"/>
              </a:rPr>
              <a:t> Philips</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More generally, some tuples in either or both of the relations being joined may be “lost” in this way. The outer-join operation works in a manner similar to the join operations we have already studied, but it preserves those tuples that would be lost in a join by creating tuples in the result containing null values.</a:t>
            </a:r>
          </a:p>
          <a:p>
            <a:endParaRPr lang="en-US" altLang="en-US" dirty="0" smtClean="0">
              <a:latin typeface="Times New Roman" panose="02020603050405020304" pitchFamily="18" charset="0"/>
            </a:endParaRPr>
          </a:p>
          <a:p>
            <a:r>
              <a:rPr lang="en-US" b="1" i="1" dirty="0" smtClean="0"/>
              <a:t>For example, to ensure that the student named Snow from our earlier example appears in the result, a tuple could be added to the join result with all attributes from the student relation set to the corresponding values for the student Snow, and all the remaining attributes which come from the takes relation, namely, </a:t>
            </a:r>
            <a:r>
              <a:rPr lang="en-US" b="1" i="1" dirty="0" err="1" smtClean="0"/>
              <a:t>course_id</a:t>
            </a:r>
            <a:r>
              <a:rPr lang="en-US" b="1" i="1" dirty="0" smtClean="0"/>
              <a:t>, </a:t>
            </a:r>
            <a:r>
              <a:rPr lang="en-US" b="1" i="1" dirty="0" err="1" smtClean="0"/>
              <a:t>sec_id</a:t>
            </a:r>
            <a:r>
              <a:rPr lang="en-US" b="1" i="1" dirty="0" smtClean="0"/>
              <a:t>, semester, and year, set to null. Thus, the tuple for the student Snow is preserved in the result of the outer join.</a:t>
            </a:r>
          </a:p>
          <a:p>
            <a:endParaRPr lang="en-US" altLang="en-US" dirty="0" smtClean="0">
              <a:latin typeface="Times New Roman" panose="02020603050405020304" pitchFamily="18" charset="0"/>
            </a:endParaRPr>
          </a:p>
          <a:p>
            <a:r>
              <a:rPr lang="en-US" b="1" dirty="0" smtClean="0"/>
              <a:t>There are three forms of outer join: </a:t>
            </a:r>
          </a:p>
          <a:p>
            <a:pPr marL="171450" indent="-171450">
              <a:buFont typeface="Arial" panose="020B0604020202020204" pitchFamily="34" charset="0"/>
              <a:buChar char="•"/>
            </a:pPr>
            <a:r>
              <a:rPr lang="en-US" b="1" dirty="0" smtClean="0"/>
              <a:t>The left outer join preserves tuples only in the relation named before (to the left of) the left outer join operation.</a:t>
            </a:r>
          </a:p>
          <a:p>
            <a:pPr marL="171450" indent="-171450">
              <a:buFont typeface="Arial" panose="020B0604020202020204" pitchFamily="34" charset="0"/>
              <a:buChar char="•"/>
            </a:pPr>
            <a:r>
              <a:rPr lang="en-US" b="1" dirty="0" smtClean="0"/>
              <a:t>The right outer join preserves tuples only in the relation named after (to the right of) the right outer join operation. </a:t>
            </a:r>
          </a:p>
          <a:p>
            <a:pPr marL="171450" indent="-171450">
              <a:buFont typeface="Arial" panose="020B0604020202020204" pitchFamily="34" charset="0"/>
              <a:buChar char="•"/>
            </a:pPr>
            <a:r>
              <a:rPr lang="en-US" b="1" dirty="0" smtClean="0"/>
              <a:t>The full outer join preserves tuples in both relations.</a:t>
            </a:r>
            <a:endParaRPr lang="en-US" altLang="en-US" b="1"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14</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15</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now explain exactly how each form of outer join operates. We can compute the left outer-join operation as follows: First, compute the result of the inner join as before. Then, for every tuple t in the left-hand-side relation that does not match any tuple in the right-hand-side relation in the inner join, add a tuple r to the result of the join constructed as follows:</a:t>
            </a:r>
          </a:p>
          <a:p>
            <a:r>
              <a:rPr lang="en-US" b="1" dirty="0" smtClean="0"/>
              <a:t> • The attributes of tuple r that are derived from the left-hand-side relation are filled in with the values from tuple t. </a:t>
            </a:r>
          </a:p>
          <a:p>
            <a:r>
              <a:rPr lang="en-US" b="1" dirty="0" smtClean="0"/>
              <a:t>• The remaining attributes of r are filled with null values.</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u="sng" dirty="0" smtClean="0">
                <a:solidFill>
                  <a:srgbClr val="FF0000"/>
                </a:solidFill>
                <a:effectLst/>
              </a:rPr>
              <a:t>That result includes student Snow (ID 70557), unlike the result of an inner join, but the tuple for Snow includes nulls for the attributes that appear only in the schema of the takes relation.</a:t>
            </a:r>
            <a:r>
              <a:rPr lang="en-US" u="sng" baseline="0" dirty="0" smtClean="0">
                <a:solidFill>
                  <a:srgbClr val="FF0000"/>
                </a:solidFill>
                <a:effectLst/>
              </a:rPr>
              <a:t> </a:t>
            </a:r>
          </a:p>
          <a:p>
            <a:endParaRPr lang="en-US" b="1" u="sng" baseline="0" dirty="0" smtClean="0">
              <a:solidFill>
                <a:srgbClr val="FF0000"/>
              </a:solidFill>
              <a:effectLst/>
            </a:endParaRPr>
          </a:p>
          <a:p>
            <a:endParaRPr lang="en-US" b="1" u="sng" baseline="0" dirty="0" smtClean="0">
              <a:solidFill>
                <a:srgbClr val="FF0000"/>
              </a:solidFill>
              <a:effectLst/>
            </a:endParaRPr>
          </a:p>
          <a:p>
            <a:r>
              <a:rPr lang="en-US" b="1" u="sng" baseline="0" dirty="0" smtClean="0">
                <a:solidFill>
                  <a:srgbClr val="FF0000"/>
                </a:solidFill>
                <a:effectLst/>
              </a:rPr>
              <a:t>(da se </a:t>
            </a:r>
            <a:r>
              <a:rPr lang="en-US" b="1" u="sng" baseline="0" dirty="0" err="1" smtClean="0">
                <a:solidFill>
                  <a:srgbClr val="FF0000"/>
                </a:solidFill>
                <a:effectLst/>
              </a:rPr>
              <a:t>smeni</a:t>
            </a:r>
            <a:r>
              <a:rPr lang="en-US" b="1" u="sng" baseline="0" dirty="0" smtClean="0">
                <a:solidFill>
                  <a:srgbClr val="FF0000"/>
                </a:solidFill>
                <a:effectLst/>
              </a:rPr>
              <a:t> </a:t>
            </a:r>
            <a:r>
              <a:rPr lang="en-US" b="1" u="sng" baseline="0" dirty="0" err="1" smtClean="0">
                <a:solidFill>
                  <a:srgbClr val="FF0000"/>
                </a:solidFill>
                <a:effectLst/>
              </a:rPr>
              <a:t>samo</a:t>
            </a:r>
            <a:r>
              <a:rPr lang="en-US" b="1" u="sng" baseline="0" dirty="0" smtClean="0">
                <a:solidFill>
                  <a:srgbClr val="FF0000"/>
                </a:solidFill>
                <a:effectLst/>
              </a:rPr>
              <a:t> ID….)</a:t>
            </a:r>
            <a:endParaRPr lang="en-US" altLang="en-US" b="1" u="sng" dirty="0" smtClean="0">
              <a:solidFill>
                <a:srgbClr val="FF0000"/>
              </a:solidFill>
              <a:effectLst/>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16</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right outer join is symmetric to the left outer join. Tuples from the right-</a:t>
            </a:r>
            <a:r>
              <a:rPr lang="en-US" b="1" dirty="0" err="1" smtClean="0"/>
              <a:t>handside</a:t>
            </a:r>
            <a:r>
              <a:rPr lang="en-US" b="1" dirty="0" smtClean="0"/>
              <a:t> relation that do not match any tuple in the left-hand-side relation are padded with nulls and are added to the result of the right outer join. Thus, if we rewrite the preceding query using a right outer join and swapping the order in which we list the relations as follows:</a:t>
            </a:r>
          </a:p>
          <a:p>
            <a:endParaRPr lang="en-US" altLang="en-US" b="1"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b="1" dirty="0" smtClean="0"/>
              <a:t>we get the same result except for the order in which the attributes appear in the result (see Figure 4.5).</a:t>
            </a:r>
            <a:endParaRPr lang="en-US" altLang="en-US" b="1" dirty="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17</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full outer join is a combination of the left and right outer-join types. After the operation computes the result of the inner join, it extends with nulls those tuples from the left-hand-side relation that did not match with any from the right-hand-side relation and adds them to the result. Similarly, it extends with nulls those tuples from the right hand-side relation that did not match with any tuples from the left-hand-side relation and adds them to the result. Said differently, full outer join is the union of a left outer join and the corresponding right outer join.</a:t>
            </a:r>
          </a:p>
          <a:p>
            <a:endParaRPr lang="en-US" b="1" dirty="0" smtClean="0"/>
          </a:p>
          <a:p>
            <a:endParaRPr lang="en-US" b="1" dirty="0" smtClean="0"/>
          </a:p>
          <a:p>
            <a:endParaRPr lang="en-US" b="1" i="1" dirty="0" smtClean="0"/>
          </a:p>
          <a:p>
            <a:r>
              <a:rPr lang="en-US" i="1" dirty="0" smtClean="0"/>
              <a:t>As an example of the use of full outer join, consider the following query: “Display a list of all students in the Comp. Sci. department, along with the course sections, if any, that they have taken in Spring 2017; all course sections from Spring 2017 must be displayed, even if no student from the Comp. Sci. department has taken the course section.” This query can be written as:</a:t>
            </a:r>
            <a:endParaRPr lang="en-US" b="1" i="1" dirty="0" smtClean="0"/>
          </a:p>
          <a:p>
            <a:endParaRPr lang="en-US" altLang="en-US" dirty="0" smtClean="0">
              <a:latin typeface="Times New Roman" panose="02020603050405020304" pitchFamily="18" charset="0"/>
            </a:endParaRPr>
          </a:p>
          <a:p>
            <a:r>
              <a:rPr lang="en-US" b="1" dirty="0" smtClean="0"/>
              <a:t>select * </a:t>
            </a:r>
          </a:p>
          <a:p>
            <a:r>
              <a:rPr lang="en-US" b="1" dirty="0" smtClean="0"/>
              <a:t>from (select * </a:t>
            </a:r>
          </a:p>
          <a:p>
            <a:r>
              <a:rPr lang="en-US" b="1" baseline="0" dirty="0" smtClean="0"/>
              <a:t>       </a:t>
            </a:r>
            <a:r>
              <a:rPr lang="en-US" b="1" dirty="0" smtClean="0"/>
              <a:t>from</a:t>
            </a:r>
            <a:r>
              <a:rPr lang="en-US" dirty="0" smtClean="0"/>
              <a:t> </a:t>
            </a:r>
            <a:r>
              <a:rPr lang="en-US" i="1" dirty="0" smtClean="0"/>
              <a:t>student </a:t>
            </a:r>
          </a:p>
          <a:p>
            <a:r>
              <a:rPr lang="en-US" b="1" dirty="0" smtClean="0"/>
              <a:t>       where</a:t>
            </a:r>
            <a:r>
              <a:rPr lang="en-US" dirty="0" smtClean="0"/>
              <a:t> </a:t>
            </a:r>
            <a:r>
              <a:rPr lang="en-US" i="1" dirty="0" err="1" smtClean="0"/>
              <a:t>dept_name</a:t>
            </a:r>
            <a:r>
              <a:rPr lang="en-US" dirty="0" smtClean="0"/>
              <a:t> = 'Comp. Sci.') </a:t>
            </a:r>
          </a:p>
          <a:p>
            <a:r>
              <a:rPr lang="en-US" b="1" dirty="0" smtClean="0"/>
              <a:t>       natural full outer join </a:t>
            </a:r>
          </a:p>
          <a:p>
            <a:r>
              <a:rPr lang="en-US" dirty="0" smtClean="0"/>
              <a:t>       (</a:t>
            </a:r>
            <a:r>
              <a:rPr lang="en-US" b="1" dirty="0" smtClean="0"/>
              <a:t>select * </a:t>
            </a:r>
          </a:p>
          <a:p>
            <a:r>
              <a:rPr lang="en-US" b="1" dirty="0" smtClean="0"/>
              <a:t>       from</a:t>
            </a:r>
            <a:r>
              <a:rPr lang="en-US" dirty="0" smtClean="0"/>
              <a:t> </a:t>
            </a:r>
            <a:r>
              <a:rPr lang="en-US" i="1" dirty="0" smtClean="0"/>
              <a:t>takes </a:t>
            </a:r>
          </a:p>
          <a:p>
            <a:r>
              <a:rPr lang="en-US" b="1" dirty="0" smtClean="0"/>
              <a:t>       where</a:t>
            </a:r>
            <a:r>
              <a:rPr lang="en-US" dirty="0" smtClean="0"/>
              <a:t> </a:t>
            </a:r>
            <a:r>
              <a:rPr lang="en-US" i="1" dirty="0" smtClean="0"/>
              <a:t>semester</a:t>
            </a:r>
            <a:r>
              <a:rPr lang="en-US" dirty="0" smtClean="0"/>
              <a:t> = 'Spring' and </a:t>
            </a:r>
            <a:r>
              <a:rPr lang="en-US" i="1" dirty="0" smtClean="0"/>
              <a:t>year </a:t>
            </a:r>
            <a:r>
              <a:rPr lang="en-US" dirty="0" smtClean="0"/>
              <a:t>= 2017);</a:t>
            </a: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EE474B3-6199-4C51-85D8-10EAF40AA925}" type="slidenum">
              <a:rPr lang="en-US" altLang="en-US" sz="1200"/>
              <a:pPr/>
              <a:t>18</a:t>
            </a:fld>
            <a:endParaRPr lang="en-US" altLang="en-US" sz="1200"/>
          </a:p>
        </p:txBody>
      </p:sp>
      <p:sp>
        <p:nvSpPr>
          <p:cNvPr id="32771" name="Rectangle 2"/>
          <p:cNvSpPr>
            <a:spLocks noGrp="1" noRot="1" noChangeAspect="1" noChangeArrowheads="1" noTextEdit="1"/>
          </p:cNvSpPr>
          <p:nvPr>
            <p:ph type="sldImg"/>
          </p:nvPr>
        </p:nvSpPr>
        <p:spPr>
          <a:xfrm>
            <a:off x="1187450" y="703263"/>
            <a:ext cx="4622800" cy="3467100"/>
          </a:xfrm>
          <a:ln/>
        </p:spPr>
      </p:sp>
      <p:sp>
        <p:nvSpPr>
          <p:cNvPr id="32772"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To distinguish normal joins from outer joins, normal joins are called inner joins in SQL. A join clause can thus specify inner join instead of outer join to specify that a normal join is to be used. The keyword inner is, however, optional. The default join type, when the join clause is used without the outer prefix, is the inner join. Thus,</a:t>
            </a:r>
          </a:p>
          <a:p>
            <a:endParaRPr lang="en-US" altLang="en-US" dirty="0" smtClean="0">
              <a:latin typeface="Times New Roman" panose="02020603050405020304" pitchFamily="18" charset="0"/>
            </a:endParaRPr>
          </a:p>
          <a:p>
            <a:r>
              <a:rPr lang="en-US" dirty="0" smtClean="0"/>
              <a:t>select * </a:t>
            </a:r>
          </a:p>
          <a:p>
            <a:r>
              <a:rPr lang="en-US" dirty="0" smtClean="0"/>
              <a:t>from student join takes using (ID);</a:t>
            </a:r>
          </a:p>
          <a:p>
            <a:endParaRPr lang="en-US" altLang="en-US" dirty="0" smtClean="0">
              <a:latin typeface="Times New Roman" panose="02020603050405020304" pitchFamily="18" charset="0"/>
            </a:endParaRPr>
          </a:p>
          <a:p>
            <a:r>
              <a:rPr lang="en-US" dirty="0" smtClean="0"/>
              <a:t>is equivalent to:</a:t>
            </a:r>
          </a:p>
          <a:p>
            <a:endParaRPr lang="en-US" altLang="en-US" dirty="0" smtClean="0">
              <a:latin typeface="Times New Roman" panose="02020603050405020304" pitchFamily="18" charset="0"/>
            </a:endParaRPr>
          </a:p>
          <a:p>
            <a:r>
              <a:rPr lang="en-US" dirty="0" smtClean="0"/>
              <a:t>select * </a:t>
            </a:r>
          </a:p>
          <a:p>
            <a:r>
              <a:rPr lang="en-US" dirty="0" smtClean="0"/>
              <a:t>from student inner join takes using (ID);</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Similarly, natural join is equivalent to natural inner join. Figure 4.7 shows a full list of the various types of join that we have discussed. As can be seen from the figure, any form of join (inner, left outer, right outer, or full outer) can be combined with any join condition (natural, using, or on).</a:t>
            </a:r>
          </a:p>
          <a:p>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19</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20</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5DDB2F-C4B9-42E9-A66C-BCA14058EE6E}" type="slidenum">
              <a:rPr lang="en-US" altLang="en-US" sz="1200"/>
              <a:pPr/>
              <a:t>21</a:t>
            </a:fld>
            <a:endParaRPr lang="en-US" altLang="en-US" sz="1200"/>
          </a:p>
        </p:txBody>
      </p:sp>
      <p:sp>
        <p:nvSpPr>
          <p:cNvPr id="24579" name="Rectangle 2"/>
          <p:cNvSpPr>
            <a:spLocks noGrp="1" noRot="1" noChangeAspect="1" noChangeArrowheads="1" noTextEdit="1"/>
          </p:cNvSpPr>
          <p:nvPr>
            <p:ph type="sldImg"/>
          </p:nvPr>
        </p:nvSpPr>
        <p:spPr>
          <a:xfrm>
            <a:off x="1187450" y="703263"/>
            <a:ext cx="4622800" cy="3467100"/>
          </a:xfrm>
          <a:ln/>
        </p:spPr>
      </p:sp>
      <p:sp>
        <p:nvSpPr>
          <p:cNvPr id="24580" name="Rectangle 3"/>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ACED373-63CE-4F43-BE90-54DF58F8F5BB}" type="slidenum">
              <a:rPr lang="en-US" altLang="en-US" sz="1200"/>
              <a:pPr/>
              <a:t>22</a:t>
            </a:fld>
            <a:endParaRPr lang="en-US" altLang="en-US" sz="1200"/>
          </a:p>
        </p:txBody>
      </p:sp>
      <p:sp>
        <p:nvSpPr>
          <p:cNvPr id="91139" name="Rectangle 2"/>
          <p:cNvSpPr>
            <a:spLocks noGrp="1" noRot="1" noChangeAspect="1" noChangeArrowheads="1" noTextEdit="1"/>
          </p:cNvSpPr>
          <p:nvPr>
            <p:ph type="sldImg"/>
          </p:nvPr>
        </p:nvSpPr>
        <p:spPr>
          <a:xfrm>
            <a:off x="1177925" y="695325"/>
            <a:ext cx="4641850" cy="3481388"/>
          </a:xfrm>
          <a:ln/>
        </p:spPr>
      </p:sp>
      <p:sp>
        <p:nvSpPr>
          <p:cNvPr id="91140"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47558" y="1093788"/>
            <a:ext cx="7728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4"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4.</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Rectangle 2"/>
          <p:cNvSpPr>
            <a:spLocks noGrp="1" noChangeArrowheads="1"/>
          </p:cNvSpPr>
          <p:nvPr>
            <p:ph type="ctrTitle"/>
          </p:nvPr>
        </p:nvSpPr>
        <p:spPr/>
        <p:txBody>
          <a:bodyPr/>
          <a:lstStyle/>
          <a:p>
            <a:pPr>
              <a:defRPr/>
            </a:pPr>
            <a:r>
              <a:rPr lang="en-US" dirty="0" smtClean="0">
                <a:effectLst/>
              </a:rPr>
              <a:t>Advanced </a:t>
            </a:r>
            <a:r>
              <a:rPr lang="en-US" dirty="0">
                <a:effectLst/>
              </a:rPr>
              <a:t>Relational Algebra and SQL </a:t>
            </a:r>
            <a:r>
              <a:rPr lang="en-US" dirty="0" smtClean="0">
                <a:effectLst/>
              </a:rPr>
              <a:t/>
            </a:r>
            <a:br>
              <a:rPr lang="en-US" dirty="0" smtClean="0">
                <a:effectLst/>
              </a:rPr>
            </a:br>
            <a:r>
              <a:rPr lang="en-US" dirty="0" smtClean="0">
                <a:effectLst/>
              </a:rPr>
              <a:t>JOIN </a:t>
            </a:r>
            <a:r>
              <a:rPr lang="en-US" altLang="en-US" dirty="0" smtClean="0"/>
              <a:t>Expressions</a:t>
            </a:r>
            <a:endParaRPr lang="en-US" dirty="0">
              <a:effectLst>
                <a:outerShdw blurRad="38100" dist="38100" dir="2700000" algn="tl">
                  <a:srgbClr val="C0C0C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lIns="90488" tIns="44450" rIns="90488" bIns="44450" anchor="ctr"/>
          <a:lstStyle/>
          <a:p>
            <a:pPr>
              <a:defRPr/>
            </a:pPr>
            <a:r>
              <a:rPr lang="en-US" sz="2800" dirty="0">
                <a:ea typeface="+mj-ea"/>
              </a:rPr>
              <a:t>Outline</a:t>
            </a:r>
          </a:p>
        </p:txBody>
      </p:sp>
      <p:sp>
        <p:nvSpPr>
          <p:cNvPr id="17411" name="Rectangle 3"/>
          <p:cNvSpPr>
            <a:spLocks noGrp="1" noChangeArrowheads="1"/>
          </p:cNvSpPr>
          <p:nvPr>
            <p:ph type="body" idx="1"/>
          </p:nvPr>
        </p:nvSpPr>
        <p:spPr>
          <a:xfrm>
            <a:off x="768351" y="1104900"/>
            <a:ext cx="6587800" cy="4135840"/>
          </a:xfrm>
          <a:noFill/>
        </p:spPr>
        <p:txBody>
          <a:bodyPr lIns="90488" tIns="44450" rIns="90488" bIns="44450"/>
          <a:lstStyle/>
          <a:p>
            <a:r>
              <a:rPr lang="en-US" altLang="en-US" sz="1700" dirty="0"/>
              <a:t>Join  </a:t>
            </a:r>
            <a:r>
              <a:rPr lang="en-US" altLang="en-US" sz="1700" dirty="0" smtClean="0"/>
              <a:t>Expressions</a:t>
            </a:r>
            <a:endParaRPr lang="en-US" altLang="en-US" sz="17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pPr>
              <a:defRPr/>
            </a:pPr>
            <a:r>
              <a:rPr lang="en-US" sz="2800" dirty="0">
                <a:ea typeface="+mj-ea"/>
              </a:rPr>
              <a:t>Joined Relations</a:t>
            </a:r>
          </a:p>
        </p:txBody>
      </p:sp>
      <p:sp>
        <p:nvSpPr>
          <p:cNvPr id="6147" name="Rectangle 3"/>
          <p:cNvSpPr>
            <a:spLocks noGrp="1" noChangeArrowheads="1"/>
          </p:cNvSpPr>
          <p:nvPr>
            <p:ph type="body" idx="1"/>
          </p:nvPr>
        </p:nvSpPr>
        <p:spPr>
          <a:xfrm>
            <a:off x="768349" y="1194843"/>
            <a:ext cx="7585537" cy="4548187"/>
          </a:xfrm>
        </p:spPr>
        <p:txBody>
          <a:bodyPr/>
          <a:lstStyle/>
          <a:p>
            <a:r>
              <a:rPr lang="en-US" altLang="en-US" sz="1700" b="1" dirty="0">
                <a:solidFill>
                  <a:srgbClr val="002060"/>
                </a:solidFill>
                <a:ea typeface="ＭＳ Ｐゴシック" pitchFamily="34" charset="-128"/>
              </a:rPr>
              <a:t>Join operations</a:t>
            </a:r>
            <a:r>
              <a:rPr lang="en-US" altLang="en-US" sz="1700" dirty="0">
                <a:solidFill>
                  <a:srgbClr val="002060"/>
                </a:solidFill>
                <a:ea typeface="ＭＳ Ｐゴシック" pitchFamily="34" charset="-128"/>
              </a:rPr>
              <a:t> </a:t>
            </a:r>
            <a:r>
              <a:rPr lang="en-US" altLang="en-US" sz="1700" dirty="0">
                <a:ea typeface="ＭＳ Ｐゴシック" pitchFamily="34" charset="-128"/>
              </a:rPr>
              <a:t>take two relations and return as a result another relation.</a:t>
            </a:r>
          </a:p>
          <a:p>
            <a:r>
              <a:rPr lang="en-US" altLang="en-US" sz="1700" dirty="0">
                <a:ea typeface="ＭＳ Ｐゴシック" pitchFamily="34" charset="-128"/>
              </a:rPr>
              <a:t>A join operation is a Cartesian product which requires that tuples in the two relations match (under some condition).  It also specifies the attributes that are present in the result of the join </a:t>
            </a:r>
          </a:p>
          <a:p>
            <a:r>
              <a:rPr lang="en-US" altLang="en-US" sz="1700" dirty="0">
                <a:ea typeface="ＭＳ Ｐゴシック" pitchFamily="34" charset="-128"/>
              </a:rPr>
              <a:t>The join operations are typically used as subquery expressions in the </a:t>
            </a:r>
            <a:r>
              <a:rPr lang="en-US" altLang="en-US" sz="1700" b="1" dirty="0">
                <a:ea typeface="ＭＳ Ｐゴシック" pitchFamily="34" charset="-128"/>
              </a:rPr>
              <a:t>from </a:t>
            </a:r>
            <a:r>
              <a:rPr lang="en-US" altLang="en-US" sz="1700" dirty="0">
                <a:ea typeface="ＭＳ Ｐゴシック" pitchFamily="34" charset="-128"/>
              </a:rPr>
              <a:t>clause</a:t>
            </a:r>
          </a:p>
          <a:p>
            <a:r>
              <a:rPr lang="en-US" altLang="en-US" sz="1700" dirty="0">
                <a:ea typeface="ＭＳ Ｐゴシック" pitchFamily="34" charset="-128"/>
              </a:rPr>
              <a:t>Three types of joins:</a:t>
            </a:r>
          </a:p>
          <a:p>
            <a:pPr lvl="1"/>
            <a:r>
              <a:rPr lang="en-US" altLang="en-US" sz="1700" dirty="0">
                <a:ea typeface="ＭＳ Ｐゴシック" pitchFamily="34" charset="-128"/>
              </a:rPr>
              <a:t>Natural join</a:t>
            </a:r>
          </a:p>
          <a:p>
            <a:pPr lvl="1"/>
            <a:r>
              <a:rPr lang="en-US" altLang="en-US" sz="1700" dirty="0">
                <a:ea typeface="ＭＳ Ｐゴシック" pitchFamily="34" charset="-128"/>
              </a:rPr>
              <a:t>Inner join</a:t>
            </a:r>
          </a:p>
          <a:p>
            <a:pPr lvl="1"/>
            <a:r>
              <a:rPr lang="en-US" altLang="en-US" sz="1700" dirty="0">
                <a:ea typeface="ＭＳ Ｐゴシック" pitchFamily="34" charset="-128"/>
              </a:rPr>
              <a:t>Outer join</a:t>
            </a:r>
          </a:p>
          <a:p>
            <a:pPr lvl="1">
              <a:buFont typeface="Monotype Sorts" charset="2"/>
              <a:buNone/>
            </a:pPr>
            <a:endParaRPr lang="en-US" altLang="en-US" sz="2000" dirty="0">
              <a:ea typeface="ＭＳ Ｐゴシック" pitchFamily="34" charset="-128"/>
            </a:endParaRPr>
          </a:p>
          <a:p>
            <a:endParaRPr lang="en-US" altLang="en-US" dirty="0">
              <a:ea typeface="ＭＳ Ｐゴシック"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defRPr/>
            </a:pPr>
            <a:r>
              <a:rPr lang="en-US" sz="2800" dirty="0"/>
              <a:t>Natural Join in SQL</a:t>
            </a:r>
          </a:p>
        </p:txBody>
      </p:sp>
      <p:sp>
        <p:nvSpPr>
          <p:cNvPr id="7171" name="Rectangle 3"/>
          <p:cNvSpPr>
            <a:spLocks noGrp="1" noChangeArrowheads="1"/>
          </p:cNvSpPr>
          <p:nvPr>
            <p:ph type="body" idx="1"/>
          </p:nvPr>
        </p:nvSpPr>
        <p:spPr>
          <a:xfrm>
            <a:off x="768350" y="1078992"/>
            <a:ext cx="7647681" cy="4983163"/>
          </a:xfrm>
        </p:spPr>
        <p:txBody>
          <a:bodyPr/>
          <a:lstStyle/>
          <a:p>
            <a:r>
              <a:rPr lang="en-US" altLang="en-US" sz="1700" dirty="0">
                <a:ea typeface="ＭＳ Ｐゴシック" pitchFamily="34" charset="-128"/>
              </a:rPr>
              <a:t>Natural join matches tuples with the same values for all common attributes, and retains only one copy of each common column.</a:t>
            </a:r>
          </a:p>
          <a:p>
            <a:r>
              <a:rPr lang="en-US" altLang="en-US" sz="1700" dirty="0">
                <a:ea typeface="ＭＳ Ｐゴシック" pitchFamily="34" charset="-128"/>
              </a:rPr>
              <a:t>List the names of instructors along with the course ID of the courses that they taught</a:t>
            </a:r>
          </a:p>
          <a:p>
            <a:pPr lvl="1"/>
            <a:r>
              <a:rPr lang="en-US" altLang="en-US" sz="1700" b="1" dirty="0">
                <a:ea typeface="ＭＳ Ｐゴシック" pitchFamily="34" charset="-128"/>
              </a:rPr>
              <a:t>select </a:t>
            </a:r>
            <a:r>
              <a:rPr lang="en-US" altLang="en-US" sz="1700" i="1" dirty="0">
                <a:ea typeface="ＭＳ Ｐゴシック" pitchFamily="34" charset="-128"/>
              </a:rPr>
              <a:t>name</a:t>
            </a:r>
            <a:r>
              <a:rPr lang="en-US" altLang="en-US" sz="1700" dirty="0">
                <a:ea typeface="ＭＳ Ｐゴシック" pitchFamily="34" charset="-128"/>
              </a:rPr>
              <a:t>, </a:t>
            </a:r>
            <a:r>
              <a:rPr lang="en-US" altLang="en-US" sz="1700" i="1" dirty="0" err="1">
                <a:ea typeface="ＭＳ Ｐゴシック" pitchFamily="34" charset="-128"/>
              </a:rPr>
              <a:t>course_id</a:t>
            </a:r>
            <a:r>
              <a:rPr lang="en-US" altLang="en-US" sz="1700" i="1" dirty="0">
                <a:ea typeface="ＭＳ Ｐゴシック" pitchFamily="34" charset="-128"/>
              </a:rPr>
              <a:t/>
            </a:r>
            <a:br>
              <a:rPr lang="en-US" altLang="en-US" sz="1700" i="1" dirty="0">
                <a:ea typeface="ＭＳ Ｐゴシック" pitchFamily="34" charset="-128"/>
              </a:rPr>
            </a:br>
            <a:r>
              <a:rPr lang="en-US" altLang="en-US" sz="1700" b="1" dirty="0">
                <a:ea typeface="ＭＳ Ｐゴシック" pitchFamily="34" charset="-128"/>
              </a:rPr>
              <a:t>from </a:t>
            </a:r>
            <a:r>
              <a:rPr lang="en-US" altLang="en-US" sz="1700" i="1" dirty="0">
                <a:ea typeface="ＭＳ Ｐゴシック" pitchFamily="34" charset="-128"/>
              </a:rPr>
              <a:t> students, takes</a:t>
            </a:r>
            <a:br>
              <a:rPr lang="en-US" altLang="en-US" sz="1700" i="1" dirty="0">
                <a:ea typeface="ＭＳ Ｐゴシック" pitchFamily="34" charset="-128"/>
              </a:rPr>
            </a:br>
            <a:r>
              <a:rPr lang="en-US" altLang="en-US" sz="1700" b="1" dirty="0">
                <a:ea typeface="ＭＳ Ｐゴシック" pitchFamily="34" charset="-128"/>
              </a:rPr>
              <a:t>where </a:t>
            </a:r>
            <a:r>
              <a:rPr lang="en-US" altLang="en-US" sz="1700" i="1" dirty="0">
                <a:ea typeface="ＭＳ Ｐゴシック" pitchFamily="34" charset="-128"/>
              </a:rPr>
              <a:t>student.ID </a:t>
            </a:r>
            <a:r>
              <a:rPr lang="en-US" altLang="en-US" sz="1700" dirty="0">
                <a:ea typeface="ＭＳ Ｐゴシック" pitchFamily="34" charset="-128"/>
              </a:rPr>
              <a:t>= </a:t>
            </a:r>
            <a:r>
              <a:rPr lang="en-US" altLang="en-US" sz="1700" i="1" dirty="0">
                <a:ea typeface="ＭＳ Ｐゴシック" pitchFamily="34" charset="-128"/>
              </a:rPr>
              <a:t>takes.ID</a:t>
            </a:r>
            <a:r>
              <a:rPr lang="en-US" altLang="en-US" sz="1700" dirty="0">
                <a:ea typeface="ＭＳ Ｐゴシック" pitchFamily="34" charset="-128"/>
              </a:rPr>
              <a:t>;</a:t>
            </a:r>
          </a:p>
          <a:p>
            <a:r>
              <a:rPr lang="en-US" altLang="en-US" sz="1700" dirty="0">
                <a:ea typeface="ＭＳ Ｐゴシック" pitchFamily="34" charset="-128"/>
              </a:rPr>
              <a:t>Same query in SQL with “natural join” construct</a:t>
            </a:r>
          </a:p>
          <a:p>
            <a:pPr lvl="1"/>
            <a:r>
              <a:rPr lang="en-US" altLang="en-US" sz="1700" b="1" dirty="0">
                <a:ea typeface="ＭＳ Ｐゴシック" pitchFamily="34" charset="-128"/>
              </a:rPr>
              <a:t>select </a:t>
            </a:r>
            <a:r>
              <a:rPr lang="en-US" altLang="en-US" sz="1700" i="1" dirty="0">
                <a:ea typeface="ＭＳ Ｐゴシック" pitchFamily="34" charset="-128"/>
              </a:rPr>
              <a:t>name</a:t>
            </a:r>
            <a:r>
              <a:rPr lang="en-US" altLang="en-US" sz="1700" dirty="0">
                <a:ea typeface="ＭＳ Ｐゴシック" pitchFamily="34" charset="-128"/>
              </a:rPr>
              <a:t>,</a:t>
            </a:r>
            <a:r>
              <a:rPr lang="en-US" altLang="en-US" sz="1700" i="1" dirty="0">
                <a:ea typeface="ＭＳ Ｐゴシック" pitchFamily="34" charset="-128"/>
              </a:rPr>
              <a:t> </a:t>
            </a:r>
            <a:r>
              <a:rPr lang="en-US" altLang="en-US" sz="1700" i="1" dirty="0" err="1">
                <a:ea typeface="ＭＳ Ｐゴシック" pitchFamily="34" charset="-128"/>
              </a:rPr>
              <a:t>course_id</a:t>
            </a:r>
            <a:r>
              <a:rPr lang="en-US" altLang="en-US" sz="1700" i="1" dirty="0">
                <a:ea typeface="ＭＳ Ｐゴシック" pitchFamily="34" charset="-128"/>
              </a:rPr>
              <a:t/>
            </a:r>
            <a:br>
              <a:rPr lang="en-US" altLang="en-US" sz="1700" i="1" dirty="0">
                <a:ea typeface="ＭＳ Ｐゴシック" pitchFamily="34" charset="-128"/>
              </a:rPr>
            </a:br>
            <a:r>
              <a:rPr lang="en-US" altLang="en-US" sz="1700" b="1" dirty="0">
                <a:ea typeface="ＭＳ Ｐゴシック" pitchFamily="34" charset="-128"/>
              </a:rPr>
              <a:t>from </a:t>
            </a:r>
            <a:r>
              <a:rPr lang="en-US" altLang="en-US" sz="1700" i="1" dirty="0">
                <a:ea typeface="ＭＳ Ｐゴシック" pitchFamily="34" charset="-128"/>
              </a:rPr>
              <a:t>student </a:t>
            </a:r>
            <a:r>
              <a:rPr lang="en-US" altLang="en-US" sz="1700" b="1" dirty="0">
                <a:ea typeface="ＭＳ Ｐゴシック" pitchFamily="34" charset="-128"/>
              </a:rPr>
              <a:t>natural join </a:t>
            </a:r>
            <a:r>
              <a:rPr lang="en-US" altLang="en-US" sz="1700" i="1" dirty="0">
                <a:ea typeface="ＭＳ Ｐゴシック" pitchFamily="34" charset="-128"/>
              </a:rPr>
              <a:t>takes</a:t>
            </a:r>
            <a:r>
              <a:rPr lang="en-US" altLang="en-US" sz="1700" dirty="0">
                <a:ea typeface="ＭＳ Ｐゴシック" pitchFamily="34" charset="-128"/>
              </a:rPr>
              <a:t>;</a:t>
            </a:r>
          </a:p>
          <a:p>
            <a:pPr>
              <a:buFont typeface="Monotype Sorts" charset="2"/>
              <a:buNone/>
            </a:pPr>
            <a:endParaRPr lang="en-US" altLang="en-US" dirty="0">
              <a:ea typeface="ＭＳ Ｐゴシック"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defRPr/>
            </a:pPr>
            <a:r>
              <a:rPr lang="en-US" sz="2800" dirty="0"/>
              <a:t>Natural Join in SQL (Cont.)</a:t>
            </a:r>
          </a:p>
        </p:txBody>
      </p:sp>
      <p:sp>
        <p:nvSpPr>
          <p:cNvPr id="7171" name="Rectangle 3"/>
          <p:cNvSpPr>
            <a:spLocks noGrp="1" noChangeArrowheads="1"/>
          </p:cNvSpPr>
          <p:nvPr>
            <p:ph type="body" idx="1"/>
          </p:nvPr>
        </p:nvSpPr>
        <p:spPr>
          <a:xfrm>
            <a:off x="768351" y="1225297"/>
            <a:ext cx="7638802" cy="3541776"/>
          </a:xfrm>
        </p:spPr>
        <p:txBody>
          <a:bodyPr/>
          <a:lstStyle/>
          <a:p>
            <a:r>
              <a:rPr lang="en-US" altLang="en-US" sz="1700" dirty="0">
                <a:ea typeface="ＭＳ Ｐゴシック" pitchFamily="34" charset="-128"/>
              </a:rPr>
              <a:t>The </a:t>
            </a:r>
            <a:r>
              <a:rPr lang="en-US" altLang="en-US" sz="1700" b="1" dirty="0">
                <a:ea typeface="ＭＳ Ｐゴシック" pitchFamily="34" charset="-128"/>
              </a:rPr>
              <a:t>from</a:t>
            </a:r>
            <a:r>
              <a:rPr lang="en-US" altLang="en-US" sz="1700" dirty="0">
                <a:ea typeface="ＭＳ Ｐゴシック" pitchFamily="34" charset="-128"/>
              </a:rPr>
              <a:t> clause </a:t>
            </a:r>
            <a:r>
              <a:rPr lang="en-US" altLang="en-US" sz="1700" dirty="0" smtClean="0">
                <a:ea typeface="ＭＳ Ｐゴシック" pitchFamily="34" charset="-128"/>
              </a:rPr>
              <a:t>can </a:t>
            </a:r>
            <a:r>
              <a:rPr lang="en-US" altLang="en-US" sz="1700" dirty="0">
                <a:ea typeface="ＭＳ Ｐゴシック" pitchFamily="34" charset="-128"/>
              </a:rPr>
              <a:t>have multiple relations combined using natural join:</a:t>
            </a:r>
          </a:p>
          <a:p>
            <a:pPr lvl="1">
              <a:buNone/>
            </a:pPr>
            <a:r>
              <a:rPr lang="en-US" altLang="en-US" sz="1700" b="1" dirty="0">
                <a:ea typeface="ＭＳ Ｐゴシック" pitchFamily="34" charset="-128"/>
              </a:rPr>
              <a:t>     select </a:t>
            </a:r>
            <a:r>
              <a:rPr lang="en-US" altLang="en-US" sz="1700" i="1" dirty="0">
                <a:ea typeface="ＭＳ Ｐゴシック" pitchFamily="34" charset="-128"/>
              </a:rPr>
              <a:t> A</a:t>
            </a:r>
            <a:r>
              <a:rPr lang="en-US" altLang="en-US" sz="1700" i="1" baseline="-25000" dirty="0">
                <a:ea typeface="ＭＳ Ｐゴシック" pitchFamily="34" charset="-128"/>
              </a:rPr>
              <a:t>1</a:t>
            </a:r>
            <a:r>
              <a:rPr lang="en-US" altLang="en-US" sz="1700" i="1" dirty="0">
                <a:ea typeface="ＭＳ Ｐゴシック" pitchFamily="34" charset="-128"/>
              </a:rPr>
              <a:t>, A</a:t>
            </a:r>
            <a:r>
              <a:rPr lang="en-US" altLang="en-US" sz="1700" i="1" baseline="-25000" dirty="0">
                <a:ea typeface="ＭＳ Ｐゴシック" pitchFamily="34" charset="-128"/>
              </a:rPr>
              <a:t>2</a:t>
            </a:r>
            <a:r>
              <a:rPr lang="en-US" altLang="en-US" sz="1700" i="1" dirty="0">
                <a:ea typeface="ＭＳ Ｐゴシック" pitchFamily="34" charset="-128"/>
              </a:rPr>
              <a:t>, … A</a:t>
            </a:r>
            <a:r>
              <a:rPr lang="en-US" altLang="en-US" sz="1700" i="1" baseline="-25000" dirty="0">
                <a:ea typeface="ＭＳ Ｐゴシック" pitchFamily="34" charset="-128"/>
              </a:rPr>
              <a:t>n</a:t>
            </a:r>
            <a:r>
              <a:rPr lang="en-US" altLang="en-US" sz="1700" i="1" dirty="0">
                <a:ea typeface="ＭＳ Ｐゴシック" pitchFamily="34" charset="-128"/>
              </a:rPr>
              <a:t/>
            </a:r>
            <a:br>
              <a:rPr lang="en-US" altLang="en-US" sz="1700" i="1" dirty="0">
                <a:ea typeface="ＭＳ Ｐゴシック" pitchFamily="34" charset="-128"/>
              </a:rPr>
            </a:br>
            <a:r>
              <a:rPr lang="en-US" altLang="en-US" sz="1700" b="1" dirty="0">
                <a:ea typeface="ＭＳ Ｐゴシック" pitchFamily="34" charset="-128"/>
              </a:rPr>
              <a:t>from </a:t>
            </a:r>
            <a:r>
              <a:rPr lang="en-US" altLang="en-US" sz="1700" i="1" dirty="0">
                <a:ea typeface="ＭＳ Ｐゴシック" pitchFamily="34" charset="-128"/>
              </a:rPr>
              <a:t> r</a:t>
            </a:r>
            <a:r>
              <a:rPr lang="en-US" altLang="en-US" sz="1700" i="1" baseline="-25000" dirty="0">
                <a:ea typeface="ＭＳ Ｐゴシック" pitchFamily="34" charset="-128"/>
              </a:rPr>
              <a:t>1</a:t>
            </a:r>
            <a:r>
              <a:rPr lang="en-US" altLang="en-US" sz="1700" i="1" dirty="0">
                <a:ea typeface="ＭＳ Ｐゴシック" pitchFamily="34" charset="-128"/>
              </a:rPr>
              <a:t>  </a:t>
            </a:r>
            <a:r>
              <a:rPr lang="en-US" altLang="en-US" sz="1700" b="1" dirty="0">
                <a:ea typeface="ＭＳ Ｐゴシック" pitchFamily="34" charset="-128"/>
              </a:rPr>
              <a:t>natural join </a:t>
            </a:r>
            <a:r>
              <a:rPr lang="en-US" altLang="en-US" sz="1700" i="1" dirty="0">
                <a:ea typeface="ＭＳ Ｐゴシック" pitchFamily="34" charset="-128"/>
              </a:rPr>
              <a:t>r</a:t>
            </a:r>
            <a:r>
              <a:rPr lang="en-US" altLang="en-US" sz="1700" i="1" baseline="-25000" dirty="0">
                <a:ea typeface="ＭＳ Ｐゴシック" pitchFamily="34" charset="-128"/>
              </a:rPr>
              <a:t>2</a:t>
            </a:r>
            <a:r>
              <a:rPr lang="en-US" altLang="en-US" sz="1700" i="1" dirty="0">
                <a:ea typeface="ＭＳ Ｐゴシック" pitchFamily="34" charset="-128"/>
              </a:rPr>
              <a:t> </a:t>
            </a:r>
            <a:r>
              <a:rPr lang="en-US" altLang="en-US" sz="1700" b="1" dirty="0">
                <a:ea typeface="ＭＳ Ｐゴシック" pitchFamily="34" charset="-128"/>
              </a:rPr>
              <a:t>natural join </a:t>
            </a:r>
            <a:r>
              <a:rPr lang="en-US" altLang="en-US" sz="1700" b="1" i="1" dirty="0">
                <a:ea typeface="ＭＳ Ｐゴシック" pitchFamily="34" charset="-128"/>
              </a:rPr>
              <a:t>.. </a:t>
            </a:r>
            <a:r>
              <a:rPr lang="en-US" altLang="en-US" sz="1700" b="1" dirty="0">
                <a:ea typeface="ＭＳ Ｐゴシック" pitchFamily="34" charset="-128"/>
              </a:rPr>
              <a:t>natural join </a:t>
            </a:r>
            <a:r>
              <a:rPr lang="en-US" altLang="en-US" sz="1700" dirty="0" err="1">
                <a:ea typeface="ＭＳ Ｐゴシック" pitchFamily="34" charset="-128"/>
              </a:rPr>
              <a:t>r</a:t>
            </a:r>
            <a:r>
              <a:rPr lang="en-US" altLang="en-US" sz="1700" baseline="-25000" dirty="0" err="1">
                <a:ea typeface="ＭＳ Ｐゴシック" pitchFamily="34" charset="-128"/>
              </a:rPr>
              <a:t>n</a:t>
            </a:r>
            <a:r>
              <a:rPr lang="en-US" altLang="en-US" sz="1700" i="1" dirty="0">
                <a:ea typeface="ＭＳ Ｐゴシック" pitchFamily="34" charset="-128"/>
              </a:rPr>
              <a:t/>
            </a:r>
            <a:br>
              <a:rPr lang="en-US" altLang="en-US" sz="1700" i="1" dirty="0">
                <a:ea typeface="ＭＳ Ｐゴシック" pitchFamily="34" charset="-128"/>
              </a:rPr>
            </a:br>
            <a:r>
              <a:rPr lang="en-US" altLang="en-US" sz="1700" b="1" dirty="0">
                <a:ea typeface="ＭＳ Ｐゴシック" pitchFamily="34" charset="-128"/>
              </a:rPr>
              <a:t>where  </a:t>
            </a:r>
            <a:r>
              <a:rPr lang="en-US" altLang="en-US" sz="1700" i="1" dirty="0">
                <a:ea typeface="ＭＳ Ｐゴシック" pitchFamily="34" charset="-128"/>
              </a:rPr>
              <a:t>P </a:t>
            </a:r>
            <a:r>
              <a:rPr lang="en-US" altLang="en-US" sz="1700" dirty="0">
                <a:ea typeface="ＭＳ Ｐゴシック" pitchFamily="34" charset="-128"/>
              </a:rPr>
              <a:t>;</a:t>
            </a:r>
          </a:p>
          <a:p>
            <a:pPr>
              <a:buNone/>
            </a:pPr>
            <a:endParaRPr lang="en-US" altLang="en-US" sz="1700" dirty="0">
              <a:ea typeface="ＭＳ Ｐゴシック" pitchFamily="34" charset="-128"/>
            </a:endParaRPr>
          </a:p>
          <a:p>
            <a:pPr>
              <a:buFont typeface="Monotype Sorts" charset="2"/>
              <a:buNone/>
            </a:pPr>
            <a:endParaRPr lang="en-US" altLang="en-US" sz="1700" dirty="0">
              <a:ea typeface="ＭＳ Ｐゴシック"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ea typeface="+mj-ea"/>
              </a:rPr>
              <a:t>Student Relation</a:t>
            </a:r>
          </a:p>
        </p:txBody>
      </p:sp>
      <p:pic>
        <p:nvPicPr>
          <p:cNvPr id="1029" name="Picture 5" descr="W:\db-book\db7\slide-dir\Tables-Figures\EPS-PDF-JPG-dir\tables\student.jpg"/>
          <p:cNvPicPr>
            <a:picLocks noChangeAspect="1" noChangeArrowheads="1"/>
          </p:cNvPicPr>
          <p:nvPr/>
        </p:nvPicPr>
        <p:blipFill>
          <a:blip r:embed="rId3"/>
          <a:srcRect/>
          <a:stretch>
            <a:fillRect/>
          </a:stretch>
        </p:blipFill>
        <p:spPr bwMode="auto">
          <a:xfrm>
            <a:off x="2291020" y="1592317"/>
            <a:ext cx="4623768" cy="4114801"/>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ea typeface="+mj-ea"/>
              </a:rPr>
              <a:t>Takes Relation</a:t>
            </a:r>
          </a:p>
        </p:txBody>
      </p:sp>
      <p:pic>
        <p:nvPicPr>
          <p:cNvPr id="1026" name="Picture 2" descr="C:\Users\as668\Desktop\Judi-Done\4_02.jpg"/>
          <p:cNvPicPr>
            <a:picLocks noChangeAspect="1" noChangeArrowheads="1"/>
          </p:cNvPicPr>
          <p:nvPr/>
        </p:nvPicPr>
        <p:blipFill>
          <a:blip r:embed="rId3"/>
          <a:srcRect/>
          <a:stretch>
            <a:fillRect/>
          </a:stretch>
        </p:blipFill>
        <p:spPr bwMode="auto">
          <a:xfrm>
            <a:off x="2062303" y="1182414"/>
            <a:ext cx="4259678" cy="51252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b="0" i="1" dirty="0">
                <a:ea typeface="+mj-ea"/>
              </a:rPr>
              <a:t>student</a:t>
            </a:r>
            <a:r>
              <a:rPr lang="en-US" sz="2800" dirty="0">
                <a:ea typeface="+mj-ea"/>
              </a:rPr>
              <a:t> natural join </a:t>
            </a:r>
            <a:r>
              <a:rPr lang="en-US" sz="2800" b="0" i="1" dirty="0">
                <a:ea typeface="+mj-ea"/>
              </a:rPr>
              <a:t>takes</a:t>
            </a:r>
          </a:p>
        </p:txBody>
      </p:sp>
      <p:pic>
        <p:nvPicPr>
          <p:cNvPr id="2" name="Picture 2" descr="C:\Users\as668\Desktop\Judi-Done\4_03.jpg"/>
          <p:cNvPicPr>
            <a:picLocks noChangeAspect="1" noChangeArrowheads="1"/>
          </p:cNvPicPr>
          <p:nvPr/>
        </p:nvPicPr>
        <p:blipFill>
          <a:blip r:embed="rId3"/>
          <a:srcRect/>
          <a:stretch>
            <a:fillRect/>
          </a:stretch>
        </p:blipFill>
        <p:spPr bwMode="auto">
          <a:xfrm>
            <a:off x="2159865" y="1176594"/>
            <a:ext cx="5743521" cy="4771769"/>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defRPr/>
            </a:pPr>
            <a:r>
              <a:rPr lang="en-US" sz="2800" dirty="0"/>
              <a:t>Dangerous in Natural Join</a:t>
            </a:r>
          </a:p>
        </p:txBody>
      </p:sp>
      <p:sp>
        <p:nvSpPr>
          <p:cNvPr id="7171" name="Rectangle 3"/>
          <p:cNvSpPr>
            <a:spLocks noGrp="1" noChangeArrowheads="1"/>
          </p:cNvSpPr>
          <p:nvPr>
            <p:ph type="body" idx="1"/>
          </p:nvPr>
        </p:nvSpPr>
        <p:spPr>
          <a:xfrm>
            <a:off x="768351" y="1103201"/>
            <a:ext cx="7668514" cy="4944032"/>
          </a:xfrm>
        </p:spPr>
        <p:txBody>
          <a:bodyPr/>
          <a:lstStyle/>
          <a:p>
            <a:r>
              <a:rPr lang="en-US" sz="1700" dirty="0"/>
              <a:t>Beware of unrelated attributes with same name which get equated incorrectly</a:t>
            </a:r>
          </a:p>
          <a:p>
            <a:r>
              <a:rPr lang="en-US" altLang="en-US" sz="1700" dirty="0">
                <a:ea typeface="ＭＳ Ｐゴシック" pitchFamily="34" charset="-128"/>
              </a:rPr>
              <a:t> </a:t>
            </a:r>
            <a:r>
              <a:rPr lang="en-US" sz="1700" dirty="0"/>
              <a:t>Example -- List the names of students instructors along with the titles of courses that they have taken</a:t>
            </a:r>
          </a:p>
          <a:p>
            <a:pPr lvl="1"/>
            <a:r>
              <a:rPr lang="en-US" sz="1700" dirty="0"/>
              <a:t>Correct version</a:t>
            </a:r>
          </a:p>
          <a:p>
            <a:pPr lvl="1">
              <a:buNone/>
            </a:pPr>
            <a:r>
              <a:rPr lang="en-US" sz="1700" b="1" dirty="0"/>
              <a:t>           select </a:t>
            </a:r>
            <a:r>
              <a:rPr lang="en-US" sz="1700" i="1" dirty="0"/>
              <a:t>name</a:t>
            </a:r>
            <a:r>
              <a:rPr lang="en-US" sz="1700" dirty="0"/>
              <a:t>, </a:t>
            </a:r>
            <a:r>
              <a:rPr lang="en-US" sz="1700" i="1" dirty="0"/>
              <a:t>title</a:t>
            </a:r>
            <a:br>
              <a:rPr lang="en-US" sz="1700" i="1" dirty="0"/>
            </a:br>
            <a:r>
              <a:rPr lang="en-US" sz="1700" i="1" dirty="0"/>
              <a:t>       </a:t>
            </a:r>
            <a:r>
              <a:rPr lang="en-US" sz="1700" b="1" dirty="0"/>
              <a:t>from </a:t>
            </a:r>
            <a:r>
              <a:rPr lang="en-US" sz="1700" i="1" dirty="0"/>
              <a:t>student </a:t>
            </a:r>
            <a:r>
              <a:rPr lang="en-US" sz="1700" b="1" dirty="0"/>
              <a:t>natural join </a:t>
            </a:r>
            <a:r>
              <a:rPr lang="en-US" sz="1700" i="1" dirty="0"/>
              <a:t>takes</a:t>
            </a:r>
            <a:r>
              <a:rPr lang="en-US" sz="1700" dirty="0"/>
              <a:t>, </a:t>
            </a:r>
            <a:r>
              <a:rPr lang="en-US" sz="1700" i="1" dirty="0"/>
              <a:t>course</a:t>
            </a:r>
            <a:br>
              <a:rPr lang="en-US" sz="1700" i="1" dirty="0"/>
            </a:br>
            <a:r>
              <a:rPr lang="en-US" sz="1700" i="1" dirty="0"/>
              <a:t>       </a:t>
            </a:r>
            <a:r>
              <a:rPr lang="en-US" sz="1700" b="1" dirty="0"/>
              <a:t>where </a:t>
            </a:r>
            <a:r>
              <a:rPr lang="en-US" sz="1700" i="1" dirty="0" err="1"/>
              <a:t>takes</a:t>
            </a:r>
            <a:r>
              <a:rPr lang="en-US" sz="1700" dirty="0" err="1"/>
              <a:t>.</a:t>
            </a:r>
            <a:r>
              <a:rPr lang="en-US" sz="1700" i="1" dirty="0" err="1"/>
              <a:t>course_id</a:t>
            </a:r>
            <a:r>
              <a:rPr lang="en-US" sz="1700" i="1" dirty="0"/>
              <a:t> </a:t>
            </a:r>
            <a:r>
              <a:rPr lang="en-US" sz="1700" dirty="0"/>
              <a:t>= </a:t>
            </a:r>
            <a:r>
              <a:rPr lang="en-US" sz="1700" i="1" dirty="0" err="1"/>
              <a:t>course</a:t>
            </a:r>
            <a:r>
              <a:rPr lang="en-US" sz="1700" dirty="0" err="1"/>
              <a:t>.</a:t>
            </a:r>
            <a:r>
              <a:rPr lang="en-US" sz="1700" i="1" dirty="0" err="1"/>
              <a:t>course_id</a:t>
            </a:r>
            <a:r>
              <a:rPr lang="en-US" sz="1700" dirty="0"/>
              <a:t>;</a:t>
            </a:r>
          </a:p>
          <a:p>
            <a:pPr lvl="1"/>
            <a:r>
              <a:rPr lang="en-US" sz="1700" dirty="0"/>
              <a:t>Incorrect version</a:t>
            </a:r>
          </a:p>
          <a:p>
            <a:pPr lvl="2">
              <a:buFont typeface="Webdings" pitchFamily="18" charset="2"/>
              <a:buNone/>
              <a:defRPr/>
            </a:pPr>
            <a:r>
              <a:rPr lang="en-US" sz="1700" b="1" dirty="0"/>
              <a:t>       select </a:t>
            </a:r>
            <a:r>
              <a:rPr lang="en-US" sz="1700" i="1" dirty="0"/>
              <a:t>name</a:t>
            </a:r>
            <a:r>
              <a:rPr lang="en-US" sz="1700" dirty="0"/>
              <a:t>, </a:t>
            </a:r>
            <a:r>
              <a:rPr lang="en-US" sz="1700" i="1" dirty="0"/>
              <a:t>title</a:t>
            </a:r>
            <a:br>
              <a:rPr lang="en-US" sz="1700" i="1" dirty="0"/>
            </a:br>
            <a:r>
              <a:rPr lang="en-US" sz="1700" i="1" dirty="0"/>
              <a:t>   </a:t>
            </a:r>
            <a:r>
              <a:rPr lang="en-US" sz="1700" b="1" dirty="0"/>
              <a:t>from </a:t>
            </a:r>
            <a:r>
              <a:rPr lang="en-US" sz="1700" i="1" dirty="0"/>
              <a:t>student </a:t>
            </a:r>
            <a:r>
              <a:rPr lang="en-US" sz="1700" b="1" dirty="0"/>
              <a:t>natural join </a:t>
            </a:r>
            <a:r>
              <a:rPr lang="en-US" sz="1700" i="1" dirty="0"/>
              <a:t>takes </a:t>
            </a:r>
            <a:r>
              <a:rPr lang="en-US" sz="1700" b="1" dirty="0"/>
              <a:t>natural join </a:t>
            </a:r>
            <a:r>
              <a:rPr lang="en-US" sz="1700" i="1" dirty="0"/>
              <a:t>course</a:t>
            </a:r>
            <a:r>
              <a:rPr lang="en-US" sz="1700" dirty="0"/>
              <a:t>;</a:t>
            </a:r>
          </a:p>
          <a:p>
            <a:pPr lvl="2">
              <a:defRPr/>
            </a:pPr>
            <a:r>
              <a:rPr lang="en-US" sz="1700" dirty="0"/>
              <a:t>This query omits all (student name, course title) pairs where the student takes a course in a department other than the student's own department. </a:t>
            </a:r>
          </a:p>
          <a:p>
            <a:pPr lvl="2">
              <a:defRPr/>
            </a:pPr>
            <a:r>
              <a:rPr lang="en-US" sz="1700" dirty="0"/>
              <a:t>The  correct  version (above), correctly outputs such pairs.</a:t>
            </a:r>
          </a:p>
          <a:p>
            <a:pPr lvl="1"/>
            <a:endParaRPr lang="en-US" sz="1600" dirty="0"/>
          </a:p>
          <a:p>
            <a:pPr lvl="1"/>
            <a:endParaRPr lang="en-US" altLang="en-US" dirty="0">
              <a:ea typeface="ＭＳ Ｐゴシック"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sz="2800" dirty="0"/>
              <a:t>Natural Join with Using Clause</a:t>
            </a:r>
            <a:endParaRPr lang="en-US" altLang="en-US" sz="28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118175"/>
            <a:ext cx="7745334" cy="4351292"/>
          </a:xfrm>
        </p:spPr>
        <p:txBody>
          <a:bodyPr lIns="91440"/>
          <a:lstStyle/>
          <a:p>
            <a:pPr indent="-365760"/>
            <a:r>
              <a:rPr lang="en-US" sz="1700" dirty="0"/>
              <a:t>To avoid the danger of equating attributes erroneously, we can use the “</a:t>
            </a:r>
            <a:r>
              <a:rPr lang="en-US" sz="1700" b="1" dirty="0"/>
              <a:t>using</a:t>
            </a:r>
            <a:r>
              <a:rPr lang="en-US" sz="1700" dirty="0"/>
              <a:t>” construct that allows us to specify exactly which columns should be equated.</a:t>
            </a:r>
          </a:p>
          <a:p>
            <a:pPr indent="-365760"/>
            <a:r>
              <a:rPr lang="en-US" sz="1700" dirty="0"/>
              <a:t>Query example</a:t>
            </a:r>
            <a:endParaRPr lang="en-US" sz="1700" i="1" dirty="0"/>
          </a:p>
          <a:p>
            <a:pPr>
              <a:buNone/>
              <a:defRPr/>
            </a:pPr>
            <a:r>
              <a:rPr lang="en-US" sz="1700" i="1" dirty="0"/>
              <a:t>        </a:t>
            </a:r>
            <a:r>
              <a:rPr lang="en-US" sz="1700" b="1" dirty="0"/>
              <a:t>select </a:t>
            </a:r>
            <a:r>
              <a:rPr lang="en-US" sz="1700" i="1" dirty="0"/>
              <a:t>name</a:t>
            </a:r>
            <a:r>
              <a:rPr lang="en-US" sz="1700" dirty="0"/>
              <a:t>, </a:t>
            </a:r>
            <a:r>
              <a:rPr lang="en-US" sz="1700" i="1" dirty="0"/>
              <a:t>title</a:t>
            </a:r>
            <a:br>
              <a:rPr lang="en-US" sz="1700" i="1" dirty="0"/>
            </a:br>
            <a:r>
              <a:rPr lang="en-US" sz="1700" i="1" dirty="0"/>
              <a:t>   </a:t>
            </a:r>
            <a:r>
              <a:rPr lang="en-US" sz="1700" b="1" dirty="0"/>
              <a:t>from  </a:t>
            </a:r>
            <a:r>
              <a:rPr lang="en-US" sz="1700" dirty="0"/>
              <a:t>(</a:t>
            </a:r>
            <a:r>
              <a:rPr lang="en-US" sz="1700" i="1" dirty="0"/>
              <a:t>student </a:t>
            </a:r>
            <a:r>
              <a:rPr lang="en-US" sz="1700" b="1" dirty="0"/>
              <a:t>natural join </a:t>
            </a:r>
            <a:r>
              <a:rPr lang="en-US" sz="1700" i="1" dirty="0"/>
              <a:t>takes</a:t>
            </a:r>
            <a:r>
              <a:rPr lang="en-US" sz="1700" dirty="0"/>
              <a:t>) </a:t>
            </a:r>
            <a:r>
              <a:rPr lang="en-US" sz="1700" b="1" dirty="0"/>
              <a:t> join </a:t>
            </a:r>
            <a:r>
              <a:rPr lang="en-US" sz="1700" i="1" dirty="0"/>
              <a:t>course</a:t>
            </a:r>
            <a:r>
              <a:rPr lang="en-US" sz="1700" dirty="0"/>
              <a:t> </a:t>
            </a:r>
            <a:r>
              <a:rPr lang="en-US" sz="1700" b="1" dirty="0"/>
              <a:t>using </a:t>
            </a:r>
            <a:r>
              <a:rPr lang="en-US" sz="1700" dirty="0"/>
              <a:t>(</a:t>
            </a:r>
            <a:r>
              <a:rPr lang="en-US" sz="1700" i="1" dirty="0" err="1"/>
              <a:t>course_id</a:t>
            </a:r>
            <a:r>
              <a:rPr lang="en-US" sz="1700" dirty="0" smtClean="0"/>
              <a:t>)</a:t>
            </a:r>
          </a:p>
          <a:p>
            <a:pPr>
              <a:buNone/>
              <a:defRPr/>
            </a:pPr>
            <a:endParaRPr lang="en-US" dirty="0"/>
          </a:p>
          <a:p>
            <a:pPr>
              <a:buNone/>
              <a:defRPr/>
            </a:pPr>
            <a:endParaRPr lang="en-US" sz="1700" dirty="0" smtClean="0"/>
          </a:p>
          <a:p>
            <a:pPr>
              <a:buNone/>
              <a:defRPr/>
            </a:pPr>
            <a:r>
              <a:rPr lang="en-US" b="1" dirty="0"/>
              <a:t>The operation is similar to r</a:t>
            </a:r>
            <a:r>
              <a:rPr lang="en-US" b="1" baseline="-20000" dirty="0"/>
              <a:t>1</a:t>
            </a:r>
            <a:r>
              <a:rPr lang="en-US" b="1" dirty="0"/>
              <a:t> natural join r</a:t>
            </a:r>
            <a:r>
              <a:rPr lang="en-US" b="1" baseline="-20000" dirty="0"/>
              <a:t>2</a:t>
            </a:r>
            <a:r>
              <a:rPr lang="en-US" b="1" dirty="0"/>
              <a:t>, except that a pair of tuples t</a:t>
            </a:r>
            <a:r>
              <a:rPr lang="en-US" b="1" baseline="-20000" dirty="0"/>
              <a:t>1 </a:t>
            </a:r>
            <a:r>
              <a:rPr lang="en-US" b="1" dirty="0"/>
              <a:t>from r</a:t>
            </a:r>
            <a:r>
              <a:rPr lang="en-US" b="1" baseline="-20000" dirty="0"/>
              <a:t>1</a:t>
            </a:r>
            <a:r>
              <a:rPr lang="en-US" b="1" dirty="0"/>
              <a:t> and t</a:t>
            </a:r>
            <a:r>
              <a:rPr lang="en-US" b="1" baseline="-20000" dirty="0"/>
              <a:t>2</a:t>
            </a:r>
            <a:r>
              <a:rPr lang="en-US" b="1" dirty="0"/>
              <a:t> from r</a:t>
            </a:r>
            <a:r>
              <a:rPr lang="en-US" b="1" baseline="-20000" dirty="0"/>
              <a:t>2</a:t>
            </a:r>
            <a:r>
              <a:rPr lang="en-US" b="1" dirty="0"/>
              <a:t> match if t</a:t>
            </a:r>
            <a:r>
              <a:rPr lang="en-US" b="1" baseline="-20000" dirty="0"/>
              <a:t>1</a:t>
            </a:r>
            <a:r>
              <a:rPr lang="en-US" b="1" dirty="0"/>
              <a:t>.A</a:t>
            </a:r>
            <a:r>
              <a:rPr lang="en-US" b="1" baseline="-20000" dirty="0"/>
              <a:t>1</a:t>
            </a:r>
            <a:r>
              <a:rPr lang="en-US" b="1" dirty="0"/>
              <a:t> = t</a:t>
            </a:r>
            <a:r>
              <a:rPr lang="en-US" b="1" baseline="-20000" dirty="0"/>
              <a:t>2</a:t>
            </a:r>
            <a:r>
              <a:rPr lang="en-US" b="1" dirty="0"/>
              <a:t>.A</a:t>
            </a:r>
            <a:r>
              <a:rPr lang="en-US" b="1" baseline="-20000" dirty="0"/>
              <a:t>1</a:t>
            </a:r>
            <a:r>
              <a:rPr lang="en-US" b="1" dirty="0"/>
              <a:t> and t</a:t>
            </a:r>
            <a:r>
              <a:rPr lang="en-US" b="1" baseline="-20000" dirty="0"/>
              <a:t>1</a:t>
            </a:r>
            <a:r>
              <a:rPr lang="en-US" b="1" dirty="0"/>
              <a:t>.A</a:t>
            </a:r>
            <a:r>
              <a:rPr lang="en-US" b="1" baseline="-20000" dirty="0"/>
              <a:t>2</a:t>
            </a:r>
            <a:r>
              <a:rPr lang="en-US" b="1" dirty="0"/>
              <a:t> = t</a:t>
            </a:r>
            <a:r>
              <a:rPr lang="en-US" b="1" baseline="-20000" dirty="0"/>
              <a:t>2</a:t>
            </a:r>
            <a:r>
              <a:rPr lang="en-US" b="1" dirty="0"/>
              <a:t>.A</a:t>
            </a:r>
            <a:r>
              <a:rPr lang="en-US" b="1" baseline="-20000" dirty="0"/>
              <a:t>2</a:t>
            </a:r>
            <a:r>
              <a:rPr lang="en-US" b="1" dirty="0"/>
              <a:t>; even if r</a:t>
            </a:r>
            <a:r>
              <a:rPr lang="en-US" b="1" baseline="-20000" dirty="0"/>
              <a:t>1</a:t>
            </a:r>
            <a:r>
              <a:rPr lang="en-US" b="1" dirty="0"/>
              <a:t> and r</a:t>
            </a:r>
            <a:r>
              <a:rPr lang="en-US" b="1" baseline="-20000" dirty="0"/>
              <a:t>2</a:t>
            </a:r>
            <a:r>
              <a:rPr lang="en-US" b="1" dirty="0"/>
              <a:t> both have an attribute named A</a:t>
            </a:r>
            <a:r>
              <a:rPr lang="en-US" b="1" baseline="-20000" dirty="0"/>
              <a:t>3</a:t>
            </a:r>
            <a:r>
              <a:rPr lang="en-US" b="1" dirty="0"/>
              <a:t>, it is not required that t</a:t>
            </a:r>
            <a:r>
              <a:rPr lang="en-US" b="1" baseline="-20000" dirty="0"/>
              <a:t>1</a:t>
            </a:r>
            <a:r>
              <a:rPr lang="en-US" b="1" dirty="0"/>
              <a:t>.A</a:t>
            </a:r>
            <a:r>
              <a:rPr lang="en-US" b="1" baseline="-20000" dirty="0"/>
              <a:t>3</a:t>
            </a:r>
            <a:r>
              <a:rPr lang="en-US" b="1" dirty="0"/>
              <a:t> = t</a:t>
            </a:r>
            <a:r>
              <a:rPr lang="en-US" b="1" baseline="-20000" dirty="0"/>
              <a:t>2</a:t>
            </a:r>
            <a:r>
              <a:rPr lang="en-US" b="1" dirty="0"/>
              <a:t>.A</a:t>
            </a:r>
            <a:r>
              <a:rPr lang="en-US" b="1" baseline="-20000" dirty="0"/>
              <a:t>3</a:t>
            </a:r>
            <a:r>
              <a:rPr lang="en-US" b="1" dirty="0"/>
              <a:t>.</a:t>
            </a:r>
          </a:p>
          <a:p>
            <a:pPr>
              <a:buNone/>
              <a:defRPr/>
            </a:pPr>
            <a:endParaRPr lang="en-US" sz="1700"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sz="2800" dirty="0"/>
              <a:t>Join Condition</a:t>
            </a:r>
            <a:endParaRPr lang="en-US" altLang="en-US" sz="28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21047" cy="4903787"/>
          </a:xfrm>
        </p:spPr>
        <p:txBody>
          <a:bodyPr lIns="91440"/>
          <a:lstStyle/>
          <a:p>
            <a:pPr indent="-365760"/>
            <a:r>
              <a:rPr lang="en-US" sz="1700" dirty="0"/>
              <a:t>The  </a:t>
            </a:r>
            <a:r>
              <a:rPr lang="en-US" sz="1700" b="1" dirty="0"/>
              <a:t>on </a:t>
            </a:r>
            <a:r>
              <a:rPr lang="en-US" sz="1700" dirty="0"/>
              <a:t> condition allows a general predicate over the relations being  joined</a:t>
            </a:r>
          </a:p>
          <a:p>
            <a:pPr indent="-365760"/>
            <a:r>
              <a:rPr lang="en-US" sz="1700" dirty="0"/>
              <a:t>This predicate is written like a </a:t>
            </a:r>
            <a:r>
              <a:rPr lang="en-US" sz="1700" b="1" dirty="0"/>
              <a:t>where</a:t>
            </a:r>
            <a:r>
              <a:rPr lang="en-US" sz="1700" dirty="0"/>
              <a:t> clause predicate except for the use of the keyword </a:t>
            </a:r>
            <a:r>
              <a:rPr lang="en-US" sz="1700" b="1" dirty="0"/>
              <a:t>on</a:t>
            </a:r>
          </a:p>
          <a:p>
            <a:pPr indent="-365760"/>
            <a:r>
              <a:rPr lang="en-US" sz="1700" dirty="0"/>
              <a:t>Query example</a:t>
            </a:r>
            <a:endParaRPr lang="en-US" sz="1700" i="1" dirty="0"/>
          </a:p>
          <a:p>
            <a:pPr>
              <a:buNone/>
              <a:defRPr/>
            </a:pPr>
            <a:r>
              <a:rPr lang="en-US" sz="1700" b="1" dirty="0"/>
              <a:t>          select *</a:t>
            </a:r>
            <a:r>
              <a:rPr lang="en-US" sz="1700" i="1" dirty="0"/>
              <a:t/>
            </a:r>
            <a:br>
              <a:rPr lang="en-US" sz="1700" i="1" dirty="0"/>
            </a:br>
            <a:r>
              <a:rPr lang="en-US" sz="1700" i="1" dirty="0"/>
              <a:t>     </a:t>
            </a:r>
            <a:r>
              <a:rPr lang="en-US" sz="1700" b="1" dirty="0"/>
              <a:t>from  </a:t>
            </a:r>
            <a:r>
              <a:rPr lang="en-US" sz="1700" i="1" dirty="0"/>
              <a:t>student </a:t>
            </a:r>
            <a:r>
              <a:rPr lang="en-US" sz="1700" b="1" dirty="0"/>
              <a:t>join </a:t>
            </a:r>
            <a:r>
              <a:rPr lang="en-US" sz="1700" i="1" dirty="0"/>
              <a:t>takes</a:t>
            </a:r>
            <a:r>
              <a:rPr lang="en-US" sz="1700" dirty="0"/>
              <a:t> </a:t>
            </a:r>
            <a:r>
              <a:rPr lang="en-US" sz="1700" b="1" dirty="0"/>
              <a:t>on </a:t>
            </a:r>
            <a:r>
              <a:rPr lang="en-US" sz="1700" i="1" dirty="0" err="1"/>
              <a:t>student_ID</a:t>
            </a:r>
            <a:r>
              <a:rPr lang="en-US" sz="1700" b="1" dirty="0"/>
              <a:t>  </a:t>
            </a:r>
            <a:r>
              <a:rPr lang="en-US" sz="1700" dirty="0"/>
              <a:t>=</a:t>
            </a:r>
            <a:r>
              <a:rPr lang="en-US" sz="1700" b="1" dirty="0"/>
              <a:t> </a:t>
            </a:r>
            <a:r>
              <a:rPr lang="en-US" sz="1700" i="1" dirty="0" err="1"/>
              <a:t>takes_ID</a:t>
            </a:r>
            <a:endParaRPr lang="en-US" sz="1700" i="1" dirty="0"/>
          </a:p>
          <a:p>
            <a:pPr lvl="1">
              <a:defRPr/>
            </a:pPr>
            <a:r>
              <a:rPr lang="en-US" sz="1700" dirty="0"/>
              <a:t>The </a:t>
            </a:r>
            <a:r>
              <a:rPr lang="en-US" sz="1700" b="1" dirty="0"/>
              <a:t>on</a:t>
            </a:r>
            <a:r>
              <a:rPr lang="en-US" sz="1700" dirty="0"/>
              <a:t> condition above specifies that a tuple from </a:t>
            </a:r>
            <a:r>
              <a:rPr lang="en-US" sz="1700" i="1" dirty="0"/>
              <a:t>student</a:t>
            </a:r>
            <a:r>
              <a:rPr lang="en-US" sz="1700" dirty="0"/>
              <a:t> matches a tuple from </a:t>
            </a:r>
            <a:r>
              <a:rPr lang="en-US" sz="1700" i="1" dirty="0"/>
              <a:t>takes</a:t>
            </a:r>
            <a:r>
              <a:rPr lang="en-US" sz="1700" dirty="0"/>
              <a:t> if their </a:t>
            </a:r>
            <a:r>
              <a:rPr lang="en-US" sz="1700" i="1" dirty="0"/>
              <a:t>ID</a:t>
            </a:r>
            <a:r>
              <a:rPr lang="en-US" sz="1700" dirty="0"/>
              <a:t> values are equal.</a:t>
            </a:r>
          </a:p>
          <a:p>
            <a:pPr>
              <a:defRPr/>
            </a:pPr>
            <a:r>
              <a:rPr lang="en-US" sz="1700" dirty="0"/>
              <a:t>Equivalent to:</a:t>
            </a:r>
          </a:p>
          <a:p>
            <a:pPr>
              <a:buNone/>
              <a:defRPr/>
            </a:pPr>
            <a:r>
              <a:rPr lang="en-US" sz="1700" b="1" dirty="0"/>
              <a:t>             select *</a:t>
            </a:r>
            <a:r>
              <a:rPr lang="en-US" sz="1700" i="1" dirty="0"/>
              <a:t/>
            </a:r>
            <a:br>
              <a:rPr lang="en-US" sz="1700" i="1" dirty="0"/>
            </a:br>
            <a:r>
              <a:rPr lang="en-US" sz="1700" i="1" dirty="0"/>
              <a:t>        </a:t>
            </a:r>
            <a:r>
              <a:rPr lang="en-US" sz="1700" b="1" dirty="0"/>
              <a:t>from  </a:t>
            </a:r>
            <a:r>
              <a:rPr lang="en-US" sz="1700" i="1" dirty="0"/>
              <a:t>student , takes</a:t>
            </a:r>
            <a:r>
              <a:rPr lang="en-US" sz="1700" dirty="0"/>
              <a:t> </a:t>
            </a:r>
            <a:r>
              <a:rPr lang="en-US" sz="1700" i="1" dirty="0"/>
              <a:t/>
            </a:r>
            <a:br>
              <a:rPr lang="en-US" sz="1700" i="1" dirty="0"/>
            </a:br>
            <a:r>
              <a:rPr lang="en-US" sz="1700" i="1" dirty="0"/>
              <a:t>        </a:t>
            </a:r>
            <a:r>
              <a:rPr lang="en-US" sz="1700" b="1" dirty="0"/>
              <a:t>where  </a:t>
            </a:r>
            <a:r>
              <a:rPr lang="en-US" sz="1700" i="1" dirty="0" err="1"/>
              <a:t>student_ID</a:t>
            </a:r>
            <a:r>
              <a:rPr lang="en-US" sz="1700" b="1" dirty="0"/>
              <a:t>  </a:t>
            </a:r>
            <a:r>
              <a:rPr lang="en-US" sz="1700" dirty="0"/>
              <a:t>=</a:t>
            </a:r>
            <a:r>
              <a:rPr lang="en-US" sz="1700" b="1" dirty="0"/>
              <a:t> </a:t>
            </a:r>
            <a:r>
              <a:rPr lang="en-US" sz="1700" i="1" dirty="0" err="1"/>
              <a:t>takes_ID</a:t>
            </a:r>
            <a:endParaRPr lang="en-US" sz="1700" dirty="0"/>
          </a:p>
          <a:p>
            <a:pPr>
              <a:defRPr/>
            </a:pPr>
            <a:endParaRPr lang="en-US" i="1"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sz="2800" dirty="0"/>
              <a:t>Join Condition (Cont.)</a:t>
            </a:r>
            <a:endParaRPr lang="en-US" altLang="en-US" sz="28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1"/>
            <a:ext cx="7700946" cy="4685218"/>
          </a:xfrm>
        </p:spPr>
        <p:txBody>
          <a:bodyPr lIns="91440"/>
          <a:lstStyle/>
          <a:p>
            <a:pPr indent="-365760"/>
            <a:r>
              <a:rPr lang="en-US" sz="1700" dirty="0" smtClean="0"/>
              <a:t>Query example- earlier</a:t>
            </a:r>
            <a:endParaRPr lang="en-US" i="1" dirty="0"/>
          </a:p>
          <a:p>
            <a:pPr marL="0" indent="0">
              <a:buNone/>
            </a:pPr>
            <a:r>
              <a:rPr lang="en-US" b="1" i="1" dirty="0"/>
              <a:t> </a:t>
            </a:r>
            <a:r>
              <a:rPr lang="en-US" b="1" i="1" dirty="0" smtClean="0"/>
              <a:t>      </a:t>
            </a:r>
          </a:p>
          <a:p>
            <a:pPr marL="0" indent="0">
              <a:buNone/>
            </a:pPr>
            <a:r>
              <a:rPr lang="en-US" b="1" i="1" dirty="0" smtClean="0"/>
              <a:t>       </a:t>
            </a:r>
            <a:r>
              <a:rPr lang="en-US" b="1" dirty="0" smtClean="0"/>
              <a:t>select</a:t>
            </a:r>
            <a:r>
              <a:rPr lang="en-US" dirty="0" smtClean="0"/>
              <a:t> </a:t>
            </a:r>
            <a:r>
              <a:rPr lang="en-US" dirty="0"/>
              <a:t>student.ID </a:t>
            </a:r>
            <a:r>
              <a:rPr lang="en-US" b="1" dirty="0"/>
              <a:t>as</a:t>
            </a:r>
            <a:r>
              <a:rPr lang="en-US" dirty="0"/>
              <a:t> ID, name, </a:t>
            </a:r>
            <a:r>
              <a:rPr lang="en-US" dirty="0" err="1"/>
              <a:t>dept_name</a:t>
            </a:r>
            <a:r>
              <a:rPr lang="en-US" dirty="0"/>
              <a:t>, </a:t>
            </a:r>
            <a:r>
              <a:rPr lang="en-US" dirty="0" err="1"/>
              <a:t>tot_cred</a:t>
            </a:r>
            <a:r>
              <a:rPr lang="en-US" dirty="0"/>
              <a:t>, </a:t>
            </a:r>
          </a:p>
          <a:p>
            <a:pPr marL="457200" lvl="1" indent="0">
              <a:buNone/>
            </a:pPr>
            <a:r>
              <a:rPr lang="en-US" dirty="0" err="1" smtClean="0"/>
              <a:t>course_id</a:t>
            </a:r>
            <a:r>
              <a:rPr lang="en-US" dirty="0"/>
              <a:t>, </a:t>
            </a:r>
            <a:r>
              <a:rPr lang="en-US" dirty="0" err="1"/>
              <a:t>sec_id</a:t>
            </a:r>
            <a:r>
              <a:rPr lang="en-US" dirty="0"/>
              <a:t>, semester, year, grade </a:t>
            </a:r>
          </a:p>
          <a:p>
            <a:pPr marL="457200" lvl="1" indent="0">
              <a:buNone/>
            </a:pPr>
            <a:r>
              <a:rPr lang="en-US" b="1" dirty="0"/>
              <a:t>from</a:t>
            </a:r>
            <a:r>
              <a:rPr lang="en-US" dirty="0"/>
              <a:t> student</a:t>
            </a:r>
            <a:r>
              <a:rPr lang="en-US" b="1" dirty="0"/>
              <a:t> join </a:t>
            </a:r>
            <a:r>
              <a:rPr lang="en-US" dirty="0"/>
              <a:t>takes </a:t>
            </a:r>
            <a:r>
              <a:rPr lang="en-US" b="1" dirty="0"/>
              <a:t>on</a:t>
            </a:r>
            <a:r>
              <a:rPr lang="en-US" dirty="0"/>
              <a:t> student.ID = takes.ID</a:t>
            </a:r>
            <a:r>
              <a:rPr lang="en-US" dirty="0" smtClean="0"/>
              <a:t>;</a:t>
            </a:r>
            <a:endParaRPr lang="en-US" sz="1700" dirty="0" smtClean="0"/>
          </a:p>
          <a:p>
            <a:pPr>
              <a:defRPr/>
            </a:pPr>
            <a:r>
              <a:rPr lang="en-US" sz="1700" dirty="0" smtClean="0"/>
              <a:t>Equivalent </a:t>
            </a:r>
            <a:r>
              <a:rPr lang="en-US" sz="1700" dirty="0"/>
              <a:t>to:</a:t>
            </a:r>
          </a:p>
          <a:p>
            <a:pPr>
              <a:buNone/>
              <a:defRPr/>
            </a:pPr>
            <a:r>
              <a:rPr lang="en-US" sz="1700" b="1" dirty="0"/>
              <a:t>        select *</a:t>
            </a:r>
            <a:r>
              <a:rPr lang="en-US" sz="1700" i="1" dirty="0"/>
              <a:t/>
            </a:r>
            <a:br>
              <a:rPr lang="en-US" sz="1700" i="1" dirty="0"/>
            </a:br>
            <a:r>
              <a:rPr lang="en-US" sz="1700" i="1" dirty="0"/>
              <a:t>   </a:t>
            </a:r>
            <a:r>
              <a:rPr lang="en-US" sz="1700" b="1" dirty="0"/>
              <a:t>from  </a:t>
            </a:r>
            <a:r>
              <a:rPr lang="en-US" sz="1700" i="1" dirty="0"/>
              <a:t>student , takes</a:t>
            </a:r>
            <a:r>
              <a:rPr lang="en-US" sz="1700" dirty="0"/>
              <a:t> </a:t>
            </a:r>
            <a:r>
              <a:rPr lang="en-US" sz="1700" i="1" dirty="0"/>
              <a:t/>
            </a:r>
            <a:br>
              <a:rPr lang="en-US" sz="1700" i="1" dirty="0"/>
            </a:br>
            <a:r>
              <a:rPr lang="en-US" sz="1700" i="1" dirty="0"/>
              <a:t>   </a:t>
            </a:r>
            <a:r>
              <a:rPr lang="en-US" sz="1700" b="1" dirty="0"/>
              <a:t>where  </a:t>
            </a:r>
            <a:r>
              <a:rPr lang="en-US" sz="1700" i="1" dirty="0" err="1"/>
              <a:t>student_ID</a:t>
            </a:r>
            <a:r>
              <a:rPr lang="en-US" sz="1700" b="1" dirty="0"/>
              <a:t>  </a:t>
            </a:r>
            <a:r>
              <a:rPr lang="en-US" sz="1700" dirty="0"/>
              <a:t>=</a:t>
            </a:r>
            <a:r>
              <a:rPr lang="en-US" sz="1700" b="1" dirty="0"/>
              <a:t> </a:t>
            </a:r>
            <a:r>
              <a:rPr lang="en-US" sz="1700" i="1" dirty="0" err="1" smtClean="0"/>
              <a:t>takes_ID</a:t>
            </a:r>
            <a:endParaRPr lang="en-US" sz="1700" i="1" dirty="0" smtClean="0"/>
          </a:p>
          <a:p>
            <a:pPr>
              <a:defRPr/>
            </a:pPr>
            <a:r>
              <a:rPr lang="en-US" b="1" dirty="0"/>
              <a:t>two good reasons for introducing the on condition</a:t>
            </a:r>
            <a:endParaRPr lang="en-US" sz="1700" i="1" dirty="0" smtClean="0"/>
          </a:p>
          <a:p>
            <a:pPr lvl="1"/>
            <a:r>
              <a:rPr lang="en-US" dirty="0" smtClean="0"/>
              <a:t>First</a:t>
            </a:r>
            <a:r>
              <a:rPr lang="en-US" dirty="0"/>
              <a:t>, we shall see shortly that for a kind of join called an outer join, on conditions do behave in a manner different from where conditions. </a:t>
            </a:r>
            <a:endParaRPr lang="en-US" dirty="0" smtClean="0"/>
          </a:p>
          <a:p>
            <a:pPr lvl="1"/>
            <a:r>
              <a:rPr lang="en-US" dirty="0" smtClean="0"/>
              <a:t>Second</a:t>
            </a:r>
            <a:r>
              <a:rPr lang="en-US" dirty="0"/>
              <a:t>, an SQL query is often more readable by humans if the join condition is specified in the on clause and the rest of the conditions appear in the where clause.</a:t>
            </a:r>
          </a:p>
          <a:p>
            <a:endParaRPr lang="en-US" altLang="en-US" b="1" dirty="0">
              <a:latin typeface="Times New Roman" panose="02020603050405020304" pitchFamily="18" charset="0"/>
            </a:endParaRPr>
          </a:p>
          <a:p>
            <a:pPr>
              <a:buNone/>
              <a:defRPr/>
            </a:pPr>
            <a:endParaRPr lang="en-US" sz="1700" dirty="0"/>
          </a:p>
          <a:p>
            <a:pPr indent="-365760"/>
            <a:endParaRPr lang="en-US" i="1"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ea typeface="+mj-ea"/>
              </a:rPr>
              <a:t>Outer Join</a:t>
            </a:r>
          </a:p>
        </p:txBody>
      </p:sp>
      <p:sp>
        <p:nvSpPr>
          <p:cNvPr id="23555" name="Rectangle 3"/>
          <p:cNvSpPr>
            <a:spLocks noGrp="1" noChangeArrowheads="1"/>
          </p:cNvSpPr>
          <p:nvPr>
            <p:ph type="body" idx="1"/>
          </p:nvPr>
        </p:nvSpPr>
        <p:spPr>
          <a:xfrm>
            <a:off x="768350" y="1170533"/>
            <a:ext cx="7570979" cy="3779419"/>
          </a:xfrm>
        </p:spPr>
        <p:txBody>
          <a:bodyPr/>
          <a:lstStyle/>
          <a:p>
            <a:r>
              <a:rPr lang="en-US" altLang="en-US" sz="1700" dirty="0"/>
              <a:t>An extension of the join operation that avoids loss of information.</a:t>
            </a:r>
          </a:p>
          <a:p>
            <a:r>
              <a:rPr lang="en-US" altLang="en-US" sz="1700" dirty="0"/>
              <a:t>Computes the join and then adds tuples form one relation that does not match tuples in the other relation to the result of the join. </a:t>
            </a:r>
          </a:p>
          <a:p>
            <a:r>
              <a:rPr lang="en-US" altLang="en-US" sz="1700" dirty="0"/>
              <a:t>Uses </a:t>
            </a:r>
            <a:r>
              <a:rPr lang="en-US" altLang="en-US" sz="1700" i="1" dirty="0"/>
              <a:t>null</a:t>
            </a:r>
            <a:r>
              <a:rPr lang="en-US" altLang="en-US" sz="1700" dirty="0"/>
              <a:t> values.</a:t>
            </a:r>
          </a:p>
          <a:p>
            <a:r>
              <a:rPr lang="en-US" altLang="en-US" sz="1700" dirty="0"/>
              <a:t>Three forms of outer join:</a:t>
            </a:r>
          </a:p>
          <a:p>
            <a:pPr lvl="1"/>
            <a:r>
              <a:rPr lang="en-US" altLang="en-US" sz="1700" dirty="0"/>
              <a:t>left outer join</a:t>
            </a:r>
          </a:p>
          <a:p>
            <a:pPr lvl="1"/>
            <a:r>
              <a:rPr lang="en-US" altLang="en-US" sz="1700" dirty="0"/>
              <a:t>right outer join</a:t>
            </a:r>
          </a:p>
          <a:p>
            <a:pPr lvl="1"/>
            <a:r>
              <a:rPr lang="en-US" altLang="en-US" sz="1700" dirty="0"/>
              <a:t>full outer join</a:t>
            </a:r>
          </a:p>
        </p:txBody>
      </p:sp>
      <p:pic>
        <p:nvPicPr>
          <p:cNvPr id="2" name="Picture 1"/>
          <p:cNvPicPr>
            <a:picLocks noChangeAspect="1"/>
          </p:cNvPicPr>
          <p:nvPr/>
        </p:nvPicPr>
        <p:blipFill>
          <a:blip r:embed="rId3"/>
          <a:stretch>
            <a:fillRect/>
          </a:stretch>
        </p:blipFill>
        <p:spPr>
          <a:xfrm>
            <a:off x="4117521" y="2482623"/>
            <a:ext cx="4533900" cy="404812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ea typeface="+mj-ea"/>
              </a:rPr>
              <a:t>Outer Join </a:t>
            </a:r>
            <a:r>
              <a:rPr lang="en-US" altLang="en-US" sz="2800" dirty="0">
                <a:ea typeface="+mj-ea"/>
              </a:rPr>
              <a:t>Examples</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dirty="0"/>
              <a:t>Relation </a:t>
            </a:r>
            <a:r>
              <a:rPr lang="en-US" altLang="en-US" sz="1700" i="1" dirty="0"/>
              <a:t>course</a:t>
            </a:r>
          </a:p>
          <a:p>
            <a:endParaRPr lang="en-US" altLang="en-US" sz="1700" i="1" dirty="0"/>
          </a:p>
          <a:p>
            <a:endParaRPr lang="en-US" altLang="en-US" sz="1700" i="1" dirty="0"/>
          </a:p>
          <a:p>
            <a:pPr>
              <a:buNone/>
            </a:pPr>
            <a:endParaRPr lang="en-US" altLang="en-US" sz="1700" i="1" dirty="0"/>
          </a:p>
          <a:p>
            <a:pPr>
              <a:buNone/>
            </a:pPr>
            <a:endParaRPr lang="en-US" altLang="en-US" sz="1700" i="1" dirty="0"/>
          </a:p>
          <a:p>
            <a:r>
              <a:rPr lang="en-US" altLang="en-US" sz="1700" dirty="0"/>
              <a:t>Relation </a:t>
            </a:r>
            <a:r>
              <a:rPr lang="en-US" altLang="en-US" sz="1700" i="1" dirty="0" err="1"/>
              <a:t>prereq</a:t>
            </a:r>
            <a:endParaRPr lang="en-US" altLang="en-US" sz="1700" dirty="0"/>
          </a:p>
          <a:p>
            <a:endParaRPr lang="en-US" altLang="en-US" sz="1700" i="1" dirty="0"/>
          </a:p>
          <a:p>
            <a:endParaRPr lang="en-US" altLang="en-US" sz="1700" i="1" dirty="0"/>
          </a:p>
          <a:p>
            <a:endParaRPr lang="en-US" altLang="en-US" sz="1700" i="1" dirty="0"/>
          </a:p>
          <a:p>
            <a:endParaRPr lang="en-US" altLang="en-US" sz="1700" i="1" dirty="0"/>
          </a:p>
          <a:p>
            <a:r>
              <a:rPr lang="en-US" altLang="en-US" sz="1700" dirty="0"/>
              <a:t>Observe that </a:t>
            </a:r>
          </a:p>
          <a:p>
            <a:pPr>
              <a:buClr>
                <a:schemeClr val="tx2"/>
              </a:buClr>
              <a:buNone/>
            </a:pPr>
            <a:r>
              <a:rPr lang="en-US" altLang="en-US" sz="1700" i="1" dirty="0"/>
              <a:t>              course </a:t>
            </a:r>
            <a:r>
              <a:rPr lang="en-US" altLang="en-US" sz="1700" dirty="0"/>
              <a:t>information is missing </a:t>
            </a:r>
            <a:r>
              <a:rPr lang="en-US" altLang="en-US" sz="1700" dirty="0" smtClean="0"/>
              <a:t>CS-437</a:t>
            </a:r>
            <a:endParaRPr lang="en-US" altLang="en-US" sz="1700" dirty="0"/>
          </a:p>
          <a:p>
            <a:pPr>
              <a:buClr>
                <a:schemeClr val="tx2"/>
              </a:buClr>
              <a:buNone/>
            </a:pPr>
            <a:r>
              <a:rPr lang="en-US" altLang="en-US" sz="1700" i="1" dirty="0"/>
              <a:t>              </a:t>
            </a:r>
            <a:r>
              <a:rPr lang="en-US" altLang="en-US" sz="1700" i="1" dirty="0" err="1"/>
              <a:t>prereq</a:t>
            </a:r>
            <a:r>
              <a:rPr lang="en-US" altLang="en-US" sz="1700" i="1" dirty="0"/>
              <a:t> </a:t>
            </a:r>
            <a:r>
              <a:rPr lang="en-US" altLang="en-US" sz="1700" dirty="0"/>
              <a:t>information is missing </a:t>
            </a:r>
            <a:r>
              <a:rPr lang="en-US" altLang="en-US" sz="1700" dirty="0" smtClean="0"/>
              <a:t>CS-315</a:t>
            </a:r>
            <a:endParaRPr lang="en-US" altLang="en-US" sz="1700" dirty="0"/>
          </a:p>
          <a:p>
            <a:pPr>
              <a:buClr>
                <a:schemeClr val="tx2"/>
              </a:buClr>
              <a:buNone/>
            </a:pPr>
            <a:r>
              <a:rPr lang="en-US" altLang="en-US" sz="800" dirty="0"/>
              <a:t> </a:t>
            </a:r>
          </a:p>
          <a:p>
            <a:r>
              <a:rPr lang="en-US" altLang="en-US" i="1" dirty="0"/>
              <a:t>  </a:t>
            </a:r>
            <a:r>
              <a:rPr lang="en-US" altLang="en-US" sz="2000" i="1" dirty="0"/>
              <a:t>x</a:t>
            </a:r>
            <a:endParaRPr lang="en-US" altLang="en-US" sz="2000" dirty="0"/>
          </a:p>
          <a:p>
            <a:endParaRPr lang="en-US" altLang="en-US" sz="2000" dirty="0"/>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3744" y="1658112"/>
            <a:ext cx="3745294" cy="1060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8816" y="3401568"/>
            <a:ext cx="1929043" cy="1069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t>Left Outer Join</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i="1" dirty="0"/>
              <a:t>course</a:t>
            </a:r>
            <a:r>
              <a:rPr lang="en-US" altLang="en-US" sz="1700" dirty="0"/>
              <a:t> </a:t>
            </a:r>
            <a:r>
              <a:rPr lang="en-US" altLang="en-US" sz="1700" b="1" dirty="0"/>
              <a:t>natural left outer join</a:t>
            </a:r>
            <a:r>
              <a:rPr lang="en-US" altLang="en-US" sz="1700" dirty="0"/>
              <a:t> </a:t>
            </a:r>
            <a:r>
              <a:rPr lang="en-US" altLang="en-US" sz="1700" i="1" dirty="0" err="1"/>
              <a:t>prereq</a:t>
            </a:r>
            <a:endParaRPr lang="en-US" altLang="en-US" sz="1700" dirty="0"/>
          </a:p>
          <a:p>
            <a:endParaRPr lang="en-US" altLang="en-US" sz="1700" dirty="0"/>
          </a:p>
          <a:p>
            <a:endParaRPr lang="en-US" altLang="en-US" sz="1700" dirty="0"/>
          </a:p>
          <a:p>
            <a:endParaRPr lang="en-US" altLang="en-US" sz="1700" dirty="0"/>
          </a:p>
          <a:p>
            <a:endParaRPr lang="en-US" altLang="en-US" sz="1700" dirty="0"/>
          </a:p>
          <a:p>
            <a:endParaRPr lang="en-US" altLang="en-US" sz="1700" dirty="0"/>
          </a:p>
          <a:p>
            <a:pPr marL="342900" lvl="1" indent="-342900">
              <a:buClr>
                <a:srgbClr val="002060"/>
              </a:buClr>
              <a:buFont typeface="Wingdings" panose="05000000000000000000" pitchFamily="2" charset="2"/>
              <a:buChar char="§"/>
            </a:pPr>
            <a:r>
              <a:rPr lang="en-US" altLang="en-US" sz="1700" dirty="0"/>
              <a:t>In relational algebra:   </a:t>
            </a:r>
            <a:r>
              <a:rPr lang="en-US" altLang="en-US" sz="1700" i="1" dirty="0"/>
              <a:t>course </a:t>
            </a:r>
            <a:r>
              <a:rPr lang="en-US" altLang="en-US" sz="1700" b="1" dirty="0"/>
              <a:t>⟕</a:t>
            </a:r>
            <a:r>
              <a:rPr lang="en-US" altLang="en-US" sz="1700" dirty="0"/>
              <a:t> </a:t>
            </a:r>
            <a:r>
              <a:rPr lang="en-US" altLang="en-US" sz="1700" i="1" dirty="0" err="1" smtClean="0"/>
              <a:t>prereq</a:t>
            </a:r>
            <a:endParaRPr lang="en-US" altLang="en-US" sz="1700" i="1" dirty="0" smtClean="0"/>
          </a:p>
          <a:p>
            <a:pPr marL="342900" lvl="1" indent="-342900">
              <a:buClr>
                <a:srgbClr val="002060"/>
              </a:buClr>
              <a:buFont typeface="Wingdings" panose="05000000000000000000" pitchFamily="2" charset="2"/>
              <a:buChar char="§"/>
            </a:pPr>
            <a:endParaRPr lang="en-US" altLang="en-US" i="1" dirty="0"/>
          </a:p>
          <a:p>
            <a:pPr marL="342900" lvl="1" indent="-342900">
              <a:buClr>
                <a:srgbClr val="002060"/>
              </a:buClr>
              <a:buFont typeface="Wingdings" panose="05000000000000000000" pitchFamily="2" charset="2"/>
              <a:buChar char="§"/>
            </a:pPr>
            <a:r>
              <a:rPr lang="en-US" dirty="0"/>
              <a:t>student natural left outer join </a:t>
            </a:r>
            <a:r>
              <a:rPr lang="en-US" dirty="0" smtClean="0"/>
              <a:t>takes </a:t>
            </a:r>
            <a:r>
              <a:rPr lang="en-US" sz="2000" b="1" dirty="0" smtClean="0">
                <a:sym typeface="Wingdings" panose="05000000000000000000" pitchFamily="2" charset="2"/>
              </a:rPr>
              <a:t></a:t>
            </a:r>
            <a:endParaRPr lang="en-US" altLang="en-US" sz="2000" b="1" dirty="0"/>
          </a:p>
          <a:p>
            <a:pPr>
              <a:buNone/>
            </a:pPr>
            <a:endParaRPr lang="en-US" altLang="en-US" sz="1700" dirty="0"/>
          </a:p>
        </p:txBody>
      </p:sp>
      <p:pic>
        <p:nvPicPr>
          <p:cNvPr id="4" name="Picture 3"/>
          <p:cNvPicPr>
            <a:picLocks noChangeAspect="1"/>
          </p:cNvPicPr>
          <p:nvPr/>
        </p:nvPicPr>
        <p:blipFill>
          <a:blip r:embed="rId3"/>
          <a:stretch>
            <a:fillRect/>
          </a:stretch>
        </p:blipFill>
        <p:spPr>
          <a:xfrm>
            <a:off x="963627" y="1584270"/>
            <a:ext cx="5316318" cy="1207126"/>
          </a:xfrm>
          <a:prstGeom prst="rect">
            <a:avLst/>
          </a:prstGeom>
        </p:spPr>
      </p:pic>
      <p:pic>
        <p:nvPicPr>
          <p:cNvPr id="2" name="Picture 1"/>
          <p:cNvPicPr>
            <a:picLocks noChangeAspect="1"/>
          </p:cNvPicPr>
          <p:nvPr/>
        </p:nvPicPr>
        <p:blipFill>
          <a:blip r:embed="rId4"/>
          <a:stretch>
            <a:fillRect/>
          </a:stretch>
        </p:blipFill>
        <p:spPr>
          <a:xfrm>
            <a:off x="5086982" y="3047209"/>
            <a:ext cx="3903078" cy="3484891"/>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t>Right Outer Join</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i="1" dirty="0"/>
              <a:t>course</a:t>
            </a:r>
            <a:r>
              <a:rPr lang="en-US" altLang="en-US" sz="1700" dirty="0"/>
              <a:t> </a:t>
            </a:r>
            <a:r>
              <a:rPr lang="en-US" altLang="en-US" sz="1700" b="1" dirty="0"/>
              <a:t>natural right outer join</a:t>
            </a:r>
            <a:r>
              <a:rPr lang="en-US" altLang="en-US" sz="1700" dirty="0"/>
              <a:t> </a:t>
            </a:r>
            <a:r>
              <a:rPr lang="en-US" altLang="en-US" sz="1700" i="1" dirty="0" err="1"/>
              <a:t>prereq</a:t>
            </a:r>
            <a:endParaRPr lang="en-US" altLang="en-US" sz="1700" dirty="0"/>
          </a:p>
          <a:p>
            <a:endParaRPr lang="en-US" altLang="en-US" sz="1700" dirty="0"/>
          </a:p>
          <a:p>
            <a:endParaRPr lang="en-US" altLang="en-US" sz="1700" dirty="0"/>
          </a:p>
          <a:p>
            <a:endParaRPr lang="en-US" altLang="en-US" sz="1700" dirty="0"/>
          </a:p>
          <a:p>
            <a:pPr marL="0" indent="0">
              <a:buNone/>
            </a:pPr>
            <a:endParaRPr lang="en-US" altLang="en-US" sz="1700" dirty="0"/>
          </a:p>
          <a:p>
            <a:pPr marL="342900" lvl="1" indent="-342900">
              <a:buClr>
                <a:srgbClr val="002060"/>
              </a:buClr>
              <a:buFont typeface="Wingdings" panose="05000000000000000000" pitchFamily="2" charset="2"/>
              <a:buChar char="§"/>
            </a:pPr>
            <a:r>
              <a:rPr lang="en-US" altLang="en-US" sz="1700" dirty="0"/>
              <a:t>In relational algebra:   </a:t>
            </a:r>
            <a:r>
              <a:rPr lang="en-US" altLang="en-US" sz="1700" i="1" dirty="0"/>
              <a:t>course </a:t>
            </a:r>
            <a:r>
              <a:rPr lang="en-IN" sz="1700" b="1" dirty="0">
                <a:cs typeface="Times New Roman" panose="02020603050405020304" pitchFamily="18" charset="0"/>
              </a:rPr>
              <a:t>⟖</a:t>
            </a:r>
            <a:r>
              <a:rPr lang="en-IN" sz="1700" dirty="0"/>
              <a:t> </a:t>
            </a:r>
            <a:r>
              <a:rPr lang="en-US" altLang="en-US" sz="1700" i="1" dirty="0" err="1"/>
              <a:t>prereq</a:t>
            </a:r>
            <a:endParaRPr lang="en-US" altLang="en-US" sz="1700" dirty="0"/>
          </a:p>
          <a:p>
            <a:pPr>
              <a:buNone/>
            </a:pPr>
            <a:endParaRPr lang="en-US" altLang="en-US" sz="1700" dirty="0"/>
          </a:p>
        </p:txBody>
      </p:sp>
      <p:pic>
        <p:nvPicPr>
          <p:cNvPr id="4" name="Picture 3"/>
          <p:cNvPicPr>
            <a:picLocks noChangeAspect="1"/>
          </p:cNvPicPr>
          <p:nvPr/>
        </p:nvPicPr>
        <p:blipFill>
          <a:blip r:embed="rId3"/>
          <a:stretch>
            <a:fillRect/>
          </a:stretch>
        </p:blipFill>
        <p:spPr>
          <a:xfrm>
            <a:off x="768350" y="1514516"/>
            <a:ext cx="5444073" cy="1236135"/>
          </a:xfrm>
          <a:prstGeom prst="rect">
            <a:avLst/>
          </a:prstGeom>
        </p:spPr>
      </p:pic>
      <p:pic>
        <p:nvPicPr>
          <p:cNvPr id="2" name="Picture 1"/>
          <p:cNvPicPr>
            <a:picLocks noChangeAspect="1"/>
          </p:cNvPicPr>
          <p:nvPr/>
        </p:nvPicPr>
        <p:blipFill>
          <a:blip r:embed="rId4"/>
          <a:stretch>
            <a:fillRect/>
          </a:stretch>
        </p:blipFill>
        <p:spPr>
          <a:xfrm>
            <a:off x="4888251" y="2898692"/>
            <a:ext cx="3957300" cy="3500049"/>
          </a:xfrm>
          <a:prstGeom prst="rect">
            <a:avLst/>
          </a:prstGeom>
        </p:spPr>
      </p:pic>
      <p:sp>
        <p:nvSpPr>
          <p:cNvPr id="3" name="Rectangle 2"/>
          <p:cNvSpPr/>
          <p:nvPr/>
        </p:nvSpPr>
        <p:spPr>
          <a:xfrm>
            <a:off x="1113513" y="4060438"/>
            <a:ext cx="3732112" cy="369332"/>
          </a:xfrm>
          <a:prstGeom prst="rect">
            <a:avLst/>
          </a:prstGeom>
        </p:spPr>
        <p:txBody>
          <a:bodyPr wrap="none">
            <a:spAutoFit/>
          </a:bodyPr>
          <a:lstStyle/>
          <a:p>
            <a:r>
              <a:rPr lang="en-US" dirty="0"/>
              <a:t>takes natural right outer join </a:t>
            </a:r>
            <a:r>
              <a:rPr lang="en-US" dirty="0" smtClean="0"/>
              <a:t>student </a:t>
            </a:r>
            <a:r>
              <a:rPr lang="en-US" sz="1800" b="1" dirty="0" smtClean="0">
                <a:sym typeface="Wingdings" panose="05000000000000000000" pitchFamily="2" charset="2"/>
              </a:rPr>
              <a:t></a:t>
            </a:r>
            <a:endParaRPr lang="en-US"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sz="2800" dirty="0"/>
              <a:t>Full Outer Join</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i="1" dirty="0"/>
              <a:t>course</a:t>
            </a:r>
            <a:r>
              <a:rPr lang="en-US" altLang="en-US" sz="1700" dirty="0"/>
              <a:t> </a:t>
            </a:r>
            <a:r>
              <a:rPr lang="en-US" altLang="en-US" sz="1700" b="1" dirty="0">
                <a:solidFill>
                  <a:srgbClr val="002060"/>
                </a:solidFill>
              </a:rPr>
              <a:t>natural full outer join</a:t>
            </a:r>
            <a:r>
              <a:rPr lang="en-US" altLang="en-US" sz="1700" dirty="0">
                <a:solidFill>
                  <a:srgbClr val="002060"/>
                </a:solidFill>
              </a:rPr>
              <a:t> </a:t>
            </a:r>
            <a:r>
              <a:rPr lang="en-US" altLang="en-US" sz="1700" i="1" dirty="0" err="1"/>
              <a:t>prereq</a:t>
            </a:r>
            <a:endParaRPr lang="en-US" altLang="en-US" sz="1700" i="1" dirty="0"/>
          </a:p>
          <a:p>
            <a:endParaRPr lang="en-US" altLang="en-US" sz="1700" dirty="0"/>
          </a:p>
          <a:p>
            <a:endParaRPr lang="en-US" altLang="en-US" sz="1700" dirty="0"/>
          </a:p>
          <a:p>
            <a:endParaRPr lang="en-US" altLang="en-US" sz="1700" dirty="0"/>
          </a:p>
          <a:p>
            <a:endParaRPr lang="en-US" altLang="en-US" sz="1700" dirty="0"/>
          </a:p>
          <a:p>
            <a:pPr>
              <a:buNone/>
            </a:pPr>
            <a:endParaRPr lang="en-US" altLang="en-US" sz="1700" dirty="0"/>
          </a:p>
          <a:p>
            <a:r>
              <a:rPr lang="en-US" altLang="en-US" sz="1700" dirty="0"/>
              <a:t>In relational algebra:   </a:t>
            </a:r>
            <a:r>
              <a:rPr lang="en-US" altLang="en-US" sz="1700" i="1" dirty="0"/>
              <a:t>course </a:t>
            </a:r>
            <a:r>
              <a:rPr lang="en-IN" sz="1700" b="1" dirty="0"/>
              <a:t>⟗</a:t>
            </a:r>
            <a:r>
              <a:rPr lang="en-US" altLang="en-US" sz="1700" dirty="0"/>
              <a:t> </a:t>
            </a:r>
            <a:r>
              <a:rPr lang="en-US" altLang="en-US" sz="1700" i="1" dirty="0" err="1"/>
              <a:t>prereq</a:t>
            </a:r>
            <a:endParaRPr lang="en-US" altLang="en-US" sz="1700" i="1" dirty="0"/>
          </a:p>
          <a:p>
            <a:pPr marL="0" indent="0">
              <a:spcBef>
                <a:spcPts val="0"/>
              </a:spcBef>
              <a:buNone/>
            </a:pPr>
            <a:r>
              <a:rPr lang="en-US" sz="1200" b="1" dirty="0"/>
              <a:t>select * </a:t>
            </a:r>
          </a:p>
          <a:p>
            <a:pPr marL="0" indent="0">
              <a:spcBef>
                <a:spcPts val="0"/>
              </a:spcBef>
              <a:buNone/>
            </a:pPr>
            <a:r>
              <a:rPr lang="en-US" sz="1200" b="1" dirty="0"/>
              <a:t>from (select * </a:t>
            </a:r>
          </a:p>
          <a:p>
            <a:pPr marL="0" indent="0">
              <a:spcBef>
                <a:spcPts val="0"/>
              </a:spcBef>
              <a:buNone/>
            </a:pPr>
            <a:r>
              <a:rPr lang="en-US" sz="1200" b="1" dirty="0"/>
              <a:t>       from</a:t>
            </a:r>
            <a:r>
              <a:rPr lang="en-US" sz="1200" dirty="0"/>
              <a:t> </a:t>
            </a:r>
            <a:r>
              <a:rPr lang="en-US" sz="1200" i="1" dirty="0"/>
              <a:t>student </a:t>
            </a:r>
          </a:p>
          <a:p>
            <a:pPr marL="0" indent="0">
              <a:spcBef>
                <a:spcPts val="0"/>
              </a:spcBef>
              <a:buNone/>
            </a:pPr>
            <a:r>
              <a:rPr lang="en-US" sz="1200" b="1" dirty="0"/>
              <a:t>       where</a:t>
            </a:r>
            <a:r>
              <a:rPr lang="en-US" sz="1200" dirty="0"/>
              <a:t> </a:t>
            </a:r>
            <a:r>
              <a:rPr lang="en-US" sz="1200" i="1" dirty="0" err="1"/>
              <a:t>dept_name</a:t>
            </a:r>
            <a:r>
              <a:rPr lang="en-US" sz="1200" dirty="0"/>
              <a:t> = 'Comp. Sci.') </a:t>
            </a:r>
          </a:p>
          <a:p>
            <a:pPr marL="0" indent="0">
              <a:spcBef>
                <a:spcPts val="0"/>
              </a:spcBef>
              <a:buNone/>
            </a:pPr>
            <a:r>
              <a:rPr lang="en-US" sz="1200" b="1" dirty="0"/>
              <a:t>       natural full outer join </a:t>
            </a:r>
          </a:p>
          <a:p>
            <a:pPr marL="0" indent="0">
              <a:spcBef>
                <a:spcPts val="0"/>
              </a:spcBef>
              <a:buNone/>
            </a:pPr>
            <a:r>
              <a:rPr lang="en-US" sz="1200" dirty="0"/>
              <a:t>       (</a:t>
            </a:r>
            <a:r>
              <a:rPr lang="en-US" sz="1200" b="1" dirty="0"/>
              <a:t>select * </a:t>
            </a:r>
          </a:p>
          <a:p>
            <a:pPr marL="0" indent="0">
              <a:spcBef>
                <a:spcPts val="0"/>
              </a:spcBef>
              <a:buNone/>
            </a:pPr>
            <a:r>
              <a:rPr lang="en-US" sz="1200" b="1" dirty="0"/>
              <a:t>       from</a:t>
            </a:r>
            <a:r>
              <a:rPr lang="en-US" sz="1200" dirty="0"/>
              <a:t> </a:t>
            </a:r>
            <a:r>
              <a:rPr lang="en-US" sz="1200" i="1" dirty="0"/>
              <a:t>takes </a:t>
            </a:r>
          </a:p>
          <a:p>
            <a:pPr marL="0" indent="0">
              <a:spcBef>
                <a:spcPts val="0"/>
              </a:spcBef>
              <a:buNone/>
            </a:pPr>
            <a:r>
              <a:rPr lang="en-US" sz="1200" b="1" dirty="0"/>
              <a:t>       where</a:t>
            </a:r>
            <a:r>
              <a:rPr lang="en-US" sz="1200" dirty="0"/>
              <a:t> </a:t>
            </a:r>
            <a:r>
              <a:rPr lang="en-US" sz="1200" i="1" dirty="0"/>
              <a:t>semester</a:t>
            </a:r>
            <a:r>
              <a:rPr lang="en-US" sz="1200" dirty="0"/>
              <a:t> = 'Spring' and </a:t>
            </a:r>
            <a:r>
              <a:rPr lang="en-US" sz="1200" i="1" dirty="0"/>
              <a:t>year </a:t>
            </a:r>
            <a:r>
              <a:rPr lang="en-US" sz="1200" dirty="0"/>
              <a:t>= 2017</a:t>
            </a:r>
            <a:r>
              <a:rPr lang="en-US" sz="1200" dirty="0" smtClean="0"/>
              <a:t>); </a:t>
            </a:r>
            <a:endParaRPr lang="en-US" altLang="en-US" sz="1200" dirty="0">
              <a:latin typeface="Times New Roman" panose="02020603050405020304" pitchFamily="18" charset="0"/>
            </a:endParaRPr>
          </a:p>
          <a:p>
            <a:pPr marL="0" indent="0">
              <a:buNone/>
            </a:pPr>
            <a:endParaRPr lang="en-US" altLang="en-US" sz="1700" dirty="0" smtClean="0"/>
          </a:p>
          <a:p>
            <a:pPr marL="0" indent="0">
              <a:buNone/>
            </a:pPr>
            <a:r>
              <a:rPr lang="en-US" dirty="0"/>
              <a:t>full outer join </a:t>
            </a:r>
            <a:r>
              <a:rPr lang="en-US" dirty="0" smtClean="0"/>
              <a:t>example  </a:t>
            </a:r>
            <a:r>
              <a:rPr lang="en-US" dirty="0" smtClean="0">
                <a:sym typeface="Wingdings" panose="05000000000000000000" pitchFamily="2" charset="2"/>
              </a:rPr>
              <a:t> </a:t>
            </a:r>
            <a:endParaRPr lang="en-US" altLang="en-US" sz="1700" dirty="0"/>
          </a:p>
        </p:txBody>
      </p:sp>
      <p:pic>
        <p:nvPicPr>
          <p:cNvPr id="4" name="Picture 3"/>
          <p:cNvPicPr>
            <a:picLocks noChangeAspect="1"/>
          </p:cNvPicPr>
          <p:nvPr/>
        </p:nvPicPr>
        <p:blipFill>
          <a:blip r:embed="rId3"/>
          <a:stretch>
            <a:fillRect/>
          </a:stretch>
        </p:blipFill>
        <p:spPr>
          <a:xfrm>
            <a:off x="1710550" y="1698292"/>
            <a:ext cx="5046366" cy="1381276"/>
          </a:xfrm>
          <a:prstGeom prst="rect">
            <a:avLst/>
          </a:prstGeom>
        </p:spPr>
      </p:pic>
      <p:pic>
        <p:nvPicPr>
          <p:cNvPr id="2" name="Picture 1"/>
          <p:cNvPicPr>
            <a:picLocks noChangeAspect="1"/>
          </p:cNvPicPr>
          <p:nvPr/>
        </p:nvPicPr>
        <p:blipFill>
          <a:blip r:embed="rId4"/>
          <a:stretch>
            <a:fillRect/>
          </a:stretch>
        </p:blipFill>
        <p:spPr>
          <a:xfrm>
            <a:off x="3957137" y="5094519"/>
            <a:ext cx="4772396" cy="113243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pPr>
              <a:defRPr/>
            </a:pPr>
            <a:r>
              <a:rPr lang="en-US" sz="2800" dirty="0">
                <a:ea typeface="+mj-ea"/>
              </a:rPr>
              <a:t>Joined Types and Conditions</a:t>
            </a:r>
          </a:p>
        </p:txBody>
      </p:sp>
      <p:sp>
        <p:nvSpPr>
          <p:cNvPr id="31747" name="Rectangle 3"/>
          <p:cNvSpPr>
            <a:spLocks noGrp="1" noChangeArrowheads="1"/>
          </p:cNvSpPr>
          <p:nvPr>
            <p:ph type="body" idx="1"/>
          </p:nvPr>
        </p:nvSpPr>
        <p:spPr>
          <a:xfrm>
            <a:off x="768351" y="1106488"/>
            <a:ext cx="7436865" cy="2246312"/>
          </a:xfrm>
        </p:spPr>
        <p:txBody>
          <a:bodyPr/>
          <a:lstStyle/>
          <a:p>
            <a:r>
              <a:rPr lang="en-US" altLang="en-US" sz="1700" b="1" dirty="0">
                <a:solidFill>
                  <a:srgbClr val="002060"/>
                </a:solidFill>
              </a:rPr>
              <a:t>Join operations</a:t>
            </a:r>
            <a:r>
              <a:rPr lang="en-US" altLang="en-US" sz="1700" dirty="0">
                <a:solidFill>
                  <a:srgbClr val="002060"/>
                </a:solidFill>
              </a:rPr>
              <a:t> </a:t>
            </a:r>
            <a:r>
              <a:rPr lang="en-US" altLang="en-US" sz="1700" dirty="0"/>
              <a:t>take two relations and return as a result another relation.</a:t>
            </a:r>
          </a:p>
          <a:p>
            <a:r>
              <a:rPr lang="en-US" altLang="en-US" sz="1700" dirty="0"/>
              <a:t>These additional operations are typically used as subquery expressions in the </a:t>
            </a:r>
            <a:r>
              <a:rPr lang="en-US" altLang="en-US" sz="1700" b="1" dirty="0"/>
              <a:t>from </a:t>
            </a:r>
            <a:r>
              <a:rPr lang="en-US" altLang="en-US" sz="1700" dirty="0"/>
              <a:t>clause</a:t>
            </a:r>
          </a:p>
          <a:p>
            <a:r>
              <a:rPr lang="en-US" altLang="en-US" sz="1700" b="1" dirty="0">
                <a:solidFill>
                  <a:srgbClr val="002060"/>
                </a:solidFill>
              </a:rPr>
              <a:t>Join condition</a:t>
            </a:r>
            <a:r>
              <a:rPr lang="en-US" altLang="en-US" sz="1700" dirty="0">
                <a:solidFill>
                  <a:srgbClr val="002060"/>
                </a:solidFill>
              </a:rPr>
              <a:t> </a:t>
            </a:r>
            <a:r>
              <a:rPr lang="en-US" altLang="en-US" sz="1700" dirty="0"/>
              <a:t>– defines which tuples in the two relations </a:t>
            </a:r>
            <a:r>
              <a:rPr lang="en-US" altLang="en-US" sz="1700" dirty="0" smtClean="0"/>
              <a:t>match.</a:t>
            </a:r>
            <a:endParaRPr lang="en-US" altLang="en-US" sz="1700" dirty="0"/>
          </a:p>
          <a:p>
            <a:r>
              <a:rPr lang="en-US" altLang="en-US" sz="1700" b="1" dirty="0">
                <a:solidFill>
                  <a:srgbClr val="002060"/>
                </a:solidFill>
              </a:rPr>
              <a:t>Join type</a:t>
            </a:r>
            <a:r>
              <a:rPr lang="en-US" altLang="en-US" sz="1700" dirty="0">
                <a:solidFill>
                  <a:srgbClr val="002060"/>
                </a:solidFill>
              </a:rPr>
              <a:t> </a:t>
            </a:r>
            <a:r>
              <a:rPr lang="en-US" altLang="en-US" sz="1700" dirty="0"/>
              <a:t>– defines how tuples in each relation that do not match any tuple in the other relation (based on the join condition) are treated.</a:t>
            </a:r>
          </a:p>
        </p:txBody>
      </p:sp>
      <p:pic>
        <p:nvPicPr>
          <p:cNvPr id="1026" name="Picture 2" descr="C:\Users\as668\Desktop\4_07.jpg"/>
          <p:cNvPicPr>
            <a:picLocks noChangeAspect="1" noChangeArrowheads="1"/>
          </p:cNvPicPr>
          <p:nvPr/>
        </p:nvPicPr>
        <p:blipFill>
          <a:blip r:embed="rId3"/>
          <a:srcRect/>
          <a:stretch>
            <a:fillRect/>
          </a:stretch>
        </p:blipFill>
        <p:spPr bwMode="auto">
          <a:xfrm>
            <a:off x="1606335" y="3438144"/>
            <a:ext cx="4840315" cy="1366784"/>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rPr>
              <a:t>Joined Relations – Examples</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i="1" dirty="0"/>
              <a:t>course</a:t>
            </a:r>
            <a:r>
              <a:rPr lang="en-US" altLang="en-US" sz="1700" b="1" dirty="0"/>
              <a:t> natural right outer join </a:t>
            </a:r>
            <a:r>
              <a:rPr lang="en-US" altLang="en-US" sz="1700" i="1" dirty="0" err="1"/>
              <a:t>prereq</a:t>
            </a:r>
            <a:endParaRPr lang="en-US" altLang="en-US" sz="1700" b="1" dirty="0"/>
          </a:p>
          <a:p>
            <a:endParaRPr lang="en-US" altLang="en-US" sz="1700" dirty="0"/>
          </a:p>
          <a:p>
            <a:endParaRPr lang="en-US" altLang="en-US" sz="1700" dirty="0"/>
          </a:p>
          <a:p>
            <a:endParaRPr lang="en-US" altLang="en-US" sz="1700" dirty="0"/>
          </a:p>
          <a:p>
            <a:pPr>
              <a:buNone/>
            </a:pPr>
            <a:endParaRPr lang="en-US" altLang="en-US" sz="1700" dirty="0"/>
          </a:p>
          <a:p>
            <a:r>
              <a:rPr lang="en-US" altLang="en-US" sz="1700" i="1" dirty="0"/>
              <a:t>course</a:t>
            </a:r>
            <a:r>
              <a:rPr lang="en-US" altLang="en-US" sz="1700" b="1" dirty="0"/>
              <a:t> full outer join </a:t>
            </a:r>
            <a:r>
              <a:rPr lang="en-US" altLang="en-US" sz="1700" i="1" dirty="0" err="1"/>
              <a:t>prereq</a:t>
            </a:r>
            <a:r>
              <a:rPr lang="en-US" altLang="en-US" sz="1700" i="1" dirty="0"/>
              <a:t> </a:t>
            </a:r>
            <a:r>
              <a:rPr lang="en-US" altLang="en-US" sz="1700" b="1" dirty="0"/>
              <a:t>using </a:t>
            </a:r>
            <a:r>
              <a:rPr lang="en-US" altLang="en-US" sz="1700" dirty="0"/>
              <a:t>(</a:t>
            </a:r>
            <a:r>
              <a:rPr lang="en-US" altLang="en-US" sz="1700" i="1" dirty="0" err="1"/>
              <a:t>course_id</a:t>
            </a:r>
            <a:r>
              <a:rPr lang="en-US" altLang="en-US" sz="1700" dirty="0"/>
              <a:t>)</a:t>
            </a:r>
          </a:p>
          <a:p>
            <a:endParaRPr lang="en-US" altLang="en-US" sz="1700" dirty="0"/>
          </a:p>
          <a:p>
            <a:endParaRPr lang="en-US" altLang="en-US" sz="1700" dirty="0"/>
          </a:p>
          <a:p>
            <a:endParaRPr lang="en-US" altLang="en-US" sz="1700" dirty="0"/>
          </a:p>
        </p:txBody>
      </p:sp>
      <p:pic>
        <p:nvPicPr>
          <p:cNvPr id="4" name="Picture 3"/>
          <p:cNvPicPr>
            <a:picLocks noChangeAspect="1"/>
          </p:cNvPicPr>
          <p:nvPr/>
        </p:nvPicPr>
        <p:blipFill>
          <a:blip r:embed="rId3"/>
          <a:stretch>
            <a:fillRect/>
          </a:stretch>
        </p:blipFill>
        <p:spPr>
          <a:xfrm>
            <a:off x="2499360" y="1653927"/>
            <a:ext cx="4739672" cy="1135162"/>
          </a:xfrm>
          <a:prstGeom prst="rect">
            <a:avLst/>
          </a:prstGeom>
        </p:spPr>
      </p:pic>
      <p:pic>
        <p:nvPicPr>
          <p:cNvPr id="5" name="Picture 4"/>
          <p:cNvPicPr>
            <a:picLocks noChangeAspect="1"/>
          </p:cNvPicPr>
          <p:nvPr/>
        </p:nvPicPr>
        <p:blipFill>
          <a:blip r:embed="rId4"/>
          <a:stretch>
            <a:fillRect/>
          </a:stretch>
        </p:blipFill>
        <p:spPr>
          <a:xfrm>
            <a:off x="2584704" y="3448857"/>
            <a:ext cx="4464092" cy="128931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rPr>
              <a:t>Joined Relations – Examples </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i="1" dirty="0"/>
              <a:t>course </a:t>
            </a:r>
            <a:r>
              <a:rPr lang="en-US" altLang="en-US" sz="1700" b="1" dirty="0"/>
              <a:t>inner join </a:t>
            </a:r>
            <a:r>
              <a:rPr lang="en-US" altLang="en-US" sz="1700" i="1" dirty="0" err="1"/>
              <a:t>prereq</a:t>
            </a:r>
            <a:r>
              <a:rPr lang="en-US" altLang="en-US" sz="1700" i="1" dirty="0"/>
              <a:t> </a:t>
            </a:r>
            <a:r>
              <a:rPr lang="en-US" altLang="en-US" sz="1700" b="1" dirty="0"/>
              <a:t>on</a:t>
            </a:r>
            <a:br>
              <a:rPr lang="en-US" altLang="en-US" sz="1700" b="1" dirty="0"/>
            </a:br>
            <a:r>
              <a:rPr lang="en-US" altLang="en-US" sz="1700" i="1" dirty="0" err="1"/>
              <a:t>course.course_id</a:t>
            </a:r>
            <a:r>
              <a:rPr lang="en-US" altLang="en-US" sz="1700" i="1" dirty="0"/>
              <a:t> = </a:t>
            </a:r>
            <a:r>
              <a:rPr lang="en-US" altLang="en-US" sz="1700" i="1" dirty="0" err="1"/>
              <a:t>prereq.course_id</a:t>
            </a:r>
            <a:endParaRPr lang="en-US" altLang="en-US" sz="1700" i="1" dirty="0"/>
          </a:p>
          <a:p>
            <a:endParaRPr lang="en-US" altLang="en-US" sz="1700" dirty="0"/>
          </a:p>
          <a:p>
            <a:endParaRPr lang="en-US" altLang="en-US" sz="1700" dirty="0"/>
          </a:p>
          <a:p>
            <a:pPr>
              <a:buNone/>
            </a:pPr>
            <a:endParaRPr lang="en-US" altLang="en-US" sz="1700" dirty="0"/>
          </a:p>
          <a:p>
            <a:r>
              <a:rPr lang="en-US" altLang="en-US" sz="1700" dirty="0"/>
              <a:t>What is the difference between the above, and a natural join? </a:t>
            </a:r>
          </a:p>
          <a:p>
            <a:r>
              <a:rPr lang="en-US" altLang="en-US" sz="1700" i="1" dirty="0"/>
              <a:t>course </a:t>
            </a:r>
            <a:r>
              <a:rPr lang="en-US" altLang="en-US" sz="1700" b="1" dirty="0"/>
              <a:t>left outer join</a:t>
            </a:r>
            <a:r>
              <a:rPr lang="en-US" altLang="en-US" sz="1700" i="1" dirty="0"/>
              <a:t> </a:t>
            </a:r>
            <a:r>
              <a:rPr lang="en-US" altLang="en-US" sz="1700" i="1" dirty="0" err="1"/>
              <a:t>prereq</a:t>
            </a:r>
            <a:r>
              <a:rPr lang="en-US" altLang="en-US" sz="1700" i="1" dirty="0"/>
              <a:t> </a:t>
            </a:r>
            <a:r>
              <a:rPr lang="en-US" altLang="en-US" sz="1700" b="1" dirty="0"/>
              <a:t>on</a:t>
            </a:r>
            <a:r>
              <a:rPr lang="en-US" altLang="en-US" sz="1700" i="1" dirty="0"/>
              <a:t/>
            </a:r>
            <a:br>
              <a:rPr lang="en-US" altLang="en-US" sz="1700" i="1" dirty="0"/>
            </a:br>
            <a:r>
              <a:rPr lang="en-US" altLang="en-US" sz="1700" i="1" dirty="0" err="1"/>
              <a:t>course.course_id</a:t>
            </a:r>
            <a:r>
              <a:rPr lang="en-US" altLang="en-US" sz="1700" i="1" dirty="0"/>
              <a:t> = </a:t>
            </a:r>
            <a:r>
              <a:rPr lang="en-US" altLang="en-US" sz="1700" i="1" dirty="0" err="1"/>
              <a:t>prereq.course_id</a:t>
            </a:r>
            <a:endParaRPr lang="en-US" altLang="en-US" sz="1700" i="1" dirty="0"/>
          </a:p>
          <a:p>
            <a:pPr>
              <a:buNone/>
            </a:pPr>
            <a:r>
              <a:rPr lang="en-US" altLang="en-US" sz="1700" dirty="0"/>
              <a:t> </a:t>
            </a:r>
          </a:p>
        </p:txBody>
      </p:sp>
      <p:pic>
        <p:nvPicPr>
          <p:cNvPr id="5" name="Picture 4"/>
          <p:cNvPicPr>
            <a:picLocks noChangeAspect="1"/>
          </p:cNvPicPr>
          <p:nvPr/>
        </p:nvPicPr>
        <p:blipFill>
          <a:blip r:embed="rId3"/>
          <a:stretch>
            <a:fillRect/>
          </a:stretch>
        </p:blipFill>
        <p:spPr>
          <a:xfrm>
            <a:off x="2034062" y="1922405"/>
            <a:ext cx="5524216" cy="828990"/>
          </a:xfrm>
          <a:prstGeom prst="rect">
            <a:avLst/>
          </a:prstGeom>
        </p:spPr>
      </p:pic>
      <p:pic>
        <p:nvPicPr>
          <p:cNvPr id="6" name="Picture 5"/>
          <p:cNvPicPr>
            <a:picLocks noChangeAspect="1"/>
          </p:cNvPicPr>
          <p:nvPr/>
        </p:nvPicPr>
        <p:blipFill>
          <a:blip r:embed="rId4"/>
          <a:stretch>
            <a:fillRect/>
          </a:stretch>
        </p:blipFill>
        <p:spPr>
          <a:xfrm>
            <a:off x="2133600" y="4093625"/>
            <a:ext cx="5483156" cy="102853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rPr>
              <a:t>Joined Relations – Examples</a:t>
            </a:r>
            <a:endParaRPr lang="en-US" sz="2800" dirty="0">
              <a:ea typeface="+mj-ea"/>
            </a:endParaRPr>
          </a:p>
        </p:txBody>
      </p:sp>
      <p:sp>
        <p:nvSpPr>
          <p:cNvPr id="23555" name="Rectangle 3"/>
          <p:cNvSpPr>
            <a:spLocks noGrp="1" noChangeArrowheads="1"/>
          </p:cNvSpPr>
          <p:nvPr>
            <p:ph type="body" idx="1"/>
          </p:nvPr>
        </p:nvSpPr>
        <p:spPr>
          <a:xfrm>
            <a:off x="768350" y="1170533"/>
            <a:ext cx="7750843" cy="4876800"/>
          </a:xfrm>
        </p:spPr>
        <p:txBody>
          <a:bodyPr/>
          <a:lstStyle/>
          <a:p>
            <a:r>
              <a:rPr lang="en-US" altLang="en-US" sz="1700" i="1" dirty="0"/>
              <a:t>course</a:t>
            </a:r>
            <a:r>
              <a:rPr lang="en-US" altLang="en-US" sz="1700" b="1" dirty="0"/>
              <a:t> natural right outer join </a:t>
            </a:r>
            <a:r>
              <a:rPr lang="en-US" altLang="en-US" sz="1700" i="1" dirty="0" err="1"/>
              <a:t>prereq</a:t>
            </a:r>
            <a:endParaRPr lang="en-US" altLang="en-US" sz="1700" b="1" dirty="0"/>
          </a:p>
          <a:p>
            <a:endParaRPr lang="en-US" altLang="en-US" sz="1700" dirty="0"/>
          </a:p>
          <a:p>
            <a:endParaRPr lang="en-US" altLang="en-US" sz="1700" dirty="0"/>
          </a:p>
          <a:p>
            <a:endParaRPr lang="en-US" altLang="en-US" sz="1700" dirty="0"/>
          </a:p>
          <a:p>
            <a:pPr>
              <a:buNone/>
            </a:pPr>
            <a:endParaRPr lang="en-US" altLang="en-US" sz="1700" dirty="0"/>
          </a:p>
          <a:p>
            <a:r>
              <a:rPr lang="en-US" altLang="en-US" sz="1700" i="1" dirty="0"/>
              <a:t>course</a:t>
            </a:r>
            <a:r>
              <a:rPr lang="en-US" altLang="en-US" sz="1700" b="1" dirty="0"/>
              <a:t> full outer join </a:t>
            </a:r>
            <a:r>
              <a:rPr lang="en-US" altLang="en-US" sz="1700" i="1" dirty="0" err="1"/>
              <a:t>prereq</a:t>
            </a:r>
            <a:r>
              <a:rPr lang="en-US" altLang="en-US" sz="1700" i="1" dirty="0"/>
              <a:t> </a:t>
            </a:r>
            <a:r>
              <a:rPr lang="en-US" altLang="en-US" sz="1700" b="1" dirty="0"/>
              <a:t>using </a:t>
            </a:r>
            <a:r>
              <a:rPr lang="en-US" altLang="en-US" sz="1700" dirty="0"/>
              <a:t>(</a:t>
            </a:r>
            <a:r>
              <a:rPr lang="en-US" altLang="en-US" sz="1700" i="1" dirty="0" err="1"/>
              <a:t>course_id</a:t>
            </a:r>
            <a:r>
              <a:rPr lang="en-US" altLang="en-US" sz="1700" dirty="0"/>
              <a:t>)</a:t>
            </a:r>
          </a:p>
          <a:p>
            <a:endParaRPr lang="en-US" altLang="en-US" sz="1700" dirty="0"/>
          </a:p>
        </p:txBody>
      </p:sp>
      <p:pic>
        <p:nvPicPr>
          <p:cNvPr id="4" name="Picture 3"/>
          <p:cNvPicPr>
            <a:picLocks noChangeAspect="1"/>
          </p:cNvPicPr>
          <p:nvPr/>
        </p:nvPicPr>
        <p:blipFill>
          <a:blip r:embed="rId3"/>
          <a:stretch>
            <a:fillRect/>
          </a:stretch>
        </p:blipFill>
        <p:spPr>
          <a:xfrm>
            <a:off x="2462784" y="1656430"/>
            <a:ext cx="4761572" cy="1140408"/>
          </a:xfrm>
          <a:prstGeom prst="rect">
            <a:avLst/>
          </a:prstGeom>
        </p:spPr>
      </p:pic>
      <p:pic>
        <p:nvPicPr>
          <p:cNvPr id="5" name="Picture 4"/>
          <p:cNvPicPr>
            <a:picLocks noChangeAspect="1"/>
          </p:cNvPicPr>
          <p:nvPr/>
        </p:nvPicPr>
        <p:blipFill>
          <a:blip r:embed="rId4"/>
          <a:stretch>
            <a:fillRect/>
          </a:stretch>
        </p:blipFill>
        <p:spPr>
          <a:xfrm>
            <a:off x="2584704" y="3533026"/>
            <a:ext cx="4531990" cy="130892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2" name="Rectangle 2"/>
          <p:cNvSpPr>
            <a:spLocks noGrp="1" noChangeArrowheads="1"/>
          </p:cNvSpPr>
          <p:nvPr>
            <p:ph type="ctrTitle"/>
          </p:nvPr>
        </p:nvSpPr>
        <p:spPr/>
        <p:txBody>
          <a:bodyPr/>
          <a:lstStyle/>
          <a:p>
            <a:pPr>
              <a:defRPr/>
            </a:pPr>
            <a:r>
              <a:rPr lang="en-US" smtClean="0">
                <a:ea typeface="+mj-ea"/>
              </a:rPr>
              <a:t>End</a:t>
            </a:r>
            <a:endParaRPr lang="en-US" dirty="0">
              <a:ea typeface="+mj-e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93485</TotalTime>
  <Words>2869</Words>
  <Application>Microsoft Office PowerPoint</Application>
  <PresentationFormat>On-screen Show (4:3)</PresentationFormat>
  <Paragraphs>311</Paragraphs>
  <Slides>22</Slides>
  <Notes>22</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22</vt:i4>
      </vt:variant>
      <vt:variant>
        <vt:lpstr>Custom Shows</vt:lpstr>
      </vt:variant>
      <vt:variant>
        <vt:i4>1</vt:i4>
      </vt:variant>
    </vt:vector>
  </HeadingPairs>
  <TitlesOfParts>
    <vt:vector size="32" baseType="lpstr">
      <vt:lpstr>ＭＳ Ｐゴシック</vt:lpstr>
      <vt:lpstr>ＭＳ Ｐゴシック</vt:lpstr>
      <vt:lpstr>Arial</vt:lpstr>
      <vt:lpstr>Helvetica</vt:lpstr>
      <vt:lpstr>Monotype Sorts</vt:lpstr>
      <vt:lpstr>Times New Roman</vt:lpstr>
      <vt:lpstr>Webdings</vt:lpstr>
      <vt:lpstr>Wingdings</vt:lpstr>
      <vt:lpstr>2_db-5-grey</vt:lpstr>
      <vt:lpstr>Advanced Relational Algebra and SQL  JOIN Expressions</vt:lpstr>
      <vt:lpstr>Outline</vt:lpstr>
      <vt:lpstr>Joined Relations</vt:lpstr>
      <vt:lpstr>Natural Join in SQL</vt:lpstr>
      <vt:lpstr>Natural Join in SQL (Cont.)</vt:lpstr>
      <vt:lpstr>Student Relation</vt:lpstr>
      <vt:lpstr>Takes Relation</vt:lpstr>
      <vt:lpstr>student natural join takes</vt:lpstr>
      <vt:lpstr>Dangerous in Natural Join</vt:lpstr>
      <vt:lpstr>Natural Join with Using Clause</vt:lpstr>
      <vt:lpstr>Join Condition</vt:lpstr>
      <vt:lpstr>Join Condition (Cont.)</vt:lpstr>
      <vt:lpstr>Outer Join</vt:lpstr>
      <vt:lpstr>Outer Join Examples</vt:lpstr>
      <vt:lpstr>Left Outer Join</vt:lpstr>
      <vt:lpstr>Right Outer Join</vt:lpstr>
      <vt:lpstr>Full Outer Join</vt:lpstr>
      <vt:lpstr>Joined Types and Conditions</vt:lpstr>
      <vt:lpstr>Joined Relations – Examples</vt:lpstr>
      <vt:lpstr>Joined Relations – Examples </vt:lpstr>
      <vt:lpstr>Joined Relations – Examples</vt:lpstr>
      <vt:lpstr>End</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535</cp:revision>
  <cp:lastPrinted>1999-06-28T19:27:31Z</cp:lastPrinted>
  <dcterms:created xsi:type="dcterms:W3CDTF">2009-12-21T15:40:22Z</dcterms:created>
  <dcterms:modified xsi:type="dcterms:W3CDTF">2022-03-05T19:31:57Z</dcterms:modified>
</cp:coreProperties>
</file>