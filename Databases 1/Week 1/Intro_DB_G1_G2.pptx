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79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85" d="100"/>
          <a:sy n="85" d="100"/>
        </p:scale>
        <p:origin x="136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19.2.2026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19.2.2026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5553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415551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8734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757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2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84987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9415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402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27955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405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26197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21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text styles</a:t>
            </a:r>
          </a:p>
          <a:p>
            <a:pPr lvl="1"/>
            <a:r>
              <a:rPr lang="en-US" altLang="mk-MK" dirty="0"/>
              <a:t>Second level</a:t>
            </a:r>
          </a:p>
          <a:p>
            <a:pPr lvl="2"/>
            <a:r>
              <a:rPr lang="en-US" altLang="mk-MK" dirty="0"/>
              <a:t>Third level</a:t>
            </a:r>
          </a:p>
          <a:p>
            <a:pPr lvl="3"/>
            <a:r>
              <a:rPr lang="en-US" altLang="mk-MK" dirty="0"/>
              <a:t>Fourth level</a:t>
            </a:r>
          </a:p>
          <a:p>
            <a:pPr lvl="4"/>
            <a:r>
              <a:rPr lang="en-US" altLang="mk-MK" dirty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0"/>
            <a:ext cx="1187453" cy="71402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k-M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2518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k.linkedin.com/in/zoran-gichevski" TargetMode="External"/><Relationship Id="rId2" Type="http://schemas.openxmlformats.org/officeDocument/2006/relationships/hyperlink" Target="mailto:zoran.gichevski@uacs.edu.m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ssms/download-sql-server-management-studio-ssms?view=sql-server-ver16" TargetMode="External"/><Relationship Id="rId2" Type="http://schemas.openxmlformats.org/officeDocument/2006/relationships/hyperlink" Target="https://www.microsoft.com/en-us/download/details.aspx?id=10106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50" y="1052513"/>
            <a:ext cx="8643938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 dirty="0"/>
              <a:t>SCSIT </a:t>
            </a:r>
            <a:br>
              <a:rPr lang="en-US" altLang="mk-MK" sz="3000" b="1" dirty="0"/>
            </a:br>
            <a:r>
              <a:rPr lang="en-US" altLang="mk-MK" sz="3000" b="1" dirty="0"/>
              <a:t>IV Semester</a:t>
            </a:r>
            <a:br>
              <a:rPr lang="en-US" altLang="mk-MK" sz="3000" b="1" dirty="0"/>
            </a:br>
            <a:br>
              <a:rPr lang="en-US" altLang="mk-MK" sz="2600" b="1" dirty="0"/>
            </a:br>
            <a:r>
              <a:rPr lang="en-US" altLang="mk-MK" sz="2600" b="1" dirty="0"/>
              <a:t>Introduction to Databases</a:t>
            </a:r>
            <a:endParaRPr lang="en-US" altLang="mk-MK" sz="2800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3471863"/>
            <a:ext cx="7600950" cy="1600200"/>
          </a:xfrm>
        </p:spPr>
        <p:txBody>
          <a:bodyPr/>
          <a:lstStyle/>
          <a:p>
            <a:pPr eaLnBrk="1" hangingPunct="1"/>
            <a:r>
              <a:rPr lang="en-US" altLang="mk-MK" sz="2400" b="1" dirty="0">
                <a:solidFill>
                  <a:srgbClr val="FF0000"/>
                </a:solidFill>
              </a:rPr>
              <a:t>Lecturer: Zoran Gichevski</a:t>
            </a:r>
          </a:p>
          <a:p>
            <a:pPr eaLnBrk="1" hangingPunct="1"/>
            <a:r>
              <a:rPr lang="en-US" altLang="mk-MK" sz="2400" b="1" dirty="0">
                <a:solidFill>
                  <a:srgbClr val="FF0000"/>
                </a:solidFill>
              </a:rPr>
              <a:t>Domain Consultant at </a:t>
            </a:r>
            <a:r>
              <a:rPr lang="en-US" altLang="mk-MK" sz="2400" b="1" dirty="0" err="1">
                <a:solidFill>
                  <a:srgbClr val="FF0000"/>
                </a:solidFill>
              </a:rPr>
              <a:t>Avenga</a:t>
            </a:r>
            <a:r>
              <a:rPr lang="en-US" altLang="mk-MK" sz="2400" b="1" dirty="0">
                <a:solidFill>
                  <a:srgbClr val="FF0000"/>
                </a:solidFill>
              </a:rPr>
              <a:t> (Seavus)</a:t>
            </a:r>
          </a:p>
          <a:p>
            <a:r>
              <a:rPr lang="en-US" altLang="mk-MK" sz="2400" b="1" dirty="0">
                <a:solidFill>
                  <a:srgbClr val="FF0000"/>
                </a:solidFill>
              </a:rPr>
              <a:t>Operations Center | Managed Services </a:t>
            </a:r>
            <a:endParaRPr lang="en-US" altLang="mk-MK" sz="2400" b="1" dirty="0"/>
          </a:p>
        </p:txBody>
      </p:sp>
    </p:spTree>
    <p:extLst>
      <p:ext uri="{BB962C8B-B14F-4D97-AF65-F5344CB8AC3E}">
        <p14:creationId xmlns:p14="http://schemas.microsoft.com/office/powerpoint/2010/main" val="45562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Lecturer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3"/>
            <a:ext cx="8577262" cy="4267200"/>
          </a:xfrm>
        </p:spPr>
        <p:txBody>
          <a:bodyPr/>
          <a:lstStyle/>
          <a:p>
            <a:r>
              <a:rPr lang="en-US" altLang="mk-MK" sz="2500" b="1" dirty="0"/>
              <a:t>Zoran Gichevski</a:t>
            </a:r>
          </a:p>
          <a:p>
            <a:endParaRPr lang="en-US" altLang="mk-MK" sz="2500" b="1" dirty="0"/>
          </a:p>
          <a:p>
            <a:r>
              <a:rPr lang="en-US" altLang="mk-MK" sz="2500" b="1" dirty="0"/>
              <a:t>Responsible for two 24/7 IT Operations and Support Teams at Operations Center | Managed Services Division.</a:t>
            </a:r>
          </a:p>
          <a:p>
            <a:endParaRPr lang="en-US" altLang="mk-MK" sz="2400" b="1" dirty="0"/>
          </a:p>
          <a:p>
            <a:r>
              <a:rPr lang="en-US" altLang="mk-MK" sz="2400" b="1" dirty="0"/>
              <a:t>Contact:</a:t>
            </a:r>
          </a:p>
          <a:p>
            <a:pPr lvl="1"/>
            <a:r>
              <a:rPr lang="en-US" altLang="mk-MK" sz="2000" b="1" dirty="0"/>
              <a:t>Email: </a:t>
            </a:r>
            <a:r>
              <a:rPr lang="en-US" altLang="mk-MK" sz="2000" b="1" dirty="0">
                <a:hlinkClick r:id="rId2"/>
              </a:rPr>
              <a:t>zoran.gichevski@uacs.edu.mk  </a:t>
            </a:r>
            <a:r>
              <a:rPr lang="en-US" altLang="mk-MK" sz="2000" b="1" dirty="0"/>
              <a:t>	</a:t>
            </a:r>
          </a:p>
          <a:p>
            <a:pPr lvl="1"/>
            <a:r>
              <a:rPr lang="en-US" altLang="mk-MK" sz="2000" b="1" dirty="0"/>
              <a:t>LinkedIn: </a:t>
            </a:r>
            <a:r>
              <a:rPr lang="en-US" altLang="mk-MK" sz="2000" b="1" dirty="0">
                <a:hlinkClick r:id="rId3"/>
              </a:rPr>
              <a:t>https://mk.linkedin.com/in/zoran-gichevski</a:t>
            </a:r>
            <a:endParaRPr lang="en-US" altLang="mk-MK" sz="2000" b="1" dirty="0"/>
          </a:p>
          <a:p>
            <a:endParaRPr lang="mk-MK" altLang="mk-MK" sz="2400" b="1" dirty="0"/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2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3071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Introduction to Databases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378225"/>
          </a:xfrm>
        </p:spPr>
        <p:txBody>
          <a:bodyPr/>
          <a:lstStyle/>
          <a:p>
            <a:r>
              <a:rPr lang="en-US" altLang="mk-MK" sz="2500" b="1" dirty="0"/>
              <a:t>Lecturer/Mentor: Venera </a:t>
            </a:r>
            <a:r>
              <a:rPr lang="en-US" altLang="mk-MK" sz="2500" b="1" dirty="0" err="1"/>
              <a:t>Gudachi</a:t>
            </a:r>
            <a:r>
              <a:rPr lang="en-US" altLang="mk-MK" sz="2500" b="1" dirty="0"/>
              <a:t>, PhD</a:t>
            </a:r>
          </a:p>
          <a:p>
            <a:r>
              <a:rPr lang="en-US" altLang="mk-MK" sz="2500" b="1" dirty="0"/>
              <a:t>Assistant/Collaborator: Zoran Gichevski </a:t>
            </a:r>
          </a:p>
          <a:p>
            <a:endParaRPr lang="en-US" altLang="mk-MK" sz="2500" b="1" dirty="0"/>
          </a:p>
          <a:p>
            <a:r>
              <a:rPr lang="en-US" altLang="mk-MK" sz="2500" b="1" dirty="0"/>
              <a:t>Schedule hours:</a:t>
            </a:r>
          </a:p>
          <a:p>
            <a:pPr lvl="1"/>
            <a:r>
              <a:rPr lang="en-US" altLang="mk-MK" sz="2100" b="1" dirty="0"/>
              <a:t>Group 2: Tuesday 17:00-19:00</a:t>
            </a:r>
          </a:p>
          <a:p>
            <a:pPr lvl="1"/>
            <a:r>
              <a:rPr lang="en-US" altLang="mk-MK" sz="2100" b="1" dirty="0"/>
              <a:t>Group 1: Thursday 17:30 – 19:30</a:t>
            </a:r>
          </a:p>
          <a:p>
            <a:pPr lvl="1"/>
            <a:endParaRPr lang="en-US" altLang="mk-MK" sz="2100" b="1" dirty="0"/>
          </a:p>
          <a:p>
            <a:r>
              <a:rPr lang="en-US" altLang="mk-MK" sz="2500" b="1" dirty="0"/>
              <a:t>Room: L2/2</a:t>
            </a:r>
            <a:r>
              <a:rPr lang="en-US" altLang="mk-MK" sz="2500" b="1" baseline="30000" dirty="0"/>
              <a:t>nd</a:t>
            </a:r>
            <a:r>
              <a:rPr lang="en-US" altLang="mk-MK" sz="2500" b="1" dirty="0"/>
              <a:t> floor - L5 /4</a:t>
            </a:r>
            <a:r>
              <a:rPr lang="en-US" altLang="mk-MK" sz="2500" b="1" baseline="30000" dirty="0"/>
              <a:t>th</a:t>
            </a:r>
            <a:r>
              <a:rPr lang="en-US" altLang="mk-MK" sz="2500" b="1" dirty="0"/>
              <a:t> floor</a:t>
            </a:r>
          </a:p>
          <a:p>
            <a:r>
              <a:rPr lang="en-US" altLang="mk-MK" sz="2500" b="1" dirty="0"/>
              <a:t>Consultation hours: On-Demand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72568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>
                <a:solidFill>
                  <a:schemeClr val="tx1"/>
                </a:solidFill>
              </a:rPr>
              <a:t>Weekly delivery plan</a:t>
            </a:r>
            <a:endParaRPr lang="mk-MK" altLang="mk-MK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378225"/>
          </a:xfrm>
        </p:spPr>
        <p:txBody>
          <a:bodyPr/>
          <a:lstStyle/>
          <a:p>
            <a:r>
              <a:rPr lang="en-US" altLang="mk-MK" sz="2500" b="1" dirty="0"/>
              <a:t>Lecture 1 – 6</a:t>
            </a:r>
          </a:p>
          <a:p>
            <a:r>
              <a:rPr lang="en-US" altLang="mk-MK" sz="2500" b="1"/>
              <a:t>Mid </a:t>
            </a:r>
            <a:r>
              <a:rPr lang="en-US" altLang="mk-MK" sz="2500" b="1" dirty="0"/>
              <a:t>Term Exam</a:t>
            </a:r>
          </a:p>
          <a:p>
            <a:r>
              <a:rPr lang="en-US" altLang="mk-MK" sz="2500" b="1" dirty="0"/>
              <a:t>Lecture 7 – 12</a:t>
            </a:r>
          </a:p>
          <a:p>
            <a:r>
              <a:rPr lang="en-US" altLang="mk-MK" sz="2500" b="1" dirty="0"/>
              <a:t>Reading week</a:t>
            </a:r>
          </a:p>
          <a:p>
            <a:r>
              <a:rPr lang="en-US" altLang="mk-MK" sz="2500" b="1" dirty="0"/>
              <a:t>Final Exam</a:t>
            </a:r>
          </a:p>
          <a:p>
            <a:endParaRPr lang="en-US" altLang="mk-MK" sz="2500" b="1" dirty="0"/>
          </a:p>
          <a:p>
            <a:r>
              <a:rPr lang="en-US" altLang="mk-MK" sz="2500" b="1" dirty="0" err="1"/>
              <a:t>MakeUp</a:t>
            </a:r>
            <a:r>
              <a:rPr lang="en-US" altLang="mk-MK" sz="2500" b="1" dirty="0"/>
              <a:t> Exam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4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79259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5</a:t>
            </a:fld>
            <a:endParaRPr lang="en-US" altLang="mk-M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5BCDE9-8228-407E-B6B6-F9C18C52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4" y="1855360"/>
            <a:ext cx="6805638" cy="426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4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9CC8-C3B1-4823-83A2-82AD1543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Categories in the assessment:</a:t>
            </a:r>
          </a:p>
          <a:p>
            <a:pPr marL="0" indent="0">
              <a:buNone/>
            </a:pPr>
            <a:r>
              <a:rPr lang="en-US" sz="1800" b="1" dirty="0"/>
              <a:t>	Active participation (attendance and activity) – 20%</a:t>
            </a:r>
          </a:p>
          <a:p>
            <a:pPr marL="0" indent="0">
              <a:buNone/>
            </a:pPr>
            <a:r>
              <a:rPr lang="en-US" sz="1800" b="1" dirty="0"/>
              <a:t>	Homework/project – 20%</a:t>
            </a:r>
          </a:p>
          <a:p>
            <a:pPr marL="0" indent="0">
              <a:buNone/>
            </a:pPr>
            <a:r>
              <a:rPr lang="en-US" sz="1800" b="1" dirty="0"/>
              <a:t>	Midterm Exam – 30%</a:t>
            </a:r>
          </a:p>
          <a:p>
            <a:pPr marL="0" indent="0">
              <a:buNone/>
            </a:pPr>
            <a:r>
              <a:rPr lang="en-US" sz="1800" b="1" dirty="0"/>
              <a:t>	Final Exam – 30%</a:t>
            </a:r>
          </a:p>
          <a:p>
            <a:r>
              <a:rPr lang="en-US" sz="1800" b="1" dirty="0"/>
              <a:t>Each category in the assessment is equally distributed between theoretical and practical part, i.e., each 50%. To be able to pass the exam in each category in the assessment there is a need to obtain at least 20% both in theoretical and practical part. Additionally, the distribution of points for theoretical and practical part will be equally distributed in active participation and homework/project as well.</a:t>
            </a:r>
          </a:p>
          <a:p>
            <a:endParaRPr lang="en-US" sz="18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6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44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for </a:t>
            </a:r>
            <a:r>
              <a:rPr lang="en-US" altLang="mk-MK" sz="2800" b="1" dirty="0" err="1">
                <a:solidFill>
                  <a:schemeClr val="tx1"/>
                </a:solidFill>
              </a:rPr>
              <a:t>MakeUp</a:t>
            </a:r>
            <a:r>
              <a:rPr lang="en-US" altLang="mk-MK" sz="2800" b="1" dirty="0">
                <a:solidFill>
                  <a:schemeClr val="tx1"/>
                </a:solidFill>
              </a:rPr>
              <a:t> examinations </a:t>
            </a:r>
            <a:endParaRPr lang="mk-MK" altLang="mk-MK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4D50-8CA3-47C1-999E-0D4F477F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1" dirty="0"/>
              <a:t>Examination Instructions and Assessment Details:</a:t>
            </a:r>
          </a:p>
          <a:p>
            <a:pPr marL="0" indent="0">
              <a:buNone/>
            </a:pPr>
            <a:r>
              <a:rPr lang="en-US" sz="1400" b="1" dirty="0"/>
              <a:t>	Examinations will be conducted on-site only, with no exceptions.</a:t>
            </a:r>
          </a:p>
          <a:p>
            <a:pPr marL="0" indent="0">
              <a:buNone/>
            </a:pPr>
            <a:r>
              <a:rPr lang="en-US" sz="1400" b="1" dirty="0"/>
              <a:t>	Exams must be completed on lab computers using the Safe Exam Browser.</a:t>
            </a:r>
          </a:p>
          <a:p>
            <a:pPr marL="0" indent="0">
              <a:buNone/>
            </a:pPr>
            <a:r>
              <a:rPr lang="en-US" sz="1400" b="1" dirty="0"/>
              <a:t>	Personal laptops during exams are not allowed.</a:t>
            </a:r>
          </a:p>
          <a:p>
            <a:r>
              <a:rPr lang="en-US" sz="1400" b="1" dirty="0"/>
              <a:t>Assessment Categories:</a:t>
            </a:r>
          </a:p>
          <a:p>
            <a:pPr marL="0" indent="0">
              <a:buNone/>
            </a:pPr>
            <a:r>
              <a:rPr lang="en-US" sz="1400" b="1" dirty="0"/>
              <a:t>	Theoretical part – 50%</a:t>
            </a:r>
          </a:p>
          <a:p>
            <a:pPr marL="0" indent="0">
              <a:buNone/>
            </a:pPr>
            <a:r>
              <a:rPr lang="en-US" sz="1400" b="1" dirty="0"/>
              <a:t>	Practical part – 50%</a:t>
            </a:r>
          </a:p>
          <a:p>
            <a:r>
              <a:rPr lang="en-US" sz="1400" b="1" dirty="0"/>
              <a:t>Exam Duration:</a:t>
            </a:r>
          </a:p>
          <a:p>
            <a:pPr marL="0" indent="0">
              <a:buNone/>
            </a:pPr>
            <a:r>
              <a:rPr lang="en-US" sz="1400" b="1" dirty="0"/>
              <a:t>	Maximum: 2 hours 30 minutes</a:t>
            </a:r>
          </a:p>
          <a:p>
            <a:pPr marL="0" indent="0">
              <a:buNone/>
            </a:pPr>
            <a:r>
              <a:rPr lang="en-US" sz="1400" b="1" dirty="0"/>
              <a:t>	Theoretical part: 60 minutes</a:t>
            </a:r>
          </a:p>
          <a:p>
            <a:pPr marL="0" indent="0">
              <a:buNone/>
            </a:pPr>
            <a:r>
              <a:rPr lang="en-US" sz="1400" b="1" dirty="0"/>
              <a:t>	Practical part: 90 minutes</a:t>
            </a:r>
          </a:p>
          <a:p>
            <a:r>
              <a:rPr lang="en-US" sz="1400" b="1" dirty="0"/>
              <a:t>Exam Content:</a:t>
            </a:r>
          </a:p>
          <a:p>
            <a:pPr marL="0" indent="0">
              <a:buNone/>
            </a:pPr>
            <a:r>
              <a:rPr lang="en-US" sz="1400" b="1" dirty="0"/>
              <a:t>	Theoretical section: multiple-choice questions, true/false questions, and a critical response essay.</a:t>
            </a:r>
          </a:p>
          <a:p>
            <a:pPr marL="0" indent="0">
              <a:buNone/>
            </a:pPr>
            <a:r>
              <a:rPr lang="en-US" sz="1400" b="1" dirty="0"/>
              <a:t>	Practical section: exercises taught during classes.</a:t>
            </a:r>
          </a:p>
          <a:p>
            <a:endParaRPr lang="en-US" sz="1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7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0945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Evaluation structure and assessments during teaching semester</a:t>
            </a:r>
            <a:endParaRPr lang="mk-MK" altLang="mk-MK" sz="28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3139994"/>
            <a:ext cx="8577262" cy="2592287"/>
          </a:xfrm>
        </p:spPr>
        <p:txBody>
          <a:bodyPr/>
          <a:lstStyle/>
          <a:p>
            <a:r>
              <a:rPr lang="en-US" altLang="mk-MK" sz="2500" b="1" dirty="0"/>
              <a:t>Attendance: 10% from Practical part</a:t>
            </a:r>
          </a:p>
          <a:p>
            <a:pPr lvl="1"/>
            <a:r>
              <a:rPr lang="en-US" altLang="mk-MK" sz="2100" b="1" dirty="0"/>
              <a:t>Attendance: 5%</a:t>
            </a:r>
          </a:p>
          <a:p>
            <a:pPr lvl="1"/>
            <a:r>
              <a:rPr lang="en-US" altLang="mk-MK" sz="2100" b="1" dirty="0"/>
              <a:t>Activity/Participation: 5%</a:t>
            </a:r>
          </a:p>
          <a:p>
            <a:r>
              <a:rPr lang="en-US" altLang="mk-MK" sz="2500" b="1" dirty="0"/>
              <a:t>Homework: 10% from Practical part</a:t>
            </a:r>
          </a:p>
          <a:p>
            <a:pPr lvl="1"/>
            <a:r>
              <a:rPr lang="en-US" altLang="mk-MK" sz="2100" b="1" dirty="0"/>
              <a:t>Delivery 7 days after the class on e-mail</a:t>
            </a:r>
          </a:p>
          <a:p>
            <a:r>
              <a:rPr lang="en-US" altLang="mk-MK" sz="2500" b="1" dirty="0"/>
              <a:t>Mid Term Exam: 15% from Practical part</a:t>
            </a:r>
          </a:p>
          <a:p>
            <a:r>
              <a:rPr lang="en-US" altLang="mk-MK" sz="2500" b="1" dirty="0"/>
              <a:t>Final exam : 15% from Practical part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8</a:t>
            </a:fld>
            <a:endParaRPr lang="en-US" altLang="mk-M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AF91D-9505-4146-B19F-839B9496D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8" y="1700808"/>
            <a:ext cx="5197290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2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114324"/>
          </a:xfrm>
        </p:spPr>
        <p:txBody>
          <a:bodyPr/>
          <a:lstStyle/>
          <a:p>
            <a:r>
              <a:rPr lang="en-US" altLang="mk-MK" sz="3200" b="1" dirty="0">
                <a:solidFill>
                  <a:schemeClr val="tx1"/>
                </a:solidFill>
              </a:rPr>
              <a:t>Used programs during semester</a:t>
            </a:r>
            <a:endParaRPr lang="mk-MK" altLang="mk-MK" sz="32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522242"/>
          </a:xfrm>
        </p:spPr>
        <p:txBody>
          <a:bodyPr/>
          <a:lstStyle/>
          <a:p>
            <a:r>
              <a:rPr lang="en-US" altLang="mk-MK" sz="2500" b="1" dirty="0"/>
              <a:t>Diagram.net (draw.io) </a:t>
            </a:r>
          </a:p>
          <a:p>
            <a:endParaRPr lang="en-US" altLang="mk-MK" sz="2500" b="1" dirty="0"/>
          </a:p>
          <a:p>
            <a:r>
              <a:rPr lang="en-US" altLang="mk-MK" sz="2500" b="1" dirty="0"/>
              <a:t>Microsoft SQL Server</a:t>
            </a:r>
          </a:p>
          <a:p>
            <a:pPr lvl="1"/>
            <a:r>
              <a:rPr lang="en-US" altLang="mk-MK" sz="1800" b="1" dirty="0"/>
              <a:t>DB Engine: MS SQL Server 2019 Express Edition </a:t>
            </a:r>
            <a:r>
              <a:rPr lang="en-US" altLang="mk-MK" sz="1800" b="1" dirty="0">
                <a:hlinkClick r:id="rId2"/>
              </a:rPr>
              <a:t>https://www.microsoft.com/en-us/download/details.aspx?id=101064</a:t>
            </a:r>
            <a:r>
              <a:rPr lang="en-US" altLang="mk-MK" sz="1800" b="1" dirty="0"/>
              <a:t> </a:t>
            </a:r>
          </a:p>
          <a:p>
            <a:pPr lvl="1"/>
            <a:r>
              <a:rPr lang="en-US" altLang="mk-MK" sz="1800" b="1" dirty="0"/>
              <a:t>SQL Management Studio (SSMS) 18.12 </a:t>
            </a:r>
            <a:r>
              <a:rPr lang="en-US" altLang="mk-MK" sz="1800" b="1" dirty="0">
                <a:hlinkClick r:id="rId3"/>
              </a:rPr>
              <a:t>https://learn.microsoft.com/en-us/sql/ssms/download-sql-server-management-studio-ssms?view=sql-server-ver16</a:t>
            </a:r>
            <a:r>
              <a:rPr lang="en-US" altLang="mk-MK" sz="1800" b="1" dirty="0"/>
              <a:t> </a:t>
            </a:r>
          </a:p>
          <a:p>
            <a:pPr lvl="1">
              <a:buFont typeface="Wingdings" panose="05000000000000000000" pitchFamily="2" charset="2"/>
              <a:buNone/>
            </a:pPr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9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75776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114324"/>
          </a:xfrm>
        </p:spPr>
        <p:txBody>
          <a:bodyPr/>
          <a:lstStyle/>
          <a:p>
            <a:r>
              <a:rPr lang="en-US" altLang="mk-MK" sz="3200" b="1" dirty="0">
                <a:solidFill>
                  <a:schemeClr val="tx1"/>
                </a:solidFill>
              </a:rPr>
              <a:t>Classes learning flow</a:t>
            </a:r>
            <a:endParaRPr lang="mk-MK" altLang="mk-MK" sz="3200" b="1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566738" y="1643062"/>
            <a:ext cx="8577262" cy="4522242"/>
          </a:xfrm>
        </p:spPr>
        <p:txBody>
          <a:bodyPr/>
          <a:lstStyle/>
          <a:p>
            <a:r>
              <a:rPr lang="en-US" altLang="mk-MK" sz="2500" b="1" dirty="0"/>
              <a:t>Learning materials will be on Moodle</a:t>
            </a:r>
          </a:p>
          <a:p>
            <a:pPr lvl="1"/>
            <a:r>
              <a:rPr lang="en-US" altLang="mk-MK" sz="2100" b="1" dirty="0"/>
              <a:t>Presentation – available after the classes</a:t>
            </a:r>
          </a:p>
          <a:p>
            <a:pPr lvl="1"/>
            <a:r>
              <a:rPr lang="en-US" altLang="mk-MK" sz="2100" b="1" dirty="0"/>
              <a:t>Exercises – available after the classes </a:t>
            </a:r>
          </a:p>
          <a:p>
            <a:pPr lvl="1"/>
            <a:r>
              <a:rPr lang="en-US" altLang="mk-MK" sz="2100" b="1" dirty="0"/>
              <a:t>Homework – after the classes</a:t>
            </a:r>
          </a:p>
          <a:p>
            <a:pPr lvl="2"/>
            <a:r>
              <a:rPr lang="en-US" altLang="mk-MK" sz="1800" b="1" dirty="0"/>
              <a:t>Deadline 7 days after publishing </a:t>
            </a:r>
          </a:p>
          <a:p>
            <a:pPr lvl="2"/>
            <a:endParaRPr lang="en-US" altLang="mk-MK" sz="1800" b="1" dirty="0"/>
          </a:p>
          <a:p>
            <a:pPr lvl="1"/>
            <a:r>
              <a:rPr lang="en-US" altLang="mk-MK" sz="2100" b="1" dirty="0"/>
              <a:t>Additional info or materials</a:t>
            </a:r>
          </a:p>
          <a:p>
            <a:pPr lvl="2"/>
            <a:r>
              <a:rPr lang="en-US" altLang="mk-MK" sz="1800" b="1" dirty="0"/>
              <a:t>Upon request on Moodle</a:t>
            </a:r>
          </a:p>
          <a:p>
            <a:endParaRPr lang="mk-MK" altLang="mk-MK" sz="1900" dirty="0"/>
          </a:p>
          <a:p>
            <a:pPr lvl="3">
              <a:buFont typeface="Wingdings" panose="05000000000000000000" pitchFamily="2" charset="2"/>
              <a:buNone/>
            </a:pPr>
            <a:endParaRPr lang="mk-MK" altLang="mk-MK" sz="1800" dirty="0"/>
          </a:p>
          <a:p>
            <a:pPr lvl="1"/>
            <a:endParaRPr lang="mk-MK" altLang="mk-MK" sz="2400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10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0747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74674" y="304800"/>
            <a:ext cx="8569326" cy="1251992"/>
          </a:xfrm>
        </p:spPr>
        <p:txBody>
          <a:bodyPr/>
          <a:lstStyle/>
          <a:p>
            <a:r>
              <a:rPr lang="en-US" altLang="mk-MK" sz="2800" b="1" dirty="0">
                <a:solidFill>
                  <a:schemeClr val="tx1"/>
                </a:solidFill>
              </a:rPr>
              <a:t>Questions ?</a:t>
            </a:r>
            <a:endParaRPr lang="mk-MK" altLang="mk-MK" sz="2800" b="1" dirty="0"/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C8825BF-9FF9-4E27-A3B7-3DF7535A22B7}" type="slidenum">
              <a:rPr lang="en-US" altLang="mk-MK"/>
              <a:pPr/>
              <a:t>11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69133471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364</TotalTime>
  <Words>323</Words>
  <Application>Microsoft Office PowerPoint</Application>
  <PresentationFormat>On-screen Show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Times New Roman</vt:lpstr>
      <vt:lpstr>Verdana</vt:lpstr>
      <vt:lpstr>Wingdings</vt:lpstr>
      <vt:lpstr>Profile</vt:lpstr>
      <vt:lpstr>1_Profile</vt:lpstr>
      <vt:lpstr>SCSIT  IV Semester  Introduction to Databases</vt:lpstr>
      <vt:lpstr>Lecturer</vt:lpstr>
      <vt:lpstr>Introduction to Databases</vt:lpstr>
      <vt:lpstr>Weekly delivery plan</vt:lpstr>
      <vt:lpstr>Evaluation structure and assessments during teaching semester</vt:lpstr>
      <vt:lpstr>Evaluation structure and assessments during teaching semester</vt:lpstr>
      <vt:lpstr>Evaluation structure and assessments for MakeUp examinations </vt:lpstr>
      <vt:lpstr>Evaluation structure and assessments during teaching semester</vt:lpstr>
      <vt:lpstr>Used programs during semester</vt:lpstr>
      <vt:lpstr>Classes learning flow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IV Семестар  Бази податоци</dc:title>
  <dc:creator>UACS</dc:creator>
  <cp:lastModifiedBy>Zoran Gichevski</cp:lastModifiedBy>
  <cp:revision>33</cp:revision>
  <dcterms:created xsi:type="dcterms:W3CDTF">2015-09-15T12:39:57Z</dcterms:created>
  <dcterms:modified xsi:type="dcterms:W3CDTF">2026-02-19T14:39:57Z</dcterms:modified>
</cp:coreProperties>
</file>