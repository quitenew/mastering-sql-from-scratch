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8"/>
  </p:notesMasterIdLst>
  <p:handoutMasterIdLst>
    <p:handoutMasterId r:id="rId49"/>
  </p:handoutMasterIdLst>
  <p:sldIdLst>
    <p:sldId id="438" r:id="rId2"/>
    <p:sldId id="439" r:id="rId3"/>
    <p:sldId id="473" r:id="rId4"/>
    <p:sldId id="372" r:id="rId5"/>
    <p:sldId id="373" r:id="rId6"/>
    <p:sldId id="374" r:id="rId7"/>
    <p:sldId id="375" r:id="rId8"/>
    <p:sldId id="376" r:id="rId9"/>
    <p:sldId id="437" r:id="rId10"/>
    <p:sldId id="378" r:id="rId11"/>
    <p:sldId id="379" r:id="rId12"/>
    <p:sldId id="380" r:id="rId13"/>
    <p:sldId id="381" r:id="rId14"/>
    <p:sldId id="382" r:id="rId15"/>
    <p:sldId id="383" r:id="rId16"/>
    <p:sldId id="384" r:id="rId17"/>
    <p:sldId id="385" r:id="rId18"/>
    <p:sldId id="386" r:id="rId19"/>
    <p:sldId id="387" r:id="rId20"/>
    <p:sldId id="388" r:id="rId21"/>
    <p:sldId id="389" r:id="rId22"/>
    <p:sldId id="390" r:id="rId23"/>
    <p:sldId id="391" r:id="rId24"/>
    <p:sldId id="392" r:id="rId25"/>
    <p:sldId id="393" r:id="rId26"/>
    <p:sldId id="409" r:id="rId27"/>
    <p:sldId id="410" r:id="rId28"/>
    <p:sldId id="411" r:id="rId29"/>
    <p:sldId id="412" r:id="rId30"/>
    <p:sldId id="413" r:id="rId31"/>
    <p:sldId id="414" r:id="rId32"/>
    <p:sldId id="415" r:id="rId33"/>
    <p:sldId id="416" r:id="rId34"/>
    <p:sldId id="417" r:id="rId35"/>
    <p:sldId id="418" r:id="rId36"/>
    <p:sldId id="419" r:id="rId37"/>
    <p:sldId id="420" r:id="rId38"/>
    <p:sldId id="421" r:id="rId39"/>
    <p:sldId id="422" r:id="rId40"/>
    <p:sldId id="423" r:id="rId41"/>
    <p:sldId id="424" r:id="rId42"/>
    <p:sldId id="425" r:id="rId43"/>
    <p:sldId id="426" r:id="rId44"/>
    <p:sldId id="427" r:id="rId45"/>
    <p:sldId id="428" r:id="rId46"/>
    <p:sldId id="429" r:id="rId47"/>
  </p:sldIdLst>
  <p:sldSz cx="9144000" cy="6858000" type="screen4x3"/>
  <p:notesSz cx="6997700" cy="9283700"/>
  <p:custShowLst>
    <p:custShow name="Custom Show 1" id="0">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33" autoAdjust="0"/>
    <p:restoredTop sz="43856" autoAdjust="0"/>
  </p:normalViewPr>
  <p:slideViewPr>
    <p:cSldViewPr snapToGrid="0">
      <p:cViewPr varScale="1">
        <p:scale>
          <a:sx n="31" d="100"/>
          <a:sy n="31" d="100"/>
        </p:scale>
        <p:origin x="1668" y="4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15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9C98366-10B6-4C97-9C68-1B8DAD89E8AC}" type="slidenum">
              <a:rPr lang="en-US" altLang="en-US" sz="1200"/>
              <a:pPr/>
              <a:t>2</a:t>
            </a:fld>
            <a:endParaRPr lang="en-US" altLang="en-US" sz="1200"/>
          </a:p>
        </p:txBody>
      </p:sp>
      <p:sp>
        <p:nvSpPr>
          <p:cNvPr id="110595" name="Rectangle 2"/>
          <p:cNvSpPr>
            <a:spLocks noGrp="1" noRot="1" noChangeAspect="1" noChangeArrowheads="1" noTextEdit="1"/>
          </p:cNvSpPr>
          <p:nvPr>
            <p:ph type="sldImg"/>
          </p:nvPr>
        </p:nvSpPr>
        <p:spPr>
          <a:xfrm>
            <a:off x="1177925" y="695325"/>
            <a:ext cx="4641850" cy="3481388"/>
          </a:xfrm>
          <a:ln/>
        </p:spPr>
      </p:sp>
      <p:sp>
        <p:nvSpPr>
          <p:cNvPr id="11059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79796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B2ED6F9-53BE-4CD9-8D10-83BD677C8535}" type="slidenum">
              <a:rPr lang="en-US" altLang="en-US" sz="1200"/>
              <a:pPr/>
              <a:t>3</a:t>
            </a:fld>
            <a:endParaRPr lang="en-US" altLang="en-US" sz="1200"/>
          </a:p>
        </p:txBody>
      </p:sp>
      <p:sp>
        <p:nvSpPr>
          <p:cNvPr id="145411" name="Rectangle 2"/>
          <p:cNvSpPr>
            <a:spLocks noGrp="1" noRot="1" noChangeAspect="1" noChangeArrowheads="1" noTextEdit="1"/>
          </p:cNvSpPr>
          <p:nvPr>
            <p:ph type="sldImg"/>
          </p:nvPr>
        </p:nvSpPr>
        <p:spPr>
          <a:xfrm>
            <a:off x="1177925" y="695325"/>
            <a:ext cx="4641850" cy="3481388"/>
          </a:xfrm>
          <a:ln/>
        </p:spPr>
      </p:sp>
      <p:sp>
        <p:nvSpPr>
          <p:cNvPr id="14541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23828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4B6CE2F-3CD3-45FE-B460-EC2ED3F07842}" type="slidenum">
              <a:rPr lang="en-US" altLang="en-US" sz="1200"/>
              <a:pPr/>
              <a:t>4</a:t>
            </a:fld>
            <a:endParaRPr lang="en-US" altLang="en-US" sz="1200"/>
          </a:p>
        </p:txBody>
      </p:sp>
      <p:sp>
        <p:nvSpPr>
          <p:cNvPr id="146435" name="Rectangle 2"/>
          <p:cNvSpPr>
            <a:spLocks noGrp="1" noRot="1" noChangeAspect="1" noChangeArrowheads="1" noTextEdit="1"/>
          </p:cNvSpPr>
          <p:nvPr>
            <p:ph type="sldImg"/>
          </p:nvPr>
        </p:nvSpPr>
        <p:spPr>
          <a:xfrm>
            <a:off x="1177925" y="695325"/>
            <a:ext cx="4641850" cy="3481388"/>
          </a:xfrm>
          <a:ln/>
        </p:spPr>
      </p:sp>
      <p:sp>
        <p:nvSpPr>
          <p:cNvPr id="14643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have seen in our examples that it is useful to be able to reason systematically about functional dependencies as part of a process of testing schemas for BCNF or 3NF</a:t>
            </a:r>
            <a:r>
              <a:rPr lang="en-US" dirty="0" smtClean="0"/>
              <a:t>.</a:t>
            </a:r>
            <a:endParaRPr lang="en-US"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4E4753A-8DE0-4CA5-9E0D-F3763DCF04F6}" type="slidenum">
              <a:rPr lang="en-US" altLang="en-US" sz="1200"/>
              <a:pPr/>
              <a:t>5</a:t>
            </a:fld>
            <a:endParaRPr lang="en-US" altLang="en-US" sz="1200"/>
          </a:p>
        </p:txBody>
      </p:sp>
      <p:sp>
        <p:nvSpPr>
          <p:cNvPr id="147459" name="Rectangle 2"/>
          <p:cNvSpPr>
            <a:spLocks noGrp="1" noRot="1" noChangeAspect="1" noChangeArrowheads="1" noTextEdit="1"/>
          </p:cNvSpPr>
          <p:nvPr>
            <p:ph type="sldImg"/>
          </p:nvPr>
        </p:nvSpPr>
        <p:spPr>
          <a:xfrm>
            <a:off x="1177925" y="695325"/>
            <a:ext cx="4641850" cy="3481388"/>
          </a:xfrm>
          <a:ln/>
        </p:spPr>
      </p:sp>
      <p:sp>
        <p:nvSpPr>
          <p:cNvPr id="14746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shall see that, given a set F of functional dependencies on a schema, we can prove that certain other functional dependencies also hold on the schema. We say that such functional dependencies are “logically implied” by F. When testing for normal forms, it is not sufficient to consider the given set of functional dependencies; rather, we need to consider all functional dependencies that hold on the schema.</a:t>
            </a:r>
          </a:p>
          <a:p>
            <a:endParaRPr lang="en-US" altLang="en-US" dirty="0" smtClean="0">
              <a:latin typeface="Times New Roman" panose="02020603050405020304" pitchFamily="18" charset="0"/>
            </a:endParaRPr>
          </a:p>
          <a:p>
            <a:r>
              <a:rPr lang="en-US" dirty="0" smtClean="0"/>
              <a:t>More formally, given a relation schema r(R), a functional dependency f on R is logically implied by a set of functional dependencies F on R if every instance of a relation r(R) that satisfies F also satisfies f .</a:t>
            </a:r>
          </a:p>
          <a:p>
            <a:endParaRPr lang="en-US" altLang="en-US" dirty="0" smtClean="0">
              <a:latin typeface="Times New Roman" panose="02020603050405020304" pitchFamily="18" charset="0"/>
            </a:endParaRPr>
          </a:p>
          <a:p>
            <a:r>
              <a:rPr lang="en-US" b="1" dirty="0" smtClean="0"/>
              <a:t>Let F be a set of functional dependencies. The closure of F, denoted by F+, is the set of all functional dependencies logically implied by F. Given F, we can compute F+ directly from the formal definition of functional dependency. If F were large, this process would be lengthy and difficult. Such a computation of F+ requires arguments of the type just used to show that A → H is in the closure of our example set of dependencies.</a:t>
            </a:r>
            <a:endParaRPr lang="en-US" altLang="en-US" b="1"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7E239C7-4B01-4ACB-AC64-19B9EB42973F}" type="slidenum">
              <a:rPr lang="en-US" altLang="en-US" sz="1200"/>
              <a:pPr/>
              <a:t>6</a:t>
            </a:fld>
            <a:endParaRPr lang="en-US" altLang="en-US" sz="1200"/>
          </a:p>
        </p:txBody>
      </p:sp>
      <p:sp>
        <p:nvSpPr>
          <p:cNvPr id="148483" name="Rectangle 2"/>
          <p:cNvSpPr>
            <a:spLocks noGrp="1" noRot="1" noChangeAspect="1" noChangeArrowheads="1" noTextEdit="1"/>
          </p:cNvSpPr>
          <p:nvPr>
            <p:ph type="sldImg"/>
          </p:nvPr>
        </p:nvSpPr>
        <p:spPr>
          <a:xfrm>
            <a:off x="1177925" y="695325"/>
            <a:ext cx="4641850" cy="3481388"/>
          </a:xfrm>
          <a:ln/>
        </p:spPr>
      </p:sp>
      <p:sp>
        <p:nvSpPr>
          <p:cNvPr id="14848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Axioms, or rules of inference, provide a simpler technique for reasoning about functional dependencies. In the rules that follow, we use Greek letters (α, β, γ, … ) for sets of attributes and uppercase Roman letters from the beginning of the alphabet for individual attributes. We use αβ to denote α∪β.</a:t>
            </a:r>
          </a:p>
          <a:p>
            <a:endParaRPr lang="en-US" altLang="en-US" dirty="0" smtClean="0">
              <a:latin typeface="Times New Roman" panose="02020603050405020304" pitchFamily="18" charset="0"/>
            </a:endParaRPr>
          </a:p>
          <a:p>
            <a:r>
              <a:rPr lang="en-US" b="1" dirty="0" smtClean="0"/>
              <a:t>We can use the following three rules to find logically implied functional dependencies. By applying these rules repeatedly, we can find all of F+, given F. This collection of rules is called Armstrong’s axioms in honor of the person who first proposed it.</a:t>
            </a:r>
          </a:p>
          <a:p>
            <a:endParaRPr lang="en-US" altLang="en-US" dirty="0" smtClean="0">
              <a:latin typeface="Times New Roman" panose="02020603050405020304" pitchFamily="18" charset="0"/>
            </a:endParaRPr>
          </a:p>
          <a:p>
            <a:r>
              <a:rPr lang="en-US" dirty="0" smtClean="0"/>
              <a:t>• </a:t>
            </a:r>
            <a:r>
              <a:rPr lang="en-US" b="1" dirty="0" smtClean="0"/>
              <a:t>Reflexivity rule. </a:t>
            </a:r>
            <a:r>
              <a:rPr lang="en-US" i="1" dirty="0" smtClean="0"/>
              <a:t>If </a:t>
            </a:r>
            <a:r>
              <a:rPr lang="el-GR" i="1" dirty="0" smtClean="0"/>
              <a:t>α </a:t>
            </a:r>
            <a:r>
              <a:rPr lang="en-US" i="1" dirty="0" smtClean="0"/>
              <a:t>is a set of attributes and </a:t>
            </a:r>
            <a:r>
              <a:rPr lang="el-GR" i="1" dirty="0" smtClean="0"/>
              <a:t>β ⊆ α, </a:t>
            </a:r>
            <a:r>
              <a:rPr lang="en-US" i="1" dirty="0" smtClean="0"/>
              <a:t>then </a:t>
            </a:r>
            <a:r>
              <a:rPr lang="el-GR" i="1" dirty="0" smtClean="0"/>
              <a:t>α → β </a:t>
            </a:r>
            <a:r>
              <a:rPr lang="en-US" i="1" dirty="0" smtClean="0"/>
              <a:t>holds. </a:t>
            </a:r>
          </a:p>
          <a:p>
            <a:r>
              <a:rPr lang="en-US" dirty="0" smtClean="0"/>
              <a:t>• </a:t>
            </a:r>
            <a:r>
              <a:rPr lang="en-US" b="1" dirty="0" smtClean="0"/>
              <a:t>Augmentation rule. </a:t>
            </a:r>
            <a:r>
              <a:rPr lang="en-US" i="1" dirty="0" smtClean="0"/>
              <a:t>If </a:t>
            </a:r>
            <a:r>
              <a:rPr lang="el-GR" i="1" dirty="0" smtClean="0"/>
              <a:t>α → β </a:t>
            </a:r>
            <a:r>
              <a:rPr lang="en-US" i="1" dirty="0" smtClean="0"/>
              <a:t>holds and </a:t>
            </a:r>
            <a:r>
              <a:rPr lang="el-GR" i="1" dirty="0" smtClean="0"/>
              <a:t>γ </a:t>
            </a:r>
            <a:r>
              <a:rPr lang="en-US" i="1" dirty="0" smtClean="0"/>
              <a:t>is a set of attributes, then </a:t>
            </a:r>
            <a:r>
              <a:rPr lang="el-GR" i="1" dirty="0" smtClean="0"/>
              <a:t>γα → γβ </a:t>
            </a:r>
            <a:r>
              <a:rPr lang="en-US" i="1" dirty="0" smtClean="0"/>
              <a:t>holds. </a:t>
            </a:r>
          </a:p>
          <a:p>
            <a:r>
              <a:rPr lang="en-US" dirty="0" smtClean="0"/>
              <a:t>• </a:t>
            </a:r>
            <a:r>
              <a:rPr lang="en-US" b="1" dirty="0" smtClean="0"/>
              <a:t>Transitivity rule. </a:t>
            </a:r>
            <a:r>
              <a:rPr lang="en-US" i="1" dirty="0" smtClean="0"/>
              <a:t>If </a:t>
            </a:r>
            <a:r>
              <a:rPr lang="el-GR" i="1" dirty="0" smtClean="0"/>
              <a:t>α → β </a:t>
            </a:r>
            <a:r>
              <a:rPr lang="en-US" i="1" dirty="0" smtClean="0"/>
              <a:t>holds and </a:t>
            </a:r>
            <a:r>
              <a:rPr lang="el-GR" i="1" dirty="0" smtClean="0"/>
              <a:t>β → γ </a:t>
            </a:r>
            <a:r>
              <a:rPr lang="en-US" i="1" dirty="0" smtClean="0"/>
              <a:t>holds, then </a:t>
            </a:r>
            <a:r>
              <a:rPr lang="el-GR" i="1" dirty="0" smtClean="0"/>
              <a:t>α → γ </a:t>
            </a:r>
            <a:r>
              <a:rPr lang="en-US" i="1" dirty="0" smtClean="0"/>
              <a:t>holds</a:t>
            </a:r>
          </a:p>
          <a:p>
            <a:endParaRPr lang="en-US" altLang="en-US" dirty="0" smtClean="0">
              <a:latin typeface="Times New Roman" panose="02020603050405020304" pitchFamily="18" charset="0"/>
            </a:endParaRPr>
          </a:p>
          <a:p>
            <a:r>
              <a:rPr lang="en-US" b="1" dirty="0" smtClean="0"/>
              <a:t>Armstrong’s axioms are sound, because they do not generate any incorrect functional dependencies. They are complete, because, for a given set F of functional dependencies, they allow us to generate all F+. The Further Reading section provides references for proofs of soundness and completeness.</a:t>
            </a:r>
            <a:endParaRPr lang="en-US" altLang="en-US" b="1"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AC0A48C-B033-4AC9-8924-4B331051E00D}" type="slidenum">
              <a:rPr lang="en-US" altLang="en-US" sz="1200"/>
              <a:pPr/>
              <a:t>7</a:t>
            </a:fld>
            <a:endParaRPr lang="en-US" altLang="en-US" sz="1200"/>
          </a:p>
        </p:txBody>
      </p:sp>
      <p:sp>
        <p:nvSpPr>
          <p:cNvPr id="149507" name="Rectangle 2"/>
          <p:cNvSpPr>
            <a:spLocks noGrp="1" noRot="1" noChangeAspect="1" noChangeArrowheads="1" noTextEdit="1"/>
          </p:cNvSpPr>
          <p:nvPr>
            <p:ph type="sldImg"/>
          </p:nvPr>
        </p:nvSpPr>
        <p:spPr>
          <a:xfrm>
            <a:off x="1177925" y="695325"/>
            <a:ext cx="4641850" cy="3481388"/>
          </a:xfrm>
          <a:ln/>
        </p:spPr>
      </p:sp>
      <p:sp>
        <p:nvSpPr>
          <p:cNvPr id="149508"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Let us apply our rules to the example of schema R = (A, B, C, G, H, I) and the set F of functional dependencies {A → B, A → C, CG → H, CG → I, B → H}. We list several members of F+ here:</a:t>
            </a:r>
          </a:p>
          <a:p>
            <a:r>
              <a:rPr lang="en-US" b="1" dirty="0" smtClean="0"/>
              <a:t>• A → H. Since A → B and B → H hold, we apply the transitivity rule. Observe that it was much easier to use Armstrong’s axioms to show that A → H holds than it was to argue directly from the definitions, as we did earlier in this section. </a:t>
            </a:r>
          </a:p>
          <a:p>
            <a:r>
              <a:rPr lang="en-US" b="1" dirty="0" smtClean="0"/>
              <a:t>• CG → HI. Since CG → H and CG → I, the union rule implies that CG → HI.</a:t>
            </a:r>
            <a:endParaRPr lang="en-US" altLang="en-US" b="1" dirty="0" smtClean="0">
              <a:latin typeface="Times New Roman" panose="02020603050405020304" pitchFamily="18" charset="0"/>
            </a:endParaRPr>
          </a:p>
          <a:p>
            <a:r>
              <a:rPr lang="en-US" b="1" dirty="0" smtClean="0"/>
              <a:t>• AG → I. Since A → C and CG → I, the pseudo transitivity rule implies that AG → I holds. </a:t>
            </a:r>
          </a:p>
          <a:p>
            <a:endParaRPr lang="en-US" dirty="0" smtClean="0"/>
          </a:p>
          <a:p>
            <a:r>
              <a:rPr lang="en-US" b="1" dirty="0" smtClean="0"/>
              <a:t>Another way of finding that AG → I holds is as follows: We use the augmentation rule on A → C to infer AG → CG. Applying the transitivity rule to this dependency and CG → I, we infer AG → I.</a:t>
            </a:r>
            <a:endParaRPr lang="en-US" altLang="en-US" b="1"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7999FEA-463D-4EC2-9BE5-4E48B7E10B51}" type="slidenum">
              <a:rPr lang="en-US" altLang="en-US" sz="1200"/>
              <a:pPr/>
              <a:t>8</a:t>
            </a:fld>
            <a:endParaRPr lang="en-US" altLang="en-US" sz="1200"/>
          </a:p>
        </p:txBody>
      </p:sp>
      <p:sp>
        <p:nvSpPr>
          <p:cNvPr id="150531" name="Rectangle 2"/>
          <p:cNvSpPr>
            <a:spLocks noGrp="1" noRot="1" noChangeAspect="1" noChangeArrowheads="1" noTextEdit="1"/>
          </p:cNvSpPr>
          <p:nvPr>
            <p:ph type="sldImg"/>
          </p:nvPr>
        </p:nvSpPr>
        <p:spPr>
          <a:xfrm>
            <a:off x="1177925" y="695325"/>
            <a:ext cx="4641850" cy="3481388"/>
          </a:xfrm>
          <a:ln/>
        </p:spPr>
      </p:sp>
      <p:sp>
        <p:nvSpPr>
          <p:cNvPr id="15053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Although Armstrong’s axioms are complete, it is tiresome to use them directly for the computation of F</a:t>
            </a:r>
            <a:r>
              <a:rPr lang="en-US" b="1" baseline="30000" dirty="0" smtClean="0"/>
              <a:t>+</a:t>
            </a:r>
            <a:r>
              <a:rPr lang="en-US" b="1" dirty="0" smtClean="0"/>
              <a:t>. To simplify matters further, we list additional rules. It is possible to use Armstrong’s axioms to prove that these rules are sound</a:t>
            </a:r>
            <a:r>
              <a:rPr lang="en-US" dirty="0" smtClean="0"/>
              <a:t> (see Practice Exercise 7.4, Practice Exercise 7.5, and Exercise 7.27).</a:t>
            </a:r>
          </a:p>
          <a:p>
            <a:endParaRPr lang="en-US" altLang="en-US" dirty="0" smtClean="0">
              <a:latin typeface="Times New Roman" panose="02020603050405020304" pitchFamily="18" charset="0"/>
            </a:endParaRPr>
          </a:p>
          <a:p>
            <a:r>
              <a:rPr lang="en-US" dirty="0" smtClean="0"/>
              <a:t>• </a:t>
            </a:r>
            <a:r>
              <a:rPr lang="en-US" b="1" dirty="0" smtClean="0"/>
              <a:t>Union rule.</a:t>
            </a:r>
            <a:r>
              <a:rPr lang="en-US" b="1" i="1" dirty="0" smtClean="0"/>
              <a:t> </a:t>
            </a:r>
            <a:r>
              <a:rPr lang="en-US" i="1" dirty="0" smtClean="0"/>
              <a:t>If </a:t>
            </a:r>
            <a:r>
              <a:rPr lang="el-GR" i="1" dirty="0" smtClean="0"/>
              <a:t>α → β </a:t>
            </a:r>
            <a:r>
              <a:rPr lang="en-US" i="1" dirty="0" smtClean="0"/>
              <a:t>holds and </a:t>
            </a:r>
            <a:r>
              <a:rPr lang="el-GR" i="1" dirty="0" smtClean="0"/>
              <a:t>α → γ </a:t>
            </a:r>
            <a:r>
              <a:rPr lang="en-US" i="1" dirty="0" smtClean="0"/>
              <a:t>holds, then </a:t>
            </a:r>
            <a:r>
              <a:rPr lang="el-GR" i="1" dirty="0" smtClean="0"/>
              <a:t>α → βγ </a:t>
            </a:r>
            <a:r>
              <a:rPr lang="en-US" i="1" dirty="0" smtClean="0"/>
              <a:t>holds. </a:t>
            </a:r>
          </a:p>
          <a:p>
            <a:r>
              <a:rPr lang="en-US" dirty="0" smtClean="0"/>
              <a:t>• </a:t>
            </a:r>
            <a:r>
              <a:rPr lang="en-US" b="1" dirty="0" smtClean="0"/>
              <a:t>Decomposition rule. </a:t>
            </a:r>
            <a:r>
              <a:rPr lang="en-US" i="1" dirty="0" smtClean="0"/>
              <a:t>If </a:t>
            </a:r>
            <a:r>
              <a:rPr lang="el-GR" i="1" dirty="0" smtClean="0"/>
              <a:t>α → βγ </a:t>
            </a:r>
            <a:r>
              <a:rPr lang="en-US" i="1" dirty="0" smtClean="0"/>
              <a:t>holds, then </a:t>
            </a:r>
            <a:r>
              <a:rPr lang="el-GR" i="1" dirty="0" smtClean="0"/>
              <a:t>α → β </a:t>
            </a:r>
            <a:r>
              <a:rPr lang="en-US" i="1" dirty="0" smtClean="0"/>
              <a:t>holds and </a:t>
            </a:r>
            <a:r>
              <a:rPr lang="el-GR" i="1" dirty="0" smtClean="0"/>
              <a:t>α → γ </a:t>
            </a:r>
            <a:r>
              <a:rPr lang="en-US" i="1" dirty="0" smtClean="0"/>
              <a:t>holds. </a:t>
            </a:r>
          </a:p>
          <a:p>
            <a:r>
              <a:rPr lang="en-US" dirty="0" smtClean="0"/>
              <a:t>• </a:t>
            </a:r>
            <a:r>
              <a:rPr lang="en-US" b="1" dirty="0" err="1" smtClean="0"/>
              <a:t>Pseudotransitivity</a:t>
            </a:r>
            <a:r>
              <a:rPr lang="en-US" b="1" dirty="0" smtClean="0"/>
              <a:t> rule. </a:t>
            </a:r>
            <a:r>
              <a:rPr lang="en-US" i="1" dirty="0" smtClean="0"/>
              <a:t>If </a:t>
            </a:r>
            <a:r>
              <a:rPr lang="el-GR" i="1" dirty="0" smtClean="0"/>
              <a:t>α → β </a:t>
            </a:r>
            <a:r>
              <a:rPr lang="en-US" i="1" dirty="0" smtClean="0"/>
              <a:t>holds and </a:t>
            </a:r>
            <a:r>
              <a:rPr lang="el-GR" i="1" dirty="0" smtClean="0"/>
              <a:t>γβ → δ </a:t>
            </a:r>
            <a:r>
              <a:rPr lang="en-US" i="1" dirty="0" smtClean="0"/>
              <a:t>holds, then </a:t>
            </a:r>
            <a:r>
              <a:rPr lang="el-GR" i="1" dirty="0" smtClean="0"/>
              <a:t>αγ → δ </a:t>
            </a:r>
            <a:r>
              <a:rPr lang="en-US" i="1" dirty="0" smtClean="0"/>
              <a:t>holds.</a:t>
            </a:r>
            <a:endParaRPr lang="en-US" altLang="en-US" i="1" dirty="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F86710-0453-46DF-9A04-3F5F631C00F1}" type="slidenum">
              <a:rPr lang="en-US" altLang="en-US" sz="1200"/>
              <a:pPr/>
              <a:t>9</a:t>
            </a:fld>
            <a:endParaRPr lang="en-US" altLang="en-US" sz="1200"/>
          </a:p>
        </p:txBody>
      </p:sp>
      <p:sp>
        <p:nvSpPr>
          <p:cNvPr id="152579" name="Rectangle 2"/>
          <p:cNvSpPr>
            <a:spLocks noGrp="1" noRot="1" noChangeAspect="1" noChangeArrowheads="1" noTextEdit="1"/>
          </p:cNvSpPr>
          <p:nvPr>
            <p:ph type="sldImg"/>
          </p:nvPr>
        </p:nvSpPr>
        <p:spPr>
          <a:xfrm>
            <a:off x="1177925" y="695325"/>
            <a:ext cx="4641850" cy="3481388"/>
          </a:xfrm>
          <a:ln/>
        </p:spPr>
      </p:sp>
      <p:sp>
        <p:nvSpPr>
          <p:cNvPr id="15258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Figure 7.7 </a:t>
            </a:r>
            <a:r>
              <a:rPr lang="en-US" b="1" dirty="0" smtClean="0"/>
              <a:t>shows a procedure that demonstrates formally how to use Armstrong’s axioms to compute F+. In this procedure, when a functional dependency is added to F+, it may be already present, and in that case there is no change to F+. We shall see an alternative way of computing F+ in Section 7.4.2. )(</a:t>
            </a:r>
            <a:r>
              <a:rPr lang="en-US" dirty="0" smtClean="0"/>
              <a:t>next</a:t>
            </a:r>
            <a:r>
              <a:rPr lang="en-US" baseline="0" dirty="0" smtClean="0"/>
              <a:t> slide)</a:t>
            </a:r>
            <a:endParaRPr lang="en-US" altLang="en-US"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F86710-0453-46DF-9A04-3F5F631C00F1}" type="slidenum">
              <a:rPr lang="en-US" altLang="en-US" sz="1200"/>
              <a:pPr/>
              <a:t>10</a:t>
            </a:fld>
            <a:endParaRPr lang="en-US" altLang="en-US" sz="1200"/>
          </a:p>
        </p:txBody>
      </p:sp>
      <p:sp>
        <p:nvSpPr>
          <p:cNvPr id="152579" name="Rectangle 2"/>
          <p:cNvSpPr>
            <a:spLocks noGrp="1" noRot="1" noChangeAspect="1" noChangeArrowheads="1" noTextEdit="1"/>
          </p:cNvSpPr>
          <p:nvPr>
            <p:ph type="sldImg"/>
          </p:nvPr>
        </p:nvSpPr>
        <p:spPr>
          <a:xfrm>
            <a:off x="1177925" y="695325"/>
            <a:ext cx="4641850" cy="3481388"/>
          </a:xfrm>
          <a:ln/>
        </p:spPr>
      </p:sp>
      <p:sp>
        <p:nvSpPr>
          <p:cNvPr id="15258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Let α be a set of attributes. We call the set of all attributes functionally determined by α under a set F of functional dependencies the closure of α under F; we denote it by α+. Figure 7.8 shows an algorithm, written in pseudocode, to compute α+. The input is a set F of functional dependencies and the set α of attributes. The output is stored in the variable result.</a:t>
            </a:r>
            <a:endParaRPr lang="en-US" altLang="en-US" b="1"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Let us see why the algorithm of Figure 7.8 is correct. The first step is correct because α → α always holds (by the reflexivity rule). We claim that, for any subset β of result, α → β. Since we start the repeat loop with α → result being true, we can add γ to result only if β ⊆ result and β → γ. But then result → β by the reflexivity rule, so α → β by transitivity. Another application of transitivity shows that α → γ (using α → β and β → γ). The union rule implies that α → result ∪ γ, so α functionally determines any new result generated in the repeat loop. Thus, any attribute returned by the algorithm is in α+.</a:t>
            </a:r>
            <a:endParaRPr lang="en-US" altLang="en-US" b="1"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25BC543-30D6-4AA8-90B4-22C339D46936}" type="slidenum">
              <a:rPr lang="en-US" altLang="en-US" sz="1200"/>
              <a:pPr/>
              <a:t>11</a:t>
            </a:fld>
            <a:endParaRPr lang="en-US" altLang="en-US" sz="1200"/>
          </a:p>
        </p:txBody>
      </p:sp>
      <p:sp>
        <p:nvSpPr>
          <p:cNvPr id="153603" name="Rectangle 2"/>
          <p:cNvSpPr>
            <a:spLocks noGrp="1" noRot="1" noChangeAspect="1" noChangeArrowheads="1" noTextEdit="1"/>
          </p:cNvSpPr>
          <p:nvPr>
            <p:ph type="sldImg"/>
          </p:nvPr>
        </p:nvSpPr>
        <p:spPr>
          <a:xfrm>
            <a:off x="1177925" y="695325"/>
            <a:ext cx="4641850" cy="3481388"/>
          </a:xfrm>
          <a:ln/>
        </p:spPr>
      </p:sp>
      <p:sp>
        <p:nvSpPr>
          <p:cNvPr id="15360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To illustrate how the algorithm works, we shall use it to compute (AG)+ with the functional dependencies defined in Section 7.4.1. We start with result = AG. The first time that we execute the repeat loop to test each functional dependency, we find that:</a:t>
            </a:r>
          </a:p>
          <a:p>
            <a:endParaRPr lang="en-US" altLang="en-US" dirty="0" smtClean="0">
              <a:latin typeface="Times New Roman" panose="02020603050405020304" pitchFamily="18" charset="0"/>
            </a:endParaRPr>
          </a:p>
          <a:p>
            <a:r>
              <a:rPr lang="en-US" i="1" dirty="0" smtClean="0"/>
              <a:t>• A → B causes us to include B in result. To see this fact, we observe that A → B is in F, A ⊆ result (which is AG), so result := result ∪B. </a:t>
            </a:r>
          </a:p>
          <a:p>
            <a:r>
              <a:rPr lang="en-US" i="1" dirty="0" smtClean="0"/>
              <a:t>• A → C causes result to become ABCG. </a:t>
            </a:r>
          </a:p>
          <a:p>
            <a:r>
              <a:rPr lang="en-US" i="1" dirty="0" smtClean="0"/>
              <a:t>• CG → H causes result to become ABCGH. </a:t>
            </a:r>
          </a:p>
          <a:p>
            <a:r>
              <a:rPr lang="en-US" i="1" dirty="0" smtClean="0"/>
              <a:t>• CG → I causes result to become ABCGHI.</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It is easy to see that the algorithm finds all of α+. Consider an attribute A in α+ that is not yet in result at any point during the execution. There must be a way to prove that result → A using the axioms. Either result → A is in F itself (making the proof trivial and ensuring A is added to result) or there must a proof step using transitivity to show for some attribute B that result → B. If it happens that A = B, then we have shown that A is added to result. If not, B ≠ A is added. Then repeating this argument, we see that A must eventually be added to result.</a:t>
            </a:r>
          </a:p>
          <a:p>
            <a:endParaRPr lang="en-US" altLang="en-US" dirty="0" smtClean="0">
              <a:latin typeface="Times New Roman" panose="02020603050405020304" pitchFamily="18" charset="0"/>
            </a:endParaRPr>
          </a:p>
          <a:p>
            <a:endParaRPr lang="en-US" altLang="en-US" b="1" dirty="0" smtClean="0">
              <a:latin typeface="Times New Roman" panose="02020603050405020304" pitchFamily="18" charset="0"/>
            </a:endParaRPr>
          </a:p>
          <a:p>
            <a:r>
              <a:rPr lang="en-US" b="0" dirty="0" smtClean="0"/>
              <a:t>There are several uses of the attribute closure algorithm: </a:t>
            </a:r>
          </a:p>
          <a:p>
            <a:r>
              <a:rPr lang="en-US" i="1" dirty="0" smtClean="0"/>
              <a:t>• To test if α is a </a:t>
            </a:r>
            <a:r>
              <a:rPr lang="en-US" i="1" dirty="0" err="1" smtClean="0"/>
              <a:t>superkey</a:t>
            </a:r>
            <a:r>
              <a:rPr lang="en-US" i="1" dirty="0" smtClean="0"/>
              <a:t>, we compute α+ and check if α+ contains all attributes in R. </a:t>
            </a:r>
          </a:p>
          <a:p>
            <a:r>
              <a:rPr lang="en-US" i="1" dirty="0" smtClean="0"/>
              <a:t>• We can check if a functional dependency α → β holds (or, in other words, is in F+), by checking if β ⊆ α+. That is, we compute α+ by using attribute closure, and then check if it contains β. This test is particularly useful, as we shall see later in this chapter. </a:t>
            </a:r>
          </a:p>
          <a:p>
            <a:r>
              <a:rPr lang="en-US" i="1" dirty="0" smtClean="0"/>
              <a:t>• It gives us an alternative way to compute F+: For each γ ⊆ R, we find the closure γ+, and for each S ⊆ γ+, we output a functional dependency γ → S.</a:t>
            </a:r>
            <a:endParaRPr lang="en-US" altLang="en-US" i="1"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020452C-B463-4E95-A665-2B99AA28B79B}" type="slidenum">
              <a:rPr lang="en-US" altLang="en-US" sz="1200"/>
              <a:pPr/>
              <a:t>12</a:t>
            </a:fld>
            <a:endParaRPr lang="en-US" altLang="en-US" sz="1200"/>
          </a:p>
        </p:txBody>
      </p:sp>
      <p:sp>
        <p:nvSpPr>
          <p:cNvPr id="154627" name="Rectangle 2"/>
          <p:cNvSpPr>
            <a:spLocks noGrp="1" noRot="1" noChangeAspect="1" noChangeArrowheads="1" noTextEdit="1"/>
          </p:cNvSpPr>
          <p:nvPr>
            <p:ph type="sldImg"/>
          </p:nvPr>
        </p:nvSpPr>
        <p:spPr>
          <a:xfrm>
            <a:off x="1177925" y="695325"/>
            <a:ext cx="4641850" cy="3481388"/>
          </a:xfrm>
          <a:ln/>
        </p:spPr>
      </p:sp>
      <p:sp>
        <p:nvSpPr>
          <p:cNvPr id="154628"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There are several uses of the attribute closure algorithm:</a:t>
            </a:r>
          </a:p>
          <a:p>
            <a:r>
              <a:rPr lang="en-US" i="1" dirty="0" smtClean="0"/>
              <a:t>• To test if α is a </a:t>
            </a:r>
            <a:r>
              <a:rPr lang="en-US" i="1" dirty="0" err="1" smtClean="0"/>
              <a:t>superkey</a:t>
            </a:r>
            <a:r>
              <a:rPr lang="en-US" i="1" dirty="0" smtClean="0"/>
              <a:t>, we compute α+ and check if α+ contains all attributes in R.</a:t>
            </a:r>
          </a:p>
          <a:p>
            <a:r>
              <a:rPr lang="en-US" i="1" dirty="0" smtClean="0"/>
              <a:t>• We can check if a functional dependency α → β holds (or, in other words, is in F+), by checking if β ⊆ α+. That is, we compute α+ by using attribute closure, and then check if it contains β. This test is particularly useful, as we shall see later in this chapter.</a:t>
            </a:r>
          </a:p>
          <a:p>
            <a:r>
              <a:rPr lang="en-US" i="1" dirty="0" smtClean="0"/>
              <a:t>• It gives us an alternative way to compute F+: For each γ ⊆ R, we find the closure γ+, and for each S ⊆ γ+, we output a functional dependency γ → S.</a:t>
            </a:r>
          </a:p>
          <a:p>
            <a:endParaRPr lang="en-US" altLang="en-US"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126D1A1-086F-49DE-B921-A09020A520AB}" type="slidenum">
              <a:rPr lang="en-US" altLang="en-US" sz="1200"/>
              <a:pPr/>
              <a:t>13</a:t>
            </a:fld>
            <a:endParaRPr lang="en-US" altLang="en-US" sz="1200"/>
          </a:p>
        </p:txBody>
      </p:sp>
      <p:sp>
        <p:nvSpPr>
          <p:cNvPr id="155651" name="Rectangle 2"/>
          <p:cNvSpPr>
            <a:spLocks noGrp="1" noRot="1" noChangeAspect="1" noChangeArrowheads="1" noTextEdit="1"/>
          </p:cNvSpPr>
          <p:nvPr>
            <p:ph type="sldImg"/>
          </p:nvPr>
        </p:nvSpPr>
        <p:spPr>
          <a:xfrm>
            <a:off x="1177925" y="695325"/>
            <a:ext cx="4641850" cy="3481388"/>
          </a:xfrm>
          <a:ln/>
        </p:spPr>
      </p:sp>
      <p:sp>
        <p:nvSpPr>
          <p:cNvPr id="15565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Suppose that we have a set of functional dependencies F on a relation schema. Whenever a user performs an update on the relation, the database system must ensure that the update does not violate any functional dependencies, that is, all the functional dependencies in F are satisfied in the new database state.</a:t>
            </a:r>
          </a:p>
          <a:p>
            <a:endParaRPr lang="en-US" altLang="en-US" dirty="0" smtClean="0">
              <a:latin typeface="Times New Roman" panose="02020603050405020304" pitchFamily="18" charset="0"/>
            </a:endParaRPr>
          </a:p>
          <a:p>
            <a:r>
              <a:rPr lang="en-US" b="1" dirty="0" smtClean="0"/>
              <a:t>The system must roll back the update if it violates any functional dependencies in the set F.</a:t>
            </a:r>
          </a:p>
          <a:p>
            <a:r>
              <a:rPr lang="en-US" b="1" dirty="0" smtClean="0"/>
              <a:t>We can reduce the effort spent in checking for violations by testing a simplified set of functional dependencies that has the same closure as the given set. Any database that satisfies the simplified set of functional dependencies also satisfies the original set, and vice versa, since the two sets have the same closure. However, the simplified set is easier to test. We shall see how the simplified set can be constructed in a moment. First, we need some definitions.</a:t>
            </a:r>
          </a:p>
          <a:p>
            <a:endParaRPr lang="en-US" altLang="en-US" dirty="0" smtClean="0">
              <a:latin typeface="Times New Roman" panose="02020603050405020304" pitchFamily="18" charset="0"/>
            </a:endParaRPr>
          </a:p>
          <a:p>
            <a:r>
              <a:rPr lang="en-US" b="1" dirty="0" smtClean="0"/>
              <a:t>An attribute of a functional dependency is said to be extraneous if we can remove it without changing the closure of the set of functional dependencies.</a:t>
            </a:r>
            <a:endParaRPr lang="en-US" altLang="en-US" b="1"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1C003AC-91E0-4C02-A3AF-D03041938C29}" type="slidenum">
              <a:rPr lang="en-US" altLang="en-US" sz="1200"/>
              <a:pPr/>
              <a:t>14</a:t>
            </a:fld>
            <a:endParaRPr lang="en-US" altLang="en-US" sz="1200"/>
          </a:p>
        </p:txBody>
      </p:sp>
      <p:sp>
        <p:nvSpPr>
          <p:cNvPr id="156675" name="Rectangle 2"/>
          <p:cNvSpPr>
            <a:spLocks noGrp="1" noRot="1" noChangeAspect="1" noChangeArrowheads="1" noTextEdit="1"/>
          </p:cNvSpPr>
          <p:nvPr>
            <p:ph type="sldImg"/>
          </p:nvPr>
        </p:nvSpPr>
        <p:spPr>
          <a:xfrm>
            <a:off x="1177925" y="695325"/>
            <a:ext cx="4641850" cy="3481388"/>
          </a:xfrm>
          <a:ln/>
        </p:spPr>
      </p:sp>
      <p:sp>
        <p:nvSpPr>
          <p:cNvPr id="15667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anose="02020603050405020304" pitchFamily="18" charset="0"/>
            </a:endParaRPr>
          </a:p>
          <a:p>
            <a:r>
              <a:rPr lang="en-US" b="1" dirty="0" smtClean="0"/>
              <a:t>• Removing an attribute from the left side of a functional dependency could make it a stronger constraint. </a:t>
            </a:r>
          </a:p>
          <a:p>
            <a:r>
              <a:rPr lang="en-US" b="1" dirty="0" smtClean="0"/>
              <a:t>For example, if we have AB → C and remove B, we get the possibly stronger result A → C. It may be stronger because A → C logically implies AB → C, but AB → C does not, on its own, logically imply A → C. </a:t>
            </a:r>
          </a:p>
          <a:p>
            <a:r>
              <a:rPr lang="en-US" b="1" dirty="0" smtClean="0"/>
              <a:t>But, depending on what our set F of functional dependencies happens to be, we may be able to remove B from AB → C safely. For example, suppose that the set F = {AB → C, A → D, D → C}. Then we can show that F logically implies A → C, making B extraneous in AB → C.</a:t>
            </a:r>
          </a:p>
          <a:p>
            <a:endParaRPr lang="en-US" altLang="en-US" dirty="0" smtClean="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5C3BE13-538F-4FB5-B532-CB8FA5D987FB}" type="slidenum">
              <a:rPr lang="en-US" altLang="en-US" sz="1200"/>
              <a:pPr/>
              <a:t>15</a:t>
            </a:fld>
            <a:endParaRPr lang="en-US" altLang="en-US" sz="1200"/>
          </a:p>
        </p:txBody>
      </p:sp>
      <p:sp>
        <p:nvSpPr>
          <p:cNvPr id="157699" name="Rectangle 2"/>
          <p:cNvSpPr>
            <a:spLocks noGrp="1" noRot="1" noChangeAspect="1" noChangeArrowheads="1" noTextEdit="1"/>
          </p:cNvSpPr>
          <p:nvPr>
            <p:ph type="sldImg"/>
          </p:nvPr>
        </p:nvSpPr>
        <p:spPr>
          <a:xfrm>
            <a:off x="1177925" y="695325"/>
            <a:ext cx="4641850" cy="3481388"/>
          </a:xfrm>
          <a:ln/>
        </p:spPr>
      </p:sp>
      <p:sp>
        <p:nvSpPr>
          <p:cNvPr id="15770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 Removing an attribute from the right side of a functional dependency could make it a weaker constraint. </a:t>
            </a:r>
          </a:p>
          <a:p>
            <a:r>
              <a:rPr lang="en-US" b="1" dirty="0" smtClean="0"/>
              <a:t>For example, if we have AB → CD and remove C, we get the possibly weaker result AB → D. It may be weaker because using just AB → D, we can no longer infer AB → C. </a:t>
            </a:r>
          </a:p>
          <a:p>
            <a:pPr marL="171450" indent="-171450">
              <a:buFont typeface="Arial" panose="020B0604020202020204" pitchFamily="34" charset="0"/>
              <a:buChar char="•"/>
            </a:pPr>
            <a:r>
              <a:rPr lang="en-US" b="1" dirty="0" smtClean="0"/>
              <a:t>But, depending on what our set F of functional dependencies happens to be, we may be able to remove C from AB → CD safely. For example, suppose that F = {AB → CD, A → C}. Then we can show that even after replacing AB → CD by AB → D, we can still infer AB → C and thus AB → CD.</a:t>
            </a:r>
            <a:endParaRPr lang="en-US" altLang="en-US" b="1"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D756CCF-944F-475F-BC67-70F3E02FC64F}" type="slidenum">
              <a:rPr lang="en-US" altLang="en-US" sz="1200"/>
              <a:pPr/>
              <a:t>16</a:t>
            </a:fld>
            <a:endParaRPr lang="en-US" altLang="en-US" sz="1200"/>
          </a:p>
        </p:txBody>
      </p:sp>
      <p:sp>
        <p:nvSpPr>
          <p:cNvPr id="158723" name="Rectangle 2"/>
          <p:cNvSpPr>
            <a:spLocks noGrp="1" noRot="1" noChangeAspect="1" noChangeArrowheads="1" noTextEdit="1"/>
          </p:cNvSpPr>
          <p:nvPr>
            <p:ph type="sldImg"/>
          </p:nvPr>
        </p:nvSpPr>
        <p:spPr>
          <a:xfrm>
            <a:off x="1177925" y="695325"/>
            <a:ext cx="4641850" cy="3481388"/>
          </a:xfrm>
          <a:ln/>
        </p:spPr>
      </p:sp>
      <p:sp>
        <p:nvSpPr>
          <p:cNvPr id="15872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The formal definition of extraneous attributes is as follows: Consider a set F of functional dependencies and the functional dependency α → β in F.</a:t>
            </a:r>
          </a:p>
          <a:p>
            <a:r>
              <a:rPr lang="en-US" i="1" dirty="0" smtClean="0"/>
              <a:t>• Removal from the left side: Attribute A is extraneous in α if A ∈ α and F logically implies (F − {α → β}) ∪ {(α − A) → β}. </a:t>
            </a:r>
          </a:p>
          <a:p>
            <a:r>
              <a:rPr lang="en-US" i="1" dirty="0" smtClean="0"/>
              <a:t>• Removal from the right side: Attribute A is extraneous in β if A ∈ β and the set of functional dependencies (F − {α → β}) ∪ {α → (β − A)} logically implies F.</a:t>
            </a:r>
          </a:p>
          <a:p>
            <a:endParaRPr lang="en-US" altLang="en-US" i="1" dirty="0" smtClean="0">
              <a:latin typeface="Times New Roman" panose="02020603050405020304" pitchFamily="18" charset="0"/>
            </a:endParaRPr>
          </a:p>
          <a:p>
            <a:r>
              <a:rPr lang="en-US" i="1" dirty="0" smtClean="0"/>
              <a:t>Beware of the direction of the implications when using the definition of extraneous attributes: If you reverse the statement, the implication will always hold. That is, (F − {α → β}) ∪ {(α − A) → β} always logically implies F, and also F always logically implies (F − {α → β}) ∪ {α → (β − A)}.</a:t>
            </a:r>
            <a:endParaRPr lang="en-US" altLang="en-US" i="1"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1FD356F-B370-4905-B475-36D0765F2DB9}" type="slidenum">
              <a:rPr lang="en-US" altLang="en-US" sz="1200"/>
              <a:pPr/>
              <a:t>17</a:t>
            </a:fld>
            <a:endParaRPr lang="en-US" altLang="en-US" sz="1200"/>
          </a:p>
        </p:txBody>
      </p:sp>
      <p:sp>
        <p:nvSpPr>
          <p:cNvPr id="159747" name="Rectangle 2"/>
          <p:cNvSpPr>
            <a:spLocks noGrp="1" noRot="1" noChangeAspect="1" noChangeArrowheads="1" noTextEdit="1"/>
          </p:cNvSpPr>
          <p:nvPr>
            <p:ph type="sldImg"/>
          </p:nvPr>
        </p:nvSpPr>
        <p:spPr>
          <a:xfrm>
            <a:off x="1177925" y="695325"/>
            <a:ext cx="4641850" cy="3481388"/>
          </a:xfrm>
          <a:ln/>
        </p:spPr>
      </p:sp>
      <p:sp>
        <p:nvSpPr>
          <p:cNvPr id="159748"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Here is how we can test efficiently if an attribute is extraneous. Let R be the relation schema, and let F be the given set of functional dependencies that hold on R. Consider an attribute A in a dependency α → β.</a:t>
            </a:r>
          </a:p>
          <a:p>
            <a:endParaRPr lang="en-US" altLang="en-US" i="1" dirty="0" smtClean="0">
              <a:latin typeface="Times New Roman" panose="02020603050405020304" pitchFamily="18" charset="0"/>
            </a:endParaRPr>
          </a:p>
          <a:p>
            <a:r>
              <a:rPr lang="en-US" i="1" dirty="0" smtClean="0"/>
              <a:t>• If A ∈ β, to check if A is extraneous, consider the set F′ = (F − {α → β}) ∪ {α → (β − A)} and check if α → A can be inferred from F′ . To do so, compute α+ (the closure of α) under F′ ; if α+ includes A, then A is extraneous in β. </a:t>
            </a:r>
          </a:p>
          <a:p>
            <a:endParaRPr lang="en-US" i="1" dirty="0" smtClean="0"/>
          </a:p>
          <a:p>
            <a:r>
              <a:rPr lang="en-US" i="1" dirty="0" smtClean="0"/>
              <a:t>• If A ∈ α, to check if A is extraneous, let γ=α−{A}, and check if γ → β can be inferred from F. To do so, compute γ+ (the closure of γ) under F; if γ+ includes all attributes in β, then A is extraneous in α.</a:t>
            </a:r>
            <a:endParaRPr lang="en-US" altLang="en-US" i="1" dirty="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28007FB-A4A6-412F-8092-509E2CEC8D0B}" type="slidenum">
              <a:rPr lang="en-US" altLang="en-US" sz="1200"/>
              <a:pPr/>
              <a:t>18</a:t>
            </a:fld>
            <a:endParaRPr lang="en-US" altLang="en-US" sz="1200"/>
          </a:p>
        </p:txBody>
      </p:sp>
      <p:sp>
        <p:nvSpPr>
          <p:cNvPr id="160771" name="Rectangle 2"/>
          <p:cNvSpPr>
            <a:spLocks noGrp="1" noRot="1" noChangeAspect="1" noChangeArrowheads="1" noTextEdit="1"/>
          </p:cNvSpPr>
          <p:nvPr>
            <p:ph type="sldImg"/>
          </p:nvPr>
        </p:nvSpPr>
        <p:spPr>
          <a:xfrm>
            <a:off x="1177925" y="695325"/>
            <a:ext cx="4641850" cy="3481388"/>
          </a:xfrm>
          <a:ln/>
        </p:spPr>
      </p:sp>
      <p:sp>
        <p:nvSpPr>
          <p:cNvPr id="16077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For example, suppose F contains AB → CD, A → E, and E → C. To check if C is extraneous in AB → CD, we compute the attribute closure of AB under F′ = {AB → D, A → E, E → C}. The closure is ABCDE, which includes CD, so we infer that C is extraneous.</a:t>
            </a: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FA8EE5B-27ED-41B6-B0F7-B62E458A1259}" type="slidenum">
              <a:rPr lang="en-US" altLang="en-US" sz="1200"/>
              <a:pPr/>
              <a:t>19</a:t>
            </a:fld>
            <a:endParaRPr lang="en-US" altLang="en-US" sz="1200"/>
          </a:p>
        </p:txBody>
      </p:sp>
      <p:sp>
        <p:nvSpPr>
          <p:cNvPr id="161795" name="Rectangle 2"/>
          <p:cNvSpPr>
            <a:spLocks noGrp="1" noRot="1" noChangeAspect="1" noChangeArrowheads="1" noTextEdit="1"/>
          </p:cNvSpPr>
          <p:nvPr>
            <p:ph type="sldImg"/>
          </p:nvPr>
        </p:nvSpPr>
        <p:spPr>
          <a:xfrm>
            <a:off x="1177925" y="695325"/>
            <a:ext cx="4641850" cy="3481388"/>
          </a:xfrm>
          <a:ln/>
        </p:spPr>
      </p:sp>
      <p:sp>
        <p:nvSpPr>
          <p:cNvPr id="16179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 canonical cover Fc for F is a set of dependencies such that F logically implies all dependencies in Fc, and Fc logically implies all dependencies in F. Furthermore, Fc must have the following properties:</a:t>
            </a:r>
          </a:p>
          <a:p>
            <a:r>
              <a:rPr lang="en-US" b="1" dirty="0" smtClean="0"/>
              <a:t>• No functional dependency in Fc contains an extraneous attribute. </a:t>
            </a:r>
          </a:p>
          <a:p>
            <a:r>
              <a:rPr lang="en-US" b="1" dirty="0" smtClean="0"/>
              <a:t>• Each left side of a functional dependency in Fc is unique. That is, there are no two dependencies α1 → β1 and α2 → β2 in Fc such that α1 = α2.</a:t>
            </a:r>
            <a:endParaRPr lang="en-US" altLang="en-US" b="1"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69B94BD-CECE-4C33-9065-62089078E886}" type="slidenum">
              <a:rPr lang="en-US" altLang="en-US" sz="1200"/>
              <a:pPr/>
              <a:t>20</a:t>
            </a:fld>
            <a:endParaRPr lang="en-US" altLang="en-US" sz="1200"/>
          </a:p>
        </p:txBody>
      </p:sp>
      <p:sp>
        <p:nvSpPr>
          <p:cNvPr id="162819" name="Rectangle 2"/>
          <p:cNvSpPr>
            <a:spLocks noGrp="1" noRot="1" noChangeAspect="1" noChangeArrowheads="1" noTextEdit="1"/>
          </p:cNvSpPr>
          <p:nvPr>
            <p:ph type="sldImg"/>
          </p:nvPr>
        </p:nvSpPr>
        <p:spPr>
          <a:xfrm>
            <a:off x="1177925" y="695325"/>
            <a:ext cx="4641850" cy="3481388"/>
          </a:xfrm>
          <a:ln/>
        </p:spPr>
      </p:sp>
      <p:sp>
        <p:nvSpPr>
          <p:cNvPr id="16282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 canonical cover for a set of functional dependencies F can be computed as described in Figure 7.9. It is important to note that when checking if an attribute is extraneous, the check uses the dependencies in the current value of Fc, and not the dependencies in F. If a functional dependency contains only one attribute in its right-hand side, for example A → C, and that attribute is found to be extraneous, we would get a functional dependency with an empty right-hand side. Such functional dependencies should be deleted. </a:t>
            </a:r>
          </a:p>
          <a:p>
            <a:endParaRPr lang="en-US" dirty="0" smtClean="0"/>
          </a:p>
          <a:p>
            <a:r>
              <a:rPr lang="en-US" b="1" dirty="0" smtClean="0"/>
              <a:t>Since the algorithm permits a choice of any extraneous attribute, it is possible that there may be several possible canonical covers for a given F. Any such Fc is equally acceptable. Any canonical cover of F, Fc, can be shown to have the same closure as F; hence, testing whether Fc is satisfied is equivalent to testing whether F is satisfied. However, Fc is minimal in a certain sense—it does not contain extraneous attributes, and it combines functional dependencies with the same left side. It is cheaper to test Fc than it is to test F itself.</a:t>
            </a:r>
            <a:endParaRPr lang="en-US" altLang="en-US" b="1"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28526EF-2A76-46A8-A4E9-07C212D9D96D}" type="slidenum">
              <a:rPr lang="en-US" altLang="en-US" sz="1200"/>
              <a:pPr/>
              <a:t>21</a:t>
            </a:fld>
            <a:endParaRPr lang="en-US" altLang="en-US" sz="1200"/>
          </a:p>
        </p:txBody>
      </p:sp>
      <p:sp>
        <p:nvSpPr>
          <p:cNvPr id="163843" name="Rectangle 2"/>
          <p:cNvSpPr>
            <a:spLocks noGrp="1" noRot="1" noChangeAspect="1" noChangeArrowheads="1" noTextEdit="1"/>
          </p:cNvSpPr>
          <p:nvPr>
            <p:ph type="sldImg"/>
          </p:nvPr>
        </p:nvSpPr>
        <p:spPr>
          <a:xfrm>
            <a:off x="1177925" y="695325"/>
            <a:ext cx="4641850" cy="3481388"/>
          </a:xfrm>
          <a:ln/>
        </p:spPr>
      </p:sp>
      <p:sp>
        <p:nvSpPr>
          <p:cNvPr id="16384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We now consider an example. Assume we are given the following set F of functional dependencies on schema (A, B, C):</a:t>
            </a:r>
          </a:p>
          <a:p>
            <a:r>
              <a:rPr lang="en-US" i="1" dirty="0" smtClean="0"/>
              <a:t>A → BC B → C A → B AB → C</a:t>
            </a:r>
          </a:p>
          <a:p>
            <a:endParaRPr lang="en-US" altLang="en-US" i="1" dirty="0" smtClean="0">
              <a:latin typeface="Times New Roman" panose="02020603050405020304" pitchFamily="18" charset="0"/>
            </a:endParaRPr>
          </a:p>
          <a:p>
            <a:r>
              <a:rPr lang="en-US" i="1" dirty="0" smtClean="0"/>
              <a:t>Let us compute a canonical cover for F.</a:t>
            </a:r>
          </a:p>
          <a:p>
            <a:endParaRPr lang="en-US" altLang="en-US" i="1" dirty="0" smtClean="0">
              <a:latin typeface="Times New Roman" panose="02020603050405020304" pitchFamily="18" charset="0"/>
            </a:endParaRPr>
          </a:p>
          <a:p>
            <a:r>
              <a:rPr lang="en-US" i="1" dirty="0" smtClean="0"/>
              <a:t>There are two functional dependencies with the same set of attributes on the left side of the arrow:</a:t>
            </a:r>
          </a:p>
          <a:p>
            <a:r>
              <a:rPr lang="en-US" i="1" dirty="0" smtClean="0"/>
              <a:t>A → BC </a:t>
            </a:r>
          </a:p>
          <a:p>
            <a:r>
              <a:rPr lang="en-US" i="1" dirty="0" smtClean="0"/>
              <a:t>A → B</a:t>
            </a:r>
          </a:p>
          <a:p>
            <a:endParaRPr lang="en-US" altLang="en-US" i="1" dirty="0" smtClean="0">
              <a:latin typeface="Times New Roman" panose="02020603050405020304" pitchFamily="18" charset="0"/>
            </a:endParaRPr>
          </a:p>
          <a:p>
            <a:r>
              <a:rPr lang="en-US" i="1" dirty="0" smtClean="0"/>
              <a:t>We combine these functional dependencies into A → BC.</a:t>
            </a:r>
          </a:p>
          <a:p>
            <a:r>
              <a:rPr lang="en-US" i="1" dirty="0" smtClean="0"/>
              <a:t>• A is extraneous in AB → C because F logically implies (F − {AB → C}) ∪ {B → C}. This assertion is true because B → C is already in our set of functional dependencies. • C is extraneous in A → BC, since A → BC is logically implied by A → B and B → C.</a:t>
            </a:r>
          </a:p>
          <a:p>
            <a:endParaRPr lang="en-US" altLang="en-US" i="1" dirty="0" smtClean="0">
              <a:latin typeface="Times New Roman" panose="02020603050405020304" pitchFamily="18" charset="0"/>
            </a:endParaRPr>
          </a:p>
          <a:p>
            <a:r>
              <a:rPr lang="en-US" i="1" dirty="0" smtClean="0"/>
              <a:t>Thus, our canonical cover is: </a:t>
            </a:r>
          </a:p>
          <a:p>
            <a:r>
              <a:rPr lang="en-US" i="1" dirty="0" smtClean="0"/>
              <a:t>A → B </a:t>
            </a:r>
            <a:r>
              <a:rPr lang="en-US" i="1" dirty="0" err="1" smtClean="0"/>
              <a:t>B</a:t>
            </a:r>
            <a:r>
              <a:rPr lang="en-US" i="1" dirty="0" smtClean="0"/>
              <a:t> → C</a:t>
            </a:r>
          </a:p>
          <a:p>
            <a:endParaRPr lang="en-US" altLang="en-US"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B1C0C611-501B-4334-8DD9-2D5A8FF01FE8}" type="slidenum">
              <a:rPr lang="en-US" altLang="en-US" sz="1200"/>
              <a:pPr/>
              <a:t>22</a:t>
            </a:fld>
            <a:endParaRPr lang="en-US" altLang="en-US" sz="1200"/>
          </a:p>
        </p:txBody>
      </p:sp>
      <p:sp>
        <p:nvSpPr>
          <p:cNvPr id="164867" name="Rectangle 2"/>
          <p:cNvSpPr>
            <a:spLocks noGrp="1" noRot="1" noChangeAspect="1" noChangeArrowheads="1" noTextEdit="1"/>
          </p:cNvSpPr>
          <p:nvPr>
            <p:ph type="sldImg"/>
          </p:nvPr>
        </p:nvSpPr>
        <p:spPr>
          <a:xfrm>
            <a:off x="1177925" y="695325"/>
            <a:ext cx="4641850" cy="3481388"/>
          </a:xfrm>
          <a:ln/>
        </p:spPr>
      </p:sp>
      <p:sp>
        <p:nvSpPr>
          <p:cNvPr id="164868"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Let F be a set of functional dependencies on a schema R, and let R1, R2, …, Rn be a decomposition of R. The restriction of F to </a:t>
            </a:r>
            <a:r>
              <a:rPr lang="en-US" b="1" dirty="0" err="1" smtClean="0"/>
              <a:t>Ri</a:t>
            </a:r>
            <a:r>
              <a:rPr lang="en-US" b="1" dirty="0" smtClean="0"/>
              <a:t> is the set Fi of all functional dependencies in F+ that include only attributes of </a:t>
            </a:r>
            <a:r>
              <a:rPr lang="en-US" b="1" dirty="0" err="1" smtClean="0"/>
              <a:t>Ri</a:t>
            </a:r>
            <a:r>
              <a:rPr lang="en-US" b="1" dirty="0" smtClean="0"/>
              <a:t> . Since all functional dependencies in a restriction involve attributes of only one relation schema, it is possible to test such a dependency for satisfaction by checking only one relation.</a:t>
            </a:r>
          </a:p>
          <a:p>
            <a:endParaRPr lang="en-US" altLang="en-US" b="1" dirty="0" smtClean="0">
              <a:latin typeface="Times New Roman" panose="02020603050405020304" pitchFamily="18" charset="0"/>
            </a:endParaRPr>
          </a:p>
          <a:p>
            <a:r>
              <a:rPr lang="en-US" b="1" dirty="0" smtClean="0"/>
              <a:t>The set of restrictions F1, F2, …, </a:t>
            </a:r>
            <a:r>
              <a:rPr lang="en-US" b="1" dirty="0" err="1" smtClean="0"/>
              <a:t>Fn</a:t>
            </a:r>
            <a:r>
              <a:rPr lang="en-US" b="1" dirty="0" smtClean="0"/>
              <a:t> is the set of dependencies that can be checked efficiently. We now must ask whether testing only the restrictions is sufficient. Let F′ = F1 ∪ F2 ∪ ⋯ ∪ Fn. F′ is a set of functional dependencies on schema R, but, in general, F′ ≠ F. However, even if F′ ≠ F, it may be that F′+ = F+. If the latter is true, then every dependency in F is logically implied by F′ , and, if we verify that F′ is satisfied, we have verified that F is satisfied. We say that a decomposition having the property F′+ = F+ is a dependency-preserving decomposition.</a:t>
            </a:r>
            <a:endParaRPr lang="en-US" altLang="en-US" b="1" dirty="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87BC9CE-BF8C-4DA1-B24E-2871B5D5AD09}" type="slidenum">
              <a:rPr lang="en-US" altLang="en-US" sz="1200"/>
              <a:pPr/>
              <a:t>23</a:t>
            </a:fld>
            <a:endParaRPr lang="en-US" altLang="en-US" sz="1200"/>
          </a:p>
        </p:txBody>
      </p:sp>
      <p:sp>
        <p:nvSpPr>
          <p:cNvPr id="165891" name="Rectangle 2"/>
          <p:cNvSpPr>
            <a:spLocks noGrp="1" noRot="1" noChangeAspect="1" noChangeArrowheads="1" noTextEdit="1"/>
          </p:cNvSpPr>
          <p:nvPr>
            <p:ph type="sldImg"/>
          </p:nvPr>
        </p:nvSpPr>
        <p:spPr>
          <a:xfrm>
            <a:off x="1177925" y="695325"/>
            <a:ext cx="4641850" cy="3481388"/>
          </a:xfrm>
          <a:ln/>
        </p:spPr>
      </p:sp>
      <p:sp>
        <p:nvSpPr>
          <p:cNvPr id="16589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err="1" smtClean="0"/>
              <a:t>Prethodno</a:t>
            </a:r>
            <a:r>
              <a:rPr lang="en-US" i="1" baseline="0" dirty="0" smtClean="0"/>
              <a:t> go </a:t>
            </a:r>
            <a:r>
              <a:rPr lang="en-US" i="1" baseline="0" dirty="0" err="1" smtClean="0"/>
              <a:t>ima</a:t>
            </a:r>
            <a:endParaRPr lang="mk-MK" i="1" dirty="0" smtClean="0"/>
          </a:p>
          <a:p>
            <a:endParaRPr lang="mk-MK" i="1" dirty="0" smtClean="0"/>
          </a:p>
          <a:p>
            <a:r>
              <a:rPr lang="en-US" i="1" dirty="0" smtClean="0"/>
              <a:t>Let F be a set of functional dependencies on a schema R, and let R1, R2, …, Rn be a decomposition of R. The restriction of F to </a:t>
            </a:r>
            <a:r>
              <a:rPr lang="en-US" i="1" dirty="0" err="1" smtClean="0"/>
              <a:t>Ri</a:t>
            </a:r>
            <a:r>
              <a:rPr lang="en-US" i="1" dirty="0" smtClean="0"/>
              <a:t> is the set Fi of all functional dependencies in F+ that include only attributes of </a:t>
            </a:r>
            <a:r>
              <a:rPr lang="en-US" i="1" dirty="0" err="1" smtClean="0"/>
              <a:t>Ri</a:t>
            </a:r>
            <a:r>
              <a:rPr lang="en-US" i="1" dirty="0" smtClean="0"/>
              <a:t> . Since all functional dependencies in a restriction involve attributes of only one relation schema, it is possible to test such a dependency for satisfaction by checking only one relation.</a:t>
            </a:r>
          </a:p>
          <a:p>
            <a:endParaRPr lang="en-US" i="1" dirty="0" smtClean="0"/>
          </a:p>
          <a:p>
            <a:r>
              <a:rPr lang="en-US" i="1" dirty="0" smtClean="0"/>
              <a:t>Note that the definition of restriction uses all dependencies in F+, not just those in F. For instance, suppose F = {A → B, B → C}, and we have a decomposition into AC and AB. The restriction of F to AC includes A → C, since A → C is in F+, even though it is not in F.</a:t>
            </a:r>
          </a:p>
          <a:p>
            <a:endParaRPr lang="en-US" altLang="en-US" i="1" dirty="0" smtClean="0">
              <a:latin typeface="Times New Roman" panose="02020603050405020304" pitchFamily="18" charset="0"/>
            </a:endParaRPr>
          </a:p>
          <a:p>
            <a:r>
              <a:rPr lang="en-US" i="1" dirty="0" smtClean="0"/>
              <a:t>The set of restrictions F1, F2, …, </a:t>
            </a:r>
            <a:r>
              <a:rPr lang="en-US" i="1" dirty="0" err="1" smtClean="0"/>
              <a:t>Fn</a:t>
            </a:r>
            <a:r>
              <a:rPr lang="en-US" i="1" dirty="0" smtClean="0"/>
              <a:t> is the set of dependencies that can be checked efficiently. We now must ask whether testing only the restrictions is sufficient. Let F′ = F1 ∪ F2 ∪ ⋯ ∪ Fn. F′ is a set of functional dependencies on schema R, but, in general, F′ ≠ F. However, even if F′ ≠ F, it may be that F′+ = F+. If the latter is true, then every dependency in F is logically implied by F′ , and, if we verify that F′ is satisfied, we have verified that F is satisfied. We say that a decomposition having the property F′+ = F+ is a dependency-preserving decomposition.</a:t>
            </a:r>
            <a:endParaRPr lang="en-US" altLang="en-US" i="1"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ABC47A9-62C0-457E-AB19-17B7324B6011}" type="slidenum">
              <a:rPr lang="en-US" altLang="en-US" sz="1200"/>
              <a:pPr/>
              <a:t>24</a:t>
            </a:fld>
            <a:endParaRPr lang="en-US" altLang="en-US" sz="1200"/>
          </a:p>
        </p:txBody>
      </p:sp>
      <p:sp>
        <p:nvSpPr>
          <p:cNvPr id="166915" name="Rectangle 2"/>
          <p:cNvSpPr>
            <a:spLocks noGrp="1" noRot="1" noChangeAspect="1" noChangeArrowheads="1" noTextEdit="1"/>
          </p:cNvSpPr>
          <p:nvPr>
            <p:ph type="sldImg"/>
          </p:nvPr>
        </p:nvSpPr>
        <p:spPr>
          <a:xfrm>
            <a:off x="1177925" y="695325"/>
            <a:ext cx="4641850" cy="3481388"/>
          </a:xfrm>
          <a:ln/>
        </p:spPr>
      </p:sp>
      <p:sp>
        <p:nvSpPr>
          <p:cNvPr id="16691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Figure 7.10 shows an algorithm for testing dependency preservation. The input is a set D = {R1, R2, …, Rn} of decomposed relation schemas, and a set F of functional dependencies. This algorithm is expensive since it requires computation of F+. Instead of applying the algorithm of Figure 7.10, we consider two alternatives.</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B37B9D3-CFBC-4A9A-892E-C5B737D92079}" type="slidenum">
              <a:rPr lang="en-US" altLang="en-US" sz="1200"/>
              <a:pPr/>
              <a:t>25</a:t>
            </a:fld>
            <a:endParaRPr lang="en-US" altLang="en-US" sz="1200"/>
          </a:p>
        </p:txBody>
      </p:sp>
      <p:sp>
        <p:nvSpPr>
          <p:cNvPr id="167939" name="Rectangle 2"/>
          <p:cNvSpPr>
            <a:spLocks noGrp="1" noRot="1" noChangeAspect="1" noChangeArrowheads="1" noTextEdit="1"/>
          </p:cNvSpPr>
          <p:nvPr>
            <p:ph type="sldImg"/>
          </p:nvPr>
        </p:nvSpPr>
        <p:spPr>
          <a:xfrm>
            <a:off x="1177925" y="695325"/>
            <a:ext cx="4641850" cy="3481388"/>
          </a:xfrm>
          <a:ln/>
        </p:spPr>
      </p:sp>
      <p:sp>
        <p:nvSpPr>
          <p:cNvPr id="16794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smtClean="0">
                <a:latin typeface="Times New Roman" panose="02020603050405020304" pitchFamily="18" charset="0"/>
              </a:rPr>
              <a:t>Nema</a:t>
            </a:r>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AF6520D-BDC3-4206-98C8-000B2AAC71C5}" type="slidenum">
              <a:rPr lang="en-US" altLang="en-US" sz="1200"/>
              <a:pPr/>
              <a:t>26</a:t>
            </a:fld>
            <a:endParaRPr lang="en-US" altLang="en-US" sz="1200"/>
          </a:p>
        </p:txBody>
      </p:sp>
      <p:sp>
        <p:nvSpPr>
          <p:cNvPr id="184323" name="Rectangle 2"/>
          <p:cNvSpPr>
            <a:spLocks noGrp="1" noRot="1" noChangeAspect="1" noChangeArrowheads="1" noTextEdit="1"/>
          </p:cNvSpPr>
          <p:nvPr>
            <p:ph type="sldImg"/>
          </p:nvPr>
        </p:nvSpPr>
        <p:spPr>
          <a:xfrm>
            <a:off x="1177925" y="695325"/>
            <a:ext cx="4641850" cy="3481388"/>
          </a:xfrm>
          <a:ln/>
        </p:spPr>
      </p:sp>
      <p:sp>
        <p:nvSpPr>
          <p:cNvPr id="18432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A439975-68C6-4A78-9207-604005262388}" type="slidenum">
              <a:rPr lang="en-US" altLang="en-US" sz="1200"/>
              <a:pPr/>
              <a:t>27</a:t>
            </a:fld>
            <a:endParaRPr lang="en-US" altLang="en-US" sz="1200"/>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Some relation schemas, even though they are in BCNF, do not seem to be sufficiently normalized, in the sense that they still suffer from the problem of repetition of information. Consider a variation of the university organization where an instructor may be associated with multiple departments, and we have a relation:</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en-US" i="1" dirty="0" smtClean="0"/>
              <a:t>	</a:t>
            </a:r>
            <a:r>
              <a:rPr lang="en-US" altLang="en-US" i="1" dirty="0" err="1" smtClean="0"/>
              <a:t>inst_info</a:t>
            </a:r>
            <a:r>
              <a:rPr lang="en-US" altLang="en-US" dirty="0" smtClean="0"/>
              <a:t>(</a:t>
            </a:r>
            <a:r>
              <a:rPr lang="en-US" altLang="en-US" i="1" dirty="0" smtClean="0"/>
              <a:t>ID</a:t>
            </a:r>
            <a:r>
              <a:rPr lang="en-US" altLang="en-US" dirty="0" smtClean="0"/>
              <a:t>, </a:t>
            </a:r>
            <a:r>
              <a:rPr lang="en-US" altLang="en-US" i="1" dirty="0" err="1" smtClean="0"/>
              <a:t>child_name</a:t>
            </a:r>
            <a:r>
              <a:rPr lang="en-US" altLang="en-US" dirty="0" smtClean="0"/>
              <a:t>, </a:t>
            </a:r>
            <a:r>
              <a:rPr lang="en-US" altLang="en-US" i="1" dirty="0" err="1" smtClean="0"/>
              <a:t>phone_number</a:t>
            </a:r>
            <a:r>
              <a:rPr lang="en-US" altLang="en-US" dirty="0" smtClean="0"/>
              <a:t>)</a:t>
            </a:r>
          </a:p>
          <a:p>
            <a:endParaRPr lang="en-US" altLang="en-US" dirty="0" smtClean="0">
              <a:latin typeface="Times New Roman" panose="02020603050405020304" pitchFamily="18" charset="0"/>
            </a:endParaRPr>
          </a:p>
          <a:p>
            <a:r>
              <a:rPr lang="en-US" b="1" dirty="0" smtClean="0"/>
              <a:t>The astute reader will recognize this schema as a non-BCNF schema because of the functional dependency</a:t>
            </a:r>
          </a:p>
          <a:p>
            <a:endParaRPr lang="en-US" altLang="en-US" dirty="0" smtClean="0">
              <a:latin typeface="Times New Roman" panose="02020603050405020304" pitchFamily="18" charset="0"/>
            </a:endParaRPr>
          </a:p>
          <a:p>
            <a:r>
              <a:rPr lang="en-US" dirty="0" smtClean="0"/>
              <a:t>	ID → name, street, city</a:t>
            </a:r>
          </a:p>
          <a:p>
            <a:r>
              <a:rPr lang="en-US" dirty="0" smtClean="0"/>
              <a:t>and because ID is not a key for inst.</a:t>
            </a:r>
          </a:p>
          <a:p>
            <a:endParaRPr lang="en-US" altLang="en-US" dirty="0" smtClean="0">
              <a:latin typeface="Times New Roman" panose="02020603050405020304" pitchFamily="18" charset="0"/>
            </a:endParaRPr>
          </a:p>
          <a:p>
            <a:r>
              <a:rPr lang="en-US" b="1" dirty="0" smtClean="0"/>
              <a:t>Further assume that an instructor may have several addresses (say, a winter home and a summer home). Then, we no longer wish to enforce the functional dependency “ID→ street, city”, though, we still want to enforce “ID → name” (i.e., the university is not dealing with instructors who operate under multiple aliases!). Following the BCNF decomposition algorithm, we obtain two schemas:</a:t>
            </a:r>
          </a:p>
          <a:p>
            <a:endParaRPr lang="en-US" altLang="en-US" dirty="0" smtClean="0">
              <a:latin typeface="Times New Roman" panose="02020603050405020304" pitchFamily="18" charset="0"/>
            </a:endParaRPr>
          </a:p>
          <a:p>
            <a:r>
              <a:rPr lang="en-US" dirty="0" smtClean="0"/>
              <a:t>r1 (ID, name) </a:t>
            </a:r>
          </a:p>
          <a:p>
            <a:r>
              <a:rPr lang="en-US" dirty="0" smtClean="0"/>
              <a:t>r2 (ID, </a:t>
            </a:r>
            <a:r>
              <a:rPr lang="en-US" dirty="0" err="1" smtClean="0"/>
              <a:t>dept</a:t>
            </a:r>
            <a:r>
              <a:rPr lang="en-US" dirty="0" smtClean="0"/>
              <a:t> name, street, city)</a:t>
            </a:r>
          </a:p>
          <a:p>
            <a:endParaRPr lang="en-US" altLang="en-US" dirty="0" smtClean="0">
              <a:latin typeface="Times New Roman" panose="02020603050405020304" pitchFamily="18" charset="0"/>
            </a:endParaRPr>
          </a:p>
          <a:p>
            <a:r>
              <a:rPr lang="en-US" b="1" dirty="0" smtClean="0"/>
              <a:t>Both of these are in BCNF (recall that an instructor can be associated with multiple departments and a department may have several instructors, and therefore, neither “ID → </a:t>
            </a:r>
            <a:r>
              <a:rPr lang="en-US" b="1" dirty="0" err="1" smtClean="0"/>
              <a:t>dept_name</a:t>
            </a:r>
            <a:r>
              <a:rPr lang="en-US" b="1" dirty="0" smtClean="0"/>
              <a:t>” nor “</a:t>
            </a:r>
            <a:r>
              <a:rPr lang="en-US" b="1" dirty="0" err="1" smtClean="0"/>
              <a:t>dept_name</a:t>
            </a:r>
            <a:r>
              <a:rPr lang="en-US" b="1" dirty="0" smtClean="0"/>
              <a:t> → ID” hold).</a:t>
            </a:r>
          </a:p>
          <a:p>
            <a:endParaRPr lang="en-US" altLang="en-US" dirty="0" smtClean="0">
              <a:latin typeface="Times New Roman" panose="02020603050405020304" pitchFamily="18" charset="0"/>
            </a:endParaRPr>
          </a:p>
          <a:p>
            <a:r>
              <a:rPr lang="en-US" b="1" dirty="0" smtClean="0"/>
              <a:t>Despite r2 being in BCNF, there is redundancy. We repeat the address information of each residence of an instructor once for each department with which the instructor is associated. We could solve this problem by decomposing r2 further into:</a:t>
            </a:r>
          </a:p>
          <a:p>
            <a:endParaRPr lang="en-US" altLang="en-US" dirty="0" smtClean="0">
              <a:latin typeface="Times New Roman" panose="02020603050405020304" pitchFamily="18" charset="0"/>
            </a:endParaRPr>
          </a:p>
          <a:p>
            <a:r>
              <a:rPr lang="en-US" dirty="0" smtClean="0"/>
              <a:t>r21 (</a:t>
            </a:r>
            <a:r>
              <a:rPr lang="en-US" dirty="0" err="1" smtClean="0"/>
              <a:t>dept</a:t>
            </a:r>
            <a:r>
              <a:rPr lang="en-US" dirty="0" smtClean="0"/>
              <a:t> name, ID) </a:t>
            </a:r>
          </a:p>
          <a:p>
            <a:r>
              <a:rPr lang="en-US" dirty="0" smtClean="0"/>
              <a:t>r22 (ID, street, city) </a:t>
            </a:r>
          </a:p>
          <a:p>
            <a:endParaRPr lang="en-US" altLang="en-US" dirty="0" smtClean="0">
              <a:latin typeface="Times New Roman" panose="02020603050405020304" pitchFamily="18" charset="0"/>
            </a:endParaRPr>
          </a:p>
          <a:p>
            <a:r>
              <a:rPr lang="en-US" b="1" dirty="0" smtClean="0"/>
              <a:t>but there is no constraint that leads us to do this.</a:t>
            </a:r>
          </a:p>
          <a:p>
            <a:endParaRPr lang="en-US" altLang="en-US" dirty="0" smtClean="0">
              <a:latin typeface="Times New Roman" panose="02020603050405020304" pitchFamily="18" charset="0"/>
            </a:endParaRPr>
          </a:p>
          <a:p>
            <a:r>
              <a:rPr lang="en-US" b="1" dirty="0" smtClean="0"/>
              <a:t>To deal with this problem, we must define a new form of constraint, called a multivalued dependency. As we did for functional dependencies, we shall use multivalued dependencies to define a normal form for relation schemas. This normal form, called fourth normal form (4NF), is more restrictive than BCNF. We shall see that every 4NF schema is also in BCNF but there are BCNF schemas that are not in 4NF.</a:t>
            </a:r>
            <a:endParaRPr lang="en-US" altLang="en-US" b="1" dirty="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0CA98BF-2766-4132-A090-BEDD1F53C69F}" type="slidenum">
              <a:rPr lang="en-US" altLang="en-US" sz="1200"/>
              <a:pPr/>
              <a:t>28</a:t>
            </a:fld>
            <a:endParaRPr lang="en-US" altLang="en-US" sz="1200"/>
          </a:p>
        </p:txBody>
      </p:sp>
      <p:sp>
        <p:nvSpPr>
          <p:cNvPr id="186371" name="Rectangle 2"/>
          <p:cNvSpPr>
            <a:spLocks noGrp="1" noRot="1" noChangeAspect="1" noChangeArrowheads="1" noTextEdit="1"/>
          </p:cNvSpPr>
          <p:nvPr>
            <p:ph type="sldImg"/>
          </p:nvPr>
        </p:nvSpPr>
        <p:spPr>
          <a:xfrm>
            <a:off x="1177925" y="695325"/>
            <a:ext cx="4641850" cy="3481388"/>
          </a:xfrm>
          <a:ln/>
        </p:spPr>
      </p:sp>
      <p:sp>
        <p:nvSpPr>
          <p:cNvPr id="18637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Let r(R) be a relation schema and let α ⊆ R and β ⊆ R. The multivalued dependency</a:t>
            </a:r>
          </a:p>
          <a:p>
            <a:endParaRPr lang="en-US" altLang="en-US" dirty="0" smtClean="0">
              <a:latin typeface="Times New Roman" panose="02020603050405020304" pitchFamily="18" charset="0"/>
            </a:endParaRPr>
          </a:p>
          <a:p>
            <a:pPr marL="914400" marR="0" lvl="2"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sym typeface="Symbol" panose="05050102010706020507" pitchFamily="18" charset="2"/>
              </a:rPr>
              <a:t></a:t>
            </a:r>
            <a:r>
              <a:rPr lang="en-US" altLang="en-US" dirty="0" smtClean="0">
                <a:sym typeface="Greek Symbols"/>
              </a:rPr>
              <a:t> </a:t>
            </a:r>
            <a:r>
              <a:rPr lang="en-US" altLang="en-US" b="1" dirty="0" smtClean="0">
                <a:sym typeface="Symbol" panose="05050102010706020507" pitchFamily="18" charset="2"/>
              </a:rPr>
              <a:t></a:t>
            </a:r>
            <a:r>
              <a:rPr lang="en-US" altLang="en-US" dirty="0" smtClean="0">
                <a:sym typeface="Monotype Sorts" pitchFamily="-84" charset="2"/>
              </a:rPr>
              <a:t> </a:t>
            </a:r>
            <a:r>
              <a:rPr lang="en-US" altLang="en-US" dirty="0" smtClean="0">
                <a:sym typeface="Symbol" panose="05050102010706020507" pitchFamily="18" charset="2"/>
              </a:rPr>
              <a:t></a:t>
            </a:r>
            <a:endParaRPr lang="en-US" altLang="en-US" i="1" dirty="0" smtClean="0">
              <a:sym typeface="Greek Symbols"/>
            </a:endParaRPr>
          </a:p>
          <a:p>
            <a:r>
              <a:rPr lang="en-US" b="1" dirty="0" smtClean="0"/>
              <a:t>holds on R if, in any legal instance of relation r(R), for all pairs of tuples t1 and t2 in r such that t1[α] = t2[α], there exist tuples t3 and t4 in r such that</a:t>
            </a:r>
          </a:p>
          <a:p>
            <a:r>
              <a:rPr lang="en-US" altLang="en-US" dirty="0" smtClean="0">
                <a:sym typeface="Greek Symbols"/>
              </a:rPr>
              <a:t>	 </a:t>
            </a:r>
            <a:r>
              <a:rPr lang="en-US" altLang="en-US" i="1" dirty="0" smtClean="0">
                <a:sym typeface="Greek Symbols"/>
              </a:rPr>
              <a:t>t</a:t>
            </a:r>
            <a:r>
              <a:rPr lang="en-US" altLang="en-US" baseline="-25000" dirty="0" smtClean="0">
                <a:sym typeface="Greek Symbols"/>
              </a:rPr>
              <a:t>1</a:t>
            </a:r>
            <a:r>
              <a:rPr lang="en-US" altLang="en-US" dirty="0" smtClean="0">
                <a:sym typeface="Greek Symbols"/>
              </a:rPr>
              <a:t>[</a:t>
            </a:r>
            <a:r>
              <a:rPr lang="en-US" altLang="en-US" dirty="0" smtClean="0">
                <a:sym typeface="Symbol" panose="05050102010706020507" pitchFamily="18" charset="2"/>
              </a:rPr>
              <a:t></a:t>
            </a:r>
            <a:r>
              <a:rPr lang="en-US" altLang="en-US" dirty="0" smtClean="0">
                <a:sym typeface="Greek Symbols"/>
              </a:rPr>
              <a:t>] = </a:t>
            </a:r>
            <a:r>
              <a:rPr lang="en-US" altLang="en-US" i="1" dirty="0" smtClean="0">
                <a:sym typeface="Greek Symbols"/>
              </a:rPr>
              <a:t>t</a:t>
            </a:r>
            <a:r>
              <a:rPr lang="en-US" altLang="en-US" i="1" baseline="-25000" dirty="0" smtClean="0">
                <a:sym typeface="Greek Symbols"/>
              </a:rPr>
              <a:t>2 </a:t>
            </a:r>
            <a:r>
              <a:rPr lang="en-US" altLang="en-US" dirty="0" smtClean="0">
                <a:sym typeface="Greek Symbols"/>
              </a:rPr>
              <a:t>[</a:t>
            </a:r>
            <a:r>
              <a:rPr lang="en-US" altLang="en-US" dirty="0" smtClean="0">
                <a:sym typeface="Symbol" panose="05050102010706020507" pitchFamily="18" charset="2"/>
              </a:rPr>
              <a:t></a:t>
            </a:r>
            <a:r>
              <a:rPr lang="en-US" altLang="en-US" dirty="0" smtClean="0">
                <a:sym typeface="Greek Symbols"/>
              </a:rPr>
              <a:t>] = </a:t>
            </a:r>
            <a:r>
              <a:rPr lang="en-US" altLang="en-US" i="1" dirty="0" smtClean="0">
                <a:sym typeface="Greek Symbols"/>
              </a:rPr>
              <a:t>t</a:t>
            </a:r>
            <a:r>
              <a:rPr lang="en-US" altLang="en-US" baseline="-25000" dirty="0" smtClean="0">
                <a:sym typeface="Greek Symbols"/>
              </a:rPr>
              <a:t>3</a:t>
            </a:r>
            <a:r>
              <a:rPr lang="en-US" altLang="en-US" dirty="0" smtClean="0">
                <a:sym typeface="Greek Symbols"/>
              </a:rPr>
              <a:t> [</a:t>
            </a:r>
            <a:r>
              <a:rPr lang="en-US" altLang="en-US" dirty="0" smtClean="0">
                <a:sym typeface="Symbol" panose="05050102010706020507" pitchFamily="18" charset="2"/>
              </a:rPr>
              <a:t></a:t>
            </a:r>
            <a:r>
              <a:rPr lang="en-US" altLang="en-US" dirty="0" smtClean="0">
                <a:sym typeface="Greek Symbols"/>
              </a:rPr>
              <a:t>] = </a:t>
            </a:r>
            <a:r>
              <a:rPr lang="en-US" altLang="en-US" i="1" dirty="0" smtClean="0">
                <a:sym typeface="Greek Symbols"/>
              </a:rPr>
              <a:t>t</a:t>
            </a:r>
            <a:r>
              <a:rPr lang="en-US" altLang="en-US" baseline="-25000" dirty="0" smtClean="0">
                <a:sym typeface="Greek Symbols"/>
              </a:rPr>
              <a:t>4</a:t>
            </a:r>
            <a:r>
              <a:rPr lang="en-US" altLang="en-US" i="1" baseline="-25000" dirty="0" smtClean="0">
                <a:sym typeface="Greek Symbols"/>
              </a:rPr>
              <a:t> </a:t>
            </a:r>
            <a:r>
              <a:rPr lang="en-US" altLang="en-US" dirty="0" smtClean="0">
                <a:sym typeface="Greek Symbols"/>
              </a:rPr>
              <a:t>[</a:t>
            </a:r>
            <a:r>
              <a:rPr lang="en-US" altLang="en-US" dirty="0" smtClean="0">
                <a:sym typeface="Symbol" panose="05050102010706020507" pitchFamily="18" charset="2"/>
              </a:rPr>
              <a:t></a:t>
            </a:r>
            <a:r>
              <a:rPr lang="en-US" altLang="en-US" dirty="0" smtClean="0">
                <a:sym typeface="Greek Symbols"/>
              </a:rPr>
              <a:t>] </a:t>
            </a:r>
            <a:br>
              <a:rPr lang="en-US" altLang="en-US" dirty="0" smtClean="0">
                <a:sym typeface="Greek Symbols"/>
              </a:rPr>
            </a:br>
            <a:r>
              <a:rPr lang="en-US" altLang="en-US" dirty="0" smtClean="0">
                <a:sym typeface="Greek Symbols"/>
              </a:rPr>
              <a:t>	 </a:t>
            </a:r>
            <a:r>
              <a:rPr lang="en-US" altLang="en-US" i="1" dirty="0" smtClean="0">
                <a:sym typeface="Greek Symbols"/>
              </a:rPr>
              <a:t>t</a:t>
            </a:r>
            <a:r>
              <a:rPr lang="en-US" altLang="en-US" baseline="-25000" dirty="0" smtClean="0">
                <a:sym typeface="Greek Symbols"/>
              </a:rPr>
              <a:t>3</a:t>
            </a:r>
            <a:r>
              <a:rPr lang="en-US" altLang="en-US" dirty="0" smtClean="0">
                <a:sym typeface="Greek Symbols"/>
              </a:rPr>
              <a:t>[</a:t>
            </a:r>
            <a:r>
              <a:rPr lang="en-US" altLang="en-US" dirty="0" smtClean="0">
                <a:sym typeface="Symbol" panose="05050102010706020507" pitchFamily="18" charset="2"/>
              </a:rPr>
              <a:t></a:t>
            </a:r>
            <a:r>
              <a:rPr lang="en-US" altLang="en-US" dirty="0" smtClean="0">
                <a:sym typeface="Greek Symbols"/>
              </a:rPr>
              <a:t>]         =  </a:t>
            </a:r>
            <a:r>
              <a:rPr lang="en-US" altLang="en-US" i="1" dirty="0" smtClean="0">
                <a:sym typeface="Greek Symbols"/>
              </a:rPr>
              <a:t>t</a:t>
            </a:r>
            <a:r>
              <a:rPr lang="en-US" altLang="en-US" baseline="-25000" dirty="0" smtClean="0">
                <a:sym typeface="Greek Symbols"/>
              </a:rPr>
              <a:t>1 </a:t>
            </a:r>
            <a:r>
              <a:rPr lang="en-US" altLang="en-US" dirty="0" smtClean="0">
                <a:sym typeface="Greek Symbols"/>
              </a:rPr>
              <a:t>[</a:t>
            </a:r>
            <a:r>
              <a:rPr lang="en-US" altLang="en-US" dirty="0" smtClean="0">
                <a:sym typeface="Symbol" panose="05050102010706020507" pitchFamily="18" charset="2"/>
              </a:rPr>
              <a:t></a:t>
            </a:r>
            <a:r>
              <a:rPr lang="en-US" altLang="en-US" dirty="0" smtClean="0">
                <a:sym typeface="Greek Symbols"/>
              </a:rPr>
              <a:t>] </a:t>
            </a:r>
            <a:br>
              <a:rPr lang="en-US" altLang="en-US" dirty="0" smtClean="0">
                <a:sym typeface="Greek Symbols"/>
              </a:rPr>
            </a:br>
            <a:r>
              <a:rPr lang="en-US" altLang="en-US" dirty="0" smtClean="0">
                <a:sym typeface="Greek Symbols"/>
              </a:rPr>
              <a:t>	 </a:t>
            </a:r>
            <a:r>
              <a:rPr lang="en-US" altLang="en-US" i="1" dirty="0" smtClean="0">
                <a:sym typeface="Greek Symbols"/>
              </a:rPr>
              <a:t>t</a:t>
            </a:r>
            <a:r>
              <a:rPr lang="en-US" altLang="en-US" baseline="-25000" dirty="0" smtClean="0">
                <a:sym typeface="Greek Symbols"/>
              </a:rPr>
              <a:t>3</a:t>
            </a:r>
            <a:r>
              <a:rPr lang="en-US" altLang="en-US" dirty="0" smtClean="0">
                <a:sym typeface="Greek Symbols"/>
              </a:rPr>
              <a:t>[</a:t>
            </a:r>
            <a:r>
              <a:rPr lang="en-US" altLang="en-US" i="1" dirty="0" smtClean="0">
                <a:sym typeface="Greek Symbols"/>
              </a:rPr>
              <a:t>R  – </a:t>
            </a:r>
            <a:r>
              <a:rPr lang="en-US" altLang="en-US" dirty="0" smtClean="0">
                <a:sym typeface="Symbol" panose="05050102010706020507" pitchFamily="18" charset="2"/>
              </a:rPr>
              <a:t></a:t>
            </a:r>
            <a:r>
              <a:rPr lang="en-US" altLang="en-US" dirty="0" smtClean="0">
                <a:sym typeface="Greek Symbols"/>
              </a:rPr>
              <a:t>] =  </a:t>
            </a:r>
            <a:r>
              <a:rPr lang="en-US" altLang="en-US" i="1" dirty="0" smtClean="0">
                <a:sym typeface="Greek Symbols"/>
              </a:rPr>
              <a:t>t</a:t>
            </a:r>
            <a:r>
              <a:rPr lang="en-US" altLang="en-US" baseline="-25000" dirty="0" smtClean="0">
                <a:sym typeface="Greek Symbols"/>
              </a:rPr>
              <a:t>2</a:t>
            </a:r>
            <a:r>
              <a:rPr lang="en-US" altLang="en-US" dirty="0" smtClean="0">
                <a:sym typeface="Greek Symbols"/>
              </a:rPr>
              <a:t>[</a:t>
            </a:r>
            <a:r>
              <a:rPr lang="en-US" altLang="en-US" i="1" dirty="0" smtClean="0">
                <a:sym typeface="Greek Symbols"/>
              </a:rPr>
              <a:t>R  – </a:t>
            </a:r>
            <a:r>
              <a:rPr lang="en-US" altLang="en-US" dirty="0" smtClean="0">
                <a:sym typeface="Symbol" panose="05050102010706020507" pitchFamily="18" charset="2"/>
              </a:rPr>
              <a:t></a:t>
            </a:r>
            <a:r>
              <a:rPr lang="en-US" altLang="en-US" dirty="0" smtClean="0">
                <a:sym typeface="Greek Symbols"/>
              </a:rPr>
              <a:t>] </a:t>
            </a:r>
            <a:br>
              <a:rPr lang="en-US" altLang="en-US" dirty="0" smtClean="0">
                <a:sym typeface="Greek Symbols"/>
              </a:rPr>
            </a:br>
            <a:r>
              <a:rPr lang="en-US" altLang="en-US" dirty="0" smtClean="0">
                <a:sym typeface="Greek Symbols"/>
              </a:rPr>
              <a:t>	 </a:t>
            </a:r>
            <a:r>
              <a:rPr lang="en-US" altLang="en-US" i="1" dirty="0" smtClean="0">
                <a:sym typeface="Greek Symbols"/>
              </a:rPr>
              <a:t>t</a:t>
            </a:r>
            <a:r>
              <a:rPr lang="en-US" altLang="en-US" baseline="-25000" dirty="0" smtClean="0">
                <a:sym typeface="Greek Symbols"/>
              </a:rPr>
              <a:t>4 </a:t>
            </a:r>
            <a:r>
              <a:rPr lang="en-US" altLang="en-US" dirty="0" smtClean="0">
                <a:sym typeface="Greek Symbols"/>
              </a:rPr>
              <a:t>[</a:t>
            </a:r>
            <a:r>
              <a:rPr lang="en-US" altLang="en-US" dirty="0" smtClean="0">
                <a:sym typeface="Symbol" panose="05050102010706020507" pitchFamily="18" charset="2"/>
              </a:rPr>
              <a:t></a:t>
            </a:r>
            <a:r>
              <a:rPr lang="en-US" altLang="en-US" dirty="0" smtClean="0">
                <a:sym typeface="Greek Symbols"/>
              </a:rPr>
              <a:t>]         =  </a:t>
            </a:r>
            <a:r>
              <a:rPr lang="en-US" altLang="en-US" i="1" dirty="0" smtClean="0">
                <a:sym typeface="Greek Symbols"/>
              </a:rPr>
              <a:t>t</a:t>
            </a:r>
            <a:r>
              <a:rPr lang="en-US" altLang="en-US" baseline="-25000" dirty="0" smtClean="0">
                <a:sym typeface="Greek Symbols"/>
              </a:rPr>
              <a:t>2</a:t>
            </a:r>
            <a:r>
              <a:rPr lang="en-US" altLang="en-US" dirty="0" smtClean="0">
                <a:sym typeface="Greek Symbols"/>
              </a:rPr>
              <a:t>[</a:t>
            </a:r>
            <a:r>
              <a:rPr lang="en-US" altLang="en-US" dirty="0" smtClean="0">
                <a:sym typeface="Symbol" panose="05050102010706020507" pitchFamily="18" charset="2"/>
              </a:rPr>
              <a:t></a:t>
            </a:r>
            <a:r>
              <a:rPr lang="en-US" altLang="en-US" dirty="0" smtClean="0">
                <a:sym typeface="Greek Symbols"/>
              </a:rPr>
              <a:t>] </a:t>
            </a:r>
            <a:br>
              <a:rPr lang="en-US" altLang="en-US" dirty="0" smtClean="0">
                <a:sym typeface="Greek Symbols"/>
              </a:rPr>
            </a:br>
            <a:r>
              <a:rPr lang="en-US" altLang="en-US" dirty="0" smtClean="0">
                <a:sym typeface="Greek Symbols"/>
              </a:rPr>
              <a:t>	 </a:t>
            </a:r>
            <a:r>
              <a:rPr lang="en-US" altLang="en-US" i="1" dirty="0" smtClean="0">
                <a:sym typeface="Greek Symbols"/>
              </a:rPr>
              <a:t>t</a:t>
            </a:r>
            <a:r>
              <a:rPr lang="en-US" altLang="en-US" baseline="-25000" dirty="0" smtClean="0">
                <a:sym typeface="Greek Symbols"/>
              </a:rPr>
              <a:t>4</a:t>
            </a:r>
            <a:r>
              <a:rPr lang="en-US" altLang="en-US" dirty="0" smtClean="0">
                <a:sym typeface="Greek Symbols"/>
              </a:rPr>
              <a:t>[</a:t>
            </a:r>
            <a:r>
              <a:rPr lang="en-US" altLang="en-US" i="1" dirty="0" smtClean="0">
                <a:sym typeface="Greek Symbols"/>
              </a:rPr>
              <a:t>R  – </a:t>
            </a:r>
            <a:r>
              <a:rPr lang="en-US" altLang="en-US" dirty="0" smtClean="0">
                <a:sym typeface="Symbol" panose="05050102010706020507" pitchFamily="18" charset="2"/>
              </a:rPr>
              <a:t></a:t>
            </a:r>
            <a:r>
              <a:rPr lang="en-US" altLang="en-US" dirty="0" smtClean="0">
                <a:sym typeface="Greek Symbols"/>
              </a:rPr>
              <a:t>] =  </a:t>
            </a:r>
            <a:r>
              <a:rPr lang="en-US" altLang="en-US" i="1" dirty="0" smtClean="0">
                <a:sym typeface="Greek Symbols"/>
              </a:rPr>
              <a:t>t</a:t>
            </a:r>
            <a:r>
              <a:rPr lang="en-US" altLang="en-US" baseline="-25000" dirty="0" smtClean="0">
                <a:sym typeface="Greek Symbols"/>
              </a:rPr>
              <a:t>1</a:t>
            </a:r>
            <a:r>
              <a:rPr lang="en-US" altLang="en-US" dirty="0" smtClean="0">
                <a:sym typeface="Greek Symbols"/>
              </a:rPr>
              <a:t>[</a:t>
            </a:r>
            <a:r>
              <a:rPr lang="en-US" altLang="en-US" i="1" dirty="0" smtClean="0">
                <a:sym typeface="Greek Symbols"/>
              </a:rPr>
              <a:t>R  – </a:t>
            </a:r>
            <a:r>
              <a:rPr lang="en-US" altLang="en-US" dirty="0" smtClean="0">
                <a:sym typeface="Symbol" panose="05050102010706020507" pitchFamily="18" charset="2"/>
              </a:rPr>
              <a:t></a:t>
            </a:r>
            <a:r>
              <a:rPr lang="en-US" altLang="en-US" dirty="0" smtClean="0">
                <a:sym typeface="Greek Symbols"/>
              </a:rPr>
              <a:t>] </a:t>
            </a:r>
            <a:endParaRPr lang="en-US" altLang="en-US"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70A9382-BE8A-447D-8A13-E2C05FAE4009}" type="slidenum">
              <a:rPr lang="en-US" altLang="en-US" sz="1200"/>
              <a:pPr/>
              <a:t>29</a:t>
            </a:fld>
            <a:endParaRPr lang="en-US" altLang="en-US" sz="1200"/>
          </a:p>
        </p:txBody>
      </p:sp>
      <p:sp>
        <p:nvSpPr>
          <p:cNvPr id="187395" name="Rectangle 2"/>
          <p:cNvSpPr>
            <a:spLocks noGrp="1" noRot="1" noChangeAspect="1" noChangeArrowheads="1" noTextEdit="1"/>
          </p:cNvSpPr>
          <p:nvPr>
            <p:ph type="sldImg"/>
          </p:nvPr>
        </p:nvSpPr>
        <p:spPr>
          <a:xfrm>
            <a:off x="1177925" y="695325"/>
            <a:ext cx="4641850" cy="3481388"/>
          </a:xfrm>
          <a:ln/>
        </p:spPr>
      </p:sp>
      <p:sp>
        <p:nvSpPr>
          <p:cNvPr id="18739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Figure 7.13 gives a tabular picture of t1, t2, t3, and t4</a:t>
            </a:r>
          </a:p>
          <a:p>
            <a:endParaRPr lang="en-US" altLang="en-US" dirty="0" smtClean="0">
              <a:latin typeface="Times New Roman" panose="02020603050405020304" pitchFamily="18" charset="0"/>
            </a:endParaRPr>
          </a:p>
          <a:p>
            <a:r>
              <a:rPr lang="en-US" b="1" dirty="0" smtClean="0"/>
              <a:t>Intuitively, the multivalued dependency α →→ β says that the relationship between α and β is independent of the relationship between α and R − β. If the multivalued dependency α →→ β is satisfied by all relations on schema R, then α →→ β is a trivial multivalued dependency on schema R. Thus, α →→ β is trivial if β ⊆ α or β∪α= R. This can be seen by looking at Figure 7.13 and considering the two special cases β ⊆ α and β∪α= R. In each case, the table reduces to just two columns and we see that t1 and t2 are able to serve in the roles of t3 and t4.</a:t>
            </a:r>
            <a:endParaRPr lang="en-US" altLang="en-US" b="1" dirty="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DEE3D57-1AB5-4E55-9DE6-56A88860B688}" type="slidenum">
              <a:rPr lang="en-US" altLang="en-US" sz="1200"/>
              <a:pPr/>
              <a:t>30</a:t>
            </a:fld>
            <a:endParaRPr lang="en-US" altLang="en-US" sz="1200"/>
          </a:p>
        </p:txBody>
      </p:sp>
      <p:sp>
        <p:nvSpPr>
          <p:cNvPr id="188419" name="Rectangle 2"/>
          <p:cNvSpPr>
            <a:spLocks noGrp="1" noRot="1" noChangeAspect="1" noChangeArrowheads="1" noTextEdit="1"/>
          </p:cNvSpPr>
          <p:nvPr>
            <p:ph type="sldImg"/>
          </p:nvPr>
        </p:nvSpPr>
        <p:spPr>
          <a:xfrm>
            <a:off x="1177925" y="695325"/>
            <a:ext cx="4641850" cy="3481388"/>
          </a:xfrm>
          <a:ln/>
        </p:spPr>
      </p:sp>
      <p:sp>
        <p:nvSpPr>
          <p:cNvPr id="18842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smtClean="0">
                <a:latin typeface="Times New Roman" panose="02020603050405020304" pitchFamily="18" charset="0"/>
              </a:rPr>
              <a:t>Nema</a:t>
            </a:r>
            <a:r>
              <a:rPr lang="en-US" altLang="en-US" dirty="0" smtClean="0">
                <a:latin typeface="Times New Roman" panose="02020603050405020304" pitchFamily="18" charset="0"/>
              </a:rPr>
              <a:t> </a:t>
            </a:r>
            <a:r>
              <a:rPr lang="en-US" altLang="en-US" dirty="0" err="1" smtClean="0">
                <a:latin typeface="Times New Roman" panose="02020603050405020304" pitchFamily="18" charset="0"/>
              </a:rPr>
              <a:t>teskt</a:t>
            </a:r>
            <a:endParaRPr lang="en-US" altLang="en-US" dirty="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FFF916E-004C-4E0F-94C7-A1F1AB4046CB}" type="slidenum">
              <a:rPr lang="en-US" altLang="en-US" sz="1200"/>
              <a:pPr/>
              <a:t>31</a:t>
            </a:fld>
            <a:endParaRPr lang="en-US" altLang="en-US" sz="1200"/>
          </a:p>
        </p:txBody>
      </p:sp>
      <p:sp>
        <p:nvSpPr>
          <p:cNvPr id="189443" name="Rectangle 2"/>
          <p:cNvSpPr>
            <a:spLocks noGrp="1" noRot="1" noChangeAspect="1" noChangeArrowheads="1" noTextEdit="1"/>
          </p:cNvSpPr>
          <p:nvPr>
            <p:ph type="sldImg"/>
          </p:nvPr>
        </p:nvSpPr>
        <p:spPr>
          <a:xfrm>
            <a:off x="1177925" y="695325"/>
            <a:ext cx="4641850" cy="3481388"/>
          </a:xfrm>
          <a:ln/>
        </p:spPr>
      </p:sp>
      <p:sp>
        <p:nvSpPr>
          <p:cNvPr id="18944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Comparing the preceding example with our definition of multivalued dependency, we see that we want the multivalued dependency: </a:t>
            </a:r>
          </a:p>
          <a:p>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AA5FC84-D300-4993-8FFF-76B7189FD726}" type="slidenum">
              <a:rPr lang="en-US" altLang="en-US" sz="1200"/>
              <a:pPr/>
              <a:t>32</a:t>
            </a:fld>
            <a:endParaRPr lang="en-US" altLang="en-US" sz="1200"/>
          </a:p>
        </p:txBody>
      </p:sp>
      <p:sp>
        <p:nvSpPr>
          <p:cNvPr id="190467" name="Rectangle 2"/>
          <p:cNvSpPr>
            <a:spLocks noGrp="1" noRot="1" noChangeAspect="1" noChangeArrowheads="1" noTextEdit="1"/>
          </p:cNvSpPr>
          <p:nvPr>
            <p:ph type="sldImg"/>
          </p:nvPr>
        </p:nvSpPr>
        <p:spPr>
          <a:xfrm>
            <a:off x="1177925" y="695325"/>
            <a:ext cx="4641850" cy="3481388"/>
          </a:xfrm>
          <a:ln/>
        </p:spPr>
      </p:sp>
      <p:sp>
        <p:nvSpPr>
          <p:cNvPr id="190468"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As with functional dependencies, we shall use multivalued dependencies in two ways: </a:t>
            </a:r>
          </a:p>
          <a:p>
            <a:endParaRPr lang="en-US" b="1" dirty="0" smtClean="0"/>
          </a:p>
          <a:p>
            <a:pPr marL="228600" indent="-228600">
              <a:buAutoNum type="arabicPeriod"/>
            </a:pPr>
            <a:r>
              <a:rPr lang="en-US" b="1" dirty="0" smtClean="0"/>
              <a:t>To test relations to determine whether they are legal under a given set of functional and multivalued dependencies. </a:t>
            </a:r>
          </a:p>
          <a:p>
            <a:pPr marL="228600" indent="-228600">
              <a:buAutoNum type="arabicPeriod"/>
            </a:pPr>
            <a:r>
              <a:rPr lang="en-US" b="1" dirty="0" smtClean="0"/>
              <a:t>To specify constraints on the set of legal relations; we shall thus concern ourselves with only those relations that satisfy a given set of functional and multivalued dependencies.</a:t>
            </a:r>
          </a:p>
          <a:p>
            <a:pPr marL="228600" indent="-228600">
              <a:buAutoNum type="arabicPeriod"/>
            </a:pPr>
            <a:endParaRPr lang="en-US" altLang="en-US" b="1" dirty="0" smtClean="0">
              <a:latin typeface="Times New Roman" panose="02020603050405020304" pitchFamily="18" charset="0"/>
            </a:endParaRPr>
          </a:p>
          <a:p>
            <a:pPr marL="0" indent="0">
              <a:buNone/>
            </a:pPr>
            <a:r>
              <a:rPr lang="en-US" b="1" dirty="0" smtClean="0"/>
              <a:t>Note that, if a relation r fails to satisfy a given multivalued dependency, we can construct a relation r′ that does satisfy the multivalued dependency by adding tuples to r.</a:t>
            </a:r>
            <a:endParaRPr lang="en-US" altLang="en-US" b="1"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34D146A-0FCA-4AA9-B806-71D700033438}" type="slidenum">
              <a:rPr lang="en-US" altLang="en-US" sz="1200"/>
              <a:pPr/>
              <a:t>33</a:t>
            </a:fld>
            <a:endParaRPr lang="en-US" altLang="en-US" sz="1200"/>
          </a:p>
        </p:txBody>
      </p:sp>
      <p:sp>
        <p:nvSpPr>
          <p:cNvPr id="191491" name="Rectangle 2"/>
          <p:cNvSpPr>
            <a:spLocks noGrp="1" noRot="1" noChangeAspect="1" noChangeArrowheads="1" noTextEdit="1"/>
          </p:cNvSpPr>
          <p:nvPr>
            <p:ph type="sldImg"/>
          </p:nvPr>
        </p:nvSpPr>
        <p:spPr>
          <a:xfrm>
            <a:off x="1177925" y="695325"/>
            <a:ext cx="4641850" cy="3481388"/>
          </a:xfrm>
          <a:ln/>
        </p:spPr>
      </p:sp>
      <p:sp>
        <p:nvSpPr>
          <p:cNvPr id="19149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From the definition of multivalued dependency, we can derive the following rules for α, β ⊆ R:</a:t>
            </a:r>
          </a:p>
          <a:p>
            <a:endParaRPr lang="en-US" altLang="en-US" dirty="0" smtClean="0">
              <a:latin typeface="Times New Roman" panose="02020603050405020304" pitchFamily="18" charset="0"/>
            </a:endParaRPr>
          </a:p>
          <a:p>
            <a:r>
              <a:rPr lang="en-US" dirty="0" smtClean="0"/>
              <a:t>• If α → β, then α →→ β. In other words, every functional dependency is also a multivalued dependency. </a:t>
            </a:r>
          </a:p>
          <a:p>
            <a:r>
              <a:rPr lang="en-US" dirty="0" smtClean="0"/>
              <a:t>• If α →→ β, then α →→ R −α−β</a:t>
            </a:r>
          </a:p>
          <a:p>
            <a:endParaRPr lang="en-US" altLang="en-US" dirty="0" smtClean="0">
              <a:latin typeface="Times New Roman" panose="02020603050405020304" pitchFamily="18" charset="0"/>
            </a:endParaRPr>
          </a:p>
          <a:p>
            <a:r>
              <a:rPr lang="en-US" b="1" dirty="0" smtClean="0"/>
              <a:t>Note that, if a relation r fails to satisfy a given multivalued dependency, we can construct a relation r′ that does satisfy the multivalued dependency by adding tuples to r. </a:t>
            </a:r>
          </a:p>
          <a:p>
            <a:r>
              <a:rPr lang="en-US" b="1" dirty="0" smtClean="0"/>
              <a:t>Let D denote a set of functional and multivalued dependencies. The closure D+ of D is the set of all functional and multivalued dependencies logically implied by D. As we did for functional dependencies, we can compute D+ from D, using the formal definitions of functional dependencies and multivalued dependencies. We can manage with such reasoning for very simple multivalued dependencies. Luckily, multivalued dependencies that occur in practice appear to be quite simple. For complex dependencies, it is better to reason about sets of dependencies by using a system of inference rules.</a:t>
            </a:r>
            <a:endParaRPr lang="en-US" altLang="en-US" b="1"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7662A18-7A7C-4076-893B-6E4783118D4F}" type="slidenum">
              <a:rPr lang="en-US" altLang="en-US" sz="1200"/>
              <a:pPr/>
              <a:t>34</a:t>
            </a:fld>
            <a:endParaRPr lang="en-US" altLang="en-US" sz="1200"/>
          </a:p>
        </p:txBody>
      </p:sp>
      <p:sp>
        <p:nvSpPr>
          <p:cNvPr id="192515" name="Rectangle 2"/>
          <p:cNvSpPr>
            <a:spLocks noGrp="1" noRot="1" noChangeAspect="1" noChangeArrowheads="1" noTextEdit="1"/>
          </p:cNvSpPr>
          <p:nvPr>
            <p:ph type="sldImg"/>
          </p:nvPr>
        </p:nvSpPr>
        <p:spPr>
          <a:xfrm>
            <a:off x="1177925" y="695325"/>
            <a:ext cx="4641850" cy="3481388"/>
          </a:xfrm>
          <a:ln/>
        </p:spPr>
      </p:sp>
      <p:sp>
        <p:nvSpPr>
          <p:cNvPr id="19251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Consider again our example of the BCNF schema:</a:t>
            </a:r>
          </a:p>
          <a:p>
            <a:r>
              <a:rPr lang="en-US" altLang="en-US" b="1" dirty="0" smtClean="0">
                <a:latin typeface="Times New Roman" panose="02020603050405020304" pitchFamily="18" charset="0"/>
              </a:rPr>
              <a:t>	</a:t>
            </a:r>
            <a:r>
              <a:rPr lang="en-US" b="1" dirty="0" smtClean="0"/>
              <a:t>r2 (ID, </a:t>
            </a:r>
            <a:r>
              <a:rPr lang="en-US" b="1" dirty="0" err="1" smtClean="0"/>
              <a:t>dept_name</a:t>
            </a:r>
            <a:r>
              <a:rPr lang="en-US" b="1" dirty="0" smtClean="0"/>
              <a:t>, street, city)</a:t>
            </a:r>
          </a:p>
          <a:p>
            <a:endParaRPr lang="en-US" altLang="en-US" b="1" dirty="0" smtClean="0">
              <a:latin typeface="Times New Roman" panose="02020603050405020304" pitchFamily="18" charset="0"/>
            </a:endParaRPr>
          </a:p>
          <a:p>
            <a:r>
              <a:rPr lang="en-US" b="1" dirty="0" smtClean="0"/>
              <a:t>in which the multivalued dependency ID →→ street, city holds. We saw in the opening paragraphs of Section 7.6 that, although this schema is in BCNF, the design is not ideal, since we must repeat an instructor’s address information for each department. We shall see that we can use the given multivalued dependency to improve the database design by decomposing this schema into a fourth normal form decomposition.</a:t>
            </a:r>
          </a:p>
          <a:p>
            <a:endParaRPr lang="en-US" altLang="en-US" dirty="0" smtClean="0">
              <a:latin typeface="Times New Roman" panose="02020603050405020304" pitchFamily="18" charset="0"/>
            </a:endParaRPr>
          </a:p>
          <a:p>
            <a:r>
              <a:rPr lang="en-US" b="1" dirty="0" smtClean="0"/>
              <a:t>A relation schema R is in fourth normal form (4NF) with respect to a set D of functional and multivalued dependencies if, for all multivalued dependencies in D+ of the form α →→ β, where α ⊆ R and β ⊆ R, at least one of the following holds: </a:t>
            </a:r>
          </a:p>
          <a:p>
            <a:r>
              <a:rPr lang="en-US" i="1" dirty="0" smtClean="0"/>
              <a:t>• α →→ β is a trivial multivalued dependency. </a:t>
            </a:r>
          </a:p>
          <a:p>
            <a:r>
              <a:rPr lang="en-US" i="1" dirty="0" smtClean="0"/>
              <a:t>• α is a </a:t>
            </a:r>
            <a:r>
              <a:rPr lang="en-US" i="1" dirty="0" err="1" smtClean="0"/>
              <a:t>superkey</a:t>
            </a:r>
            <a:r>
              <a:rPr lang="en-US" i="1" dirty="0" smtClean="0"/>
              <a:t> for R.</a:t>
            </a:r>
          </a:p>
          <a:p>
            <a:endParaRPr lang="en-US" altLang="en-US" dirty="0" smtClean="0">
              <a:latin typeface="Times New Roman" panose="02020603050405020304" pitchFamily="18" charset="0"/>
            </a:endParaRPr>
          </a:p>
          <a:p>
            <a:r>
              <a:rPr lang="en-US" b="1" dirty="0" smtClean="0"/>
              <a:t>A database design is in 4NF if each member of the set of relation schemas that constitutes the design is in 4NF</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EB02815-2E8F-4F1F-8AF4-3F688E850CE7}" type="slidenum">
              <a:rPr lang="en-US" altLang="en-US" sz="1200"/>
              <a:pPr/>
              <a:t>35</a:t>
            </a:fld>
            <a:endParaRPr lang="en-US" altLang="en-US" sz="1200"/>
          </a:p>
        </p:txBody>
      </p:sp>
      <p:sp>
        <p:nvSpPr>
          <p:cNvPr id="193539" name="Rectangle 2"/>
          <p:cNvSpPr>
            <a:spLocks noGrp="1" noRot="1" noChangeAspect="1" noChangeArrowheads="1" noTextEdit="1"/>
          </p:cNvSpPr>
          <p:nvPr>
            <p:ph type="sldImg"/>
          </p:nvPr>
        </p:nvSpPr>
        <p:spPr>
          <a:xfrm>
            <a:off x="1177925" y="695325"/>
            <a:ext cx="4641850" cy="3481388"/>
          </a:xfrm>
          <a:ln/>
        </p:spPr>
      </p:sp>
      <p:sp>
        <p:nvSpPr>
          <p:cNvPr id="19354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Note that the definition of 4NF differs from the definition of BCNF in only the use of multivalued dependencies. Every 4NF schema is in BCNF. To see this fact, we note that, if a schema R is not in BCNF, then there is a nontrivial functional dependency α → β holding on R, where α is not a </a:t>
            </a:r>
            <a:r>
              <a:rPr lang="en-US" b="1" dirty="0" err="1" smtClean="0"/>
              <a:t>superkey</a:t>
            </a:r>
            <a:r>
              <a:rPr lang="en-US" b="1" dirty="0" smtClean="0"/>
              <a:t>. Since α → β implies α →→ β, R cannot be in 4NF.</a:t>
            </a:r>
          </a:p>
          <a:p>
            <a:endParaRPr lang="en-US" altLang="en-US" dirty="0" smtClean="0">
              <a:latin typeface="Times New Roman" panose="02020603050405020304" pitchFamily="18" charset="0"/>
            </a:endParaRPr>
          </a:p>
          <a:p>
            <a:r>
              <a:rPr lang="en-US" i="1" dirty="0" smtClean="0"/>
              <a:t>Let R be a relation schema, and let R1, R2, …, Rn be a decomposition of R. To check if each relation schema </a:t>
            </a:r>
            <a:r>
              <a:rPr lang="en-US" i="1" dirty="0" err="1" smtClean="0"/>
              <a:t>Ri</a:t>
            </a:r>
            <a:r>
              <a:rPr lang="en-US" i="1" dirty="0" smtClean="0"/>
              <a:t> in the decomposition is in 4NF, we need to find what multivalued dependencies hold on each </a:t>
            </a:r>
            <a:r>
              <a:rPr lang="en-US" i="1" dirty="0" err="1" smtClean="0"/>
              <a:t>Ri</a:t>
            </a:r>
            <a:r>
              <a:rPr lang="en-US" i="1" dirty="0" smtClean="0"/>
              <a:t> . Recall that, for a set F of functional dependencies, the restriction Fi of F to </a:t>
            </a:r>
            <a:r>
              <a:rPr lang="en-US" i="1" dirty="0" err="1" smtClean="0"/>
              <a:t>Ri</a:t>
            </a:r>
            <a:r>
              <a:rPr lang="en-US" i="1" dirty="0" smtClean="0"/>
              <a:t> is all functional dependencies in F+ that include only attributes of </a:t>
            </a:r>
            <a:r>
              <a:rPr lang="en-US" i="1" dirty="0" err="1" smtClean="0"/>
              <a:t>Ri</a:t>
            </a:r>
            <a:r>
              <a:rPr lang="en-US" i="1" dirty="0" smtClean="0"/>
              <a:t> . Now consider a set D of both functional and multivalued dependencies. </a:t>
            </a:r>
          </a:p>
          <a:p>
            <a:endParaRPr lang="en-US" altLang="en-US" dirty="0" smtClean="0">
              <a:latin typeface="Times New Roman" panose="02020603050405020304" pitchFamily="18" charset="0"/>
            </a:endParaRPr>
          </a:p>
          <a:p>
            <a:r>
              <a:rPr lang="en-US" i="1" dirty="0" smtClean="0"/>
              <a:t>The restriction of D to </a:t>
            </a:r>
            <a:r>
              <a:rPr lang="en-US" i="1" dirty="0" err="1" smtClean="0"/>
              <a:t>Ri</a:t>
            </a:r>
            <a:r>
              <a:rPr lang="en-US" i="1" dirty="0" smtClean="0"/>
              <a:t> is the set Di consisting of:</a:t>
            </a:r>
          </a:p>
          <a:p>
            <a:endParaRPr lang="en-US" altLang="en-US" i="1" dirty="0" smtClean="0">
              <a:latin typeface="Times New Roman" panose="02020603050405020304" pitchFamily="18" charset="0"/>
            </a:endParaRPr>
          </a:p>
          <a:p>
            <a:pPr marL="228600" indent="-228600">
              <a:buAutoNum type="arabicPeriod"/>
            </a:pPr>
            <a:r>
              <a:rPr lang="en-US" i="1" dirty="0" smtClean="0"/>
              <a:t>All functional dependencies in D+ that include only attributes of </a:t>
            </a:r>
            <a:r>
              <a:rPr lang="en-US" i="1" dirty="0" err="1" smtClean="0"/>
              <a:t>Ri</a:t>
            </a:r>
            <a:r>
              <a:rPr lang="en-US" i="1" dirty="0" smtClean="0"/>
              <a:t> . </a:t>
            </a:r>
          </a:p>
          <a:p>
            <a:pPr marL="228600" indent="-228600">
              <a:buAutoNum type="arabicPeriod"/>
            </a:pPr>
            <a:r>
              <a:rPr lang="en-US" i="1" dirty="0" smtClean="0"/>
              <a:t>All multivalued dependencies of the form:</a:t>
            </a:r>
          </a:p>
          <a:p>
            <a:pPr marL="0" indent="0">
              <a:buNone/>
            </a:pPr>
            <a:endParaRPr lang="en-US" altLang="en-US" i="1" dirty="0" smtClean="0">
              <a:latin typeface="Times New Roman" panose="02020603050405020304" pitchFamily="18" charset="0"/>
            </a:endParaRPr>
          </a:p>
          <a:p>
            <a:pPr marL="0" indent="0">
              <a:buNone/>
            </a:pPr>
            <a:r>
              <a:rPr lang="en-US" altLang="en-US" i="1" dirty="0" smtClean="0">
                <a:latin typeface="Times New Roman" panose="02020603050405020304" pitchFamily="18" charset="0"/>
              </a:rPr>
              <a:t>	</a:t>
            </a:r>
            <a:r>
              <a:rPr lang="el-GR" i="1" dirty="0" smtClean="0"/>
              <a:t>α →→ β ∩ </a:t>
            </a:r>
            <a:r>
              <a:rPr lang="en-US" i="1" dirty="0" err="1" smtClean="0"/>
              <a:t>Ri</a:t>
            </a:r>
            <a:endParaRPr lang="en-US" i="1" dirty="0" smtClean="0"/>
          </a:p>
          <a:p>
            <a:pPr marL="0" indent="0">
              <a:buNone/>
            </a:pPr>
            <a:r>
              <a:rPr lang="en-US" i="1" dirty="0" smtClean="0"/>
              <a:t>where α ⊆ </a:t>
            </a:r>
            <a:r>
              <a:rPr lang="en-US" i="1" dirty="0" err="1" smtClean="0"/>
              <a:t>Ri</a:t>
            </a:r>
            <a:r>
              <a:rPr lang="en-US" i="1" dirty="0" smtClean="0"/>
              <a:t> and α →→ β is in D+.</a:t>
            </a:r>
          </a:p>
          <a:p>
            <a:pPr marL="0" indent="0">
              <a:buNone/>
            </a:pPr>
            <a:endParaRPr lang="en-US" altLang="en-US" i="1"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7AD0300-7DF2-417B-9258-1FCF1C4B0F18}" type="slidenum">
              <a:rPr lang="en-US" altLang="en-US" sz="1200"/>
              <a:pPr/>
              <a:t>36</a:t>
            </a:fld>
            <a:endParaRPr lang="en-US" altLang="en-US" sz="1200"/>
          </a:p>
        </p:txBody>
      </p:sp>
      <p:sp>
        <p:nvSpPr>
          <p:cNvPr id="194563" name="Rectangle 2"/>
          <p:cNvSpPr>
            <a:spLocks noGrp="1" noRot="1" noChangeAspect="1" noChangeArrowheads="1" noTextEdit="1"/>
          </p:cNvSpPr>
          <p:nvPr>
            <p:ph type="sldImg"/>
          </p:nvPr>
        </p:nvSpPr>
        <p:spPr>
          <a:xfrm>
            <a:off x="1177925" y="695325"/>
            <a:ext cx="4641850" cy="3481388"/>
          </a:xfrm>
          <a:ln/>
        </p:spPr>
      </p:sp>
      <p:sp>
        <p:nvSpPr>
          <p:cNvPr id="19456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As was the case when we were dealing solely with functional dependencies, we are interested in decompositions that are lossless and that preserve dependencies. The following fact about multivalued dependencies and </a:t>
            </a:r>
            <a:r>
              <a:rPr lang="en-US" b="1" dirty="0" err="1" smtClean="0"/>
              <a:t>losslessness</a:t>
            </a:r>
            <a:r>
              <a:rPr lang="en-US" b="1" dirty="0" smtClean="0"/>
              <a:t> shows that the algorithm of Figure 7.16 generates only lossless decompositions:</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83E816C-6BFE-45B8-AEE0-580237AF389A}" type="slidenum">
              <a:rPr lang="en-US" altLang="en-US" sz="1200"/>
              <a:pPr/>
              <a:t>37</a:t>
            </a:fld>
            <a:endParaRPr lang="en-US" altLang="en-US" sz="1200"/>
          </a:p>
        </p:txBody>
      </p:sp>
      <p:sp>
        <p:nvSpPr>
          <p:cNvPr id="195587" name="Rectangle 2"/>
          <p:cNvSpPr>
            <a:spLocks noGrp="1" noRot="1" noChangeAspect="1" noChangeArrowheads="1" noTextEdit="1"/>
          </p:cNvSpPr>
          <p:nvPr>
            <p:ph type="sldImg"/>
          </p:nvPr>
        </p:nvSpPr>
        <p:spPr>
          <a:xfrm>
            <a:off x="1177925" y="695325"/>
            <a:ext cx="4641850" cy="3481388"/>
          </a:xfrm>
          <a:ln/>
        </p:spPr>
      </p:sp>
      <p:sp>
        <p:nvSpPr>
          <p:cNvPr id="195588"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65BE18E-95C0-4077-93A4-3B3170CA9954}" type="slidenum">
              <a:rPr lang="en-US" altLang="en-US" sz="1200"/>
              <a:pPr/>
              <a:t>38</a:t>
            </a:fld>
            <a:endParaRPr lang="en-US" altLang="en-US" sz="1200"/>
          </a:p>
        </p:txBody>
      </p:sp>
      <p:sp>
        <p:nvSpPr>
          <p:cNvPr id="196611" name="Rectangle 2"/>
          <p:cNvSpPr>
            <a:spLocks noGrp="1" noRot="1" noChangeAspect="1" noChangeArrowheads="1" noTextEdit="1"/>
          </p:cNvSpPr>
          <p:nvPr>
            <p:ph type="sldImg"/>
          </p:nvPr>
        </p:nvSpPr>
        <p:spPr>
          <a:xfrm>
            <a:off x="1177925" y="695325"/>
            <a:ext cx="4641850" cy="3481388"/>
          </a:xfrm>
          <a:ln/>
        </p:spPr>
      </p:sp>
      <p:sp>
        <p:nvSpPr>
          <p:cNvPr id="19661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D675266-589F-43B0-9701-90476419F730}" type="slidenum">
              <a:rPr lang="en-US" altLang="en-US" sz="1200"/>
              <a:pPr/>
              <a:t>39</a:t>
            </a:fld>
            <a:endParaRPr lang="en-US" altLang="en-US" sz="1200"/>
          </a:p>
        </p:txBody>
      </p:sp>
      <p:sp>
        <p:nvSpPr>
          <p:cNvPr id="197635" name="Rectangle 2"/>
          <p:cNvSpPr>
            <a:spLocks noGrp="1" noRot="1" noChangeAspect="1" noChangeArrowheads="1" noTextEdit="1"/>
          </p:cNvSpPr>
          <p:nvPr>
            <p:ph type="sldImg"/>
          </p:nvPr>
        </p:nvSpPr>
        <p:spPr>
          <a:xfrm>
            <a:off x="1177925" y="695325"/>
            <a:ext cx="4641850" cy="3481388"/>
          </a:xfrm>
          <a:ln/>
        </p:spPr>
      </p:sp>
      <p:sp>
        <p:nvSpPr>
          <p:cNvPr id="19763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fourth normal form is by no means the “ultimate” normal form. As we saw earlier, multivalued dependencies help us understand and eliminate some forms of repetition of information that cannot be understood in terms of functional dependencies. There are types of constraints called join dependencies that generalize multivalued dependencies and lead to another normal form called project-join normal form (PJNF). PJNF is called fifth normal form in some books. There is a class of even more general constraints that leads to a normal form called domain-key normal form (DKNF).</a:t>
            </a:r>
          </a:p>
          <a:p>
            <a:endParaRPr lang="en-US" altLang="en-US" dirty="0" smtClean="0">
              <a:latin typeface="Times New Roman" panose="02020603050405020304" pitchFamily="18" charset="0"/>
            </a:endParaRPr>
          </a:p>
          <a:p>
            <a:r>
              <a:rPr lang="en-US" b="1" i="1" dirty="0" smtClean="0"/>
              <a:t>A practical problem with the use of these generalized constraints is that they are not only hard to reason with, but there is also no set of sound and complete inference rules for reasoning about the constraints. Hence PJNF and DKNF are used quite rarely. Chapter 28 provides more details about these normal forms.</a:t>
            </a:r>
          </a:p>
          <a:p>
            <a:endParaRPr lang="en-US" altLang="en-US" dirty="0" smtClean="0">
              <a:latin typeface="Times New Roman" panose="02020603050405020304" pitchFamily="18" charset="0"/>
            </a:endParaRPr>
          </a:p>
          <a:p>
            <a:r>
              <a:rPr lang="en-US" i="1" dirty="0" smtClean="0"/>
              <a:t>In the relational model, we formalize this idea that attributes do not have any substructure. A domain is atomic if elements of the domain are considered to be indivisible units. We say that a relation schema R is in first normal form (1NF) if the domains of all attributes of R are atomic.</a:t>
            </a: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88DF86E-0385-4E7C-82B3-654758E8AEBF}" type="slidenum">
              <a:rPr lang="en-US" altLang="en-US" sz="1200"/>
              <a:pPr/>
              <a:t>40</a:t>
            </a:fld>
            <a:endParaRPr lang="en-US" altLang="en-US" sz="1200"/>
          </a:p>
        </p:txBody>
      </p:sp>
      <p:sp>
        <p:nvSpPr>
          <p:cNvPr id="198659" name="Rectangle 2"/>
          <p:cNvSpPr>
            <a:spLocks noGrp="1" noRot="1" noChangeAspect="1" noChangeArrowheads="1" noTextEdit="1"/>
          </p:cNvSpPr>
          <p:nvPr>
            <p:ph type="sldImg"/>
          </p:nvPr>
        </p:nvSpPr>
        <p:spPr>
          <a:xfrm>
            <a:off x="1177925" y="695325"/>
            <a:ext cx="4641850" cy="3481388"/>
          </a:xfrm>
          <a:ln/>
        </p:spPr>
      </p:sp>
      <p:sp>
        <p:nvSpPr>
          <p:cNvPr id="19866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Earlier in the chapter starting in Section 7.1.1, we assumed that a relation schema r(R) is given, and we proceeded to normalize it. There are several ways in which we could have come up with the schema r(R):</a:t>
            </a:r>
          </a:p>
          <a:p>
            <a:endParaRPr lang="en-US" altLang="en-US" dirty="0" smtClean="0">
              <a:latin typeface="Times New Roman" panose="02020603050405020304" pitchFamily="18" charset="0"/>
            </a:endParaRPr>
          </a:p>
          <a:p>
            <a:pPr marL="228600" indent="-228600">
              <a:buAutoNum type="arabicPeriod"/>
            </a:pPr>
            <a:r>
              <a:rPr lang="en-US" i="1" dirty="0" smtClean="0"/>
              <a:t>r(R) could have been generated in converting an E-R diagram to a set of relation schemas.</a:t>
            </a:r>
          </a:p>
          <a:p>
            <a:pPr marL="228600" indent="-228600">
              <a:buAutoNum type="arabicPeriod"/>
            </a:pPr>
            <a:r>
              <a:rPr lang="en-US" i="1" dirty="0" smtClean="0"/>
              <a:t>r(R) could have been a single relation schema containing all attributes that are of interest. The normalization process then breaks up r(R) into smaller schemas. </a:t>
            </a:r>
          </a:p>
          <a:p>
            <a:pPr marL="228600" indent="-228600">
              <a:buAutoNum type="arabicPeriod"/>
            </a:pPr>
            <a:r>
              <a:rPr lang="en-US" i="1" dirty="0" smtClean="0"/>
              <a:t>r(R) could have been the result of an ad hoc design of relations that we then test to verify that it satisfies a desired normal form.</a:t>
            </a:r>
            <a:endParaRPr lang="en-US" altLang="en-US" i="1" dirty="0">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DB39A99-E879-404A-858C-3AE1BF5F92CA}" type="slidenum">
              <a:rPr lang="en-US" altLang="en-US" sz="1200"/>
              <a:pPr/>
              <a:t>41</a:t>
            </a:fld>
            <a:endParaRPr lang="en-US" altLang="en-US" sz="1200"/>
          </a:p>
        </p:txBody>
      </p:sp>
      <p:sp>
        <p:nvSpPr>
          <p:cNvPr id="199683" name="Rectangle 2"/>
          <p:cNvSpPr>
            <a:spLocks noGrp="1" noRot="1" noChangeAspect="1" noChangeArrowheads="1" noTextEdit="1"/>
          </p:cNvSpPr>
          <p:nvPr>
            <p:ph type="sldImg"/>
          </p:nvPr>
        </p:nvSpPr>
        <p:spPr>
          <a:xfrm>
            <a:off x="1177925" y="695325"/>
            <a:ext cx="4641850" cy="3481388"/>
          </a:xfrm>
          <a:ln/>
        </p:spPr>
      </p:sp>
      <p:sp>
        <p:nvSpPr>
          <p:cNvPr id="19968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When we define an E-R diagram carefully, identifying all entity sets correctly, the relation schemas generated from the E-R diagram should not need much further normalization. </a:t>
            </a:r>
          </a:p>
          <a:p>
            <a:r>
              <a:rPr lang="en-US" b="1" dirty="0" smtClean="0"/>
              <a:t>However, there can be functional dependencies among attributes of an entity set. For instance, suppose an instructor entity set had attributes </a:t>
            </a:r>
            <a:r>
              <a:rPr lang="en-US" b="1" dirty="0" err="1" smtClean="0"/>
              <a:t>dept_name</a:t>
            </a:r>
            <a:r>
              <a:rPr lang="en-US" b="1" dirty="0" smtClean="0"/>
              <a:t> and </a:t>
            </a:r>
            <a:r>
              <a:rPr lang="en-US" b="1" dirty="0" err="1" smtClean="0"/>
              <a:t>dept_address</a:t>
            </a:r>
            <a:r>
              <a:rPr lang="en-US" b="1" dirty="0" smtClean="0"/>
              <a:t>, and there is a functional dependency </a:t>
            </a:r>
            <a:r>
              <a:rPr lang="en-US" b="1" dirty="0" err="1" smtClean="0"/>
              <a:t>dept_name</a:t>
            </a:r>
            <a:r>
              <a:rPr lang="en-US" b="1" dirty="0" smtClean="0"/>
              <a:t> → </a:t>
            </a:r>
            <a:r>
              <a:rPr lang="en-US" b="1" dirty="0" err="1" smtClean="0"/>
              <a:t>dept</a:t>
            </a:r>
            <a:r>
              <a:rPr lang="en-US" b="1" dirty="0" smtClean="0"/>
              <a:t> address. We would then need to normalize the relation generated from instructor.</a:t>
            </a:r>
          </a:p>
          <a:p>
            <a:endParaRPr lang="en-US" altLang="en-US" b="1" dirty="0" smtClean="0">
              <a:latin typeface="Times New Roman" panose="02020603050405020304" pitchFamily="18" charset="0"/>
            </a:endParaRPr>
          </a:p>
          <a:p>
            <a:r>
              <a:rPr lang="en-US" b="1" dirty="0" smtClean="0"/>
              <a:t>Most examples of such dependencies arise out of poor E-R diagram design. In the preceding example, if we had designed the E-R diagram correctly, we would have created a department entity set with attribute </a:t>
            </a:r>
            <a:r>
              <a:rPr lang="en-US" b="1" dirty="0" err="1" smtClean="0"/>
              <a:t>dept</a:t>
            </a:r>
            <a:r>
              <a:rPr lang="en-US" b="1" dirty="0" smtClean="0"/>
              <a:t> address and a relationship set between instructor and department. Similarly, a relationship set involving more than two entity sets may result in a schema that may not be in a desirable normal form. Since most relationship sets are binary, such cases are relatively rare. (In fact, some E-R-diagram variants actually make it difficult or impossible to specify </a:t>
            </a:r>
            <a:r>
              <a:rPr lang="en-US" b="1" dirty="0" err="1" smtClean="0"/>
              <a:t>nonbinary</a:t>
            </a:r>
            <a:r>
              <a:rPr lang="en-US" b="1" dirty="0" smtClean="0"/>
              <a:t> relationship sets.)</a:t>
            </a:r>
          </a:p>
          <a:p>
            <a:endParaRPr lang="en-US" altLang="en-US" dirty="0" smtClean="0">
              <a:latin typeface="Times New Roman" panose="02020603050405020304" pitchFamily="18" charset="0"/>
            </a:endParaRPr>
          </a:p>
          <a:p>
            <a:r>
              <a:rPr lang="en-US" altLang="en-US" dirty="0" smtClean="0">
                <a:latin typeface="Times New Roman" panose="02020603050405020304" pitchFamily="18" charset="0"/>
              </a:rPr>
              <a:t>PRIMEROT</a:t>
            </a:r>
          </a:p>
          <a:p>
            <a:endParaRPr lang="en-US" altLang="en-US" dirty="0" smtClean="0">
              <a:latin typeface="Times New Roman" panose="02020603050405020304" pitchFamily="18" charset="0"/>
            </a:endParaRPr>
          </a:p>
          <a:p>
            <a:r>
              <a:rPr lang="en-US" b="1" dirty="0" smtClean="0"/>
              <a:t>Functional dependencies can help us detect poor E-R design. If the generated relation schemas are not in desired normal form, the problem can be fixed in the E-R diagram. That is, normalization can be done formally as part of data modeling. Alternatively, normalization can be left to the designer’s intuition during E-R modeling, and it can be done formally on the relation schemas generated from the E-R model. </a:t>
            </a:r>
          </a:p>
          <a:p>
            <a:endParaRPr lang="en-US" altLang="en-US"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DDD9CE7-351F-48CE-967A-358B845A4695}" type="slidenum">
              <a:rPr lang="en-US" altLang="en-US" sz="1200"/>
              <a:pPr/>
              <a:t>42</a:t>
            </a:fld>
            <a:endParaRPr lang="en-US" altLang="en-US" sz="1200"/>
          </a:p>
        </p:txBody>
      </p:sp>
      <p:sp>
        <p:nvSpPr>
          <p:cNvPr id="200707" name="Rectangle 2"/>
          <p:cNvSpPr>
            <a:spLocks noGrp="1" noRot="1" noChangeAspect="1" noChangeArrowheads="1" noTextEdit="1"/>
          </p:cNvSpPr>
          <p:nvPr>
            <p:ph type="sldImg"/>
          </p:nvPr>
        </p:nvSpPr>
        <p:spPr>
          <a:xfrm>
            <a:off x="1177925" y="695325"/>
            <a:ext cx="4641850" cy="3481388"/>
          </a:xfrm>
          <a:ln/>
        </p:spPr>
      </p:sp>
      <p:sp>
        <p:nvSpPr>
          <p:cNvPr id="200708"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Occasionally database designers choose a schema that has redundant information; that is, it is not normalized. They use the redundancy to improve performance for specific applications. The penalty paid for not using a normalized schema is the extra work (in terms of coding time and execution time) to keep redundant data consistent. </a:t>
            </a:r>
          </a:p>
          <a:p>
            <a:endParaRPr lang="en-US" b="1" dirty="0" smtClean="0"/>
          </a:p>
          <a:p>
            <a:r>
              <a:rPr lang="en-US" b="1" dirty="0" smtClean="0"/>
              <a:t>For instance, suppose all course prerequisites have to be displayed along with the course information, every time a course is accessed. In our normalized schema, this requires a join of course with </a:t>
            </a:r>
            <a:r>
              <a:rPr lang="en-US" dirty="0" err="1" smtClean="0"/>
              <a:t>prereq</a:t>
            </a:r>
            <a:r>
              <a:rPr lang="en-US" dirty="0" smtClean="0"/>
              <a:t>.</a:t>
            </a:r>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b="1" dirty="0" smtClean="0"/>
              <a:t>One alternative to computing the join on the fly is to store a relation containing all the attributes of course and </a:t>
            </a:r>
            <a:r>
              <a:rPr lang="en-US" b="1" dirty="0" err="1" smtClean="0"/>
              <a:t>prereq</a:t>
            </a:r>
            <a:r>
              <a:rPr lang="en-US" b="1" dirty="0" smtClean="0"/>
              <a:t>. This makes displaying the “full” course information faster. However, the information for a course is repeated for every course prerequisite, and all copies must be updated by the application, whenever a course prerequisite is added or dropped. The process of taking a normalized schema and making it </a:t>
            </a:r>
            <a:r>
              <a:rPr lang="en-US" b="1" dirty="0" err="1" smtClean="0"/>
              <a:t>nonnormalized</a:t>
            </a:r>
            <a:r>
              <a:rPr lang="en-US" b="1" dirty="0" smtClean="0"/>
              <a:t> is called </a:t>
            </a:r>
            <a:r>
              <a:rPr lang="en-US" b="1" dirty="0" err="1" smtClean="0"/>
              <a:t>denormalization</a:t>
            </a:r>
            <a:r>
              <a:rPr lang="en-US" b="1" dirty="0" smtClean="0"/>
              <a:t>, and designers use it to tune the performance of systems to support time-critical operations.</a:t>
            </a:r>
          </a:p>
          <a:p>
            <a:endParaRPr lang="en-US" altLang="en-US" dirty="0" smtClean="0">
              <a:latin typeface="Times New Roman" panose="02020603050405020304" pitchFamily="18" charset="0"/>
            </a:endParaRPr>
          </a:p>
          <a:p>
            <a:r>
              <a:rPr lang="en-US" b="1" dirty="0" smtClean="0"/>
              <a:t>A better alternative, supported by many database systems today, is to use the normalized schema and additionally store the join of course and </a:t>
            </a:r>
            <a:r>
              <a:rPr lang="en-US" b="1" dirty="0" err="1" smtClean="0"/>
              <a:t>prereq</a:t>
            </a:r>
            <a:r>
              <a:rPr lang="en-US" b="1" dirty="0" smtClean="0"/>
              <a:t> as a materialized view. (Recall that a materialized view is a view whose result is stored in the database and brought up to date when the relations used in the view are updated.) Like </a:t>
            </a:r>
            <a:r>
              <a:rPr lang="en-US" b="1" dirty="0" err="1" smtClean="0"/>
              <a:t>denormalization</a:t>
            </a:r>
            <a:r>
              <a:rPr lang="en-US" b="1" dirty="0" smtClean="0"/>
              <a:t>, using materialized views does have space and time overhead; however, it has the advantage that keeping the view up to date is the job of the database system, not the application programmer.</a:t>
            </a:r>
          </a:p>
          <a:p>
            <a:endParaRPr lang="en-US" altLang="en-US" dirty="0" smtClean="0">
              <a:latin typeface="Times New Roman" panose="02020603050405020304" pitchFamily="18" charset="0"/>
            </a:endParaRPr>
          </a:p>
          <a:p>
            <a:endParaRPr lang="en-US" altLang="en-US" dirty="0" smtClean="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70029BB9-2A89-4B67-AE42-9DB9D32BF98D}" type="slidenum">
              <a:rPr lang="en-US" altLang="en-US" sz="1200"/>
              <a:pPr/>
              <a:t>43</a:t>
            </a:fld>
            <a:endParaRPr lang="en-US" altLang="en-US" sz="1200"/>
          </a:p>
        </p:txBody>
      </p:sp>
      <p:sp>
        <p:nvSpPr>
          <p:cNvPr id="201731" name="Rectangle 2"/>
          <p:cNvSpPr>
            <a:spLocks noGrp="1" noRot="1" noChangeAspect="1" noChangeArrowheads="1" noTextEdit="1"/>
          </p:cNvSpPr>
          <p:nvPr>
            <p:ph type="sldImg"/>
          </p:nvPr>
        </p:nvSpPr>
        <p:spPr>
          <a:xfrm>
            <a:off x="1177925" y="695325"/>
            <a:ext cx="4641850" cy="3481388"/>
          </a:xfrm>
          <a:ln/>
        </p:spPr>
      </p:sp>
      <p:sp>
        <p:nvSpPr>
          <p:cNvPr id="201732"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There are some aspects of database design that are not addressed by normalization and can thus lead to bad database design. Data pertaining to time or to ranges of time have several such issues. We give examples here; obviously, such designs should be avoided.</a:t>
            </a:r>
          </a:p>
          <a:p>
            <a:endParaRPr lang="en-US" altLang="en-US" b="1" dirty="0" smtClean="0">
              <a:latin typeface="Times New Roman" panose="02020603050405020304" pitchFamily="18" charset="0"/>
            </a:endParaRPr>
          </a:p>
          <a:p>
            <a:r>
              <a:rPr lang="en-US" b="1" dirty="0" smtClean="0"/>
              <a:t>Consider a university database, where we want to store the total number of instructors in each department in different years. A relation total </a:t>
            </a:r>
            <a:r>
              <a:rPr lang="en-US" b="1" dirty="0" err="1" smtClean="0"/>
              <a:t>inst</a:t>
            </a:r>
            <a:r>
              <a:rPr lang="en-US" b="1" dirty="0" smtClean="0"/>
              <a:t>(</a:t>
            </a:r>
            <a:r>
              <a:rPr lang="en-US" b="1" dirty="0" err="1" smtClean="0"/>
              <a:t>dept</a:t>
            </a:r>
            <a:r>
              <a:rPr lang="en-US" b="1" dirty="0" smtClean="0"/>
              <a:t> name, year, size) could be used to store the desired information. The only functional dependency on this relation is </a:t>
            </a:r>
            <a:r>
              <a:rPr lang="en-US" b="1" dirty="0" err="1" smtClean="0"/>
              <a:t>dept</a:t>
            </a:r>
            <a:r>
              <a:rPr lang="en-US" b="1" dirty="0" smtClean="0"/>
              <a:t> name, year→ size, and the relation is in BCNF.</a:t>
            </a:r>
          </a:p>
          <a:p>
            <a:endParaRPr lang="en-US" altLang="en-US" dirty="0" smtClean="0">
              <a:latin typeface="Times New Roman" panose="02020603050405020304" pitchFamily="18" charset="0"/>
            </a:endParaRPr>
          </a:p>
          <a:p>
            <a:r>
              <a:rPr lang="en-US" i="1" dirty="0" smtClean="0"/>
              <a:t>An alternative design is to use multiple relations, each storing the size information for a different year. Let us say the years of interest are 2017, 2018, and 2019; we would then have relations of the form total </a:t>
            </a:r>
            <a:r>
              <a:rPr lang="en-US" i="1" dirty="0" err="1" smtClean="0"/>
              <a:t>inst</a:t>
            </a:r>
            <a:r>
              <a:rPr lang="en-US" i="1" dirty="0" smtClean="0"/>
              <a:t> 2017, total </a:t>
            </a:r>
            <a:r>
              <a:rPr lang="en-US" i="1" dirty="0" err="1" smtClean="0"/>
              <a:t>inst</a:t>
            </a:r>
            <a:r>
              <a:rPr lang="en-US" i="1" dirty="0" smtClean="0"/>
              <a:t> 2018, total </a:t>
            </a:r>
            <a:r>
              <a:rPr lang="en-US" i="1" dirty="0" err="1" smtClean="0"/>
              <a:t>inst</a:t>
            </a:r>
            <a:r>
              <a:rPr lang="en-US" i="1" dirty="0" smtClean="0"/>
              <a:t> 2019, all of which are on the schema (</a:t>
            </a:r>
            <a:r>
              <a:rPr lang="en-US" i="1" dirty="0" err="1" smtClean="0"/>
              <a:t>dept</a:t>
            </a:r>
            <a:r>
              <a:rPr lang="en-US" i="1" dirty="0" smtClean="0"/>
              <a:t> name, size). The only functional dependency here on each relation would be </a:t>
            </a:r>
            <a:r>
              <a:rPr lang="en-US" i="1" dirty="0" err="1" smtClean="0"/>
              <a:t>dept</a:t>
            </a:r>
            <a:r>
              <a:rPr lang="en-US" i="1" dirty="0" smtClean="0"/>
              <a:t> name → size, so these relations are also in BCNF.</a:t>
            </a:r>
          </a:p>
          <a:p>
            <a:endParaRPr lang="en-US" altLang="en-US" i="1" dirty="0" smtClean="0">
              <a:latin typeface="Times New Roman" panose="02020603050405020304" pitchFamily="18" charset="0"/>
            </a:endParaRPr>
          </a:p>
          <a:p>
            <a:r>
              <a:rPr lang="en-US" i="1" dirty="0" smtClean="0"/>
              <a:t>However, this alternative design is clearly a bad idea—we would have to create a new relation every year, and we would also have to write new queries every year, to take each new relation into account. Queries would also be more complicated since they may have to refer to many relations. </a:t>
            </a:r>
          </a:p>
          <a:p>
            <a:endParaRPr lang="en-US" i="1" dirty="0" smtClean="0"/>
          </a:p>
          <a:p>
            <a:r>
              <a:rPr lang="en-US" i="1" dirty="0" smtClean="0"/>
              <a:t>Yet another way of representing the same data is to have a single relation </a:t>
            </a:r>
            <a:r>
              <a:rPr lang="en-US" i="1" dirty="0" err="1" smtClean="0"/>
              <a:t>dept</a:t>
            </a:r>
            <a:r>
              <a:rPr lang="en-US" i="1" dirty="0" smtClean="0"/>
              <a:t> year(</a:t>
            </a:r>
            <a:r>
              <a:rPr lang="en-US" i="1" dirty="0" err="1" smtClean="0"/>
              <a:t>dept</a:t>
            </a:r>
            <a:r>
              <a:rPr lang="en-US" i="1" dirty="0" smtClean="0"/>
              <a:t> name, total </a:t>
            </a:r>
            <a:r>
              <a:rPr lang="en-US" i="1" dirty="0" err="1" smtClean="0"/>
              <a:t>inst</a:t>
            </a:r>
            <a:r>
              <a:rPr lang="en-US" i="1" dirty="0" smtClean="0"/>
              <a:t> 2017, total </a:t>
            </a:r>
            <a:r>
              <a:rPr lang="en-US" i="1" dirty="0" err="1" smtClean="0"/>
              <a:t>inst</a:t>
            </a:r>
            <a:r>
              <a:rPr lang="en-US" i="1" dirty="0" smtClean="0"/>
              <a:t> 2018, total </a:t>
            </a:r>
            <a:r>
              <a:rPr lang="en-US" i="1" dirty="0" err="1" smtClean="0"/>
              <a:t>inst</a:t>
            </a:r>
            <a:r>
              <a:rPr lang="en-US" i="1" dirty="0" smtClean="0"/>
              <a:t> 2019). Here the only functional dependencies are from </a:t>
            </a:r>
            <a:r>
              <a:rPr lang="en-US" i="1" dirty="0" err="1" smtClean="0"/>
              <a:t>dept</a:t>
            </a:r>
            <a:r>
              <a:rPr lang="en-US" i="1" dirty="0" smtClean="0"/>
              <a:t> name to the other attributes, and again the relation is in BCNF. This design is also a bad idea since it has problems similar to the previous design—namely, we would have to modify the relation schema and write new queries every year. Queries would also be more complicated, since they may have to refer to many attributes.</a:t>
            </a:r>
            <a:endParaRPr lang="en-US" altLang="en-US" i="1" dirty="0" smtClean="0">
              <a:latin typeface="Times New Roman" panose="02020603050405020304" pitchFamily="18" charset="0"/>
            </a:endParaRPr>
          </a:p>
          <a:p>
            <a:endParaRPr lang="en-US" altLang="en-US" dirty="0" smtClean="0">
              <a:latin typeface="Times New Roman" panose="02020603050405020304" pitchFamily="18" charset="0"/>
            </a:endParaRPr>
          </a:p>
          <a:p>
            <a:r>
              <a:rPr lang="en-US" dirty="0" smtClean="0"/>
              <a:t>Representations such as those in the </a:t>
            </a:r>
            <a:r>
              <a:rPr lang="en-US" dirty="0" err="1" smtClean="0"/>
              <a:t>dept</a:t>
            </a:r>
            <a:r>
              <a:rPr lang="en-US" dirty="0" smtClean="0"/>
              <a:t> year relation, with one column for each value of an attribute, are called crosstabs; they are widely used in spreadsheets and reports and in data analysis tools.</a:t>
            </a:r>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F9645A2-1248-423A-8556-84A2D4FA5E36}" type="slidenum">
              <a:rPr lang="en-US" altLang="en-US" sz="1200"/>
              <a:pPr/>
              <a:t>44</a:t>
            </a:fld>
            <a:endParaRPr lang="en-US" altLang="en-US" sz="1200"/>
          </a:p>
        </p:txBody>
      </p:sp>
      <p:sp>
        <p:nvSpPr>
          <p:cNvPr id="202755" name="Rectangle 2"/>
          <p:cNvSpPr>
            <a:spLocks noGrp="1" noRot="1" noChangeAspect="1" noChangeArrowheads="1" noTextEdit="1"/>
          </p:cNvSpPr>
          <p:nvPr>
            <p:ph type="sldImg"/>
          </p:nvPr>
        </p:nvSpPr>
        <p:spPr>
          <a:xfrm>
            <a:off x="1177925" y="695325"/>
            <a:ext cx="4641850" cy="3481388"/>
          </a:xfrm>
          <a:ln/>
        </p:spPr>
      </p:sp>
      <p:sp>
        <p:nvSpPr>
          <p:cNvPr id="202756"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 general, temporal data are data that have an associated time interval during which they are valid.</a:t>
            </a:r>
          </a:p>
          <a:p>
            <a:endParaRPr lang="en-US" altLang="en-US" b="1" dirty="0" smtClean="0">
              <a:latin typeface="Times New Roman" panose="02020603050405020304" pitchFamily="18" charset="0"/>
            </a:endParaRPr>
          </a:p>
          <a:p>
            <a:endParaRPr lang="en-US" altLang="en-US" b="1" dirty="0" smtClean="0">
              <a:latin typeface="Times New Roman" panose="02020603050405020304" pitchFamily="18" charset="0"/>
            </a:endParaRPr>
          </a:p>
          <a:p>
            <a:r>
              <a:rPr lang="en-US" b="1" dirty="0" smtClean="0"/>
              <a:t>Functional dependencies that hold at a particular point in time are called temporal functional dependencies. We use the term snapshot of data to mean the value of the data at a particular point in time. Thus, a snapshot of course data gives the values of all attributes, such as title and department, of all courses at a particular point in time. </a:t>
            </a:r>
          </a:p>
          <a:p>
            <a:endParaRPr lang="en-US" b="1" dirty="0" smtClean="0"/>
          </a:p>
          <a:p>
            <a:r>
              <a:rPr lang="en-US" b="1" dirty="0" smtClean="0"/>
              <a:t>Formally, a temporal functional dependency α τ → β holds on a relation schema r(R) if, for all legal instances of r(R), all snapshots of r satisfy the functional dependency </a:t>
            </a:r>
            <a:r>
              <a:rPr lang="en-US" dirty="0" smtClean="0"/>
              <a:t>α → β.</a:t>
            </a:r>
            <a:endParaRPr lang="en-US" altLang="en-US" dirty="0">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9BE1E68-DCB1-4B85-8BF4-1674F75BDA38}" type="slidenum">
              <a:rPr lang="en-US" altLang="en-US" sz="1200"/>
              <a:pPr/>
              <a:t>45</a:t>
            </a:fld>
            <a:endParaRPr lang="en-US" altLang="en-US" sz="1200"/>
          </a:p>
        </p:txBody>
      </p:sp>
      <p:sp>
        <p:nvSpPr>
          <p:cNvPr id="203779" name="Rectangle 2"/>
          <p:cNvSpPr>
            <a:spLocks noGrp="1" noRot="1" noChangeAspect="1" noChangeArrowheads="1" noTextEdit="1"/>
          </p:cNvSpPr>
          <p:nvPr>
            <p:ph type="sldImg"/>
          </p:nvPr>
        </p:nvSpPr>
        <p:spPr>
          <a:xfrm>
            <a:off x="1177925" y="695325"/>
            <a:ext cx="4641850" cy="3481388"/>
          </a:xfrm>
          <a:ln/>
        </p:spPr>
      </p:sp>
      <p:sp>
        <p:nvSpPr>
          <p:cNvPr id="203780"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i="1" dirty="0" smtClean="0"/>
              <a:t>In practice, database designers fall back to simpler approaches to designing temporal databases. One commonly used approach is to design the entire database (including E-R design and relational design) ignoring temporal changes. After this, the designer studies the various relations and decides which relations require temporal variation to be tracked.</a:t>
            </a:r>
          </a:p>
          <a:p>
            <a:endParaRPr lang="en-US" altLang="en-US" i="1" dirty="0" smtClean="0">
              <a:latin typeface="Times New Roman" panose="02020603050405020304" pitchFamily="18" charset="0"/>
            </a:endParaRPr>
          </a:p>
          <a:p>
            <a:r>
              <a:rPr lang="en-US" i="1" dirty="0" smtClean="0"/>
              <a:t>The next step is to add valid time information to each such relation by adding start and end time as attributes. For example, consider the course relation. The title of the course may change over time, which can be handled by adding a valid time range; the resultant schema would be:</a:t>
            </a:r>
          </a:p>
          <a:p>
            <a:endParaRPr lang="en-US" altLang="en-US" i="1" dirty="0" smtClean="0">
              <a:latin typeface="Times New Roman" panose="02020603050405020304" pitchFamily="18" charset="0"/>
            </a:endParaRPr>
          </a:p>
          <a:p>
            <a:r>
              <a:rPr lang="en-US" i="1" dirty="0" smtClean="0"/>
              <a:t>course (course id, title, </a:t>
            </a:r>
            <a:r>
              <a:rPr lang="en-US" i="1" dirty="0" err="1" smtClean="0"/>
              <a:t>dept</a:t>
            </a:r>
            <a:r>
              <a:rPr lang="en-US" i="1" dirty="0" smtClean="0"/>
              <a:t> name, credits, start, end)</a:t>
            </a:r>
            <a:endParaRPr lang="en-US" altLang="en-US" i="1" dirty="0">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1600">
                <a:solidFill>
                  <a:schemeClr val="tx1"/>
                </a:solidFill>
                <a:latin typeface="Helvetica" panose="020B0604020202020204" pitchFamily="34" charset="0"/>
                <a:ea typeface="MS PGothic" panose="020B0600070205080204" pitchFamily="34" charset="-128"/>
              </a:defRPr>
            </a:lvl1pPr>
            <a:lvl2pPr marL="742950" indent="-285750" defTabSz="928688">
              <a:defRPr sz="1600">
                <a:solidFill>
                  <a:schemeClr val="tx1"/>
                </a:solidFill>
                <a:latin typeface="Helvetica" panose="020B0604020202020204" pitchFamily="34" charset="0"/>
                <a:ea typeface="MS PGothic" panose="020B0600070205080204" pitchFamily="34" charset="-128"/>
              </a:defRPr>
            </a:lvl2pPr>
            <a:lvl3pPr marL="1143000" indent="-228600" defTabSz="928688">
              <a:defRPr sz="1600">
                <a:solidFill>
                  <a:schemeClr val="tx1"/>
                </a:solidFill>
                <a:latin typeface="Helvetica" panose="020B0604020202020204" pitchFamily="34" charset="0"/>
                <a:ea typeface="MS PGothic" panose="020B0600070205080204" pitchFamily="34" charset="-128"/>
              </a:defRPr>
            </a:lvl3pPr>
            <a:lvl4pPr marL="1600200" indent="-228600" defTabSz="928688">
              <a:defRPr sz="1600">
                <a:solidFill>
                  <a:schemeClr val="tx1"/>
                </a:solidFill>
                <a:latin typeface="Helvetica" panose="020B0604020202020204" pitchFamily="34" charset="0"/>
                <a:ea typeface="MS PGothic" panose="020B0600070205080204" pitchFamily="34" charset="-128"/>
              </a:defRPr>
            </a:lvl4pPr>
            <a:lvl5pPr marL="2057400" indent="-228600" defTabSz="928688">
              <a:defRPr sz="1600">
                <a:solidFill>
                  <a:schemeClr val="tx1"/>
                </a:solidFill>
                <a:latin typeface="Helvetica" panose="020B0604020202020204" pitchFamily="34" charset="0"/>
                <a:ea typeface="MS PGothic" panose="020B0600070205080204" pitchFamily="34" charset="-128"/>
              </a:defRPr>
            </a:lvl5pPr>
            <a:lvl6pPr marL="25146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28688"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38419CD-81A9-4ED0-AB27-AA58D803B9B6}" type="slidenum">
              <a:rPr lang="en-US" altLang="en-US" sz="1200"/>
              <a:pPr/>
              <a:t>46</a:t>
            </a:fld>
            <a:endParaRPr lang="en-US" altLang="en-US" sz="1200"/>
          </a:p>
        </p:txBody>
      </p:sp>
      <p:sp>
        <p:nvSpPr>
          <p:cNvPr id="204803" name="Rectangle 2"/>
          <p:cNvSpPr>
            <a:spLocks noGrp="1" noRot="1" noChangeAspect="1" noChangeArrowheads="1" noTextEdit="1"/>
          </p:cNvSpPr>
          <p:nvPr>
            <p:ph type="sldImg"/>
          </p:nvPr>
        </p:nvSpPr>
        <p:spPr>
          <a:xfrm>
            <a:off x="1177925" y="695325"/>
            <a:ext cx="4641850" cy="3481388"/>
          </a:xfrm>
          <a:ln/>
        </p:spPr>
      </p:sp>
      <p:sp>
        <p:nvSpPr>
          <p:cNvPr id="204804" name="Rectangle 3"/>
          <p:cNvSpPr>
            <a:spLocks noGrp="1" noChangeArrowheads="1"/>
          </p:cNvSpPr>
          <p:nvPr>
            <p:ph type="body" idx="1"/>
          </p:nvPr>
        </p:nvSpPr>
        <p:spPr>
          <a:xfrm>
            <a:off x="931414" y="4410392"/>
            <a:ext cx="5134874"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714127" y="582136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5" y="6613525"/>
            <a:ext cx="447558"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smtClean="0">
                <a:solidFill>
                  <a:srgbClr val="002060"/>
                </a:solidFill>
              </a:rPr>
              <a:t>7.</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6D0E67A-7F0B-46D5-BCFA-1287AF4962F3}"/>
              </a:ext>
            </a:extLst>
          </p:cNvPr>
          <p:cNvSpPr>
            <a:spLocks noGrp="1" noChangeArrowheads="1"/>
          </p:cNvSpPr>
          <p:nvPr>
            <p:ph type="ctrTitle"/>
          </p:nvPr>
        </p:nvSpPr>
        <p:spPr>
          <a:extLst>
            <a:ext uri="{909E8E84-426E-40dd-AFC4-6F175D3DCCD1}"/>
            <a:ext uri="{91240B29-F687-4f45-9708-019B960494DF}"/>
            <a:ext uri="{FAA26D3D-D897-4be2-8F04-BA451C77F1D7}"/>
          </a:extLst>
        </p:spPr>
        <p:txBody>
          <a:bodyPr/>
          <a:lstStyle/>
          <a:p>
            <a:pPr>
              <a:defRPr/>
            </a:pPr>
            <a:r>
              <a:rPr lang="en-US" altLang="en-US" dirty="0">
                <a:effectLst>
                  <a:outerShdw blurRad="38100" dist="38100" dir="2700000" algn="tl">
                    <a:srgbClr val="C0C0C0"/>
                  </a:outerShdw>
                </a:effectLst>
                <a:ea typeface="ＭＳ Ｐゴシック" pitchFamily="34" charset="-128"/>
              </a:rPr>
              <a:t>Chapter </a:t>
            </a:r>
            <a:r>
              <a:rPr lang="en-US" altLang="en-US" dirty="0" smtClean="0">
                <a:effectLst>
                  <a:outerShdw blurRad="38100" dist="38100" dir="2700000" algn="tl">
                    <a:srgbClr val="C0C0C0"/>
                  </a:outerShdw>
                </a:effectLst>
                <a:ea typeface="ＭＳ Ｐゴシック" pitchFamily="34" charset="-128"/>
              </a:rPr>
              <a:t>7:  </a:t>
            </a:r>
            <a:r>
              <a:rPr lang="en-US" altLang="en-US" dirty="0">
                <a:effectLst>
                  <a:outerShdw blurRad="38100" dist="38100" dir="2700000" algn="tl">
                    <a:srgbClr val="C0C0C0"/>
                  </a:outerShdw>
                </a:effectLst>
                <a:ea typeface="ＭＳ Ｐゴシック" pitchFamily="34" charset="-128"/>
              </a:rPr>
              <a:t>Normalization</a:t>
            </a:r>
          </a:p>
        </p:txBody>
      </p:sp>
    </p:spTree>
    <p:extLst>
      <p:ext uri="{BB962C8B-B14F-4D97-AF65-F5344CB8AC3E}">
        <p14:creationId xmlns:p14="http://schemas.microsoft.com/office/powerpoint/2010/main" val="3399237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809625" y="104775"/>
            <a:ext cx="8077200" cy="609600"/>
          </a:xfrm>
        </p:spPr>
        <p:txBody>
          <a:bodyPr/>
          <a:lstStyle/>
          <a:p>
            <a:pPr>
              <a:defRPr/>
            </a:pPr>
            <a:r>
              <a:rPr lang="en-US" altLang="en-US" sz="2800" dirty="0">
                <a:effectLst>
                  <a:outerShdw blurRad="38100" dist="38100" dir="2700000" algn="tl">
                    <a:srgbClr val="C0C0C0"/>
                  </a:outerShdw>
                </a:effectLst>
                <a:ea typeface="ＭＳ Ｐゴシック" pitchFamily="34" charset="-128"/>
              </a:rPr>
              <a:t>Outline</a:t>
            </a:r>
          </a:p>
        </p:txBody>
      </p:sp>
      <p:sp>
        <p:nvSpPr>
          <p:cNvPr id="6147" name="Rectangle 3"/>
          <p:cNvSpPr>
            <a:spLocks noGrp="1" noChangeArrowheads="1"/>
          </p:cNvSpPr>
          <p:nvPr>
            <p:ph type="body" idx="1"/>
          </p:nvPr>
        </p:nvSpPr>
        <p:spPr>
          <a:xfrm>
            <a:off x="774113" y="1163638"/>
            <a:ext cx="6920103" cy="1847786"/>
          </a:xfrm>
        </p:spPr>
        <p:txBody>
          <a:bodyPr/>
          <a:lstStyle/>
          <a:p>
            <a:r>
              <a:rPr lang="en-US" altLang="en-US" sz="1700" dirty="0"/>
              <a:t>Features of Good Relational Design</a:t>
            </a:r>
          </a:p>
          <a:p>
            <a:r>
              <a:rPr lang="en-US" altLang="en-US" sz="1700" dirty="0"/>
              <a:t>Functional Dependencies</a:t>
            </a:r>
          </a:p>
          <a:p>
            <a:r>
              <a:rPr lang="en-US" altLang="en-US" sz="1700" dirty="0"/>
              <a:t>Decomposition Using Functional Dependencies</a:t>
            </a:r>
          </a:p>
          <a:p>
            <a:r>
              <a:rPr lang="en-US" altLang="en-US" sz="1700" dirty="0"/>
              <a:t>Normal Forms</a:t>
            </a:r>
          </a:p>
          <a:p>
            <a:r>
              <a:rPr lang="en-US" altLang="en-US" sz="1700" dirty="0"/>
              <a:t>Functional Dependency Theory</a:t>
            </a:r>
          </a:p>
          <a:p>
            <a:r>
              <a:rPr lang="en-US" altLang="en-US" sz="1700" dirty="0"/>
              <a:t>Algorithms for Decomposition using Functional Dependencies</a:t>
            </a:r>
          </a:p>
          <a:p>
            <a:r>
              <a:rPr lang="en-US" altLang="en-US" sz="1700" dirty="0"/>
              <a:t>Decomposition Using Multivalued Dependencies </a:t>
            </a:r>
          </a:p>
          <a:p>
            <a:r>
              <a:rPr lang="en-US" altLang="en-US" sz="1700" dirty="0"/>
              <a:t>More Normal Form</a:t>
            </a:r>
          </a:p>
          <a:p>
            <a:r>
              <a:rPr lang="en-US" altLang="en-US" sz="1700" dirty="0"/>
              <a:t>Atomic Domains and First Normal Form</a:t>
            </a:r>
          </a:p>
          <a:p>
            <a:r>
              <a:rPr lang="en-US" altLang="en-US" sz="1700" dirty="0"/>
              <a:t>Database-Design Process</a:t>
            </a:r>
          </a:p>
          <a:p>
            <a:r>
              <a:rPr lang="en-US" altLang="en-US" sz="1700" dirty="0"/>
              <a:t>Modeling Temporal Data</a:t>
            </a:r>
          </a:p>
          <a:p>
            <a:pPr>
              <a:buFont typeface="Monotype Sorts" pitchFamily="-84" charset="2"/>
              <a:buNone/>
            </a:pPr>
            <a:endParaRPr lang="en-US" altLang="en-US" dirty="0" smtClean="0"/>
          </a:p>
          <a:p>
            <a:endParaRPr lang="en-US" altLang="en-US" dirty="0"/>
          </a:p>
        </p:txBody>
      </p:sp>
    </p:spTree>
    <p:extLst>
      <p:ext uri="{BB962C8B-B14F-4D97-AF65-F5344CB8AC3E}">
        <p14:creationId xmlns:p14="http://schemas.microsoft.com/office/powerpoint/2010/main" val="102852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670067" y="2927700"/>
            <a:ext cx="6364461" cy="607980"/>
          </a:xfrm>
        </p:spPr>
        <p:txBody>
          <a:bodyPr/>
          <a:lstStyle/>
          <a:p>
            <a:pPr>
              <a:buFont typeface="Monotype Sorts" charset="2"/>
              <a:buNone/>
              <a:defRPr/>
            </a:pPr>
            <a:r>
              <a:rPr lang="en-US" altLang="en-US" sz="3200" b="1" dirty="0">
                <a:solidFill>
                  <a:srgbClr val="002060"/>
                </a:solidFill>
                <a:effectLst>
                  <a:outerShdw blurRad="38100" dist="38100" dir="2700000" algn="tl">
                    <a:srgbClr val="C0C0C0"/>
                  </a:outerShdw>
                </a:effectLst>
                <a:latin typeface="+mj-lt"/>
                <a:ea typeface="ＭＳ Ｐゴシック" pitchFamily="34" charset="-128"/>
                <a:cs typeface="+mj-cs"/>
              </a:rPr>
              <a:t>Functional-Dependency Theory</a:t>
            </a:r>
          </a:p>
        </p:txBody>
      </p:sp>
    </p:spTree>
    <p:extLst>
      <p:ext uri="{BB962C8B-B14F-4D97-AF65-F5344CB8AC3E}">
        <p14:creationId xmlns:p14="http://schemas.microsoft.com/office/powerpoint/2010/main" val="2254219019"/>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p:txBody>
          <a:bodyPr/>
          <a:lstStyle/>
          <a:p>
            <a:pPr>
              <a:defRPr/>
            </a:pPr>
            <a:r>
              <a:rPr lang="en-US" altLang="en-US" sz="2800" dirty="0">
                <a:effectLst>
                  <a:outerShdw blurRad="38100" dist="38100" dir="2700000" algn="tl">
                    <a:srgbClr val="C0C0C0"/>
                  </a:outerShdw>
                </a:effectLst>
                <a:ea typeface="ＭＳ Ｐゴシック" pitchFamily="34" charset="-128"/>
              </a:rPr>
              <a:t>Functional-Dependency Theory Roadmap</a:t>
            </a:r>
          </a:p>
        </p:txBody>
      </p:sp>
      <p:sp>
        <p:nvSpPr>
          <p:cNvPr id="41987" name="Rectangle 3"/>
          <p:cNvSpPr>
            <a:spLocks noGrp="1" noChangeArrowheads="1"/>
          </p:cNvSpPr>
          <p:nvPr>
            <p:ph type="body" idx="1"/>
          </p:nvPr>
        </p:nvSpPr>
        <p:spPr>
          <a:xfrm>
            <a:off x="768351" y="1123950"/>
            <a:ext cx="7523394" cy="2365208"/>
          </a:xfrm>
        </p:spPr>
        <p:txBody>
          <a:bodyPr/>
          <a:lstStyle/>
          <a:p>
            <a:r>
              <a:rPr lang="en-US" altLang="en-US" dirty="0"/>
              <a:t>We now consider the formal theory that tells us which functional dependencies are implied logically by a given set of functional dependencies.</a:t>
            </a:r>
          </a:p>
          <a:p>
            <a:r>
              <a:rPr lang="en-US" altLang="en-US" dirty="0"/>
              <a:t>We then develop algorithms to generate lossless decompositions into BCNF and 3NF</a:t>
            </a:r>
          </a:p>
          <a:p>
            <a:r>
              <a:rPr lang="en-US" altLang="en-US" dirty="0"/>
              <a:t>We then develop algorithms to test if a decomposition is dependency-preserving</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a:xfrm>
            <a:off x="882234" y="302796"/>
            <a:ext cx="7924800" cy="457200"/>
          </a:xfrm>
        </p:spPr>
        <p:txBody>
          <a:bodyPr/>
          <a:lstStyle/>
          <a:p>
            <a:pPr>
              <a:defRPr/>
            </a:pPr>
            <a:r>
              <a:rPr lang="en-US" altLang="en-US" sz="2800" dirty="0">
                <a:effectLst>
                  <a:outerShdw blurRad="38100" dist="38100" dir="2700000" algn="tl">
                    <a:srgbClr val="C0C0C0"/>
                  </a:outerShdw>
                </a:effectLst>
                <a:ea typeface="ＭＳ Ｐゴシック" pitchFamily="34" charset="-128"/>
              </a:rPr>
              <a:t>Closure of a Set of Functional Dependencies</a:t>
            </a:r>
          </a:p>
        </p:txBody>
      </p:sp>
      <p:sp>
        <p:nvSpPr>
          <p:cNvPr id="43011" name="Rectangle 3"/>
          <p:cNvSpPr>
            <a:spLocks noGrp="1" noChangeArrowheads="1"/>
          </p:cNvSpPr>
          <p:nvPr>
            <p:ph type="body" idx="1"/>
          </p:nvPr>
        </p:nvSpPr>
        <p:spPr>
          <a:xfrm>
            <a:off x="772357" y="1137711"/>
            <a:ext cx="7705817" cy="2620461"/>
          </a:xfrm>
        </p:spPr>
        <p:txBody>
          <a:bodyPr/>
          <a:lstStyle/>
          <a:p>
            <a:r>
              <a:rPr lang="en-US" altLang="en-US" dirty="0"/>
              <a:t>Given a set </a:t>
            </a:r>
            <a:r>
              <a:rPr lang="en-US" altLang="en-US" i="1" dirty="0"/>
              <a:t>F</a:t>
            </a:r>
            <a:r>
              <a:rPr lang="en-US" altLang="en-US" dirty="0"/>
              <a:t> set of functional dependencies, there are certain other functional dependencies that are logically implied by </a:t>
            </a:r>
            <a:r>
              <a:rPr lang="en-US" altLang="en-US" i="1" dirty="0"/>
              <a:t>F</a:t>
            </a:r>
            <a:r>
              <a:rPr lang="en-US" altLang="en-US" dirty="0"/>
              <a:t>.</a:t>
            </a:r>
          </a:p>
          <a:p>
            <a:pPr lvl="1"/>
            <a:r>
              <a:rPr lang="en-US" altLang="en-US" dirty="0"/>
              <a:t> If  </a:t>
            </a:r>
            <a:r>
              <a:rPr lang="en-US" altLang="en-US" i="1" dirty="0"/>
              <a:t>A</a:t>
            </a:r>
            <a:r>
              <a:rPr lang="en-US" altLang="en-US" dirty="0"/>
              <a:t>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B</a:t>
            </a:r>
            <a:r>
              <a:rPr lang="en-US" altLang="en-US" dirty="0">
                <a:sym typeface="Monotype Sorts" pitchFamily="-84" charset="2"/>
              </a:rPr>
              <a:t> and  </a:t>
            </a:r>
            <a:r>
              <a:rPr lang="en-US" altLang="en-US" i="1" dirty="0">
                <a:sym typeface="Monotype Sorts" pitchFamily="-84" charset="2"/>
              </a:rPr>
              <a:t>B</a:t>
            </a:r>
            <a:r>
              <a:rPr lang="en-US" altLang="en-US" dirty="0">
                <a:sym typeface="Monotype Sorts" pitchFamily="-84" charset="2"/>
              </a:rPr>
              <a:t>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C</a:t>
            </a:r>
            <a:r>
              <a:rPr lang="en-US" altLang="en-US" dirty="0">
                <a:sym typeface="Monotype Sorts" pitchFamily="-84" charset="2"/>
              </a:rPr>
              <a:t>,  then we can infer that </a:t>
            </a:r>
            <a:r>
              <a:rPr lang="en-US" altLang="en-US" i="1" dirty="0">
                <a:sym typeface="Monotype Sorts" pitchFamily="-84" charset="2"/>
              </a:rPr>
              <a:t>A</a:t>
            </a:r>
            <a:r>
              <a:rPr lang="en-US" altLang="en-US" dirty="0">
                <a:sym typeface="Monotype Sorts" pitchFamily="-84" charset="2"/>
              </a:rPr>
              <a:t> </a:t>
            </a:r>
            <a:r>
              <a:rPr lang="en-US" altLang="en-US" dirty="0">
                <a:sym typeface="Symbol" panose="05050102010706020507" pitchFamily="18" charset="2"/>
              </a:rPr>
              <a:t></a:t>
            </a:r>
            <a:r>
              <a:rPr lang="en-US" altLang="en-US" dirty="0">
                <a:sym typeface="Monotype Sorts" pitchFamily="-84" charset="2"/>
              </a:rPr>
              <a:t> C</a:t>
            </a:r>
          </a:p>
          <a:p>
            <a:pPr lvl="1"/>
            <a:r>
              <a:rPr lang="en-US" altLang="en-US" dirty="0">
                <a:sym typeface="Monotype Sorts" pitchFamily="-84" charset="2"/>
              </a:rPr>
              <a:t>etc.</a:t>
            </a:r>
            <a:endParaRPr lang="en-US" altLang="en-US" dirty="0"/>
          </a:p>
          <a:p>
            <a:r>
              <a:rPr lang="en-US" altLang="en-US" dirty="0"/>
              <a:t>The set of </a:t>
            </a:r>
            <a:r>
              <a:rPr lang="en-US" altLang="en-US" b="1" dirty="0">
                <a:solidFill>
                  <a:srgbClr val="002060"/>
                </a:solidFill>
              </a:rPr>
              <a:t>all</a:t>
            </a:r>
            <a:r>
              <a:rPr lang="en-US" altLang="en-US" dirty="0">
                <a:solidFill>
                  <a:srgbClr val="002060"/>
                </a:solidFill>
              </a:rPr>
              <a:t> </a:t>
            </a:r>
            <a:r>
              <a:rPr lang="en-US" altLang="en-US" dirty="0"/>
              <a:t>functional dependencies logically implied by </a:t>
            </a:r>
            <a:r>
              <a:rPr lang="en-US" altLang="en-US" i="1" dirty="0"/>
              <a:t>F</a:t>
            </a:r>
            <a:r>
              <a:rPr lang="en-US" altLang="en-US" dirty="0"/>
              <a:t> is the </a:t>
            </a:r>
            <a:r>
              <a:rPr lang="en-US" altLang="en-US" b="1" dirty="0">
                <a:solidFill>
                  <a:srgbClr val="002060"/>
                </a:solidFill>
              </a:rPr>
              <a:t>closure</a:t>
            </a:r>
            <a:r>
              <a:rPr lang="en-US" altLang="en-US" dirty="0"/>
              <a:t> of </a:t>
            </a:r>
            <a:r>
              <a:rPr lang="en-US" altLang="en-US" i="1" dirty="0"/>
              <a:t>F</a:t>
            </a:r>
            <a:r>
              <a:rPr lang="en-US" altLang="en-US" dirty="0"/>
              <a:t>.</a:t>
            </a:r>
          </a:p>
          <a:p>
            <a:r>
              <a:rPr lang="en-US" altLang="en-US" dirty="0"/>
              <a:t>We denote the </a:t>
            </a:r>
            <a:r>
              <a:rPr lang="en-US" altLang="en-US" i="1" dirty="0"/>
              <a:t>closure </a:t>
            </a:r>
            <a:r>
              <a:rPr lang="en-US" altLang="en-US" dirty="0"/>
              <a:t>of </a:t>
            </a:r>
            <a:r>
              <a:rPr lang="en-US" altLang="en-US" i="1" dirty="0"/>
              <a:t>F</a:t>
            </a:r>
            <a:r>
              <a:rPr lang="en-US" altLang="en-US" dirty="0"/>
              <a:t> by </a:t>
            </a:r>
            <a:r>
              <a:rPr lang="en-US" altLang="en-US" b="1" i="1" dirty="0">
                <a:solidFill>
                  <a:srgbClr val="002060"/>
                </a:solidFill>
              </a:rPr>
              <a:t>F</a:t>
            </a:r>
            <a:r>
              <a:rPr lang="en-US" altLang="en-US" b="1" i="1" baseline="44000" dirty="0">
                <a:solidFill>
                  <a:srgbClr val="002060"/>
                </a:solidFill>
              </a:rPr>
              <a:t>+</a:t>
            </a:r>
            <a:r>
              <a:rPr lang="en-US" altLang="en-US" i="1" dirty="0">
                <a:solidFill>
                  <a:srgbClr val="000099"/>
                </a:solidFill>
              </a:rPr>
              <a:t>.</a:t>
            </a:r>
          </a:p>
          <a:p>
            <a:endParaRPr lang="en-US" altLang="en-US" dirty="0">
              <a:sym typeface="Greek Symbol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22" name="Rectangle 2"/>
          <p:cNvSpPr>
            <a:spLocks noGrp="1" noChangeArrowheads="1"/>
          </p:cNvSpPr>
          <p:nvPr>
            <p:ph type="title"/>
          </p:nvPr>
        </p:nvSpPr>
        <p:spPr>
          <a:xfrm>
            <a:off x="977900" y="304800"/>
            <a:ext cx="7924800" cy="457200"/>
          </a:xfrm>
        </p:spPr>
        <p:txBody>
          <a:bodyPr/>
          <a:lstStyle/>
          <a:p>
            <a:pPr>
              <a:defRPr/>
            </a:pPr>
            <a:r>
              <a:rPr lang="en-US" altLang="en-US" sz="2800" dirty="0">
                <a:effectLst>
                  <a:outerShdw blurRad="38100" dist="38100" dir="2700000" algn="tl">
                    <a:srgbClr val="C0C0C0"/>
                  </a:outerShdw>
                </a:effectLst>
                <a:ea typeface="ＭＳ Ｐゴシック" pitchFamily="34" charset="-128"/>
              </a:rPr>
              <a:t>Closure of a Set of Functional Dependencies</a:t>
            </a:r>
          </a:p>
        </p:txBody>
      </p:sp>
      <p:sp>
        <p:nvSpPr>
          <p:cNvPr id="44035" name="Rectangle 3"/>
          <p:cNvSpPr>
            <a:spLocks noGrp="1" noChangeArrowheads="1"/>
          </p:cNvSpPr>
          <p:nvPr>
            <p:ph type="body" idx="1"/>
          </p:nvPr>
        </p:nvSpPr>
        <p:spPr>
          <a:xfrm>
            <a:off x="772358" y="1124904"/>
            <a:ext cx="7741327" cy="3105654"/>
          </a:xfrm>
        </p:spPr>
        <p:txBody>
          <a:bodyPr/>
          <a:lstStyle/>
          <a:p>
            <a:r>
              <a:rPr lang="en-US" altLang="en-US" dirty="0"/>
              <a:t>We can compute F</a:t>
            </a:r>
            <a:r>
              <a:rPr lang="en-US" altLang="en-US" i="1" baseline="30000" dirty="0"/>
              <a:t>+</a:t>
            </a:r>
            <a:r>
              <a:rPr lang="en-US" altLang="en-US" i="1" dirty="0"/>
              <a:t>,</a:t>
            </a:r>
            <a:r>
              <a:rPr lang="en-US" altLang="en-US" dirty="0"/>
              <a:t> the closure of F, by repeatedly applying </a:t>
            </a:r>
            <a:r>
              <a:rPr lang="en-US" altLang="en-US" b="1" dirty="0">
                <a:solidFill>
                  <a:srgbClr val="002060"/>
                </a:solidFill>
              </a:rPr>
              <a:t>Armstrong</a:t>
            </a:r>
            <a:r>
              <a:rPr lang="en-US" altLang="en-US" b="1" dirty="0">
                <a:solidFill>
                  <a:srgbClr val="002060"/>
                </a:solidFill>
                <a:latin typeface="Arial" panose="020B0604020202020204" pitchFamily="34" charset="0"/>
              </a:rPr>
              <a:t>’</a:t>
            </a:r>
            <a:r>
              <a:rPr lang="en-US" altLang="ja-JP" b="1" dirty="0">
                <a:solidFill>
                  <a:srgbClr val="002060"/>
                </a:solidFill>
              </a:rPr>
              <a:t>s Axioms</a:t>
            </a:r>
            <a:r>
              <a:rPr lang="en-US" altLang="ja-JP" b="1" dirty="0">
                <a:solidFill>
                  <a:srgbClr val="000099"/>
                </a:solidFill>
              </a:rPr>
              <a:t>:</a:t>
            </a:r>
          </a:p>
          <a:p>
            <a:pPr lvl="1"/>
            <a:r>
              <a:rPr lang="en-US" altLang="en-US" b="1" dirty="0">
                <a:sym typeface="Symbol" panose="05050102010706020507" pitchFamily="18" charset="2"/>
              </a:rPr>
              <a:t>Reflexive rule:</a:t>
            </a:r>
            <a:r>
              <a:rPr lang="en-US" altLang="en-US" dirty="0"/>
              <a:t> if </a:t>
            </a:r>
            <a:r>
              <a:rPr lang="en-US" altLang="en-US" i="1" dirty="0">
                <a:sym typeface="Symbol" panose="05050102010706020507" pitchFamily="18" charset="2"/>
              </a:rPr>
              <a:t></a:t>
            </a:r>
            <a:r>
              <a:rPr lang="en-US" altLang="en-US" dirty="0">
                <a:sym typeface="Symbol" panose="05050102010706020507" pitchFamily="18" charset="2"/>
              </a:rPr>
              <a:t>  , then  </a:t>
            </a:r>
            <a:r>
              <a:rPr lang="en-US" altLang="en-US" dirty="0">
                <a:sym typeface="Monotype Sorts" pitchFamily="-84" charset="2"/>
              </a:rPr>
              <a:t> </a:t>
            </a:r>
            <a:r>
              <a:rPr lang="en-US" altLang="en-US" i="1" dirty="0">
                <a:sym typeface="Symbol" panose="05050102010706020507" pitchFamily="18" charset="2"/>
              </a:rPr>
              <a:t>  </a:t>
            </a:r>
            <a:endParaRPr lang="en-US" altLang="en-US" dirty="0">
              <a:sym typeface="Symbol" panose="05050102010706020507" pitchFamily="18" charset="2"/>
            </a:endParaRPr>
          </a:p>
          <a:p>
            <a:pPr lvl="1"/>
            <a:r>
              <a:rPr lang="en-US" altLang="en-US" b="1" dirty="0">
                <a:sym typeface="Symbol" panose="05050102010706020507" pitchFamily="18" charset="2"/>
              </a:rPr>
              <a:t>Augmentation  rule</a:t>
            </a:r>
            <a:r>
              <a:rPr lang="en-US" altLang="en-US" b="1" dirty="0">
                <a:solidFill>
                  <a:srgbClr val="000099"/>
                </a:solidFill>
                <a:sym typeface="Symbol" panose="05050102010706020507" pitchFamily="18" charset="2"/>
              </a:rPr>
              <a:t>: </a:t>
            </a:r>
            <a:r>
              <a:rPr lang="en-US" altLang="en-US" dirty="0">
                <a:sym typeface="Symbol" panose="05050102010706020507" pitchFamily="18" charset="2"/>
              </a:rPr>
              <a:t>if  </a:t>
            </a:r>
            <a:r>
              <a:rPr lang="en-US" altLang="en-US" dirty="0">
                <a:sym typeface="Monotype Sorts" pitchFamily="-84" charset="2"/>
              </a:rPr>
              <a:t> </a:t>
            </a:r>
            <a:r>
              <a:rPr lang="en-US" altLang="en-US" i="1" dirty="0">
                <a:sym typeface="Symbol" panose="05050102010706020507" pitchFamily="18" charset="2"/>
              </a:rPr>
              <a:t>, </a:t>
            </a:r>
            <a:r>
              <a:rPr lang="en-US" altLang="en-US" dirty="0">
                <a:sym typeface="Symbol" panose="05050102010706020507" pitchFamily="18" charset="2"/>
              </a:rPr>
              <a:t>then </a:t>
            </a:r>
            <a:r>
              <a:rPr lang="en-US" altLang="en-US" dirty="0">
                <a:sym typeface="Greek Symbols"/>
              </a:rPr>
              <a:t> </a:t>
            </a:r>
            <a:r>
              <a:rPr lang="en-US" altLang="en-US" dirty="0">
                <a:sym typeface="Symbol" panose="05050102010706020507" pitchFamily="18" charset="2"/>
              </a:rPr>
              <a:t> </a:t>
            </a:r>
            <a:r>
              <a:rPr lang="en-US" altLang="en-US" dirty="0">
                <a:sym typeface="Monotype Sorts" pitchFamily="-84" charset="2"/>
              </a:rPr>
              <a:t> </a:t>
            </a:r>
            <a:r>
              <a:rPr lang="en-US" altLang="en-US" dirty="0">
                <a:sym typeface="Symbol" panose="05050102010706020507" pitchFamily="18" charset="2"/>
              </a:rPr>
              <a:t> </a:t>
            </a:r>
            <a:r>
              <a:rPr lang="en-US" altLang="en-US" dirty="0">
                <a:sym typeface="Monotype Sorts" pitchFamily="-84" charset="2"/>
              </a:rPr>
              <a:t> </a:t>
            </a:r>
            <a:r>
              <a:rPr lang="en-US" altLang="en-US" i="1" dirty="0">
                <a:sym typeface="Symbol" panose="05050102010706020507" pitchFamily="18" charset="2"/>
              </a:rPr>
              <a:t></a:t>
            </a:r>
            <a:endParaRPr lang="en-US" altLang="en-US" dirty="0">
              <a:sym typeface="Symbol" panose="05050102010706020507" pitchFamily="18" charset="2"/>
            </a:endParaRPr>
          </a:p>
          <a:p>
            <a:pPr lvl="1"/>
            <a:r>
              <a:rPr lang="en-US" altLang="en-US" b="1" dirty="0">
                <a:sym typeface="Symbol" panose="05050102010706020507" pitchFamily="18" charset="2"/>
              </a:rPr>
              <a:t>Transitivity rule</a:t>
            </a:r>
            <a:r>
              <a:rPr lang="en-US" altLang="en-US" b="1" dirty="0">
                <a:solidFill>
                  <a:srgbClr val="000099"/>
                </a:solidFill>
                <a:sym typeface="Symbol" panose="05050102010706020507" pitchFamily="18" charset="2"/>
              </a:rPr>
              <a:t>:  </a:t>
            </a:r>
            <a:r>
              <a:rPr lang="en-US" altLang="en-US" dirty="0">
                <a:sym typeface="Symbol" panose="05050102010706020507" pitchFamily="18" charset="2"/>
              </a:rPr>
              <a:t>if  </a:t>
            </a:r>
            <a:r>
              <a:rPr lang="en-US" altLang="en-US" dirty="0">
                <a:sym typeface="Monotype Sorts" pitchFamily="-84" charset="2"/>
              </a:rPr>
              <a:t> </a:t>
            </a:r>
            <a:r>
              <a:rPr lang="en-US" altLang="en-US" i="1" dirty="0">
                <a:sym typeface="Symbol" panose="05050102010706020507" pitchFamily="18" charset="2"/>
              </a:rPr>
              <a:t>, </a:t>
            </a:r>
            <a:r>
              <a:rPr lang="en-US" altLang="en-US" dirty="0">
                <a:sym typeface="Symbol" panose="05050102010706020507" pitchFamily="18" charset="2"/>
              </a:rPr>
              <a:t>and </a:t>
            </a:r>
            <a:r>
              <a:rPr lang="en-US" altLang="en-US" i="1" dirty="0">
                <a:sym typeface="Symbol" panose="05050102010706020507" pitchFamily="18" charset="2"/>
              </a:rPr>
              <a:t> </a:t>
            </a:r>
            <a:r>
              <a:rPr lang="en-US" altLang="en-US" dirty="0">
                <a:sym typeface="Symbol" panose="05050102010706020507" pitchFamily="18" charset="2"/>
              </a:rPr>
              <a:t> </a:t>
            </a:r>
            <a:r>
              <a:rPr lang="en-US" altLang="en-US" dirty="0">
                <a:sym typeface="Monotype Sorts" pitchFamily="-84" charset="2"/>
              </a:rPr>
              <a:t>, then </a:t>
            </a:r>
            <a:r>
              <a:rPr lang="en-US" altLang="en-US" dirty="0">
                <a:sym typeface="Symbol" panose="05050102010706020507" pitchFamily="18" charset="2"/>
              </a:rPr>
              <a:t> </a:t>
            </a:r>
            <a:r>
              <a:rPr lang="en-US" altLang="en-US" dirty="0">
                <a:sym typeface="Monotype Sorts" pitchFamily="-84" charset="2"/>
              </a:rPr>
              <a:t> </a:t>
            </a:r>
            <a:r>
              <a:rPr lang="en-US" altLang="en-US" dirty="0">
                <a:sym typeface="Symbol" panose="05050102010706020507" pitchFamily="18" charset="2"/>
              </a:rPr>
              <a:t> </a:t>
            </a:r>
            <a:endParaRPr lang="en-US" altLang="en-US" b="1" dirty="0">
              <a:sym typeface="Greek Symbols"/>
            </a:endParaRPr>
          </a:p>
          <a:p>
            <a:r>
              <a:rPr lang="en-US" altLang="en-US" dirty="0">
                <a:sym typeface="Greek Symbols"/>
              </a:rPr>
              <a:t>These rules are </a:t>
            </a:r>
          </a:p>
          <a:p>
            <a:pPr lvl="1"/>
            <a:r>
              <a:rPr lang="en-US" altLang="en-US" b="1" dirty="0">
                <a:solidFill>
                  <a:srgbClr val="002060"/>
                </a:solidFill>
                <a:sym typeface="Greek Symbols"/>
              </a:rPr>
              <a:t>Sound</a:t>
            </a:r>
            <a:r>
              <a:rPr lang="en-US" altLang="en-US" dirty="0">
                <a:solidFill>
                  <a:srgbClr val="002060"/>
                </a:solidFill>
                <a:sym typeface="Greek Symbols"/>
              </a:rPr>
              <a:t> </a:t>
            </a:r>
            <a:r>
              <a:rPr lang="en-US" altLang="en-US" dirty="0">
                <a:sym typeface="Greek Symbols"/>
              </a:rPr>
              <a:t>-- generate only functional dependencies that actually hold,  and </a:t>
            </a:r>
          </a:p>
          <a:p>
            <a:pPr lvl="1"/>
            <a:r>
              <a:rPr lang="en-US" altLang="en-US" b="1" dirty="0">
                <a:solidFill>
                  <a:srgbClr val="002060"/>
                </a:solidFill>
                <a:sym typeface="Greek Symbols"/>
              </a:rPr>
              <a:t>Complete</a:t>
            </a:r>
            <a:r>
              <a:rPr lang="en-US" altLang="en-US" dirty="0">
                <a:sym typeface="Greek Symbols"/>
              </a:rPr>
              <a:t>  -- generate all functional dependencies that hold.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Example of </a:t>
            </a:r>
            <a:r>
              <a:rPr lang="en-US" altLang="en-US" dirty="0">
                <a:sym typeface="MS LineDraw"/>
              </a:rPr>
              <a:t> </a:t>
            </a:r>
            <a:r>
              <a:rPr lang="en-US" altLang="en-US" i="1" dirty="0">
                <a:sym typeface="MS LineDraw"/>
              </a:rPr>
              <a:t>F</a:t>
            </a:r>
            <a:r>
              <a:rPr lang="en-US" altLang="en-US" baseline="30000" dirty="0">
                <a:sym typeface="MS LineDraw"/>
              </a:rPr>
              <a:t>+</a:t>
            </a:r>
            <a:endParaRPr lang="en-US" altLang="en-US" dirty="0">
              <a:effectLst>
                <a:outerShdw blurRad="38100" dist="38100" dir="2700000" algn="tl">
                  <a:srgbClr val="C0C0C0"/>
                </a:outerShdw>
              </a:effectLst>
              <a:ea typeface="ＭＳ Ｐゴシック" pitchFamily="34" charset="-128"/>
            </a:endParaRPr>
          </a:p>
        </p:txBody>
      </p:sp>
      <p:sp>
        <p:nvSpPr>
          <p:cNvPr id="701443" name="Rectangle 3"/>
          <p:cNvSpPr>
            <a:spLocks noGrp="1" noChangeArrowheads="1"/>
          </p:cNvSpPr>
          <p:nvPr>
            <p:ph type="body" idx="1"/>
          </p:nvPr>
        </p:nvSpPr>
        <p:spPr>
          <a:xfrm>
            <a:off x="768350" y="1107803"/>
            <a:ext cx="7873858" cy="4975225"/>
          </a:xfrm>
        </p:spPr>
        <p:txBody>
          <a:bodyPr/>
          <a:lstStyle/>
          <a:p>
            <a:pPr>
              <a:tabLst>
                <a:tab pos="803275" algn="l"/>
              </a:tabLst>
            </a:pPr>
            <a:r>
              <a:rPr lang="en-US" altLang="en-US" i="1" dirty="0"/>
              <a:t>R = (A, B, C, G, H, I)</a:t>
            </a:r>
            <a:br>
              <a:rPr lang="en-US" altLang="en-US" i="1" dirty="0"/>
            </a:br>
            <a:r>
              <a:rPr lang="en-US" altLang="en-US" i="1" dirty="0"/>
              <a:t>F = </a:t>
            </a:r>
            <a:r>
              <a:rPr lang="en-US" altLang="en-US" dirty="0"/>
              <a:t>{ </a:t>
            </a:r>
            <a:r>
              <a:rPr lang="en-US" altLang="en-US" i="1" dirty="0">
                <a:sym typeface="Iconic Symbols Ext"/>
              </a:rPr>
              <a:t>A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B</a:t>
            </a:r>
            <a:br>
              <a:rPr lang="en-US" altLang="en-US" i="1" dirty="0">
                <a:sym typeface="Monotype Sorts" pitchFamily="-84" charset="2"/>
              </a:rPr>
            </a:br>
            <a:r>
              <a:rPr lang="en-US" altLang="en-US" i="1" dirty="0">
                <a:sym typeface="Monotype Sorts" pitchFamily="-84" charset="2"/>
              </a:rPr>
              <a:t>	 </a:t>
            </a:r>
            <a:r>
              <a:rPr lang="en-US" altLang="en-US" i="1" dirty="0">
                <a:sym typeface="Iconic Symbols Ext"/>
              </a:rPr>
              <a:t>A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C</a:t>
            </a:r>
            <a:br>
              <a:rPr lang="en-US" altLang="en-US" i="1" dirty="0">
                <a:sym typeface="Monotype Sorts" pitchFamily="-84" charset="2"/>
              </a:rPr>
            </a:br>
            <a:r>
              <a:rPr lang="en-US" altLang="en-US" i="1" dirty="0">
                <a:sym typeface="Monotype Sorts" pitchFamily="-84" charset="2"/>
              </a:rPr>
              <a:t>	</a:t>
            </a:r>
            <a:r>
              <a:rPr lang="en-US" altLang="en-US" i="1" dirty="0">
                <a:sym typeface="Iconic Symbols Ext"/>
              </a:rPr>
              <a:t>CG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H</a:t>
            </a:r>
            <a:br>
              <a:rPr lang="en-US" altLang="en-US" i="1" dirty="0">
                <a:sym typeface="Monotype Sorts" pitchFamily="-84" charset="2"/>
              </a:rPr>
            </a:br>
            <a:r>
              <a:rPr lang="en-US" altLang="en-US" i="1" dirty="0">
                <a:sym typeface="Monotype Sorts" pitchFamily="-84" charset="2"/>
              </a:rPr>
              <a:t>	</a:t>
            </a:r>
            <a:r>
              <a:rPr lang="en-US" altLang="en-US" i="1" dirty="0">
                <a:sym typeface="Iconic Symbols Ext"/>
              </a:rPr>
              <a:t>CG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I</a:t>
            </a:r>
            <a:br>
              <a:rPr lang="en-US" altLang="en-US" i="1" dirty="0">
                <a:sym typeface="Monotype Sorts" pitchFamily="-84" charset="2"/>
              </a:rPr>
            </a:br>
            <a:r>
              <a:rPr lang="en-US" altLang="en-US" i="1" dirty="0">
                <a:sym typeface="Monotype Sorts" pitchFamily="-84" charset="2"/>
              </a:rPr>
              <a:t>	 </a:t>
            </a:r>
            <a:r>
              <a:rPr lang="en-US" altLang="en-US" i="1" dirty="0">
                <a:sym typeface="Iconic Symbols Ext"/>
              </a:rPr>
              <a:t>B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H</a:t>
            </a:r>
            <a:r>
              <a:rPr lang="en-US" altLang="en-US" dirty="0">
                <a:sym typeface="Monotype Sorts" pitchFamily="-84" charset="2"/>
              </a:rPr>
              <a:t>}</a:t>
            </a:r>
            <a:endParaRPr lang="en-US" altLang="en-US" dirty="0">
              <a:sym typeface="MS LineDraw"/>
            </a:endParaRPr>
          </a:p>
          <a:p>
            <a:pPr>
              <a:tabLst>
                <a:tab pos="803275" algn="l"/>
              </a:tabLst>
            </a:pPr>
            <a:r>
              <a:rPr lang="en-US" altLang="en-US" dirty="0">
                <a:sym typeface="MS LineDraw"/>
              </a:rPr>
              <a:t>Some members of </a:t>
            </a:r>
            <a:r>
              <a:rPr lang="en-US" altLang="en-US" i="1" dirty="0">
                <a:sym typeface="MS LineDraw"/>
              </a:rPr>
              <a:t>F</a:t>
            </a:r>
            <a:r>
              <a:rPr lang="en-US" altLang="en-US" baseline="30000" dirty="0">
                <a:sym typeface="MS LineDraw"/>
              </a:rPr>
              <a:t>+</a:t>
            </a:r>
            <a:endParaRPr lang="en-US" altLang="en-US" dirty="0">
              <a:sym typeface="MS LineDraw"/>
            </a:endParaRPr>
          </a:p>
          <a:p>
            <a:pPr lvl="1">
              <a:tabLst>
                <a:tab pos="803275" algn="l"/>
              </a:tabLst>
            </a:pPr>
            <a:r>
              <a:rPr lang="en-US" altLang="en-US" i="1" dirty="0">
                <a:sym typeface="Monotype Sorts" pitchFamily="-84" charset="2"/>
              </a:rPr>
              <a:t>A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H        </a:t>
            </a:r>
          </a:p>
          <a:p>
            <a:pPr lvl="2">
              <a:tabLst>
                <a:tab pos="803275" algn="l"/>
              </a:tabLst>
            </a:pPr>
            <a:r>
              <a:rPr lang="en-US" altLang="en-US" dirty="0">
                <a:sym typeface="Monotype Sorts" pitchFamily="-84" charset="2"/>
              </a:rPr>
              <a:t>by transitivity from </a:t>
            </a:r>
            <a:r>
              <a:rPr lang="en-US" altLang="en-US" i="1" dirty="0">
                <a:sym typeface="Iconic Symbols Ext"/>
              </a:rPr>
              <a:t>A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B and </a:t>
            </a:r>
            <a:r>
              <a:rPr lang="en-US" altLang="en-US" i="1" dirty="0">
                <a:sym typeface="Iconic Symbols Ext"/>
              </a:rPr>
              <a:t>B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H</a:t>
            </a:r>
          </a:p>
          <a:p>
            <a:pPr lvl="1">
              <a:tabLst>
                <a:tab pos="803275" algn="l"/>
              </a:tabLst>
            </a:pPr>
            <a:r>
              <a:rPr lang="en-US" altLang="en-US" i="1" dirty="0">
                <a:sym typeface="Monotype Sorts" pitchFamily="-84" charset="2"/>
              </a:rPr>
              <a:t>AG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I       </a:t>
            </a:r>
            <a:endParaRPr lang="en-US" altLang="en-US" dirty="0">
              <a:sym typeface="Monotype Sorts" pitchFamily="-84" charset="2"/>
            </a:endParaRPr>
          </a:p>
          <a:p>
            <a:pPr lvl="2">
              <a:tabLst>
                <a:tab pos="803275" algn="l"/>
              </a:tabLst>
            </a:pPr>
            <a:r>
              <a:rPr lang="en-US" altLang="en-US" dirty="0">
                <a:sym typeface="Monotype Sorts" pitchFamily="-84" charset="2"/>
              </a:rPr>
              <a:t>by augmenting </a:t>
            </a:r>
            <a:r>
              <a:rPr lang="en-US" altLang="en-US" i="1" dirty="0">
                <a:sym typeface="Iconic Symbols Ext"/>
              </a:rPr>
              <a:t>A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C </a:t>
            </a:r>
            <a:r>
              <a:rPr lang="en-US" altLang="en-US" dirty="0">
                <a:sym typeface="Monotype Sorts" pitchFamily="-84" charset="2"/>
              </a:rPr>
              <a:t>with G, to get </a:t>
            </a:r>
            <a:r>
              <a:rPr lang="en-US" altLang="en-US" i="1" dirty="0">
                <a:sym typeface="Iconic Symbols Ext"/>
              </a:rPr>
              <a:t>AG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CG </a:t>
            </a:r>
            <a:br>
              <a:rPr lang="en-US" altLang="en-US" i="1" dirty="0">
                <a:sym typeface="Monotype Sorts" pitchFamily="-84" charset="2"/>
              </a:rPr>
            </a:br>
            <a:r>
              <a:rPr lang="en-US" altLang="en-US" i="1" dirty="0">
                <a:sym typeface="Monotype Sorts" pitchFamily="-84" charset="2"/>
              </a:rPr>
              <a:t>                   </a:t>
            </a:r>
            <a:r>
              <a:rPr lang="en-US" altLang="en-US" dirty="0">
                <a:sym typeface="Monotype Sorts" pitchFamily="-84" charset="2"/>
              </a:rPr>
              <a:t>and then transitivity with </a:t>
            </a:r>
            <a:r>
              <a:rPr lang="en-US" altLang="en-US" i="1" dirty="0">
                <a:sym typeface="Iconic Symbols Ext"/>
              </a:rPr>
              <a:t>CG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I </a:t>
            </a:r>
          </a:p>
          <a:p>
            <a:pPr lvl="1">
              <a:tabLst>
                <a:tab pos="803275" algn="l"/>
              </a:tabLst>
            </a:pPr>
            <a:r>
              <a:rPr lang="en-US" altLang="en-US" i="1" dirty="0">
                <a:sym typeface="Monotype Sorts" pitchFamily="-84" charset="2"/>
              </a:rPr>
              <a:t>CG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HI     </a:t>
            </a:r>
            <a:endParaRPr lang="en-US" altLang="en-US" dirty="0">
              <a:sym typeface="Monotype Sorts" pitchFamily="-84" charset="2"/>
            </a:endParaRPr>
          </a:p>
          <a:p>
            <a:pPr lvl="2">
              <a:tabLst>
                <a:tab pos="803275" algn="l"/>
              </a:tabLst>
            </a:pPr>
            <a:r>
              <a:rPr lang="en-US" altLang="en-US" dirty="0">
                <a:sym typeface="Monotype Sorts" pitchFamily="-84" charset="2"/>
              </a:rPr>
              <a:t>by augmenting </a:t>
            </a:r>
            <a:r>
              <a:rPr lang="en-US" altLang="en-US" i="1" dirty="0">
                <a:sym typeface="Iconic Symbols Ext"/>
              </a:rPr>
              <a:t>CG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I </a:t>
            </a:r>
            <a:r>
              <a:rPr lang="en-US" altLang="en-US" dirty="0">
                <a:sym typeface="Monotype Sorts" pitchFamily="-84" charset="2"/>
              </a:rPr>
              <a:t>to infer </a:t>
            </a:r>
            <a:r>
              <a:rPr lang="en-US" altLang="en-US" i="1" dirty="0">
                <a:sym typeface="Iconic Symbols Ext"/>
              </a:rPr>
              <a:t>CG </a:t>
            </a:r>
            <a:r>
              <a:rPr lang="en-US" altLang="en-US" dirty="0">
                <a:sym typeface="Symbol" panose="05050102010706020507" pitchFamily="18" charset="2"/>
              </a:rPr>
              <a:t></a:t>
            </a:r>
            <a:r>
              <a:rPr lang="en-US" altLang="en-US" dirty="0">
                <a:sym typeface="Monotype Sorts" pitchFamily="-84" charset="2"/>
              </a:rPr>
              <a:t> CG</a:t>
            </a:r>
            <a:r>
              <a:rPr lang="en-US" altLang="en-US" i="1" dirty="0">
                <a:sym typeface="Monotype Sorts" pitchFamily="-84" charset="2"/>
              </a:rPr>
              <a:t>I, </a:t>
            </a:r>
          </a:p>
          <a:p>
            <a:pPr lvl="2">
              <a:buFont typeface="Webdings" panose="05030102010509060703" pitchFamily="18" charset="2"/>
              <a:buNone/>
              <a:tabLst>
                <a:tab pos="803275" algn="l"/>
              </a:tabLst>
            </a:pPr>
            <a:r>
              <a:rPr lang="en-US" altLang="en-US" dirty="0">
                <a:sym typeface="Monotype Sorts" pitchFamily="-84" charset="2"/>
              </a:rPr>
              <a:t>    and augmenting of </a:t>
            </a:r>
            <a:r>
              <a:rPr lang="en-US" altLang="en-US" i="1" dirty="0">
                <a:sym typeface="Iconic Symbols Ext"/>
              </a:rPr>
              <a:t>CG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H </a:t>
            </a:r>
            <a:r>
              <a:rPr lang="en-US" altLang="en-US" dirty="0">
                <a:sym typeface="Monotype Sorts" pitchFamily="-84" charset="2"/>
              </a:rPr>
              <a:t>to infer</a:t>
            </a:r>
            <a:r>
              <a:rPr lang="en-US" altLang="en-US" i="1" dirty="0">
                <a:sym typeface="Monotype Sorts" pitchFamily="-84" charset="2"/>
              </a:rPr>
              <a:t> </a:t>
            </a:r>
            <a:r>
              <a:rPr lang="en-US" altLang="en-US" i="1" dirty="0">
                <a:sym typeface="Iconic Symbols Ext"/>
              </a:rPr>
              <a:t>CGI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HI, </a:t>
            </a:r>
          </a:p>
          <a:p>
            <a:pPr lvl="2">
              <a:buFont typeface="Webdings" panose="05030102010509060703" pitchFamily="18" charset="2"/>
              <a:buNone/>
              <a:tabLst>
                <a:tab pos="803275" algn="l"/>
              </a:tabLst>
            </a:pPr>
            <a:r>
              <a:rPr lang="en-US" altLang="en-US" i="1" dirty="0">
                <a:sym typeface="Monotype Sorts" pitchFamily="-84" charset="2"/>
              </a:rPr>
              <a:t>                         </a:t>
            </a:r>
            <a:r>
              <a:rPr lang="en-US" altLang="en-US" dirty="0">
                <a:sym typeface="Monotype Sorts" pitchFamily="-84" charset="2"/>
              </a:rPr>
              <a:t>and then transitivity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14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14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14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014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0144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0144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0144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0144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0144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014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3" grpId="0" build="p" bldLvl="3"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a:xfrm>
            <a:off x="863600" y="161925"/>
            <a:ext cx="8077200" cy="609600"/>
          </a:xfrm>
        </p:spPr>
        <p:txBody>
          <a:bodyPr/>
          <a:lstStyle/>
          <a:p>
            <a:pPr>
              <a:defRPr/>
            </a:pPr>
            <a:r>
              <a:rPr lang="en-US" altLang="en-US" sz="2800" dirty="0">
                <a:effectLst>
                  <a:outerShdw blurRad="38100" dist="38100" dir="2700000" algn="tl">
                    <a:srgbClr val="C0C0C0"/>
                  </a:outerShdw>
                </a:effectLst>
                <a:ea typeface="ＭＳ Ｐゴシック" pitchFamily="34" charset="-128"/>
              </a:rPr>
              <a:t>Closure of Functional Dependencies (Cont.)</a:t>
            </a:r>
          </a:p>
        </p:txBody>
      </p:sp>
      <p:sp>
        <p:nvSpPr>
          <p:cNvPr id="46083" name="Rectangle 3"/>
          <p:cNvSpPr>
            <a:spLocks noGrp="1" noChangeArrowheads="1"/>
          </p:cNvSpPr>
          <p:nvPr>
            <p:ph type="body" idx="1"/>
          </p:nvPr>
        </p:nvSpPr>
        <p:spPr>
          <a:xfrm>
            <a:off x="772358" y="1118694"/>
            <a:ext cx="7285646" cy="2466477"/>
          </a:xfrm>
        </p:spPr>
        <p:txBody>
          <a:bodyPr/>
          <a:lstStyle/>
          <a:p>
            <a:r>
              <a:rPr lang="en-US" altLang="en-US" dirty="0"/>
              <a:t>Additional rules:</a:t>
            </a:r>
          </a:p>
          <a:p>
            <a:pPr lvl="1"/>
            <a:r>
              <a:rPr lang="en-US" altLang="en-US" b="1" dirty="0">
                <a:sym typeface="Symbol" panose="05050102010706020507" pitchFamily="18" charset="2"/>
              </a:rPr>
              <a:t>Union rule</a:t>
            </a:r>
            <a:r>
              <a:rPr lang="en-US" altLang="en-US" dirty="0">
                <a:sym typeface="Symbol" panose="05050102010706020507" pitchFamily="18" charset="2"/>
              </a:rPr>
              <a:t>: If  </a:t>
            </a:r>
            <a:r>
              <a:rPr lang="en-US" altLang="en-US" dirty="0">
                <a:sym typeface="Monotype Sorts" pitchFamily="-84" charset="2"/>
              </a:rPr>
              <a:t> </a:t>
            </a:r>
            <a:r>
              <a:rPr lang="en-US" altLang="en-US" i="1" dirty="0">
                <a:sym typeface="Symbol" panose="05050102010706020507" pitchFamily="18" charset="2"/>
              </a:rPr>
              <a:t> </a:t>
            </a:r>
            <a:r>
              <a:rPr lang="en-US" altLang="en-US" dirty="0">
                <a:sym typeface="Symbol" panose="05050102010706020507" pitchFamily="18" charset="2"/>
              </a:rPr>
              <a:t>holds</a:t>
            </a:r>
            <a:r>
              <a:rPr lang="en-US" altLang="en-US" i="1" dirty="0">
                <a:sym typeface="Symbol" panose="05050102010706020507" pitchFamily="18" charset="2"/>
              </a:rPr>
              <a:t> a</a:t>
            </a:r>
            <a:r>
              <a:rPr lang="en-US" altLang="en-US" dirty="0">
                <a:sym typeface="Symbol" panose="05050102010706020507" pitchFamily="18" charset="2"/>
              </a:rPr>
              <a:t>nd </a:t>
            </a:r>
            <a:r>
              <a:rPr lang="en-US" altLang="en-US" i="1" dirty="0">
                <a:sym typeface="Symbol" panose="05050102010706020507" pitchFamily="18" charset="2"/>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Monotype Sorts" pitchFamily="-84" charset="2"/>
              </a:rPr>
              <a:t> holds,  then </a:t>
            </a:r>
            <a:r>
              <a:rPr lang="en-US" altLang="en-US" dirty="0">
                <a:sym typeface="Symbol" panose="05050102010706020507" pitchFamily="18" charset="2"/>
              </a:rPr>
              <a:t> </a:t>
            </a:r>
            <a:r>
              <a:rPr lang="en-US" altLang="en-US" dirty="0">
                <a:sym typeface="Monotype Sorts" pitchFamily="-84" charset="2"/>
              </a:rPr>
              <a:t> </a:t>
            </a:r>
            <a:r>
              <a:rPr lang="en-US" altLang="en-US" i="1" dirty="0">
                <a:sym typeface="Symbol" panose="05050102010706020507" pitchFamily="18" charset="2"/>
              </a:rPr>
              <a:t> </a:t>
            </a:r>
            <a:r>
              <a:rPr lang="en-US" altLang="en-US" dirty="0">
                <a:sym typeface="Symbol" panose="05050102010706020507" pitchFamily="18" charset="2"/>
              </a:rPr>
              <a:t></a:t>
            </a:r>
            <a:r>
              <a:rPr lang="en-US" altLang="en-US" dirty="0">
                <a:sym typeface="Greek Symbols"/>
              </a:rPr>
              <a:t> holds.</a:t>
            </a:r>
          </a:p>
          <a:p>
            <a:pPr lvl="1"/>
            <a:r>
              <a:rPr lang="en-US" altLang="en-US" b="1" dirty="0">
                <a:sym typeface="Monotype Sorts" pitchFamily="-84" charset="2"/>
              </a:rPr>
              <a:t>Decomposition rule</a:t>
            </a:r>
            <a:r>
              <a:rPr lang="en-US" altLang="en-US" dirty="0">
                <a:sym typeface="Monotype Sorts" pitchFamily="-84" charset="2"/>
              </a:rPr>
              <a:t>:</a:t>
            </a:r>
            <a:r>
              <a:rPr lang="en-US" altLang="en-US" b="1" dirty="0">
                <a:sym typeface="Monotype Sorts" pitchFamily="-84" charset="2"/>
              </a:rPr>
              <a:t> </a:t>
            </a:r>
            <a:r>
              <a:rPr lang="en-US" altLang="en-US" dirty="0">
                <a:sym typeface="Greek Symbols"/>
              </a:rPr>
              <a:t>If </a:t>
            </a:r>
            <a:r>
              <a:rPr lang="en-US" altLang="en-US" dirty="0">
                <a:sym typeface="Symbol" panose="05050102010706020507" pitchFamily="18" charset="2"/>
              </a:rPr>
              <a:t> </a:t>
            </a:r>
            <a:r>
              <a:rPr lang="en-US" altLang="en-US" dirty="0">
                <a:sym typeface="Monotype Sorts" pitchFamily="-84" charset="2"/>
              </a:rPr>
              <a:t> </a:t>
            </a:r>
            <a:r>
              <a:rPr lang="en-US" altLang="en-US" i="1" dirty="0">
                <a:sym typeface="Symbol" panose="05050102010706020507" pitchFamily="18" charset="2"/>
              </a:rPr>
              <a:t> </a:t>
            </a:r>
            <a:r>
              <a:rPr lang="en-US" altLang="en-US" dirty="0">
                <a:sym typeface="Symbol" panose="05050102010706020507" pitchFamily="18" charset="2"/>
              </a:rPr>
              <a:t></a:t>
            </a:r>
            <a:r>
              <a:rPr lang="en-US" altLang="en-US" dirty="0">
                <a:sym typeface="Monotype Sorts" pitchFamily="-84" charset="2"/>
              </a:rPr>
              <a:t> holds, then </a:t>
            </a:r>
            <a:r>
              <a:rPr lang="en-US" altLang="en-US" dirty="0">
                <a:sym typeface="Symbol" panose="05050102010706020507" pitchFamily="18" charset="2"/>
              </a:rPr>
              <a:t> </a:t>
            </a:r>
            <a:r>
              <a:rPr lang="en-US" altLang="en-US" dirty="0">
                <a:sym typeface="Monotype Sorts" pitchFamily="-84" charset="2"/>
              </a:rPr>
              <a:t> </a:t>
            </a:r>
            <a:r>
              <a:rPr lang="en-US" altLang="en-US" i="1" dirty="0">
                <a:sym typeface="Symbol" panose="05050102010706020507" pitchFamily="18" charset="2"/>
              </a:rPr>
              <a:t>  </a:t>
            </a:r>
            <a:r>
              <a:rPr lang="en-US" altLang="en-US" dirty="0">
                <a:sym typeface="Symbol" panose="05050102010706020507" pitchFamily="18" charset="2"/>
              </a:rPr>
              <a:t>holds and </a:t>
            </a:r>
            <a:r>
              <a:rPr lang="en-US" altLang="en-US" i="1" dirty="0">
                <a:sym typeface="Symbol" panose="05050102010706020507" pitchFamily="18" charset="2"/>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Monotype Sorts" pitchFamily="-84" charset="2"/>
              </a:rPr>
              <a:t> holds.</a:t>
            </a:r>
          </a:p>
          <a:p>
            <a:pPr lvl="1"/>
            <a:r>
              <a:rPr lang="en-US" altLang="en-US" b="1" dirty="0" err="1">
                <a:sym typeface="Greek Symbols"/>
              </a:rPr>
              <a:t>Pseudotransitivity</a:t>
            </a:r>
            <a:r>
              <a:rPr lang="en-US" altLang="en-US" b="1" dirty="0">
                <a:sym typeface="Greek Symbols"/>
              </a:rPr>
              <a:t> </a:t>
            </a:r>
            <a:r>
              <a:rPr lang="en-US" altLang="en-US" b="1" dirty="0" err="1">
                <a:sym typeface="Greek Symbols"/>
              </a:rPr>
              <a:t>rule</a:t>
            </a:r>
            <a:r>
              <a:rPr lang="en-US" altLang="en-US" dirty="0" err="1">
                <a:sym typeface="Greek Symbols"/>
              </a:rPr>
              <a:t>:</a:t>
            </a:r>
            <a:r>
              <a:rPr lang="en-US" altLang="en-US" dirty="0" err="1">
                <a:sym typeface="Monotype Sorts" pitchFamily="-84" charset="2"/>
              </a:rPr>
              <a:t>If</a:t>
            </a:r>
            <a:r>
              <a:rPr lang="en-US" altLang="en-US" dirty="0">
                <a:sym typeface="Monotype Sorts" pitchFamily="-84" charset="2"/>
              </a:rPr>
              <a:t> </a:t>
            </a:r>
            <a:r>
              <a:rPr lang="en-US" altLang="en-US" dirty="0">
                <a:sym typeface="Symbol" panose="05050102010706020507" pitchFamily="18" charset="2"/>
              </a:rPr>
              <a:t> </a:t>
            </a:r>
            <a:r>
              <a:rPr lang="en-US" altLang="en-US" dirty="0">
                <a:sym typeface="Monotype Sorts" pitchFamily="-84" charset="2"/>
              </a:rPr>
              <a:t> </a:t>
            </a:r>
            <a:r>
              <a:rPr lang="en-US" altLang="en-US" i="1" dirty="0">
                <a:sym typeface="Symbol" panose="05050102010706020507" pitchFamily="18" charset="2"/>
              </a:rPr>
              <a:t>  </a:t>
            </a:r>
            <a:r>
              <a:rPr lang="en-US" altLang="en-US" dirty="0">
                <a:sym typeface="Symbol" panose="05050102010706020507" pitchFamily="18" charset="2"/>
              </a:rPr>
              <a:t>holds</a:t>
            </a:r>
            <a:r>
              <a:rPr lang="en-US" altLang="en-US" i="1" dirty="0">
                <a:sym typeface="Symbol" panose="05050102010706020507" pitchFamily="18" charset="2"/>
              </a:rPr>
              <a:t> a</a:t>
            </a:r>
            <a:r>
              <a:rPr lang="en-US" altLang="en-US" dirty="0">
                <a:sym typeface="Symbol" panose="05050102010706020507" pitchFamily="18" charset="2"/>
              </a:rPr>
              <a:t>nd </a:t>
            </a:r>
            <a:r>
              <a:rPr lang="en-US" altLang="en-US" dirty="0">
                <a:sym typeface="Greek Symbols"/>
              </a:rPr>
              <a:t> </a:t>
            </a:r>
            <a:r>
              <a:rPr lang="en-US" altLang="en-US" i="1" dirty="0">
                <a:sym typeface="Symbol" panose="05050102010706020507" pitchFamily="18" charset="2"/>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 holds, then </a:t>
            </a:r>
            <a:r>
              <a:rPr lang="en-US" altLang="en-US" dirty="0">
                <a:sym typeface="Symbol" panose="05050102010706020507" pitchFamily="18" charset="2"/>
              </a:rPr>
              <a:t> </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 holds</a:t>
            </a:r>
            <a:r>
              <a:rPr lang="en-US" altLang="en-US" b="1" dirty="0">
                <a:sym typeface="Greek Symbols"/>
              </a:rPr>
              <a:t>.</a:t>
            </a:r>
            <a:endParaRPr lang="en-US" altLang="en-US" dirty="0">
              <a:sym typeface="Greek Symbols"/>
            </a:endParaRPr>
          </a:p>
          <a:p>
            <a:r>
              <a:rPr lang="en-US" altLang="en-US" dirty="0">
                <a:sym typeface="Greek Symbols"/>
              </a:rPr>
              <a:t>The above rules can be inferred from Armstrong</a:t>
            </a:r>
            <a:r>
              <a:rPr lang="ja-JP" altLang="en-US" dirty="0">
                <a:latin typeface="Arial" panose="020B0604020202020204" pitchFamily="34" charset="0"/>
                <a:sym typeface="Greek Symbols"/>
              </a:rPr>
              <a:t>’</a:t>
            </a:r>
            <a:r>
              <a:rPr lang="en-US" altLang="ja-JP" dirty="0">
                <a:sym typeface="Greek Symbols"/>
              </a:rPr>
              <a:t>s axioms.</a:t>
            </a:r>
            <a:endParaRPr lang="en-US" altLang="en-US" dirty="0">
              <a:sym typeface="Greek Symbol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Procedure for Computing F</a:t>
            </a:r>
            <a:r>
              <a:rPr lang="en-US" altLang="en-US" baseline="30000" dirty="0">
                <a:effectLst>
                  <a:outerShdw blurRad="38100" dist="38100" dir="2700000" algn="tl">
                    <a:srgbClr val="C0C0C0"/>
                  </a:outerShdw>
                </a:effectLst>
                <a:ea typeface="ＭＳ Ｐゴシック" pitchFamily="34" charset="-128"/>
              </a:rPr>
              <a:t>+</a:t>
            </a:r>
            <a:endParaRPr lang="en-US" altLang="en-US" dirty="0">
              <a:effectLst>
                <a:outerShdw blurRad="38100" dist="38100" dir="2700000" algn="tl">
                  <a:srgbClr val="C0C0C0"/>
                </a:outerShdw>
              </a:effectLst>
              <a:ea typeface="ＭＳ Ｐゴシック" pitchFamily="34" charset="-128"/>
            </a:endParaRPr>
          </a:p>
        </p:txBody>
      </p:sp>
      <p:sp>
        <p:nvSpPr>
          <p:cNvPr id="707587" name="Rectangle 3"/>
          <p:cNvSpPr>
            <a:spLocks noGrp="1" noChangeArrowheads="1"/>
          </p:cNvSpPr>
          <p:nvPr>
            <p:ph type="body" idx="1"/>
          </p:nvPr>
        </p:nvSpPr>
        <p:spPr>
          <a:xfrm>
            <a:off x="768351" y="1152525"/>
            <a:ext cx="7709824" cy="3720264"/>
          </a:xfrm>
        </p:spPr>
        <p:txBody>
          <a:bodyPr/>
          <a:lstStyle/>
          <a:p>
            <a:pPr>
              <a:tabLst>
                <a:tab pos="1027113" algn="l"/>
                <a:tab pos="1547813" algn="l"/>
                <a:tab pos="1771650" algn="l"/>
                <a:tab pos="2054225" algn="l"/>
                <a:tab pos="3140075" algn="ctr"/>
              </a:tabLst>
            </a:pPr>
            <a:r>
              <a:rPr lang="en-US" altLang="en-US" dirty="0"/>
              <a:t>To compute the closure of a set of functional dependencies F:</a:t>
            </a:r>
            <a:endParaRPr lang="en-US" altLang="en-US" i="1" dirty="0"/>
          </a:p>
          <a:p>
            <a:pPr>
              <a:buFont typeface="Monotype Sorts" pitchFamily="-84" charset="2"/>
              <a:buNone/>
            </a:pPr>
            <a:r>
              <a:rPr lang="en-US" altLang="en-US" i="1" dirty="0"/>
              <a:t>         F </a:t>
            </a:r>
            <a:r>
              <a:rPr lang="en-US" altLang="en-US" baseline="30000" dirty="0"/>
              <a:t>+</a:t>
            </a:r>
            <a:r>
              <a:rPr lang="en-US" altLang="en-US" dirty="0"/>
              <a:t> = </a:t>
            </a:r>
            <a:r>
              <a:rPr lang="en-US" altLang="en-US" i="1" dirty="0"/>
              <a:t>F</a:t>
            </a:r>
            <a:r>
              <a:rPr lang="en-US" altLang="en-US" dirty="0"/>
              <a:t/>
            </a:r>
            <a:br>
              <a:rPr lang="en-US" altLang="en-US" dirty="0"/>
            </a:br>
            <a:r>
              <a:rPr lang="en-US" altLang="en-US" dirty="0"/>
              <a:t>    </a:t>
            </a:r>
            <a:r>
              <a:rPr lang="en-US" altLang="en-US" b="1" dirty="0"/>
              <a:t>repeat</a:t>
            </a:r>
            <a:r>
              <a:rPr lang="en-US" altLang="en-US" dirty="0"/>
              <a:t/>
            </a:r>
            <a:br>
              <a:rPr lang="en-US" altLang="en-US" dirty="0"/>
            </a:br>
            <a:r>
              <a:rPr lang="en-US" altLang="en-US" dirty="0"/>
              <a:t>	</a:t>
            </a:r>
            <a:r>
              <a:rPr lang="en-US" altLang="en-US" b="1" dirty="0"/>
              <a:t>for each</a:t>
            </a:r>
            <a:r>
              <a:rPr lang="en-US" altLang="en-US" dirty="0"/>
              <a:t> functional dependency </a:t>
            </a:r>
            <a:r>
              <a:rPr lang="en-US" altLang="en-US" i="1" dirty="0"/>
              <a:t>f</a:t>
            </a:r>
            <a:r>
              <a:rPr lang="en-US" altLang="en-US" dirty="0"/>
              <a:t> in </a:t>
            </a:r>
            <a:r>
              <a:rPr lang="en-US" altLang="en-US" i="1" dirty="0"/>
              <a:t>F</a:t>
            </a:r>
            <a:r>
              <a:rPr lang="en-US" altLang="en-US" baseline="30000" dirty="0"/>
              <a:t>+</a:t>
            </a:r>
            <a:br>
              <a:rPr lang="en-US" altLang="en-US" baseline="30000" dirty="0"/>
            </a:br>
            <a:r>
              <a:rPr lang="en-US" altLang="en-US" baseline="30000" dirty="0"/>
              <a:t>	</a:t>
            </a:r>
            <a:r>
              <a:rPr lang="en-US" altLang="en-US" dirty="0"/>
              <a:t>       apply reflexivity and augmentation rules on </a:t>
            </a:r>
            <a:r>
              <a:rPr lang="en-US" altLang="en-US" i="1" dirty="0"/>
              <a:t>f</a:t>
            </a:r>
            <a:br>
              <a:rPr lang="en-US" altLang="en-US" i="1" dirty="0"/>
            </a:br>
            <a:r>
              <a:rPr lang="en-US" altLang="en-US" i="1" dirty="0"/>
              <a:t>	       </a:t>
            </a:r>
            <a:r>
              <a:rPr lang="en-US" altLang="en-US" dirty="0"/>
              <a:t>add the resulting functional dependencies to </a:t>
            </a:r>
            <a:r>
              <a:rPr lang="en-US" altLang="en-US" i="1" dirty="0"/>
              <a:t>F </a:t>
            </a:r>
            <a:r>
              <a:rPr lang="en-US" altLang="en-US" baseline="30000" dirty="0"/>
              <a:t>+</a:t>
            </a:r>
            <a:br>
              <a:rPr lang="en-US" altLang="en-US" baseline="30000" dirty="0"/>
            </a:br>
            <a:r>
              <a:rPr lang="en-US" altLang="en-US" baseline="30000" dirty="0"/>
              <a:t>	</a:t>
            </a:r>
            <a:r>
              <a:rPr lang="en-US" altLang="en-US" b="1" dirty="0"/>
              <a:t>for each </a:t>
            </a:r>
            <a:r>
              <a:rPr lang="en-US" altLang="en-US" dirty="0"/>
              <a:t>pair of functional dependencies </a:t>
            </a:r>
            <a:r>
              <a:rPr lang="en-US" altLang="en-US" i="1" dirty="0"/>
              <a:t>f</a:t>
            </a:r>
            <a:r>
              <a:rPr lang="en-US" altLang="en-US" baseline="-25000" dirty="0"/>
              <a:t>1</a:t>
            </a:r>
            <a:r>
              <a:rPr lang="en-US" altLang="en-US" dirty="0"/>
              <a:t>and </a:t>
            </a:r>
            <a:r>
              <a:rPr lang="en-US" altLang="en-US" i="1" dirty="0"/>
              <a:t>f</a:t>
            </a:r>
            <a:r>
              <a:rPr lang="en-US" altLang="en-US" baseline="-25000" dirty="0"/>
              <a:t>2</a:t>
            </a:r>
            <a:r>
              <a:rPr lang="en-US" altLang="en-US" dirty="0"/>
              <a:t> in </a:t>
            </a:r>
            <a:r>
              <a:rPr lang="en-US" altLang="en-US" i="1" dirty="0"/>
              <a:t>F </a:t>
            </a:r>
            <a:r>
              <a:rPr lang="en-US" altLang="en-US" baseline="30000" dirty="0"/>
              <a:t>+</a:t>
            </a:r>
            <a:br>
              <a:rPr lang="en-US" altLang="en-US" baseline="30000" dirty="0"/>
            </a:br>
            <a:r>
              <a:rPr lang="en-US" altLang="en-US" baseline="30000" dirty="0"/>
              <a:t>	</a:t>
            </a:r>
            <a:r>
              <a:rPr lang="en-US" altLang="en-US" dirty="0"/>
              <a:t>       </a:t>
            </a:r>
            <a:r>
              <a:rPr lang="en-US" altLang="en-US" b="1" dirty="0"/>
              <a:t>if</a:t>
            </a:r>
            <a:r>
              <a:rPr lang="en-US" altLang="en-US" dirty="0"/>
              <a:t> </a:t>
            </a:r>
            <a:r>
              <a:rPr lang="en-US" altLang="en-US" i="1" dirty="0"/>
              <a:t>f</a:t>
            </a:r>
            <a:r>
              <a:rPr lang="en-US" altLang="en-US" baseline="-25000" dirty="0"/>
              <a:t>1</a:t>
            </a:r>
            <a:r>
              <a:rPr lang="en-US" altLang="en-US" dirty="0"/>
              <a:t> and </a:t>
            </a:r>
            <a:r>
              <a:rPr lang="en-US" altLang="en-US" i="1" dirty="0"/>
              <a:t>f</a:t>
            </a:r>
            <a:r>
              <a:rPr lang="en-US" altLang="en-US" baseline="-25000" dirty="0"/>
              <a:t>2</a:t>
            </a:r>
            <a:r>
              <a:rPr lang="en-US" altLang="en-US" dirty="0"/>
              <a:t> can be combined using transitivity</a:t>
            </a:r>
            <a:br>
              <a:rPr lang="en-US" altLang="en-US" dirty="0"/>
            </a:br>
            <a:r>
              <a:rPr lang="en-US" altLang="en-US" dirty="0"/>
              <a:t>	             </a:t>
            </a:r>
            <a:r>
              <a:rPr lang="en-US" altLang="en-US" b="1" dirty="0"/>
              <a:t>then</a:t>
            </a:r>
            <a:r>
              <a:rPr lang="en-US" altLang="en-US" dirty="0"/>
              <a:t> add the resulting functional dependency to </a:t>
            </a:r>
            <a:r>
              <a:rPr lang="en-US" altLang="en-US" i="1" dirty="0"/>
              <a:t>F </a:t>
            </a:r>
            <a:r>
              <a:rPr lang="en-US" altLang="en-US" baseline="30000" dirty="0"/>
              <a:t>+</a:t>
            </a:r>
            <a:br>
              <a:rPr lang="en-US" altLang="en-US" baseline="30000" dirty="0"/>
            </a:br>
            <a:r>
              <a:rPr lang="en-US" altLang="en-US" baseline="30000" dirty="0"/>
              <a:t>       </a:t>
            </a:r>
            <a:r>
              <a:rPr lang="en-US" altLang="en-US" b="1" dirty="0"/>
              <a:t>until </a:t>
            </a:r>
            <a:r>
              <a:rPr lang="en-US" altLang="en-US" i="1" dirty="0"/>
              <a:t>F </a:t>
            </a:r>
            <a:r>
              <a:rPr lang="en-US" altLang="en-US" baseline="30000" dirty="0"/>
              <a:t>+</a:t>
            </a:r>
            <a:r>
              <a:rPr lang="en-US" altLang="en-US" dirty="0"/>
              <a:t> does not change any further</a:t>
            </a:r>
          </a:p>
          <a:p>
            <a:pPr>
              <a:buFont typeface="Monotype Sorts" pitchFamily="-84" charset="2"/>
              <a:buNone/>
            </a:pPr>
            <a:endParaRPr lang="en-US" altLang="en-US" dirty="0"/>
          </a:p>
          <a:p>
            <a:r>
              <a:rPr lang="en-US" altLang="en-US" b="1" dirty="0"/>
              <a:t> NOTE</a:t>
            </a:r>
            <a:r>
              <a:rPr lang="en-US" altLang="en-US" dirty="0"/>
              <a:t>:  We shall see an alternative procedure for this task later</a:t>
            </a:r>
            <a:endParaRPr lang="en-US" altLang="en-US" i="1" baseline="-25000" dirty="0"/>
          </a:p>
          <a:p>
            <a:pPr>
              <a:tabLst>
                <a:tab pos="1027113" algn="l"/>
                <a:tab pos="1547813" algn="l"/>
                <a:tab pos="1771650" algn="l"/>
                <a:tab pos="2054225" algn="l"/>
                <a:tab pos="3140075" algn="ctr"/>
              </a:tabLst>
            </a:pPr>
            <a:endParaRPr lang="en-US" altLang="en-US" i="1" dirty="0">
              <a:sym typeface="Greek Symbol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7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75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75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7"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Closure of Attribute Sets</a:t>
            </a:r>
          </a:p>
        </p:txBody>
      </p:sp>
      <p:sp>
        <p:nvSpPr>
          <p:cNvPr id="707587" name="Rectangle 3"/>
          <p:cNvSpPr>
            <a:spLocks noGrp="1" noChangeArrowheads="1"/>
          </p:cNvSpPr>
          <p:nvPr>
            <p:ph type="body" idx="1"/>
          </p:nvPr>
        </p:nvSpPr>
        <p:spPr>
          <a:xfrm>
            <a:off x="768350" y="1152526"/>
            <a:ext cx="7674313" cy="2938212"/>
          </a:xfrm>
        </p:spPr>
        <p:txBody>
          <a:bodyPr/>
          <a:lstStyle/>
          <a:p>
            <a:pPr>
              <a:tabLst>
                <a:tab pos="1027113" algn="l"/>
                <a:tab pos="1547813" algn="l"/>
                <a:tab pos="1771650" algn="l"/>
                <a:tab pos="2054225" algn="l"/>
                <a:tab pos="3140075" algn="ctr"/>
              </a:tabLst>
            </a:pPr>
            <a:r>
              <a:rPr lang="en-US" altLang="en-US" dirty="0"/>
              <a:t>Given a set of attributes </a:t>
            </a:r>
            <a:r>
              <a:rPr lang="en-US" altLang="en-US" dirty="0">
                <a:latin typeface="Symbol" panose="05050102010706020507" pitchFamily="18" charset="2"/>
                <a:sym typeface="Greek Symbols"/>
              </a:rPr>
              <a:t>a,</a:t>
            </a:r>
            <a:r>
              <a:rPr lang="en-US" altLang="en-US" dirty="0"/>
              <a:t> define the </a:t>
            </a:r>
            <a:r>
              <a:rPr lang="en-US" altLang="en-US" b="1" i="1" dirty="0">
                <a:solidFill>
                  <a:srgbClr val="002060"/>
                </a:solidFill>
              </a:rPr>
              <a:t>closure</a:t>
            </a:r>
            <a:r>
              <a:rPr lang="en-US" altLang="en-US" i="1" dirty="0"/>
              <a:t> </a:t>
            </a:r>
            <a:r>
              <a:rPr lang="en-US" altLang="en-US" dirty="0"/>
              <a:t>of </a:t>
            </a:r>
            <a:r>
              <a:rPr lang="en-US" altLang="en-US" dirty="0">
                <a:latin typeface="Symbol" panose="05050102010706020507" pitchFamily="18" charset="2"/>
                <a:sym typeface="Greek Symbols"/>
              </a:rPr>
              <a:t>a</a:t>
            </a:r>
            <a:r>
              <a:rPr lang="en-US" altLang="en-US" dirty="0">
                <a:sym typeface="Greek Symbols"/>
              </a:rPr>
              <a:t> </a:t>
            </a:r>
            <a:r>
              <a:rPr lang="en-US" altLang="en-US" b="1" dirty="0">
                <a:solidFill>
                  <a:srgbClr val="002060"/>
                </a:solidFill>
                <a:sym typeface="Greek Symbols"/>
              </a:rPr>
              <a:t>under</a:t>
            </a:r>
            <a:r>
              <a:rPr lang="en-US" altLang="en-US" dirty="0">
                <a:sym typeface="Greek Symbols"/>
              </a:rPr>
              <a:t> </a:t>
            </a:r>
            <a:r>
              <a:rPr lang="en-US" altLang="en-US" i="1" dirty="0">
                <a:sym typeface="Greek Symbols"/>
              </a:rPr>
              <a:t>F</a:t>
            </a:r>
            <a:r>
              <a:rPr lang="en-US" altLang="en-US" dirty="0">
                <a:sym typeface="Greek Symbols"/>
              </a:rPr>
              <a:t> (denoted by </a:t>
            </a:r>
            <a:r>
              <a:rPr lang="en-US" altLang="en-US" dirty="0">
                <a:latin typeface="Symbol" panose="05050102010706020507" pitchFamily="18" charset="2"/>
                <a:sym typeface="Greek Symbols"/>
              </a:rPr>
              <a:t>a</a:t>
            </a:r>
            <a:r>
              <a:rPr lang="en-US" altLang="en-US" baseline="30000" dirty="0">
                <a:sym typeface="Greek Symbols"/>
              </a:rPr>
              <a:t>+</a:t>
            </a:r>
            <a:r>
              <a:rPr lang="en-US" altLang="en-US" dirty="0">
                <a:sym typeface="Greek Symbols"/>
              </a:rPr>
              <a:t>) as the set of attributes that are functionally determined by </a:t>
            </a:r>
            <a:r>
              <a:rPr lang="en-US" altLang="en-US" dirty="0">
                <a:latin typeface="Symbol" panose="05050102010706020507" pitchFamily="18" charset="2"/>
                <a:sym typeface="Greek Symbols"/>
              </a:rPr>
              <a:t>a</a:t>
            </a:r>
            <a:r>
              <a:rPr lang="en-US" altLang="en-US" dirty="0">
                <a:sym typeface="Greek Symbols"/>
              </a:rPr>
              <a:t> under </a:t>
            </a:r>
            <a:r>
              <a:rPr lang="en-US" altLang="en-US" i="1" dirty="0">
                <a:sym typeface="Greek Symbols"/>
              </a:rPr>
              <a:t>F</a:t>
            </a:r>
          </a:p>
          <a:p>
            <a:pPr>
              <a:tabLst>
                <a:tab pos="1027113" algn="l"/>
                <a:tab pos="1547813" algn="l"/>
                <a:tab pos="1771650" algn="l"/>
                <a:tab pos="2054225" algn="l"/>
                <a:tab pos="3140075" algn="ctr"/>
              </a:tabLst>
            </a:pPr>
            <a:r>
              <a:rPr lang="en-US" altLang="en-US" dirty="0">
                <a:sym typeface="Greek Symbols"/>
              </a:rPr>
              <a:t> Algorithm to compute </a:t>
            </a:r>
            <a:r>
              <a:rPr lang="en-US" altLang="en-US" dirty="0">
                <a:latin typeface="Symbol" panose="05050102010706020507" pitchFamily="18" charset="2"/>
                <a:sym typeface="Greek Symbols"/>
              </a:rPr>
              <a:t>a</a:t>
            </a:r>
            <a:r>
              <a:rPr lang="en-US" altLang="en-US" baseline="30000" dirty="0">
                <a:sym typeface="Greek Symbols"/>
              </a:rPr>
              <a:t>+</a:t>
            </a:r>
            <a:r>
              <a:rPr lang="en-US" altLang="en-US" dirty="0">
                <a:sym typeface="Greek Symbols"/>
              </a:rPr>
              <a:t>, the closure of </a:t>
            </a:r>
            <a:r>
              <a:rPr lang="en-US" altLang="en-US" dirty="0">
                <a:latin typeface="Symbol" panose="05050102010706020507" pitchFamily="18" charset="2"/>
                <a:sym typeface="Greek Symbols"/>
              </a:rPr>
              <a:t>a</a:t>
            </a:r>
            <a:r>
              <a:rPr lang="en-US" altLang="en-US" dirty="0">
                <a:sym typeface="Greek Symbols"/>
              </a:rPr>
              <a:t> under </a:t>
            </a:r>
            <a:r>
              <a:rPr lang="en-US" altLang="en-US" i="1" dirty="0">
                <a:sym typeface="Greek Symbols"/>
              </a:rPr>
              <a:t>F</a:t>
            </a:r>
          </a:p>
          <a:p>
            <a:pPr>
              <a:buFont typeface="Monotype Sorts" pitchFamily="-84" charset="2"/>
              <a:buNone/>
              <a:tabLst>
                <a:tab pos="1027113" algn="l"/>
                <a:tab pos="1547813" algn="l"/>
                <a:tab pos="1771650" algn="l"/>
                <a:tab pos="2054225" algn="l"/>
                <a:tab pos="3140075" algn="ctr"/>
              </a:tabLst>
            </a:pPr>
            <a:r>
              <a:rPr lang="en-US" altLang="en-US" i="1" dirty="0">
                <a:sym typeface="Greek Symbols"/>
              </a:rPr>
              <a:t>      	result </a:t>
            </a:r>
            <a:r>
              <a:rPr lang="en-US" altLang="en-US" dirty="0">
                <a:sym typeface="Greek Symbols"/>
              </a:rPr>
              <a:t>:= </a:t>
            </a:r>
            <a:r>
              <a:rPr lang="en-US" altLang="en-US" dirty="0">
                <a:latin typeface="Symbol" panose="05050102010706020507" pitchFamily="18" charset="2"/>
                <a:sym typeface="Greek Symbols"/>
              </a:rPr>
              <a:t>a</a:t>
            </a:r>
            <a:r>
              <a:rPr lang="en-US" altLang="en-US" dirty="0">
                <a:sym typeface="Greek Symbols"/>
              </a:rPr>
              <a:t>;</a:t>
            </a:r>
            <a:br>
              <a:rPr lang="en-US" altLang="en-US" dirty="0">
                <a:sym typeface="Greek Symbols"/>
              </a:rPr>
            </a:br>
            <a:r>
              <a:rPr lang="en-US" altLang="en-US" dirty="0">
                <a:sym typeface="Greek Symbols"/>
              </a:rPr>
              <a:t>	</a:t>
            </a:r>
            <a:r>
              <a:rPr lang="en-US" altLang="en-US" b="1" dirty="0">
                <a:sym typeface="Greek Symbols"/>
              </a:rPr>
              <a:t>while</a:t>
            </a:r>
            <a:r>
              <a:rPr lang="en-US" altLang="en-US" dirty="0">
                <a:sym typeface="Greek Symbols"/>
              </a:rPr>
              <a:t> (changes to </a:t>
            </a:r>
            <a:r>
              <a:rPr lang="en-US" altLang="en-US" i="1" dirty="0">
                <a:sym typeface="Greek Symbols"/>
              </a:rPr>
              <a:t>result</a:t>
            </a:r>
            <a:r>
              <a:rPr lang="en-US" altLang="en-US" dirty="0">
                <a:sym typeface="Greek Symbols"/>
              </a:rPr>
              <a:t>) </a:t>
            </a:r>
            <a:r>
              <a:rPr lang="en-US" altLang="en-US" b="1" dirty="0">
                <a:sym typeface="Greek Symbols"/>
              </a:rPr>
              <a:t>do</a:t>
            </a:r>
            <a:br>
              <a:rPr lang="en-US" altLang="en-US" b="1" dirty="0">
                <a:sym typeface="Greek Symbols"/>
              </a:rPr>
            </a:br>
            <a:r>
              <a:rPr lang="en-US" altLang="en-US" b="1" dirty="0">
                <a:sym typeface="Greek Symbols"/>
              </a:rPr>
              <a:t>		for each </a:t>
            </a:r>
            <a:r>
              <a:rPr lang="en-US" altLang="en-US" dirty="0">
                <a:sym typeface="Symbol" panose="05050102010706020507" pitchFamily="18" charset="2"/>
              </a:rPr>
              <a:t></a:t>
            </a:r>
            <a:r>
              <a:rPr lang="en-US" altLang="en-US" i="1"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 </a:t>
            </a:r>
            <a:r>
              <a:rPr lang="en-US" altLang="en-US" b="1" dirty="0">
                <a:sym typeface="Greek Symbols"/>
              </a:rPr>
              <a:t>in</a:t>
            </a:r>
            <a:r>
              <a:rPr lang="en-US" altLang="en-US" i="1" dirty="0">
                <a:sym typeface="Greek Symbols"/>
              </a:rPr>
              <a:t> F</a:t>
            </a:r>
            <a:r>
              <a:rPr lang="en-US" altLang="en-US" b="1" dirty="0">
                <a:sym typeface="Greek Symbols"/>
              </a:rPr>
              <a:t> do</a:t>
            </a:r>
            <a:br>
              <a:rPr lang="en-US" altLang="en-US" b="1" dirty="0">
                <a:sym typeface="Greek Symbols"/>
              </a:rPr>
            </a:br>
            <a:r>
              <a:rPr lang="en-US" altLang="en-US" b="1" dirty="0">
                <a:sym typeface="Greek Symbols"/>
              </a:rPr>
              <a:t>			begin</a:t>
            </a:r>
            <a:br>
              <a:rPr lang="en-US" altLang="en-US" b="1" dirty="0">
                <a:sym typeface="Greek Symbols"/>
              </a:rPr>
            </a:br>
            <a:r>
              <a:rPr lang="en-US" altLang="en-US" b="1" dirty="0">
                <a:sym typeface="Greek Symbols"/>
              </a:rPr>
              <a:t>				if </a:t>
            </a:r>
            <a:r>
              <a:rPr lang="en-US" altLang="en-US" dirty="0">
                <a:sym typeface="Symbol" panose="05050102010706020507" pitchFamily="18" charset="2"/>
              </a:rPr>
              <a:t></a:t>
            </a:r>
            <a:r>
              <a:rPr lang="en-US" altLang="en-US" i="1" dirty="0">
                <a:sym typeface="Greek Symbols"/>
              </a:rPr>
              <a:t> </a:t>
            </a:r>
            <a:r>
              <a:rPr lang="en-US" altLang="en-US" dirty="0">
                <a:sym typeface="Symbol" panose="05050102010706020507" pitchFamily="18" charset="2"/>
              </a:rPr>
              <a:t> </a:t>
            </a:r>
            <a:r>
              <a:rPr lang="en-US" altLang="en-US" i="1" dirty="0">
                <a:sym typeface="Symbol" panose="05050102010706020507" pitchFamily="18" charset="2"/>
              </a:rPr>
              <a:t>result</a:t>
            </a:r>
            <a:r>
              <a:rPr lang="en-US" altLang="en-US" b="1" dirty="0">
                <a:sym typeface="Symbol" panose="05050102010706020507" pitchFamily="18" charset="2"/>
              </a:rPr>
              <a:t> then </a:t>
            </a:r>
            <a:r>
              <a:rPr lang="en-US" altLang="en-US" i="1" dirty="0">
                <a:sym typeface="Symbol" panose="05050102010706020507" pitchFamily="18" charset="2"/>
              </a:rPr>
              <a:t> result </a:t>
            </a:r>
            <a:r>
              <a:rPr lang="en-US" altLang="en-US" dirty="0">
                <a:sym typeface="Symbol" panose="05050102010706020507" pitchFamily="18" charset="2"/>
              </a:rPr>
              <a:t>:= </a:t>
            </a:r>
            <a:r>
              <a:rPr lang="en-US" altLang="en-US" i="1" dirty="0">
                <a:sym typeface="Symbol" panose="05050102010706020507" pitchFamily="18" charset="2"/>
              </a:rPr>
              <a:t>result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a:t>
            </a:r>
            <a:r>
              <a:rPr lang="en-US" altLang="en-US" dirty="0">
                <a:sym typeface="Greek Symbols"/>
              </a:rPr>
              <a:t> </a:t>
            </a:r>
            <a:br>
              <a:rPr lang="en-US" altLang="en-US" dirty="0">
                <a:sym typeface="Greek Symbols"/>
              </a:rPr>
            </a:br>
            <a:r>
              <a:rPr lang="en-US" altLang="en-US" dirty="0">
                <a:sym typeface="Greek Symbols"/>
              </a:rPr>
              <a:t>			</a:t>
            </a:r>
            <a:r>
              <a:rPr lang="en-US" altLang="en-US" b="1" dirty="0">
                <a:sym typeface="Greek Symbols"/>
              </a:rPr>
              <a:t>end</a:t>
            </a:r>
          </a:p>
          <a:p>
            <a:pPr>
              <a:buFont typeface="Monotype Sorts" pitchFamily="-84" charset="2"/>
              <a:buNone/>
              <a:tabLst>
                <a:tab pos="1027113" algn="l"/>
                <a:tab pos="1547813" algn="l"/>
                <a:tab pos="1771650" algn="l"/>
                <a:tab pos="2054225" algn="l"/>
                <a:tab pos="3140075" algn="ctr"/>
              </a:tabLst>
            </a:pPr>
            <a:endParaRPr lang="en-US" altLang="en-US" b="1" dirty="0">
              <a:sym typeface="Greek Symbols"/>
            </a:endParaRPr>
          </a:p>
          <a:p>
            <a:pPr>
              <a:buFont typeface="Monotype Sorts" pitchFamily="-84" charset="2"/>
              <a:buNone/>
              <a:tabLst>
                <a:tab pos="1027113" algn="l"/>
                <a:tab pos="1547813" algn="l"/>
                <a:tab pos="1771650" algn="l"/>
                <a:tab pos="2054225" algn="l"/>
                <a:tab pos="3140075" algn="ctr"/>
              </a:tabLst>
            </a:pPr>
            <a:endParaRPr lang="en-US" altLang="en-US" b="1" dirty="0">
              <a:sym typeface="Greek Symbol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7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75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Example of Attribute Set Closure</a:t>
            </a:r>
          </a:p>
        </p:txBody>
      </p:sp>
      <p:sp>
        <p:nvSpPr>
          <p:cNvPr id="709635" name="Rectangle 3"/>
          <p:cNvSpPr>
            <a:spLocks noGrp="1" noChangeArrowheads="1"/>
          </p:cNvSpPr>
          <p:nvPr>
            <p:ph type="body" idx="1"/>
          </p:nvPr>
        </p:nvSpPr>
        <p:spPr>
          <a:xfrm>
            <a:off x="768351" y="1056443"/>
            <a:ext cx="7136402" cy="5296231"/>
          </a:xfrm>
        </p:spPr>
        <p:txBody>
          <a:bodyPr/>
          <a:lstStyle/>
          <a:p>
            <a:pPr>
              <a:lnSpc>
                <a:spcPct val="90000"/>
              </a:lnSpc>
              <a:tabLst>
                <a:tab pos="803275" algn="l"/>
                <a:tab pos="2633663" algn="l"/>
                <a:tab pos="3140075" algn="l"/>
              </a:tabLst>
            </a:pPr>
            <a:r>
              <a:rPr lang="en-US" altLang="en-US" sz="1600" i="1" dirty="0"/>
              <a:t>R = (A, B, C, G, H, I)</a:t>
            </a:r>
          </a:p>
          <a:p>
            <a:pPr>
              <a:lnSpc>
                <a:spcPct val="90000"/>
              </a:lnSpc>
              <a:tabLst>
                <a:tab pos="803275" algn="l"/>
                <a:tab pos="2633663" algn="l"/>
                <a:tab pos="3140075" algn="l"/>
              </a:tabLst>
            </a:pPr>
            <a:r>
              <a:rPr lang="en-US" altLang="en-US" sz="1600" i="1" dirty="0"/>
              <a:t>F = </a:t>
            </a:r>
            <a:r>
              <a:rPr lang="en-US" altLang="en-US" sz="1600" dirty="0"/>
              <a:t>{</a:t>
            </a:r>
            <a:r>
              <a:rPr lang="en-US" altLang="en-US" sz="1600" i="1" dirty="0">
                <a:sym typeface="Iconic Symbols Ext"/>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a:t>
            </a:r>
            <a:br>
              <a:rPr lang="en-US" altLang="en-US" sz="1600" i="1" dirty="0">
                <a:sym typeface="Monotype Sorts" pitchFamily="-84" charset="2"/>
              </a:rPr>
            </a:br>
            <a:r>
              <a:rPr lang="en-US" altLang="en-US" sz="1600" i="1" dirty="0">
                <a:sym typeface="Monotype Sorts" pitchFamily="-84" charset="2"/>
              </a:rPr>
              <a:t>	</a:t>
            </a:r>
            <a:r>
              <a:rPr lang="en-US" altLang="en-US" sz="1600" i="1" dirty="0">
                <a:sym typeface="Iconic Symbols Ext"/>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 </a:t>
            </a:r>
            <a:br>
              <a:rPr lang="en-US" altLang="en-US" sz="1600" i="1" dirty="0">
                <a:sym typeface="Monotype Sorts" pitchFamily="-84" charset="2"/>
              </a:rPr>
            </a:br>
            <a:r>
              <a:rPr lang="en-US" altLang="en-US" sz="1600" i="1" dirty="0">
                <a:sym typeface="Monotype Sorts" pitchFamily="-84" charset="2"/>
              </a:rPr>
              <a:t>	</a:t>
            </a:r>
            <a:r>
              <a:rPr lang="en-US" altLang="en-US" sz="1600" i="1" dirty="0">
                <a:sym typeface="Iconic Symbols Ext"/>
              </a:rPr>
              <a:t>CG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H</a:t>
            </a:r>
            <a:br>
              <a:rPr lang="en-US" altLang="en-US" sz="1600" i="1" dirty="0">
                <a:sym typeface="Monotype Sorts" pitchFamily="-84" charset="2"/>
              </a:rPr>
            </a:br>
            <a:r>
              <a:rPr lang="en-US" altLang="en-US" sz="1600" i="1" dirty="0">
                <a:sym typeface="Monotype Sorts" pitchFamily="-84" charset="2"/>
              </a:rPr>
              <a:t>	</a:t>
            </a:r>
            <a:r>
              <a:rPr lang="en-US" altLang="en-US" sz="1600" i="1" dirty="0">
                <a:sym typeface="Iconic Symbols Ext"/>
              </a:rPr>
              <a:t>CG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I</a:t>
            </a:r>
            <a:br>
              <a:rPr lang="en-US" altLang="en-US" sz="1600" i="1" dirty="0">
                <a:sym typeface="Monotype Sorts" pitchFamily="-84" charset="2"/>
              </a:rPr>
            </a:br>
            <a:r>
              <a:rPr lang="en-US" altLang="en-US" sz="1600" i="1" dirty="0">
                <a:sym typeface="Monotype Sorts" pitchFamily="-84" charset="2"/>
              </a:rPr>
              <a:t>	</a:t>
            </a:r>
            <a:r>
              <a:rPr lang="en-US" altLang="en-US" sz="1600" i="1" dirty="0">
                <a:sym typeface="Iconic Symbols Ext"/>
              </a:rPr>
              <a:t>B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H</a:t>
            </a:r>
            <a:r>
              <a:rPr lang="en-US" altLang="en-US" sz="1600" dirty="0">
                <a:sym typeface="Monotype Sorts" pitchFamily="-84" charset="2"/>
              </a:rPr>
              <a:t>}</a:t>
            </a:r>
            <a:endParaRPr lang="en-US" altLang="en-US" sz="1600" dirty="0">
              <a:sym typeface="MS LineDraw"/>
            </a:endParaRPr>
          </a:p>
          <a:p>
            <a:pPr>
              <a:lnSpc>
                <a:spcPct val="90000"/>
              </a:lnSpc>
              <a:tabLst>
                <a:tab pos="803275" algn="l"/>
                <a:tab pos="2633663" algn="l"/>
                <a:tab pos="3140075" algn="l"/>
              </a:tabLst>
            </a:pPr>
            <a:r>
              <a:rPr lang="en-US" altLang="en-US" sz="1600" dirty="0">
                <a:sym typeface="MS LineDraw"/>
              </a:rPr>
              <a:t>(</a:t>
            </a:r>
            <a:r>
              <a:rPr lang="en-US" altLang="en-US" sz="1600" i="1" dirty="0">
                <a:sym typeface="MS LineDraw"/>
              </a:rPr>
              <a:t>AG)</a:t>
            </a:r>
            <a:r>
              <a:rPr lang="en-US" altLang="en-US" sz="1600" baseline="30000" dirty="0">
                <a:sym typeface="MS LineDraw"/>
              </a:rPr>
              <a:t>+</a:t>
            </a:r>
            <a:endParaRPr lang="en-US" altLang="en-US" sz="1600" dirty="0">
              <a:sym typeface="MS LineDraw"/>
            </a:endParaRPr>
          </a:p>
          <a:p>
            <a:pPr marL="762000" lvl="1" indent="-304800">
              <a:lnSpc>
                <a:spcPct val="90000"/>
              </a:lnSpc>
              <a:buFont typeface="Monotype Sorts" pitchFamily="-84" charset="2"/>
              <a:buNone/>
              <a:tabLst>
                <a:tab pos="803275" algn="l"/>
                <a:tab pos="2633663" algn="l"/>
                <a:tab pos="3140075" algn="l"/>
              </a:tabLst>
            </a:pPr>
            <a:r>
              <a:rPr lang="en-US" altLang="en-US" sz="1600" dirty="0">
                <a:sym typeface="MS LineDraw"/>
              </a:rPr>
              <a:t>1.	</a:t>
            </a:r>
            <a:r>
              <a:rPr lang="en-US" altLang="en-US" sz="1600" i="1" dirty="0">
                <a:sym typeface="MS LineDraw"/>
              </a:rPr>
              <a:t>result = AG</a:t>
            </a:r>
            <a:endParaRPr lang="en-US" altLang="en-US" sz="1600" dirty="0">
              <a:sym typeface="MS LineDraw"/>
            </a:endParaRPr>
          </a:p>
          <a:p>
            <a:pPr marL="762000" lvl="1" indent="-304800">
              <a:lnSpc>
                <a:spcPct val="90000"/>
              </a:lnSpc>
              <a:buFont typeface="Monotype Sorts" pitchFamily="-84" charset="2"/>
              <a:buNone/>
              <a:tabLst>
                <a:tab pos="803275" algn="l"/>
                <a:tab pos="2633663" algn="l"/>
                <a:tab pos="3140075" algn="l"/>
              </a:tabLst>
            </a:pPr>
            <a:r>
              <a:rPr lang="en-US" altLang="en-US" sz="1600" dirty="0">
                <a:sym typeface="MS LineDraw"/>
              </a:rPr>
              <a:t>2.	</a:t>
            </a:r>
            <a:r>
              <a:rPr lang="en-US" altLang="en-US" sz="1600" i="1" dirty="0">
                <a:sym typeface="MS LineDraw"/>
              </a:rPr>
              <a:t>result = ABCG	(A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 </a:t>
            </a:r>
            <a:r>
              <a:rPr lang="en-US" altLang="en-US" sz="1600" dirty="0">
                <a:sym typeface="Monotype Sorts" pitchFamily="-84" charset="2"/>
              </a:rPr>
              <a:t>and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i="1" dirty="0">
                <a:sym typeface="Symbol" panose="05050102010706020507" pitchFamily="18" charset="2"/>
              </a:rPr>
              <a:t> B)</a:t>
            </a:r>
            <a:endParaRPr lang="en-US" altLang="en-US" sz="1600" dirty="0">
              <a:sym typeface="Symbol" panose="05050102010706020507" pitchFamily="18" charset="2"/>
            </a:endParaRPr>
          </a:p>
          <a:p>
            <a:pPr marL="762000" lvl="1" indent="-304800">
              <a:lnSpc>
                <a:spcPct val="90000"/>
              </a:lnSpc>
              <a:buFont typeface="Monotype Sorts" pitchFamily="-84" charset="2"/>
              <a:buNone/>
              <a:tabLst>
                <a:tab pos="803275" algn="l"/>
                <a:tab pos="2633663" algn="l"/>
                <a:tab pos="3140075" algn="l"/>
              </a:tabLst>
            </a:pPr>
            <a:r>
              <a:rPr lang="en-US" altLang="en-US" sz="1600" dirty="0">
                <a:sym typeface="Symbol" panose="05050102010706020507" pitchFamily="18" charset="2"/>
              </a:rPr>
              <a:t>3.	</a:t>
            </a:r>
            <a:r>
              <a:rPr lang="en-US" altLang="en-US" sz="1600" i="1" dirty="0">
                <a:sym typeface="MS LineDraw"/>
              </a:rPr>
              <a:t>result = ABCG</a:t>
            </a:r>
            <a:r>
              <a:rPr lang="en-US" altLang="en-US" sz="1600" i="1" dirty="0">
                <a:sym typeface="Monotype Sorts" pitchFamily="-84" charset="2"/>
              </a:rPr>
              <a:t>H	(CG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H</a:t>
            </a:r>
            <a:r>
              <a:rPr lang="en-US" altLang="en-US" sz="1600" dirty="0">
                <a:sym typeface="Monotype Sorts" pitchFamily="-84" charset="2"/>
              </a:rPr>
              <a:t> and </a:t>
            </a:r>
            <a:r>
              <a:rPr lang="en-US" altLang="en-US" sz="1600" i="1" dirty="0">
                <a:sym typeface="Monotype Sorts" pitchFamily="-84" charset="2"/>
              </a:rPr>
              <a:t>CG </a:t>
            </a:r>
            <a:r>
              <a:rPr lang="en-US" altLang="en-US" sz="1600" dirty="0">
                <a:sym typeface="Symbol" panose="05050102010706020507" pitchFamily="18" charset="2"/>
              </a:rPr>
              <a:t> </a:t>
            </a:r>
            <a:r>
              <a:rPr lang="en-US" altLang="en-US" sz="1600" i="1" dirty="0">
                <a:sym typeface="Symbol" panose="05050102010706020507" pitchFamily="18" charset="2"/>
              </a:rPr>
              <a:t>AGBC)</a:t>
            </a:r>
          </a:p>
          <a:p>
            <a:pPr marL="762000" lvl="1" indent="-304800">
              <a:lnSpc>
                <a:spcPct val="90000"/>
              </a:lnSpc>
              <a:buFont typeface="Monotype Sorts" pitchFamily="-84" charset="2"/>
              <a:buNone/>
              <a:tabLst>
                <a:tab pos="803275" algn="l"/>
                <a:tab pos="2633663" algn="l"/>
                <a:tab pos="3140075" algn="l"/>
              </a:tabLst>
            </a:pPr>
            <a:r>
              <a:rPr lang="en-US" altLang="en-US" sz="1600" dirty="0">
                <a:sym typeface="Symbol" panose="05050102010706020507" pitchFamily="18" charset="2"/>
              </a:rPr>
              <a:t>4.	</a:t>
            </a:r>
            <a:r>
              <a:rPr lang="en-US" altLang="en-US" sz="1600" i="1" dirty="0">
                <a:sym typeface="MS LineDraw"/>
              </a:rPr>
              <a:t>result = ABCG</a:t>
            </a:r>
            <a:r>
              <a:rPr lang="en-US" altLang="en-US" sz="1600" i="1" dirty="0">
                <a:sym typeface="Monotype Sorts" pitchFamily="-84" charset="2"/>
              </a:rPr>
              <a:t>HI	(CG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I</a:t>
            </a:r>
            <a:r>
              <a:rPr lang="en-US" altLang="en-US" sz="1600" dirty="0">
                <a:sym typeface="Monotype Sorts" pitchFamily="-84" charset="2"/>
              </a:rPr>
              <a:t> and </a:t>
            </a:r>
            <a:r>
              <a:rPr lang="en-US" altLang="en-US" sz="1600" i="1" dirty="0">
                <a:sym typeface="Monotype Sorts" pitchFamily="-84" charset="2"/>
              </a:rPr>
              <a:t>CG </a:t>
            </a:r>
            <a:r>
              <a:rPr lang="en-US" altLang="en-US" sz="1600" dirty="0">
                <a:sym typeface="Symbol" panose="05050102010706020507" pitchFamily="18" charset="2"/>
              </a:rPr>
              <a:t> </a:t>
            </a:r>
            <a:r>
              <a:rPr lang="en-US" altLang="en-US" sz="1600" i="1" dirty="0">
                <a:sym typeface="Symbol" panose="05050102010706020507" pitchFamily="18" charset="2"/>
              </a:rPr>
              <a:t>AGBCH)</a:t>
            </a:r>
          </a:p>
          <a:p>
            <a:pPr>
              <a:lnSpc>
                <a:spcPct val="90000"/>
              </a:lnSpc>
              <a:tabLst>
                <a:tab pos="803275" algn="l"/>
                <a:tab pos="2633663" algn="l"/>
                <a:tab pos="3140075" algn="l"/>
              </a:tabLst>
            </a:pPr>
            <a:r>
              <a:rPr lang="en-US" altLang="en-US" sz="1600" dirty="0">
                <a:sym typeface="Symbol" panose="05050102010706020507" pitchFamily="18" charset="2"/>
              </a:rPr>
              <a:t>Is </a:t>
            </a:r>
            <a:r>
              <a:rPr lang="en-US" altLang="en-US" sz="1600" i="1" dirty="0">
                <a:sym typeface="Symbol" panose="05050102010706020507" pitchFamily="18" charset="2"/>
              </a:rPr>
              <a:t>AG</a:t>
            </a:r>
            <a:r>
              <a:rPr lang="en-US" altLang="en-US" sz="1600" dirty="0">
                <a:sym typeface="Symbol" panose="05050102010706020507" pitchFamily="18" charset="2"/>
              </a:rPr>
              <a:t> a candidate key?  </a:t>
            </a:r>
          </a:p>
          <a:p>
            <a:pPr marL="762000" lvl="1" indent="-304800">
              <a:lnSpc>
                <a:spcPct val="90000"/>
              </a:lnSpc>
              <a:buFont typeface="Monotype Sorts" pitchFamily="-84" charset="2"/>
              <a:buAutoNum type="arabicPeriod"/>
              <a:tabLst>
                <a:tab pos="803275" algn="l"/>
                <a:tab pos="2633663" algn="l"/>
                <a:tab pos="3140075" algn="l"/>
              </a:tabLst>
            </a:pPr>
            <a:r>
              <a:rPr lang="en-US" altLang="en-US" sz="1600" dirty="0">
                <a:sym typeface="Symbol" panose="05050102010706020507" pitchFamily="18" charset="2"/>
              </a:rPr>
              <a:t>Is AG a super key?</a:t>
            </a:r>
          </a:p>
          <a:p>
            <a:pPr marL="1163638" lvl="2" indent="-304800">
              <a:lnSpc>
                <a:spcPct val="90000"/>
              </a:lnSpc>
              <a:buFont typeface="Monotype Sorts" pitchFamily="-84" charset="2"/>
              <a:buAutoNum type="arabicPeriod"/>
              <a:tabLst>
                <a:tab pos="803275" algn="l"/>
                <a:tab pos="2633663" algn="l"/>
                <a:tab pos="3140075" algn="l"/>
              </a:tabLst>
            </a:pPr>
            <a:r>
              <a:rPr lang="en-US" altLang="en-US" sz="1600" dirty="0">
                <a:sym typeface="Symbol" panose="05050102010706020507" pitchFamily="18" charset="2"/>
              </a:rPr>
              <a:t>Does </a:t>
            </a:r>
            <a:r>
              <a:rPr lang="en-US" altLang="en-US" sz="1600" i="1" dirty="0">
                <a:sym typeface="Symbol" panose="05050102010706020507" pitchFamily="18" charset="2"/>
              </a:rPr>
              <a:t>AG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R? == </a:t>
            </a:r>
            <a:r>
              <a:rPr lang="en-US" altLang="en-US" sz="1600" dirty="0">
                <a:sym typeface="Monotype Sorts" pitchFamily="-84" charset="2"/>
              </a:rPr>
              <a:t>Is </a:t>
            </a:r>
            <a:r>
              <a:rPr lang="en-US" altLang="en-US" sz="1600" dirty="0">
                <a:sym typeface="Symbol" panose="05050102010706020507" pitchFamily="18" charset="2"/>
              </a:rPr>
              <a:t>R</a:t>
            </a:r>
            <a:r>
              <a:rPr lang="en-US" altLang="en-US" sz="1600" dirty="0">
                <a:sym typeface="Monotype Sorts" pitchFamily="-84" charset="2"/>
              </a:rPr>
              <a:t> </a:t>
            </a:r>
            <a:r>
              <a:rPr lang="en-US" altLang="en-US" sz="1600" dirty="0">
                <a:sym typeface="Symbol" panose="05050102010706020507" pitchFamily="18" charset="2"/>
              </a:rPr>
              <a:t> </a:t>
            </a:r>
            <a:r>
              <a:rPr lang="en-US" altLang="en-US" sz="1600" dirty="0">
                <a:sym typeface="Monotype Sorts" pitchFamily="-84" charset="2"/>
              </a:rPr>
              <a:t>(AG)</a:t>
            </a:r>
            <a:r>
              <a:rPr lang="en-US" altLang="en-US" sz="1600" baseline="30000" dirty="0">
                <a:sym typeface="Monotype Sorts" pitchFamily="-84" charset="2"/>
              </a:rPr>
              <a:t>+ </a:t>
            </a:r>
            <a:endParaRPr lang="en-US" altLang="en-US" sz="1600" i="1" dirty="0">
              <a:sym typeface="Monotype Sorts" pitchFamily="-84" charset="2"/>
            </a:endParaRPr>
          </a:p>
          <a:p>
            <a:pPr marL="762000" lvl="1" indent="-304800">
              <a:lnSpc>
                <a:spcPct val="90000"/>
              </a:lnSpc>
              <a:buFont typeface="Monotype Sorts" pitchFamily="-84" charset="2"/>
              <a:buAutoNum type="arabicPeriod" startAt="2"/>
              <a:tabLst>
                <a:tab pos="803275" algn="l"/>
                <a:tab pos="2633663" algn="l"/>
                <a:tab pos="3140075" algn="l"/>
              </a:tabLst>
            </a:pPr>
            <a:r>
              <a:rPr lang="en-US" altLang="en-US" sz="1600" dirty="0">
                <a:sym typeface="Monotype Sorts" pitchFamily="-84" charset="2"/>
              </a:rPr>
              <a:t>Is any subset of AG a </a:t>
            </a:r>
            <a:r>
              <a:rPr lang="en-US" altLang="en-US" sz="1600" dirty="0" err="1">
                <a:sym typeface="Monotype Sorts" pitchFamily="-84" charset="2"/>
              </a:rPr>
              <a:t>superkey</a:t>
            </a:r>
            <a:r>
              <a:rPr lang="en-US" altLang="en-US" sz="1600" dirty="0">
                <a:sym typeface="Monotype Sorts" pitchFamily="-84" charset="2"/>
              </a:rPr>
              <a:t>?</a:t>
            </a:r>
          </a:p>
          <a:p>
            <a:pPr marL="1163638" lvl="2" indent="-304800">
              <a:lnSpc>
                <a:spcPct val="90000"/>
              </a:lnSpc>
              <a:buFont typeface="Monotype Sorts" pitchFamily="-84" charset="2"/>
              <a:buAutoNum type="arabicPeriod"/>
              <a:tabLst>
                <a:tab pos="803275" algn="l"/>
                <a:tab pos="2633663" algn="l"/>
                <a:tab pos="3140075" algn="l"/>
              </a:tabLst>
            </a:pPr>
            <a:r>
              <a:rPr lang="en-US" altLang="en-US" sz="1600" dirty="0">
                <a:sym typeface="Monotype Sorts" pitchFamily="-84" charset="2"/>
              </a:rPr>
              <a:t>Does </a:t>
            </a:r>
            <a:r>
              <a:rPr lang="en-US" altLang="en-US" sz="1600" i="1" dirty="0">
                <a:sym typeface="Monotype Sorts" pitchFamily="-84" charset="2"/>
              </a:rPr>
              <a:t>A</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R</a:t>
            </a:r>
            <a:r>
              <a:rPr lang="en-US" altLang="en-US" sz="1600" dirty="0">
                <a:sym typeface="Monotype Sorts" pitchFamily="-84" charset="2"/>
              </a:rPr>
              <a:t>? </a:t>
            </a:r>
            <a:r>
              <a:rPr lang="en-US" altLang="en-US" sz="1600" i="1" dirty="0">
                <a:sym typeface="Monotype Sorts" pitchFamily="-84" charset="2"/>
              </a:rPr>
              <a:t>== </a:t>
            </a:r>
            <a:r>
              <a:rPr lang="en-US" altLang="en-US" sz="1600" dirty="0">
                <a:sym typeface="Monotype Sorts" pitchFamily="-84" charset="2"/>
              </a:rPr>
              <a:t>Is </a:t>
            </a:r>
            <a:r>
              <a:rPr lang="en-US" altLang="en-US" sz="1600" dirty="0">
                <a:sym typeface="Symbol" panose="05050102010706020507" pitchFamily="18" charset="2"/>
              </a:rPr>
              <a:t>R</a:t>
            </a:r>
            <a:r>
              <a:rPr lang="en-US" altLang="en-US" sz="1600" dirty="0">
                <a:sym typeface="Monotype Sorts" pitchFamily="-84" charset="2"/>
              </a:rPr>
              <a:t> </a:t>
            </a:r>
            <a:r>
              <a:rPr lang="en-US" altLang="en-US" sz="1600" dirty="0">
                <a:sym typeface="Symbol" panose="05050102010706020507" pitchFamily="18" charset="2"/>
              </a:rPr>
              <a:t> </a:t>
            </a:r>
            <a:r>
              <a:rPr lang="en-US" altLang="en-US" sz="1600" dirty="0">
                <a:sym typeface="Monotype Sorts" pitchFamily="-84" charset="2"/>
              </a:rPr>
              <a:t>(A)</a:t>
            </a:r>
            <a:r>
              <a:rPr lang="en-US" altLang="en-US" sz="1600" baseline="30000" dirty="0">
                <a:sym typeface="Monotype Sorts" pitchFamily="-84" charset="2"/>
              </a:rPr>
              <a:t>+   </a:t>
            </a:r>
            <a:endParaRPr lang="en-US" altLang="en-US" sz="1600" dirty="0">
              <a:sym typeface="Monotype Sorts" pitchFamily="-84" charset="2"/>
            </a:endParaRPr>
          </a:p>
          <a:p>
            <a:pPr marL="1163638" lvl="2" indent="-304800">
              <a:lnSpc>
                <a:spcPct val="90000"/>
              </a:lnSpc>
              <a:buFont typeface="Monotype Sorts" pitchFamily="-84" charset="2"/>
              <a:buAutoNum type="arabicPeriod"/>
              <a:tabLst>
                <a:tab pos="803275" algn="l"/>
                <a:tab pos="2633663" algn="l"/>
                <a:tab pos="3140075" algn="l"/>
              </a:tabLst>
            </a:pPr>
            <a:r>
              <a:rPr lang="en-US" altLang="en-US" sz="1600" dirty="0">
                <a:sym typeface="Monotype Sorts" pitchFamily="-84" charset="2"/>
              </a:rPr>
              <a:t>Does </a:t>
            </a:r>
            <a:r>
              <a:rPr lang="en-US" altLang="en-US" sz="1600" i="1" dirty="0">
                <a:sym typeface="Monotype Sorts" pitchFamily="-84" charset="2"/>
              </a:rPr>
              <a:t>G</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R</a:t>
            </a:r>
            <a:r>
              <a:rPr lang="en-US" altLang="en-US" sz="1600" dirty="0">
                <a:sym typeface="Monotype Sorts" pitchFamily="-84" charset="2"/>
              </a:rPr>
              <a:t>? == Is </a:t>
            </a:r>
            <a:r>
              <a:rPr lang="en-US" altLang="en-US" sz="1600" dirty="0">
                <a:sym typeface="Symbol" panose="05050102010706020507" pitchFamily="18" charset="2"/>
              </a:rPr>
              <a:t>R  </a:t>
            </a:r>
            <a:r>
              <a:rPr lang="en-US" altLang="en-US" sz="1600" dirty="0">
                <a:sym typeface="Monotype Sorts" pitchFamily="-84" charset="2"/>
              </a:rPr>
              <a:t>(G)</a:t>
            </a:r>
            <a:r>
              <a:rPr lang="en-US" altLang="en-US" sz="1600" baseline="30000" dirty="0">
                <a:sym typeface="Monotype Sorts" pitchFamily="-84" charset="2"/>
              </a:rPr>
              <a:t>+ </a:t>
            </a:r>
          </a:p>
          <a:p>
            <a:pPr marL="1163638" lvl="2" indent="-304800">
              <a:lnSpc>
                <a:spcPct val="90000"/>
              </a:lnSpc>
              <a:buFont typeface="Monotype Sorts" pitchFamily="-84" charset="2"/>
              <a:buAutoNum type="arabicPeriod"/>
              <a:tabLst>
                <a:tab pos="803275" algn="l"/>
                <a:tab pos="2633663" algn="l"/>
                <a:tab pos="3140075" algn="l"/>
              </a:tabLst>
            </a:pPr>
            <a:r>
              <a:rPr lang="en-US" altLang="en-US" sz="1600" dirty="0">
                <a:sym typeface="Monotype Sorts" pitchFamily="-84" charset="2"/>
              </a:rPr>
              <a:t>In general: check for each subset of size </a:t>
            </a:r>
            <a:r>
              <a:rPr lang="en-US" altLang="en-US" sz="1600" i="1" dirty="0">
                <a:sym typeface="Monotype Sorts" pitchFamily="-84" charset="2"/>
              </a:rPr>
              <a:t>n-1</a:t>
            </a:r>
            <a:endParaRPr lang="en-US" altLang="en-US" sz="1600" i="1"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96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96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96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096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096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0963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0963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09635">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09635">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09635">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09635">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09635">
                                            <p:txEl>
                                              <p:pRg st="11" end="1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499"/>
                                          </p:stCondLst>
                                        </p:cTn>
                                        <p:tgtEl>
                                          <p:spTgt spid="709635">
                                            <p:txEl>
                                              <p:pRg st="12" end="12"/>
                                            </p:txEl>
                                          </p:spTgt>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70963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5"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1682" name="Rectangle 2"/>
          <p:cNvSpPr>
            <a:spLocks noGrp="1" noChangeArrowheads="1"/>
          </p:cNvSpPr>
          <p:nvPr>
            <p:ph type="title"/>
          </p:nvPr>
        </p:nvSpPr>
        <p:spPr>
          <a:xfrm>
            <a:off x="952500" y="153988"/>
            <a:ext cx="8077200" cy="609600"/>
          </a:xfrm>
        </p:spPr>
        <p:txBody>
          <a:bodyPr/>
          <a:lstStyle/>
          <a:p>
            <a:pPr>
              <a:defRPr/>
            </a:pPr>
            <a:r>
              <a:rPr lang="en-US" altLang="en-US" dirty="0">
                <a:effectLst>
                  <a:outerShdw blurRad="38100" dist="38100" dir="2700000" algn="tl">
                    <a:srgbClr val="C0C0C0"/>
                  </a:outerShdw>
                </a:effectLst>
                <a:ea typeface="ＭＳ Ｐゴシック" pitchFamily="34" charset="-128"/>
              </a:rPr>
              <a:t>Uses of Attribute Closure</a:t>
            </a:r>
          </a:p>
        </p:txBody>
      </p:sp>
      <p:sp>
        <p:nvSpPr>
          <p:cNvPr id="711683" name="Rectangle 3"/>
          <p:cNvSpPr>
            <a:spLocks noGrp="1" noChangeArrowheads="1"/>
          </p:cNvSpPr>
          <p:nvPr>
            <p:ph type="body" idx="4294967295"/>
          </p:nvPr>
        </p:nvSpPr>
        <p:spPr>
          <a:xfrm>
            <a:off x="790114" y="1093788"/>
            <a:ext cx="7563774" cy="4488865"/>
          </a:xfrm>
        </p:spPr>
        <p:txBody>
          <a:bodyPr/>
          <a:lstStyle/>
          <a:p>
            <a:pPr>
              <a:buFont typeface="Monotype Sorts" pitchFamily="-84" charset="2"/>
              <a:buNone/>
            </a:pPr>
            <a:r>
              <a:rPr lang="en-US" altLang="en-US" dirty="0"/>
              <a:t>There are several uses of the attribute closure algorithm:</a:t>
            </a:r>
          </a:p>
          <a:p>
            <a:pPr>
              <a:buFont typeface="Wingdings" panose="05000000000000000000" pitchFamily="2" charset="2"/>
              <a:buChar char="§"/>
            </a:pPr>
            <a:r>
              <a:rPr lang="en-US" altLang="en-US" dirty="0"/>
              <a:t>Testing for </a:t>
            </a:r>
            <a:r>
              <a:rPr lang="en-US" altLang="en-US" dirty="0" err="1"/>
              <a:t>superkey</a:t>
            </a:r>
            <a:r>
              <a:rPr lang="en-US" altLang="en-US" dirty="0"/>
              <a:t>:</a:t>
            </a:r>
          </a:p>
          <a:p>
            <a:pPr lvl="1">
              <a:buSzPct val="110000"/>
              <a:buFont typeface="Arial" panose="020B0604020202020204" pitchFamily="34" charset="0"/>
              <a:buChar char="•"/>
            </a:pPr>
            <a:r>
              <a:rPr lang="en-US" altLang="en-US" dirty="0"/>
              <a:t>To test if </a:t>
            </a:r>
            <a:r>
              <a:rPr lang="en-US" altLang="en-US" dirty="0">
                <a:sym typeface="Symbol" panose="05050102010706020507" pitchFamily="18" charset="2"/>
              </a:rPr>
              <a:t> is a </a:t>
            </a:r>
            <a:r>
              <a:rPr lang="en-US" altLang="en-US" dirty="0" err="1">
                <a:sym typeface="Symbol" panose="05050102010706020507" pitchFamily="18" charset="2"/>
              </a:rPr>
              <a:t>superkey</a:t>
            </a:r>
            <a:r>
              <a:rPr lang="en-US" altLang="en-US" dirty="0">
                <a:sym typeface="Symbol" panose="05050102010706020507" pitchFamily="18" charset="2"/>
              </a:rPr>
              <a:t>, we compute </a:t>
            </a:r>
            <a:r>
              <a:rPr lang="en-US" altLang="en-US" baseline="30000" dirty="0">
                <a:sym typeface="Symbol" panose="05050102010706020507" pitchFamily="18" charset="2"/>
              </a:rPr>
              <a:t>+,</a:t>
            </a:r>
            <a:r>
              <a:rPr lang="en-US" altLang="en-US" dirty="0">
                <a:sym typeface="Symbol" panose="05050102010706020507" pitchFamily="18" charset="2"/>
              </a:rPr>
              <a:t> and check if </a:t>
            </a:r>
            <a:r>
              <a:rPr lang="en-US" altLang="en-US" baseline="30000" dirty="0">
                <a:sym typeface="Symbol" panose="05050102010706020507" pitchFamily="18" charset="2"/>
              </a:rPr>
              <a:t>+ </a:t>
            </a:r>
            <a:r>
              <a:rPr lang="en-US" altLang="en-US" dirty="0">
                <a:sym typeface="Symbol" panose="05050102010706020507" pitchFamily="18" charset="2"/>
              </a:rPr>
              <a:t>contains all attributes of </a:t>
            </a:r>
            <a:r>
              <a:rPr lang="en-US" altLang="en-US" i="1" dirty="0">
                <a:sym typeface="Symbol" panose="05050102010706020507" pitchFamily="18" charset="2"/>
              </a:rPr>
              <a:t>R</a:t>
            </a:r>
            <a:r>
              <a:rPr lang="en-US" altLang="en-US" dirty="0">
                <a:sym typeface="Symbol" panose="05050102010706020507" pitchFamily="18" charset="2"/>
              </a:rPr>
              <a:t>.</a:t>
            </a:r>
          </a:p>
          <a:p>
            <a:pPr>
              <a:buFont typeface="Wingdings" panose="05000000000000000000" pitchFamily="2" charset="2"/>
              <a:buChar char="§"/>
            </a:pPr>
            <a:r>
              <a:rPr lang="en-US" altLang="en-US" dirty="0">
                <a:sym typeface="Symbol" panose="05050102010706020507" pitchFamily="18" charset="2"/>
              </a:rPr>
              <a:t>Testing functional dependencies</a:t>
            </a:r>
          </a:p>
          <a:p>
            <a:pPr lvl="1">
              <a:buSzPct val="110000"/>
              <a:buFont typeface="Arial" panose="020B0604020202020204" pitchFamily="34" charset="0"/>
              <a:buChar char="•"/>
            </a:pPr>
            <a:r>
              <a:rPr lang="en-US" altLang="en-US" dirty="0">
                <a:sym typeface="Symbol" panose="05050102010706020507" pitchFamily="18" charset="2"/>
              </a:rPr>
              <a:t>To check if a functional dependency    holds (or, in other words, is in </a:t>
            </a:r>
            <a:r>
              <a:rPr lang="en-US" altLang="en-US" i="1" dirty="0">
                <a:sym typeface="Symbol" panose="05050102010706020507" pitchFamily="18" charset="2"/>
              </a:rPr>
              <a:t>F</a:t>
            </a:r>
            <a:r>
              <a:rPr lang="en-US" altLang="en-US" baseline="30000" dirty="0">
                <a:sym typeface="Symbol" panose="05050102010706020507" pitchFamily="18" charset="2"/>
              </a:rPr>
              <a:t>+</a:t>
            </a:r>
            <a:r>
              <a:rPr lang="en-US" altLang="en-US" dirty="0">
                <a:sym typeface="Symbol" panose="05050102010706020507" pitchFamily="18" charset="2"/>
              </a:rPr>
              <a:t>), just check if   </a:t>
            </a:r>
            <a:r>
              <a:rPr lang="en-US" altLang="en-US" baseline="30000" dirty="0">
                <a:sym typeface="Symbol" panose="05050102010706020507" pitchFamily="18" charset="2"/>
              </a:rPr>
              <a:t>+</a:t>
            </a:r>
            <a:r>
              <a:rPr lang="en-US" altLang="en-US" dirty="0">
                <a:sym typeface="Symbol" panose="05050102010706020507" pitchFamily="18" charset="2"/>
              </a:rPr>
              <a:t>. </a:t>
            </a:r>
          </a:p>
          <a:p>
            <a:pPr lvl="1">
              <a:buSzPct val="110000"/>
              <a:buFont typeface="Arial" panose="020B0604020202020204" pitchFamily="34" charset="0"/>
              <a:buChar char="•"/>
            </a:pPr>
            <a:r>
              <a:rPr lang="en-US" altLang="en-US" dirty="0">
                <a:sym typeface="Symbol" panose="05050102010706020507" pitchFamily="18" charset="2"/>
              </a:rPr>
              <a:t>That is, we compute </a:t>
            </a:r>
            <a:r>
              <a:rPr lang="en-US" altLang="en-US" baseline="30000" dirty="0">
                <a:sym typeface="Symbol" panose="05050102010706020507" pitchFamily="18" charset="2"/>
              </a:rPr>
              <a:t>+ </a:t>
            </a:r>
            <a:r>
              <a:rPr lang="en-US" altLang="en-US" dirty="0">
                <a:sym typeface="Symbol" panose="05050102010706020507" pitchFamily="18" charset="2"/>
              </a:rPr>
              <a:t>by using attribute closure, and then check if it contains . </a:t>
            </a:r>
          </a:p>
          <a:p>
            <a:pPr lvl="1">
              <a:buSzPct val="110000"/>
              <a:buFont typeface="Arial" panose="020B0604020202020204" pitchFamily="34" charset="0"/>
              <a:buChar char="•"/>
            </a:pPr>
            <a:r>
              <a:rPr lang="en-US" altLang="en-US" dirty="0">
                <a:sym typeface="Symbol" panose="05050102010706020507" pitchFamily="18" charset="2"/>
              </a:rPr>
              <a:t>Is a simple and cheap test, and very useful</a:t>
            </a:r>
          </a:p>
          <a:p>
            <a:pPr>
              <a:buFont typeface="Wingdings" panose="05000000000000000000" pitchFamily="2" charset="2"/>
              <a:buChar char="§"/>
            </a:pPr>
            <a:r>
              <a:rPr lang="en-US" altLang="en-US" dirty="0">
                <a:sym typeface="Symbol" panose="05050102010706020507" pitchFamily="18" charset="2"/>
              </a:rPr>
              <a:t>Computing closure of F</a:t>
            </a:r>
          </a:p>
          <a:p>
            <a:pPr lvl="1">
              <a:buSzPct val="110000"/>
              <a:buFont typeface="Arial" panose="020B0604020202020204" pitchFamily="34" charset="0"/>
              <a:buChar char="•"/>
            </a:pPr>
            <a:r>
              <a:rPr lang="en-US" altLang="en-US" dirty="0">
                <a:sym typeface="Symbol" panose="05050102010706020507" pitchFamily="18" charset="2"/>
              </a:rPr>
              <a:t>For each   </a:t>
            </a:r>
            <a:r>
              <a:rPr lang="en-US" altLang="en-US" i="1" dirty="0">
                <a:sym typeface="Symbol" panose="05050102010706020507" pitchFamily="18" charset="2"/>
              </a:rPr>
              <a:t>R, </a:t>
            </a:r>
            <a:r>
              <a:rPr lang="en-US" altLang="en-US" dirty="0">
                <a:sym typeface="Symbol" panose="05050102010706020507" pitchFamily="18" charset="2"/>
              </a:rPr>
              <a:t>we find the closure </a:t>
            </a:r>
            <a:r>
              <a:rPr lang="en-US" altLang="en-US" baseline="30000" dirty="0">
                <a:sym typeface="Symbol" panose="05050102010706020507" pitchFamily="18" charset="2"/>
              </a:rPr>
              <a:t>+</a:t>
            </a:r>
            <a:r>
              <a:rPr lang="en-US" altLang="en-US" dirty="0">
                <a:sym typeface="Symbol" panose="05050102010706020507" pitchFamily="18" charset="2"/>
              </a:rPr>
              <a:t>, and for each </a:t>
            </a:r>
            <a:r>
              <a:rPr lang="en-US" altLang="en-US" i="1" dirty="0">
                <a:sym typeface="Symbol" panose="05050102010706020507" pitchFamily="18" charset="2"/>
              </a:rPr>
              <a:t>S</a:t>
            </a:r>
            <a:r>
              <a:rPr lang="en-US" altLang="en-US" dirty="0">
                <a:sym typeface="Symbol" panose="05050102010706020507" pitchFamily="18" charset="2"/>
              </a:rPr>
              <a:t>  </a:t>
            </a:r>
            <a:r>
              <a:rPr lang="en-US" altLang="en-US" baseline="30000" dirty="0">
                <a:sym typeface="Symbol" panose="05050102010706020507" pitchFamily="18" charset="2"/>
              </a:rPr>
              <a:t>+</a:t>
            </a:r>
            <a:r>
              <a:rPr lang="en-US" altLang="en-US" dirty="0">
                <a:sym typeface="Symbol" panose="05050102010706020507" pitchFamily="18" charset="2"/>
              </a:rPr>
              <a:t>, we output a functional dependency   </a:t>
            </a:r>
            <a:r>
              <a:rPr lang="en-US" altLang="en-US" i="1" dirty="0">
                <a:sym typeface="Symbol" panose="05050102010706020507" pitchFamily="18" charset="2"/>
              </a:rPr>
              <a:t>S.</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168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1" end="1"/>
                                            </p:txEl>
                                          </p:spTgt>
                                        </p:tgtEl>
                                        <p:attrNameLst>
                                          <p:attrName>ppt_c</p:attrName>
                                        </p:attrNameLst>
                                      </p:cBhvr>
                                      <p:to>
                                        <a:srgbClr val="333333"/>
                                      </p:to>
                                    </p:animClr>
                                  </p:subTnLst>
                                </p:cTn>
                              </p:par>
                              <p:par>
                                <p:cTn id="7" presetID="1" presetClass="entr" presetSubtype="0" fill="hold" grpId="0" nodeType="withEffect">
                                  <p:stCondLst>
                                    <p:cond delay="0"/>
                                  </p:stCondLst>
                                  <p:childTnLst>
                                    <p:set>
                                      <p:cBhvr>
                                        <p:cTn id="8" dur="1" fill="hold">
                                          <p:stCondLst>
                                            <p:cond delay="499"/>
                                          </p:stCondLst>
                                        </p:cTn>
                                        <p:tgtEl>
                                          <p:spTgt spid="71168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2" end="2"/>
                                            </p:txEl>
                                          </p:spTgt>
                                        </p:tgtEl>
                                        <p:attrNameLst>
                                          <p:attrName>ppt_c</p:attrName>
                                        </p:attrNameLst>
                                      </p:cBhvr>
                                      <p:to>
                                        <a:srgbClr val="333333"/>
                                      </p:to>
                                    </p:animClr>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1168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3" end="3"/>
                                            </p:txEl>
                                          </p:spTgt>
                                        </p:tgtEl>
                                        <p:attrNameLst>
                                          <p:attrName>ppt_c</p:attrName>
                                        </p:attrNameLst>
                                      </p:cBhvr>
                                      <p:to>
                                        <a:srgbClr val="333333"/>
                                      </p:to>
                                    </p:animClr>
                                  </p:subTnLst>
                                </p:cTn>
                              </p:par>
                              <p:par>
                                <p:cTn id="13" presetID="1" presetClass="entr" presetSubtype="0" fill="hold" grpId="0" nodeType="withEffect">
                                  <p:stCondLst>
                                    <p:cond delay="0"/>
                                  </p:stCondLst>
                                  <p:childTnLst>
                                    <p:set>
                                      <p:cBhvr>
                                        <p:cTn id="14" dur="1" fill="hold">
                                          <p:stCondLst>
                                            <p:cond delay="499"/>
                                          </p:stCondLst>
                                        </p:cTn>
                                        <p:tgtEl>
                                          <p:spTgt spid="71168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4" end="4"/>
                                            </p:txEl>
                                          </p:spTgt>
                                        </p:tgtEl>
                                        <p:attrNameLst>
                                          <p:attrName>ppt_c</p:attrName>
                                        </p:attrNameLst>
                                      </p:cBhvr>
                                      <p:to>
                                        <a:srgbClr val="333333"/>
                                      </p:to>
                                    </p:animClr>
                                  </p:subTnLst>
                                </p:cTn>
                              </p:par>
                              <p:par>
                                <p:cTn id="15" presetID="1" presetClass="entr" presetSubtype="0" fill="hold" grpId="0" nodeType="withEffect">
                                  <p:stCondLst>
                                    <p:cond delay="0"/>
                                  </p:stCondLst>
                                  <p:childTnLst>
                                    <p:set>
                                      <p:cBhvr>
                                        <p:cTn id="16" dur="1" fill="hold">
                                          <p:stCondLst>
                                            <p:cond delay="499"/>
                                          </p:stCondLst>
                                        </p:cTn>
                                        <p:tgtEl>
                                          <p:spTgt spid="71168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5" end="5"/>
                                            </p:txEl>
                                          </p:spTgt>
                                        </p:tgtEl>
                                        <p:attrNameLst>
                                          <p:attrName>ppt_c</p:attrName>
                                        </p:attrNameLst>
                                      </p:cBhvr>
                                      <p:to>
                                        <a:srgbClr val="333333"/>
                                      </p:to>
                                    </p:animClr>
                                  </p:subTnLst>
                                </p:cTn>
                              </p:par>
                              <p:par>
                                <p:cTn id="17" presetID="1" presetClass="entr" presetSubtype="0" fill="hold" grpId="0" nodeType="withEffect">
                                  <p:stCondLst>
                                    <p:cond delay="0"/>
                                  </p:stCondLst>
                                  <p:childTnLst>
                                    <p:set>
                                      <p:cBhvr>
                                        <p:cTn id="18" dur="1" fill="hold">
                                          <p:stCondLst>
                                            <p:cond delay="499"/>
                                          </p:stCondLst>
                                        </p:cTn>
                                        <p:tgtEl>
                                          <p:spTgt spid="71168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6" end="6"/>
                                            </p:txEl>
                                          </p:spTgt>
                                        </p:tgtEl>
                                        <p:attrNameLst>
                                          <p:attrName>ppt_c</p:attrName>
                                        </p:attrNameLst>
                                      </p:cBhvr>
                                      <p:to>
                                        <a:srgbClr val="333333"/>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168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7" end="7"/>
                                            </p:txEl>
                                          </p:spTgt>
                                        </p:tgtEl>
                                        <p:attrNameLst>
                                          <p:attrName>ppt_c</p:attrName>
                                        </p:attrNameLst>
                                      </p:cBhvr>
                                      <p:to>
                                        <a:srgbClr val="333333"/>
                                      </p:to>
                                    </p:animClr>
                                  </p:subTnLst>
                                </p:cTn>
                              </p:par>
                              <p:par>
                                <p:cTn id="23" presetID="1" presetClass="entr" presetSubtype="0" fill="hold" grpId="0" nodeType="withEffect">
                                  <p:stCondLst>
                                    <p:cond delay="0"/>
                                  </p:stCondLst>
                                  <p:childTnLst>
                                    <p:set>
                                      <p:cBhvr>
                                        <p:cTn id="24" dur="1" fill="hold">
                                          <p:stCondLst>
                                            <p:cond delay="499"/>
                                          </p:stCondLst>
                                        </p:cTn>
                                        <p:tgtEl>
                                          <p:spTgt spid="711683">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8" end="8"/>
                                            </p:txEl>
                                          </p:spTgt>
                                        </p:tgtEl>
                                        <p:attrNameLst>
                                          <p:attrName>ppt_c</p:attrName>
                                        </p:attrNameLst>
                                      </p:cBhvr>
                                      <p:to>
                                        <a:srgbClr val="333333"/>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37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Canonical Cover</a:t>
            </a:r>
          </a:p>
        </p:txBody>
      </p:sp>
      <p:sp>
        <p:nvSpPr>
          <p:cNvPr id="18435" name="Rectangle 3"/>
          <p:cNvSpPr>
            <a:spLocks noGrp="1" noChangeArrowheads="1"/>
          </p:cNvSpPr>
          <p:nvPr>
            <p:ph type="body" idx="1"/>
          </p:nvPr>
        </p:nvSpPr>
        <p:spPr>
          <a:xfrm>
            <a:off x="768351" y="1084910"/>
            <a:ext cx="7647680" cy="4425553"/>
          </a:xfrm>
        </p:spPr>
        <p:txBody>
          <a:bodyPr/>
          <a:lstStyle/>
          <a:p>
            <a:pPr>
              <a:defRPr/>
            </a:pPr>
            <a:r>
              <a:rPr lang="en-US" altLang="en-US" dirty="0"/>
              <a:t>Suppose that we have a set of functional dependencies </a:t>
            </a:r>
            <a:r>
              <a:rPr lang="en-US" altLang="en-US" i="1" dirty="0"/>
              <a:t>F</a:t>
            </a:r>
            <a:r>
              <a:rPr lang="en-US" altLang="en-US" dirty="0"/>
              <a:t> on a relation schema. Whenever a user performs an update on the relation, the database system must ensure that the update does not violate any functional dependencies; that is, all the functional dependencies in </a:t>
            </a:r>
            <a:r>
              <a:rPr lang="en-US" altLang="en-US" i="1" dirty="0"/>
              <a:t>F</a:t>
            </a:r>
            <a:r>
              <a:rPr lang="en-US" altLang="en-US" dirty="0"/>
              <a:t> are satisfied in the new database state.</a:t>
            </a:r>
          </a:p>
          <a:p>
            <a:pPr>
              <a:defRPr/>
            </a:pPr>
            <a:r>
              <a:rPr lang="en-US" altLang="en-US" dirty="0"/>
              <a:t>If an update violates any functional dependencies in the set </a:t>
            </a:r>
            <a:r>
              <a:rPr lang="en-US" altLang="en-US" i="1" dirty="0"/>
              <a:t>F, </a:t>
            </a:r>
            <a:r>
              <a:rPr lang="en-US" altLang="en-US" dirty="0"/>
              <a:t>the system must roll back the update.</a:t>
            </a:r>
          </a:p>
          <a:p>
            <a:pPr>
              <a:defRPr/>
            </a:pPr>
            <a:r>
              <a:rPr lang="en-US" altLang="en-US" dirty="0"/>
              <a:t>We can reduce the effort spent in checking for violations by testing a simplified set of functional dependencies that has the same closure as the given set. </a:t>
            </a:r>
          </a:p>
          <a:p>
            <a:pPr>
              <a:defRPr/>
            </a:pPr>
            <a:r>
              <a:rPr lang="en-US" altLang="en-US" dirty="0"/>
              <a:t>This simplified set is termed the </a:t>
            </a:r>
            <a:r>
              <a:rPr lang="en-US" altLang="en-US" b="1" dirty="0">
                <a:solidFill>
                  <a:srgbClr val="002060"/>
                </a:solidFill>
              </a:rPr>
              <a:t>canonical cover</a:t>
            </a:r>
          </a:p>
          <a:p>
            <a:pPr>
              <a:defRPr/>
            </a:pPr>
            <a:r>
              <a:rPr lang="en-US" altLang="en-US" dirty="0">
                <a:effectLst>
                  <a:outerShdw blurRad="38100" dist="38100" dir="2700000" algn="tl">
                    <a:srgbClr val="C0C0C0"/>
                  </a:outerShdw>
                </a:effectLst>
                <a:ea typeface="ＭＳ Ｐゴシック" pitchFamily="34" charset="-128"/>
              </a:rPr>
              <a:t>To define canonical cover we must first define </a:t>
            </a:r>
            <a:r>
              <a:rPr lang="en-US" altLang="en-US" b="1" dirty="0">
                <a:solidFill>
                  <a:srgbClr val="002060"/>
                </a:solidFill>
                <a:effectLst>
                  <a:outerShdw blurRad="38100" dist="38100" dir="2700000" algn="tl">
                    <a:srgbClr val="C0C0C0"/>
                  </a:outerShdw>
                </a:effectLst>
                <a:ea typeface="ＭＳ Ｐゴシック" pitchFamily="34" charset="-128"/>
              </a:rPr>
              <a:t>e</a:t>
            </a:r>
            <a:r>
              <a:rPr lang="en-US" altLang="en-US" b="1" dirty="0">
                <a:solidFill>
                  <a:srgbClr val="002060"/>
                </a:solidFill>
              </a:rPr>
              <a:t>xtraneous</a:t>
            </a:r>
            <a:r>
              <a:rPr lang="en-US" altLang="en-US" b="1" dirty="0">
                <a:solidFill>
                  <a:srgbClr val="000099"/>
                </a:solidFill>
              </a:rPr>
              <a:t> </a:t>
            </a:r>
            <a:r>
              <a:rPr lang="en-US" altLang="en-US" b="1" dirty="0">
                <a:solidFill>
                  <a:srgbClr val="002060"/>
                </a:solidFill>
              </a:rPr>
              <a:t>attributes</a:t>
            </a:r>
            <a:r>
              <a:rPr lang="en-US" altLang="en-US" b="1" dirty="0">
                <a:solidFill>
                  <a:srgbClr val="000099"/>
                </a:solidFill>
              </a:rPr>
              <a:t>.</a:t>
            </a:r>
          </a:p>
          <a:p>
            <a:pPr lvl="1">
              <a:defRPr/>
            </a:pPr>
            <a:r>
              <a:rPr lang="en-US" altLang="en-US" dirty="0"/>
              <a:t>An attribute of a functional dependency  in </a:t>
            </a:r>
            <a:r>
              <a:rPr lang="en-US" altLang="en-US" i="1" dirty="0"/>
              <a:t>F</a:t>
            </a:r>
            <a:r>
              <a:rPr lang="en-US" altLang="en-US" dirty="0"/>
              <a:t> is </a:t>
            </a:r>
            <a:r>
              <a:rPr lang="en-US" altLang="en-US" b="1" dirty="0">
                <a:solidFill>
                  <a:srgbClr val="002060"/>
                </a:solidFill>
              </a:rPr>
              <a:t>extraneous </a:t>
            </a:r>
            <a:r>
              <a:rPr lang="en-US" altLang="en-US" dirty="0"/>
              <a:t>if we can remove it without changing </a:t>
            </a:r>
            <a:r>
              <a:rPr lang="en-US" altLang="en-US" i="1" dirty="0"/>
              <a:t> F </a:t>
            </a:r>
            <a:r>
              <a:rPr lang="en-US" altLang="en-US" baseline="30000" dirty="0"/>
              <a:t>+</a:t>
            </a:r>
            <a:r>
              <a:rPr lang="en-US" altLang="en-US" dirty="0"/>
              <a:t> </a:t>
            </a:r>
          </a:p>
          <a:p>
            <a:pPr lvl="1">
              <a:defRPr/>
            </a:pPr>
            <a:endParaRPr lang="en-US" altLang="en-US" b="1" dirty="0">
              <a:solidFill>
                <a:srgbClr val="000099"/>
              </a:solidFill>
              <a:cs typeface="+mn-cs"/>
            </a:endParaRPr>
          </a:p>
          <a:p>
            <a:pPr>
              <a:defRPr/>
            </a:pPr>
            <a:endParaRPr lang="en-US" altLang="en-US" dirty="0"/>
          </a:p>
          <a:p>
            <a:pPr>
              <a:defRPr/>
            </a:pPr>
            <a:endParaRPr lang="en-US"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Extraneous Attributes</a:t>
            </a:r>
          </a:p>
        </p:txBody>
      </p:sp>
      <p:sp>
        <p:nvSpPr>
          <p:cNvPr id="52227" name="Rectangle 3"/>
          <p:cNvSpPr>
            <a:spLocks noGrp="1" noChangeArrowheads="1"/>
          </p:cNvSpPr>
          <p:nvPr>
            <p:ph type="body" idx="1"/>
          </p:nvPr>
        </p:nvSpPr>
        <p:spPr>
          <a:xfrm>
            <a:off x="768350" y="1163638"/>
            <a:ext cx="7585537" cy="3673057"/>
          </a:xfrm>
        </p:spPr>
        <p:txBody>
          <a:bodyPr/>
          <a:lstStyle/>
          <a:p>
            <a:r>
              <a:rPr lang="en-US" altLang="en-US" dirty="0"/>
              <a:t>Removing an attribute from the left side of a functional dependency could make it a stronger constraint.  </a:t>
            </a:r>
          </a:p>
          <a:p>
            <a:pPr lvl="1"/>
            <a:r>
              <a:rPr lang="en-US" altLang="en-US" dirty="0"/>
              <a:t>For example, if we have AB </a:t>
            </a:r>
            <a:r>
              <a:rPr lang="en-US" altLang="en-US" dirty="0">
                <a:sym typeface="Symbol" panose="05050102010706020507" pitchFamily="18" charset="2"/>
              </a:rPr>
              <a:t> </a:t>
            </a:r>
            <a:r>
              <a:rPr lang="en-US" altLang="en-US" dirty="0"/>
              <a:t>C and remove B, we get the possibly stronger result A </a:t>
            </a:r>
            <a:r>
              <a:rPr lang="en-US" altLang="en-US" dirty="0">
                <a:sym typeface="Symbol" panose="05050102010706020507" pitchFamily="18" charset="2"/>
              </a:rPr>
              <a:t> </a:t>
            </a:r>
            <a:r>
              <a:rPr lang="en-US" altLang="en-US" dirty="0"/>
              <a:t> C.  It may be stronger because A </a:t>
            </a:r>
            <a:r>
              <a:rPr lang="en-US" altLang="en-US" dirty="0">
                <a:sym typeface="Symbol" panose="05050102010706020507" pitchFamily="18" charset="2"/>
              </a:rPr>
              <a:t> </a:t>
            </a:r>
            <a:r>
              <a:rPr lang="en-US" altLang="en-US" dirty="0"/>
              <a:t> C logically implies AB </a:t>
            </a:r>
            <a:r>
              <a:rPr lang="en-US" altLang="en-US" dirty="0">
                <a:sym typeface="Symbol" panose="05050102010706020507" pitchFamily="18" charset="2"/>
              </a:rPr>
              <a:t> </a:t>
            </a:r>
            <a:r>
              <a:rPr lang="en-US" altLang="en-US" dirty="0"/>
              <a:t>C, but  AB </a:t>
            </a:r>
            <a:r>
              <a:rPr lang="en-US" altLang="en-US" dirty="0">
                <a:sym typeface="Symbol" panose="05050102010706020507" pitchFamily="18" charset="2"/>
              </a:rPr>
              <a:t> </a:t>
            </a:r>
            <a:r>
              <a:rPr lang="en-US" altLang="en-US" dirty="0"/>
              <a:t>C does not, on its own, logically imply A </a:t>
            </a:r>
            <a:r>
              <a:rPr lang="en-US" altLang="en-US" dirty="0">
                <a:sym typeface="Symbol" panose="05050102010706020507" pitchFamily="18" charset="2"/>
              </a:rPr>
              <a:t> </a:t>
            </a:r>
            <a:r>
              <a:rPr lang="en-US" altLang="en-US" dirty="0"/>
              <a:t> C</a:t>
            </a:r>
          </a:p>
          <a:p>
            <a:r>
              <a:rPr lang="en-US" altLang="en-US" dirty="0"/>
              <a:t>But, depending on what our set F of functional dependencies happens to be, we may be able to remove B from AB </a:t>
            </a:r>
            <a:r>
              <a:rPr lang="en-US" altLang="en-US" dirty="0">
                <a:sym typeface="Symbol" panose="05050102010706020507" pitchFamily="18" charset="2"/>
              </a:rPr>
              <a:t> </a:t>
            </a:r>
            <a:r>
              <a:rPr lang="en-US" altLang="en-US" dirty="0"/>
              <a:t>C safely.  </a:t>
            </a:r>
          </a:p>
          <a:p>
            <a:pPr lvl="1"/>
            <a:r>
              <a:rPr lang="en-US" altLang="en-US" dirty="0"/>
              <a:t>For example, suppose that</a:t>
            </a:r>
          </a:p>
          <a:p>
            <a:pPr lvl="1"/>
            <a:r>
              <a:rPr lang="en-US" altLang="en-US" dirty="0"/>
              <a:t>F =  {AB </a:t>
            </a:r>
            <a:r>
              <a:rPr lang="en-US" altLang="en-US" dirty="0">
                <a:sym typeface="Symbol" panose="05050102010706020507" pitchFamily="18" charset="2"/>
              </a:rPr>
              <a:t> </a:t>
            </a:r>
            <a:r>
              <a:rPr lang="en-US" altLang="en-US" dirty="0"/>
              <a:t>C, A </a:t>
            </a:r>
            <a:r>
              <a:rPr lang="en-US" altLang="en-US" dirty="0">
                <a:sym typeface="Symbol" panose="05050102010706020507" pitchFamily="18" charset="2"/>
              </a:rPr>
              <a:t> </a:t>
            </a:r>
            <a:r>
              <a:rPr lang="en-US" altLang="en-US" dirty="0"/>
              <a:t>D, D </a:t>
            </a:r>
            <a:r>
              <a:rPr lang="en-US" altLang="en-US" dirty="0">
                <a:sym typeface="Symbol" panose="05050102010706020507" pitchFamily="18" charset="2"/>
              </a:rPr>
              <a:t> </a:t>
            </a:r>
            <a:r>
              <a:rPr lang="en-US" altLang="en-US" dirty="0"/>
              <a:t>C}</a:t>
            </a:r>
          </a:p>
          <a:p>
            <a:pPr lvl="1"/>
            <a:r>
              <a:rPr lang="en-US" altLang="en-US" dirty="0"/>
              <a:t>Then we can show that F logically implies A </a:t>
            </a:r>
            <a:r>
              <a:rPr lang="en-US" altLang="en-US" dirty="0">
                <a:sym typeface="Symbol" panose="05050102010706020507" pitchFamily="18" charset="2"/>
              </a:rPr>
              <a:t> </a:t>
            </a:r>
            <a:r>
              <a:rPr lang="en-US" altLang="en-US" dirty="0"/>
              <a:t>C, making extraneous in AB </a:t>
            </a:r>
            <a:r>
              <a:rPr lang="en-US" altLang="en-US" dirty="0">
                <a:sym typeface="Symbol" panose="05050102010706020507" pitchFamily="18" charset="2"/>
              </a:rPr>
              <a:t> </a:t>
            </a:r>
            <a:r>
              <a:rPr lang="en-US" altLang="en-US" dirty="0"/>
              <a:t>C.</a:t>
            </a:r>
          </a:p>
          <a:p>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Extraneous Attributes (Cont.)</a:t>
            </a:r>
          </a:p>
        </p:txBody>
      </p:sp>
      <p:sp>
        <p:nvSpPr>
          <p:cNvPr id="53251" name="Rectangle 3"/>
          <p:cNvSpPr>
            <a:spLocks noGrp="1" noChangeArrowheads="1"/>
          </p:cNvSpPr>
          <p:nvPr>
            <p:ph type="body" idx="1"/>
          </p:nvPr>
        </p:nvSpPr>
        <p:spPr>
          <a:xfrm>
            <a:off x="768350" y="1163638"/>
            <a:ext cx="7647681" cy="3384299"/>
          </a:xfrm>
        </p:spPr>
        <p:txBody>
          <a:bodyPr/>
          <a:lstStyle/>
          <a:p>
            <a:r>
              <a:rPr lang="en-US" altLang="en-US" dirty="0"/>
              <a:t>Removing an attribute from the right side of a functional dependency could make it a weaker constraint.  </a:t>
            </a:r>
          </a:p>
          <a:p>
            <a:pPr lvl="1"/>
            <a:r>
              <a:rPr lang="en-US" altLang="en-US" dirty="0"/>
              <a:t>For example, if we have AB </a:t>
            </a:r>
            <a:r>
              <a:rPr lang="en-US" altLang="en-US" dirty="0">
                <a:sym typeface="Symbol" panose="05050102010706020507" pitchFamily="18" charset="2"/>
              </a:rPr>
              <a:t> </a:t>
            </a:r>
            <a:r>
              <a:rPr lang="en-US" altLang="en-US" dirty="0"/>
              <a:t>CD and remove C, we get the possibly weaker result AB</a:t>
            </a:r>
            <a:r>
              <a:rPr lang="en-US" altLang="en-US" dirty="0">
                <a:sym typeface="Symbol" panose="05050102010706020507" pitchFamily="18" charset="2"/>
              </a:rPr>
              <a:t> </a:t>
            </a:r>
            <a:r>
              <a:rPr lang="en-US" altLang="en-US" dirty="0"/>
              <a:t> D.  It may be weaker because using just AB </a:t>
            </a:r>
            <a:r>
              <a:rPr lang="en-US" altLang="en-US" dirty="0">
                <a:sym typeface="Symbol" panose="05050102010706020507" pitchFamily="18" charset="2"/>
              </a:rPr>
              <a:t> </a:t>
            </a:r>
            <a:r>
              <a:rPr lang="en-US" altLang="en-US" dirty="0"/>
              <a:t>D, we can no longer infer AB </a:t>
            </a:r>
            <a:r>
              <a:rPr lang="en-US" altLang="en-US" dirty="0">
                <a:sym typeface="Symbol" panose="05050102010706020507" pitchFamily="18" charset="2"/>
              </a:rPr>
              <a:t> </a:t>
            </a:r>
            <a:r>
              <a:rPr lang="en-US" altLang="en-US" dirty="0"/>
              <a:t>C.</a:t>
            </a:r>
          </a:p>
          <a:p>
            <a:r>
              <a:rPr lang="en-US" altLang="en-US" dirty="0"/>
              <a:t>But, depending on what our set F of functional dependencies happens to be, we may be able to remove C from AB </a:t>
            </a:r>
            <a:r>
              <a:rPr lang="en-US" altLang="en-US" dirty="0">
                <a:sym typeface="Symbol" panose="05050102010706020507" pitchFamily="18" charset="2"/>
              </a:rPr>
              <a:t> </a:t>
            </a:r>
            <a:r>
              <a:rPr lang="en-US" altLang="en-US" dirty="0"/>
              <a:t>CD safely.  </a:t>
            </a:r>
          </a:p>
          <a:p>
            <a:pPr lvl="1"/>
            <a:r>
              <a:rPr lang="en-US" altLang="en-US" dirty="0"/>
              <a:t>For example, suppose that</a:t>
            </a:r>
          </a:p>
          <a:p>
            <a:pPr lvl="1">
              <a:buFont typeface="Monotype Sorts" pitchFamily="-84" charset="2"/>
              <a:buNone/>
            </a:pPr>
            <a:r>
              <a:rPr lang="en-US" altLang="en-US" dirty="0"/>
              <a:t>           F = { AB</a:t>
            </a:r>
            <a:r>
              <a:rPr lang="en-US" altLang="en-US" dirty="0">
                <a:sym typeface="Symbol" panose="05050102010706020507" pitchFamily="18" charset="2"/>
              </a:rPr>
              <a:t> </a:t>
            </a:r>
            <a:r>
              <a:rPr lang="en-US" altLang="en-US" dirty="0"/>
              <a:t> CD, A </a:t>
            </a:r>
            <a:r>
              <a:rPr lang="en-US" altLang="en-US" dirty="0">
                <a:sym typeface="Symbol" panose="05050102010706020507" pitchFamily="18" charset="2"/>
              </a:rPr>
              <a:t></a:t>
            </a:r>
            <a:r>
              <a:rPr lang="en-US" altLang="en-US" dirty="0"/>
              <a:t> C.</a:t>
            </a:r>
          </a:p>
          <a:p>
            <a:pPr lvl="1"/>
            <a:r>
              <a:rPr lang="en-US" altLang="en-US" dirty="0"/>
              <a:t>Then we can show that even after replacing AB </a:t>
            </a:r>
            <a:r>
              <a:rPr lang="en-US" altLang="en-US" dirty="0">
                <a:sym typeface="Symbol" panose="05050102010706020507" pitchFamily="18" charset="2"/>
              </a:rPr>
              <a:t></a:t>
            </a:r>
            <a:r>
              <a:rPr lang="en-US" altLang="en-US" dirty="0"/>
              <a:t> CD by AB </a:t>
            </a:r>
            <a:r>
              <a:rPr lang="en-US" altLang="en-US" dirty="0">
                <a:sym typeface="Symbol" panose="05050102010706020507" pitchFamily="18" charset="2"/>
              </a:rPr>
              <a:t> </a:t>
            </a:r>
            <a:r>
              <a:rPr lang="en-US" altLang="en-US" dirty="0"/>
              <a:t>D, we can still infer $AB </a:t>
            </a:r>
            <a:r>
              <a:rPr lang="en-US" altLang="en-US" dirty="0">
                <a:sym typeface="Symbol" panose="05050102010706020507" pitchFamily="18" charset="2"/>
              </a:rPr>
              <a:t> </a:t>
            </a:r>
            <a:r>
              <a:rPr lang="en-US" altLang="en-US" dirty="0"/>
              <a:t>C and thus AB</a:t>
            </a:r>
            <a:r>
              <a:rPr lang="en-US" altLang="en-US" dirty="0">
                <a:sym typeface="Symbol" panose="05050102010706020507" pitchFamily="18" charset="2"/>
              </a:rPr>
              <a:t> </a:t>
            </a:r>
            <a:r>
              <a:rPr lang="en-US" altLang="en-US" dirty="0"/>
              <a:t> CD.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Extraneous Attributes</a:t>
            </a:r>
          </a:p>
        </p:txBody>
      </p:sp>
      <p:sp>
        <p:nvSpPr>
          <p:cNvPr id="715779" name="Rectangle 3"/>
          <p:cNvSpPr>
            <a:spLocks noGrp="1" noChangeArrowheads="1"/>
          </p:cNvSpPr>
          <p:nvPr>
            <p:ph type="body" idx="1"/>
          </p:nvPr>
        </p:nvSpPr>
        <p:spPr>
          <a:xfrm>
            <a:off x="768350" y="1083076"/>
            <a:ext cx="7674314" cy="4511608"/>
          </a:xfrm>
        </p:spPr>
        <p:txBody>
          <a:bodyPr/>
          <a:lstStyle/>
          <a:p>
            <a:r>
              <a:rPr lang="en-US" altLang="en-US" dirty="0"/>
              <a:t>An attribute of a functional dependency  in </a:t>
            </a:r>
            <a:r>
              <a:rPr lang="en-US" altLang="en-US" i="1" dirty="0"/>
              <a:t>F</a:t>
            </a:r>
            <a:r>
              <a:rPr lang="en-US" altLang="en-US" dirty="0"/>
              <a:t> is </a:t>
            </a:r>
            <a:r>
              <a:rPr lang="en-US" altLang="en-US" b="1" dirty="0">
                <a:solidFill>
                  <a:srgbClr val="002060"/>
                </a:solidFill>
              </a:rPr>
              <a:t>extraneous</a:t>
            </a:r>
            <a:r>
              <a:rPr lang="en-US" altLang="en-US" b="1" dirty="0">
                <a:solidFill>
                  <a:srgbClr val="000099"/>
                </a:solidFill>
              </a:rPr>
              <a:t> </a:t>
            </a:r>
            <a:r>
              <a:rPr lang="en-US" altLang="en-US" dirty="0"/>
              <a:t>if we can remove it without changing </a:t>
            </a:r>
            <a:r>
              <a:rPr lang="en-US" altLang="en-US" i="1" dirty="0"/>
              <a:t> F </a:t>
            </a:r>
            <a:r>
              <a:rPr lang="en-US" altLang="en-US" baseline="30000" dirty="0"/>
              <a:t>+</a:t>
            </a:r>
            <a:r>
              <a:rPr lang="en-US" altLang="en-US" dirty="0"/>
              <a:t> </a:t>
            </a:r>
          </a:p>
          <a:p>
            <a:r>
              <a:rPr lang="en-US" altLang="en-US" dirty="0"/>
              <a:t>Consider a set </a:t>
            </a:r>
            <a:r>
              <a:rPr lang="en-US" altLang="en-US" i="1" dirty="0"/>
              <a:t>F</a:t>
            </a:r>
            <a:r>
              <a:rPr lang="en-US" altLang="en-US" dirty="0"/>
              <a:t> of functional dependencies and the functional dependency </a:t>
            </a:r>
            <a:r>
              <a:rPr lang="en-US" altLang="en-US" dirty="0">
                <a:sym typeface="Symbol" panose="05050102010706020507" pitchFamily="18" charset="2"/>
              </a:rPr>
              <a:t> </a:t>
            </a:r>
            <a:r>
              <a:rPr lang="en-US" altLang="en-US" dirty="0">
                <a:sym typeface="Monotype Sorts" pitchFamily="-84" charset="2"/>
              </a:rPr>
              <a:t> </a:t>
            </a:r>
            <a:r>
              <a:rPr lang="en-US" altLang="en-US" dirty="0">
                <a:sym typeface="Symbol" panose="05050102010706020507" pitchFamily="18" charset="2"/>
              </a:rPr>
              <a:t> </a:t>
            </a:r>
            <a:r>
              <a:rPr lang="en-US" altLang="en-US" dirty="0">
                <a:sym typeface="Greek Symbols"/>
              </a:rPr>
              <a:t>in </a:t>
            </a:r>
            <a:r>
              <a:rPr lang="en-US" altLang="en-US" i="1" dirty="0">
                <a:sym typeface="Greek Symbols"/>
              </a:rPr>
              <a:t>F</a:t>
            </a:r>
            <a:r>
              <a:rPr lang="en-US" altLang="en-US" dirty="0">
                <a:sym typeface="Greek Symbols"/>
              </a:rPr>
              <a:t>.</a:t>
            </a:r>
          </a:p>
          <a:p>
            <a:pPr lvl="1"/>
            <a:r>
              <a:rPr lang="en-US" altLang="en-US" b="1" dirty="0">
                <a:sym typeface="Monotype Sorts" pitchFamily="-84" charset="2"/>
              </a:rPr>
              <a:t>Remove from the left side</a:t>
            </a:r>
            <a:r>
              <a:rPr lang="en-US" altLang="en-US" dirty="0">
                <a:sym typeface="Monotype Sorts" pitchFamily="-84" charset="2"/>
              </a:rPr>
              <a:t>: Attribute A is </a:t>
            </a:r>
            <a:r>
              <a:rPr lang="en-US" altLang="en-US" b="1" dirty="0">
                <a:solidFill>
                  <a:srgbClr val="002060"/>
                </a:solidFill>
                <a:sym typeface="Monotype Sorts" pitchFamily="-84" charset="2"/>
              </a:rPr>
              <a:t>extraneous</a:t>
            </a:r>
            <a:r>
              <a:rPr lang="en-US" altLang="en-US" dirty="0">
                <a:solidFill>
                  <a:schemeClr val="tx2"/>
                </a:solidFill>
                <a:sym typeface="Monotype Sorts" pitchFamily="-84" charset="2"/>
              </a:rPr>
              <a:t> </a:t>
            </a:r>
            <a:r>
              <a:rPr lang="en-US" altLang="en-US" dirty="0">
                <a:sym typeface="Monotype Sorts" pitchFamily="-84" charset="2"/>
              </a:rPr>
              <a:t>in </a:t>
            </a:r>
            <a:r>
              <a:rPr lang="en-US" altLang="en-US" dirty="0">
                <a:sym typeface="Symbol" panose="05050102010706020507" pitchFamily="18" charset="2"/>
              </a:rPr>
              <a:t></a:t>
            </a:r>
            <a:r>
              <a:rPr lang="en-US" altLang="en-US" dirty="0">
                <a:sym typeface="Greek Symbols"/>
              </a:rPr>
              <a:t> if</a:t>
            </a:r>
          </a:p>
          <a:p>
            <a:pPr lvl="2"/>
            <a:r>
              <a:rPr lang="en-US" altLang="en-US" dirty="0">
                <a:sym typeface="Greek Symbols"/>
              </a:rPr>
              <a:t> </a:t>
            </a:r>
            <a:r>
              <a:rPr lang="en-US" altLang="en-US" i="1" dirty="0">
                <a:sym typeface="Greek Symbols"/>
              </a:rPr>
              <a:t>A </a:t>
            </a:r>
            <a:r>
              <a:rPr lang="en-US" altLang="en-US" dirty="0">
                <a:sym typeface="Symbol" panose="05050102010706020507" pitchFamily="18" charset="2"/>
              </a:rPr>
              <a:t> </a:t>
            </a:r>
            <a:r>
              <a:rPr lang="en-US" altLang="en-US" dirty="0">
                <a:sym typeface="Greek Symbols"/>
              </a:rPr>
              <a:t>  and </a:t>
            </a:r>
          </a:p>
          <a:p>
            <a:pPr lvl="2"/>
            <a:r>
              <a:rPr lang="en-US" altLang="en-US" i="1" dirty="0">
                <a:sym typeface="Greek Symbols"/>
              </a:rPr>
              <a:t>F </a:t>
            </a:r>
            <a:r>
              <a:rPr lang="en-US" altLang="en-US" dirty="0">
                <a:sym typeface="Greek Symbols"/>
              </a:rPr>
              <a:t> logically implies (</a:t>
            </a:r>
            <a:r>
              <a:rPr lang="en-US" altLang="en-US" i="1" dirty="0">
                <a:sym typeface="Greek Symbols"/>
              </a:rPr>
              <a:t>F</a:t>
            </a:r>
            <a:r>
              <a:rPr lang="en-US" altLang="en-US" dirty="0">
                <a:sym typeface="Greek Symbols"/>
              </a:rPr>
              <a:t> –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 {(</a:t>
            </a:r>
            <a:r>
              <a:rPr lang="en-US" altLang="en-US" dirty="0">
                <a:sym typeface="Greek Symbols"/>
              </a:rPr>
              <a:t>  – </a:t>
            </a:r>
            <a:r>
              <a:rPr lang="en-US" altLang="en-US" i="1" dirty="0">
                <a:sym typeface="Greek Symbols"/>
              </a:rPr>
              <a:t>A</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a:t>
            </a:r>
          </a:p>
          <a:p>
            <a:pPr lvl="1"/>
            <a:r>
              <a:rPr lang="en-US" altLang="en-US" b="1" dirty="0">
                <a:sym typeface="Monotype Sorts" pitchFamily="-84" charset="2"/>
              </a:rPr>
              <a:t>Remove from the right side</a:t>
            </a:r>
            <a:r>
              <a:rPr lang="en-US" altLang="en-US" dirty="0">
                <a:sym typeface="Monotype Sorts" pitchFamily="-84" charset="2"/>
              </a:rPr>
              <a:t>: </a:t>
            </a:r>
            <a:r>
              <a:rPr lang="en-US" altLang="en-US" dirty="0">
                <a:sym typeface="Greek Symbols"/>
              </a:rPr>
              <a:t>Attribute </a:t>
            </a:r>
            <a:r>
              <a:rPr lang="en-US" altLang="en-US" i="1" dirty="0">
                <a:sym typeface="Greek Symbols"/>
              </a:rPr>
              <a:t>A</a:t>
            </a:r>
            <a:r>
              <a:rPr lang="en-US" altLang="en-US" dirty="0">
                <a:sym typeface="Greek Symbols"/>
              </a:rPr>
              <a:t> is </a:t>
            </a:r>
            <a:r>
              <a:rPr lang="en-US" altLang="en-US" b="1" dirty="0">
                <a:solidFill>
                  <a:srgbClr val="002060"/>
                </a:solidFill>
                <a:sym typeface="Greek Symbols"/>
              </a:rPr>
              <a:t>extraneous</a:t>
            </a:r>
            <a:r>
              <a:rPr lang="en-US" altLang="en-US" dirty="0">
                <a:sym typeface="Greek Symbols"/>
              </a:rPr>
              <a:t> in </a:t>
            </a:r>
            <a:r>
              <a:rPr lang="en-US" altLang="en-US" dirty="0">
                <a:sym typeface="Symbol" panose="05050102010706020507" pitchFamily="18" charset="2"/>
              </a:rPr>
              <a:t> if</a:t>
            </a:r>
          </a:p>
          <a:p>
            <a:pPr lvl="2"/>
            <a:r>
              <a:rPr lang="en-US" altLang="en-US" i="1" dirty="0">
                <a:sym typeface="Greek Symbols"/>
              </a:rPr>
              <a:t>A</a:t>
            </a:r>
            <a:r>
              <a:rPr lang="en-US" altLang="en-US" dirty="0">
                <a:sym typeface="Greek Symbols"/>
              </a:rPr>
              <a:t> </a:t>
            </a:r>
            <a:r>
              <a:rPr lang="en-US" altLang="en-US" dirty="0">
                <a:sym typeface="Symbol" panose="05050102010706020507" pitchFamily="18" charset="2"/>
              </a:rPr>
              <a:t> </a:t>
            </a:r>
            <a:r>
              <a:rPr lang="en-US" altLang="en-US" dirty="0">
                <a:sym typeface="Greek Symbols"/>
              </a:rPr>
              <a:t> and </a:t>
            </a:r>
          </a:p>
          <a:p>
            <a:pPr lvl="2"/>
            <a:r>
              <a:rPr lang="en-US" altLang="en-US" dirty="0">
                <a:sym typeface="Greek Symbols"/>
              </a:rPr>
              <a:t>The set of functional dependencies    </a:t>
            </a:r>
          </a:p>
          <a:p>
            <a:pPr lvl="2">
              <a:buFont typeface="Webdings" panose="05030102010509060703" pitchFamily="18" charset="2"/>
              <a:buNone/>
            </a:pPr>
            <a:r>
              <a:rPr lang="en-US" altLang="en-US" dirty="0">
                <a:sym typeface="Greek Symbols"/>
              </a:rPr>
              <a:t>        (</a:t>
            </a:r>
            <a:r>
              <a:rPr lang="en-US" altLang="en-US" i="1" dirty="0">
                <a:sym typeface="Greek Symbols"/>
              </a:rPr>
              <a:t>F</a:t>
            </a:r>
            <a:r>
              <a:rPr lang="en-US" altLang="en-US" dirty="0">
                <a:sym typeface="Greek Symbols"/>
              </a:rPr>
              <a:t>  –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 {</a:t>
            </a:r>
            <a:r>
              <a:rPr lang="en-US" altLang="en-US" dirty="0">
                <a:sym typeface="Greek Symbols"/>
              </a:rPr>
              <a:t> </a:t>
            </a:r>
            <a:r>
              <a:rPr lang="en-US" altLang="en-US" dirty="0">
                <a:sym typeface="Symbol" panose="05050102010706020507" pitchFamily="18" charset="2"/>
              </a:rPr>
              <a:t></a:t>
            </a:r>
            <a:r>
              <a:rPr lang="en-US" altLang="en-US" i="1" dirty="0">
                <a:sym typeface="Greek Symbols"/>
              </a:rPr>
              <a:t>(</a:t>
            </a:r>
            <a:r>
              <a:rPr lang="en-US" altLang="en-US" dirty="0">
                <a:sym typeface="Symbol" panose="05050102010706020507" pitchFamily="18" charset="2"/>
              </a:rPr>
              <a:t></a:t>
            </a:r>
            <a:r>
              <a:rPr lang="en-US" altLang="en-US" i="1" dirty="0">
                <a:sym typeface="Greek Symbols"/>
              </a:rPr>
              <a:t> </a:t>
            </a:r>
            <a:r>
              <a:rPr lang="en-US" altLang="en-US" dirty="0">
                <a:sym typeface="Greek Symbols"/>
              </a:rPr>
              <a:t>– </a:t>
            </a:r>
            <a:r>
              <a:rPr lang="en-US" altLang="en-US" i="1" dirty="0">
                <a:sym typeface="Greek Symbols"/>
              </a:rPr>
              <a:t>A</a:t>
            </a:r>
            <a:r>
              <a:rPr lang="en-US" altLang="en-US" dirty="0">
                <a:sym typeface="Greek Symbols"/>
              </a:rPr>
              <a:t>)} logically implies </a:t>
            </a:r>
            <a:r>
              <a:rPr lang="en-US" altLang="en-US" i="1" dirty="0">
                <a:sym typeface="Greek Symbols"/>
              </a:rPr>
              <a:t>F.</a:t>
            </a:r>
          </a:p>
          <a:p>
            <a:r>
              <a:rPr lang="en-US" altLang="en-US" i="1" dirty="0">
                <a:sym typeface="Greek Symbols"/>
              </a:rPr>
              <a:t>Note: </a:t>
            </a:r>
            <a:r>
              <a:rPr lang="en-US" altLang="en-US" dirty="0">
                <a:sym typeface="Greek Symbols"/>
              </a:rPr>
              <a:t>implication in the opposite direction is trivial in each of the cases above, since a </a:t>
            </a:r>
            <a:r>
              <a:rPr lang="ja-JP" altLang="en-US" dirty="0">
                <a:latin typeface="Arial" panose="020B0604020202020204" pitchFamily="34" charset="0"/>
                <a:sym typeface="Greek Symbols"/>
              </a:rPr>
              <a:t>“</a:t>
            </a:r>
            <a:r>
              <a:rPr lang="en-US" altLang="ja-JP" dirty="0">
                <a:sym typeface="Greek Symbols"/>
              </a:rPr>
              <a:t>stronger</a:t>
            </a:r>
            <a:r>
              <a:rPr lang="ja-JP" altLang="en-US" dirty="0">
                <a:latin typeface="Arial" panose="020B0604020202020204" pitchFamily="34" charset="0"/>
                <a:sym typeface="Greek Symbols"/>
              </a:rPr>
              <a:t>”</a:t>
            </a:r>
            <a:r>
              <a:rPr lang="en-US" altLang="ja-JP" dirty="0">
                <a:sym typeface="Greek Symbols"/>
              </a:rPr>
              <a:t> functional dependency always implies a weaker one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5779">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5779">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5779">
                                            <p:txEl>
                                              <p:pRg st="7" end="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5779">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57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79"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a:xfrm>
            <a:off x="1123950" y="128821"/>
            <a:ext cx="7685088" cy="609600"/>
          </a:xfrm>
        </p:spPr>
        <p:txBody>
          <a:bodyPr/>
          <a:lstStyle/>
          <a:p>
            <a:pPr>
              <a:defRPr/>
            </a:pPr>
            <a:r>
              <a:rPr lang="en-US" altLang="en-US" dirty="0">
                <a:effectLst>
                  <a:outerShdw blurRad="38100" dist="38100" dir="2700000" algn="tl">
                    <a:srgbClr val="C0C0C0"/>
                  </a:outerShdw>
                </a:effectLst>
                <a:ea typeface="ＭＳ Ｐゴシック" pitchFamily="34" charset="-128"/>
              </a:rPr>
              <a:t>Testing if an Attribute is Extraneous</a:t>
            </a:r>
          </a:p>
        </p:txBody>
      </p:sp>
      <p:sp>
        <p:nvSpPr>
          <p:cNvPr id="55299" name="Rectangle 3"/>
          <p:cNvSpPr>
            <a:spLocks noGrp="1" noChangeArrowheads="1"/>
          </p:cNvSpPr>
          <p:nvPr>
            <p:ph type="body" idx="1"/>
          </p:nvPr>
        </p:nvSpPr>
        <p:spPr>
          <a:xfrm>
            <a:off x="772357" y="1093789"/>
            <a:ext cx="7493339" cy="3706811"/>
          </a:xfrm>
        </p:spPr>
        <p:txBody>
          <a:bodyPr/>
          <a:lstStyle/>
          <a:p>
            <a:pPr marL="381000" indent="-381000"/>
            <a:r>
              <a:rPr lang="en-US" altLang="en-US" dirty="0"/>
              <a:t>Let </a:t>
            </a:r>
            <a:r>
              <a:rPr lang="en-US" altLang="en-US" i="1" dirty="0"/>
              <a:t>R</a:t>
            </a:r>
            <a:r>
              <a:rPr lang="en-US" altLang="en-US" dirty="0"/>
              <a:t>  be  a relation  schema and  let  </a:t>
            </a:r>
            <a:r>
              <a:rPr lang="en-US" altLang="en-US" i="1" dirty="0"/>
              <a:t>F </a:t>
            </a:r>
            <a:r>
              <a:rPr lang="en-US" altLang="en-US" dirty="0"/>
              <a:t> be  a set of functional dependencies that hold on </a:t>
            </a:r>
            <a:r>
              <a:rPr lang="en-US" altLang="en-US" i="1" dirty="0"/>
              <a:t>R</a:t>
            </a:r>
            <a:r>
              <a:rPr lang="en-US" altLang="en-US" dirty="0"/>
              <a:t> . Consider an attribute  in the functional dependency </a:t>
            </a:r>
            <a:r>
              <a:rPr lang="en-US" altLang="en-US" dirty="0">
                <a:sym typeface="Symbol" panose="05050102010706020507" pitchFamily="18" charset="2"/>
              </a:rPr>
              <a:t> </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a:t>
            </a:r>
          </a:p>
          <a:p>
            <a:pPr marL="381000" indent="-381000"/>
            <a:r>
              <a:rPr lang="en-US" altLang="en-US" dirty="0">
                <a:sym typeface="Greek Symbols"/>
              </a:rPr>
              <a:t>To test if attribute </a:t>
            </a:r>
            <a:r>
              <a:rPr lang="en-US" altLang="en-US" i="1" dirty="0">
                <a:sym typeface="Greek Symbols"/>
              </a:rPr>
              <a:t>A</a:t>
            </a:r>
            <a:r>
              <a:rPr lang="en-US" altLang="en-US" dirty="0">
                <a:sym typeface="Greek Symbols"/>
              </a:rPr>
              <a:t> </a:t>
            </a:r>
            <a:r>
              <a:rPr lang="en-US" altLang="en-US" dirty="0">
                <a:sym typeface="Symbol" panose="05050102010706020507" pitchFamily="18" charset="2"/>
              </a:rPr>
              <a:t> </a:t>
            </a:r>
            <a:r>
              <a:rPr lang="en-US" altLang="en-US" dirty="0">
                <a:sym typeface="Greek Symbols"/>
              </a:rPr>
              <a:t>  is extraneous in </a:t>
            </a:r>
            <a:r>
              <a:rPr lang="en-US" altLang="en-US" dirty="0">
                <a:sym typeface="Symbol" panose="05050102010706020507" pitchFamily="18" charset="2"/>
              </a:rPr>
              <a:t></a:t>
            </a:r>
            <a:r>
              <a:rPr lang="en-US" altLang="en-US" dirty="0">
                <a:sym typeface="Greek Symbols"/>
              </a:rPr>
              <a:t> </a:t>
            </a:r>
          </a:p>
          <a:p>
            <a:pPr marL="800100" lvl="1" indent="-342900"/>
            <a:r>
              <a:rPr lang="en-US" altLang="en-US" dirty="0">
                <a:sym typeface="Greek Symbols"/>
              </a:rPr>
              <a:t>Consider the set:</a:t>
            </a:r>
            <a:br>
              <a:rPr lang="en-US" altLang="en-US" dirty="0">
                <a:sym typeface="Greek Symbols"/>
              </a:rPr>
            </a:br>
            <a:r>
              <a:rPr lang="en-US" altLang="en-US" dirty="0">
                <a:sym typeface="Greek Symbols"/>
              </a:rPr>
              <a:t>         F</a:t>
            </a:r>
            <a:r>
              <a:rPr lang="en-US" altLang="ja-JP" dirty="0">
                <a:latin typeface="Arial" panose="020B0604020202020204" pitchFamily="34" charset="0"/>
                <a:sym typeface="Greek Symbols"/>
              </a:rPr>
              <a:t>'</a:t>
            </a:r>
            <a:r>
              <a:rPr lang="en-US" altLang="ja-JP" dirty="0">
                <a:sym typeface="Greek Symbols"/>
              </a:rPr>
              <a:t> = (</a:t>
            </a:r>
            <a:r>
              <a:rPr lang="en-US" altLang="ja-JP" i="1" dirty="0">
                <a:sym typeface="Greek Symbols"/>
              </a:rPr>
              <a:t>F</a:t>
            </a:r>
            <a:r>
              <a:rPr lang="en-US" altLang="ja-JP" dirty="0">
                <a:sym typeface="Greek Symbols"/>
              </a:rPr>
              <a:t>  – {</a:t>
            </a:r>
            <a:r>
              <a:rPr lang="en-US" altLang="ja-JP" dirty="0">
                <a:sym typeface="Symbol" panose="05050102010706020507" pitchFamily="18" charset="2"/>
              </a:rPr>
              <a:t></a:t>
            </a:r>
            <a:r>
              <a:rPr lang="en-US" altLang="ja-JP" dirty="0">
                <a:sym typeface="Greek Symbols"/>
              </a:rPr>
              <a:t> </a:t>
            </a:r>
            <a:r>
              <a:rPr lang="en-US" altLang="ja-JP" dirty="0">
                <a:sym typeface="Symbol" panose="05050102010706020507" pitchFamily="18" charset="2"/>
              </a:rPr>
              <a:t></a:t>
            </a:r>
            <a:r>
              <a:rPr lang="en-US" altLang="ja-JP" dirty="0">
                <a:sym typeface="Monotype Sorts" pitchFamily="-84" charset="2"/>
              </a:rPr>
              <a:t> </a:t>
            </a:r>
            <a:r>
              <a:rPr lang="en-US" altLang="ja-JP" dirty="0">
                <a:sym typeface="Symbol" panose="05050102010706020507" pitchFamily="18" charset="2"/>
              </a:rPr>
              <a:t></a:t>
            </a:r>
            <a:r>
              <a:rPr lang="en-US" altLang="ja-JP" dirty="0">
                <a:sym typeface="Greek Symbols"/>
              </a:rPr>
              <a:t>}) </a:t>
            </a:r>
            <a:r>
              <a:rPr lang="en-US" altLang="ja-JP" dirty="0">
                <a:sym typeface="Symbol" panose="05050102010706020507" pitchFamily="18" charset="2"/>
              </a:rPr>
              <a:t> {</a:t>
            </a:r>
            <a:r>
              <a:rPr lang="en-US" altLang="ja-JP" dirty="0">
                <a:sym typeface="Greek Symbols"/>
              </a:rPr>
              <a:t> </a:t>
            </a:r>
            <a:r>
              <a:rPr lang="en-US" altLang="ja-JP" dirty="0">
                <a:sym typeface="Symbol" panose="05050102010706020507" pitchFamily="18" charset="2"/>
              </a:rPr>
              <a:t></a:t>
            </a:r>
            <a:r>
              <a:rPr lang="en-US" altLang="ja-JP" i="1" dirty="0">
                <a:sym typeface="Greek Symbols"/>
              </a:rPr>
              <a:t>(</a:t>
            </a:r>
            <a:r>
              <a:rPr lang="en-US" altLang="ja-JP" dirty="0">
                <a:sym typeface="Symbol" panose="05050102010706020507" pitchFamily="18" charset="2"/>
              </a:rPr>
              <a:t></a:t>
            </a:r>
            <a:r>
              <a:rPr lang="en-US" altLang="ja-JP" i="1" dirty="0">
                <a:sym typeface="Greek Symbols"/>
              </a:rPr>
              <a:t> </a:t>
            </a:r>
            <a:r>
              <a:rPr lang="en-US" altLang="ja-JP" dirty="0">
                <a:sym typeface="Greek Symbols"/>
              </a:rPr>
              <a:t>– </a:t>
            </a:r>
            <a:r>
              <a:rPr lang="en-US" altLang="ja-JP" i="1" dirty="0">
                <a:sym typeface="Greek Symbols"/>
              </a:rPr>
              <a:t>A</a:t>
            </a:r>
            <a:r>
              <a:rPr lang="en-US" altLang="ja-JP" dirty="0">
                <a:sym typeface="Greek Symbols"/>
              </a:rPr>
              <a:t>)}, </a:t>
            </a:r>
          </a:p>
          <a:p>
            <a:pPr marL="800100" lvl="1" indent="-342900"/>
            <a:r>
              <a:rPr lang="en-US" altLang="en-US" dirty="0">
                <a:sym typeface="Greek Symbols"/>
              </a:rPr>
              <a:t> check that </a:t>
            </a:r>
            <a:r>
              <a:rPr lang="en-US" altLang="en-US" dirty="0">
                <a:sym typeface="Symbol" panose="05050102010706020507" pitchFamily="18" charset="2"/>
              </a:rPr>
              <a:t></a:t>
            </a:r>
            <a:r>
              <a:rPr lang="en-US" altLang="en-US" baseline="30000" dirty="0">
                <a:sym typeface="Greek Symbols"/>
              </a:rPr>
              <a:t>+ </a:t>
            </a:r>
            <a:r>
              <a:rPr lang="en-US" altLang="en-US" dirty="0">
                <a:sym typeface="Greek Symbols"/>
              </a:rPr>
              <a:t> contains </a:t>
            </a:r>
            <a:r>
              <a:rPr lang="en-US" altLang="en-US" i="1" dirty="0">
                <a:sym typeface="Greek Symbols"/>
              </a:rPr>
              <a:t>A; </a:t>
            </a:r>
            <a:r>
              <a:rPr lang="en-US" altLang="en-US" dirty="0">
                <a:sym typeface="Greek Symbols"/>
              </a:rPr>
              <a:t>if it does</a:t>
            </a:r>
            <a:r>
              <a:rPr lang="en-US" altLang="en-US" i="1" dirty="0">
                <a:sym typeface="Greek Symbols"/>
              </a:rPr>
              <a:t>, A </a:t>
            </a:r>
            <a:r>
              <a:rPr lang="en-US" altLang="en-US" dirty="0">
                <a:sym typeface="Greek Symbols"/>
              </a:rPr>
              <a:t>is extraneous in </a:t>
            </a:r>
            <a:r>
              <a:rPr lang="en-US" altLang="en-US" dirty="0">
                <a:sym typeface="Symbol" panose="05050102010706020507" pitchFamily="18" charset="2"/>
              </a:rPr>
              <a:t></a:t>
            </a:r>
            <a:r>
              <a:rPr lang="en-US" altLang="en-US" dirty="0">
                <a:sym typeface="Greek Symbols"/>
              </a:rPr>
              <a:t> </a:t>
            </a:r>
          </a:p>
          <a:p>
            <a:pPr marL="381000" indent="-381000"/>
            <a:r>
              <a:rPr lang="en-US" altLang="en-US" dirty="0">
                <a:sym typeface="Monotype Sorts" pitchFamily="-84" charset="2"/>
              </a:rPr>
              <a:t>To test if attribute A </a:t>
            </a:r>
            <a:r>
              <a:rPr lang="en-US" altLang="en-US" dirty="0">
                <a:sym typeface="Symbol" panose="05050102010706020507" pitchFamily="18" charset="2"/>
              </a:rPr>
              <a:t> </a:t>
            </a:r>
            <a:r>
              <a:rPr lang="en-US" altLang="en-US" dirty="0">
                <a:sym typeface="Monotype Sorts" pitchFamily="-84" charset="2"/>
              </a:rPr>
              <a:t> is extraneous</a:t>
            </a:r>
            <a:r>
              <a:rPr lang="en-US" altLang="en-US" dirty="0">
                <a:solidFill>
                  <a:schemeClr val="tx2"/>
                </a:solidFill>
                <a:sym typeface="Monotype Sorts" pitchFamily="-84" charset="2"/>
              </a:rPr>
              <a:t> </a:t>
            </a:r>
            <a:r>
              <a:rPr lang="en-US" altLang="en-US" dirty="0">
                <a:sym typeface="Monotype Sorts" pitchFamily="-84" charset="2"/>
              </a:rPr>
              <a:t>in</a:t>
            </a:r>
            <a:r>
              <a:rPr lang="en-US" altLang="en-US" dirty="0">
                <a:solidFill>
                  <a:schemeClr val="tx2"/>
                </a:solidFill>
                <a:sym typeface="Monotype Sorts" pitchFamily="-84" charset="2"/>
              </a:rPr>
              <a:t> </a:t>
            </a:r>
            <a:r>
              <a:rPr lang="en-US" altLang="en-US" dirty="0">
                <a:sym typeface="Symbol" panose="05050102010706020507" pitchFamily="18" charset="2"/>
              </a:rPr>
              <a:t></a:t>
            </a:r>
            <a:r>
              <a:rPr lang="en-US" altLang="en-US" dirty="0">
                <a:solidFill>
                  <a:schemeClr val="tx2"/>
                </a:solidFill>
                <a:sym typeface="Monotype Sorts" pitchFamily="-84" charset="2"/>
              </a:rPr>
              <a:t> </a:t>
            </a:r>
          </a:p>
          <a:p>
            <a:pPr marL="800100" lvl="1" indent="-342900"/>
            <a:r>
              <a:rPr lang="en-US" altLang="en-US" dirty="0">
                <a:sym typeface="Greek Symbols"/>
              </a:rPr>
              <a:t>Let </a:t>
            </a:r>
            <a:r>
              <a:rPr lang="en-US" altLang="en-US" dirty="0">
                <a:sym typeface="Symbol" panose="05050102010706020507" pitchFamily="18" charset="2"/>
              </a:rPr>
              <a:t></a:t>
            </a:r>
            <a:r>
              <a:rPr lang="en-US" altLang="en-US" dirty="0">
                <a:sym typeface="Greek Symbols"/>
              </a:rPr>
              <a:t> = </a:t>
            </a:r>
            <a:r>
              <a:rPr lang="en-US" altLang="en-US" dirty="0">
                <a:sym typeface="Symbol" panose="05050102010706020507" pitchFamily="18" charset="2"/>
              </a:rPr>
              <a:t> </a:t>
            </a:r>
            <a:r>
              <a:rPr lang="en-US" altLang="en-US" dirty="0">
                <a:sym typeface="Greek Symbols"/>
              </a:rPr>
              <a:t>– {A</a:t>
            </a:r>
            <a:r>
              <a:rPr lang="en-US" altLang="en-US" dirty="0">
                <a:sym typeface="Symbol" panose="05050102010706020507" pitchFamily="18" charset="2"/>
              </a:rPr>
              <a:t>}. Check if  </a:t>
            </a:r>
            <a:r>
              <a:rPr lang="en-US" altLang="ja-JP" dirty="0">
                <a:sym typeface="Greek Symbols"/>
              </a:rPr>
              <a:t> </a:t>
            </a:r>
            <a:r>
              <a:rPr lang="en-US" altLang="ja-JP" dirty="0">
                <a:sym typeface="Symbol" panose="05050102010706020507" pitchFamily="18" charset="2"/>
              </a:rPr>
              <a:t></a:t>
            </a:r>
            <a:r>
              <a:rPr lang="en-US" altLang="ja-JP" dirty="0">
                <a:sym typeface="Monotype Sorts" pitchFamily="-84" charset="2"/>
              </a:rPr>
              <a:t> </a:t>
            </a:r>
            <a:r>
              <a:rPr lang="en-US" altLang="ja-JP" dirty="0">
                <a:sym typeface="Symbol" panose="05050102010706020507" pitchFamily="18" charset="2"/>
              </a:rPr>
              <a:t></a:t>
            </a:r>
            <a:r>
              <a:rPr lang="en-US" altLang="en-US" dirty="0">
                <a:sym typeface="Symbol" panose="05050102010706020507" pitchFamily="18" charset="2"/>
              </a:rPr>
              <a:t>  can be inferred  from </a:t>
            </a:r>
            <a:r>
              <a:rPr lang="en-US" altLang="en-US" i="1" dirty="0">
                <a:sym typeface="Symbol" panose="05050102010706020507" pitchFamily="18" charset="2"/>
              </a:rPr>
              <a:t>F. </a:t>
            </a:r>
          </a:p>
          <a:p>
            <a:pPr marL="1143000" lvl="2" indent="-342900"/>
            <a:r>
              <a:rPr lang="en-US" altLang="en-US" dirty="0">
                <a:sym typeface="Symbol" panose="05050102010706020507" pitchFamily="18" charset="2"/>
              </a:rPr>
              <a:t> Compute </a:t>
            </a:r>
            <a:r>
              <a:rPr lang="en-US" altLang="en-US" baseline="30000" dirty="0">
                <a:sym typeface="Greek Symbols"/>
              </a:rPr>
              <a:t>+ </a:t>
            </a:r>
            <a:r>
              <a:rPr lang="en-US" altLang="en-US" dirty="0">
                <a:sym typeface="Symbol" panose="05050102010706020507" pitchFamily="18" charset="2"/>
              </a:rPr>
              <a:t>using the dependencies in </a:t>
            </a:r>
            <a:r>
              <a:rPr lang="en-US" altLang="en-US" i="1" dirty="0">
                <a:sym typeface="Greek Symbols"/>
              </a:rPr>
              <a:t>F</a:t>
            </a:r>
            <a:r>
              <a:rPr lang="en-US" altLang="en-US" dirty="0">
                <a:sym typeface="Greek Symbols"/>
              </a:rPr>
              <a:t> </a:t>
            </a:r>
            <a:endParaRPr lang="en-US" altLang="en-US" dirty="0">
              <a:sym typeface="Symbol" panose="05050102010706020507" pitchFamily="18" charset="2"/>
            </a:endParaRPr>
          </a:p>
          <a:p>
            <a:pPr marL="1143000" lvl="2" indent="-342900"/>
            <a:r>
              <a:rPr lang="en-US" altLang="en-US" dirty="0">
                <a:sym typeface="Symbol" panose="05050102010706020507" pitchFamily="18" charset="2"/>
              </a:rPr>
              <a:t> If </a:t>
            </a:r>
            <a:r>
              <a:rPr lang="en-US" altLang="en-US" baseline="30000" dirty="0">
                <a:sym typeface="Greek Symbols"/>
              </a:rPr>
              <a:t>+  </a:t>
            </a:r>
            <a:r>
              <a:rPr lang="en-US" altLang="en-US" dirty="0">
                <a:sym typeface="Symbol" panose="05050102010706020507" pitchFamily="18" charset="2"/>
              </a:rPr>
              <a:t>includes all attributes in  then </a:t>
            </a:r>
            <a:r>
              <a:rPr lang="en-US" altLang="en-US" dirty="0">
                <a:sym typeface="Greek Symbols"/>
              </a:rPr>
              <a:t>, </a:t>
            </a:r>
            <a:r>
              <a:rPr lang="en-US" altLang="en-US" i="1" dirty="0">
                <a:sym typeface="Greek Symbols"/>
              </a:rPr>
              <a:t>A</a:t>
            </a:r>
            <a:r>
              <a:rPr lang="en-US" altLang="en-US" dirty="0">
                <a:sym typeface="Greek Symbols"/>
              </a:rPr>
              <a:t> is extraneous </a:t>
            </a:r>
            <a:r>
              <a:rPr lang="en-US" altLang="en-US" dirty="0">
                <a:sym typeface="Monotype Sorts" pitchFamily="-84" charset="2"/>
              </a:rPr>
              <a:t>in</a:t>
            </a:r>
            <a:r>
              <a:rPr lang="en-US" altLang="en-US" dirty="0">
                <a:solidFill>
                  <a:schemeClr val="tx2"/>
                </a:solidFill>
                <a:sym typeface="Monotype Sorts" pitchFamily="-84" charset="2"/>
              </a:rPr>
              <a:t> </a:t>
            </a:r>
            <a:r>
              <a:rPr lang="en-US" altLang="en-US" dirty="0">
                <a:sym typeface="Symbol" panose="05050102010706020507" pitchFamily="18" charset="2"/>
              </a:rPr>
              <a:t></a:t>
            </a:r>
            <a:r>
              <a:rPr lang="en-US" altLang="en-US" dirty="0">
                <a:solidFill>
                  <a:schemeClr val="tx2"/>
                </a:solidFill>
                <a:sym typeface="Monotype Sorts" pitchFamily="-84" charset="2"/>
              </a:rPr>
              <a:t> </a:t>
            </a:r>
            <a:endParaRPr lang="en-US" altLang="en-US" dirty="0">
              <a:sym typeface="Greek Symbols"/>
            </a:endParaRPr>
          </a:p>
          <a:p>
            <a:pPr marL="381000" indent="-381000">
              <a:buFont typeface="Monotype Sorts" pitchFamily="-84" charset="2"/>
              <a:buNone/>
            </a:pPr>
            <a:endParaRPr lang="en-US" altLang="en-US" dirty="0">
              <a:sym typeface="Greek Symbol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Examples of Extraneous Attributes</a:t>
            </a:r>
          </a:p>
        </p:txBody>
      </p:sp>
      <p:sp>
        <p:nvSpPr>
          <p:cNvPr id="715779" name="Rectangle 3"/>
          <p:cNvSpPr>
            <a:spLocks noGrp="1" noChangeArrowheads="1"/>
          </p:cNvSpPr>
          <p:nvPr>
            <p:ph type="body" idx="1"/>
          </p:nvPr>
        </p:nvSpPr>
        <p:spPr>
          <a:xfrm>
            <a:off x="768350" y="1163639"/>
            <a:ext cx="7709825" cy="2265362"/>
          </a:xfrm>
        </p:spPr>
        <p:txBody>
          <a:bodyPr/>
          <a:lstStyle/>
          <a:p>
            <a:r>
              <a:rPr lang="en-US" altLang="en-US" dirty="0"/>
              <a:t>Let </a:t>
            </a:r>
            <a:r>
              <a:rPr lang="en-US" altLang="en-US" i="1" dirty="0"/>
              <a:t>F</a:t>
            </a:r>
            <a:r>
              <a:rPr lang="en-US" altLang="en-US" dirty="0"/>
              <a:t> = {</a:t>
            </a:r>
            <a:r>
              <a:rPr lang="en-US" altLang="en-US" i="1" dirty="0"/>
              <a:t>AB</a:t>
            </a:r>
            <a:r>
              <a:rPr lang="en-US" altLang="en-US" dirty="0"/>
              <a:t> </a:t>
            </a:r>
            <a:r>
              <a:rPr lang="en-US" altLang="en-US" dirty="0">
                <a:sym typeface="Symbol" panose="05050102010706020507" pitchFamily="18" charset="2"/>
              </a:rPr>
              <a:t></a:t>
            </a:r>
            <a:r>
              <a:rPr lang="en-US" altLang="en-US" dirty="0"/>
              <a:t> </a:t>
            </a:r>
            <a:r>
              <a:rPr lang="en-US" altLang="en-US" i="1" dirty="0"/>
              <a:t>CD</a:t>
            </a:r>
            <a:r>
              <a:rPr lang="en-US" altLang="en-US" dirty="0"/>
              <a:t>, </a:t>
            </a:r>
            <a:r>
              <a:rPr lang="en-US" altLang="en-US" i="1" dirty="0"/>
              <a:t>A</a:t>
            </a:r>
            <a:r>
              <a:rPr lang="en-US" altLang="en-US" dirty="0"/>
              <a:t> </a:t>
            </a:r>
            <a:r>
              <a:rPr lang="en-US" altLang="en-US" dirty="0">
                <a:sym typeface="Symbol" panose="05050102010706020507" pitchFamily="18" charset="2"/>
              </a:rPr>
              <a:t></a:t>
            </a:r>
            <a:r>
              <a:rPr lang="en-US" altLang="en-US" dirty="0"/>
              <a:t> </a:t>
            </a:r>
            <a:r>
              <a:rPr lang="en-US" altLang="en-US" i="1" dirty="0"/>
              <a:t>E, E</a:t>
            </a:r>
            <a:r>
              <a:rPr lang="en-US" altLang="en-US" dirty="0"/>
              <a:t> </a:t>
            </a:r>
            <a:r>
              <a:rPr lang="en-US" altLang="en-US" dirty="0">
                <a:sym typeface="Symbol" panose="05050102010706020507" pitchFamily="18" charset="2"/>
              </a:rPr>
              <a:t></a:t>
            </a:r>
            <a:r>
              <a:rPr lang="en-US" altLang="en-US" dirty="0"/>
              <a:t> </a:t>
            </a:r>
            <a:r>
              <a:rPr lang="en-US" altLang="en-US" i="1" dirty="0"/>
              <a:t>C</a:t>
            </a:r>
            <a:r>
              <a:rPr lang="en-US" altLang="en-US" dirty="0"/>
              <a:t> }</a:t>
            </a:r>
          </a:p>
          <a:p>
            <a:r>
              <a:rPr lang="en-US" altLang="en-US" dirty="0"/>
              <a:t>To check if </a:t>
            </a:r>
            <a:r>
              <a:rPr lang="en-US" altLang="en-US" i="1" dirty="0"/>
              <a:t>C</a:t>
            </a:r>
            <a:r>
              <a:rPr lang="en-US" altLang="en-US" dirty="0"/>
              <a:t> is extraneous in </a:t>
            </a:r>
            <a:r>
              <a:rPr lang="en-US" altLang="en-US" i="1" dirty="0"/>
              <a:t>AB</a:t>
            </a:r>
            <a:r>
              <a:rPr lang="en-US" altLang="en-US" dirty="0"/>
              <a:t> </a:t>
            </a:r>
            <a:r>
              <a:rPr lang="en-US" altLang="en-US" dirty="0">
                <a:sym typeface="Symbol" panose="05050102010706020507" pitchFamily="18" charset="2"/>
              </a:rPr>
              <a:t></a:t>
            </a:r>
            <a:r>
              <a:rPr lang="en-US" altLang="en-US" i="1" dirty="0"/>
              <a:t> CD, </a:t>
            </a:r>
            <a:r>
              <a:rPr lang="en-US" altLang="en-US" dirty="0"/>
              <a:t>we:</a:t>
            </a:r>
          </a:p>
          <a:p>
            <a:pPr lvl="1"/>
            <a:r>
              <a:rPr lang="en-US" altLang="en-US" i="1" dirty="0"/>
              <a:t> </a:t>
            </a:r>
            <a:r>
              <a:rPr lang="en-US" altLang="en-US" dirty="0"/>
              <a:t>Compute the attribute closure of AB under </a:t>
            </a:r>
            <a:r>
              <a:rPr lang="en-US" altLang="en-US" i="1" dirty="0"/>
              <a:t>F</a:t>
            </a:r>
            <a:r>
              <a:rPr lang="en-US" altLang="en-US" dirty="0"/>
              <a:t>' = {</a:t>
            </a:r>
            <a:r>
              <a:rPr lang="en-US" altLang="en-US" i="1" dirty="0"/>
              <a:t>AB</a:t>
            </a:r>
            <a:r>
              <a:rPr lang="en-US" altLang="en-US" dirty="0"/>
              <a:t> </a:t>
            </a:r>
            <a:r>
              <a:rPr lang="en-US" altLang="en-US" dirty="0">
                <a:sym typeface="Symbol" panose="05050102010706020507" pitchFamily="18" charset="2"/>
              </a:rPr>
              <a:t></a:t>
            </a:r>
            <a:r>
              <a:rPr lang="en-US" altLang="en-US" i="1" dirty="0"/>
              <a:t> D,</a:t>
            </a:r>
            <a:r>
              <a:rPr lang="en-US" altLang="en-US" dirty="0"/>
              <a:t> </a:t>
            </a:r>
            <a:r>
              <a:rPr lang="en-US" altLang="en-US" i="1" dirty="0"/>
              <a:t>A</a:t>
            </a:r>
            <a:r>
              <a:rPr lang="en-US" altLang="en-US" dirty="0"/>
              <a:t> </a:t>
            </a:r>
            <a:r>
              <a:rPr lang="en-US" altLang="en-US" dirty="0">
                <a:sym typeface="Symbol" panose="05050102010706020507" pitchFamily="18" charset="2"/>
              </a:rPr>
              <a:t></a:t>
            </a:r>
            <a:r>
              <a:rPr lang="en-US" altLang="en-US" dirty="0"/>
              <a:t> </a:t>
            </a:r>
            <a:r>
              <a:rPr lang="en-US" altLang="en-US" i="1" dirty="0"/>
              <a:t>E, E</a:t>
            </a:r>
            <a:r>
              <a:rPr lang="en-US" altLang="en-US" dirty="0"/>
              <a:t> </a:t>
            </a:r>
            <a:r>
              <a:rPr lang="en-US" altLang="en-US" dirty="0">
                <a:sym typeface="Symbol" panose="05050102010706020507" pitchFamily="18" charset="2"/>
              </a:rPr>
              <a:t></a:t>
            </a:r>
            <a:r>
              <a:rPr lang="en-US" altLang="en-US" dirty="0"/>
              <a:t> </a:t>
            </a:r>
            <a:r>
              <a:rPr lang="en-US" altLang="en-US" i="1" dirty="0"/>
              <a:t>C}</a:t>
            </a:r>
          </a:p>
          <a:p>
            <a:pPr lvl="1"/>
            <a:r>
              <a:rPr lang="en-US" altLang="en-US" dirty="0"/>
              <a:t>The closure is </a:t>
            </a:r>
            <a:r>
              <a:rPr lang="en-US" altLang="en-US" i="1" dirty="0"/>
              <a:t>ABCDE, </a:t>
            </a:r>
            <a:r>
              <a:rPr lang="en-US" altLang="en-US" dirty="0"/>
              <a:t>which includes </a:t>
            </a:r>
            <a:r>
              <a:rPr lang="en-US" altLang="en-US" i="1" dirty="0"/>
              <a:t>CD</a:t>
            </a:r>
          </a:p>
          <a:p>
            <a:pPr lvl="1"/>
            <a:r>
              <a:rPr lang="en-US" altLang="en-US" dirty="0"/>
              <a:t>This implies tha</a:t>
            </a:r>
            <a:r>
              <a:rPr lang="en-US" altLang="en-US" i="1" dirty="0"/>
              <a:t>t C </a:t>
            </a:r>
            <a:r>
              <a:rPr lang="en-US" altLang="en-US" dirty="0"/>
              <a:t>is</a:t>
            </a:r>
            <a:r>
              <a:rPr lang="en-US" altLang="en-US" i="1" dirty="0"/>
              <a:t> </a:t>
            </a:r>
            <a:r>
              <a:rPr lang="en-US" altLang="en-US" dirty="0"/>
              <a:t>extraneous</a:t>
            </a:r>
            <a:endParaRPr lang="en-US" altLang="en-US" i="1" dirty="0"/>
          </a:p>
          <a:p>
            <a:pPr lvl="1"/>
            <a:endParaRPr lang="en-US" altLang="en-US" i="1" dirty="0"/>
          </a:p>
          <a:p>
            <a:pPr lvl="1">
              <a:buFont typeface="Monotype Sorts" pitchFamily="-84" charset="2"/>
              <a:buNone/>
            </a:pPr>
            <a:endParaRPr lang="en-US" altLang="en-US" i="1" dirty="0">
              <a:sym typeface="Greek Symbol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57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57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577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577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57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779"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Canonical Cover</a:t>
            </a:r>
          </a:p>
        </p:txBody>
      </p:sp>
      <p:sp>
        <p:nvSpPr>
          <p:cNvPr id="719875" name="Rectangle 3"/>
          <p:cNvSpPr>
            <a:spLocks noGrp="1" noChangeArrowheads="1"/>
          </p:cNvSpPr>
          <p:nvPr>
            <p:ph type="body" idx="1"/>
          </p:nvPr>
        </p:nvSpPr>
        <p:spPr>
          <a:xfrm>
            <a:off x="996955" y="1524586"/>
            <a:ext cx="7378695" cy="2505993"/>
          </a:xfrm>
        </p:spPr>
        <p:txBody>
          <a:bodyPr/>
          <a:lstStyle/>
          <a:p>
            <a:pPr>
              <a:lnSpc>
                <a:spcPct val="90000"/>
              </a:lnSpc>
            </a:pPr>
            <a:r>
              <a:rPr lang="en-US" altLang="en-US" i="1" dirty="0">
                <a:sym typeface="Greek Symbols"/>
              </a:rPr>
              <a:t>F</a:t>
            </a:r>
            <a:r>
              <a:rPr lang="en-US" altLang="en-US" dirty="0">
                <a:sym typeface="Greek Symbols"/>
              </a:rPr>
              <a:t> logically implies all dependencies in </a:t>
            </a:r>
            <a:r>
              <a:rPr lang="en-US" altLang="en-US" i="1" dirty="0">
                <a:sym typeface="Greek Symbols"/>
              </a:rPr>
              <a:t>F</a:t>
            </a:r>
            <a:r>
              <a:rPr lang="en-US" altLang="en-US" i="1" baseline="-25000" dirty="0">
                <a:sym typeface="Greek Symbols"/>
              </a:rPr>
              <a:t>c</a:t>
            </a:r>
            <a:r>
              <a:rPr lang="en-US" altLang="en-US" dirty="0">
                <a:sym typeface="Greek Symbols"/>
              </a:rPr>
              <a:t> , and </a:t>
            </a:r>
          </a:p>
          <a:p>
            <a:pPr>
              <a:lnSpc>
                <a:spcPct val="90000"/>
              </a:lnSpc>
            </a:pPr>
            <a:r>
              <a:rPr lang="en-US" altLang="en-US" i="1" dirty="0">
                <a:sym typeface="Greek Symbols"/>
              </a:rPr>
              <a:t>F</a:t>
            </a:r>
            <a:r>
              <a:rPr lang="en-US" altLang="en-US" i="1" baseline="-25000" dirty="0">
                <a:sym typeface="Greek Symbols"/>
              </a:rPr>
              <a:t>c</a:t>
            </a:r>
            <a:r>
              <a:rPr lang="en-US" altLang="en-US" baseline="-25000" dirty="0">
                <a:sym typeface="Greek Symbols"/>
              </a:rPr>
              <a:t> </a:t>
            </a:r>
            <a:r>
              <a:rPr lang="en-US" altLang="en-US" dirty="0">
                <a:sym typeface="Greek Symbols"/>
              </a:rPr>
              <a:t>logically implies all dependencies in </a:t>
            </a:r>
            <a:r>
              <a:rPr lang="en-US" altLang="en-US" i="1" dirty="0">
                <a:sym typeface="Greek Symbols"/>
              </a:rPr>
              <a:t>F,</a:t>
            </a:r>
            <a:r>
              <a:rPr lang="en-US" altLang="en-US" dirty="0">
                <a:sym typeface="Greek Symbols"/>
              </a:rPr>
              <a:t> and</a:t>
            </a:r>
          </a:p>
          <a:p>
            <a:pPr>
              <a:lnSpc>
                <a:spcPct val="90000"/>
              </a:lnSpc>
            </a:pPr>
            <a:r>
              <a:rPr lang="en-US" altLang="en-US" dirty="0">
                <a:sym typeface="Greek Symbols"/>
              </a:rPr>
              <a:t>No functional dependency in </a:t>
            </a:r>
            <a:r>
              <a:rPr lang="en-US" altLang="en-US" i="1" dirty="0">
                <a:sym typeface="Greek Symbols"/>
              </a:rPr>
              <a:t>F</a:t>
            </a:r>
            <a:r>
              <a:rPr lang="en-US" altLang="en-US" i="1" baseline="-25000" dirty="0">
                <a:sym typeface="Greek Symbols"/>
              </a:rPr>
              <a:t>c</a:t>
            </a:r>
            <a:r>
              <a:rPr lang="en-US" altLang="en-US" dirty="0">
                <a:sym typeface="Greek Symbols"/>
              </a:rPr>
              <a:t> contains an extraneous attribute, and</a:t>
            </a:r>
          </a:p>
          <a:p>
            <a:pPr>
              <a:lnSpc>
                <a:spcPct val="90000"/>
              </a:lnSpc>
            </a:pPr>
            <a:r>
              <a:rPr lang="en-US" altLang="en-US" dirty="0">
                <a:sym typeface="Greek Symbols"/>
              </a:rPr>
              <a:t>Each left side of functional dependency in </a:t>
            </a:r>
            <a:r>
              <a:rPr lang="en-US" altLang="en-US" i="1" dirty="0">
                <a:sym typeface="Greek Symbols"/>
              </a:rPr>
              <a:t>F</a:t>
            </a:r>
            <a:r>
              <a:rPr lang="en-US" altLang="en-US" i="1" baseline="-25000" dirty="0">
                <a:sym typeface="Greek Symbols"/>
              </a:rPr>
              <a:t>c</a:t>
            </a:r>
            <a:r>
              <a:rPr lang="en-US" altLang="en-US" i="1" dirty="0">
                <a:sym typeface="Greek Symbols"/>
              </a:rPr>
              <a:t> </a:t>
            </a:r>
            <a:r>
              <a:rPr lang="en-US" altLang="en-US" dirty="0">
                <a:sym typeface="Greek Symbols"/>
              </a:rPr>
              <a:t>is unique. That is, there are no two dependencies in </a:t>
            </a:r>
            <a:r>
              <a:rPr lang="en-US" altLang="en-US" i="1" dirty="0">
                <a:sym typeface="Greek Symbols"/>
              </a:rPr>
              <a:t>F</a:t>
            </a:r>
            <a:r>
              <a:rPr lang="en-US" altLang="en-US" i="1" baseline="-25000" dirty="0">
                <a:sym typeface="Greek Symbols"/>
              </a:rPr>
              <a:t>c</a:t>
            </a:r>
            <a:endParaRPr lang="en-US" altLang="en-US" dirty="0">
              <a:sym typeface="Greek Symbols"/>
            </a:endParaRPr>
          </a:p>
          <a:p>
            <a:pPr lvl="1">
              <a:lnSpc>
                <a:spcPct val="90000"/>
              </a:lnSpc>
            </a:pP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and </a:t>
            </a:r>
            <a:r>
              <a:rPr lang="en-US" altLang="en-US" dirty="0">
                <a:sym typeface="Symbol" panose="05050102010706020507" pitchFamily="18" charset="2"/>
              </a:rPr>
              <a:t></a:t>
            </a:r>
            <a:r>
              <a:rPr lang="en-US" altLang="en-US" baseline="-25000" dirty="0">
                <a:sym typeface="Greek Symbols"/>
              </a:rPr>
              <a:t>2</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baseline="-25000" dirty="0">
                <a:sym typeface="Greek Symbols"/>
              </a:rPr>
              <a:t>2</a:t>
            </a:r>
            <a:r>
              <a:rPr lang="en-US" altLang="en-US" dirty="0">
                <a:sym typeface="Greek Symbols"/>
              </a:rPr>
              <a:t> such that </a:t>
            </a:r>
          </a:p>
          <a:p>
            <a:pPr lvl="1">
              <a:lnSpc>
                <a:spcPct val="90000"/>
              </a:lnSpc>
            </a:pP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baseline="-25000" dirty="0">
                <a:sym typeface="Greek Symbols"/>
              </a:rPr>
              <a:t>2</a:t>
            </a:r>
          </a:p>
          <a:p>
            <a:pPr>
              <a:lnSpc>
                <a:spcPct val="90000"/>
              </a:lnSpc>
              <a:buFont typeface="Monotype Sorts" pitchFamily="-84" charset="2"/>
              <a:buNone/>
            </a:pPr>
            <a:r>
              <a:rPr lang="en-US" altLang="en-US" dirty="0">
                <a:sym typeface="Greek Symbols"/>
              </a:rPr>
              <a:t> </a:t>
            </a:r>
          </a:p>
          <a:p>
            <a:pPr lvl="1">
              <a:lnSpc>
                <a:spcPct val="90000"/>
              </a:lnSpc>
              <a:buFont typeface="Monotype Sorts" pitchFamily="-84" charset="2"/>
              <a:buNone/>
            </a:pPr>
            <a:endParaRPr lang="en-US" altLang="en-US" dirty="0">
              <a:sym typeface="Greek Symbols"/>
            </a:endParaRPr>
          </a:p>
          <a:p>
            <a:pPr>
              <a:lnSpc>
                <a:spcPct val="90000"/>
              </a:lnSpc>
            </a:pPr>
            <a:endParaRPr lang="en-US" altLang="en-US" dirty="0">
              <a:sym typeface="Greek Symbols"/>
            </a:endParaRPr>
          </a:p>
          <a:p>
            <a:pPr>
              <a:lnSpc>
                <a:spcPct val="90000"/>
              </a:lnSpc>
            </a:pPr>
            <a:endParaRPr lang="en-US" altLang="en-US" dirty="0"/>
          </a:p>
        </p:txBody>
      </p:sp>
      <p:sp>
        <p:nvSpPr>
          <p:cNvPr id="2" name="TextBox 1"/>
          <p:cNvSpPr txBox="1"/>
          <p:nvPr/>
        </p:nvSpPr>
        <p:spPr>
          <a:xfrm>
            <a:off x="768350" y="1118934"/>
            <a:ext cx="6534813" cy="615553"/>
          </a:xfrm>
          <a:prstGeom prst="rect">
            <a:avLst/>
          </a:prstGeom>
          <a:noFill/>
        </p:spPr>
        <p:txBody>
          <a:bodyPr wrap="square" rtlCol="0">
            <a:spAutoFit/>
          </a:bodyPr>
          <a:lstStyle/>
          <a:p>
            <a:r>
              <a:rPr lang="en-US" altLang="en-US" sz="1700" dirty="0">
                <a:sym typeface="Greek Symbols"/>
              </a:rPr>
              <a:t>A </a:t>
            </a:r>
            <a:r>
              <a:rPr lang="en-US" altLang="en-US" sz="1700" b="1" dirty="0">
                <a:solidFill>
                  <a:srgbClr val="002060"/>
                </a:solidFill>
                <a:sym typeface="Greek Symbols"/>
              </a:rPr>
              <a:t>canonical cover</a:t>
            </a:r>
            <a:r>
              <a:rPr lang="en-US" altLang="en-US" sz="1700" i="1" dirty="0">
                <a:solidFill>
                  <a:srgbClr val="002060"/>
                </a:solidFill>
                <a:sym typeface="Greek Symbols"/>
              </a:rPr>
              <a:t> </a:t>
            </a:r>
            <a:r>
              <a:rPr lang="en-US" altLang="en-US" sz="1700" dirty="0">
                <a:sym typeface="Greek Symbols"/>
              </a:rPr>
              <a:t>for </a:t>
            </a:r>
            <a:r>
              <a:rPr lang="en-US" altLang="en-US" sz="1700" i="1" dirty="0">
                <a:sym typeface="Greek Symbols"/>
              </a:rPr>
              <a:t>F</a:t>
            </a:r>
            <a:r>
              <a:rPr lang="en-US" altLang="en-US" sz="1700" dirty="0">
                <a:sym typeface="Greek Symbols"/>
              </a:rPr>
              <a:t> is a set of dependencies </a:t>
            </a:r>
            <a:r>
              <a:rPr lang="en-US" altLang="en-US" sz="1700" i="1" dirty="0">
                <a:sym typeface="Greek Symbols"/>
              </a:rPr>
              <a:t>F</a:t>
            </a:r>
            <a:r>
              <a:rPr lang="en-US" altLang="en-US" sz="1700" i="1" baseline="-25000" dirty="0">
                <a:sym typeface="Greek Symbols"/>
              </a:rPr>
              <a:t>c </a:t>
            </a:r>
            <a:r>
              <a:rPr lang="en-US" altLang="en-US" sz="1700" dirty="0">
                <a:sym typeface="Greek Symbols"/>
              </a:rPr>
              <a:t>such that </a:t>
            </a:r>
          </a:p>
          <a:p>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98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98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98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7198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719875">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98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5"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Canonical Cover</a:t>
            </a:r>
          </a:p>
        </p:txBody>
      </p:sp>
      <p:sp>
        <p:nvSpPr>
          <p:cNvPr id="719875" name="Rectangle 3"/>
          <p:cNvSpPr>
            <a:spLocks noGrp="1" noChangeArrowheads="1"/>
          </p:cNvSpPr>
          <p:nvPr>
            <p:ph type="body" idx="1"/>
          </p:nvPr>
        </p:nvSpPr>
        <p:spPr>
          <a:xfrm>
            <a:off x="768350" y="1154098"/>
            <a:ext cx="7603293" cy="4139797"/>
          </a:xfrm>
        </p:spPr>
        <p:txBody>
          <a:bodyPr/>
          <a:lstStyle/>
          <a:p>
            <a:pPr>
              <a:lnSpc>
                <a:spcPct val="90000"/>
              </a:lnSpc>
            </a:pPr>
            <a:r>
              <a:rPr lang="en-US" altLang="en-US" dirty="0"/>
              <a:t>To compute a canonical cover for </a:t>
            </a:r>
            <a:r>
              <a:rPr lang="en-US" altLang="en-US" i="1" dirty="0"/>
              <a:t>F</a:t>
            </a:r>
            <a:r>
              <a:rPr lang="en-US" altLang="en-US" dirty="0"/>
              <a:t>:</a:t>
            </a:r>
          </a:p>
          <a:p>
            <a:pPr>
              <a:lnSpc>
                <a:spcPct val="90000"/>
              </a:lnSpc>
              <a:buFont typeface="Monotype Sorts" pitchFamily="-84" charset="2"/>
              <a:buNone/>
            </a:pPr>
            <a:r>
              <a:rPr lang="en-US" altLang="en-US" sz="800" dirty="0"/>
              <a:t> </a:t>
            </a:r>
            <a:r>
              <a:rPr lang="en-US" altLang="en-US" dirty="0"/>
              <a:t/>
            </a:r>
            <a:br>
              <a:rPr lang="en-US" altLang="en-US" dirty="0"/>
            </a:br>
            <a:r>
              <a:rPr lang="en-US" altLang="en-US" b="1" dirty="0"/>
              <a:t>repeat</a:t>
            </a:r>
          </a:p>
          <a:p>
            <a:pPr>
              <a:lnSpc>
                <a:spcPct val="90000"/>
              </a:lnSpc>
              <a:buFont typeface="Monotype Sorts" pitchFamily="-84" charset="2"/>
              <a:buNone/>
            </a:pPr>
            <a:r>
              <a:rPr lang="en-US" altLang="en-US" b="1" dirty="0"/>
              <a:t>	         </a:t>
            </a:r>
            <a:r>
              <a:rPr lang="en-US" altLang="en-US" dirty="0"/>
              <a:t>Use the union rule to replace any dependencies in </a:t>
            </a:r>
            <a:r>
              <a:rPr lang="en-US" altLang="en-US" i="1" dirty="0"/>
              <a:t>F </a:t>
            </a:r>
            <a:r>
              <a:rPr lang="en-US" altLang="en-US" dirty="0"/>
              <a:t>of the form</a:t>
            </a:r>
          </a:p>
          <a:p>
            <a:pPr>
              <a:lnSpc>
                <a:spcPct val="90000"/>
              </a:lnSpc>
              <a:buFont typeface="Monotype Sorts" pitchFamily="-84" charset="2"/>
              <a:buNone/>
            </a:pPr>
            <a:r>
              <a:rPr lang="en-US" altLang="en-US" sz="800" i="1" dirty="0"/>
              <a:t> </a:t>
            </a:r>
            <a:r>
              <a:rPr lang="en-US" altLang="en-US" i="1" dirty="0"/>
              <a:t/>
            </a:r>
            <a:br>
              <a:rPr lang="en-US" altLang="en-US" i="1" dirty="0"/>
            </a:br>
            <a:r>
              <a:rPr lang="en-US" altLang="en-US" i="1" dirty="0"/>
              <a:t>		 </a:t>
            </a: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and </a:t>
            </a: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baseline="-25000" dirty="0">
                <a:sym typeface="Greek Symbols"/>
              </a:rPr>
              <a:t>2</a:t>
            </a:r>
            <a:r>
              <a:rPr lang="en-US" altLang="en-US" dirty="0">
                <a:sym typeface="Greek Symbols"/>
              </a:rPr>
              <a:t> with </a:t>
            </a: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baseline="-25000" dirty="0">
                <a:sym typeface="Greek Symbols"/>
              </a:rPr>
              <a:t>1</a:t>
            </a:r>
            <a:r>
              <a:rPr lang="en-US" altLang="en-US" dirty="0">
                <a:sym typeface="Greek Symbols"/>
              </a:rPr>
              <a:t> </a:t>
            </a:r>
            <a:r>
              <a:rPr lang="en-US" altLang="en-US" dirty="0">
                <a:sym typeface="Symbol" panose="05050102010706020507" pitchFamily="18" charset="2"/>
              </a:rPr>
              <a:t></a:t>
            </a:r>
            <a:r>
              <a:rPr lang="en-US" altLang="en-US" baseline="-25000" dirty="0">
                <a:sym typeface="Greek Symbols"/>
              </a:rPr>
              <a:t>2</a:t>
            </a:r>
          </a:p>
          <a:p>
            <a:pPr>
              <a:lnSpc>
                <a:spcPct val="90000"/>
              </a:lnSpc>
              <a:spcBef>
                <a:spcPts val="0"/>
              </a:spcBef>
              <a:buFont typeface="Monotype Sorts" pitchFamily="-84" charset="2"/>
              <a:buNone/>
            </a:pPr>
            <a:r>
              <a:rPr lang="en-US" altLang="en-US" sz="800" dirty="0">
                <a:sym typeface="Greek Symbols"/>
              </a:rPr>
              <a:t> </a:t>
            </a:r>
            <a:r>
              <a:rPr lang="en-US" altLang="en-US" dirty="0">
                <a:sym typeface="Greek Symbols"/>
              </a:rPr>
              <a:t/>
            </a:r>
            <a:br>
              <a:rPr lang="en-US" altLang="en-US" dirty="0">
                <a:sym typeface="Greek Symbols"/>
              </a:rPr>
            </a:br>
            <a:r>
              <a:rPr lang="en-US" altLang="en-US" dirty="0">
                <a:sym typeface="Greek Symbols"/>
              </a:rPr>
              <a:t>	Find a functional dependency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dirty="0">
                <a:sym typeface="Greek Symbols"/>
              </a:rPr>
              <a:t>  in </a:t>
            </a:r>
            <a:r>
              <a:rPr lang="en-US" altLang="en-US" i="1" dirty="0">
                <a:sym typeface="Greek Symbols"/>
              </a:rPr>
              <a:t>F</a:t>
            </a:r>
            <a:r>
              <a:rPr lang="en-US" altLang="en-US" i="1" baseline="-25000" dirty="0">
                <a:sym typeface="Greek Symbols"/>
              </a:rPr>
              <a:t>c</a:t>
            </a:r>
            <a:r>
              <a:rPr lang="en-US" altLang="en-US" dirty="0">
                <a:sym typeface="Greek Symbols"/>
              </a:rPr>
              <a:t> with an extraneous  </a:t>
            </a:r>
          </a:p>
          <a:p>
            <a:pPr>
              <a:lnSpc>
                <a:spcPct val="90000"/>
              </a:lnSpc>
              <a:spcBef>
                <a:spcPts val="0"/>
              </a:spcBef>
              <a:buFont typeface="Monotype Sorts" pitchFamily="-84" charset="2"/>
              <a:buNone/>
            </a:pPr>
            <a:r>
              <a:rPr lang="en-US" altLang="en-US" dirty="0">
                <a:sym typeface="Greek Symbols"/>
              </a:rPr>
              <a:t>               attribute either in </a:t>
            </a:r>
            <a:r>
              <a:rPr lang="en-US" altLang="en-US" dirty="0">
                <a:sym typeface="Symbol" panose="05050102010706020507" pitchFamily="18" charset="2"/>
              </a:rPr>
              <a:t></a:t>
            </a:r>
            <a:r>
              <a:rPr lang="en-US" altLang="en-US" dirty="0">
                <a:sym typeface="Greek Symbols"/>
              </a:rPr>
              <a:t> or in </a:t>
            </a:r>
            <a:r>
              <a:rPr lang="en-US" altLang="en-US" dirty="0">
                <a:sym typeface="Symbol" panose="05050102010706020507" pitchFamily="18" charset="2"/>
              </a:rPr>
              <a:t></a:t>
            </a:r>
            <a:r>
              <a:rPr lang="en-US" altLang="en-US" dirty="0">
                <a:sym typeface="Monotype Sorts" pitchFamily="-84" charset="2"/>
              </a:rPr>
              <a:t> </a:t>
            </a:r>
          </a:p>
          <a:p>
            <a:pPr>
              <a:lnSpc>
                <a:spcPct val="90000"/>
              </a:lnSpc>
              <a:buFont typeface="Monotype Sorts" pitchFamily="-84" charset="2"/>
              <a:buNone/>
            </a:pPr>
            <a:r>
              <a:rPr lang="en-US" altLang="en-US" sz="800" dirty="0">
                <a:sym typeface="Greek Symbols"/>
              </a:rPr>
              <a:t/>
            </a:r>
            <a:br>
              <a:rPr lang="en-US" altLang="en-US" sz="800" dirty="0">
                <a:sym typeface="Greek Symbols"/>
              </a:rPr>
            </a:br>
            <a:r>
              <a:rPr lang="en-US" altLang="en-US" dirty="0">
                <a:sym typeface="Greek Symbols"/>
              </a:rPr>
              <a:t>                /* Note: test for extraneous attributes done using </a:t>
            </a:r>
            <a:r>
              <a:rPr lang="en-US" altLang="en-US" i="1" dirty="0">
                <a:sym typeface="Greek Symbols"/>
              </a:rPr>
              <a:t>F</a:t>
            </a:r>
            <a:r>
              <a:rPr lang="en-US" altLang="en-US" i="1" baseline="-25000" dirty="0">
                <a:sym typeface="Greek Symbols"/>
              </a:rPr>
              <a:t>c,</a:t>
            </a:r>
            <a:r>
              <a:rPr lang="en-US" altLang="en-US" dirty="0">
                <a:sym typeface="Greek Symbols"/>
              </a:rPr>
              <a:t> not F*/</a:t>
            </a:r>
          </a:p>
          <a:p>
            <a:pPr>
              <a:lnSpc>
                <a:spcPct val="90000"/>
              </a:lnSpc>
              <a:buFont typeface="Monotype Sorts" pitchFamily="-84" charset="2"/>
              <a:buNone/>
            </a:pPr>
            <a:r>
              <a:rPr lang="en-US" altLang="en-US" sz="800" dirty="0">
                <a:sym typeface="Greek Symbols"/>
              </a:rPr>
              <a:t> </a:t>
            </a:r>
            <a:r>
              <a:rPr lang="en-US" altLang="en-US" dirty="0">
                <a:sym typeface="Greek Symbols"/>
              </a:rPr>
              <a:t/>
            </a:r>
            <a:br>
              <a:rPr lang="en-US" altLang="en-US" dirty="0">
                <a:sym typeface="Greek Symbols"/>
              </a:rPr>
            </a:br>
            <a:r>
              <a:rPr lang="en-US" altLang="en-US" dirty="0">
                <a:sym typeface="Greek Symbols"/>
              </a:rPr>
              <a:t> 	If an extraneous attribute is found, delete it from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r>
              <a:rPr lang="en-US" altLang="en-US" i="1" dirty="0">
                <a:sym typeface="Greek Symbols"/>
              </a:rPr>
              <a:t> </a:t>
            </a:r>
          </a:p>
          <a:p>
            <a:pPr>
              <a:lnSpc>
                <a:spcPct val="90000"/>
              </a:lnSpc>
              <a:buFont typeface="Monotype Sorts" pitchFamily="-84" charset="2"/>
              <a:buNone/>
            </a:pPr>
            <a:r>
              <a:rPr lang="en-US" altLang="en-US" sz="800" dirty="0">
                <a:sym typeface="Greek Symbols"/>
              </a:rPr>
              <a:t/>
            </a:r>
            <a:br>
              <a:rPr lang="en-US" altLang="en-US" sz="800" dirty="0">
                <a:sym typeface="Greek Symbols"/>
              </a:rPr>
            </a:br>
            <a:r>
              <a:rPr lang="en-US" altLang="en-US" b="1" dirty="0">
                <a:sym typeface="Greek Symbols"/>
              </a:rPr>
              <a:t>until  </a:t>
            </a:r>
            <a:r>
              <a:rPr lang="en-US" altLang="en-US" dirty="0">
                <a:sym typeface="Greek Symbols"/>
              </a:rPr>
              <a:t>(</a:t>
            </a:r>
            <a:r>
              <a:rPr lang="en-US" altLang="en-US" i="1" dirty="0">
                <a:sym typeface="Greek Symbols"/>
              </a:rPr>
              <a:t>F</a:t>
            </a:r>
            <a:r>
              <a:rPr lang="en-US" altLang="en-US" i="1" baseline="-25000" dirty="0">
                <a:sym typeface="Greek Symbols"/>
              </a:rPr>
              <a:t>c</a:t>
            </a:r>
            <a:r>
              <a:rPr lang="en-US" altLang="en-US" dirty="0">
                <a:sym typeface="Greek Symbols"/>
              </a:rPr>
              <a:t> not change</a:t>
            </a:r>
          </a:p>
          <a:p>
            <a:pPr>
              <a:lnSpc>
                <a:spcPct val="90000"/>
              </a:lnSpc>
              <a:buFont typeface="Monotype Sorts" pitchFamily="-84" charset="2"/>
              <a:buNone/>
            </a:pPr>
            <a:r>
              <a:rPr lang="en-US" altLang="en-US" sz="800" dirty="0">
                <a:sym typeface="Greek Symbols"/>
              </a:rPr>
              <a:t> </a:t>
            </a:r>
          </a:p>
          <a:p>
            <a:pPr>
              <a:lnSpc>
                <a:spcPct val="90000"/>
              </a:lnSpc>
            </a:pPr>
            <a:r>
              <a:rPr lang="en-US" altLang="en-US" dirty="0">
                <a:sym typeface="Greek Symbols"/>
              </a:rPr>
              <a:t>Note: Union rule may become applicable after some extraneous attributes have been deleted, so it has to be re-applied</a:t>
            </a:r>
          </a:p>
          <a:p>
            <a:pPr>
              <a:lnSpc>
                <a:spcPct val="90000"/>
              </a:lnSpc>
            </a:pPr>
            <a:endParaRPr lang="en-US" altLang="en-US" dirty="0">
              <a:sym typeface="Greek Symbol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98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a:xfrm>
            <a:off x="919163" y="223838"/>
            <a:ext cx="8277225" cy="457200"/>
          </a:xfrm>
        </p:spPr>
        <p:txBody>
          <a:bodyPr/>
          <a:lstStyle/>
          <a:p>
            <a:pPr>
              <a:defRPr/>
            </a:pPr>
            <a:r>
              <a:rPr lang="en-US" altLang="en-US" dirty="0">
                <a:effectLst>
                  <a:outerShdw blurRad="38100" dist="38100" dir="2700000" algn="tl">
                    <a:srgbClr val="C0C0C0"/>
                  </a:outerShdw>
                </a:effectLst>
                <a:ea typeface="ＭＳ Ｐゴシック" pitchFamily="34" charset="-128"/>
              </a:rPr>
              <a:t>Example: Computing a Canonical Cover</a:t>
            </a:r>
          </a:p>
        </p:txBody>
      </p:sp>
      <p:sp>
        <p:nvSpPr>
          <p:cNvPr id="59395" name="Rectangle 3"/>
          <p:cNvSpPr>
            <a:spLocks noGrp="1" noChangeArrowheads="1"/>
          </p:cNvSpPr>
          <p:nvPr>
            <p:ph type="body" idx="1"/>
          </p:nvPr>
        </p:nvSpPr>
        <p:spPr>
          <a:xfrm>
            <a:off x="754603" y="1029809"/>
            <a:ext cx="7688062" cy="5334896"/>
          </a:xfrm>
        </p:spPr>
        <p:txBody>
          <a:bodyPr/>
          <a:lstStyle/>
          <a:p>
            <a:pPr>
              <a:tabLst>
                <a:tab pos="684213" algn="l"/>
                <a:tab pos="2917825" algn="l"/>
              </a:tabLst>
            </a:pPr>
            <a:r>
              <a:rPr lang="en-US" altLang="en-US" sz="1600" i="1" dirty="0"/>
              <a:t>R </a:t>
            </a:r>
            <a:r>
              <a:rPr lang="en-US" altLang="en-US" sz="1600" dirty="0"/>
              <a:t>= (</a:t>
            </a:r>
            <a:r>
              <a:rPr lang="en-US" altLang="en-US" sz="1600" i="1" dirty="0"/>
              <a:t>A, B, C)</a:t>
            </a:r>
            <a:br>
              <a:rPr lang="en-US" altLang="en-US" sz="1600" i="1" dirty="0"/>
            </a:br>
            <a:r>
              <a:rPr lang="en-US" altLang="en-US" sz="1600" i="1" dirty="0"/>
              <a:t>F = {A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BC</a:t>
            </a:r>
            <a:br>
              <a:rPr lang="en-US" altLang="en-US" sz="1600" i="1" dirty="0">
                <a:sym typeface="Monotype Sorts" pitchFamily="-84" charset="2"/>
              </a:rPr>
            </a:br>
            <a:r>
              <a:rPr lang="en-US" altLang="en-US" sz="1600" i="1" dirty="0">
                <a:sym typeface="Monotype Sorts" pitchFamily="-84" charset="2"/>
              </a:rPr>
              <a:t>	  B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a:t>
            </a:r>
            <a:br>
              <a:rPr lang="en-US" altLang="en-US" sz="1600" i="1" dirty="0">
                <a:sym typeface="Monotype Sorts" pitchFamily="-84" charset="2"/>
              </a:rPr>
            </a:br>
            <a:r>
              <a:rPr lang="en-US" altLang="en-US" sz="1600" i="1" dirty="0">
                <a:sym typeface="Monotype Sorts" pitchFamily="-84" charset="2"/>
              </a:rPr>
              <a:t>	  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a:t>
            </a:r>
            <a:r>
              <a:rPr lang="en-US" altLang="en-US" sz="1600" dirty="0">
                <a:sym typeface="Monotype Sorts" pitchFamily="-84" charset="2"/>
              </a:rPr>
              <a:t/>
            </a:r>
            <a:br>
              <a:rPr lang="en-US" altLang="en-US" sz="1600" dirty="0">
                <a:sym typeface="Monotype Sorts" pitchFamily="-84" charset="2"/>
              </a:rPr>
            </a:br>
            <a:r>
              <a:rPr lang="en-US" altLang="en-US" sz="1600" dirty="0">
                <a:sym typeface="Monotype Sorts" pitchFamily="-84" charset="2"/>
              </a:rPr>
              <a:t>	</a:t>
            </a:r>
            <a:r>
              <a:rPr lang="en-US" altLang="en-US" sz="1600" i="1" dirty="0">
                <a:sym typeface="Monotype Sorts" pitchFamily="-84" charset="2"/>
              </a:rPr>
              <a:t>AB</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a:t>
            </a:r>
            <a:r>
              <a:rPr lang="en-US" altLang="en-US" sz="1600" dirty="0">
                <a:sym typeface="Monotype Sorts" pitchFamily="-84" charset="2"/>
              </a:rPr>
              <a:t>}</a:t>
            </a:r>
          </a:p>
          <a:p>
            <a:pPr>
              <a:tabLst>
                <a:tab pos="684213" algn="l"/>
                <a:tab pos="2917825" algn="l"/>
              </a:tabLst>
            </a:pPr>
            <a:r>
              <a:rPr lang="en-US" altLang="en-US" sz="1600" dirty="0">
                <a:sym typeface="Monotype Sorts" pitchFamily="-84" charset="2"/>
              </a:rPr>
              <a:t>Combine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BC </a:t>
            </a:r>
            <a:r>
              <a:rPr lang="en-US" altLang="en-US" sz="1600" dirty="0">
                <a:sym typeface="Monotype Sorts" pitchFamily="-84" charset="2"/>
              </a:rPr>
              <a:t>and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 </a:t>
            </a:r>
            <a:r>
              <a:rPr lang="en-US" altLang="en-US" sz="1600" dirty="0">
                <a:sym typeface="Monotype Sorts" pitchFamily="-84" charset="2"/>
              </a:rPr>
              <a:t>into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BC</a:t>
            </a:r>
          </a:p>
          <a:p>
            <a:pPr lvl="1">
              <a:tabLst>
                <a:tab pos="684213" algn="l"/>
                <a:tab pos="2917825" algn="l"/>
              </a:tabLst>
            </a:pPr>
            <a:r>
              <a:rPr lang="en-US" altLang="en-US" sz="1600" dirty="0">
                <a:sym typeface="Monotype Sorts" pitchFamily="-84" charset="2"/>
              </a:rPr>
              <a:t>Set is now </a:t>
            </a:r>
            <a:r>
              <a:rPr lang="en-US" altLang="en-US" sz="1600" i="1" dirty="0"/>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BC, B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 AB</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a:t>
            </a:r>
            <a:r>
              <a:rPr lang="en-US" altLang="en-US" sz="1600" dirty="0">
                <a:sym typeface="Monotype Sorts" pitchFamily="-84" charset="2"/>
              </a:rPr>
              <a:t>}</a:t>
            </a:r>
          </a:p>
          <a:p>
            <a:pPr>
              <a:tabLst>
                <a:tab pos="684213" algn="l"/>
                <a:tab pos="2917825" algn="l"/>
              </a:tabLst>
            </a:pPr>
            <a:r>
              <a:rPr lang="en-US" altLang="en-US" sz="1600" i="1" dirty="0">
                <a:sym typeface="Monotype Sorts" pitchFamily="-84" charset="2"/>
              </a:rPr>
              <a:t>A</a:t>
            </a:r>
            <a:r>
              <a:rPr lang="en-US" altLang="en-US" sz="1600" dirty="0">
                <a:sym typeface="Monotype Sorts" pitchFamily="-84" charset="2"/>
              </a:rPr>
              <a:t> is extraneous in </a:t>
            </a:r>
            <a:r>
              <a:rPr lang="en-US" altLang="en-US" sz="1600" i="1" dirty="0">
                <a:sym typeface="Monotype Sorts" pitchFamily="-84" charset="2"/>
              </a:rPr>
              <a:t>AB</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a:t>
            </a:r>
          </a:p>
          <a:p>
            <a:pPr lvl="1">
              <a:tabLst>
                <a:tab pos="684213" algn="l"/>
                <a:tab pos="2917825" algn="l"/>
              </a:tabLst>
            </a:pPr>
            <a:r>
              <a:rPr lang="en-US" altLang="en-US" sz="1600" dirty="0">
                <a:sym typeface="Monotype Sorts" pitchFamily="-84" charset="2"/>
              </a:rPr>
              <a:t>Check if the result of deleting A from  </a:t>
            </a:r>
            <a:r>
              <a:rPr lang="en-US" altLang="en-US" sz="1600" i="1" dirty="0">
                <a:sym typeface="Monotype Sorts" pitchFamily="-84" charset="2"/>
              </a:rPr>
              <a:t>AB</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  </a:t>
            </a:r>
            <a:r>
              <a:rPr lang="en-US" altLang="en-US" sz="1600" dirty="0">
                <a:sym typeface="Monotype Sorts" pitchFamily="-84" charset="2"/>
              </a:rPr>
              <a:t>is implied by the other dependencies</a:t>
            </a:r>
          </a:p>
          <a:p>
            <a:pPr lvl="2">
              <a:tabLst>
                <a:tab pos="684213" algn="l"/>
                <a:tab pos="2917825" algn="l"/>
              </a:tabLst>
            </a:pPr>
            <a:r>
              <a:rPr lang="en-US" altLang="en-US" sz="1600" dirty="0">
                <a:sym typeface="Monotype Sorts" pitchFamily="-84" charset="2"/>
              </a:rPr>
              <a:t>Yes: in fact,  </a:t>
            </a:r>
            <a:r>
              <a:rPr lang="en-US" altLang="en-US" sz="1600" i="1" dirty="0">
                <a:sym typeface="Monotype Sorts" pitchFamily="-84" charset="2"/>
              </a:rPr>
              <a:t>B</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 </a:t>
            </a:r>
            <a:r>
              <a:rPr lang="en-US" altLang="en-US" sz="1600" dirty="0">
                <a:sym typeface="Monotype Sorts" pitchFamily="-84" charset="2"/>
              </a:rPr>
              <a:t>is already present!</a:t>
            </a:r>
          </a:p>
          <a:p>
            <a:pPr lvl="1">
              <a:tabLst>
                <a:tab pos="684213" algn="l"/>
                <a:tab pos="2917825" algn="l"/>
              </a:tabLst>
            </a:pPr>
            <a:r>
              <a:rPr lang="en-US" altLang="en-US" sz="1600" dirty="0">
                <a:sym typeface="Monotype Sorts" pitchFamily="-84" charset="2"/>
              </a:rPr>
              <a:t>Set is now </a:t>
            </a:r>
            <a:r>
              <a:rPr lang="en-US" altLang="en-US" sz="1600" i="1" dirty="0"/>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BC, B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a:t>
            </a:r>
            <a:r>
              <a:rPr lang="en-US" altLang="en-US" sz="1600" dirty="0">
                <a:sym typeface="Monotype Sorts" pitchFamily="-84" charset="2"/>
              </a:rPr>
              <a:t>}</a:t>
            </a:r>
            <a:endParaRPr lang="en-US" altLang="en-US" sz="1600" i="1" dirty="0">
              <a:sym typeface="Monotype Sorts" pitchFamily="-84" charset="2"/>
            </a:endParaRPr>
          </a:p>
          <a:p>
            <a:pPr>
              <a:tabLst>
                <a:tab pos="684213" algn="l"/>
                <a:tab pos="2917825" algn="l"/>
              </a:tabLst>
            </a:pPr>
            <a:r>
              <a:rPr lang="en-US" altLang="en-US" sz="1600" i="1" dirty="0">
                <a:sym typeface="Monotype Sorts" pitchFamily="-84" charset="2"/>
              </a:rPr>
              <a:t>C</a:t>
            </a:r>
            <a:r>
              <a:rPr lang="en-US" altLang="en-US" sz="1600" dirty="0">
                <a:sym typeface="Monotype Sorts" pitchFamily="-84" charset="2"/>
              </a:rPr>
              <a:t> is extraneous in </a:t>
            </a:r>
            <a:r>
              <a:rPr lang="en-US" altLang="en-US" sz="1600" i="1" dirty="0">
                <a:sym typeface="Monotype Sorts" pitchFamily="-84" charset="2"/>
              </a:rPr>
              <a:t>A</a:t>
            </a:r>
            <a:r>
              <a:rPr lang="en-US" altLang="en-US" sz="1600" dirty="0">
                <a:sym typeface="Monotype Sorts" pitchFamily="-84" charset="2"/>
              </a:rPr>
              <a:t>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BC</a:t>
            </a:r>
            <a:r>
              <a:rPr lang="en-US" altLang="en-US" sz="1600" dirty="0">
                <a:sym typeface="Monotype Sorts" pitchFamily="-84" charset="2"/>
              </a:rPr>
              <a:t> </a:t>
            </a:r>
          </a:p>
          <a:p>
            <a:pPr lvl="1">
              <a:tabLst>
                <a:tab pos="684213" algn="l"/>
                <a:tab pos="2917825" algn="l"/>
              </a:tabLst>
            </a:pPr>
            <a:r>
              <a:rPr lang="en-US" altLang="en-US" sz="1600" dirty="0">
                <a:sym typeface="Monotype Sorts" pitchFamily="-84" charset="2"/>
              </a:rPr>
              <a:t>Check if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a:t>
            </a:r>
            <a:r>
              <a:rPr lang="en-US" altLang="en-US" sz="1600" dirty="0">
                <a:sym typeface="Monotype Sorts" pitchFamily="-84" charset="2"/>
              </a:rPr>
              <a:t> is logically implied by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 </a:t>
            </a:r>
            <a:r>
              <a:rPr lang="en-US" altLang="en-US" sz="1600" dirty="0">
                <a:sym typeface="Monotype Sorts" pitchFamily="-84" charset="2"/>
              </a:rPr>
              <a:t>and the other dependencies</a:t>
            </a:r>
          </a:p>
          <a:p>
            <a:pPr lvl="2">
              <a:tabLst>
                <a:tab pos="684213" algn="l"/>
                <a:tab pos="2917825" algn="l"/>
              </a:tabLst>
            </a:pPr>
            <a:r>
              <a:rPr lang="en-US" altLang="en-US" sz="1600" dirty="0">
                <a:sym typeface="Monotype Sorts" pitchFamily="-84" charset="2"/>
              </a:rPr>
              <a:t>Yes</a:t>
            </a:r>
            <a:r>
              <a:rPr lang="en-US" altLang="en-US" sz="1600" i="1" dirty="0">
                <a:sym typeface="Monotype Sorts" pitchFamily="-84" charset="2"/>
              </a:rPr>
              <a:t>: </a:t>
            </a:r>
            <a:r>
              <a:rPr lang="en-US" altLang="en-US" sz="1600" dirty="0">
                <a:sym typeface="Monotype Sorts" pitchFamily="-84" charset="2"/>
              </a:rPr>
              <a:t>using transitivity on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  and B </a:t>
            </a:r>
            <a:r>
              <a:rPr lang="en-US" altLang="en-US" sz="1600" dirty="0">
                <a:sym typeface="Symbol" panose="05050102010706020507" pitchFamily="18" charset="2"/>
              </a:rPr>
              <a:t></a:t>
            </a:r>
            <a:r>
              <a:rPr lang="en-US" altLang="en-US" sz="1600" dirty="0">
                <a:sym typeface="Monotype Sorts" pitchFamily="-84" charset="2"/>
              </a:rPr>
              <a:t> C. </a:t>
            </a:r>
          </a:p>
          <a:p>
            <a:pPr lvl="3">
              <a:tabLst>
                <a:tab pos="684213" algn="l"/>
                <a:tab pos="2917825" algn="l"/>
              </a:tabLst>
            </a:pPr>
            <a:r>
              <a:rPr lang="en-US" altLang="en-US" sz="1600" dirty="0">
                <a:sym typeface="Monotype Sorts" pitchFamily="-84" charset="2"/>
              </a:rPr>
              <a:t>Can use attribute closure of </a:t>
            </a:r>
            <a:r>
              <a:rPr lang="en-US" altLang="en-US" sz="1600" i="1" dirty="0">
                <a:sym typeface="Monotype Sorts" pitchFamily="-84" charset="2"/>
              </a:rPr>
              <a:t>A</a:t>
            </a:r>
            <a:r>
              <a:rPr lang="en-US" altLang="en-US" sz="1600" dirty="0">
                <a:sym typeface="Monotype Sorts" pitchFamily="-84" charset="2"/>
              </a:rPr>
              <a:t> in more complex cases</a:t>
            </a:r>
          </a:p>
          <a:p>
            <a:pPr>
              <a:tabLst>
                <a:tab pos="684213" algn="l"/>
                <a:tab pos="2917825" algn="l"/>
              </a:tabLst>
            </a:pPr>
            <a:r>
              <a:rPr lang="en-US" altLang="en-US" sz="1600" dirty="0">
                <a:sym typeface="Monotype Sorts" pitchFamily="-84" charset="2"/>
              </a:rPr>
              <a:t>The canonical cover is: 	</a:t>
            </a:r>
            <a:r>
              <a:rPr lang="en-US" altLang="en-US" sz="1600" i="1" dirty="0">
                <a:sym typeface="Monotype Sorts" pitchFamily="-84" charset="2"/>
              </a:rPr>
              <a:t>A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B</a:t>
            </a:r>
            <a:br>
              <a:rPr lang="en-US" altLang="en-US" sz="1600" i="1" dirty="0">
                <a:sym typeface="Monotype Sorts" pitchFamily="-84" charset="2"/>
              </a:rPr>
            </a:br>
            <a:r>
              <a:rPr lang="en-US" altLang="en-US" sz="1600" i="1" dirty="0">
                <a:sym typeface="Monotype Sorts" pitchFamily="-84" charset="2"/>
              </a:rPr>
              <a:t>		B </a:t>
            </a:r>
            <a:r>
              <a:rPr lang="en-US" altLang="en-US" sz="1600" dirty="0">
                <a:sym typeface="Symbol" panose="05050102010706020507" pitchFamily="18" charset="2"/>
              </a:rPr>
              <a:t></a:t>
            </a:r>
            <a:r>
              <a:rPr lang="en-US" altLang="en-US" sz="1600" dirty="0">
                <a:sym typeface="Monotype Sorts" pitchFamily="-84" charset="2"/>
              </a:rPr>
              <a:t> </a:t>
            </a:r>
            <a:r>
              <a:rPr lang="en-US" altLang="en-US" sz="1600" i="1" dirty="0">
                <a:sym typeface="Monotype Sorts" pitchFamily="-84" charset="2"/>
              </a:rPr>
              <a:t>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709613" y="212725"/>
            <a:ext cx="7993062" cy="441325"/>
          </a:xfrm>
        </p:spPr>
        <p:txBody>
          <a:bodyPr/>
          <a:lstStyle/>
          <a:p>
            <a:pPr>
              <a:defRPr/>
            </a:pPr>
            <a:r>
              <a:rPr lang="en-US" altLang="en-US">
                <a:effectLst>
                  <a:outerShdw blurRad="38100" dist="38100" dir="2700000" algn="tl">
                    <a:srgbClr val="C0C0C0"/>
                  </a:outerShdw>
                </a:effectLst>
                <a:ea typeface="ＭＳ Ｐゴシック" pitchFamily="34" charset="-128"/>
              </a:rPr>
              <a:t>Dependency Preservation</a:t>
            </a:r>
          </a:p>
        </p:txBody>
      </p:sp>
      <p:sp>
        <p:nvSpPr>
          <p:cNvPr id="60419" name="Rectangle 3"/>
          <p:cNvSpPr>
            <a:spLocks noGrp="1" noChangeArrowheads="1"/>
          </p:cNvSpPr>
          <p:nvPr>
            <p:ph type="body" idx="1"/>
          </p:nvPr>
        </p:nvSpPr>
        <p:spPr>
          <a:xfrm>
            <a:off x="772357" y="1093788"/>
            <a:ext cx="7818190" cy="2696159"/>
          </a:xfrm>
        </p:spPr>
        <p:txBody>
          <a:bodyPr/>
          <a:lstStyle/>
          <a:p>
            <a:r>
              <a:rPr lang="en-US" altLang="en-US" dirty="0"/>
              <a:t> Let </a:t>
            </a:r>
            <a:r>
              <a:rPr lang="en-US" altLang="en-US" i="1" dirty="0"/>
              <a:t>F</a:t>
            </a:r>
            <a:r>
              <a:rPr lang="en-US" altLang="en-US" i="1" baseline="-25000" dirty="0"/>
              <a:t>i</a:t>
            </a:r>
            <a:r>
              <a:rPr lang="en-US" altLang="en-US" i="1" dirty="0"/>
              <a:t> </a:t>
            </a:r>
            <a:r>
              <a:rPr lang="en-US" altLang="en-US" dirty="0"/>
              <a:t>be the set of dependencies </a:t>
            </a:r>
            <a:r>
              <a:rPr lang="en-US" altLang="en-US" i="1" dirty="0"/>
              <a:t>F </a:t>
            </a:r>
            <a:r>
              <a:rPr lang="en-US" altLang="en-US" i="1" baseline="30000" dirty="0"/>
              <a:t>+</a:t>
            </a:r>
            <a:r>
              <a:rPr lang="en-US" altLang="en-US" dirty="0"/>
              <a:t> that include only attributes in </a:t>
            </a:r>
            <a:r>
              <a:rPr lang="en-US" altLang="en-US" i="1" dirty="0"/>
              <a:t>R</a:t>
            </a:r>
            <a:r>
              <a:rPr lang="en-US" altLang="en-US" i="1" baseline="-25000" dirty="0"/>
              <a:t>i</a:t>
            </a:r>
            <a:r>
              <a:rPr lang="en-US" altLang="en-US" i="1" dirty="0"/>
              <a:t>. </a:t>
            </a:r>
          </a:p>
          <a:p>
            <a:pPr lvl="1"/>
            <a:r>
              <a:rPr lang="en-US" altLang="en-US" dirty="0"/>
              <a:t> A  decomposition is </a:t>
            </a:r>
            <a:r>
              <a:rPr lang="en-US" altLang="en-US" b="1" dirty="0">
                <a:solidFill>
                  <a:srgbClr val="002060"/>
                </a:solidFill>
              </a:rPr>
              <a:t>dependency preserving</a:t>
            </a:r>
            <a:r>
              <a:rPr lang="en-US" altLang="en-US" dirty="0"/>
              <a:t>,  if</a:t>
            </a:r>
          </a:p>
          <a:p>
            <a:pPr lvl="1">
              <a:buFont typeface="Webdings" panose="05030102010509060703" pitchFamily="18" charset="2"/>
              <a:buNone/>
            </a:pPr>
            <a:r>
              <a:rPr lang="en-US" altLang="en-US" dirty="0"/>
              <a:t>           (</a:t>
            </a:r>
            <a:r>
              <a:rPr lang="en-US" altLang="en-US" i="1" dirty="0"/>
              <a:t>F</a:t>
            </a:r>
            <a:r>
              <a:rPr lang="en-US" altLang="en-US" baseline="-25000" dirty="0"/>
              <a:t>1</a:t>
            </a:r>
            <a:r>
              <a:rPr lang="en-US" altLang="en-US" i="1" dirty="0"/>
              <a:t> </a:t>
            </a:r>
            <a:r>
              <a:rPr lang="en-US" altLang="en-US" dirty="0">
                <a:sym typeface="Symbol" panose="05050102010706020507" pitchFamily="18" charset="2"/>
              </a:rPr>
              <a:t></a:t>
            </a:r>
            <a:r>
              <a:rPr lang="en-US" altLang="en-US" i="1" dirty="0">
                <a:sym typeface="Symbol" panose="05050102010706020507" pitchFamily="18" charset="2"/>
              </a:rPr>
              <a:t> F</a:t>
            </a:r>
            <a:r>
              <a:rPr lang="en-US" altLang="en-US" baseline="-25000" dirty="0">
                <a:sym typeface="Symbol" panose="05050102010706020507" pitchFamily="18" charset="2"/>
              </a:rPr>
              <a:t>2 </a:t>
            </a:r>
            <a:r>
              <a:rPr lang="en-US" altLang="en-US" dirty="0">
                <a:sym typeface="Symbol" panose="05050102010706020507" pitchFamily="18" charset="2"/>
              </a:rPr>
              <a:t></a:t>
            </a:r>
            <a:r>
              <a:rPr lang="en-US" altLang="en-US" i="1" dirty="0">
                <a:sym typeface="Symbol" panose="05050102010706020507" pitchFamily="18" charset="2"/>
              </a:rPr>
              <a:t> …</a:t>
            </a:r>
            <a:r>
              <a:rPr lang="en-US" altLang="en-US" dirty="0">
                <a:sym typeface="Symbol" panose="05050102010706020507" pitchFamily="18" charset="2"/>
              </a:rPr>
              <a:t> </a:t>
            </a:r>
            <a:r>
              <a:rPr lang="en-US" altLang="en-US" i="1" dirty="0">
                <a:sym typeface="Symbol" panose="05050102010706020507" pitchFamily="18" charset="2"/>
              </a:rPr>
              <a:t> </a:t>
            </a:r>
            <a:r>
              <a:rPr lang="en-US" altLang="en-US" i="1" dirty="0" err="1">
                <a:sym typeface="Symbol" panose="05050102010706020507" pitchFamily="18" charset="2"/>
              </a:rPr>
              <a:t>F</a:t>
            </a:r>
            <a:r>
              <a:rPr lang="en-US" altLang="en-US" baseline="-25000" dirty="0" err="1">
                <a:sym typeface="Symbol" panose="05050102010706020507" pitchFamily="18" charset="2"/>
              </a:rPr>
              <a:t>n</a:t>
            </a:r>
            <a:r>
              <a:rPr lang="en-US" altLang="en-US" baseline="-25000" dirty="0">
                <a:sym typeface="Symbol" panose="05050102010706020507" pitchFamily="18" charset="2"/>
              </a:rPr>
              <a:t> </a:t>
            </a:r>
            <a:r>
              <a:rPr lang="en-US" altLang="en-US" dirty="0">
                <a:sym typeface="Symbol" panose="05050102010706020507" pitchFamily="18" charset="2"/>
              </a:rPr>
              <a:t>)</a:t>
            </a:r>
            <a:r>
              <a:rPr lang="en-US" altLang="en-US" baseline="30000" dirty="0">
                <a:sym typeface="Symbol" panose="05050102010706020507" pitchFamily="18" charset="2"/>
              </a:rPr>
              <a:t>+</a:t>
            </a:r>
            <a:r>
              <a:rPr lang="en-US" altLang="en-US" dirty="0">
                <a:sym typeface="Symbol" panose="05050102010706020507" pitchFamily="18" charset="2"/>
              </a:rPr>
              <a:t> = </a:t>
            </a:r>
            <a:r>
              <a:rPr lang="en-US" altLang="en-US" i="1" dirty="0">
                <a:sym typeface="Symbol" panose="05050102010706020507" pitchFamily="18" charset="2"/>
              </a:rPr>
              <a:t>F </a:t>
            </a:r>
            <a:r>
              <a:rPr lang="en-US" altLang="en-US" i="1" baseline="30000" dirty="0">
                <a:sym typeface="Symbol" panose="05050102010706020507" pitchFamily="18" charset="2"/>
              </a:rPr>
              <a:t>+</a:t>
            </a:r>
          </a:p>
          <a:p>
            <a:r>
              <a:rPr lang="en-US" altLang="en-US" dirty="0">
                <a:sym typeface="Symbol" panose="05050102010706020507" pitchFamily="18" charset="2"/>
              </a:rPr>
              <a:t>Using the above definition,  testing for dependency preservation take exponential time.</a:t>
            </a:r>
          </a:p>
          <a:p>
            <a:r>
              <a:rPr lang="en-US" altLang="en-US" dirty="0">
                <a:sym typeface="Symbol" panose="05050102010706020507" pitchFamily="18" charset="2"/>
              </a:rPr>
              <a:t>Not that if a decomposition is NOT dependency preserving </a:t>
            </a:r>
            <a:r>
              <a:rPr lang="en-US" altLang="en-US" dirty="0"/>
              <a:t>then checking updates for violation of functional dependencies may require computing joins, which is expensive.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709613" y="212725"/>
            <a:ext cx="7993062" cy="441325"/>
          </a:xfrm>
        </p:spPr>
        <p:txBody>
          <a:bodyPr/>
          <a:lstStyle/>
          <a:p>
            <a:pPr>
              <a:defRPr/>
            </a:pPr>
            <a:r>
              <a:rPr lang="en-US" altLang="en-US" dirty="0">
                <a:effectLst>
                  <a:outerShdw blurRad="38100" dist="38100" dir="2700000" algn="tl">
                    <a:srgbClr val="C0C0C0"/>
                  </a:outerShdw>
                </a:effectLst>
                <a:ea typeface="ＭＳ Ｐゴシック" pitchFamily="34" charset="-128"/>
              </a:rPr>
              <a:t>Dependency Preservation (Cont.)</a:t>
            </a:r>
          </a:p>
        </p:txBody>
      </p:sp>
      <p:sp>
        <p:nvSpPr>
          <p:cNvPr id="61443" name="Rectangle 3"/>
          <p:cNvSpPr>
            <a:spLocks noGrp="1" noChangeArrowheads="1"/>
          </p:cNvSpPr>
          <p:nvPr>
            <p:ph type="body" idx="1"/>
          </p:nvPr>
        </p:nvSpPr>
        <p:spPr>
          <a:xfrm>
            <a:off x="781235" y="1093788"/>
            <a:ext cx="7688998" cy="3466180"/>
          </a:xfrm>
        </p:spPr>
        <p:txBody>
          <a:bodyPr/>
          <a:lstStyle/>
          <a:p>
            <a:r>
              <a:rPr lang="en-US" altLang="en-US" dirty="0"/>
              <a:t>Let </a:t>
            </a:r>
            <a:r>
              <a:rPr lang="en-US" altLang="en-US" i="1" dirty="0"/>
              <a:t>F </a:t>
            </a:r>
            <a:r>
              <a:rPr lang="en-US" altLang="en-US" i="1" baseline="-25000" dirty="0"/>
              <a:t> </a:t>
            </a:r>
            <a:r>
              <a:rPr lang="en-US" altLang="en-US" dirty="0"/>
              <a:t>be the set of dependencies  on schema </a:t>
            </a:r>
            <a:r>
              <a:rPr lang="en-US" altLang="en-US" i="1" dirty="0"/>
              <a:t>R</a:t>
            </a:r>
            <a:r>
              <a:rPr lang="en-US" altLang="en-US" dirty="0"/>
              <a:t>  and let </a:t>
            </a:r>
            <a:r>
              <a:rPr lang="en-US" altLang="en-US" i="1" dirty="0"/>
              <a:t>R</a:t>
            </a:r>
            <a:r>
              <a:rPr lang="en-US" altLang="en-US" baseline="-25000" dirty="0"/>
              <a:t>1</a:t>
            </a:r>
            <a:r>
              <a:rPr lang="en-US" altLang="en-US" i="1" dirty="0"/>
              <a:t>,</a:t>
            </a:r>
            <a:r>
              <a:rPr lang="en-US" altLang="en-US" i="1" dirty="0">
                <a:sym typeface="Symbol" panose="05050102010706020507" pitchFamily="18" charset="2"/>
              </a:rPr>
              <a:t> R</a:t>
            </a:r>
            <a:r>
              <a:rPr lang="en-US" altLang="en-US" baseline="-25000" dirty="0">
                <a:sym typeface="Symbol" panose="05050102010706020507" pitchFamily="18" charset="2"/>
              </a:rPr>
              <a:t>2 </a:t>
            </a:r>
            <a:r>
              <a:rPr lang="en-US" altLang="en-US" dirty="0">
                <a:sym typeface="Symbol" panose="05050102010706020507" pitchFamily="18" charset="2"/>
              </a:rPr>
              <a:t>,</a:t>
            </a:r>
            <a:r>
              <a:rPr lang="en-US" altLang="en-US" i="1" dirty="0">
                <a:sym typeface="Symbol" panose="05050102010706020507" pitchFamily="18" charset="2"/>
              </a:rPr>
              <a:t>  .., R</a:t>
            </a:r>
            <a:r>
              <a:rPr lang="en-US" altLang="en-US" baseline="-25000" dirty="0">
                <a:sym typeface="Symbol" panose="05050102010706020507" pitchFamily="18" charset="2"/>
              </a:rPr>
              <a:t>n </a:t>
            </a:r>
            <a:r>
              <a:rPr lang="en-US" altLang="en-US" dirty="0">
                <a:sym typeface="Symbol" panose="05050102010706020507" pitchFamily="18" charset="2"/>
              </a:rPr>
              <a:t>  be a decomposition of </a:t>
            </a:r>
            <a:r>
              <a:rPr lang="en-US" altLang="en-US" i="1" dirty="0">
                <a:sym typeface="Symbol" panose="05050102010706020507" pitchFamily="18" charset="2"/>
              </a:rPr>
              <a:t>R.</a:t>
            </a:r>
          </a:p>
          <a:p>
            <a:r>
              <a:rPr lang="en-US" altLang="en-US" dirty="0">
                <a:sym typeface="Symbol" panose="05050102010706020507" pitchFamily="18" charset="2"/>
              </a:rPr>
              <a:t>The restriction of  </a:t>
            </a:r>
            <a:r>
              <a:rPr lang="en-US" altLang="en-US" i="1" dirty="0">
                <a:sym typeface="Symbol" panose="05050102010706020507" pitchFamily="18" charset="2"/>
              </a:rPr>
              <a:t>F</a:t>
            </a:r>
            <a:r>
              <a:rPr lang="en-US" altLang="en-US" dirty="0">
                <a:sym typeface="Symbol" panose="05050102010706020507" pitchFamily="18" charset="2"/>
              </a:rPr>
              <a:t> to </a:t>
            </a:r>
            <a:r>
              <a:rPr lang="en-US" altLang="en-US" i="1" dirty="0">
                <a:sym typeface="Symbol" panose="05050102010706020507" pitchFamily="18" charset="2"/>
              </a:rPr>
              <a:t>R</a:t>
            </a:r>
            <a:r>
              <a:rPr lang="en-US" altLang="en-US" baseline="-25000" dirty="0"/>
              <a:t>i </a:t>
            </a:r>
            <a:r>
              <a:rPr lang="en-US" altLang="en-US" dirty="0"/>
              <a:t> </a:t>
            </a:r>
            <a:r>
              <a:rPr lang="en-US" altLang="en-US" dirty="0">
                <a:sym typeface="Symbol" panose="05050102010706020507" pitchFamily="18" charset="2"/>
              </a:rPr>
              <a:t>is the set </a:t>
            </a:r>
            <a:r>
              <a:rPr lang="en-US" altLang="en-US" i="1" dirty="0"/>
              <a:t>F</a:t>
            </a:r>
            <a:r>
              <a:rPr lang="en-US" altLang="en-US" baseline="-25000" dirty="0"/>
              <a:t>i  </a:t>
            </a:r>
            <a:r>
              <a:rPr lang="en-US" altLang="en-US" dirty="0">
                <a:sym typeface="Symbol" panose="05050102010706020507" pitchFamily="18" charset="2"/>
              </a:rPr>
              <a:t>of all  functional dependencies in </a:t>
            </a:r>
            <a:r>
              <a:rPr lang="en-US" altLang="en-US" i="1" dirty="0">
                <a:sym typeface="Symbol" panose="05050102010706020507" pitchFamily="18" charset="2"/>
              </a:rPr>
              <a:t>F </a:t>
            </a:r>
            <a:r>
              <a:rPr lang="en-US" altLang="en-US" i="1" baseline="30000" dirty="0">
                <a:sym typeface="Symbol" panose="05050102010706020507" pitchFamily="18" charset="2"/>
              </a:rPr>
              <a:t>+ </a:t>
            </a:r>
            <a:r>
              <a:rPr lang="en-US" altLang="en-US" dirty="0">
                <a:sym typeface="Symbol" panose="05050102010706020507" pitchFamily="18" charset="2"/>
              </a:rPr>
              <a:t>that include </a:t>
            </a:r>
            <a:r>
              <a:rPr lang="en-US" altLang="en-US" b="1" dirty="0">
                <a:sym typeface="Symbol" panose="05050102010706020507" pitchFamily="18" charset="2"/>
              </a:rPr>
              <a:t>only</a:t>
            </a:r>
            <a:r>
              <a:rPr lang="en-US" altLang="en-US" dirty="0">
                <a:sym typeface="Symbol" panose="05050102010706020507" pitchFamily="18" charset="2"/>
              </a:rPr>
              <a:t> attributes  of </a:t>
            </a:r>
            <a:r>
              <a:rPr lang="en-US" altLang="en-US" i="1" dirty="0">
                <a:sym typeface="Symbol" panose="05050102010706020507" pitchFamily="18" charset="2"/>
              </a:rPr>
              <a:t>R</a:t>
            </a:r>
            <a:r>
              <a:rPr lang="en-US" altLang="en-US" baseline="-25000" dirty="0"/>
              <a:t>i </a:t>
            </a:r>
            <a:r>
              <a:rPr lang="en-US" altLang="en-US" dirty="0">
                <a:sym typeface="Symbol" panose="05050102010706020507" pitchFamily="18" charset="2"/>
              </a:rPr>
              <a:t>.</a:t>
            </a:r>
          </a:p>
          <a:p>
            <a:r>
              <a:rPr lang="en-US" altLang="en-US" dirty="0">
                <a:sym typeface="Symbol" panose="05050102010706020507" pitchFamily="18" charset="2"/>
              </a:rPr>
              <a:t>Since all functional dependencies in a restriction involve attributes of only one relation schema, it is possible to test such a dependency for satisfaction by checking only one relation.</a:t>
            </a:r>
          </a:p>
          <a:p>
            <a:r>
              <a:rPr lang="en-US" altLang="en-US" dirty="0">
                <a:sym typeface="Symbol" panose="05050102010706020507" pitchFamily="18" charset="2"/>
              </a:rPr>
              <a:t>Note that the definition of restriction uses all dependencies in in </a:t>
            </a:r>
            <a:r>
              <a:rPr lang="en-US" altLang="en-US" i="1" dirty="0">
                <a:sym typeface="Symbol" panose="05050102010706020507" pitchFamily="18" charset="2"/>
              </a:rPr>
              <a:t>F </a:t>
            </a:r>
            <a:r>
              <a:rPr lang="en-US" altLang="en-US" i="1" baseline="30000" dirty="0">
                <a:sym typeface="Symbol" panose="05050102010706020507" pitchFamily="18" charset="2"/>
              </a:rPr>
              <a:t>+</a:t>
            </a:r>
            <a:r>
              <a:rPr lang="en-US" altLang="en-US" i="1" dirty="0">
                <a:sym typeface="Symbol" panose="05050102010706020507" pitchFamily="18" charset="2"/>
              </a:rPr>
              <a:t>, </a:t>
            </a:r>
            <a:r>
              <a:rPr lang="en-US" altLang="en-US" dirty="0">
                <a:sym typeface="Symbol" panose="05050102010706020507" pitchFamily="18" charset="2"/>
              </a:rPr>
              <a:t>not just those in </a:t>
            </a:r>
            <a:r>
              <a:rPr lang="en-US" altLang="en-US" i="1" dirty="0">
                <a:sym typeface="Symbol" panose="05050102010706020507" pitchFamily="18" charset="2"/>
              </a:rPr>
              <a:t>F</a:t>
            </a:r>
            <a:r>
              <a:rPr lang="en-US" altLang="en-US" dirty="0">
                <a:sym typeface="Symbol" panose="05050102010706020507" pitchFamily="18" charset="2"/>
              </a:rPr>
              <a:t>.</a:t>
            </a:r>
          </a:p>
          <a:p>
            <a:r>
              <a:rPr lang="en-US" altLang="en-US" dirty="0"/>
              <a:t>The set of restrictions </a:t>
            </a:r>
            <a:r>
              <a:rPr lang="en-US" altLang="en-US" i="1" dirty="0"/>
              <a:t>F</a:t>
            </a:r>
            <a:r>
              <a:rPr lang="en-US" altLang="en-US" baseline="-25000" dirty="0"/>
              <a:t>1</a:t>
            </a:r>
            <a:r>
              <a:rPr lang="en-US" altLang="en-US" i="1" dirty="0"/>
              <a:t>,</a:t>
            </a:r>
            <a:r>
              <a:rPr lang="en-US" altLang="en-US" i="1" dirty="0">
                <a:sym typeface="Symbol" panose="05050102010706020507" pitchFamily="18" charset="2"/>
              </a:rPr>
              <a:t> F</a:t>
            </a:r>
            <a:r>
              <a:rPr lang="en-US" altLang="en-US" baseline="-25000" dirty="0">
                <a:sym typeface="Symbol" panose="05050102010706020507" pitchFamily="18" charset="2"/>
              </a:rPr>
              <a:t>2 </a:t>
            </a:r>
            <a:r>
              <a:rPr lang="en-US" altLang="en-US" dirty="0">
                <a:sym typeface="Symbol" panose="05050102010706020507" pitchFamily="18" charset="2"/>
              </a:rPr>
              <a:t>, .. ,</a:t>
            </a:r>
            <a:r>
              <a:rPr lang="en-US" altLang="en-US" i="1" dirty="0">
                <a:sym typeface="Symbol" panose="05050102010706020507" pitchFamily="18" charset="2"/>
              </a:rPr>
              <a:t> </a:t>
            </a:r>
            <a:r>
              <a:rPr lang="en-US" altLang="en-US" i="1" dirty="0" err="1">
                <a:sym typeface="Symbol" panose="05050102010706020507" pitchFamily="18" charset="2"/>
              </a:rPr>
              <a:t>F</a:t>
            </a:r>
            <a:r>
              <a:rPr lang="en-US" altLang="en-US" baseline="-25000" dirty="0" err="1">
                <a:sym typeface="Symbol" panose="05050102010706020507" pitchFamily="18" charset="2"/>
              </a:rPr>
              <a:t>n</a:t>
            </a:r>
            <a:r>
              <a:rPr lang="en-US" altLang="en-US" baseline="-25000" dirty="0">
                <a:sym typeface="Symbol" panose="05050102010706020507" pitchFamily="18" charset="2"/>
              </a:rPr>
              <a:t>  </a:t>
            </a:r>
            <a:r>
              <a:rPr lang="en-US" altLang="en-US" dirty="0">
                <a:sym typeface="Symbol" panose="05050102010706020507" pitchFamily="18" charset="2"/>
              </a:rPr>
              <a:t> </a:t>
            </a:r>
            <a:r>
              <a:rPr lang="en-US" altLang="en-US" dirty="0"/>
              <a:t>is the set of functional  dependencies that can be checked efficiently.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a:xfrm>
            <a:off x="766763" y="100013"/>
            <a:ext cx="8077200" cy="609600"/>
          </a:xfrm>
        </p:spPr>
        <p:txBody>
          <a:bodyPr/>
          <a:lstStyle/>
          <a:p>
            <a:pPr>
              <a:defRPr/>
            </a:pPr>
            <a:r>
              <a:rPr lang="en-US" altLang="en-US" dirty="0">
                <a:effectLst>
                  <a:outerShdw blurRad="38100" dist="38100" dir="2700000" algn="tl">
                    <a:srgbClr val="C0C0C0"/>
                  </a:outerShdw>
                </a:effectLst>
                <a:ea typeface="ＭＳ Ｐゴシック" pitchFamily="34" charset="-128"/>
              </a:rPr>
              <a:t>Testing for Dependency Preservation</a:t>
            </a:r>
          </a:p>
        </p:txBody>
      </p:sp>
      <p:sp>
        <p:nvSpPr>
          <p:cNvPr id="62467" name="Rectangle 3"/>
          <p:cNvSpPr>
            <a:spLocks noGrp="1" noChangeArrowheads="1"/>
          </p:cNvSpPr>
          <p:nvPr>
            <p:ph type="body" idx="4294967295"/>
          </p:nvPr>
        </p:nvSpPr>
        <p:spPr>
          <a:xfrm>
            <a:off x="775641" y="1100831"/>
            <a:ext cx="7739564" cy="4590106"/>
          </a:xfrm>
        </p:spPr>
        <p:txBody>
          <a:bodyPr/>
          <a:lstStyle/>
          <a:p>
            <a:pPr>
              <a:buSzPct val="110000"/>
              <a:buFont typeface="Wingdings" panose="05000000000000000000" pitchFamily="2" charset="2"/>
              <a:buChar char="§"/>
            </a:pPr>
            <a:r>
              <a:rPr lang="en-US" altLang="en-US" dirty="0">
                <a:sym typeface="Symbol" panose="05050102010706020507" pitchFamily="18" charset="2"/>
              </a:rPr>
              <a:t>To check if a dependency    is preserved in a decomposition of </a:t>
            </a:r>
            <a:r>
              <a:rPr lang="en-US" altLang="en-US" i="1" dirty="0">
                <a:sym typeface="Symbol" panose="05050102010706020507" pitchFamily="18" charset="2"/>
              </a:rPr>
              <a:t>R</a:t>
            </a:r>
            <a:r>
              <a:rPr lang="en-US" altLang="en-US" dirty="0">
                <a:sym typeface="Symbol" panose="05050102010706020507" pitchFamily="18" charset="2"/>
              </a:rPr>
              <a:t> into </a:t>
            </a:r>
            <a:r>
              <a:rPr lang="en-US" altLang="en-US" i="1" dirty="0">
                <a:sym typeface="Symbol" panose="05050102010706020507" pitchFamily="18" charset="2"/>
              </a:rPr>
              <a:t>R</a:t>
            </a:r>
            <a:r>
              <a:rPr lang="en-US" altLang="en-US" baseline="-25000" dirty="0">
                <a:sym typeface="Symbol" panose="05050102010706020507" pitchFamily="18" charset="2"/>
              </a:rPr>
              <a:t>1</a:t>
            </a:r>
            <a:r>
              <a:rPr lang="en-US" altLang="en-US" dirty="0">
                <a:sym typeface="Symbol" panose="05050102010706020507" pitchFamily="18" charset="2"/>
              </a:rPr>
              <a:t>, </a:t>
            </a:r>
            <a:r>
              <a:rPr lang="en-US" altLang="en-US" i="1" dirty="0">
                <a:sym typeface="Symbol" panose="05050102010706020507" pitchFamily="18" charset="2"/>
              </a:rPr>
              <a:t>R</a:t>
            </a:r>
            <a:r>
              <a:rPr lang="en-US" altLang="en-US" baseline="-25000" dirty="0">
                <a:sym typeface="Symbol" panose="05050102010706020507" pitchFamily="18" charset="2"/>
              </a:rPr>
              <a:t>2</a:t>
            </a:r>
            <a:r>
              <a:rPr lang="en-US" altLang="en-US" dirty="0">
                <a:sym typeface="Symbol" panose="05050102010706020507" pitchFamily="18" charset="2"/>
              </a:rPr>
              <a:t>, …, </a:t>
            </a:r>
            <a:r>
              <a:rPr lang="en-US" altLang="en-US" i="1" dirty="0">
                <a:sym typeface="Symbol" panose="05050102010706020507" pitchFamily="18" charset="2"/>
              </a:rPr>
              <a:t>R</a:t>
            </a:r>
            <a:r>
              <a:rPr lang="en-US" altLang="en-US" baseline="-25000" dirty="0">
                <a:sym typeface="Symbol" panose="05050102010706020507" pitchFamily="18" charset="2"/>
              </a:rPr>
              <a:t>n</a:t>
            </a:r>
            <a:r>
              <a:rPr lang="en-US" altLang="en-US" dirty="0">
                <a:sym typeface="Symbol" panose="05050102010706020507" pitchFamily="18" charset="2"/>
              </a:rPr>
              <a:t> , we apply the following test (with attribute closure done with respect to </a:t>
            </a:r>
            <a:r>
              <a:rPr lang="en-US" altLang="en-US" i="1" dirty="0">
                <a:sym typeface="Symbol" panose="05050102010706020507" pitchFamily="18" charset="2"/>
              </a:rPr>
              <a:t>F</a:t>
            </a:r>
            <a:r>
              <a:rPr lang="en-US" altLang="en-US" dirty="0">
                <a:sym typeface="Symbol" panose="05050102010706020507" pitchFamily="18" charset="2"/>
              </a:rPr>
              <a:t>)</a:t>
            </a:r>
          </a:p>
          <a:p>
            <a:pPr lvl="1">
              <a:buSzPct val="110000"/>
              <a:buFont typeface="Arial" panose="020B0604020202020204" pitchFamily="34" charset="0"/>
              <a:buChar char="•"/>
            </a:pPr>
            <a:r>
              <a:rPr lang="en-US" altLang="en-US" i="1" dirty="0"/>
              <a:t>result </a:t>
            </a:r>
            <a:r>
              <a:rPr lang="en-US" altLang="en-US" dirty="0"/>
              <a:t>= </a:t>
            </a:r>
            <a:r>
              <a:rPr lang="en-US" altLang="en-US" dirty="0">
                <a:sym typeface="Symbol" panose="05050102010706020507" pitchFamily="18" charset="2"/>
              </a:rPr>
              <a:t></a:t>
            </a:r>
            <a:br>
              <a:rPr lang="en-US" altLang="en-US" dirty="0">
                <a:sym typeface="Symbol" panose="05050102010706020507" pitchFamily="18" charset="2"/>
              </a:rPr>
            </a:br>
            <a:r>
              <a:rPr lang="en-US" altLang="en-US" b="1" dirty="0">
                <a:sym typeface="Symbol" panose="05050102010706020507" pitchFamily="18" charset="2"/>
              </a:rPr>
              <a:t>repeat</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t>
            </a:r>
            <a:r>
              <a:rPr lang="en-US" altLang="en-US" b="1" dirty="0">
                <a:sym typeface="Symbol" panose="05050102010706020507" pitchFamily="18" charset="2"/>
              </a:rPr>
              <a:t>for each</a:t>
            </a:r>
            <a:r>
              <a:rPr lang="en-US" altLang="en-US" dirty="0">
                <a:sym typeface="Symbol" panose="05050102010706020507" pitchFamily="18" charset="2"/>
              </a:rPr>
              <a:t> </a:t>
            </a:r>
            <a:r>
              <a:rPr lang="en-US" altLang="en-US" i="1" dirty="0">
                <a:sym typeface="Symbol" panose="05050102010706020507" pitchFamily="18" charset="2"/>
              </a:rPr>
              <a:t>R</a:t>
            </a:r>
            <a:r>
              <a:rPr lang="en-US" altLang="en-US" i="1" baseline="-25000" dirty="0">
                <a:sym typeface="Symbol" panose="05050102010706020507" pitchFamily="18" charset="2"/>
              </a:rPr>
              <a:t>i</a:t>
            </a:r>
            <a:r>
              <a:rPr lang="en-US" altLang="en-US" i="1" dirty="0">
                <a:sym typeface="Symbol" panose="05050102010706020507" pitchFamily="18" charset="2"/>
              </a:rPr>
              <a:t> </a:t>
            </a:r>
            <a:r>
              <a:rPr lang="en-US" altLang="en-US" dirty="0">
                <a:sym typeface="Symbol" panose="05050102010706020507" pitchFamily="18" charset="2"/>
              </a:rPr>
              <a:t>in the decomposition</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sym typeface="Symbol" panose="05050102010706020507" pitchFamily="18" charset="2"/>
              </a:rPr>
              <a:t>t</a:t>
            </a:r>
            <a:r>
              <a:rPr lang="en-US" altLang="en-US" dirty="0">
                <a:sym typeface="Symbol" panose="05050102010706020507" pitchFamily="18" charset="2"/>
              </a:rPr>
              <a:t> = (</a:t>
            </a:r>
            <a:r>
              <a:rPr lang="en-US" altLang="en-US" i="1" dirty="0">
                <a:sym typeface="Symbol" panose="05050102010706020507" pitchFamily="18" charset="2"/>
              </a:rPr>
              <a:t>result </a:t>
            </a:r>
            <a:r>
              <a:rPr lang="en-US" altLang="en-US" dirty="0">
                <a:sym typeface="Symbol" panose="05050102010706020507" pitchFamily="18" charset="2"/>
              </a:rPr>
              <a:t> </a:t>
            </a:r>
            <a:r>
              <a:rPr lang="en-US" altLang="en-US" i="1" dirty="0">
                <a:sym typeface="Symbol" panose="05050102010706020507" pitchFamily="18" charset="2"/>
              </a:rPr>
              <a:t>R</a:t>
            </a:r>
            <a:r>
              <a:rPr lang="en-US" altLang="en-US" i="1" baseline="-25000" dirty="0">
                <a:sym typeface="Symbol" panose="05050102010706020507" pitchFamily="18" charset="2"/>
              </a:rPr>
              <a:t>i</a:t>
            </a:r>
            <a:r>
              <a:rPr lang="en-US" altLang="en-US" dirty="0">
                <a:sym typeface="Symbol" panose="05050102010706020507" pitchFamily="18" charset="2"/>
              </a:rPr>
              <a:t>)</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a:sym typeface="Symbol" panose="05050102010706020507" pitchFamily="18" charset="2"/>
              </a:rPr>
              <a:t>R</a:t>
            </a:r>
            <a:r>
              <a:rPr lang="en-US" altLang="en-US" i="1" baseline="-25000" dirty="0">
                <a:sym typeface="Symbol" panose="05050102010706020507" pitchFamily="18" charset="2"/>
              </a:rPr>
              <a:t>i</a:t>
            </a:r>
            <a:br>
              <a:rPr lang="en-US" altLang="en-US" i="1" baseline="-25000" dirty="0">
                <a:sym typeface="Symbol" panose="05050102010706020507" pitchFamily="18" charset="2"/>
              </a:rPr>
            </a:br>
            <a:r>
              <a:rPr lang="en-US" altLang="en-US" i="1" baseline="-25000" dirty="0">
                <a:sym typeface="Symbol" panose="05050102010706020507" pitchFamily="18" charset="2"/>
              </a:rPr>
              <a:t>		</a:t>
            </a:r>
            <a:r>
              <a:rPr lang="en-US" altLang="en-US" i="1" dirty="0">
                <a:sym typeface="Symbol" panose="05050102010706020507" pitchFamily="18" charset="2"/>
              </a:rPr>
              <a:t>result  =  result  </a:t>
            </a:r>
            <a:r>
              <a:rPr lang="en-US" altLang="en-US" dirty="0">
                <a:sym typeface="Symbol" panose="05050102010706020507" pitchFamily="18" charset="2"/>
              </a:rPr>
              <a:t> </a:t>
            </a:r>
            <a:r>
              <a:rPr lang="en-US" altLang="en-US" i="1" dirty="0">
                <a:sym typeface="Symbol" panose="05050102010706020507" pitchFamily="18" charset="2"/>
              </a:rPr>
              <a:t>t</a:t>
            </a:r>
          </a:p>
          <a:p>
            <a:pPr marL="457200" lvl="1" indent="0">
              <a:buSzPct val="110000"/>
              <a:buNone/>
            </a:pPr>
            <a:r>
              <a:rPr lang="en-US" altLang="en-US" i="1" dirty="0">
                <a:sym typeface="Symbol" panose="05050102010706020507" pitchFamily="18" charset="2"/>
              </a:rPr>
              <a:t>          </a:t>
            </a:r>
            <a:r>
              <a:rPr lang="en-US" altLang="en-US" b="1" dirty="0">
                <a:sym typeface="Symbol" panose="05050102010706020507" pitchFamily="18" charset="2"/>
              </a:rPr>
              <a:t>until </a:t>
            </a:r>
            <a:r>
              <a:rPr lang="en-US" altLang="en-US" dirty="0">
                <a:sym typeface="Symbol" panose="05050102010706020507" pitchFamily="18" charset="2"/>
              </a:rPr>
              <a:t> (</a:t>
            </a:r>
            <a:r>
              <a:rPr lang="en-US" altLang="en-US" i="1" dirty="0">
                <a:sym typeface="Symbol" panose="05050102010706020507" pitchFamily="18" charset="2"/>
              </a:rPr>
              <a:t>result </a:t>
            </a:r>
            <a:r>
              <a:rPr lang="en-US" altLang="en-US" dirty="0">
                <a:sym typeface="Symbol" panose="05050102010706020507" pitchFamily="18" charset="2"/>
              </a:rPr>
              <a:t>does not change)</a:t>
            </a:r>
            <a:endParaRPr lang="en-US" altLang="en-US" i="1" dirty="0">
              <a:sym typeface="Symbol" panose="05050102010706020507" pitchFamily="18" charset="2"/>
            </a:endParaRPr>
          </a:p>
          <a:p>
            <a:pPr lvl="1">
              <a:buSzPct val="110000"/>
              <a:buFont typeface="Arial" panose="020B0604020202020204" pitchFamily="34" charset="0"/>
              <a:buChar char="•"/>
            </a:pPr>
            <a:r>
              <a:rPr lang="en-US" altLang="en-US" dirty="0">
                <a:sym typeface="Symbol" panose="05050102010706020507" pitchFamily="18" charset="2"/>
              </a:rPr>
              <a:t>If </a:t>
            </a:r>
            <a:r>
              <a:rPr lang="en-US" altLang="en-US" i="1" dirty="0">
                <a:sym typeface="Symbol" panose="05050102010706020507" pitchFamily="18" charset="2"/>
              </a:rPr>
              <a:t>result</a:t>
            </a:r>
            <a:r>
              <a:rPr lang="en-US" altLang="en-US" dirty="0">
                <a:sym typeface="Symbol" panose="05050102010706020507" pitchFamily="18" charset="2"/>
              </a:rPr>
              <a:t> contains all attributes in , then the functional dependency     is preserved.</a:t>
            </a:r>
          </a:p>
          <a:p>
            <a:pPr>
              <a:buSzPct val="110000"/>
              <a:buFont typeface="Wingdings" panose="05000000000000000000" pitchFamily="2" charset="2"/>
              <a:buChar char="§"/>
            </a:pPr>
            <a:r>
              <a:rPr lang="en-US" altLang="en-US" dirty="0">
                <a:sym typeface="Symbol" panose="05050102010706020507" pitchFamily="18" charset="2"/>
              </a:rPr>
              <a:t>We apply the test on all dependencies in </a:t>
            </a:r>
            <a:r>
              <a:rPr lang="en-US" altLang="en-US" i="1" dirty="0">
                <a:sym typeface="Symbol" panose="05050102010706020507" pitchFamily="18" charset="2"/>
              </a:rPr>
              <a:t>F</a:t>
            </a:r>
            <a:r>
              <a:rPr lang="en-US" altLang="en-US" dirty="0">
                <a:sym typeface="Symbol" panose="05050102010706020507" pitchFamily="18" charset="2"/>
              </a:rPr>
              <a:t>  to check if a decomposition is dependency preserving</a:t>
            </a:r>
          </a:p>
          <a:p>
            <a:pPr>
              <a:buSzPct val="110000"/>
              <a:buFont typeface="Wingdings" panose="05000000000000000000" pitchFamily="2" charset="2"/>
              <a:buChar char="§"/>
            </a:pPr>
            <a:r>
              <a:rPr lang="en-US" altLang="en-US" dirty="0">
                <a:sym typeface="Symbol" panose="05050102010706020507" pitchFamily="18" charset="2"/>
              </a:rPr>
              <a:t>This procedure takes polynomial time, instead of the exponential time required to compute </a:t>
            </a:r>
            <a:r>
              <a:rPr lang="en-US" altLang="en-US" i="1" dirty="0">
                <a:sym typeface="Symbol" panose="05050102010706020507" pitchFamily="18" charset="2"/>
              </a:rPr>
              <a:t>F</a:t>
            </a:r>
            <a:r>
              <a:rPr lang="en-US" altLang="en-US" i="1" baseline="30000" dirty="0">
                <a:sym typeface="Symbol" panose="05050102010706020507" pitchFamily="18" charset="2"/>
              </a:rPr>
              <a:t>+</a:t>
            </a:r>
            <a:r>
              <a:rPr lang="en-US" altLang="en-US" i="1" dirty="0">
                <a:sym typeface="Symbol" panose="05050102010706020507" pitchFamily="18" charset="2"/>
              </a:rPr>
              <a:t> </a:t>
            </a:r>
            <a:r>
              <a:rPr lang="en-US" altLang="en-US" dirty="0">
                <a:sym typeface="Symbol" panose="05050102010706020507" pitchFamily="18" charset="2"/>
              </a:rPr>
              <a:t>and</a:t>
            </a:r>
            <a:r>
              <a:rPr lang="en-US" altLang="en-US" i="1" dirty="0">
                <a:sym typeface="Symbol" panose="05050102010706020507" pitchFamily="18" charset="2"/>
              </a:rPr>
              <a:t> </a:t>
            </a:r>
            <a:r>
              <a:rPr lang="en-US" altLang="en-US" dirty="0"/>
              <a:t>(</a:t>
            </a:r>
            <a:r>
              <a:rPr lang="en-US" altLang="en-US" i="1" dirty="0"/>
              <a:t>F</a:t>
            </a:r>
            <a:r>
              <a:rPr lang="en-US" altLang="en-US" baseline="-25000" dirty="0"/>
              <a:t>1</a:t>
            </a:r>
            <a:r>
              <a:rPr lang="en-US" altLang="en-US" i="1" dirty="0"/>
              <a:t> </a:t>
            </a:r>
            <a:r>
              <a:rPr lang="en-US" altLang="en-US" dirty="0">
                <a:sym typeface="Symbol" panose="05050102010706020507" pitchFamily="18" charset="2"/>
              </a:rPr>
              <a:t></a:t>
            </a:r>
            <a:r>
              <a:rPr lang="en-US" altLang="en-US" i="1" dirty="0">
                <a:sym typeface="Symbol" panose="05050102010706020507" pitchFamily="18" charset="2"/>
              </a:rPr>
              <a:t> F</a:t>
            </a:r>
            <a:r>
              <a:rPr lang="en-US" altLang="en-US" baseline="-25000" dirty="0">
                <a:sym typeface="Symbol" panose="05050102010706020507" pitchFamily="18" charset="2"/>
              </a:rPr>
              <a:t>2</a:t>
            </a:r>
            <a:r>
              <a:rPr lang="en-US" altLang="en-US" dirty="0">
                <a:sym typeface="Symbol" panose="05050102010706020507" pitchFamily="18" charset="2"/>
              </a:rPr>
              <a:t> </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 </a:t>
            </a:r>
            <a:r>
              <a:rPr lang="en-US" altLang="en-US" i="1" dirty="0" err="1">
                <a:sym typeface="Symbol" panose="05050102010706020507" pitchFamily="18" charset="2"/>
              </a:rPr>
              <a:t>F</a:t>
            </a:r>
            <a:r>
              <a:rPr lang="en-US" altLang="en-US" baseline="-25000" dirty="0" err="1">
                <a:sym typeface="Symbol" panose="05050102010706020507" pitchFamily="18" charset="2"/>
              </a:rPr>
              <a:t>n</a:t>
            </a:r>
            <a:r>
              <a:rPr lang="en-US" altLang="en-US" dirty="0">
                <a:sym typeface="Symbol" panose="05050102010706020507" pitchFamily="18" charset="2"/>
              </a:rPr>
              <a:t>)</a:t>
            </a:r>
            <a:r>
              <a:rPr lang="en-US" altLang="en-US" baseline="30000" dirty="0">
                <a:sym typeface="Symbol" panose="05050102010706020507" pitchFamily="18" charset="2"/>
              </a:rPr>
              <a:t>+</a:t>
            </a:r>
            <a:r>
              <a:rPr lang="en-US" altLang="en-US" dirty="0">
                <a:sym typeface="Symbol" panose="05050102010706020507" pitchFamily="18" charset="2"/>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Example</a:t>
            </a:r>
          </a:p>
        </p:txBody>
      </p:sp>
      <p:sp>
        <p:nvSpPr>
          <p:cNvPr id="63491" name="Rectangle 3"/>
          <p:cNvSpPr>
            <a:spLocks noGrp="1" noChangeArrowheads="1"/>
          </p:cNvSpPr>
          <p:nvPr>
            <p:ph type="body" idx="1"/>
          </p:nvPr>
        </p:nvSpPr>
        <p:spPr>
          <a:xfrm>
            <a:off x="768350" y="1139575"/>
            <a:ext cx="7585537" cy="2951162"/>
          </a:xfrm>
        </p:spPr>
        <p:txBody>
          <a:bodyPr/>
          <a:lstStyle/>
          <a:p>
            <a:pPr>
              <a:tabLst>
                <a:tab pos="744538" algn="l"/>
              </a:tabLst>
            </a:pPr>
            <a:r>
              <a:rPr lang="en-US" altLang="en-US" i="1" dirty="0"/>
              <a:t>R = </a:t>
            </a:r>
            <a:r>
              <a:rPr lang="en-US" altLang="en-US" dirty="0"/>
              <a:t>(</a:t>
            </a:r>
            <a:r>
              <a:rPr lang="en-US" altLang="en-US" i="1" dirty="0"/>
              <a:t>A, B, C </a:t>
            </a:r>
            <a:r>
              <a:rPr lang="en-US" altLang="en-US" dirty="0"/>
              <a:t>)</a:t>
            </a:r>
            <a:r>
              <a:rPr lang="en-US" altLang="en-US" i="1" dirty="0"/>
              <a:t/>
            </a:r>
            <a:br>
              <a:rPr lang="en-US" altLang="en-US" i="1" dirty="0"/>
            </a:br>
            <a:r>
              <a:rPr lang="en-US" altLang="en-US" i="1" dirty="0"/>
              <a:t>F = </a:t>
            </a:r>
            <a:r>
              <a:rPr lang="en-US" altLang="en-US" dirty="0"/>
              <a:t>{</a:t>
            </a:r>
            <a:r>
              <a:rPr lang="en-US" altLang="en-US" i="1" dirty="0"/>
              <a:t>A</a:t>
            </a:r>
            <a:r>
              <a:rPr lang="en-US" altLang="en-US" dirty="0"/>
              <a:t>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B</a:t>
            </a:r>
            <a:br>
              <a:rPr lang="en-US" altLang="en-US" i="1" dirty="0">
                <a:sym typeface="Monotype Sorts" pitchFamily="-84" charset="2"/>
              </a:rPr>
            </a:br>
            <a:r>
              <a:rPr lang="en-US" altLang="en-US" i="1" dirty="0">
                <a:sym typeface="Monotype Sorts" pitchFamily="-84" charset="2"/>
              </a:rPr>
              <a:t>	 B </a:t>
            </a:r>
            <a:r>
              <a:rPr lang="en-US" altLang="en-US" dirty="0">
                <a:sym typeface="Symbol" panose="05050102010706020507" pitchFamily="18" charset="2"/>
              </a:rPr>
              <a:t></a:t>
            </a:r>
            <a:r>
              <a:rPr lang="en-US" altLang="en-US" i="1" dirty="0">
                <a:sym typeface="Monotype Sorts" pitchFamily="-84" charset="2"/>
              </a:rPr>
              <a:t> C</a:t>
            </a:r>
            <a:r>
              <a:rPr lang="en-US" altLang="en-US" dirty="0">
                <a:sym typeface="Monotype Sorts" pitchFamily="-84" charset="2"/>
              </a:rPr>
              <a:t>}</a:t>
            </a:r>
            <a:br>
              <a:rPr lang="en-US" altLang="en-US" dirty="0">
                <a:sym typeface="Monotype Sorts" pitchFamily="-84" charset="2"/>
              </a:rPr>
            </a:br>
            <a:r>
              <a:rPr lang="en-US" altLang="en-US" dirty="0">
                <a:sym typeface="Monotype Sorts" pitchFamily="-84" charset="2"/>
              </a:rPr>
              <a:t>Key = {</a:t>
            </a:r>
            <a:r>
              <a:rPr lang="en-US" altLang="en-US" i="1" dirty="0">
                <a:sym typeface="Monotype Sorts" pitchFamily="-84" charset="2"/>
              </a:rPr>
              <a:t>A</a:t>
            </a:r>
            <a:r>
              <a:rPr lang="en-US" altLang="en-US" dirty="0">
                <a:sym typeface="Monotype Sorts" pitchFamily="-84" charset="2"/>
              </a:rPr>
              <a:t>}</a:t>
            </a:r>
          </a:p>
          <a:p>
            <a:pPr>
              <a:tabLst>
                <a:tab pos="744538" algn="l"/>
              </a:tabLst>
            </a:pPr>
            <a:r>
              <a:rPr lang="en-US" altLang="en-US" i="1" dirty="0">
                <a:sym typeface="Monotype Sorts" pitchFamily="-84" charset="2"/>
              </a:rPr>
              <a:t>R</a:t>
            </a:r>
            <a:r>
              <a:rPr lang="en-US" altLang="en-US" dirty="0">
                <a:sym typeface="Monotype Sorts" pitchFamily="-84" charset="2"/>
              </a:rPr>
              <a:t> is not in BCNF</a:t>
            </a:r>
          </a:p>
          <a:p>
            <a:pPr>
              <a:tabLst>
                <a:tab pos="744538" algn="l"/>
              </a:tabLst>
            </a:pPr>
            <a:r>
              <a:rPr lang="en-US" altLang="en-US" dirty="0">
                <a:sym typeface="Monotype Sorts" pitchFamily="-84" charset="2"/>
              </a:rPr>
              <a:t>Decomposition </a:t>
            </a:r>
            <a:r>
              <a:rPr lang="en-US" altLang="en-US" i="1" dirty="0">
                <a:sym typeface="Monotype Sorts" pitchFamily="-84" charset="2"/>
              </a:rPr>
              <a:t>R</a:t>
            </a:r>
            <a:r>
              <a:rPr lang="en-US" altLang="en-US" baseline="-25000" dirty="0">
                <a:sym typeface="Monotype Sorts" pitchFamily="-84" charset="2"/>
              </a:rPr>
              <a:t>1</a:t>
            </a:r>
            <a:r>
              <a:rPr lang="en-US" altLang="en-US" dirty="0">
                <a:sym typeface="Monotype Sorts" pitchFamily="-84" charset="2"/>
              </a:rPr>
              <a:t> = (</a:t>
            </a:r>
            <a:r>
              <a:rPr lang="en-US" altLang="en-US" i="1" dirty="0">
                <a:sym typeface="Monotype Sorts" pitchFamily="-84" charset="2"/>
              </a:rPr>
              <a:t>A, B),  R</a:t>
            </a:r>
            <a:r>
              <a:rPr lang="en-US" altLang="en-US" baseline="-25000" dirty="0">
                <a:sym typeface="Monotype Sorts" pitchFamily="-84" charset="2"/>
              </a:rPr>
              <a:t>2</a:t>
            </a:r>
            <a:r>
              <a:rPr lang="en-US" altLang="en-US" dirty="0">
                <a:sym typeface="Monotype Sorts" pitchFamily="-84" charset="2"/>
              </a:rPr>
              <a:t> = </a:t>
            </a:r>
            <a:r>
              <a:rPr lang="en-US" altLang="en-US" i="1" dirty="0">
                <a:sym typeface="Monotype Sorts" pitchFamily="-84" charset="2"/>
              </a:rPr>
              <a:t>(B, C)</a:t>
            </a:r>
          </a:p>
          <a:p>
            <a:pPr lvl="1">
              <a:tabLst>
                <a:tab pos="744538" algn="l"/>
              </a:tabLst>
            </a:pPr>
            <a:r>
              <a:rPr lang="en-US" altLang="en-US" i="1" dirty="0">
                <a:sym typeface="Monotype Sorts" pitchFamily="-84" charset="2"/>
              </a:rPr>
              <a:t>R</a:t>
            </a:r>
            <a:r>
              <a:rPr lang="en-US" altLang="en-US" baseline="-25000" dirty="0">
                <a:sym typeface="Monotype Sorts" pitchFamily="-84" charset="2"/>
              </a:rPr>
              <a:t>1</a:t>
            </a:r>
            <a:r>
              <a:rPr lang="en-US" altLang="en-US" i="1" baseline="-25000" dirty="0">
                <a:sym typeface="Monotype Sorts" pitchFamily="-84" charset="2"/>
              </a:rPr>
              <a:t> </a:t>
            </a:r>
            <a:r>
              <a:rPr lang="en-US" altLang="en-US" dirty="0">
                <a:sym typeface="Monotype Sorts" pitchFamily="-84" charset="2"/>
              </a:rPr>
              <a:t>and </a:t>
            </a:r>
            <a:r>
              <a:rPr lang="en-US" altLang="en-US" i="1" dirty="0">
                <a:sym typeface="Monotype Sorts" pitchFamily="-84" charset="2"/>
              </a:rPr>
              <a:t>R</a:t>
            </a:r>
            <a:r>
              <a:rPr lang="en-US" altLang="en-US" baseline="-25000" dirty="0">
                <a:sym typeface="Monotype Sorts" pitchFamily="-84" charset="2"/>
              </a:rPr>
              <a:t>2</a:t>
            </a:r>
            <a:r>
              <a:rPr lang="en-US" altLang="en-US" dirty="0">
                <a:sym typeface="Monotype Sorts" pitchFamily="-84" charset="2"/>
              </a:rPr>
              <a:t> in BCNF</a:t>
            </a:r>
          </a:p>
          <a:p>
            <a:pPr lvl="1">
              <a:tabLst>
                <a:tab pos="744538" algn="l"/>
              </a:tabLst>
            </a:pPr>
            <a:r>
              <a:rPr lang="en-US" altLang="en-US" dirty="0">
                <a:sym typeface="Monotype Sorts" pitchFamily="-84" charset="2"/>
              </a:rPr>
              <a:t>Lossless-join decomposition</a:t>
            </a:r>
          </a:p>
          <a:p>
            <a:pPr lvl="1">
              <a:tabLst>
                <a:tab pos="744538" algn="l"/>
              </a:tabLst>
            </a:pPr>
            <a:r>
              <a:rPr lang="en-US" altLang="en-US" dirty="0">
                <a:sym typeface="Monotype Sorts" pitchFamily="-84" charset="2"/>
              </a:rPr>
              <a:t>Dependency preserving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858963" y="2400300"/>
            <a:ext cx="5773737" cy="1257300"/>
          </a:xfrm>
        </p:spPr>
        <p:txBody>
          <a:bodyPr/>
          <a:lstStyle/>
          <a:p>
            <a:pPr>
              <a:buFont typeface="Monotype Sorts" charset="2"/>
              <a:buNone/>
              <a:defRPr/>
            </a:pPr>
            <a:r>
              <a:rPr lang="en-US" altLang="en-US" sz="3200" b="1" dirty="0">
                <a:solidFill>
                  <a:srgbClr val="002060"/>
                </a:solidFill>
                <a:effectLst>
                  <a:outerShdw blurRad="38100" dist="38100" dir="2700000" algn="tl">
                    <a:srgbClr val="C0C0C0"/>
                  </a:outerShdw>
                </a:effectLst>
                <a:latin typeface="+mj-lt"/>
                <a:ea typeface="ＭＳ Ｐゴシック" pitchFamily="34" charset="-128"/>
                <a:cs typeface="+mj-cs"/>
              </a:rPr>
              <a:t>Multivalued Dependencies</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480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Multivalued Dependencies (MVDs)</a:t>
            </a:r>
          </a:p>
        </p:txBody>
      </p:sp>
      <p:sp>
        <p:nvSpPr>
          <p:cNvPr id="80899" name="Rectangle 3"/>
          <p:cNvSpPr>
            <a:spLocks noGrp="1" noChangeArrowheads="1"/>
          </p:cNvSpPr>
          <p:nvPr>
            <p:ph type="body" idx="1"/>
          </p:nvPr>
        </p:nvSpPr>
        <p:spPr>
          <a:xfrm>
            <a:off x="768351" y="1093789"/>
            <a:ext cx="7585536" cy="4103854"/>
          </a:xfrm>
        </p:spPr>
        <p:txBody>
          <a:bodyPr/>
          <a:lstStyle/>
          <a:p>
            <a:r>
              <a:rPr lang="en-US" altLang="en-US" dirty="0"/>
              <a:t>Suppose we record names of children, and phone numbers for instructors:</a:t>
            </a:r>
          </a:p>
          <a:p>
            <a:pPr lvl="1"/>
            <a:r>
              <a:rPr lang="en-US" altLang="en-US" i="1" dirty="0" err="1"/>
              <a:t>inst_child</a:t>
            </a:r>
            <a:r>
              <a:rPr lang="en-US" altLang="en-US" dirty="0"/>
              <a:t>(</a:t>
            </a:r>
            <a:r>
              <a:rPr lang="en-US" altLang="en-US" i="1" dirty="0"/>
              <a:t>ID</a:t>
            </a:r>
            <a:r>
              <a:rPr lang="en-US" altLang="en-US" dirty="0"/>
              <a:t>, </a:t>
            </a:r>
            <a:r>
              <a:rPr lang="en-US" altLang="en-US" i="1" dirty="0" err="1"/>
              <a:t>child_name</a:t>
            </a:r>
            <a:r>
              <a:rPr lang="en-US" altLang="en-US" dirty="0"/>
              <a:t>)</a:t>
            </a:r>
          </a:p>
          <a:p>
            <a:pPr lvl="1"/>
            <a:r>
              <a:rPr lang="en-US" altLang="en-US" i="1" dirty="0" err="1"/>
              <a:t>inst_phone</a:t>
            </a:r>
            <a:r>
              <a:rPr lang="en-US" altLang="en-US" dirty="0"/>
              <a:t>(</a:t>
            </a:r>
            <a:r>
              <a:rPr lang="en-US" altLang="en-US" i="1" dirty="0"/>
              <a:t>ID</a:t>
            </a:r>
            <a:r>
              <a:rPr lang="en-US" altLang="en-US" dirty="0"/>
              <a:t>, </a:t>
            </a:r>
            <a:r>
              <a:rPr lang="en-US" altLang="en-US" i="1" dirty="0" err="1"/>
              <a:t>phone_number</a:t>
            </a:r>
            <a:r>
              <a:rPr lang="en-US" altLang="en-US" dirty="0"/>
              <a:t>)</a:t>
            </a:r>
          </a:p>
          <a:p>
            <a:r>
              <a:rPr lang="en-US" altLang="en-US" dirty="0"/>
              <a:t>If we were to combine these schemas to get</a:t>
            </a:r>
          </a:p>
          <a:p>
            <a:pPr lvl="1"/>
            <a:r>
              <a:rPr lang="en-US" altLang="en-US" i="1" dirty="0" err="1"/>
              <a:t>inst_info</a:t>
            </a:r>
            <a:r>
              <a:rPr lang="en-US" altLang="en-US" dirty="0"/>
              <a:t>(</a:t>
            </a:r>
            <a:r>
              <a:rPr lang="en-US" altLang="en-US" i="1" dirty="0"/>
              <a:t>ID</a:t>
            </a:r>
            <a:r>
              <a:rPr lang="en-US" altLang="en-US" dirty="0"/>
              <a:t>, </a:t>
            </a:r>
            <a:r>
              <a:rPr lang="en-US" altLang="en-US" i="1" dirty="0" err="1"/>
              <a:t>child_name</a:t>
            </a:r>
            <a:r>
              <a:rPr lang="en-US" altLang="en-US" dirty="0"/>
              <a:t>, </a:t>
            </a:r>
            <a:r>
              <a:rPr lang="en-US" altLang="en-US" i="1" dirty="0" err="1"/>
              <a:t>phone_number</a:t>
            </a:r>
            <a:r>
              <a:rPr lang="en-US" altLang="en-US" dirty="0"/>
              <a:t>)</a:t>
            </a:r>
          </a:p>
          <a:p>
            <a:pPr lvl="1"/>
            <a:r>
              <a:rPr lang="en-US" altLang="en-US" dirty="0"/>
              <a:t>Example data:</a:t>
            </a:r>
            <a:br>
              <a:rPr lang="en-US" altLang="en-US" dirty="0"/>
            </a:br>
            <a:r>
              <a:rPr lang="en-US" altLang="en-US" dirty="0"/>
              <a:t>(99999, David, 512-555-1234)</a:t>
            </a:r>
            <a:br>
              <a:rPr lang="en-US" altLang="en-US" dirty="0"/>
            </a:br>
            <a:r>
              <a:rPr lang="en-US" altLang="en-US" dirty="0"/>
              <a:t>(99999, David, 512-555-4321)</a:t>
            </a:r>
            <a:br>
              <a:rPr lang="en-US" altLang="en-US" dirty="0"/>
            </a:br>
            <a:r>
              <a:rPr lang="en-US" altLang="en-US" dirty="0"/>
              <a:t>(99999, William, 512-555-1234)</a:t>
            </a:r>
            <a:br>
              <a:rPr lang="en-US" altLang="en-US" dirty="0"/>
            </a:br>
            <a:r>
              <a:rPr lang="en-US" altLang="en-US" dirty="0"/>
              <a:t>(99999, William, 512-555-4321)</a:t>
            </a:r>
          </a:p>
          <a:p>
            <a:r>
              <a:rPr lang="en-US" altLang="en-US" dirty="0"/>
              <a:t>This relation is in BCNF</a:t>
            </a:r>
          </a:p>
          <a:p>
            <a:pPr lvl="1"/>
            <a:r>
              <a:rPr lang="en-US" altLang="en-US" dirty="0"/>
              <a:t>Why?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6978"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Multivalued Dependencies</a:t>
            </a:r>
          </a:p>
        </p:txBody>
      </p:sp>
      <p:sp>
        <p:nvSpPr>
          <p:cNvPr id="81923" name="Rectangle 3"/>
          <p:cNvSpPr>
            <a:spLocks noGrp="1" noChangeArrowheads="1"/>
          </p:cNvSpPr>
          <p:nvPr>
            <p:ph type="body" idx="1"/>
          </p:nvPr>
        </p:nvSpPr>
        <p:spPr>
          <a:xfrm>
            <a:off x="768350" y="1182688"/>
            <a:ext cx="7603293" cy="3184775"/>
          </a:xfrm>
        </p:spPr>
        <p:txBody>
          <a:bodyPr/>
          <a:lstStyle/>
          <a:p>
            <a:pPr>
              <a:tabLst>
                <a:tab pos="1890713" algn="l"/>
                <a:tab pos="2798763" algn="l"/>
              </a:tabLst>
            </a:pPr>
            <a:r>
              <a:rPr lang="en-US" altLang="en-US" dirty="0"/>
              <a:t>Let </a:t>
            </a:r>
            <a:r>
              <a:rPr lang="en-US" altLang="en-US" i="1" dirty="0"/>
              <a:t>R</a:t>
            </a:r>
            <a:r>
              <a:rPr lang="en-US" altLang="en-US" dirty="0"/>
              <a:t> be a relation schema and let </a:t>
            </a:r>
            <a:r>
              <a:rPr lang="en-US" altLang="en-US" dirty="0">
                <a:sym typeface="Symbol" panose="05050102010706020507" pitchFamily="18" charset="2"/>
              </a:rPr>
              <a:t>  </a:t>
            </a:r>
            <a:r>
              <a:rPr lang="en-US" altLang="en-US" i="1" dirty="0">
                <a:sym typeface="Symbol" panose="05050102010706020507" pitchFamily="18" charset="2"/>
              </a:rPr>
              <a:t>R</a:t>
            </a:r>
            <a:r>
              <a:rPr lang="en-US" altLang="en-US" dirty="0">
                <a:sym typeface="Symbol" panose="05050102010706020507" pitchFamily="18" charset="2"/>
              </a:rPr>
              <a:t> and </a:t>
            </a:r>
            <a:r>
              <a:rPr lang="en-US" altLang="en-US" dirty="0">
                <a:sym typeface="Greek Symbols"/>
              </a:rPr>
              <a:t> </a:t>
            </a:r>
            <a:r>
              <a:rPr lang="en-US" altLang="en-US" dirty="0">
                <a:sym typeface="Symbol" panose="05050102010706020507" pitchFamily="18" charset="2"/>
              </a:rPr>
              <a:t> </a:t>
            </a:r>
            <a:r>
              <a:rPr lang="en-US" altLang="en-US" i="1" dirty="0">
                <a:sym typeface="Symbol" panose="05050102010706020507" pitchFamily="18" charset="2"/>
              </a:rPr>
              <a:t>R. </a:t>
            </a:r>
            <a:r>
              <a:rPr lang="en-US" altLang="en-US" dirty="0">
                <a:sym typeface="Symbol" panose="05050102010706020507" pitchFamily="18" charset="2"/>
              </a:rPr>
              <a:t>  The </a:t>
            </a:r>
            <a:r>
              <a:rPr lang="en-US" altLang="en-US" b="1" dirty="0">
                <a:solidFill>
                  <a:srgbClr val="002060"/>
                </a:solidFill>
                <a:sym typeface="Symbol" panose="05050102010706020507" pitchFamily="18" charset="2"/>
              </a:rPr>
              <a:t>multivalued dependency</a:t>
            </a:r>
            <a:r>
              <a:rPr lang="en-US" altLang="en-US" dirty="0">
                <a:solidFill>
                  <a:srgbClr val="002060"/>
                </a:solidFill>
                <a:sym typeface="Symbol" panose="05050102010706020507" pitchFamily="18" charset="2"/>
              </a:rPr>
              <a:t> </a:t>
            </a:r>
            <a:endParaRPr lang="en-US" altLang="en-US" dirty="0">
              <a:solidFill>
                <a:srgbClr val="002060"/>
              </a:solidFill>
            </a:endParaRPr>
          </a:p>
          <a:p>
            <a:pPr>
              <a:buFont typeface="Monotype Sorts" pitchFamily="-84" charset="2"/>
              <a:buNone/>
              <a:tabLst>
                <a:tab pos="1890713" algn="l"/>
                <a:tab pos="2798763" algn="l"/>
              </a:tabLst>
            </a:pPr>
            <a:r>
              <a:rPr lang="en-US" altLang="en-US" dirty="0">
                <a:sym typeface="Greek Symbols"/>
              </a:rPr>
              <a:t>			</a:t>
            </a:r>
            <a:r>
              <a:rPr lang="en-US" altLang="en-US" dirty="0">
                <a:sym typeface="Symbol" panose="05050102010706020507" pitchFamily="18" charset="2"/>
              </a:rPr>
              <a:t></a:t>
            </a:r>
            <a:r>
              <a:rPr lang="en-US" altLang="en-US" dirty="0">
                <a:sym typeface="Greek Symbols"/>
              </a:rPr>
              <a:t> </a:t>
            </a:r>
            <a:r>
              <a:rPr lang="en-US" altLang="en-US" b="1" dirty="0">
                <a:sym typeface="Symbol" panose="05050102010706020507" pitchFamily="18" charset="2"/>
              </a:rPr>
              <a:t></a:t>
            </a:r>
            <a:r>
              <a:rPr lang="en-US" altLang="en-US" dirty="0">
                <a:sym typeface="Monotype Sorts" pitchFamily="-84" charset="2"/>
              </a:rPr>
              <a:t> </a:t>
            </a:r>
            <a:r>
              <a:rPr lang="en-US" altLang="en-US" dirty="0">
                <a:sym typeface="Symbol" panose="05050102010706020507" pitchFamily="18" charset="2"/>
              </a:rPr>
              <a:t></a:t>
            </a:r>
            <a:endParaRPr lang="en-US" altLang="en-US" i="1" dirty="0">
              <a:sym typeface="Greek Symbols"/>
            </a:endParaRPr>
          </a:p>
          <a:p>
            <a:pPr>
              <a:buFont typeface="Monotype Sorts" pitchFamily="-84" charset="2"/>
              <a:buNone/>
              <a:tabLst>
                <a:tab pos="1890713" algn="l"/>
                <a:tab pos="2798763" algn="l"/>
              </a:tabLst>
            </a:pPr>
            <a:r>
              <a:rPr lang="en-US" altLang="en-US" i="1" dirty="0">
                <a:sym typeface="Greek Symbols"/>
              </a:rPr>
              <a:t>	</a:t>
            </a:r>
            <a:r>
              <a:rPr lang="en-US" altLang="en-US" dirty="0">
                <a:sym typeface="Greek Symbols"/>
              </a:rPr>
              <a:t>holds on </a:t>
            </a:r>
            <a:r>
              <a:rPr lang="en-US" altLang="en-US" i="1" dirty="0">
                <a:sym typeface="Greek Symbols"/>
              </a:rPr>
              <a:t>R</a:t>
            </a:r>
            <a:r>
              <a:rPr lang="en-US" altLang="en-US" dirty="0">
                <a:sym typeface="Greek Symbols"/>
              </a:rPr>
              <a:t> if in any legal relation </a:t>
            </a:r>
            <a:r>
              <a:rPr lang="en-US" altLang="en-US" i="1" dirty="0">
                <a:sym typeface="Greek Symbols"/>
              </a:rPr>
              <a:t>r(R),</a:t>
            </a:r>
            <a:r>
              <a:rPr lang="en-US" altLang="en-US" dirty="0">
                <a:sym typeface="Greek Symbols"/>
              </a:rPr>
              <a:t> for all pairs for tuples </a:t>
            </a:r>
            <a:r>
              <a:rPr lang="en-US" altLang="en-US" i="1" dirty="0">
                <a:sym typeface="Greek Symbols"/>
              </a:rPr>
              <a:t>t</a:t>
            </a:r>
            <a:r>
              <a:rPr lang="en-US" altLang="en-US" baseline="-25000" dirty="0">
                <a:sym typeface="Greek Symbols"/>
              </a:rPr>
              <a:t>1 </a:t>
            </a:r>
            <a:r>
              <a:rPr lang="en-US" altLang="en-US" dirty="0">
                <a:sym typeface="Greek Symbols"/>
              </a:rPr>
              <a:t>and </a:t>
            </a:r>
            <a:r>
              <a:rPr lang="en-US" altLang="en-US" i="1" dirty="0">
                <a:sym typeface="Greek Symbols"/>
              </a:rPr>
              <a:t>t</a:t>
            </a:r>
            <a:r>
              <a:rPr lang="en-US" altLang="en-US" i="1" baseline="-25000" dirty="0">
                <a:sym typeface="Greek Symbols"/>
              </a:rPr>
              <a:t>2</a:t>
            </a:r>
            <a:r>
              <a:rPr lang="en-US" altLang="en-US" dirty="0">
                <a:sym typeface="Greek Symbols"/>
              </a:rPr>
              <a:t> in </a:t>
            </a:r>
            <a:r>
              <a:rPr lang="en-US" altLang="en-US" i="1" dirty="0">
                <a:sym typeface="Greek Symbols"/>
              </a:rPr>
              <a:t>r</a:t>
            </a:r>
            <a:r>
              <a:rPr lang="en-US" altLang="en-US" dirty="0">
                <a:sym typeface="Greek Symbols"/>
              </a:rPr>
              <a:t> such that </a:t>
            </a:r>
            <a:r>
              <a:rPr lang="en-US" altLang="en-US" i="1" dirty="0">
                <a:sym typeface="Greek Symbols"/>
              </a:rPr>
              <a:t>t</a:t>
            </a:r>
            <a:r>
              <a:rPr lang="en-US" altLang="en-US" baseline="-25000" dirty="0">
                <a:sym typeface="Greek Symbols"/>
              </a:rPr>
              <a:t>1</a:t>
            </a:r>
            <a:r>
              <a:rPr lang="en-US" altLang="en-US" dirty="0">
                <a:sym typeface="Greek Symbols"/>
              </a:rPr>
              <a:t>[</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i="1" baseline="-25000" dirty="0">
                <a:sym typeface="Greek Symbols"/>
              </a:rPr>
              <a:t>2 </a:t>
            </a:r>
            <a:r>
              <a:rPr lang="en-US" altLang="en-US" dirty="0">
                <a:sym typeface="Greek Symbols"/>
              </a:rPr>
              <a:t>[</a:t>
            </a:r>
            <a:r>
              <a:rPr lang="en-US" altLang="en-US" dirty="0">
                <a:sym typeface="Symbol" panose="05050102010706020507" pitchFamily="18" charset="2"/>
              </a:rPr>
              <a:t></a:t>
            </a:r>
            <a:r>
              <a:rPr lang="en-US" altLang="en-US" dirty="0">
                <a:sym typeface="Greek Symbols"/>
              </a:rPr>
              <a:t>], there exist tuples </a:t>
            </a:r>
            <a:r>
              <a:rPr lang="en-US" altLang="en-US" i="1" dirty="0">
                <a:sym typeface="Greek Symbols"/>
              </a:rPr>
              <a:t>t</a:t>
            </a:r>
            <a:r>
              <a:rPr lang="en-US" altLang="en-US" i="1" baseline="-25000" dirty="0">
                <a:sym typeface="Greek Symbols"/>
              </a:rPr>
              <a:t>3</a:t>
            </a:r>
            <a:r>
              <a:rPr lang="en-US" altLang="en-US" dirty="0">
                <a:sym typeface="Greek Symbols"/>
              </a:rPr>
              <a:t> and </a:t>
            </a:r>
            <a:r>
              <a:rPr lang="en-US" altLang="en-US" i="1" dirty="0">
                <a:sym typeface="Greek Symbols"/>
              </a:rPr>
              <a:t>t</a:t>
            </a:r>
            <a:r>
              <a:rPr lang="en-US" altLang="en-US" baseline="-25000" dirty="0">
                <a:sym typeface="Greek Symbols"/>
              </a:rPr>
              <a:t>4</a:t>
            </a:r>
            <a:r>
              <a:rPr lang="en-US" altLang="en-US" dirty="0">
                <a:sym typeface="Greek Symbols"/>
              </a:rPr>
              <a:t> in </a:t>
            </a:r>
            <a:r>
              <a:rPr lang="en-US" altLang="en-US" i="1" dirty="0">
                <a:sym typeface="Greek Symbols"/>
              </a:rPr>
              <a:t>r </a:t>
            </a:r>
            <a:r>
              <a:rPr lang="en-US" altLang="en-US" dirty="0">
                <a:sym typeface="Greek Symbols"/>
              </a:rPr>
              <a:t>such that: </a:t>
            </a:r>
          </a:p>
          <a:p>
            <a:pPr>
              <a:buFont typeface="Monotype Sorts" pitchFamily="-84" charset="2"/>
              <a:buNone/>
              <a:tabLst>
                <a:tab pos="1890713" algn="l"/>
                <a:tab pos="2798763" algn="l"/>
              </a:tabLst>
            </a:pPr>
            <a:r>
              <a:rPr lang="en-US" altLang="en-US" dirty="0">
                <a:sym typeface="Greek Symbols"/>
              </a:rPr>
              <a:t>		 </a:t>
            </a:r>
            <a:r>
              <a:rPr lang="en-US" altLang="en-US" i="1" dirty="0">
                <a:sym typeface="Greek Symbols"/>
              </a:rPr>
              <a:t>t</a:t>
            </a:r>
            <a:r>
              <a:rPr lang="en-US" altLang="en-US" baseline="-25000" dirty="0">
                <a:sym typeface="Greek Symbols"/>
              </a:rPr>
              <a:t>1</a:t>
            </a:r>
            <a:r>
              <a:rPr lang="en-US" altLang="en-US" dirty="0">
                <a:sym typeface="Greek Symbols"/>
              </a:rPr>
              <a:t>[</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i="1" baseline="-25000" dirty="0">
                <a:sym typeface="Greek Symbols"/>
              </a:rPr>
              <a:t>2 </a:t>
            </a:r>
            <a:r>
              <a:rPr lang="en-US" altLang="en-US" dirty="0">
                <a:sym typeface="Greek Symbols"/>
              </a:rPr>
              <a:t>[</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baseline="-25000" dirty="0">
                <a:sym typeface="Greek Symbols"/>
              </a:rPr>
              <a:t>3</a:t>
            </a:r>
            <a:r>
              <a:rPr lang="en-US" altLang="en-US" dirty="0">
                <a:sym typeface="Greek Symbols"/>
              </a:rPr>
              <a:t> [</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baseline="-25000" dirty="0">
                <a:sym typeface="Greek Symbols"/>
              </a:rPr>
              <a:t>4</a:t>
            </a:r>
            <a:r>
              <a:rPr lang="en-US" altLang="en-US" i="1" baseline="-25000" dirty="0">
                <a:sym typeface="Greek Symbols"/>
              </a:rPr>
              <a:t> </a:t>
            </a:r>
            <a:r>
              <a:rPr lang="en-US" altLang="en-US" dirty="0">
                <a:sym typeface="Greek Symbols"/>
              </a:rPr>
              <a:t>[</a:t>
            </a:r>
            <a:r>
              <a:rPr lang="en-US" altLang="en-US" dirty="0">
                <a:sym typeface="Symbol" panose="05050102010706020507" pitchFamily="18" charset="2"/>
              </a:rPr>
              <a:t></a:t>
            </a:r>
            <a:r>
              <a:rPr lang="en-US" altLang="en-US" dirty="0">
                <a:sym typeface="Greek Symbols"/>
              </a:rPr>
              <a:t>] </a:t>
            </a:r>
            <a:br>
              <a:rPr lang="en-US" altLang="en-US" dirty="0">
                <a:sym typeface="Greek Symbols"/>
              </a:rPr>
            </a:br>
            <a:r>
              <a:rPr lang="en-US" altLang="en-US" dirty="0">
                <a:sym typeface="Greek Symbols"/>
              </a:rPr>
              <a:t>	 </a:t>
            </a:r>
            <a:r>
              <a:rPr lang="en-US" altLang="en-US" i="1" dirty="0">
                <a:sym typeface="Greek Symbols"/>
              </a:rPr>
              <a:t>t</a:t>
            </a:r>
            <a:r>
              <a:rPr lang="en-US" altLang="en-US" baseline="-25000" dirty="0">
                <a:sym typeface="Greek Symbols"/>
              </a:rPr>
              <a:t>3</a:t>
            </a:r>
            <a:r>
              <a:rPr lang="en-US" altLang="en-US" dirty="0">
                <a:sym typeface="Greek Symbols"/>
              </a:rPr>
              <a:t>[</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baseline="-25000" dirty="0">
                <a:sym typeface="Greek Symbols"/>
              </a:rPr>
              <a:t>1 </a:t>
            </a:r>
            <a:r>
              <a:rPr lang="en-US" altLang="en-US" dirty="0">
                <a:sym typeface="Greek Symbols"/>
              </a:rPr>
              <a:t>[</a:t>
            </a:r>
            <a:r>
              <a:rPr lang="en-US" altLang="en-US" dirty="0">
                <a:sym typeface="Symbol" panose="05050102010706020507" pitchFamily="18" charset="2"/>
              </a:rPr>
              <a:t></a:t>
            </a:r>
            <a:r>
              <a:rPr lang="en-US" altLang="en-US" dirty="0">
                <a:sym typeface="Greek Symbols"/>
              </a:rPr>
              <a:t>] </a:t>
            </a:r>
            <a:br>
              <a:rPr lang="en-US" altLang="en-US" dirty="0">
                <a:sym typeface="Greek Symbols"/>
              </a:rPr>
            </a:br>
            <a:r>
              <a:rPr lang="en-US" altLang="en-US" dirty="0">
                <a:sym typeface="Greek Symbols"/>
              </a:rPr>
              <a:t>	 </a:t>
            </a:r>
            <a:r>
              <a:rPr lang="en-US" altLang="en-US" i="1" dirty="0">
                <a:sym typeface="Greek Symbols"/>
              </a:rPr>
              <a:t>t</a:t>
            </a:r>
            <a:r>
              <a:rPr lang="en-US" altLang="en-US" baseline="-25000" dirty="0">
                <a:sym typeface="Greek Symbols"/>
              </a:rPr>
              <a:t>3</a:t>
            </a:r>
            <a:r>
              <a:rPr lang="en-US" altLang="en-US" dirty="0">
                <a:sym typeface="Greek Symbols"/>
              </a:rPr>
              <a:t>[</a:t>
            </a:r>
            <a:r>
              <a:rPr lang="en-US" altLang="en-US" i="1" dirty="0">
                <a:sym typeface="Greek Symbols"/>
              </a:rPr>
              <a:t>R  – </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baseline="-25000" dirty="0">
                <a:sym typeface="Greek Symbols"/>
              </a:rPr>
              <a:t>2</a:t>
            </a:r>
            <a:r>
              <a:rPr lang="en-US" altLang="en-US" dirty="0">
                <a:sym typeface="Greek Symbols"/>
              </a:rPr>
              <a:t>[</a:t>
            </a:r>
            <a:r>
              <a:rPr lang="en-US" altLang="en-US" i="1" dirty="0">
                <a:sym typeface="Greek Symbols"/>
              </a:rPr>
              <a:t>R  – </a:t>
            </a:r>
            <a:r>
              <a:rPr lang="en-US" altLang="en-US" dirty="0">
                <a:sym typeface="Symbol" panose="05050102010706020507" pitchFamily="18" charset="2"/>
              </a:rPr>
              <a:t></a:t>
            </a:r>
            <a:r>
              <a:rPr lang="en-US" altLang="en-US" dirty="0">
                <a:sym typeface="Greek Symbols"/>
              </a:rPr>
              <a:t>] </a:t>
            </a:r>
            <a:br>
              <a:rPr lang="en-US" altLang="en-US" dirty="0">
                <a:sym typeface="Greek Symbols"/>
              </a:rPr>
            </a:br>
            <a:r>
              <a:rPr lang="en-US" altLang="en-US" dirty="0">
                <a:sym typeface="Greek Symbols"/>
              </a:rPr>
              <a:t>	 </a:t>
            </a:r>
            <a:r>
              <a:rPr lang="en-US" altLang="en-US" i="1" dirty="0">
                <a:sym typeface="Greek Symbols"/>
              </a:rPr>
              <a:t>t</a:t>
            </a:r>
            <a:r>
              <a:rPr lang="en-US" altLang="en-US" baseline="-25000" dirty="0">
                <a:sym typeface="Greek Symbols"/>
              </a:rPr>
              <a:t>4 </a:t>
            </a:r>
            <a:r>
              <a:rPr lang="en-US" altLang="en-US" dirty="0">
                <a:sym typeface="Greek Symbols"/>
              </a:rPr>
              <a:t>[</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baseline="-25000" dirty="0">
                <a:sym typeface="Greek Symbols"/>
              </a:rPr>
              <a:t>2</a:t>
            </a:r>
            <a:r>
              <a:rPr lang="en-US" altLang="en-US" dirty="0">
                <a:sym typeface="Greek Symbols"/>
              </a:rPr>
              <a:t>[</a:t>
            </a:r>
            <a:r>
              <a:rPr lang="en-US" altLang="en-US" dirty="0">
                <a:sym typeface="Symbol" panose="05050102010706020507" pitchFamily="18" charset="2"/>
              </a:rPr>
              <a:t></a:t>
            </a:r>
            <a:r>
              <a:rPr lang="en-US" altLang="en-US" dirty="0">
                <a:sym typeface="Greek Symbols"/>
              </a:rPr>
              <a:t>] </a:t>
            </a:r>
            <a:br>
              <a:rPr lang="en-US" altLang="en-US" dirty="0">
                <a:sym typeface="Greek Symbols"/>
              </a:rPr>
            </a:br>
            <a:r>
              <a:rPr lang="en-US" altLang="en-US" dirty="0">
                <a:sym typeface="Greek Symbols"/>
              </a:rPr>
              <a:t>	 </a:t>
            </a:r>
            <a:r>
              <a:rPr lang="en-US" altLang="en-US" i="1" dirty="0">
                <a:sym typeface="Greek Symbols"/>
              </a:rPr>
              <a:t>t</a:t>
            </a:r>
            <a:r>
              <a:rPr lang="en-US" altLang="en-US" baseline="-25000" dirty="0">
                <a:sym typeface="Greek Symbols"/>
              </a:rPr>
              <a:t>4</a:t>
            </a:r>
            <a:r>
              <a:rPr lang="en-US" altLang="en-US" dirty="0">
                <a:sym typeface="Greek Symbols"/>
              </a:rPr>
              <a:t>[</a:t>
            </a:r>
            <a:r>
              <a:rPr lang="en-US" altLang="en-US" i="1" dirty="0">
                <a:sym typeface="Greek Symbols"/>
              </a:rPr>
              <a:t>R  – </a:t>
            </a:r>
            <a:r>
              <a:rPr lang="en-US" altLang="en-US" dirty="0">
                <a:sym typeface="Symbol" panose="05050102010706020507" pitchFamily="18" charset="2"/>
              </a:rPr>
              <a:t></a:t>
            </a:r>
            <a:r>
              <a:rPr lang="en-US" altLang="en-US" dirty="0">
                <a:sym typeface="Greek Symbols"/>
              </a:rPr>
              <a:t>] =  </a:t>
            </a:r>
            <a:r>
              <a:rPr lang="en-US" altLang="en-US" i="1" dirty="0">
                <a:sym typeface="Greek Symbols"/>
              </a:rPr>
              <a:t>t</a:t>
            </a:r>
            <a:r>
              <a:rPr lang="en-US" altLang="en-US" baseline="-25000" dirty="0">
                <a:sym typeface="Greek Symbols"/>
              </a:rPr>
              <a:t>1</a:t>
            </a:r>
            <a:r>
              <a:rPr lang="en-US" altLang="en-US" dirty="0">
                <a:sym typeface="Greek Symbols"/>
              </a:rPr>
              <a:t>[</a:t>
            </a:r>
            <a:r>
              <a:rPr lang="en-US" altLang="en-US" i="1" dirty="0">
                <a:sym typeface="Greek Symbols"/>
              </a:rPr>
              <a:t>R  – </a:t>
            </a:r>
            <a:r>
              <a:rPr lang="en-US" altLang="en-US" dirty="0">
                <a:sym typeface="Symbol" panose="05050102010706020507" pitchFamily="18" charset="2"/>
              </a:rPr>
              <a:t></a:t>
            </a:r>
            <a:r>
              <a:rPr lang="en-US" altLang="en-US" dirty="0">
                <a:sym typeface="Greek Symbols"/>
              </a:rPr>
              <a:t>] </a:t>
            </a:r>
            <a:br>
              <a:rPr lang="en-US" altLang="en-US" dirty="0">
                <a:sym typeface="Greek Symbols"/>
              </a:rPr>
            </a:br>
            <a:endParaRPr lang="en-US" altLang="en-US" dirty="0">
              <a:sym typeface="Greek Symbol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9026"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MVD --</a:t>
            </a:r>
            <a:r>
              <a:rPr lang="en-US" altLang="en-US" dirty="0"/>
              <a:t> Tabular representation </a:t>
            </a:r>
            <a:endParaRPr lang="en-US" altLang="en-US" dirty="0">
              <a:effectLst>
                <a:outerShdw blurRad="38100" dist="38100" dir="2700000" algn="tl">
                  <a:srgbClr val="C0C0C0"/>
                </a:outerShdw>
              </a:effectLst>
              <a:ea typeface="ＭＳ Ｐゴシック" pitchFamily="34" charset="-128"/>
            </a:endParaRPr>
          </a:p>
        </p:txBody>
      </p:sp>
      <p:sp>
        <p:nvSpPr>
          <p:cNvPr id="82947" name="Rectangle 3"/>
          <p:cNvSpPr>
            <a:spLocks noGrp="1" noChangeArrowheads="1"/>
          </p:cNvSpPr>
          <p:nvPr>
            <p:ph type="body" idx="1"/>
          </p:nvPr>
        </p:nvSpPr>
        <p:spPr>
          <a:xfrm>
            <a:off x="768350" y="1093789"/>
            <a:ext cx="6703267" cy="506412"/>
          </a:xfrm>
        </p:spPr>
        <p:txBody>
          <a:bodyPr/>
          <a:lstStyle/>
          <a:p>
            <a:r>
              <a:rPr lang="en-US" altLang="en-US" dirty="0"/>
              <a:t>Tabular representation of </a:t>
            </a:r>
            <a:r>
              <a:rPr lang="en-US" altLang="en-US" dirty="0">
                <a:sym typeface="Symbol" panose="05050102010706020507" pitchFamily="18" charset="2"/>
              </a:rPr>
              <a:t></a:t>
            </a:r>
            <a:r>
              <a:rPr lang="en-US" altLang="en-US" dirty="0">
                <a:sym typeface="Greek Symbols"/>
              </a:rPr>
              <a:t> </a:t>
            </a:r>
            <a:r>
              <a:rPr lang="en-US" altLang="en-US" b="1" dirty="0">
                <a:sym typeface="Symbol" panose="05050102010706020507" pitchFamily="18" charset="2"/>
              </a:rPr>
              <a:t></a:t>
            </a:r>
            <a:r>
              <a:rPr lang="en-US" altLang="en-US" i="1" dirty="0">
                <a:sym typeface="Monotype Sorts" pitchFamily="-84" charset="2"/>
              </a:rPr>
              <a:t> </a:t>
            </a:r>
            <a:r>
              <a:rPr lang="en-US" altLang="en-US" dirty="0">
                <a:sym typeface="Symbol" panose="05050102010706020507" pitchFamily="18" charset="2"/>
              </a:rPr>
              <a:t></a:t>
            </a:r>
          </a:p>
        </p:txBody>
      </p:sp>
      <p:pic>
        <p:nvPicPr>
          <p:cNvPr id="82948" name="Picture 5"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9432" y="1847206"/>
            <a:ext cx="4532730" cy="15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MVD (Cont.)</a:t>
            </a:r>
          </a:p>
        </p:txBody>
      </p:sp>
      <p:sp>
        <p:nvSpPr>
          <p:cNvPr id="83971" name="Rectangle 3"/>
          <p:cNvSpPr>
            <a:spLocks noGrp="1" noChangeArrowheads="1"/>
          </p:cNvSpPr>
          <p:nvPr>
            <p:ph type="body" idx="1"/>
          </p:nvPr>
        </p:nvSpPr>
        <p:spPr>
          <a:xfrm>
            <a:off x="768351" y="1119189"/>
            <a:ext cx="7593596" cy="3416716"/>
          </a:xfrm>
        </p:spPr>
        <p:txBody>
          <a:bodyPr/>
          <a:lstStyle/>
          <a:p>
            <a:pPr>
              <a:tabLst>
                <a:tab pos="1149350" algn="l"/>
                <a:tab pos="3311525" algn="ctr"/>
              </a:tabLst>
            </a:pPr>
            <a:r>
              <a:rPr lang="en-US" altLang="en-US" dirty="0"/>
              <a:t>Let </a:t>
            </a:r>
            <a:r>
              <a:rPr lang="en-US" altLang="en-US" i="1" dirty="0"/>
              <a:t>R</a:t>
            </a:r>
            <a:r>
              <a:rPr lang="en-US" altLang="en-US" dirty="0"/>
              <a:t> be a relation schema with a set of attributes that are partitioned into 3 nonempty subsets.</a:t>
            </a:r>
          </a:p>
          <a:p>
            <a:pPr>
              <a:buFont typeface="Monotype Sorts" pitchFamily="-84" charset="2"/>
              <a:buNone/>
              <a:tabLst>
                <a:tab pos="1149350" algn="l"/>
                <a:tab pos="3311525" algn="ctr"/>
              </a:tabLst>
            </a:pPr>
            <a:r>
              <a:rPr lang="en-US" altLang="en-US" dirty="0"/>
              <a:t>			</a:t>
            </a:r>
            <a:r>
              <a:rPr lang="en-US" altLang="en-US" i="1" dirty="0"/>
              <a:t>Y, Z, W</a:t>
            </a:r>
          </a:p>
          <a:p>
            <a:pPr>
              <a:tabLst>
                <a:tab pos="1149350" algn="l"/>
                <a:tab pos="3311525" algn="ctr"/>
              </a:tabLst>
            </a:pPr>
            <a:r>
              <a:rPr lang="en-US" altLang="en-US" dirty="0"/>
              <a:t>We say that </a:t>
            </a:r>
            <a:r>
              <a:rPr lang="en-US" altLang="en-US" i="1" dirty="0"/>
              <a:t>Y </a:t>
            </a:r>
            <a:r>
              <a:rPr lang="en-US" altLang="en-US" b="1"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Z </a:t>
            </a:r>
            <a:r>
              <a:rPr lang="en-US" altLang="en-US" dirty="0">
                <a:sym typeface="Monotype Sorts" pitchFamily="-84" charset="2"/>
              </a:rPr>
              <a:t>(</a:t>
            </a:r>
            <a:r>
              <a:rPr lang="en-US" altLang="en-US" i="1" dirty="0">
                <a:sym typeface="Monotype Sorts" pitchFamily="-84" charset="2"/>
              </a:rPr>
              <a:t>Y</a:t>
            </a:r>
            <a:r>
              <a:rPr lang="en-US" altLang="en-US" dirty="0">
                <a:sym typeface="Monotype Sorts" pitchFamily="-84" charset="2"/>
              </a:rPr>
              <a:t> </a:t>
            </a:r>
            <a:r>
              <a:rPr lang="en-US" altLang="en-US" b="1" dirty="0" err="1">
                <a:solidFill>
                  <a:srgbClr val="002060"/>
                </a:solidFill>
                <a:sym typeface="Monotype Sorts" pitchFamily="-84" charset="2"/>
              </a:rPr>
              <a:t>multidetermines</a:t>
            </a:r>
            <a:r>
              <a:rPr lang="en-US" altLang="en-US" dirty="0">
                <a:sym typeface="Monotype Sorts" pitchFamily="-84" charset="2"/>
              </a:rPr>
              <a:t> </a:t>
            </a:r>
            <a:r>
              <a:rPr lang="en-US" altLang="en-US" i="1" dirty="0">
                <a:sym typeface="Monotype Sorts" pitchFamily="-84" charset="2"/>
              </a:rPr>
              <a:t>Z </a:t>
            </a:r>
            <a:r>
              <a:rPr lang="en-US" altLang="en-US" dirty="0">
                <a:sym typeface="Monotype Sorts" pitchFamily="-84" charset="2"/>
              </a:rPr>
              <a:t>)</a:t>
            </a:r>
            <a:r>
              <a:rPr lang="en-US" altLang="en-US" i="1" dirty="0">
                <a:sym typeface="Monotype Sorts" pitchFamily="-84" charset="2"/>
              </a:rPr>
              <a:t/>
            </a:r>
            <a:br>
              <a:rPr lang="en-US" altLang="en-US" i="1" dirty="0">
                <a:sym typeface="Monotype Sorts" pitchFamily="-84" charset="2"/>
              </a:rPr>
            </a:br>
            <a:r>
              <a:rPr lang="en-US" altLang="en-US" dirty="0">
                <a:sym typeface="Monotype Sorts" pitchFamily="-84" charset="2"/>
              </a:rPr>
              <a:t>if and only if for all possible relations </a:t>
            </a:r>
            <a:r>
              <a:rPr lang="en-US" altLang="en-US" i="1" dirty="0">
                <a:sym typeface="Monotype Sorts" pitchFamily="-84" charset="2"/>
              </a:rPr>
              <a:t>r </a:t>
            </a:r>
            <a:r>
              <a:rPr lang="en-US" altLang="en-US" dirty="0">
                <a:sym typeface="Monotype Sorts" pitchFamily="-84" charset="2"/>
              </a:rPr>
              <a:t>(</a:t>
            </a:r>
            <a:r>
              <a:rPr lang="en-US" altLang="en-US" i="1" dirty="0">
                <a:sym typeface="Monotype Sorts" pitchFamily="-84" charset="2"/>
              </a:rPr>
              <a:t>R </a:t>
            </a:r>
            <a:r>
              <a:rPr lang="en-US" altLang="en-US" dirty="0">
                <a:sym typeface="Monotype Sorts" pitchFamily="-84" charset="2"/>
              </a:rPr>
              <a:t>)</a:t>
            </a:r>
            <a:endParaRPr lang="en-US" altLang="en-US" i="1" dirty="0">
              <a:sym typeface="Monotype Sorts" pitchFamily="-84" charset="2"/>
            </a:endParaRPr>
          </a:p>
          <a:p>
            <a:pPr>
              <a:buFont typeface="Monotype Sorts" pitchFamily="-84" charset="2"/>
              <a:buNone/>
              <a:tabLst>
                <a:tab pos="1149350" algn="l"/>
                <a:tab pos="3311525" algn="ctr"/>
              </a:tabLst>
            </a:pPr>
            <a:r>
              <a:rPr lang="en-US" altLang="en-US" dirty="0">
                <a:sym typeface="Monotype Sorts" pitchFamily="-84" charset="2"/>
              </a:rPr>
              <a:t>		&lt; </a:t>
            </a:r>
            <a:r>
              <a:rPr lang="en-US" altLang="en-US" i="1" dirty="0">
                <a:sym typeface="Monotype Sorts" pitchFamily="-84" charset="2"/>
              </a:rPr>
              <a:t>y</a:t>
            </a:r>
            <a:r>
              <a:rPr lang="en-US" altLang="en-US" baseline="-25000" dirty="0">
                <a:sym typeface="Monotype Sorts" pitchFamily="-84" charset="2"/>
              </a:rPr>
              <a:t>1</a:t>
            </a:r>
            <a:r>
              <a:rPr lang="en-US" altLang="en-US" dirty="0">
                <a:sym typeface="Monotype Sorts" pitchFamily="-84" charset="2"/>
              </a:rPr>
              <a:t>, </a:t>
            </a:r>
            <a:r>
              <a:rPr lang="en-US" altLang="en-US" i="1" dirty="0">
                <a:sym typeface="Monotype Sorts" pitchFamily="-84" charset="2"/>
              </a:rPr>
              <a:t>z</a:t>
            </a:r>
            <a:r>
              <a:rPr lang="en-US" altLang="en-US" baseline="-25000" dirty="0">
                <a:sym typeface="Monotype Sorts" pitchFamily="-84" charset="2"/>
              </a:rPr>
              <a:t>1</a:t>
            </a:r>
            <a:r>
              <a:rPr lang="en-US" altLang="en-US" dirty="0">
                <a:sym typeface="Monotype Sorts" pitchFamily="-84" charset="2"/>
              </a:rPr>
              <a:t>, </a:t>
            </a:r>
            <a:r>
              <a:rPr lang="en-US" altLang="en-US" i="1" dirty="0">
                <a:sym typeface="Monotype Sorts" pitchFamily="-84" charset="2"/>
              </a:rPr>
              <a:t>w</a:t>
            </a:r>
            <a:r>
              <a:rPr lang="en-US" altLang="en-US" baseline="-25000" dirty="0">
                <a:sym typeface="Monotype Sorts" pitchFamily="-84" charset="2"/>
              </a:rPr>
              <a:t>1</a:t>
            </a:r>
            <a:r>
              <a:rPr lang="en-US" altLang="en-US" dirty="0">
                <a:sym typeface="Monotype Sorts" pitchFamily="-84" charset="2"/>
              </a:rPr>
              <a:t> &gt; </a:t>
            </a:r>
            <a:r>
              <a:rPr lang="en-US" altLang="en-US" dirty="0">
                <a:sym typeface="Symbol" panose="05050102010706020507" pitchFamily="18" charset="2"/>
              </a:rPr>
              <a:t> </a:t>
            </a:r>
            <a:r>
              <a:rPr lang="en-US" altLang="en-US" i="1" dirty="0">
                <a:sym typeface="Symbol" panose="05050102010706020507" pitchFamily="18" charset="2"/>
              </a:rPr>
              <a:t>r</a:t>
            </a:r>
            <a:r>
              <a:rPr lang="en-US" altLang="en-US" dirty="0">
                <a:sym typeface="Symbol" panose="05050102010706020507" pitchFamily="18" charset="2"/>
              </a:rPr>
              <a:t> and &lt; </a:t>
            </a:r>
            <a:r>
              <a:rPr lang="en-US" altLang="en-US" i="1" dirty="0">
                <a:sym typeface="Monotype Sorts" pitchFamily="-84" charset="2"/>
              </a:rPr>
              <a:t>y</a:t>
            </a:r>
            <a:r>
              <a:rPr lang="en-US" altLang="en-US" baseline="-25000" dirty="0">
                <a:sym typeface="Monotype Sorts" pitchFamily="-84" charset="2"/>
              </a:rPr>
              <a:t>1</a:t>
            </a:r>
            <a:r>
              <a:rPr lang="en-US" altLang="en-US" dirty="0">
                <a:sym typeface="Monotype Sorts" pitchFamily="-84" charset="2"/>
              </a:rPr>
              <a:t>, </a:t>
            </a:r>
            <a:r>
              <a:rPr lang="en-US" altLang="en-US" i="1" dirty="0">
                <a:sym typeface="Monotype Sorts" pitchFamily="-84" charset="2"/>
              </a:rPr>
              <a:t>z</a:t>
            </a:r>
            <a:r>
              <a:rPr lang="en-US" altLang="en-US" baseline="-25000" dirty="0">
                <a:sym typeface="Monotype Sorts" pitchFamily="-84" charset="2"/>
              </a:rPr>
              <a:t>2</a:t>
            </a:r>
            <a:r>
              <a:rPr lang="en-US" altLang="en-US" dirty="0">
                <a:sym typeface="Monotype Sorts" pitchFamily="-84" charset="2"/>
              </a:rPr>
              <a:t>, </a:t>
            </a:r>
            <a:r>
              <a:rPr lang="en-US" altLang="en-US" i="1" dirty="0">
                <a:sym typeface="Monotype Sorts" pitchFamily="-84" charset="2"/>
              </a:rPr>
              <a:t>w</a:t>
            </a:r>
            <a:r>
              <a:rPr lang="en-US" altLang="en-US" baseline="-25000" dirty="0">
                <a:sym typeface="Monotype Sorts" pitchFamily="-84" charset="2"/>
              </a:rPr>
              <a:t>2</a:t>
            </a:r>
            <a:r>
              <a:rPr lang="en-US" altLang="en-US" dirty="0">
                <a:sym typeface="Monotype Sorts" pitchFamily="-84" charset="2"/>
              </a:rPr>
              <a:t> &gt; </a:t>
            </a:r>
            <a:r>
              <a:rPr lang="en-US" altLang="en-US" dirty="0">
                <a:sym typeface="Symbol" panose="05050102010706020507" pitchFamily="18" charset="2"/>
              </a:rPr>
              <a:t> </a:t>
            </a:r>
            <a:r>
              <a:rPr lang="en-US" altLang="en-US" i="1" dirty="0">
                <a:sym typeface="Symbol" panose="05050102010706020507" pitchFamily="18" charset="2"/>
              </a:rPr>
              <a:t>r</a:t>
            </a:r>
            <a:endParaRPr lang="en-US" altLang="en-US" dirty="0">
              <a:sym typeface="Symbol" panose="05050102010706020507" pitchFamily="18" charset="2"/>
            </a:endParaRPr>
          </a:p>
          <a:p>
            <a:pPr>
              <a:buFont typeface="Monotype Sorts" pitchFamily="-84" charset="2"/>
              <a:buNone/>
              <a:tabLst>
                <a:tab pos="1149350" algn="l"/>
                <a:tab pos="3311525" algn="ctr"/>
              </a:tabLst>
            </a:pPr>
            <a:r>
              <a:rPr lang="en-US" altLang="en-US" dirty="0">
                <a:sym typeface="Symbol" panose="05050102010706020507" pitchFamily="18" charset="2"/>
              </a:rPr>
              <a:t>	then</a:t>
            </a:r>
          </a:p>
          <a:p>
            <a:pPr>
              <a:buFont typeface="Monotype Sorts" pitchFamily="-84" charset="2"/>
              <a:buNone/>
              <a:tabLst>
                <a:tab pos="1149350" algn="l"/>
                <a:tab pos="3311525" algn="ctr"/>
              </a:tabLst>
            </a:pPr>
            <a:r>
              <a:rPr lang="en-US" altLang="en-US" dirty="0">
                <a:sym typeface="Symbol" panose="05050102010706020507" pitchFamily="18" charset="2"/>
              </a:rPr>
              <a:t>		</a:t>
            </a:r>
            <a:r>
              <a:rPr lang="en-US" altLang="en-US" dirty="0">
                <a:sym typeface="Monotype Sorts" pitchFamily="-84" charset="2"/>
              </a:rPr>
              <a:t>&lt; </a:t>
            </a:r>
            <a:r>
              <a:rPr lang="en-US" altLang="en-US" i="1" dirty="0">
                <a:sym typeface="Monotype Sorts" pitchFamily="-84" charset="2"/>
              </a:rPr>
              <a:t>y</a:t>
            </a:r>
            <a:r>
              <a:rPr lang="en-US" altLang="en-US" baseline="-25000" dirty="0">
                <a:sym typeface="Monotype Sorts" pitchFamily="-84" charset="2"/>
              </a:rPr>
              <a:t>1</a:t>
            </a:r>
            <a:r>
              <a:rPr lang="en-US" altLang="en-US" dirty="0">
                <a:sym typeface="Monotype Sorts" pitchFamily="-84" charset="2"/>
              </a:rPr>
              <a:t>, </a:t>
            </a:r>
            <a:r>
              <a:rPr lang="en-US" altLang="en-US" i="1" dirty="0">
                <a:sym typeface="Monotype Sorts" pitchFamily="-84" charset="2"/>
              </a:rPr>
              <a:t>z</a:t>
            </a:r>
            <a:r>
              <a:rPr lang="en-US" altLang="en-US" baseline="-25000" dirty="0">
                <a:sym typeface="Monotype Sorts" pitchFamily="-84" charset="2"/>
              </a:rPr>
              <a:t>1</a:t>
            </a:r>
            <a:r>
              <a:rPr lang="en-US" altLang="en-US" dirty="0">
                <a:sym typeface="Monotype Sorts" pitchFamily="-84" charset="2"/>
              </a:rPr>
              <a:t>, </a:t>
            </a:r>
            <a:r>
              <a:rPr lang="en-US" altLang="en-US" i="1" dirty="0">
                <a:sym typeface="Monotype Sorts" pitchFamily="-84" charset="2"/>
              </a:rPr>
              <a:t>w</a:t>
            </a:r>
            <a:r>
              <a:rPr lang="en-US" altLang="en-US" baseline="-25000" dirty="0">
                <a:sym typeface="Monotype Sorts" pitchFamily="-84" charset="2"/>
              </a:rPr>
              <a:t>2</a:t>
            </a:r>
            <a:r>
              <a:rPr lang="en-US" altLang="en-US" dirty="0">
                <a:sym typeface="Monotype Sorts" pitchFamily="-84" charset="2"/>
              </a:rPr>
              <a:t> &gt; </a:t>
            </a:r>
            <a:r>
              <a:rPr lang="en-US" altLang="en-US" dirty="0">
                <a:sym typeface="Symbol" panose="05050102010706020507" pitchFamily="18" charset="2"/>
              </a:rPr>
              <a:t> </a:t>
            </a:r>
            <a:r>
              <a:rPr lang="en-US" altLang="en-US" i="1" dirty="0">
                <a:sym typeface="Symbol" panose="05050102010706020507" pitchFamily="18" charset="2"/>
              </a:rPr>
              <a:t>r</a:t>
            </a:r>
            <a:r>
              <a:rPr lang="en-US" altLang="en-US" dirty="0">
                <a:sym typeface="Symbol" panose="05050102010706020507" pitchFamily="18" charset="2"/>
              </a:rPr>
              <a:t> and &lt; </a:t>
            </a:r>
            <a:r>
              <a:rPr lang="en-US" altLang="en-US" i="1" dirty="0">
                <a:sym typeface="Monotype Sorts" pitchFamily="-84" charset="2"/>
              </a:rPr>
              <a:t>y</a:t>
            </a:r>
            <a:r>
              <a:rPr lang="en-US" altLang="en-US" baseline="-25000" dirty="0">
                <a:sym typeface="Monotype Sorts" pitchFamily="-84" charset="2"/>
              </a:rPr>
              <a:t>1</a:t>
            </a:r>
            <a:r>
              <a:rPr lang="en-US" altLang="en-US" dirty="0">
                <a:sym typeface="Monotype Sorts" pitchFamily="-84" charset="2"/>
              </a:rPr>
              <a:t>, </a:t>
            </a:r>
            <a:r>
              <a:rPr lang="en-US" altLang="en-US" i="1" dirty="0">
                <a:sym typeface="Monotype Sorts" pitchFamily="-84" charset="2"/>
              </a:rPr>
              <a:t>z</a:t>
            </a:r>
            <a:r>
              <a:rPr lang="en-US" altLang="en-US" baseline="-25000" dirty="0">
                <a:sym typeface="Monotype Sorts" pitchFamily="-84" charset="2"/>
              </a:rPr>
              <a:t>2</a:t>
            </a:r>
            <a:r>
              <a:rPr lang="en-US" altLang="en-US" dirty="0">
                <a:sym typeface="Monotype Sorts" pitchFamily="-84" charset="2"/>
              </a:rPr>
              <a:t>, </a:t>
            </a:r>
            <a:r>
              <a:rPr lang="en-US" altLang="en-US" i="1" dirty="0">
                <a:sym typeface="Monotype Sorts" pitchFamily="-84" charset="2"/>
              </a:rPr>
              <a:t>w</a:t>
            </a:r>
            <a:r>
              <a:rPr lang="en-US" altLang="en-US" baseline="-25000" dirty="0">
                <a:sym typeface="Monotype Sorts" pitchFamily="-84" charset="2"/>
              </a:rPr>
              <a:t>1</a:t>
            </a:r>
            <a:r>
              <a:rPr lang="en-US" altLang="en-US" dirty="0">
                <a:sym typeface="Monotype Sorts" pitchFamily="-84" charset="2"/>
              </a:rPr>
              <a:t> &gt; </a:t>
            </a:r>
            <a:r>
              <a:rPr lang="en-US" altLang="en-US" dirty="0">
                <a:sym typeface="Symbol" panose="05050102010706020507" pitchFamily="18" charset="2"/>
              </a:rPr>
              <a:t> </a:t>
            </a:r>
            <a:r>
              <a:rPr lang="en-US" altLang="en-US" i="1" dirty="0">
                <a:sym typeface="Symbol" panose="05050102010706020507" pitchFamily="18" charset="2"/>
              </a:rPr>
              <a:t>r</a:t>
            </a:r>
          </a:p>
          <a:p>
            <a:pPr>
              <a:tabLst>
                <a:tab pos="1149350" algn="l"/>
                <a:tab pos="3311525" algn="ctr"/>
              </a:tabLst>
            </a:pPr>
            <a:r>
              <a:rPr lang="en-US" altLang="en-US" dirty="0">
                <a:sym typeface="Symbol" panose="05050102010706020507" pitchFamily="18" charset="2"/>
              </a:rPr>
              <a:t>Note that since the behavior of </a:t>
            </a:r>
            <a:r>
              <a:rPr lang="en-US" altLang="en-US" i="1" dirty="0">
                <a:sym typeface="Symbol" panose="05050102010706020507" pitchFamily="18" charset="2"/>
              </a:rPr>
              <a:t>Z</a:t>
            </a:r>
            <a:r>
              <a:rPr lang="en-US" altLang="en-US" dirty="0">
                <a:sym typeface="Symbol" panose="05050102010706020507" pitchFamily="18" charset="2"/>
              </a:rPr>
              <a:t> and </a:t>
            </a:r>
            <a:r>
              <a:rPr lang="en-US" altLang="en-US" i="1" dirty="0">
                <a:sym typeface="Symbol" panose="05050102010706020507" pitchFamily="18" charset="2"/>
              </a:rPr>
              <a:t>W</a:t>
            </a:r>
            <a:r>
              <a:rPr lang="en-US" altLang="en-US" dirty="0">
                <a:sym typeface="Symbol" panose="05050102010706020507" pitchFamily="18" charset="2"/>
              </a:rPr>
              <a:t> are identical it follows that </a:t>
            </a:r>
          </a:p>
          <a:p>
            <a:pPr>
              <a:buFont typeface="Monotype Sorts" pitchFamily="-84" charset="2"/>
              <a:buNone/>
              <a:tabLst>
                <a:tab pos="1149350" algn="l"/>
                <a:tab pos="3311525" algn="ctr"/>
              </a:tabLst>
            </a:pPr>
            <a:r>
              <a:rPr lang="en-US" altLang="en-US" i="1" dirty="0">
                <a:sym typeface="Symbol" panose="05050102010706020507" pitchFamily="18" charset="2"/>
              </a:rPr>
              <a:t>	Y </a:t>
            </a:r>
            <a:r>
              <a:rPr lang="en-US" altLang="en-US" b="1"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Z </a:t>
            </a:r>
            <a:r>
              <a:rPr lang="en-US" altLang="en-US" dirty="0">
                <a:sym typeface="Monotype Sorts" pitchFamily="-84" charset="2"/>
              </a:rPr>
              <a:t>if </a:t>
            </a:r>
            <a:r>
              <a:rPr lang="en-US" altLang="en-US" i="1" dirty="0">
                <a:sym typeface="Monotype Sorts" pitchFamily="-84" charset="2"/>
              </a:rPr>
              <a:t>Y</a:t>
            </a:r>
            <a:r>
              <a:rPr lang="en-US" altLang="en-US" dirty="0">
                <a:sym typeface="Monotype Sorts" pitchFamily="-84" charset="2"/>
              </a:rPr>
              <a:t> </a:t>
            </a:r>
            <a:r>
              <a:rPr lang="en-US" altLang="en-US" b="1"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W </a:t>
            </a:r>
          </a:p>
          <a:p>
            <a:pPr>
              <a:buFont typeface="Monotype Sorts" pitchFamily="-84" charset="2"/>
              <a:buNone/>
              <a:tabLst>
                <a:tab pos="1149350" algn="l"/>
                <a:tab pos="3311525" algn="ctr"/>
              </a:tabLst>
            </a:pPr>
            <a:endParaRPr lang="en-US" altLang="en-US" dirty="0">
              <a:sym typeface="Symbol" panose="05050102010706020507" pitchFamily="18" charset="2"/>
            </a:endParaRPr>
          </a:p>
          <a:p>
            <a:pPr>
              <a:buFont typeface="Monotype Sorts" pitchFamily="-84" charset="2"/>
              <a:buNone/>
              <a:tabLst>
                <a:tab pos="1149350" algn="l"/>
                <a:tab pos="3311525" algn="ctr"/>
              </a:tabLst>
            </a:pPr>
            <a:endParaRPr lang="en-US" altLang="en-US" dirty="0">
              <a:sym typeface="Symbol" panose="05050102010706020507" pitchFamily="18"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312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Example</a:t>
            </a:r>
          </a:p>
        </p:txBody>
      </p:sp>
      <p:sp>
        <p:nvSpPr>
          <p:cNvPr id="84995" name="Rectangle 3"/>
          <p:cNvSpPr>
            <a:spLocks noGrp="1" noChangeArrowheads="1"/>
          </p:cNvSpPr>
          <p:nvPr>
            <p:ph type="body" idx="1"/>
          </p:nvPr>
        </p:nvSpPr>
        <p:spPr>
          <a:xfrm>
            <a:off x="768349" y="1093789"/>
            <a:ext cx="7594415" cy="3430085"/>
          </a:xfrm>
        </p:spPr>
        <p:txBody>
          <a:bodyPr/>
          <a:lstStyle/>
          <a:p>
            <a:pPr>
              <a:tabLst>
                <a:tab pos="2463800" algn="l"/>
              </a:tabLst>
            </a:pPr>
            <a:r>
              <a:rPr lang="en-US" altLang="en-US" dirty="0"/>
              <a:t>In our example:</a:t>
            </a:r>
          </a:p>
          <a:p>
            <a:pPr>
              <a:buFont typeface="Monotype Sorts" pitchFamily="-84" charset="2"/>
              <a:buNone/>
              <a:tabLst>
                <a:tab pos="2463800" algn="l"/>
              </a:tabLst>
            </a:pPr>
            <a:r>
              <a:rPr lang="en-US" altLang="en-US" dirty="0"/>
              <a:t>		</a:t>
            </a:r>
            <a:r>
              <a:rPr lang="en-US" altLang="en-US" i="1" dirty="0"/>
              <a:t>ID </a:t>
            </a:r>
            <a:r>
              <a:rPr lang="en-US" altLang="en-US" b="1" dirty="0">
                <a:sym typeface="Symbol" panose="05050102010706020507" pitchFamily="18" charset="2"/>
              </a:rPr>
              <a:t></a:t>
            </a:r>
            <a:r>
              <a:rPr lang="en-US" altLang="en-US" dirty="0">
                <a:sym typeface="Monotype Sorts" pitchFamily="-84" charset="2"/>
              </a:rPr>
              <a:t> </a:t>
            </a:r>
            <a:r>
              <a:rPr lang="en-US" altLang="en-US" i="1" dirty="0" err="1">
                <a:sym typeface="Monotype Sorts" pitchFamily="-84" charset="2"/>
              </a:rPr>
              <a:t>child_name</a:t>
            </a:r>
            <a:r>
              <a:rPr lang="en-US" altLang="en-US" dirty="0">
                <a:sym typeface="Monotype Sorts" pitchFamily="-84" charset="2"/>
              </a:rPr>
              <a:t>	</a:t>
            </a:r>
            <a:br>
              <a:rPr lang="en-US" altLang="en-US" dirty="0">
                <a:sym typeface="Monotype Sorts" pitchFamily="-84" charset="2"/>
              </a:rPr>
            </a:br>
            <a:r>
              <a:rPr lang="en-US" altLang="en-US" dirty="0">
                <a:sym typeface="Monotype Sorts" pitchFamily="-84" charset="2"/>
              </a:rPr>
              <a:t>	</a:t>
            </a:r>
            <a:r>
              <a:rPr lang="en-US" altLang="en-US" i="1" dirty="0">
                <a:sym typeface="Monotype Sorts" pitchFamily="-84" charset="2"/>
              </a:rPr>
              <a:t>ID </a:t>
            </a:r>
            <a:r>
              <a:rPr lang="en-US" altLang="en-US" b="1" dirty="0">
                <a:sym typeface="Symbol" panose="05050102010706020507" pitchFamily="18" charset="2"/>
              </a:rPr>
              <a:t></a:t>
            </a:r>
            <a:r>
              <a:rPr lang="en-US" altLang="en-US" i="1" dirty="0">
                <a:sym typeface="Monotype Sorts" pitchFamily="-84" charset="2"/>
              </a:rPr>
              <a:t> </a:t>
            </a:r>
            <a:r>
              <a:rPr lang="en-US" altLang="en-US" i="1" dirty="0" err="1">
                <a:sym typeface="Monotype Sorts" pitchFamily="-84" charset="2"/>
              </a:rPr>
              <a:t>phone_number</a:t>
            </a:r>
            <a:endParaRPr lang="en-US" altLang="en-US" i="1" dirty="0">
              <a:sym typeface="Monotype Sorts" pitchFamily="-84" charset="2"/>
            </a:endParaRPr>
          </a:p>
          <a:p>
            <a:pPr>
              <a:tabLst>
                <a:tab pos="2463800" algn="l"/>
              </a:tabLst>
            </a:pPr>
            <a:r>
              <a:rPr lang="en-US" altLang="en-US" dirty="0">
                <a:sym typeface="Monotype Sorts" pitchFamily="-84" charset="2"/>
              </a:rPr>
              <a:t>The above formal definition is supposed to formalize the notion that given a particular value of </a:t>
            </a:r>
            <a:r>
              <a:rPr lang="en-US" altLang="en-US" i="1" dirty="0">
                <a:sym typeface="Monotype Sorts" pitchFamily="-84" charset="2"/>
              </a:rPr>
              <a:t>Y </a:t>
            </a:r>
            <a:r>
              <a:rPr lang="en-US" altLang="en-US" dirty="0">
                <a:sym typeface="Monotype Sorts" pitchFamily="-84" charset="2"/>
              </a:rPr>
              <a:t>(</a:t>
            </a:r>
            <a:r>
              <a:rPr lang="en-US" altLang="en-US" i="1" dirty="0">
                <a:sym typeface="Monotype Sorts" pitchFamily="-84" charset="2"/>
              </a:rPr>
              <a:t>ID</a:t>
            </a:r>
            <a:r>
              <a:rPr lang="en-US" altLang="en-US" dirty="0">
                <a:sym typeface="Monotype Sorts" pitchFamily="-84" charset="2"/>
              </a:rPr>
              <a:t>) it has associated with it a set of values of </a:t>
            </a:r>
            <a:r>
              <a:rPr lang="en-US" altLang="en-US" i="1" dirty="0">
                <a:sym typeface="Monotype Sorts" pitchFamily="-84" charset="2"/>
              </a:rPr>
              <a:t>Z (</a:t>
            </a:r>
            <a:r>
              <a:rPr lang="en-US" altLang="en-US" i="1" dirty="0" err="1">
                <a:sym typeface="Monotype Sorts" pitchFamily="-84" charset="2"/>
              </a:rPr>
              <a:t>child_name</a:t>
            </a:r>
            <a:r>
              <a:rPr lang="en-US" altLang="en-US" i="1" dirty="0">
                <a:sym typeface="Monotype Sorts" pitchFamily="-84" charset="2"/>
              </a:rPr>
              <a:t>) </a:t>
            </a:r>
            <a:r>
              <a:rPr lang="en-US" altLang="en-US" dirty="0">
                <a:sym typeface="Monotype Sorts" pitchFamily="-84" charset="2"/>
              </a:rPr>
              <a:t>and a set of values of </a:t>
            </a:r>
            <a:r>
              <a:rPr lang="en-US" altLang="en-US" i="1" dirty="0">
                <a:sym typeface="Monotype Sorts" pitchFamily="-84" charset="2"/>
              </a:rPr>
              <a:t>W (</a:t>
            </a:r>
            <a:r>
              <a:rPr lang="en-US" altLang="en-US" i="1" dirty="0" err="1">
                <a:sym typeface="Monotype Sorts" pitchFamily="-84" charset="2"/>
              </a:rPr>
              <a:t>phone_number</a:t>
            </a:r>
            <a:r>
              <a:rPr lang="en-US" altLang="en-US" i="1" dirty="0">
                <a:sym typeface="Monotype Sorts" pitchFamily="-84" charset="2"/>
              </a:rPr>
              <a:t>)</a:t>
            </a:r>
            <a:r>
              <a:rPr lang="en-US" altLang="en-US" dirty="0">
                <a:sym typeface="Monotype Sorts" pitchFamily="-84" charset="2"/>
              </a:rPr>
              <a:t>, and these two sets are in some sense independent of each other.</a:t>
            </a:r>
          </a:p>
          <a:p>
            <a:pPr>
              <a:tabLst>
                <a:tab pos="2463800" algn="l"/>
              </a:tabLst>
            </a:pPr>
            <a:r>
              <a:rPr lang="en-US" altLang="en-US" dirty="0">
                <a:sym typeface="Monotype Sorts" pitchFamily="-84" charset="2"/>
              </a:rPr>
              <a:t>Note: </a:t>
            </a:r>
          </a:p>
          <a:p>
            <a:pPr lvl="1">
              <a:tabLst>
                <a:tab pos="2463800" algn="l"/>
              </a:tabLst>
            </a:pPr>
            <a:r>
              <a:rPr lang="en-US" altLang="en-US" dirty="0">
                <a:sym typeface="Monotype Sorts" pitchFamily="-84" charset="2"/>
              </a:rPr>
              <a:t>If </a:t>
            </a:r>
            <a:r>
              <a:rPr lang="en-US" altLang="en-US" i="1" dirty="0">
                <a:sym typeface="Monotype Sorts" pitchFamily="-84" charset="2"/>
              </a:rPr>
              <a:t>Y </a:t>
            </a:r>
            <a:r>
              <a:rPr lang="en-US" altLang="en-US"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Z </a:t>
            </a:r>
            <a:r>
              <a:rPr lang="en-US" altLang="en-US" dirty="0">
                <a:sym typeface="Monotype Sorts" pitchFamily="-84" charset="2"/>
              </a:rPr>
              <a:t> then  </a:t>
            </a:r>
            <a:r>
              <a:rPr lang="en-US" altLang="en-US" i="1" dirty="0">
                <a:sym typeface="Monotype Sorts" pitchFamily="-84" charset="2"/>
              </a:rPr>
              <a:t>Y </a:t>
            </a:r>
            <a:r>
              <a:rPr lang="en-US" altLang="en-US" b="1" dirty="0">
                <a:sym typeface="Symbol" panose="05050102010706020507" pitchFamily="18" charset="2"/>
              </a:rPr>
              <a:t></a:t>
            </a:r>
            <a:r>
              <a:rPr lang="en-US" altLang="en-US" dirty="0">
                <a:sym typeface="Monotype Sorts" pitchFamily="-84" charset="2"/>
              </a:rPr>
              <a:t> </a:t>
            </a:r>
            <a:r>
              <a:rPr lang="en-US" altLang="en-US" i="1" dirty="0">
                <a:sym typeface="Monotype Sorts" pitchFamily="-84" charset="2"/>
              </a:rPr>
              <a:t>Z</a:t>
            </a:r>
            <a:endParaRPr lang="en-US" altLang="en-US" dirty="0">
              <a:sym typeface="Monotype Sorts" pitchFamily="-84" charset="2"/>
            </a:endParaRPr>
          </a:p>
          <a:p>
            <a:pPr lvl="1">
              <a:tabLst>
                <a:tab pos="2463800" algn="l"/>
              </a:tabLst>
            </a:pPr>
            <a:r>
              <a:rPr lang="en-US" altLang="en-US" dirty="0">
                <a:sym typeface="Monotype Sorts" pitchFamily="-84" charset="2"/>
              </a:rPr>
              <a:t>Indeed we have (in above notation) </a:t>
            </a:r>
            <a:r>
              <a:rPr lang="en-US" altLang="en-US" i="1" dirty="0">
                <a:sym typeface="Monotype Sorts" pitchFamily="-84" charset="2"/>
              </a:rPr>
              <a:t>Z</a:t>
            </a:r>
            <a:r>
              <a:rPr lang="en-US" altLang="en-US" baseline="-25000" dirty="0">
                <a:sym typeface="Monotype Sorts" pitchFamily="-84" charset="2"/>
              </a:rPr>
              <a:t>1</a:t>
            </a:r>
            <a:r>
              <a:rPr lang="en-US" altLang="en-US" i="1" dirty="0">
                <a:sym typeface="Monotype Sorts" pitchFamily="-84" charset="2"/>
              </a:rPr>
              <a:t> = Z</a:t>
            </a:r>
            <a:r>
              <a:rPr lang="en-US" altLang="en-US" baseline="-25000" dirty="0">
                <a:sym typeface="Monotype Sorts" pitchFamily="-84" charset="2"/>
              </a:rPr>
              <a:t>2</a:t>
            </a:r>
            <a:br>
              <a:rPr lang="en-US" altLang="en-US" baseline="-25000" dirty="0">
                <a:sym typeface="Monotype Sorts" pitchFamily="-84" charset="2"/>
              </a:rPr>
            </a:br>
            <a:r>
              <a:rPr lang="en-US" altLang="en-US" dirty="0">
                <a:sym typeface="Monotype Sorts" pitchFamily="-84" charset="2"/>
              </a:rPr>
              <a:t>The claim follows.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ea typeface="ＭＳ Ｐゴシック" pitchFamily="34" charset="-128"/>
              </a:rPr>
              <a:t>Use of Multivalued Dependencies</a:t>
            </a:r>
          </a:p>
        </p:txBody>
      </p:sp>
      <p:sp>
        <p:nvSpPr>
          <p:cNvPr id="86019" name="Rectangle 3"/>
          <p:cNvSpPr>
            <a:spLocks noGrp="1" noChangeArrowheads="1"/>
          </p:cNvSpPr>
          <p:nvPr>
            <p:ph type="body" idx="1"/>
          </p:nvPr>
        </p:nvSpPr>
        <p:spPr>
          <a:xfrm>
            <a:off x="768351" y="1093788"/>
            <a:ext cx="7638802" cy="2900696"/>
          </a:xfrm>
        </p:spPr>
        <p:txBody>
          <a:bodyPr/>
          <a:lstStyle/>
          <a:p>
            <a:r>
              <a:rPr lang="en-US" altLang="en-US" dirty="0"/>
              <a:t>We use multivalued dependencies in two ways: </a:t>
            </a:r>
          </a:p>
          <a:p>
            <a:pPr lvl="1">
              <a:buFont typeface="Monotype Sorts" pitchFamily="-84" charset="2"/>
              <a:buNone/>
            </a:pPr>
            <a:r>
              <a:rPr lang="en-US" altLang="en-US" dirty="0"/>
              <a:t>1.	To test relations to </a:t>
            </a:r>
            <a:r>
              <a:rPr lang="en-US" altLang="en-US" b="1" dirty="0">
                <a:solidFill>
                  <a:srgbClr val="002060"/>
                </a:solidFill>
              </a:rPr>
              <a:t>determine</a:t>
            </a:r>
            <a:r>
              <a:rPr lang="en-US" altLang="en-US" dirty="0"/>
              <a:t> whether they are legal under a given set of functional and multivalued dependencies</a:t>
            </a:r>
          </a:p>
          <a:p>
            <a:pPr lvl="1">
              <a:buFont typeface="Monotype Sorts" pitchFamily="-84" charset="2"/>
              <a:buNone/>
            </a:pPr>
            <a:r>
              <a:rPr lang="en-US" altLang="en-US" dirty="0"/>
              <a:t>2.	To specify </a:t>
            </a:r>
            <a:r>
              <a:rPr lang="en-US" altLang="en-US" b="1" dirty="0">
                <a:solidFill>
                  <a:srgbClr val="002060"/>
                </a:solidFill>
              </a:rPr>
              <a:t>constraints</a:t>
            </a:r>
            <a:r>
              <a:rPr lang="en-US" altLang="en-US" dirty="0"/>
              <a:t> on the set of legal relations.  We shall concern ourselves </a:t>
            </a:r>
            <a:r>
              <a:rPr lang="en-US" altLang="en-US" i="1" dirty="0"/>
              <a:t>only</a:t>
            </a:r>
            <a:r>
              <a:rPr lang="en-US" altLang="en-US" dirty="0"/>
              <a:t> with relations that satisfy a given set of functional and multivalued dependencies.</a:t>
            </a:r>
          </a:p>
          <a:p>
            <a:r>
              <a:rPr lang="en-US" altLang="en-US" dirty="0"/>
              <a:t>If a relation </a:t>
            </a:r>
            <a:r>
              <a:rPr lang="en-US" altLang="en-US" i="1" dirty="0"/>
              <a:t>r</a:t>
            </a:r>
            <a:r>
              <a:rPr lang="en-US" altLang="en-US" dirty="0"/>
              <a:t> fails to satisfy a given multivalued dependency, we can construct a relations </a:t>
            </a:r>
            <a:r>
              <a:rPr lang="en-US" altLang="en-US" i="1" dirty="0"/>
              <a:t>r</a:t>
            </a:r>
            <a:r>
              <a:rPr lang="en-US" altLang="en-US" i="1" dirty="0">
                <a:sym typeface="Symbol" panose="05050102010706020507" pitchFamily="18" charset="2"/>
              </a:rPr>
              <a:t></a:t>
            </a:r>
            <a:r>
              <a:rPr lang="en-US" altLang="en-US" dirty="0">
                <a:sym typeface="Symbol" panose="05050102010706020507" pitchFamily="18" charset="2"/>
              </a:rPr>
              <a:t>  that does satisfy the multivalued dependency by adding tuples to </a:t>
            </a:r>
            <a:r>
              <a:rPr lang="en-US" altLang="en-US" i="1" dirty="0">
                <a:sym typeface="Symbol" panose="05050102010706020507" pitchFamily="18" charset="2"/>
              </a:rPr>
              <a:t>r. </a:t>
            </a:r>
            <a:endParaRPr lang="en-US" altLang="en-US" dirty="0"/>
          </a:p>
          <a:p>
            <a:pPr>
              <a:buFont typeface="Monotype Sorts" pitchFamily="-84" charset="2"/>
              <a:buNone/>
            </a:pPr>
            <a:r>
              <a:rPr lang="en-US" altLang="en-US" dirty="0"/>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Theory of MVDs</a:t>
            </a:r>
          </a:p>
        </p:txBody>
      </p:sp>
      <p:sp>
        <p:nvSpPr>
          <p:cNvPr id="87043" name="Rectangle 3"/>
          <p:cNvSpPr>
            <a:spLocks noGrp="1" noChangeArrowheads="1"/>
          </p:cNvSpPr>
          <p:nvPr>
            <p:ph type="body" idx="1"/>
          </p:nvPr>
        </p:nvSpPr>
        <p:spPr>
          <a:xfrm>
            <a:off x="768351" y="1097449"/>
            <a:ext cx="7621048" cy="3956398"/>
          </a:xfrm>
        </p:spPr>
        <p:txBody>
          <a:bodyPr/>
          <a:lstStyle/>
          <a:p>
            <a:r>
              <a:rPr lang="en-US" altLang="en-US" dirty="0"/>
              <a:t>From the definition of multivalued dependency, we can derive the following rule:</a:t>
            </a:r>
          </a:p>
          <a:p>
            <a:pPr lvl="1"/>
            <a:r>
              <a:rPr lang="en-US" altLang="en-US" dirty="0"/>
              <a:t>If </a:t>
            </a:r>
            <a:r>
              <a:rPr lang="en-US" altLang="en-US" dirty="0">
                <a:sym typeface="Symbol" panose="05050102010706020507" pitchFamily="18" charset="2"/>
              </a:rPr>
              <a:t>  </a:t>
            </a:r>
            <a:r>
              <a:rPr lang="en-US" altLang="en-US" dirty="0"/>
              <a:t>, then </a:t>
            </a:r>
            <a:r>
              <a:rPr lang="en-US" altLang="en-US" dirty="0">
                <a:sym typeface="Symbol" panose="05050102010706020507" pitchFamily="18" charset="2"/>
              </a:rPr>
              <a:t> </a:t>
            </a:r>
            <a:r>
              <a:rPr lang="en-US" altLang="en-US" b="1" dirty="0">
                <a:sym typeface="Symbol" panose="05050102010706020507" pitchFamily="18" charset="2"/>
              </a:rPr>
              <a:t></a:t>
            </a:r>
            <a:r>
              <a:rPr lang="en-US" altLang="en-US" dirty="0">
                <a:sym typeface="Symbol" panose="05050102010706020507" pitchFamily="18" charset="2"/>
              </a:rPr>
              <a:t> </a:t>
            </a:r>
            <a:endParaRPr lang="en-US" altLang="en-US" dirty="0"/>
          </a:p>
          <a:p>
            <a:pPr>
              <a:buFont typeface="Monotype Sorts" pitchFamily="-84" charset="2"/>
              <a:buNone/>
            </a:pPr>
            <a:r>
              <a:rPr lang="en-US" altLang="en-US" dirty="0"/>
              <a:t>	That is, every functional dependency is also a multivalued dependency</a:t>
            </a:r>
          </a:p>
          <a:p>
            <a:r>
              <a:rPr lang="en-US" altLang="en-US" dirty="0"/>
              <a:t>The </a:t>
            </a:r>
            <a:r>
              <a:rPr lang="en-US" altLang="en-US" b="1" dirty="0">
                <a:solidFill>
                  <a:srgbClr val="002060"/>
                </a:solidFill>
              </a:rPr>
              <a:t>closure</a:t>
            </a:r>
            <a:r>
              <a:rPr lang="en-US" altLang="en-US" dirty="0"/>
              <a:t> D</a:t>
            </a:r>
            <a:r>
              <a:rPr lang="en-US" altLang="en-US" baseline="30000" dirty="0"/>
              <a:t>+</a:t>
            </a:r>
            <a:r>
              <a:rPr lang="en-US" altLang="en-US" dirty="0"/>
              <a:t> of </a:t>
            </a:r>
            <a:r>
              <a:rPr lang="en-US" altLang="en-US" i="1" dirty="0"/>
              <a:t>D</a:t>
            </a:r>
            <a:r>
              <a:rPr lang="en-US" altLang="en-US" dirty="0"/>
              <a:t> is the set of all functional and multivalued dependencies logically implied by </a:t>
            </a:r>
            <a:r>
              <a:rPr lang="en-US" altLang="en-US" i="1" dirty="0"/>
              <a:t>D</a:t>
            </a:r>
            <a:r>
              <a:rPr lang="en-US" altLang="en-US" dirty="0"/>
              <a:t>. </a:t>
            </a:r>
          </a:p>
          <a:p>
            <a:pPr lvl="1"/>
            <a:r>
              <a:rPr lang="en-US" altLang="en-US" dirty="0"/>
              <a:t>We can compute D</a:t>
            </a:r>
            <a:r>
              <a:rPr lang="en-US" altLang="en-US" baseline="30000" dirty="0"/>
              <a:t>+</a:t>
            </a:r>
            <a:r>
              <a:rPr lang="en-US" altLang="en-US" dirty="0"/>
              <a:t> from </a:t>
            </a:r>
            <a:r>
              <a:rPr lang="en-US" altLang="en-US" i="1" dirty="0"/>
              <a:t>D</a:t>
            </a:r>
            <a:r>
              <a:rPr lang="en-US" altLang="en-US" dirty="0"/>
              <a:t>, using the formal definitions of functional dependencies and multivalued dependencies.</a:t>
            </a:r>
          </a:p>
          <a:p>
            <a:pPr lvl="1"/>
            <a:r>
              <a:rPr lang="en-US" altLang="en-US" dirty="0"/>
              <a:t>We can manage with such reasoning for very simple multivalued dependencies, which seem to be most common in practice</a:t>
            </a:r>
          </a:p>
          <a:p>
            <a:pPr lvl="1"/>
            <a:r>
              <a:rPr lang="en-US" altLang="en-US" dirty="0"/>
              <a:t>For complex dependencies, it is better to reason about sets of dependencies using a system of inference rules (Appendix 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Fourth Normal Form</a:t>
            </a:r>
          </a:p>
        </p:txBody>
      </p:sp>
      <p:sp>
        <p:nvSpPr>
          <p:cNvPr id="88067" name="Rectangle 3"/>
          <p:cNvSpPr>
            <a:spLocks noGrp="1" noChangeArrowheads="1"/>
          </p:cNvSpPr>
          <p:nvPr>
            <p:ph type="body" idx="1"/>
          </p:nvPr>
        </p:nvSpPr>
        <p:spPr>
          <a:xfrm>
            <a:off x="768350" y="1092614"/>
            <a:ext cx="7594415" cy="2241299"/>
          </a:xfrm>
        </p:spPr>
        <p:txBody>
          <a:bodyPr/>
          <a:lstStyle/>
          <a:p>
            <a:r>
              <a:rPr lang="en-US" altLang="en-US" dirty="0"/>
              <a:t>A relation schema </a:t>
            </a:r>
            <a:r>
              <a:rPr lang="en-US" altLang="en-US" i="1" dirty="0"/>
              <a:t>R</a:t>
            </a:r>
            <a:r>
              <a:rPr lang="en-US" altLang="en-US" dirty="0"/>
              <a:t> is in </a:t>
            </a:r>
            <a:r>
              <a:rPr lang="en-US" altLang="en-US" b="1" dirty="0">
                <a:solidFill>
                  <a:srgbClr val="002060"/>
                </a:solidFill>
              </a:rPr>
              <a:t>4NF</a:t>
            </a:r>
            <a:r>
              <a:rPr lang="en-US" altLang="en-US" dirty="0"/>
              <a:t> with respect to a set </a:t>
            </a:r>
            <a:r>
              <a:rPr lang="en-US" altLang="en-US" i="1" dirty="0"/>
              <a:t>D</a:t>
            </a:r>
            <a:r>
              <a:rPr lang="en-US" altLang="en-US" dirty="0"/>
              <a:t> of functional and multivalued dependencies if for all multivalued dependencies in </a:t>
            </a:r>
            <a:r>
              <a:rPr lang="en-US" altLang="en-US" i="1" dirty="0"/>
              <a:t>D</a:t>
            </a:r>
            <a:r>
              <a:rPr lang="en-US" altLang="en-US" baseline="30000" dirty="0"/>
              <a:t>+</a:t>
            </a:r>
            <a:r>
              <a:rPr lang="en-US" altLang="en-US" dirty="0"/>
              <a:t> of the form </a:t>
            </a:r>
            <a:r>
              <a:rPr lang="en-US" altLang="en-US" dirty="0">
                <a:sym typeface="Symbol" panose="05050102010706020507" pitchFamily="18" charset="2"/>
              </a:rPr>
              <a:t></a:t>
            </a:r>
            <a:r>
              <a:rPr lang="en-US" altLang="en-US" dirty="0">
                <a:sym typeface="Greek Symbols"/>
              </a:rPr>
              <a:t> </a:t>
            </a:r>
            <a:r>
              <a:rPr lang="en-US" altLang="en-US" b="1" dirty="0">
                <a:sym typeface="Symbol" panose="05050102010706020507" pitchFamily="18" charset="2"/>
              </a:rPr>
              <a:t></a:t>
            </a:r>
            <a:r>
              <a:rPr lang="en-US" altLang="en-US" i="1" dirty="0">
                <a:sym typeface="Monotype Sorts" pitchFamily="-84" charset="2"/>
              </a:rPr>
              <a:t> </a:t>
            </a:r>
            <a:r>
              <a:rPr lang="en-US" altLang="en-US" dirty="0">
                <a:sym typeface="Symbol" panose="05050102010706020507" pitchFamily="18" charset="2"/>
              </a:rPr>
              <a:t></a:t>
            </a:r>
            <a:r>
              <a:rPr lang="en-US" altLang="en-US" dirty="0">
                <a:sym typeface="Greek Symbols"/>
              </a:rPr>
              <a:t>, where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 </a:t>
            </a:r>
            <a:r>
              <a:rPr lang="en-US" altLang="en-US" i="1" dirty="0">
                <a:sym typeface="Symbol" panose="05050102010706020507" pitchFamily="18" charset="2"/>
              </a:rPr>
              <a:t>R</a:t>
            </a:r>
            <a:r>
              <a:rPr lang="en-US" altLang="en-US" dirty="0">
                <a:sym typeface="Symbol" panose="05050102010706020507" pitchFamily="18" charset="2"/>
              </a:rPr>
              <a:t> and </a:t>
            </a:r>
            <a:r>
              <a:rPr lang="en-US" altLang="en-US" i="1" dirty="0">
                <a:sym typeface="Greek Symbols"/>
              </a:rPr>
              <a:t> </a:t>
            </a:r>
            <a:r>
              <a:rPr lang="en-US" altLang="en-US" dirty="0">
                <a:sym typeface="Symbol" panose="05050102010706020507" pitchFamily="18" charset="2"/>
              </a:rPr>
              <a:t> </a:t>
            </a:r>
            <a:r>
              <a:rPr lang="en-US" altLang="en-US" i="1" dirty="0">
                <a:sym typeface="Symbol" panose="05050102010706020507" pitchFamily="18" charset="2"/>
              </a:rPr>
              <a:t>R, </a:t>
            </a:r>
            <a:r>
              <a:rPr lang="en-US" altLang="en-US" dirty="0">
                <a:sym typeface="Symbol" panose="05050102010706020507" pitchFamily="18" charset="2"/>
              </a:rPr>
              <a:t>at least one of the following hold:</a:t>
            </a:r>
          </a:p>
          <a:p>
            <a:pPr lvl="1"/>
            <a:r>
              <a:rPr lang="en-US" altLang="en-US" dirty="0">
                <a:sym typeface="Symbol" panose="05050102010706020507" pitchFamily="18" charset="2"/>
              </a:rPr>
              <a:t></a:t>
            </a:r>
            <a:r>
              <a:rPr lang="en-US" altLang="en-US" dirty="0">
                <a:sym typeface="Greek Symbols"/>
              </a:rPr>
              <a:t> </a:t>
            </a:r>
            <a:r>
              <a:rPr lang="en-US" altLang="en-US" b="1" dirty="0">
                <a:sym typeface="Symbol" panose="05050102010706020507" pitchFamily="18" charset="2"/>
              </a:rPr>
              <a:t></a:t>
            </a:r>
            <a:r>
              <a:rPr lang="en-US" altLang="en-US" i="1" dirty="0">
                <a:sym typeface="Monotype Sorts" pitchFamily="-84" charset="2"/>
              </a:rPr>
              <a:t> </a:t>
            </a:r>
            <a:r>
              <a:rPr lang="en-US" altLang="en-US" dirty="0">
                <a:sym typeface="Symbol" panose="05050102010706020507" pitchFamily="18" charset="2"/>
              </a:rPr>
              <a:t></a:t>
            </a:r>
            <a:r>
              <a:rPr lang="en-US" altLang="en-US" dirty="0">
                <a:sym typeface="Greek Symbols"/>
              </a:rPr>
              <a:t> is trivial (i.e., </a:t>
            </a:r>
            <a:r>
              <a:rPr lang="en-US" altLang="en-US" dirty="0">
                <a:sym typeface="Symbol" panose="05050102010706020507" pitchFamily="18" charset="2"/>
              </a:rPr>
              <a:t></a:t>
            </a:r>
            <a:r>
              <a:rPr lang="en-US" altLang="en-US" i="1" dirty="0">
                <a:sym typeface="Greek Symbols"/>
              </a:rPr>
              <a:t> </a:t>
            </a:r>
            <a:r>
              <a:rPr lang="en-US" altLang="en-US" dirty="0">
                <a:sym typeface="Symbol" panose="05050102010706020507" pitchFamily="18" charset="2"/>
              </a:rPr>
              <a:t> </a:t>
            </a:r>
            <a:r>
              <a:rPr lang="en-US" altLang="en-US" dirty="0">
                <a:sym typeface="Greek Symbols"/>
              </a:rPr>
              <a:t> or </a:t>
            </a:r>
            <a:r>
              <a:rPr lang="en-US" altLang="en-US" dirty="0">
                <a:sym typeface="Symbol" panose="05050102010706020507" pitchFamily="18" charset="2"/>
              </a:rPr>
              <a:t></a:t>
            </a:r>
            <a:r>
              <a:rPr lang="en-US" altLang="en-US" dirty="0">
                <a:sym typeface="Greek Symbols"/>
              </a:rPr>
              <a:t> </a:t>
            </a:r>
            <a:r>
              <a:rPr lang="en-US" altLang="en-US" dirty="0">
                <a:sym typeface="Symbol" panose="05050102010706020507" pitchFamily="18" charset="2"/>
              </a:rPr>
              <a:t> </a:t>
            </a:r>
            <a:r>
              <a:rPr lang="en-US" altLang="en-US" i="1" dirty="0">
                <a:sym typeface="Greek Symbols"/>
              </a:rPr>
              <a:t> = R)</a:t>
            </a:r>
          </a:p>
          <a:p>
            <a:pPr lvl="1"/>
            <a:r>
              <a:rPr lang="en-US" altLang="en-US" dirty="0">
                <a:sym typeface="Symbol" panose="05050102010706020507" pitchFamily="18" charset="2"/>
              </a:rPr>
              <a:t></a:t>
            </a:r>
            <a:r>
              <a:rPr lang="en-US" altLang="en-US" dirty="0">
                <a:sym typeface="Greek Symbols"/>
              </a:rPr>
              <a:t> is a </a:t>
            </a:r>
            <a:r>
              <a:rPr lang="en-US" altLang="en-US" dirty="0" err="1">
                <a:sym typeface="Greek Symbols"/>
              </a:rPr>
              <a:t>superkey</a:t>
            </a:r>
            <a:r>
              <a:rPr lang="en-US" altLang="en-US" dirty="0">
                <a:sym typeface="Greek Symbols"/>
              </a:rPr>
              <a:t> for schema </a:t>
            </a:r>
            <a:r>
              <a:rPr lang="en-US" altLang="en-US" i="1" dirty="0">
                <a:sym typeface="Greek Symbols"/>
              </a:rPr>
              <a:t>R</a:t>
            </a:r>
          </a:p>
          <a:p>
            <a:r>
              <a:rPr lang="en-US" altLang="en-US" dirty="0">
                <a:sym typeface="Greek Symbols"/>
              </a:rPr>
              <a:t>If a relation is in 4NF it is in BCNF</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1314" name="Rectangle 2"/>
          <p:cNvSpPr>
            <a:spLocks noGrp="1" noChangeArrowheads="1"/>
          </p:cNvSpPr>
          <p:nvPr>
            <p:ph type="title"/>
          </p:nvPr>
        </p:nvSpPr>
        <p:spPr>
          <a:xfrm>
            <a:off x="873125" y="79375"/>
            <a:ext cx="8077200" cy="609600"/>
          </a:xfrm>
        </p:spPr>
        <p:txBody>
          <a:bodyPr/>
          <a:lstStyle/>
          <a:p>
            <a:pPr>
              <a:defRPr/>
            </a:pPr>
            <a:r>
              <a:rPr lang="en-US" altLang="en-US" dirty="0">
                <a:effectLst>
                  <a:outerShdw blurRad="38100" dist="38100" dir="2700000" algn="tl">
                    <a:srgbClr val="C0C0C0"/>
                  </a:outerShdw>
                </a:effectLst>
                <a:ea typeface="ＭＳ Ｐゴシック" pitchFamily="34" charset="-128"/>
              </a:rPr>
              <a:t>Restriction of Multivalued Dependencies</a:t>
            </a:r>
          </a:p>
        </p:txBody>
      </p:sp>
      <p:sp>
        <p:nvSpPr>
          <p:cNvPr id="89091" name="Rectangle 3"/>
          <p:cNvSpPr>
            <a:spLocks noGrp="1" noChangeArrowheads="1"/>
          </p:cNvSpPr>
          <p:nvPr>
            <p:ph type="body" idx="1"/>
          </p:nvPr>
        </p:nvSpPr>
        <p:spPr>
          <a:xfrm>
            <a:off x="763480" y="1093788"/>
            <a:ext cx="7964851" cy="2359275"/>
          </a:xfrm>
        </p:spPr>
        <p:txBody>
          <a:bodyPr/>
          <a:lstStyle/>
          <a:p>
            <a:r>
              <a:rPr lang="en-US" altLang="en-US" dirty="0"/>
              <a:t>The restriction of  D to R</a:t>
            </a:r>
            <a:r>
              <a:rPr lang="en-US" altLang="en-US" baseline="-25000" dirty="0"/>
              <a:t>i</a:t>
            </a:r>
            <a:r>
              <a:rPr lang="en-US" altLang="en-US" dirty="0"/>
              <a:t> is the set D</a:t>
            </a:r>
            <a:r>
              <a:rPr lang="en-US" altLang="en-US" baseline="-25000" dirty="0"/>
              <a:t>i</a:t>
            </a:r>
            <a:r>
              <a:rPr lang="en-US" altLang="en-US" dirty="0"/>
              <a:t> consisting of</a:t>
            </a:r>
          </a:p>
          <a:p>
            <a:pPr lvl="1"/>
            <a:r>
              <a:rPr lang="en-US" altLang="en-US" dirty="0"/>
              <a:t>All functional dependencies in D</a:t>
            </a:r>
            <a:r>
              <a:rPr lang="en-US" altLang="en-US" baseline="30000" dirty="0"/>
              <a:t>+</a:t>
            </a:r>
            <a:r>
              <a:rPr lang="en-US" altLang="en-US" dirty="0"/>
              <a:t> that include only attributes of R</a:t>
            </a:r>
            <a:r>
              <a:rPr lang="en-US" altLang="en-US" baseline="-25000" dirty="0"/>
              <a:t>i</a:t>
            </a:r>
          </a:p>
          <a:p>
            <a:pPr lvl="1"/>
            <a:r>
              <a:rPr lang="en-US" altLang="en-US" dirty="0"/>
              <a:t>All multivalued dependencies of the form</a:t>
            </a:r>
          </a:p>
          <a:p>
            <a:pPr lvl="2">
              <a:buFont typeface="Webdings" panose="05030102010509060703" pitchFamily="18" charset="2"/>
              <a:buNone/>
            </a:pPr>
            <a:r>
              <a:rPr lang="en-US" altLang="en-US" dirty="0">
                <a:sym typeface="Symbol" panose="05050102010706020507" pitchFamily="18" charset="2"/>
              </a:rPr>
              <a:t>   </a:t>
            </a:r>
            <a:r>
              <a:rPr lang="en-US" altLang="en-US" dirty="0">
                <a:sym typeface="Greek Symbols"/>
              </a:rPr>
              <a:t> </a:t>
            </a:r>
            <a:r>
              <a:rPr lang="en-US" altLang="en-US" b="1" dirty="0">
                <a:sym typeface="Symbol" panose="05050102010706020507" pitchFamily="18" charset="2"/>
              </a:rPr>
              <a:t></a:t>
            </a:r>
            <a:r>
              <a:rPr lang="en-US" altLang="en-US" i="1" dirty="0">
                <a:sym typeface="Monotype Sorts" pitchFamily="-84" charset="2"/>
              </a:rPr>
              <a:t> (</a:t>
            </a:r>
            <a:r>
              <a:rPr lang="en-US" altLang="en-US" dirty="0">
                <a:sym typeface="Symbol" panose="05050102010706020507" pitchFamily="18" charset="2"/>
              </a:rPr>
              <a:t> </a:t>
            </a:r>
            <a:r>
              <a:rPr lang="en-US" altLang="en-US" dirty="0">
                <a:sym typeface="Greek Symbols"/>
              </a:rPr>
              <a:t> </a:t>
            </a:r>
            <a:r>
              <a:rPr lang="en-US" altLang="en-US" dirty="0"/>
              <a:t>R</a:t>
            </a:r>
            <a:r>
              <a:rPr lang="en-US" altLang="en-US" baseline="-25000" dirty="0"/>
              <a:t>i</a:t>
            </a:r>
            <a:r>
              <a:rPr lang="en-US" altLang="en-US" dirty="0"/>
              <a:t>)</a:t>
            </a:r>
            <a:endParaRPr lang="en-US" altLang="en-US" baseline="-25000" dirty="0"/>
          </a:p>
          <a:p>
            <a:pPr lvl="1">
              <a:buFont typeface="Monotype Sorts" pitchFamily="-84" charset="2"/>
              <a:buNone/>
            </a:pPr>
            <a:r>
              <a:rPr lang="en-US" altLang="en-US" dirty="0"/>
              <a:t>    where </a:t>
            </a:r>
            <a:r>
              <a:rPr lang="en-US" altLang="en-US" dirty="0">
                <a:sym typeface="Symbol" panose="05050102010706020507" pitchFamily="18" charset="2"/>
              </a:rPr>
              <a:t></a:t>
            </a:r>
            <a:r>
              <a:rPr lang="en-US" altLang="en-US" dirty="0"/>
              <a:t> </a:t>
            </a:r>
            <a:r>
              <a:rPr lang="en-US" altLang="en-US" dirty="0">
                <a:sym typeface="Symbol" panose="05050102010706020507" pitchFamily="18" charset="2"/>
              </a:rPr>
              <a:t></a:t>
            </a:r>
            <a:r>
              <a:rPr lang="en-US" altLang="en-US" dirty="0"/>
              <a:t> R</a:t>
            </a:r>
            <a:r>
              <a:rPr lang="en-US" altLang="en-US" baseline="-25000" dirty="0"/>
              <a:t>i </a:t>
            </a:r>
            <a:r>
              <a:rPr lang="en-US" altLang="en-US" dirty="0"/>
              <a:t> and  </a:t>
            </a:r>
            <a:r>
              <a:rPr lang="en-US" altLang="en-US" dirty="0">
                <a:sym typeface="Symbol" panose="05050102010706020507" pitchFamily="18" charset="2"/>
              </a:rPr>
              <a:t></a:t>
            </a:r>
            <a:r>
              <a:rPr lang="en-US" altLang="en-US" dirty="0"/>
              <a:t> </a:t>
            </a:r>
            <a:r>
              <a:rPr lang="en-US" altLang="en-US" b="1" dirty="0">
                <a:sym typeface="Symbol" panose="05050102010706020507" pitchFamily="18" charset="2"/>
              </a:rPr>
              <a:t></a:t>
            </a:r>
            <a:r>
              <a:rPr lang="en-US" altLang="en-US" dirty="0"/>
              <a:t> </a:t>
            </a:r>
            <a:r>
              <a:rPr lang="en-US" altLang="en-US" dirty="0">
                <a:sym typeface="Symbol" panose="05050102010706020507" pitchFamily="18" charset="2"/>
              </a:rPr>
              <a:t></a:t>
            </a:r>
            <a:r>
              <a:rPr lang="en-US" altLang="en-US" dirty="0"/>
              <a:t> is in D</a:t>
            </a:r>
            <a:r>
              <a:rPr lang="en-US" altLang="en-US" baseline="30000" dirty="0"/>
              <a:t>+</a:t>
            </a:r>
            <a:r>
              <a:rPr lang="en-US" altLang="en-US" dirty="0"/>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4NF Decomposition Algorithm</a:t>
            </a:r>
          </a:p>
        </p:txBody>
      </p:sp>
      <p:sp>
        <p:nvSpPr>
          <p:cNvPr id="90115" name="Rectangle 3"/>
          <p:cNvSpPr>
            <a:spLocks noGrp="1" noChangeArrowheads="1"/>
          </p:cNvSpPr>
          <p:nvPr>
            <p:ph type="body" idx="1"/>
          </p:nvPr>
        </p:nvSpPr>
        <p:spPr>
          <a:xfrm>
            <a:off x="768350" y="1163638"/>
            <a:ext cx="7496761" cy="3901657"/>
          </a:xfrm>
        </p:spPr>
        <p:txBody>
          <a:bodyPr/>
          <a:lstStyle/>
          <a:p>
            <a:pPr>
              <a:buFont typeface="Monotype Sorts" pitchFamily="-84" charset="2"/>
              <a:buNone/>
            </a:pPr>
            <a:r>
              <a:rPr lang="en-US" altLang="en-US" i="1" dirty="0"/>
              <a:t>     result:</a:t>
            </a:r>
            <a:r>
              <a:rPr lang="en-US" altLang="en-US" dirty="0"/>
              <a:t> = {</a:t>
            </a:r>
            <a:r>
              <a:rPr lang="en-US" altLang="en-US" i="1" dirty="0"/>
              <a:t>R</a:t>
            </a:r>
            <a:r>
              <a:rPr lang="en-US" altLang="en-US" dirty="0"/>
              <a:t>};</a:t>
            </a:r>
            <a:br>
              <a:rPr lang="en-US" altLang="en-US" dirty="0"/>
            </a:br>
            <a:r>
              <a:rPr lang="en-US" altLang="en-US" i="1" dirty="0"/>
              <a:t>done</a:t>
            </a:r>
            <a:r>
              <a:rPr lang="en-US" altLang="en-US" dirty="0"/>
              <a:t> := false;</a:t>
            </a:r>
            <a:br>
              <a:rPr lang="en-US" altLang="en-US" dirty="0"/>
            </a:br>
            <a:r>
              <a:rPr lang="en-US" altLang="en-US" i="1" dirty="0"/>
              <a:t>compute D</a:t>
            </a:r>
            <a:r>
              <a:rPr lang="en-US" altLang="en-US" baseline="30000" dirty="0"/>
              <a:t>+</a:t>
            </a:r>
            <a:r>
              <a:rPr lang="en-US" altLang="en-US" dirty="0"/>
              <a:t>;</a:t>
            </a:r>
            <a:br>
              <a:rPr lang="en-US" altLang="en-US" dirty="0"/>
            </a:br>
            <a:r>
              <a:rPr lang="en-US" altLang="en-US" dirty="0"/>
              <a:t>Let D</a:t>
            </a:r>
            <a:r>
              <a:rPr lang="en-US" altLang="en-US" baseline="-25000" dirty="0"/>
              <a:t>i</a:t>
            </a:r>
            <a:r>
              <a:rPr lang="en-US" altLang="en-US" dirty="0"/>
              <a:t> denote the restriction of D</a:t>
            </a:r>
            <a:r>
              <a:rPr lang="en-US" altLang="en-US" baseline="30000" dirty="0"/>
              <a:t>+</a:t>
            </a:r>
            <a:r>
              <a:rPr lang="en-US" altLang="en-US" dirty="0"/>
              <a:t> to R</a:t>
            </a:r>
            <a:r>
              <a:rPr lang="en-US" altLang="en-US" baseline="-25000" dirty="0"/>
              <a:t>i</a:t>
            </a:r>
          </a:p>
          <a:p>
            <a:pPr>
              <a:buFont typeface="Monotype Sorts" pitchFamily="-84" charset="2"/>
              <a:buNone/>
            </a:pPr>
            <a:r>
              <a:rPr lang="en-US" altLang="en-US" b="1" dirty="0"/>
              <a:t>      while </a:t>
            </a:r>
            <a:r>
              <a:rPr lang="en-US" altLang="en-US" dirty="0"/>
              <a:t>(</a:t>
            </a:r>
            <a:r>
              <a:rPr lang="en-US" altLang="en-US" b="1" dirty="0"/>
              <a:t>not </a:t>
            </a:r>
            <a:r>
              <a:rPr lang="en-US" altLang="en-US" i="1" dirty="0"/>
              <a:t>done</a:t>
            </a:r>
            <a:r>
              <a:rPr lang="en-US" altLang="en-US" dirty="0"/>
              <a:t>) </a:t>
            </a:r>
            <a:br>
              <a:rPr lang="en-US" altLang="en-US" dirty="0"/>
            </a:br>
            <a:r>
              <a:rPr lang="en-US" altLang="en-US" dirty="0"/>
              <a:t>    </a:t>
            </a:r>
            <a:r>
              <a:rPr lang="en-US" altLang="en-US" b="1" dirty="0"/>
              <a:t>if </a:t>
            </a:r>
            <a:r>
              <a:rPr lang="en-US" altLang="en-US" dirty="0"/>
              <a:t>(there is a schema </a:t>
            </a:r>
            <a:r>
              <a:rPr lang="en-US" altLang="en-US" b="1" dirty="0"/>
              <a:t>R</a:t>
            </a:r>
            <a:r>
              <a:rPr lang="en-US" altLang="en-US" baseline="-25000" dirty="0"/>
              <a:t>i</a:t>
            </a:r>
            <a:r>
              <a:rPr lang="en-US" altLang="en-US" dirty="0"/>
              <a:t> in </a:t>
            </a:r>
            <a:r>
              <a:rPr lang="en-US" altLang="en-US" i="1" dirty="0"/>
              <a:t>result </a:t>
            </a:r>
            <a:r>
              <a:rPr lang="en-US" altLang="en-US" dirty="0"/>
              <a:t>that is not in 4NF) </a:t>
            </a:r>
            <a:r>
              <a:rPr lang="en-US" altLang="en-US" b="1" dirty="0"/>
              <a:t>then</a:t>
            </a:r>
            <a:br>
              <a:rPr lang="en-US" altLang="en-US" b="1" dirty="0"/>
            </a:br>
            <a:r>
              <a:rPr lang="en-US" altLang="en-US" b="1" dirty="0"/>
              <a:t>       begin</a:t>
            </a:r>
            <a:endParaRPr lang="en-US" altLang="en-US" dirty="0"/>
          </a:p>
          <a:p>
            <a:pPr>
              <a:buFont typeface="Monotype Sorts" pitchFamily="-84" charset="2"/>
              <a:buNone/>
            </a:pPr>
            <a:r>
              <a:rPr lang="en-US" altLang="en-US" dirty="0"/>
              <a:t>		 let </a:t>
            </a:r>
            <a:r>
              <a:rPr lang="en-US" altLang="en-US" dirty="0">
                <a:sym typeface="Symbol" panose="05050102010706020507" pitchFamily="18" charset="2"/>
              </a:rPr>
              <a:t> </a:t>
            </a:r>
            <a:r>
              <a:rPr lang="en-US" altLang="en-US" b="1" dirty="0">
                <a:sym typeface="Symbol" panose="05050102010706020507" pitchFamily="18" charset="2"/>
              </a:rPr>
              <a:t></a:t>
            </a:r>
            <a:r>
              <a:rPr lang="en-US" altLang="en-US" dirty="0">
                <a:sym typeface="Symbol" panose="05050102010706020507" pitchFamily="18" charset="2"/>
              </a:rPr>
              <a:t>  be a nontrivial multivalued dependency that holds</a:t>
            </a:r>
            <a:br>
              <a:rPr lang="en-US" altLang="en-US" dirty="0">
                <a:sym typeface="Symbol" panose="05050102010706020507" pitchFamily="18" charset="2"/>
              </a:rPr>
            </a:br>
            <a:r>
              <a:rPr lang="en-US" altLang="en-US" dirty="0">
                <a:sym typeface="Symbol" panose="05050102010706020507" pitchFamily="18" charset="2"/>
              </a:rPr>
              <a:t>            on </a:t>
            </a:r>
            <a:r>
              <a:rPr lang="en-US" altLang="en-US" i="1" dirty="0">
                <a:sym typeface="Symbol" panose="05050102010706020507" pitchFamily="18" charset="2"/>
              </a:rPr>
              <a:t>R</a:t>
            </a:r>
            <a:r>
              <a:rPr lang="en-US" altLang="en-US" baseline="-25000" dirty="0">
                <a:sym typeface="Symbol" panose="05050102010706020507" pitchFamily="18" charset="2"/>
              </a:rPr>
              <a:t>i</a:t>
            </a:r>
            <a:r>
              <a:rPr lang="en-US" altLang="en-US" dirty="0">
                <a:sym typeface="Symbol" panose="05050102010706020507" pitchFamily="18" charset="2"/>
              </a:rPr>
              <a:t> such that   </a:t>
            </a:r>
            <a:r>
              <a:rPr lang="en-US" altLang="en-US" i="1" dirty="0">
                <a:sym typeface="Symbol" panose="05050102010706020507" pitchFamily="18" charset="2"/>
              </a:rPr>
              <a:t>R</a:t>
            </a:r>
            <a:r>
              <a:rPr lang="en-US" altLang="en-US" i="1" baseline="-25000" dirty="0">
                <a:sym typeface="Symbol" panose="05050102010706020507" pitchFamily="18" charset="2"/>
              </a:rPr>
              <a:t>i  </a:t>
            </a:r>
            <a:r>
              <a:rPr lang="en-US" altLang="en-US" dirty="0">
                <a:sym typeface="Symbol" panose="05050102010706020507" pitchFamily="18" charset="2"/>
              </a:rPr>
              <a:t>is not in </a:t>
            </a:r>
            <a:r>
              <a:rPr lang="en-US" altLang="en-US" i="1" dirty="0"/>
              <a:t>D</a:t>
            </a:r>
            <a:r>
              <a:rPr lang="en-US" altLang="en-US" baseline="-25000" dirty="0"/>
              <a:t>i</a:t>
            </a:r>
            <a:r>
              <a:rPr lang="en-US" altLang="en-US" dirty="0"/>
              <a:t>, and </a:t>
            </a:r>
            <a:r>
              <a:rPr lang="en-US" altLang="en-US" dirty="0">
                <a:sym typeface="Symbol" panose="05050102010706020507" pitchFamily="18" charset="2"/>
              </a:rPr>
              <a:t>; </a:t>
            </a:r>
            <a:br>
              <a:rPr lang="en-US" altLang="en-US" dirty="0">
                <a:sym typeface="Symbol" panose="05050102010706020507" pitchFamily="18" charset="2"/>
              </a:rPr>
            </a:br>
            <a:r>
              <a:rPr lang="en-US" altLang="en-US" dirty="0">
                <a:sym typeface="Symbol" panose="05050102010706020507" pitchFamily="18" charset="2"/>
              </a:rPr>
              <a:t>          </a:t>
            </a:r>
            <a:r>
              <a:rPr lang="en-US" altLang="en-US" i="1" dirty="0">
                <a:sym typeface="Symbol" panose="05050102010706020507" pitchFamily="18" charset="2"/>
              </a:rPr>
              <a:t>result </a:t>
            </a:r>
            <a:r>
              <a:rPr lang="en-US" altLang="en-US" dirty="0">
                <a:sym typeface="Symbol" panose="05050102010706020507" pitchFamily="18" charset="2"/>
              </a:rPr>
              <a:t>:=  (</a:t>
            </a:r>
            <a:r>
              <a:rPr lang="en-US" altLang="en-US" i="1" dirty="0">
                <a:sym typeface="Symbol" panose="05050102010706020507" pitchFamily="18" charset="2"/>
              </a:rPr>
              <a:t>result </a:t>
            </a:r>
            <a:r>
              <a:rPr lang="en-US" altLang="en-US" dirty="0">
                <a:sym typeface="Symbol" panose="05050102010706020507" pitchFamily="18" charset="2"/>
              </a:rPr>
              <a:t>- </a:t>
            </a:r>
            <a:r>
              <a:rPr lang="en-US" altLang="en-US" i="1" dirty="0">
                <a:sym typeface="Symbol" panose="05050102010706020507" pitchFamily="18" charset="2"/>
              </a:rPr>
              <a:t>R</a:t>
            </a:r>
            <a:r>
              <a:rPr lang="en-US" altLang="en-US" i="1" baseline="-25000" dirty="0">
                <a:sym typeface="Symbol" panose="05050102010706020507" pitchFamily="18" charset="2"/>
              </a:rPr>
              <a:t>i</a:t>
            </a:r>
            <a:r>
              <a:rPr lang="en-US" altLang="en-US" dirty="0">
                <a:sym typeface="Symbol" panose="05050102010706020507" pitchFamily="18" charset="2"/>
              </a:rPr>
              <a:t>)  (</a:t>
            </a:r>
            <a:r>
              <a:rPr lang="en-US" altLang="en-US" i="1" dirty="0">
                <a:sym typeface="Symbol" panose="05050102010706020507" pitchFamily="18" charset="2"/>
              </a:rPr>
              <a:t>R</a:t>
            </a:r>
            <a:r>
              <a:rPr lang="en-US" altLang="en-US" i="1" baseline="-25000" dirty="0">
                <a:sym typeface="Symbol" panose="05050102010706020507" pitchFamily="18" charset="2"/>
              </a:rPr>
              <a:t>i</a:t>
            </a:r>
            <a:r>
              <a:rPr lang="en-US" altLang="en-US" baseline="-25000" dirty="0">
                <a:sym typeface="Symbol" panose="05050102010706020507" pitchFamily="18" charset="2"/>
              </a:rPr>
              <a:t> </a:t>
            </a:r>
            <a:r>
              <a:rPr lang="en-US" altLang="en-US" dirty="0">
                <a:sym typeface="Symbol" panose="05050102010706020507" pitchFamily="18" charset="2"/>
              </a:rPr>
              <a:t>- )   (, ); </a:t>
            </a:r>
            <a:br>
              <a:rPr lang="en-US" altLang="en-US" dirty="0">
                <a:sym typeface="Symbol" panose="05050102010706020507" pitchFamily="18" charset="2"/>
              </a:rPr>
            </a:br>
            <a:r>
              <a:rPr lang="en-US" altLang="en-US" b="1" dirty="0">
                <a:sym typeface="Symbol" panose="05050102010706020507" pitchFamily="18" charset="2"/>
              </a:rPr>
              <a:t>       end</a:t>
            </a:r>
            <a:r>
              <a:rPr lang="en-US" altLang="en-US" dirty="0">
                <a:sym typeface="Symbol" panose="05050102010706020507" pitchFamily="18" charset="2"/>
              </a:rPr>
              <a:t/>
            </a:r>
            <a:br>
              <a:rPr lang="en-US" altLang="en-US" dirty="0">
                <a:sym typeface="Symbol" panose="05050102010706020507" pitchFamily="18" charset="2"/>
              </a:rPr>
            </a:br>
            <a:r>
              <a:rPr lang="en-US" altLang="en-US" b="1" dirty="0">
                <a:sym typeface="Symbol" panose="05050102010706020507" pitchFamily="18" charset="2"/>
              </a:rPr>
              <a:t>    else </a:t>
            </a:r>
            <a:r>
              <a:rPr lang="en-US" altLang="en-US" i="1" dirty="0">
                <a:sym typeface="Symbol" panose="05050102010706020507" pitchFamily="18" charset="2"/>
              </a:rPr>
              <a:t>done</a:t>
            </a:r>
            <a:r>
              <a:rPr lang="en-US" altLang="en-US" dirty="0">
                <a:sym typeface="Symbol" panose="05050102010706020507" pitchFamily="18" charset="2"/>
              </a:rPr>
              <a:t>:= true;</a:t>
            </a:r>
          </a:p>
          <a:p>
            <a:pPr>
              <a:buFont typeface="Monotype Sorts" pitchFamily="-84" charset="2"/>
              <a:buNone/>
            </a:pPr>
            <a:r>
              <a:rPr lang="en-US" altLang="en-US" dirty="0">
                <a:sym typeface="Symbol" panose="05050102010706020507" pitchFamily="18" charset="2"/>
              </a:rPr>
              <a:t>      Note: each </a:t>
            </a:r>
            <a:r>
              <a:rPr lang="en-US" altLang="en-US" i="1" dirty="0">
                <a:sym typeface="Symbol" panose="05050102010706020507" pitchFamily="18" charset="2"/>
              </a:rPr>
              <a:t>R</a:t>
            </a:r>
            <a:r>
              <a:rPr lang="en-US" altLang="en-US" i="1" baseline="-25000" dirty="0">
                <a:sym typeface="Symbol" panose="05050102010706020507" pitchFamily="18" charset="2"/>
              </a:rPr>
              <a:t>i</a:t>
            </a:r>
            <a:r>
              <a:rPr lang="en-US" altLang="en-US" i="1" dirty="0">
                <a:sym typeface="Symbol" panose="05050102010706020507" pitchFamily="18" charset="2"/>
              </a:rPr>
              <a:t> </a:t>
            </a:r>
            <a:r>
              <a:rPr lang="en-US" altLang="en-US" dirty="0">
                <a:sym typeface="Symbol" panose="05050102010706020507" pitchFamily="18" charset="2"/>
              </a:rPr>
              <a:t>is in 4NF, and decomposition is lossless-join</a:t>
            </a:r>
          </a:p>
        </p:txBody>
      </p:sp>
      <p:grpSp>
        <p:nvGrpSpPr>
          <p:cNvPr id="2" name="Group 4"/>
          <p:cNvGrpSpPr>
            <a:grpSpLocks/>
          </p:cNvGrpSpPr>
          <p:nvPr/>
        </p:nvGrpSpPr>
        <p:grpSpPr bwMode="auto">
          <a:xfrm>
            <a:off x="8348663" y="6477000"/>
            <a:ext cx="317500" cy="4763"/>
            <a:chOff x="2640" y="1301"/>
            <a:chExt cx="200" cy="3"/>
          </a:xfrm>
        </p:grpSpPr>
        <p:sp>
          <p:nvSpPr>
            <p:cNvPr id="90117" name="Line 5"/>
            <p:cNvSpPr>
              <a:spLocks noChangeShapeType="1"/>
            </p:cNvSpPr>
            <p:nvPr/>
          </p:nvSpPr>
          <p:spPr bwMode="auto">
            <a:xfrm flipV="1">
              <a:off x="2640" y="1301"/>
              <a:ext cx="136" cy="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0118" name="Line 6"/>
            <p:cNvSpPr>
              <a:spLocks noChangeShapeType="1"/>
            </p:cNvSpPr>
            <p:nvPr/>
          </p:nvSpPr>
          <p:spPr bwMode="auto">
            <a:xfrm>
              <a:off x="2704" y="1304"/>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541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Example</a:t>
            </a:r>
          </a:p>
        </p:txBody>
      </p:sp>
      <p:sp>
        <p:nvSpPr>
          <p:cNvPr id="785411" name="Rectangle 3"/>
          <p:cNvSpPr>
            <a:spLocks noGrp="1" noChangeArrowheads="1"/>
          </p:cNvSpPr>
          <p:nvPr>
            <p:ph type="body" idx="1"/>
          </p:nvPr>
        </p:nvSpPr>
        <p:spPr>
          <a:xfrm>
            <a:off x="788830" y="1163638"/>
            <a:ext cx="8258917" cy="4816057"/>
          </a:xfrm>
        </p:spPr>
        <p:txBody>
          <a:bodyPr/>
          <a:lstStyle/>
          <a:p>
            <a:pPr>
              <a:lnSpc>
                <a:spcPct val="90000"/>
              </a:lnSpc>
            </a:pPr>
            <a:r>
              <a:rPr lang="en-US" altLang="en-US" i="1" dirty="0"/>
              <a:t>R</a:t>
            </a:r>
            <a:r>
              <a:rPr lang="en-US" altLang="en-US" dirty="0"/>
              <a:t> =(</a:t>
            </a:r>
            <a:r>
              <a:rPr lang="en-US" altLang="en-US" i="1" dirty="0"/>
              <a:t>A, B, C, G, H, I</a:t>
            </a:r>
            <a:r>
              <a:rPr lang="en-US" altLang="en-US" dirty="0"/>
              <a:t>)</a:t>
            </a:r>
          </a:p>
          <a:p>
            <a:pPr>
              <a:lnSpc>
                <a:spcPct val="90000"/>
              </a:lnSpc>
              <a:buFont typeface="Monotype Sorts" pitchFamily="-84" charset="2"/>
              <a:buNone/>
            </a:pPr>
            <a:r>
              <a:rPr lang="en-US" altLang="en-US" i="1" dirty="0"/>
              <a:t>	F </a:t>
            </a:r>
            <a:r>
              <a:rPr lang="en-US" altLang="en-US" dirty="0"/>
              <a:t>={ </a:t>
            </a:r>
            <a:r>
              <a:rPr lang="en-US" altLang="en-US" i="1" dirty="0"/>
              <a:t>A </a:t>
            </a:r>
            <a:r>
              <a:rPr lang="en-US" altLang="en-US" b="1" dirty="0">
                <a:sym typeface="Symbol" panose="05050102010706020507" pitchFamily="18" charset="2"/>
              </a:rPr>
              <a:t></a:t>
            </a:r>
            <a:r>
              <a:rPr lang="en-US" altLang="en-US" dirty="0">
                <a:sym typeface="Symbol" panose="05050102010706020507" pitchFamily="18" charset="2"/>
              </a:rPr>
              <a:t> </a:t>
            </a:r>
            <a:r>
              <a:rPr lang="en-US" altLang="en-US" i="1" dirty="0"/>
              <a:t>B</a:t>
            </a:r>
            <a:endParaRPr lang="en-US" altLang="en-US" dirty="0"/>
          </a:p>
          <a:p>
            <a:pPr>
              <a:lnSpc>
                <a:spcPct val="90000"/>
              </a:lnSpc>
              <a:buFont typeface="Monotype Sorts" pitchFamily="-84" charset="2"/>
              <a:buNone/>
            </a:pPr>
            <a:r>
              <a:rPr lang="en-US" altLang="en-US" i="1" dirty="0"/>
              <a:t>		B</a:t>
            </a:r>
            <a:r>
              <a:rPr lang="en-US" altLang="en-US" dirty="0"/>
              <a:t> </a:t>
            </a:r>
            <a:r>
              <a:rPr lang="en-US" altLang="en-US" b="1" dirty="0">
                <a:sym typeface="Symbol" panose="05050102010706020507" pitchFamily="18" charset="2"/>
              </a:rPr>
              <a:t></a:t>
            </a:r>
            <a:r>
              <a:rPr lang="en-US" altLang="en-US" dirty="0"/>
              <a:t> </a:t>
            </a:r>
            <a:r>
              <a:rPr lang="en-US" altLang="en-US" i="1" dirty="0"/>
              <a:t>HI</a:t>
            </a:r>
            <a:endParaRPr lang="en-US" altLang="en-US" dirty="0"/>
          </a:p>
          <a:p>
            <a:pPr>
              <a:lnSpc>
                <a:spcPct val="90000"/>
              </a:lnSpc>
              <a:buFont typeface="Monotype Sorts" pitchFamily="-84" charset="2"/>
              <a:buNone/>
            </a:pPr>
            <a:r>
              <a:rPr lang="en-US" altLang="en-US" i="1" dirty="0"/>
              <a:t>		CG </a:t>
            </a:r>
            <a:r>
              <a:rPr lang="en-US" altLang="en-US" b="1" dirty="0">
                <a:sym typeface="Symbol" panose="05050102010706020507" pitchFamily="18" charset="2"/>
              </a:rPr>
              <a:t></a:t>
            </a:r>
            <a:r>
              <a:rPr lang="en-US" altLang="en-US" dirty="0">
                <a:sym typeface="Symbol" panose="05050102010706020507" pitchFamily="18" charset="2"/>
              </a:rPr>
              <a:t> </a:t>
            </a:r>
            <a:r>
              <a:rPr lang="en-US" altLang="en-US" i="1" dirty="0"/>
              <a:t>H</a:t>
            </a:r>
            <a:r>
              <a:rPr lang="en-US" altLang="en-US" dirty="0"/>
              <a:t> }</a:t>
            </a:r>
          </a:p>
          <a:p>
            <a:pPr>
              <a:lnSpc>
                <a:spcPct val="90000"/>
              </a:lnSpc>
            </a:pPr>
            <a:r>
              <a:rPr lang="en-US" altLang="en-US" i="1" dirty="0"/>
              <a:t>R</a:t>
            </a:r>
            <a:r>
              <a:rPr lang="en-US" altLang="en-US" dirty="0"/>
              <a:t> is not in 4NF since </a:t>
            </a:r>
            <a:r>
              <a:rPr lang="en-US" altLang="en-US" i="1" dirty="0"/>
              <a:t>A</a:t>
            </a:r>
            <a:r>
              <a:rPr lang="en-US" altLang="en-US" dirty="0"/>
              <a:t> </a:t>
            </a:r>
            <a:r>
              <a:rPr lang="en-US" altLang="en-US" b="1" dirty="0">
                <a:sym typeface="Symbol" panose="05050102010706020507" pitchFamily="18" charset="2"/>
              </a:rPr>
              <a:t></a:t>
            </a:r>
            <a:r>
              <a:rPr lang="en-US" altLang="en-US" dirty="0"/>
              <a:t> </a:t>
            </a:r>
            <a:r>
              <a:rPr lang="en-US" altLang="en-US" i="1" dirty="0"/>
              <a:t>B</a:t>
            </a:r>
            <a:r>
              <a:rPr lang="en-US" altLang="en-US" dirty="0"/>
              <a:t> and </a:t>
            </a:r>
            <a:r>
              <a:rPr lang="en-US" altLang="en-US" i="1" dirty="0"/>
              <a:t>A</a:t>
            </a:r>
            <a:r>
              <a:rPr lang="en-US" altLang="en-US" dirty="0"/>
              <a:t> is not a </a:t>
            </a:r>
            <a:r>
              <a:rPr lang="en-US" altLang="en-US" dirty="0" err="1"/>
              <a:t>superkey</a:t>
            </a:r>
            <a:r>
              <a:rPr lang="en-US" altLang="en-US" dirty="0"/>
              <a:t> for </a:t>
            </a:r>
            <a:r>
              <a:rPr lang="en-US" altLang="en-US" i="1" dirty="0"/>
              <a:t>R</a:t>
            </a:r>
            <a:endParaRPr lang="en-US" altLang="en-US" dirty="0"/>
          </a:p>
          <a:p>
            <a:pPr>
              <a:lnSpc>
                <a:spcPct val="90000"/>
              </a:lnSpc>
            </a:pPr>
            <a:r>
              <a:rPr lang="en-US" altLang="en-US" dirty="0"/>
              <a:t>Decomposition</a:t>
            </a:r>
          </a:p>
          <a:p>
            <a:pPr>
              <a:lnSpc>
                <a:spcPct val="90000"/>
              </a:lnSpc>
              <a:buFont typeface="Monotype Sorts" pitchFamily="-84" charset="2"/>
              <a:buNone/>
            </a:pPr>
            <a:r>
              <a:rPr lang="en-US" altLang="en-US" dirty="0"/>
              <a:t>	a) </a:t>
            </a:r>
            <a:r>
              <a:rPr lang="en-US" altLang="en-US" i="1" dirty="0"/>
              <a:t>R</a:t>
            </a:r>
            <a:r>
              <a:rPr lang="en-US" altLang="en-US" i="1" baseline="-25000" dirty="0"/>
              <a:t>1</a:t>
            </a:r>
            <a:r>
              <a:rPr lang="en-US" altLang="en-US" dirty="0"/>
              <a:t> = (</a:t>
            </a:r>
            <a:r>
              <a:rPr lang="en-US" altLang="en-US" i="1" dirty="0"/>
              <a:t>A, B</a:t>
            </a:r>
            <a:r>
              <a:rPr lang="en-US" altLang="en-US" dirty="0"/>
              <a:t>) 			(</a:t>
            </a:r>
            <a:r>
              <a:rPr lang="en-US" altLang="en-US" i="1" dirty="0"/>
              <a:t>R</a:t>
            </a:r>
            <a:r>
              <a:rPr lang="en-US" altLang="en-US" i="1" baseline="-25000" dirty="0"/>
              <a:t>1</a:t>
            </a:r>
            <a:r>
              <a:rPr lang="en-US" altLang="en-US" dirty="0"/>
              <a:t> is in 4NF)</a:t>
            </a:r>
          </a:p>
          <a:p>
            <a:pPr>
              <a:lnSpc>
                <a:spcPct val="90000"/>
              </a:lnSpc>
              <a:buFont typeface="Monotype Sorts" pitchFamily="-84" charset="2"/>
              <a:buNone/>
            </a:pPr>
            <a:r>
              <a:rPr lang="en-US" altLang="en-US" dirty="0"/>
              <a:t>	b) </a:t>
            </a:r>
            <a:r>
              <a:rPr lang="en-US" altLang="en-US" i="1" dirty="0"/>
              <a:t>R</a:t>
            </a:r>
            <a:r>
              <a:rPr lang="en-US" altLang="en-US" baseline="-25000" dirty="0"/>
              <a:t>2</a:t>
            </a:r>
            <a:r>
              <a:rPr lang="en-US" altLang="en-US" dirty="0"/>
              <a:t> = (</a:t>
            </a:r>
            <a:r>
              <a:rPr lang="en-US" altLang="en-US" i="1" dirty="0"/>
              <a:t>A, C, G, H, I</a:t>
            </a:r>
            <a:r>
              <a:rPr lang="en-US" altLang="en-US" dirty="0"/>
              <a:t>)  		(</a:t>
            </a:r>
            <a:r>
              <a:rPr lang="en-US" altLang="en-US" i="1" dirty="0"/>
              <a:t>R</a:t>
            </a:r>
            <a:r>
              <a:rPr lang="en-US" altLang="en-US" i="1" baseline="-25000" dirty="0"/>
              <a:t>2</a:t>
            </a:r>
            <a:r>
              <a:rPr lang="en-US" altLang="en-US" dirty="0"/>
              <a:t> is not in 4NF, decompose into R</a:t>
            </a:r>
            <a:r>
              <a:rPr lang="en-US" altLang="en-US" baseline="-25000" dirty="0"/>
              <a:t>3 </a:t>
            </a:r>
            <a:r>
              <a:rPr lang="en-US" altLang="en-US" dirty="0"/>
              <a:t>and R</a:t>
            </a:r>
            <a:r>
              <a:rPr lang="en-US" altLang="en-US" baseline="-25000" dirty="0"/>
              <a:t>4</a:t>
            </a:r>
            <a:r>
              <a:rPr lang="en-US" altLang="en-US" dirty="0"/>
              <a:t>)</a:t>
            </a:r>
          </a:p>
          <a:p>
            <a:pPr>
              <a:lnSpc>
                <a:spcPct val="90000"/>
              </a:lnSpc>
              <a:buFont typeface="Monotype Sorts" pitchFamily="-84" charset="2"/>
              <a:buNone/>
            </a:pPr>
            <a:r>
              <a:rPr lang="en-US" altLang="en-US" dirty="0"/>
              <a:t>	c) </a:t>
            </a:r>
            <a:r>
              <a:rPr lang="en-US" altLang="en-US" i="1" dirty="0"/>
              <a:t>R</a:t>
            </a:r>
            <a:r>
              <a:rPr lang="en-US" altLang="en-US" baseline="-25000" dirty="0"/>
              <a:t>3</a:t>
            </a:r>
            <a:r>
              <a:rPr lang="en-US" altLang="en-US" dirty="0"/>
              <a:t> = (</a:t>
            </a:r>
            <a:r>
              <a:rPr lang="en-US" altLang="en-US" i="1" dirty="0"/>
              <a:t>C, G, H</a:t>
            </a:r>
            <a:r>
              <a:rPr lang="en-US" altLang="en-US" dirty="0"/>
              <a:t>) 		(</a:t>
            </a:r>
            <a:r>
              <a:rPr lang="en-US" altLang="en-US" i="1" dirty="0"/>
              <a:t>R</a:t>
            </a:r>
            <a:r>
              <a:rPr lang="en-US" altLang="en-US" baseline="-25000" dirty="0"/>
              <a:t>3</a:t>
            </a:r>
            <a:r>
              <a:rPr lang="en-US" altLang="en-US" dirty="0"/>
              <a:t> is in 4NF)</a:t>
            </a:r>
          </a:p>
          <a:p>
            <a:pPr>
              <a:lnSpc>
                <a:spcPct val="90000"/>
              </a:lnSpc>
              <a:buFont typeface="Monotype Sorts" pitchFamily="-84" charset="2"/>
              <a:buNone/>
            </a:pPr>
            <a:r>
              <a:rPr lang="en-US" altLang="en-US" dirty="0"/>
              <a:t>	d) </a:t>
            </a:r>
            <a:r>
              <a:rPr lang="en-US" altLang="en-US" i="1" dirty="0"/>
              <a:t>R</a:t>
            </a:r>
            <a:r>
              <a:rPr lang="en-US" altLang="en-US" i="1" baseline="-25000" dirty="0"/>
              <a:t>4</a:t>
            </a:r>
            <a:r>
              <a:rPr lang="en-US" altLang="en-US" dirty="0"/>
              <a:t> = (</a:t>
            </a:r>
            <a:r>
              <a:rPr lang="en-US" altLang="en-US" i="1" dirty="0"/>
              <a:t>A, C, G, I</a:t>
            </a:r>
            <a:r>
              <a:rPr lang="en-US" altLang="en-US" dirty="0"/>
              <a:t>)  		(</a:t>
            </a:r>
            <a:r>
              <a:rPr lang="en-US" altLang="en-US" i="1" dirty="0"/>
              <a:t>R</a:t>
            </a:r>
            <a:r>
              <a:rPr lang="en-US" altLang="en-US" i="1" baseline="-25000" dirty="0"/>
              <a:t>4</a:t>
            </a:r>
            <a:r>
              <a:rPr lang="en-US" altLang="en-US" dirty="0"/>
              <a:t> is not in 4NF, decompose into R</a:t>
            </a:r>
            <a:r>
              <a:rPr lang="en-US" altLang="en-US" baseline="-25000" dirty="0"/>
              <a:t>5 </a:t>
            </a:r>
            <a:r>
              <a:rPr lang="en-US" altLang="en-US" dirty="0"/>
              <a:t>and R</a:t>
            </a:r>
            <a:r>
              <a:rPr lang="en-US" altLang="en-US" baseline="-25000" dirty="0"/>
              <a:t>6</a:t>
            </a:r>
            <a:r>
              <a:rPr lang="en-US" altLang="en-US" dirty="0"/>
              <a:t>)</a:t>
            </a:r>
          </a:p>
          <a:p>
            <a:pPr lvl="1">
              <a:lnSpc>
                <a:spcPct val="90000"/>
              </a:lnSpc>
            </a:pPr>
            <a:r>
              <a:rPr lang="en-US" altLang="en-US" i="1" dirty="0"/>
              <a:t>A</a:t>
            </a:r>
            <a:r>
              <a:rPr lang="en-US" altLang="en-US" dirty="0"/>
              <a:t> </a:t>
            </a:r>
            <a:r>
              <a:rPr lang="en-US" altLang="en-US" b="1" dirty="0">
                <a:sym typeface="Symbol" panose="05050102010706020507" pitchFamily="18" charset="2"/>
              </a:rPr>
              <a:t></a:t>
            </a:r>
            <a:r>
              <a:rPr lang="en-US" altLang="en-US" dirty="0">
                <a:sym typeface="Symbol" panose="05050102010706020507" pitchFamily="18" charset="2"/>
              </a:rPr>
              <a:t> </a:t>
            </a:r>
            <a:r>
              <a:rPr lang="en-US" altLang="en-US" i="1" dirty="0"/>
              <a:t>B</a:t>
            </a:r>
            <a:r>
              <a:rPr lang="en-US" altLang="en-US" dirty="0"/>
              <a:t> and </a:t>
            </a:r>
            <a:r>
              <a:rPr lang="en-US" altLang="en-US" i="1" dirty="0"/>
              <a:t>B</a:t>
            </a:r>
            <a:r>
              <a:rPr lang="en-US" altLang="en-US" dirty="0"/>
              <a:t> </a:t>
            </a:r>
            <a:r>
              <a:rPr lang="en-US" altLang="en-US" b="1" dirty="0">
                <a:sym typeface="Symbol" panose="05050102010706020507" pitchFamily="18" charset="2"/>
              </a:rPr>
              <a:t></a:t>
            </a:r>
            <a:r>
              <a:rPr lang="en-US" altLang="en-US" dirty="0"/>
              <a:t> </a:t>
            </a:r>
            <a:r>
              <a:rPr lang="en-US" altLang="en-US" i="1" dirty="0"/>
              <a:t>HI </a:t>
            </a:r>
            <a:r>
              <a:rPr lang="en-US" altLang="en-US" i="1" dirty="0">
                <a:sym typeface="Wingdings" panose="05000000000000000000" pitchFamily="2" charset="2"/>
              </a:rPr>
              <a:t> </a:t>
            </a:r>
            <a:r>
              <a:rPr lang="en-US" altLang="en-US" i="1" dirty="0"/>
              <a:t>A</a:t>
            </a:r>
            <a:r>
              <a:rPr lang="en-US" altLang="en-US" dirty="0"/>
              <a:t> </a:t>
            </a:r>
            <a:r>
              <a:rPr lang="en-US" altLang="en-US" b="1" dirty="0">
                <a:sym typeface="Symbol" panose="05050102010706020507" pitchFamily="18" charset="2"/>
              </a:rPr>
              <a:t></a:t>
            </a:r>
            <a:r>
              <a:rPr lang="en-US" altLang="en-US" dirty="0">
                <a:sym typeface="Symbol" panose="05050102010706020507" pitchFamily="18" charset="2"/>
              </a:rPr>
              <a:t> </a:t>
            </a:r>
            <a:r>
              <a:rPr lang="en-US" altLang="en-US" i="1" dirty="0"/>
              <a:t>HI</a:t>
            </a:r>
            <a:r>
              <a:rPr lang="en-US" altLang="en-US" dirty="0"/>
              <a:t>, (MVD transitivity), and</a:t>
            </a:r>
          </a:p>
          <a:p>
            <a:pPr lvl="1">
              <a:lnSpc>
                <a:spcPct val="90000"/>
              </a:lnSpc>
            </a:pPr>
            <a:r>
              <a:rPr lang="en-US" altLang="en-US" dirty="0"/>
              <a:t>and hence </a:t>
            </a:r>
            <a:r>
              <a:rPr lang="en-US" altLang="en-US" i="1" dirty="0"/>
              <a:t>A</a:t>
            </a:r>
            <a:r>
              <a:rPr lang="en-US" altLang="en-US" dirty="0"/>
              <a:t> </a:t>
            </a:r>
            <a:r>
              <a:rPr lang="en-US" altLang="en-US" b="1" dirty="0">
                <a:sym typeface="Symbol" panose="05050102010706020507" pitchFamily="18" charset="2"/>
              </a:rPr>
              <a:t></a:t>
            </a:r>
            <a:r>
              <a:rPr lang="en-US" altLang="en-US" dirty="0">
                <a:sym typeface="Symbol" panose="05050102010706020507" pitchFamily="18" charset="2"/>
              </a:rPr>
              <a:t> </a:t>
            </a:r>
            <a:r>
              <a:rPr lang="en-US" altLang="en-US" i="1" dirty="0"/>
              <a:t>I (MVD restriction to R</a:t>
            </a:r>
            <a:r>
              <a:rPr lang="en-US" altLang="en-US" i="1" baseline="-25000" dirty="0"/>
              <a:t>4</a:t>
            </a:r>
            <a:r>
              <a:rPr lang="en-US" altLang="en-US" i="1" dirty="0"/>
              <a:t>)</a:t>
            </a:r>
            <a:endParaRPr lang="en-US" altLang="en-US" dirty="0"/>
          </a:p>
          <a:p>
            <a:pPr>
              <a:lnSpc>
                <a:spcPct val="90000"/>
              </a:lnSpc>
              <a:buFont typeface="Monotype Sorts" pitchFamily="-84" charset="2"/>
              <a:buNone/>
            </a:pPr>
            <a:r>
              <a:rPr lang="en-US" altLang="en-US" dirty="0"/>
              <a:t>	e) </a:t>
            </a:r>
            <a:r>
              <a:rPr lang="en-US" altLang="en-US" i="1" dirty="0"/>
              <a:t>R</a:t>
            </a:r>
            <a:r>
              <a:rPr lang="en-US" altLang="en-US" i="1" baseline="-25000" dirty="0"/>
              <a:t>5</a:t>
            </a:r>
            <a:r>
              <a:rPr lang="en-US" altLang="en-US" dirty="0"/>
              <a:t> = (</a:t>
            </a:r>
            <a:r>
              <a:rPr lang="en-US" altLang="en-US" i="1" dirty="0"/>
              <a:t>A, I</a:t>
            </a:r>
            <a:r>
              <a:rPr lang="en-US" altLang="en-US" dirty="0"/>
              <a:t>)  			(</a:t>
            </a:r>
            <a:r>
              <a:rPr lang="en-US" altLang="en-US" i="1" dirty="0"/>
              <a:t>R</a:t>
            </a:r>
            <a:r>
              <a:rPr lang="en-US" altLang="en-US" i="1" baseline="-25000" dirty="0"/>
              <a:t>5</a:t>
            </a:r>
            <a:r>
              <a:rPr lang="en-US" altLang="en-US" dirty="0"/>
              <a:t> is in 4NF)</a:t>
            </a:r>
          </a:p>
          <a:p>
            <a:pPr>
              <a:lnSpc>
                <a:spcPct val="90000"/>
              </a:lnSpc>
              <a:buFont typeface="Monotype Sorts" pitchFamily="-84" charset="2"/>
              <a:buNone/>
            </a:pPr>
            <a:r>
              <a:rPr lang="en-US" altLang="en-US" dirty="0"/>
              <a:t>	f)</a:t>
            </a:r>
            <a:r>
              <a:rPr lang="en-US" altLang="en-US" i="1" dirty="0"/>
              <a:t>R</a:t>
            </a:r>
            <a:r>
              <a:rPr lang="en-US" altLang="en-US" i="1" baseline="-25000" dirty="0"/>
              <a:t>6</a:t>
            </a:r>
            <a:r>
              <a:rPr lang="en-US" altLang="en-US" dirty="0"/>
              <a:t> = (A, C, G)  		(R</a:t>
            </a:r>
            <a:r>
              <a:rPr lang="en-US" altLang="en-US" baseline="-25000" dirty="0"/>
              <a:t>6</a:t>
            </a:r>
            <a:r>
              <a:rPr lang="en-US" altLang="en-US" dirty="0"/>
              <a:t> is in  4NF)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5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54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54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54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854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8541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8541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85411">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85411">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85411">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85411">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85411">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85411">
                                            <p:txEl>
                                              <p:pRg st="12" end="12"/>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854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1"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2583402" y="2400300"/>
            <a:ext cx="5544598" cy="1257300"/>
          </a:xfrm>
        </p:spPr>
        <p:txBody>
          <a:bodyPr/>
          <a:lstStyle/>
          <a:p>
            <a:pPr>
              <a:buFont typeface="Monotype Sorts" charset="2"/>
              <a:buNone/>
              <a:defRPr/>
            </a:pPr>
            <a:r>
              <a:rPr lang="en-US" altLang="en-US" sz="3200" b="1" dirty="0">
                <a:solidFill>
                  <a:srgbClr val="002060"/>
                </a:solidFill>
                <a:effectLst>
                  <a:outerShdw blurRad="38100" dist="38100" dir="2700000" algn="tl">
                    <a:srgbClr val="C0C0C0"/>
                  </a:outerShdw>
                </a:effectLst>
                <a:latin typeface="+mj-lt"/>
                <a:ea typeface="ＭＳ Ｐゴシック" pitchFamily="34" charset="-128"/>
                <a:cs typeface="+mj-cs"/>
              </a:rPr>
              <a:t>Additional issues</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a:xfrm>
            <a:off x="552450" y="85725"/>
            <a:ext cx="8077200" cy="609600"/>
          </a:xfrm>
        </p:spPr>
        <p:txBody>
          <a:bodyPr/>
          <a:lstStyle/>
          <a:p>
            <a:pPr>
              <a:defRPr/>
            </a:pPr>
            <a:r>
              <a:rPr lang="en-US" altLang="en-US">
                <a:effectLst>
                  <a:outerShdw blurRad="38100" dist="38100" dir="2700000" algn="tl">
                    <a:srgbClr val="C0C0C0"/>
                  </a:outerShdw>
                </a:effectLst>
                <a:ea typeface="ＭＳ Ｐゴシック" pitchFamily="34" charset="-128"/>
              </a:rPr>
              <a:t>Further Normal Forms</a:t>
            </a:r>
          </a:p>
        </p:txBody>
      </p:sp>
      <p:sp>
        <p:nvSpPr>
          <p:cNvPr id="93187" name="Rectangle 3"/>
          <p:cNvSpPr>
            <a:spLocks noGrp="1" noChangeArrowheads="1"/>
          </p:cNvSpPr>
          <p:nvPr>
            <p:ph type="body" idx="1"/>
          </p:nvPr>
        </p:nvSpPr>
        <p:spPr>
          <a:xfrm>
            <a:off x="763479" y="1141917"/>
            <a:ext cx="7714695" cy="2792409"/>
          </a:xfrm>
        </p:spPr>
        <p:txBody>
          <a:bodyPr/>
          <a:lstStyle/>
          <a:p>
            <a:r>
              <a:rPr lang="en-US" altLang="en-US" b="1" dirty="0">
                <a:solidFill>
                  <a:srgbClr val="002060"/>
                </a:solidFill>
              </a:rPr>
              <a:t>Join dependencies</a:t>
            </a:r>
            <a:r>
              <a:rPr lang="en-US" altLang="en-US" dirty="0">
                <a:solidFill>
                  <a:srgbClr val="002060"/>
                </a:solidFill>
              </a:rPr>
              <a:t> </a:t>
            </a:r>
            <a:r>
              <a:rPr lang="en-US" altLang="en-US" dirty="0"/>
              <a:t>generalize multivalued dependencies</a:t>
            </a:r>
          </a:p>
          <a:p>
            <a:pPr lvl="1"/>
            <a:r>
              <a:rPr lang="en-US" altLang="en-US" dirty="0"/>
              <a:t>lead to </a:t>
            </a:r>
            <a:r>
              <a:rPr lang="en-US" altLang="en-US" b="1" dirty="0">
                <a:solidFill>
                  <a:srgbClr val="002060"/>
                </a:solidFill>
              </a:rPr>
              <a:t>project-join normal form (PJNF)</a:t>
            </a:r>
            <a:r>
              <a:rPr lang="en-US" altLang="en-US" dirty="0">
                <a:solidFill>
                  <a:srgbClr val="002060"/>
                </a:solidFill>
              </a:rPr>
              <a:t> </a:t>
            </a:r>
            <a:r>
              <a:rPr lang="en-US" altLang="en-US" dirty="0"/>
              <a:t>(also called </a:t>
            </a:r>
            <a:r>
              <a:rPr lang="en-US" altLang="en-US" b="1" dirty="0">
                <a:solidFill>
                  <a:srgbClr val="002060"/>
                </a:solidFill>
              </a:rPr>
              <a:t>fifth normal form</a:t>
            </a:r>
            <a:r>
              <a:rPr lang="en-US" altLang="en-US" dirty="0"/>
              <a:t>)</a:t>
            </a:r>
          </a:p>
          <a:p>
            <a:r>
              <a:rPr lang="en-US" altLang="en-US" dirty="0"/>
              <a:t>A class of even more general constraints, leads to a normal form called </a:t>
            </a:r>
            <a:r>
              <a:rPr lang="en-US" altLang="en-US" b="1" dirty="0">
                <a:solidFill>
                  <a:srgbClr val="002060"/>
                </a:solidFill>
              </a:rPr>
              <a:t>domain-key normal form</a:t>
            </a:r>
            <a:r>
              <a:rPr lang="en-US" altLang="en-US" dirty="0"/>
              <a:t>.</a:t>
            </a:r>
          </a:p>
          <a:p>
            <a:r>
              <a:rPr lang="en-US" altLang="en-US" dirty="0"/>
              <a:t>Problem with these generalized constraints:  are hard to reason with, and no set of sound and complete set of inference rules exists.</a:t>
            </a:r>
          </a:p>
          <a:p>
            <a:r>
              <a:rPr lang="en-US" altLang="en-US" dirty="0"/>
              <a:t>Hence rarely used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950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Overall Database Design Process</a:t>
            </a:r>
          </a:p>
        </p:txBody>
      </p:sp>
      <p:sp>
        <p:nvSpPr>
          <p:cNvPr id="94211" name="Rectangle 3"/>
          <p:cNvSpPr>
            <a:spLocks noGrp="1" noChangeArrowheads="1"/>
          </p:cNvSpPr>
          <p:nvPr>
            <p:ph type="body" idx="1"/>
          </p:nvPr>
        </p:nvSpPr>
        <p:spPr>
          <a:xfrm>
            <a:off x="1100832" y="1680990"/>
            <a:ext cx="7280770" cy="2566154"/>
          </a:xfrm>
        </p:spPr>
        <p:txBody>
          <a:bodyPr/>
          <a:lstStyle/>
          <a:p>
            <a:r>
              <a:rPr lang="en-US" altLang="en-US" i="1" dirty="0"/>
              <a:t>R</a:t>
            </a:r>
            <a:r>
              <a:rPr lang="en-US" altLang="en-US" dirty="0"/>
              <a:t> could have been generated when converting E-R diagram to a set of tables.</a:t>
            </a:r>
          </a:p>
          <a:p>
            <a:r>
              <a:rPr lang="en-US" altLang="en-US" i="1" dirty="0"/>
              <a:t>R</a:t>
            </a:r>
            <a:r>
              <a:rPr lang="en-US" altLang="en-US" dirty="0"/>
              <a:t> could have been a single relation containing </a:t>
            </a:r>
            <a:r>
              <a:rPr lang="en-US" altLang="en-US" i="1" dirty="0"/>
              <a:t>all</a:t>
            </a:r>
            <a:r>
              <a:rPr lang="en-US" altLang="en-US" dirty="0"/>
              <a:t> attributes that are of interest (called </a:t>
            </a:r>
            <a:r>
              <a:rPr lang="en-US" altLang="en-US" b="1" dirty="0">
                <a:solidFill>
                  <a:srgbClr val="002060"/>
                </a:solidFill>
              </a:rPr>
              <a:t>universal relation</a:t>
            </a:r>
            <a:r>
              <a:rPr lang="en-US" altLang="en-US" dirty="0"/>
              <a:t>).</a:t>
            </a:r>
          </a:p>
          <a:p>
            <a:r>
              <a:rPr lang="en-US" altLang="en-US" dirty="0"/>
              <a:t>Normalization breaks </a:t>
            </a:r>
            <a:r>
              <a:rPr lang="en-US" altLang="en-US" i="1" dirty="0"/>
              <a:t>R</a:t>
            </a:r>
            <a:r>
              <a:rPr lang="en-US" altLang="en-US" dirty="0"/>
              <a:t> into smaller relations.</a:t>
            </a:r>
          </a:p>
          <a:p>
            <a:r>
              <a:rPr lang="en-US" altLang="en-US" i="1" dirty="0"/>
              <a:t>R</a:t>
            </a:r>
            <a:r>
              <a:rPr lang="en-US" altLang="en-US" dirty="0"/>
              <a:t> could have been the result of some ad hoc design of relations, which we then test/convert to normal form.</a:t>
            </a:r>
          </a:p>
        </p:txBody>
      </p:sp>
      <p:sp>
        <p:nvSpPr>
          <p:cNvPr id="3" name="TextBox 2"/>
          <p:cNvSpPr txBox="1"/>
          <p:nvPr/>
        </p:nvSpPr>
        <p:spPr>
          <a:xfrm>
            <a:off x="768350" y="1299408"/>
            <a:ext cx="7280771" cy="353943"/>
          </a:xfrm>
          <a:prstGeom prst="rect">
            <a:avLst/>
          </a:prstGeom>
          <a:noFill/>
        </p:spPr>
        <p:txBody>
          <a:bodyPr wrap="square" rtlCol="0">
            <a:spAutoFit/>
          </a:bodyPr>
          <a:lstStyle/>
          <a:p>
            <a:r>
              <a:rPr lang="en-US" altLang="en-US" sz="1700" dirty="0"/>
              <a:t>We have assumed schema </a:t>
            </a:r>
            <a:r>
              <a:rPr lang="en-US" altLang="en-US" sz="1700" i="1" dirty="0"/>
              <a:t>R</a:t>
            </a:r>
            <a:r>
              <a:rPr lang="en-US" altLang="en-US" sz="1700" dirty="0"/>
              <a:t> is given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ER Model and Normalization</a:t>
            </a:r>
          </a:p>
        </p:txBody>
      </p:sp>
      <p:sp>
        <p:nvSpPr>
          <p:cNvPr id="95235" name="Rectangle 3"/>
          <p:cNvSpPr>
            <a:spLocks noGrp="1" noChangeArrowheads="1"/>
          </p:cNvSpPr>
          <p:nvPr>
            <p:ph type="body" idx="1"/>
          </p:nvPr>
        </p:nvSpPr>
        <p:spPr>
          <a:xfrm>
            <a:off x="768350" y="1090110"/>
            <a:ext cx="7713913" cy="4384257"/>
          </a:xfrm>
        </p:spPr>
        <p:txBody>
          <a:bodyPr/>
          <a:lstStyle/>
          <a:p>
            <a:r>
              <a:rPr lang="en-US" altLang="en-US" dirty="0"/>
              <a:t>When an E-R diagram is carefully designed, identifying all entities correctly, the tables generated from the E-R diagram should not need further normalization.</a:t>
            </a:r>
          </a:p>
          <a:p>
            <a:r>
              <a:rPr lang="en-US" altLang="en-US" dirty="0"/>
              <a:t>However, in a real (imperfect) design, there can be functional dependencies from non-key attributes of an entity to other attributes of the entity</a:t>
            </a:r>
          </a:p>
          <a:p>
            <a:pPr lvl="1"/>
            <a:r>
              <a:rPr lang="en-US" altLang="en-US" dirty="0"/>
              <a:t>Example:  an </a:t>
            </a:r>
            <a:r>
              <a:rPr lang="en-US" altLang="en-US" i="1" dirty="0"/>
              <a:t>employee</a:t>
            </a:r>
            <a:r>
              <a:rPr lang="en-US" altLang="en-US" dirty="0"/>
              <a:t> entity with</a:t>
            </a:r>
          </a:p>
          <a:p>
            <a:pPr lvl="2"/>
            <a:r>
              <a:rPr lang="en-US" altLang="en-US" dirty="0"/>
              <a:t> attributes </a:t>
            </a:r>
            <a:br>
              <a:rPr lang="en-US" altLang="en-US" dirty="0"/>
            </a:br>
            <a:r>
              <a:rPr lang="en-US" altLang="en-US" dirty="0"/>
              <a:t>   </a:t>
            </a:r>
            <a:r>
              <a:rPr lang="en-US" altLang="en-US" i="1" dirty="0" err="1"/>
              <a:t>department_name</a:t>
            </a:r>
            <a:r>
              <a:rPr lang="en-US" altLang="en-US" i="1" dirty="0"/>
              <a:t> </a:t>
            </a:r>
            <a:r>
              <a:rPr lang="en-US" altLang="en-US" dirty="0"/>
              <a:t>and </a:t>
            </a:r>
            <a:r>
              <a:rPr lang="en-US" altLang="en-US" i="1" dirty="0"/>
              <a:t>building</a:t>
            </a:r>
            <a:r>
              <a:rPr lang="en-US" altLang="en-US" dirty="0"/>
              <a:t>, </a:t>
            </a:r>
          </a:p>
          <a:p>
            <a:pPr lvl="2"/>
            <a:r>
              <a:rPr lang="en-US" altLang="en-US" dirty="0"/>
              <a:t> functional dependency </a:t>
            </a:r>
            <a:br>
              <a:rPr lang="en-US" altLang="en-US" dirty="0"/>
            </a:br>
            <a:r>
              <a:rPr lang="en-US" altLang="en-US" dirty="0"/>
              <a:t>   </a:t>
            </a:r>
            <a:r>
              <a:rPr lang="en-US" altLang="en-US" i="1" dirty="0" err="1"/>
              <a:t>department_name</a:t>
            </a:r>
            <a:r>
              <a:rPr lang="en-US" altLang="en-US" i="1" dirty="0">
                <a:sym typeface="Symbol" panose="05050102010706020507" pitchFamily="18" charset="2"/>
              </a:rPr>
              <a:t> </a:t>
            </a:r>
            <a:r>
              <a:rPr lang="en-US" altLang="en-US" i="1" dirty="0"/>
              <a:t>building</a:t>
            </a:r>
          </a:p>
          <a:p>
            <a:pPr lvl="2"/>
            <a:r>
              <a:rPr lang="en-US" altLang="en-US" dirty="0"/>
              <a:t>Good design would have made department an entity</a:t>
            </a:r>
          </a:p>
          <a:p>
            <a:r>
              <a:rPr lang="en-US" altLang="en-US" dirty="0"/>
              <a:t>Functional dependencies from non-key attributes of a relationship set possible, but rare --- most relationships are binary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3602"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Denormalization for Performance</a:t>
            </a:r>
          </a:p>
        </p:txBody>
      </p:sp>
      <p:sp>
        <p:nvSpPr>
          <p:cNvPr id="96259" name="Rectangle 3"/>
          <p:cNvSpPr>
            <a:spLocks noGrp="1" noChangeArrowheads="1"/>
          </p:cNvSpPr>
          <p:nvPr>
            <p:ph type="body" idx="1"/>
          </p:nvPr>
        </p:nvSpPr>
        <p:spPr>
          <a:xfrm>
            <a:off x="768351" y="1144588"/>
            <a:ext cx="7629926" cy="4125244"/>
          </a:xfrm>
        </p:spPr>
        <p:txBody>
          <a:bodyPr/>
          <a:lstStyle/>
          <a:p>
            <a:r>
              <a:rPr lang="en-US" altLang="en-US" dirty="0"/>
              <a:t>May want to use non-normalized schema for performance</a:t>
            </a:r>
          </a:p>
          <a:p>
            <a:r>
              <a:rPr lang="en-US" altLang="en-US" dirty="0"/>
              <a:t>For example, displaying </a:t>
            </a:r>
            <a:r>
              <a:rPr lang="en-US" altLang="en-US" i="1" dirty="0" err="1"/>
              <a:t>prereqs</a:t>
            </a:r>
            <a:r>
              <a:rPr lang="en-US" altLang="en-US" dirty="0"/>
              <a:t> along with </a:t>
            </a:r>
            <a:r>
              <a:rPr lang="en-US" altLang="en-US" i="1" dirty="0" err="1"/>
              <a:t>course_id</a:t>
            </a:r>
            <a:r>
              <a:rPr lang="en-US" altLang="en-US" i="1" dirty="0"/>
              <a:t>, </a:t>
            </a:r>
            <a:r>
              <a:rPr lang="en-US" altLang="en-US" dirty="0"/>
              <a:t> and </a:t>
            </a:r>
            <a:r>
              <a:rPr lang="en-US" altLang="en-US" i="1" dirty="0"/>
              <a:t>title</a:t>
            </a:r>
            <a:r>
              <a:rPr lang="en-US" altLang="en-US" dirty="0"/>
              <a:t> requires join of </a:t>
            </a:r>
            <a:r>
              <a:rPr lang="en-US" altLang="en-US" i="1" dirty="0"/>
              <a:t>course</a:t>
            </a:r>
            <a:r>
              <a:rPr lang="en-US" altLang="en-US" dirty="0"/>
              <a:t> with </a:t>
            </a:r>
            <a:r>
              <a:rPr lang="en-US" altLang="en-US" i="1" dirty="0" err="1"/>
              <a:t>prereq</a:t>
            </a:r>
            <a:endParaRPr lang="en-US" altLang="en-US" i="1" dirty="0"/>
          </a:p>
          <a:p>
            <a:r>
              <a:rPr lang="en-US" altLang="en-US" dirty="0"/>
              <a:t>Alternative 1:  Use </a:t>
            </a:r>
            <a:r>
              <a:rPr lang="en-US" altLang="en-US" dirty="0" err="1"/>
              <a:t>denormalized</a:t>
            </a:r>
            <a:r>
              <a:rPr lang="en-US" altLang="en-US" dirty="0"/>
              <a:t> relation containing attributes of </a:t>
            </a:r>
            <a:r>
              <a:rPr lang="en-US" altLang="en-US" i="1" dirty="0"/>
              <a:t>course</a:t>
            </a:r>
            <a:r>
              <a:rPr lang="en-US" altLang="en-US" dirty="0"/>
              <a:t> as well as </a:t>
            </a:r>
            <a:r>
              <a:rPr lang="en-US" altLang="en-US" i="1" dirty="0" err="1"/>
              <a:t>prereq</a:t>
            </a:r>
            <a:r>
              <a:rPr lang="en-US" altLang="en-US" dirty="0"/>
              <a:t> with all above attributes</a:t>
            </a:r>
          </a:p>
          <a:p>
            <a:pPr lvl="1"/>
            <a:r>
              <a:rPr lang="en-US" altLang="en-US" dirty="0"/>
              <a:t>faster lookup</a:t>
            </a:r>
          </a:p>
          <a:p>
            <a:pPr lvl="1"/>
            <a:r>
              <a:rPr lang="en-US" altLang="en-US" dirty="0"/>
              <a:t>extra space and extra execution time for updates</a:t>
            </a:r>
          </a:p>
          <a:p>
            <a:pPr lvl="1"/>
            <a:r>
              <a:rPr lang="en-US" altLang="en-US" dirty="0"/>
              <a:t>extra coding work for programmer and possibility of error in extra code</a:t>
            </a:r>
          </a:p>
          <a:p>
            <a:r>
              <a:rPr lang="en-US" altLang="en-US" dirty="0"/>
              <a:t>Alternative 2: use a materialized view defined a </a:t>
            </a:r>
            <a:r>
              <a:rPr lang="en-US" altLang="en-US" i="1" dirty="0"/>
              <a:t>course</a:t>
            </a:r>
            <a:r>
              <a:rPr lang="en-US" altLang="en-US" dirty="0"/>
              <a:t>      </a:t>
            </a:r>
            <a:r>
              <a:rPr lang="en-US" altLang="en-US" i="1" dirty="0" err="1"/>
              <a:t>prereq</a:t>
            </a:r>
            <a:endParaRPr lang="en-US" altLang="en-US" i="1" dirty="0"/>
          </a:p>
          <a:p>
            <a:pPr lvl="1"/>
            <a:r>
              <a:rPr lang="en-US" altLang="en-US" dirty="0"/>
              <a:t>Benefits and drawbacks same as above, except no extra coding work for programmer and avoids possible errors</a:t>
            </a:r>
          </a:p>
        </p:txBody>
      </p:sp>
      <p:sp>
        <p:nvSpPr>
          <p:cNvPr id="96260" name="Freeform 4"/>
          <p:cNvSpPr>
            <a:spLocks/>
          </p:cNvSpPr>
          <p:nvPr/>
        </p:nvSpPr>
        <p:spPr bwMode="auto">
          <a:xfrm>
            <a:off x="6556026" y="4146413"/>
            <a:ext cx="142875" cy="142875"/>
          </a:xfrm>
          <a:custGeom>
            <a:avLst/>
            <a:gdLst>
              <a:gd name="T0" fmla="*/ 0 w 182"/>
              <a:gd name="T1" fmla="*/ 0 h 182"/>
              <a:gd name="T2" fmla="*/ 0 w 182"/>
              <a:gd name="T3" fmla="*/ 2147483647 h 182"/>
              <a:gd name="T4" fmla="*/ 2147483647 w 182"/>
              <a:gd name="T5" fmla="*/ 0 h 182"/>
              <a:gd name="T6" fmla="*/ 2147483647 w 182"/>
              <a:gd name="T7" fmla="*/ 2147483647 h 182"/>
              <a:gd name="T8" fmla="*/ 0 w 182"/>
              <a:gd name="T9" fmla="*/ 0 h 182"/>
              <a:gd name="T10" fmla="*/ 0 60000 65536"/>
              <a:gd name="T11" fmla="*/ 0 60000 65536"/>
              <a:gd name="T12" fmla="*/ 0 60000 65536"/>
              <a:gd name="T13" fmla="*/ 0 60000 65536"/>
              <a:gd name="T14" fmla="*/ 0 60000 65536"/>
              <a:gd name="T15" fmla="*/ 0 w 182"/>
              <a:gd name="T16" fmla="*/ 0 h 182"/>
              <a:gd name="T17" fmla="*/ 182 w 182"/>
              <a:gd name="T18" fmla="*/ 182 h 182"/>
            </a:gdLst>
            <a:ahLst/>
            <a:cxnLst>
              <a:cxn ang="T10">
                <a:pos x="T0" y="T1"/>
              </a:cxn>
              <a:cxn ang="T11">
                <a:pos x="T2" y="T3"/>
              </a:cxn>
              <a:cxn ang="T12">
                <a:pos x="T4" y="T5"/>
              </a:cxn>
              <a:cxn ang="T13">
                <a:pos x="T6" y="T7"/>
              </a:cxn>
              <a:cxn ang="T14">
                <a:pos x="T8" y="T9"/>
              </a:cxn>
            </a:cxnLst>
            <a:rect l="T15" t="T16" r="T17" b="T18"/>
            <a:pathLst>
              <a:path w="182" h="182">
                <a:moveTo>
                  <a:pt x="0" y="0"/>
                </a:moveTo>
                <a:lnTo>
                  <a:pt x="0" y="182"/>
                </a:lnTo>
                <a:lnTo>
                  <a:pt x="182" y="0"/>
                </a:lnTo>
                <a:lnTo>
                  <a:pt x="182" y="182"/>
                </a:lnTo>
                <a:lnTo>
                  <a:pt x="0" y="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Other Design Issues</a:t>
            </a:r>
          </a:p>
        </p:txBody>
      </p:sp>
      <p:sp>
        <p:nvSpPr>
          <p:cNvPr id="97283" name="Rectangle 3"/>
          <p:cNvSpPr>
            <a:spLocks noGrp="1" noChangeArrowheads="1"/>
          </p:cNvSpPr>
          <p:nvPr>
            <p:ph type="body" idx="1"/>
          </p:nvPr>
        </p:nvSpPr>
        <p:spPr>
          <a:xfrm>
            <a:off x="768350" y="1057693"/>
            <a:ext cx="7683192" cy="4885908"/>
          </a:xfrm>
        </p:spPr>
        <p:txBody>
          <a:bodyPr/>
          <a:lstStyle/>
          <a:p>
            <a:r>
              <a:rPr lang="en-US" altLang="en-US" dirty="0"/>
              <a:t>Some aspects of database design are not caught by normalization</a:t>
            </a:r>
          </a:p>
          <a:p>
            <a:r>
              <a:rPr lang="en-US" altLang="en-US" dirty="0"/>
              <a:t>Examples of bad database design, to be avoided: </a:t>
            </a:r>
          </a:p>
          <a:p>
            <a:pPr>
              <a:buFont typeface="Monotype Sorts" pitchFamily="-84" charset="2"/>
              <a:buNone/>
            </a:pPr>
            <a:r>
              <a:rPr lang="en-US" altLang="en-US" dirty="0"/>
              <a:t>	Instead of </a:t>
            </a:r>
            <a:r>
              <a:rPr lang="en-US" altLang="en-US" i="1" dirty="0"/>
              <a:t>earnings </a:t>
            </a:r>
            <a:r>
              <a:rPr lang="en-US" altLang="en-US" dirty="0"/>
              <a:t>(</a:t>
            </a:r>
            <a:r>
              <a:rPr lang="en-US" altLang="en-US" i="1" dirty="0" err="1"/>
              <a:t>company_id</a:t>
            </a:r>
            <a:r>
              <a:rPr lang="en-US" altLang="en-US" i="1" dirty="0"/>
              <a:t>, year, amount </a:t>
            </a:r>
            <a:r>
              <a:rPr lang="en-US" altLang="en-US" dirty="0"/>
              <a:t>), use </a:t>
            </a:r>
          </a:p>
          <a:p>
            <a:pPr lvl="1"/>
            <a:r>
              <a:rPr lang="en-US" altLang="en-US" i="1" dirty="0"/>
              <a:t>earnings_2004, earnings_2005, earnings_2006</a:t>
            </a:r>
            <a:r>
              <a:rPr lang="en-US" altLang="en-US" dirty="0"/>
              <a:t>, etc., all on the schema (</a:t>
            </a:r>
            <a:r>
              <a:rPr lang="en-US" altLang="en-US" i="1" dirty="0" err="1"/>
              <a:t>company_id</a:t>
            </a:r>
            <a:r>
              <a:rPr lang="en-US" altLang="en-US" i="1" dirty="0"/>
              <a:t>, earnings</a:t>
            </a:r>
            <a:r>
              <a:rPr lang="en-US" altLang="en-US" dirty="0"/>
              <a:t>).</a:t>
            </a:r>
          </a:p>
          <a:p>
            <a:pPr lvl="2"/>
            <a:r>
              <a:rPr lang="en-US" altLang="en-US" dirty="0"/>
              <a:t>Above are in BCNF, but make querying across years difficult and needs new table each year</a:t>
            </a:r>
          </a:p>
          <a:p>
            <a:pPr lvl="1"/>
            <a:r>
              <a:rPr lang="en-US" altLang="en-US" i="1" dirty="0" err="1"/>
              <a:t>company_year</a:t>
            </a:r>
            <a:r>
              <a:rPr lang="en-US" altLang="en-US" i="1" dirty="0"/>
              <a:t> </a:t>
            </a:r>
            <a:r>
              <a:rPr lang="en-US" altLang="en-US" dirty="0"/>
              <a:t>(</a:t>
            </a:r>
            <a:r>
              <a:rPr lang="en-US" altLang="en-US" i="1" dirty="0" err="1"/>
              <a:t>company_id</a:t>
            </a:r>
            <a:r>
              <a:rPr lang="en-US" altLang="en-US" i="1" dirty="0"/>
              <a:t>, earnings_2004, earnings_2005,  </a:t>
            </a:r>
            <a:br>
              <a:rPr lang="en-US" altLang="en-US" i="1" dirty="0"/>
            </a:br>
            <a:r>
              <a:rPr lang="en-US" altLang="en-US" i="1" dirty="0"/>
              <a:t>earnings_2006</a:t>
            </a:r>
            <a:r>
              <a:rPr lang="en-US" altLang="en-US" dirty="0"/>
              <a:t>)</a:t>
            </a:r>
          </a:p>
          <a:p>
            <a:pPr lvl="2"/>
            <a:r>
              <a:rPr lang="en-US" altLang="en-US" dirty="0"/>
              <a:t>Also in BCNF, but also makes querying across years difficult and requires new attribute each year.</a:t>
            </a:r>
          </a:p>
          <a:p>
            <a:pPr lvl="2"/>
            <a:r>
              <a:rPr lang="en-US" altLang="en-US" dirty="0"/>
              <a:t>Is an example of a </a:t>
            </a:r>
            <a:r>
              <a:rPr lang="en-US" altLang="en-US" b="1" dirty="0"/>
              <a:t>crosstab</a:t>
            </a:r>
            <a:r>
              <a:rPr lang="en-US" altLang="en-US" dirty="0"/>
              <a:t>, where values for one attribute become column names</a:t>
            </a:r>
          </a:p>
          <a:p>
            <a:pPr lvl="2"/>
            <a:r>
              <a:rPr lang="en-US" altLang="en-US" dirty="0"/>
              <a:t>Used in spreadsheets, and in data analysis tools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769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Modeling Temporal Data</a:t>
            </a:r>
          </a:p>
        </p:txBody>
      </p:sp>
      <p:sp>
        <p:nvSpPr>
          <p:cNvPr id="98307" name="Rectangle 3"/>
          <p:cNvSpPr>
            <a:spLocks noGrp="1" noChangeArrowheads="1"/>
          </p:cNvSpPr>
          <p:nvPr>
            <p:ph type="body" idx="1"/>
          </p:nvPr>
        </p:nvSpPr>
        <p:spPr>
          <a:xfrm>
            <a:off x="768351" y="1093789"/>
            <a:ext cx="7677818" cy="4645274"/>
          </a:xfrm>
        </p:spPr>
        <p:txBody>
          <a:bodyPr/>
          <a:lstStyle/>
          <a:p>
            <a:pPr>
              <a:lnSpc>
                <a:spcPct val="90000"/>
              </a:lnSpc>
            </a:pPr>
            <a:r>
              <a:rPr lang="en-US" altLang="en-US" b="1" dirty="0">
                <a:solidFill>
                  <a:srgbClr val="002060"/>
                </a:solidFill>
              </a:rPr>
              <a:t>Temporal data</a:t>
            </a:r>
            <a:r>
              <a:rPr lang="en-US" altLang="en-US" dirty="0">
                <a:solidFill>
                  <a:srgbClr val="002060"/>
                </a:solidFill>
              </a:rPr>
              <a:t> </a:t>
            </a:r>
            <a:r>
              <a:rPr lang="en-US" altLang="en-US" dirty="0"/>
              <a:t>have an association time interval during which the data are </a:t>
            </a:r>
            <a:r>
              <a:rPr lang="en-US" altLang="en-US" i="1" dirty="0"/>
              <a:t>valid.</a:t>
            </a:r>
            <a:endParaRPr lang="en-US" altLang="en-US" dirty="0"/>
          </a:p>
          <a:p>
            <a:pPr>
              <a:lnSpc>
                <a:spcPct val="90000"/>
              </a:lnSpc>
            </a:pPr>
            <a:r>
              <a:rPr lang="en-US" altLang="en-US" dirty="0"/>
              <a:t>A </a:t>
            </a:r>
            <a:r>
              <a:rPr lang="en-US" altLang="en-US" b="1" dirty="0">
                <a:solidFill>
                  <a:srgbClr val="002060"/>
                </a:solidFill>
              </a:rPr>
              <a:t>snapshot</a:t>
            </a:r>
            <a:r>
              <a:rPr lang="en-US" altLang="en-US" dirty="0"/>
              <a:t> is the value of the data at a particular point in time</a:t>
            </a:r>
          </a:p>
          <a:p>
            <a:pPr>
              <a:lnSpc>
                <a:spcPct val="90000"/>
              </a:lnSpc>
            </a:pPr>
            <a:r>
              <a:rPr lang="en-US" altLang="en-US" dirty="0"/>
              <a:t>Several proposals to extend ER model by adding valid time to</a:t>
            </a:r>
          </a:p>
          <a:p>
            <a:pPr lvl="1">
              <a:lnSpc>
                <a:spcPct val="90000"/>
              </a:lnSpc>
            </a:pPr>
            <a:r>
              <a:rPr lang="en-US" altLang="en-US" dirty="0"/>
              <a:t>attributes, e.g., address of an instructor at different points in time</a:t>
            </a:r>
          </a:p>
          <a:p>
            <a:pPr lvl="1">
              <a:lnSpc>
                <a:spcPct val="90000"/>
              </a:lnSpc>
            </a:pPr>
            <a:r>
              <a:rPr lang="en-US" altLang="en-US" dirty="0"/>
              <a:t>entities, e.g., time duration when a student entity exists</a:t>
            </a:r>
          </a:p>
          <a:p>
            <a:pPr lvl="1">
              <a:lnSpc>
                <a:spcPct val="90000"/>
              </a:lnSpc>
            </a:pPr>
            <a:r>
              <a:rPr lang="en-US" altLang="en-US" dirty="0"/>
              <a:t>relationships, e.g., time during which an instructor was associated with a student as an advisor.</a:t>
            </a:r>
          </a:p>
          <a:p>
            <a:pPr>
              <a:lnSpc>
                <a:spcPct val="90000"/>
              </a:lnSpc>
            </a:pPr>
            <a:r>
              <a:rPr lang="en-US" altLang="en-US" dirty="0"/>
              <a:t>But no accepted standard</a:t>
            </a:r>
          </a:p>
          <a:p>
            <a:pPr>
              <a:lnSpc>
                <a:spcPct val="90000"/>
              </a:lnSpc>
            </a:pPr>
            <a:r>
              <a:rPr lang="en-US" altLang="en-US" dirty="0"/>
              <a:t>Adding a temporal component results in functional dependencies like</a:t>
            </a:r>
          </a:p>
          <a:p>
            <a:pPr>
              <a:lnSpc>
                <a:spcPct val="90000"/>
              </a:lnSpc>
              <a:buFont typeface="Monotype Sorts" pitchFamily="-84" charset="2"/>
              <a:buNone/>
            </a:pPr>
            <a:r>
              <a:rPr lang="en-US" altLang="en-US" i="1" dirty="0"/>
              <a:t>		ID </a:t>
            </a:r>
            <a:r>
              <a:rPr lang="en-US" altLang="en-US" dirty="0">
                <a:sym typeface="Symbol" panose="05050102010706020507" pitchFamily="18" charset="2"/>
              </a:rPr>
              <a:t></a:t>
            </a:r>
            <a:r>
              <a:rPr lang="en-US" altLang="en-US" i="1" dirty="0"/>
              <a:t> street, city</a:t>
            </a:r>
          </a:p>
          <a:p>
            <a:pPr>
              <a:lnSpc>
                <a:spcPct val="90000"/>
              </a:lnSpc>
              <a:buFont typeface="Monotype Sorts" pitchFamily="-84" charset="2"/>
              <a:buNone/>
            </a:pPr>
            <a:r>
              <a:rPr lang="en-US" altLang="en-US" dirty="0"/>
              <a:t>	not holding, because the address varies over time</a:t>
            </a:r>
          </a:p>
          <a:p>
            <a:pPr>
              <a:lnSpc>
                <a:spcPct val="90000"/>
              </a:lnSpc>
            </a:pPr>
            <a:r>
              <a:rPr lang="en-US" altLang="en-US" dirty="0"/>
              <a:t>A </a:t>
            </a:r>
            <a:r>
              <a:rPr lang="en-US" altLang="en-US" b="1" dirty="0">
                <a:solidFill>
                  <a:srgbClr val="002060"/>
                </a:solidFill>
              </a:rPr>
              <a:t>temporal functional dependency</a:t>
            </a:r>
            <a:r>
              <a:rPr lang="en-US" altLang="en-US" i="1" dirty="0">
                <a:solidFill>
                  <a:srgbClr val="002060"/>
                </a:solidFill>
              </a:rPr>
              <a:t>  </a:t>
            </a:r>
            <a:r>
              <a:rPr lang="en-US" altLang="en-US" dirty="0"/>
              <a:t>X </a:t>
            </a:r>
            <a:r>
              <a:rPr lang="en-US" altLang="en-US" dirty="0">
                <a:sym typeface="Symbol" panose="05050102010706020507" pitchFamily="18" charset="2"/>
              </a:rPr>
              <a:t></a:t>
            </a:r>
            <a:r>
              <a:rPr lang="en-US" altLang="en-US" dirty="0">
                <a:sym typeface="Wingdings" panose="05000000000000000000" pitchFamily="2" charset="2"/>
              </a:rPr>
              <a:t> Y </a:t>
            </a:r>
            <a:r>
              <a:rPr lang="en-US" altLang="en-US" dirty="0"/>
              <a:t>holds on schema </a:t>
            </a:r>
            <a:r>
              <a:rPr lang="en-US" altLang="en-US" i="1" dirty="0"/>
              <a:t>R</a:t>
            </a:r>
            <a:r>
              <a:rPr lang="en-US" altLang="en-US" dirty="0"/>
              <a:t> if the functional dependency X </a:t>
            </a:r>
            <a:r>
              <a:rPr lang="en-US" altLang="en-US" dirty="0">
                <a:sym typeface="Wingdings" panose="05000000000000000000" pitchFamily="2" charset="2"/>
              </a:rPr>
              <a:t> Y </a:t>
            </a:r>
            <a:r>
              <a:rPr lang="en-US" altLang="en-US" dirty="0"/>
              <a:t>holds on all snapshots for all legal instances r (</a:t>
            </a:r>
            <a:r>
              <a:rPr lang="en-US" altLang="en-US" i="1" dirty="0"/>
              <a:t>R</a:t>
            </a:r>
            <a:r>
              <a:rPr lang="en-US" altLang="en-US" dirty="0"/>
              <a:t>).</a:t>
            </a:r>
          </a:p>
          <a:p>
            <a:pPr>
              <a:lnSpc>
                <a:spcPct val="90000"/>
              </a:lnSpc>
            </a:pPr>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ＭＳ Ｐゴシック" pitchFamily="34" charset="-128"/>
              </a:rPr>
              <a:t>Modeling Temporal Data (Cont.)</a:t>
            </a:r>
          </a:p>
        </p:txBody>
      </p:sp>
      <p:sp>
        <p:nvSpPr>
          <p:cNvPr id="99331" name="Rectangle 3"/>
          <p:cNvSpPr>
            <a:spLocks noGrp="1" noChangeArrowheads="1"/>
          </p:cNvSpPr>
          <p:nvPr>
            <p:ph type="body" idx="1"/>
          </p:nvPr>
        </p:nvSpPr>
        <p:spPr>
          <a:xfrm>
            <a:off x="768350" y="1093789"/>
            <a:ext cx="7713913" cy="3478211"/>
          </a:xfrm>
        </p:spPr>
        <p:txBody>
          <a:bodyPr/>
          <a:lstStyle/>
          <a:p>
            <a:r>
              <a:rPr lang="en-US" altLang="en-US" dirty="0"/>
              <a:t>In practice, database designers may add start and end time attributes to relations</a:t>
            </a:r>
          </a:p>
          <a:p>
            <a:pPr lvl="1"/>
            <a:r>
              <a:rPr lang="en-US" altLang="en-US" dirty="0"/>
              <a:t>E.g., </a:t>
            </a:r>
            <a:r>
              <a:rPr lang="en-US" altLang="en-US" i="1" dirty="0"/>
              <a:t>course</a:t>
            </a:r>
            <a:r>
              <a:rPr lang="en-US" altLang="en-US" dirty="0"/>
              <a:t>(</a:t>
            </a:r>
            <a:r>
              <a:rPr lang="en-US" altLang="en-US" i="1" dirty="0" err="1"/>
              <a:t>course_id</a:t>
            </a:r>
            <a:r>
              <a:rPr lang="en-US" altLang="en-US" i="1" dirty="0"/>
              <a:t>, </a:t>
            </a:r>
            <a:r>
              <a:rPr lang="en-US" altLang="en-US" i="1" dirty="0" err="1"/>
              <a:t>course_title</a:t>
            </a:r>
            <a:r>
              <a:rPr lang="en-US" altLang="en-US" dirty="0"/>
              <a:t>) </a:t>
            </a:r>
            <a:r>
              <a:rPr lang="en-US" altLang="en-US" dirty="0">
                <a:sym typeface="Wingdings" panose="05000000000000000000" pitchFamily="2" charset="2"/>
              </a:rPr>
              <a:t>is replaced by</a:t>
            </a:r>
            <a:endParaRPr lang="en-US" altLang="en-US" dirty="0"/>
          </a:p>
          <a:p>
            <a:pPr lvl="2">
              <a:buFont typeface="Webdings" panose="05030102010509060703" pitchFamily="18" charset="2"/>
              <a:buNone/>
            </a:pPr>
            <a:r>
              <a:rPr lang="en-US" altLang="en-US" i="1" dirty="0"/>
              <a:t>     course</a:t>
            </a:r>
            <a:r>
              <a:rPr lang="en-US" altLang="en-US" dirty="0"/>
              <a:t>(</a:t>
            </a:r>
            <a:r>
              <a:rPr lang="en-US" altLang="en-US" i="1" dirty="0" err="1"/>
              <a:t>course_id</a:t>
            </a:r>
            <a:r>
              <a:rPr lang="en-US" altLang="en-US" i="1" dirty="0"/>
              <a:t>, </a:t>
            </a:r>
            <a:r>
              <a:rPr lang="en-US" altLang="en-US" i="1" dirty="0" err="1"/>
              <a:t>course_title</a:t>
            </a:r>
            <a:r>
              <a:rPr lang="en-US" altLang="en-US" i="1" dirty="0"/>
              <a:t>, start, end</a:t>
            </a:r>
            <a:r>
              <a:rPr lang="en-US" altLang="en-US" dirty="0"/>
              <a:t>)</a:t>
            </a:r>
          </a:p>
          <a:p>
            <a:pPr lvl="1"/>
            <a:r>
              <a:rPr lang="en-US" altLang="en-US" dirty="0"/>
              <a:t>Constraint: no two tuples can have overlapping valid times</a:t>
            </a:r>
          </a:p>
          <a:p>
            <a:pPr lvl="2"/>
            <a:r>
              <a:rPr lang="en-US" altLang="en-US" dirty="0"/>
              <a:t>Hard to enforce efficiently</a:t>
            </a:r>
          </a:p>
          <a:p>
            <a:r>
              <a:rPr lang="en-US" altLang="en-US" dirty="0"/>
              <a:t>Foreign key references may be to current version of data, or to data at a point in time</a:t>
            </a:r>
          </a:p>
          <a:p>
            <a:pPr lvl="1"/>
            <a:r>
              <a:rPr lang="en-US" altLang="en-US" dirty="0"/>
              <a:t>E.g., student transcript should refer to course information at the time the course was taken</a:t>
            </a:r>
          </a:p>
          <a:p>
            <a:pPr lvl="1">
              <a:buFont typeface="Monotype Sorts" pitchFamily="-84" charset="2"/>
              <a:buNone/>
            </a:pP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1794" name="Rectangle 2"/>
          <p:cNvSpPr>
            <a:spLocks noGrp="1" noChangeArrowheads="1"/>
          </p:cNvSpPr>
          <p:nvPr>
            <p:ph type="ctrTitle"/>
          </p:nvPr>
        </p:nvSpPr>
        <p:spPr>
          <a:extLst>
            <a:ext uri="{909E8E84-426E-40dd-AFC4-6F175D3DCCD1}"/>
            <a:ext uri="{91240B29-F687-4f45-9708-019B960494DF}"/>
            <a:ext uri="{FAA26D3D-D897-4be2-8F04-BA451C77F1D7}"/>
          </a:extLst>
        </p:spPr>
        <p:txBody>
          <a:bodyPr/>
          <a:lstStyle/>
          <a:p>
            <a:pPr>
              <a:defRPr/>
            </a:pPr>
            <a:r>
              <a:rPr lang="en-US" altLang="en-US" dirty="0">
                <a:effectLst>
                  <a:outerShdw blurRad="38100" dist="38100" dir="2700000" algn="tl">
                    <a:srgbClr val="C0C0C0"/>
                  </a:outerShdw>
                </a:effectLst>
                <a:ea typeface="ＭＳ Ｐゴシック" pitchFamily="34" charset="-128"/>
              </a:rPr>
              <a:t>End of Chapter </a:t>
            </a:r>
            <a:r>
              <a:rPr lang="en-US" altLang="en-US" dirty="0" smtClean="0">
                <a:effectLst>
                  <a:outerShdw blurRad="38100" dist="38100" dir="2700000" algn="tl">
                    <a:srgbClr val="C0C0C0"/>
                  </a:outerShdw>
                </a:effectLst>
                <a:ea typeface="ＭＳ Ｐゴシック" pitchFamily="34" charset="-128"/>
              </a:rPr>
              <a:t>7</a:t>
            </a:r>
            <a:endParaRPr lang="en-US" altLang="en-US" dirty="0">
              <a:effectLst>
                <a:outerShdw blurRad="38100" dist="38100" dir="2700000" algn="tl">
                  <a:srgbClr val="C0C0C0"/>
                </a:outerShdw>
              </a:effectLst>
              <a:ea typeface="ＭＳ Ｐゴシック" pitchFamily="34" charset="-128"/>
            </a:endParaRPr>
          </a:p>
        </p:txBody>
      </p:sp>
    </p:spTree>
  </p:cSld>
  <p:clrMapOvr>
    <a:masterClrMapping/>
  </p:clrMapOvr>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94451</TotalTime>
  <Words>8489</Words>
  <Application>Microsoft Office PowerPoint</Application>
  <PresentationFormat>On-screen Show (4:3)</PresentationFormat>
  <Paragraphs>598</Paragraphs>
  <Slides>46</Slides>
  <Notes>45</Notes>
  <HiddenSlides>3</HiddenSlides>
  <MMClips>0</MMClips>
  <ScaleCrop>false</ScaleCrop>
  <HeadingPairs>
    <vt:vector size="8" baseType="variant">
      <vt:variant>
        <vt:lpstr>Fonts Used</vt:lpstr>
      </vt:variant>
      <vt:variant>
        <vt:i4>12</vt:i4>
      </vt:variant>
      <vt:variant>
        <vt:lpstr>Theme</vt:lpstr>
      </vt:variant>
      <vt:variant>
        <vt:i4>1</vt:i4>
      </vt:variant>
      <vt:variant>
        <vt:lpstr>Slide Titles</vt:lpstr>
      </vt:variant>
      <vt:variant>
        <vt:i4>46</vt:i4>
      </vt:variant>
      <vt:variant>
        <vt:lpstr>Custom Shows</vt:lpstr>
      </vt:variant>
      <vt:variant>
        <vt:i4>1</vt:i4>
      </vt:variant>
    </vt:vector>
  </HeadingPairs>
  <TitlesOfParts>
    <vt:vector size="60" baseType="lpstr">
      <vt:lpstr>ＭＳ Ｐゴシック</vt:lpstr>
      <vt:lpstr>ＭＳ Ｐゴシック</vt:lpstr>
      <vt:lpstr>Arial</vt:lpstr>
      <vt:lpstr>Greek Symbols</vt:lpstr>
      <vt:lpstr>Helvetica</vt:lpstr>
      <vt:lpstr>Iconic Symbols Ext</vt:lpstr>
      <vt:lpstr>Monotype Sorts</vt:lpstr>
      <vt:lpstr>MS LineDraw</vt:lpstr>
      <vt:lpstr>Symbol</vt:lpstr>
      <vt:lpstr>Times New Roman</vt:lpstr>
      <vt:lpstr>Webdings</vt:lpstr>
      <vt:lpstr>Wingdings</vt:lpstr>
      <vt:lpstr>2_db-5-grey</vt:lpstr>
      <vt:lpstr>Chapter 7:  Normalization</vt:lpstr>
      <vt:lpstr>Outline</vt:lpstr>
      <vt:lpstr>PowerPoint Presentation</vt:lpstr>
      <vt:lpstr>Functional-Dependency Theory Roadmap</vt:lpstr>
      <vt:lpstr>Closure of a Set of Functional Dependencies</vt:lpstr>
      <vt:lpstr>Closure of a Set of Functional Dependencies</vt:lpstr>
      <vt:lpstr>Example of  F+</vt:lpstr>
      <vt:lpstr>Closure of Functional Dependencies (Cont.)</vt:lpstr>
      <vt:lpstr>Procedure for Computing F+</vt:lpstr>
      <vt:lpstr>Closure of Attribute Sets</vt:lpstr>
      <vt:lpstr>Example of Attribute Set Closure</vt:lpstr>
      <vt:lpstr>Uses of Attribute Closure</vt:lpstr>
      <vt:lpstr>Canonical Cover</vt:lpstr>
      <vt:lpstr>Extraneous Attributes</vt:lpstr>
      <vt:lpstr>Extraneous Attributes (Cont.)</vt:lpstr>
      <vt:lpstr>Extraneous Attributes</vt:lpstr>
      <vt:lpstr>Testing if an Attribute is Extraneous</vt:lpstr>
      <vt:lpstr>Examples of Extraneous Attributes</vt:lpstr>
      <vt:lpstr>Canonical Cover</vt:lpstr>
      <vt:lpstr>Canonical Cover</vt:lpstr>
      <vt:lpstr>Example: Computing a Canonical Cover</vt:lpstr>
      <vt:lpstr>Dependency Preservation</vt:lpstr>
      <vt:lpstr>Dependency Preservation (Cont.)</vt:lpstr>
      <vt:lpstr>Testing for Dependency Preservation</vt:lpstr>
      <vt:lpstr>Example</vt:lpstr>
      <vt:lpstr>PowerPoint Presentation</vt:lpstr>
      <vt:lpstr>Multivalued Dependencies (MVDs)</vt:lpstr>
      <vt:lpstr>Multivalued Dependencies</vt:lpstr>
      <vt:lpstr>MVD -- Tabular representation </vt:lpstr>
      <vt:lpstr>MVD (Cont.)</vt:lpstr>
      <vt:lpstr>Example</vt:lpstr>
      <vt:lpstr>Use of Multivalued Dependencies</vt:lpstr>
      <vt:lpstr>Theory of MVDs</vt:lpstr>
      <vt:lpstr>Fourth Normal Form</vt:lpstr>
      <vt:lpstr>Restriction of Multivalued Dependencies</vt:lpstr>
      <vt:lpstr>4NF Decomposition Algorithm</vt:lpstr>
      <vt:lpstr>Example</vt:lpstr>
      <vt:lpstr>PowerPoint Presentation</vt:lpstr>
      <vt:lpstr>Further Normal Forms</vt:lpstr>
      <vt:lpstr>Overall Database Design Process</vt:lpstr>
      <vt:lpstr>ER Model and Normalization</vt:lpstr>
      <vt:lpstr>Denormalization for Performance</vt:lpstr>
      <vt:lpstr>Other Design Issues</vt:lpstr>
      <vt:lpstr>Modeling Temporal Data</vt:lpstr>
      <vt:lpstr>Modeling Temporal Data (Cont.)</vt:lpstr>
      <vt:lpstr>End of Chapter 7</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538</cp:revision>
  <cp:lastPrinted>1999-06-28T19:27:31Z</cp:lastPrinted>
  <dcterms:created xsi:type="dcterms:W3CDTF">2009-12-21T15:40:22Z</dcterms:created>
  <dcterms:modified xsi:type="dcterms:W3CDTF">2022-03-17T10:09:21Z</dcterms:modified>
</cp:coreProperties>
</file>