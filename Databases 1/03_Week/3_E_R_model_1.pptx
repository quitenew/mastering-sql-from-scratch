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9"/>
  </p:notesMasterIdLst>
  <p:handoutMasterIdLst>
    <p:handoutMasterId r:id="rId30"/>
  </p:handoutMasterIdLst>
  <p:sldIdLst>
    <p:sldId id="423" r:id="rId2"/>
    <p:sldId id="424" r:id="rId3"/>
    <p:sldId id="425" r:id="rId4"/>
    <p:sldId id="426" r:id="rId5"/>
    <p:sldId id="427" r:id="rId6"/>
    <p:sldId id="428" r:id="rId7"/>
    <p:sldId id="429" r:id="rId8"/>
    <p:sldId id="430" r:id="rId9"/>
    <p:sldId id="431" r:id="rId10"/>
    <p:sldId id="432" r:id="rId11"/>
    <p:sldId id="433" r:id="rId12"/>
    <p:sldId id="434" r:id="rId13"/>
    <p:sldId id="435" r:id="rId14"/>
    <p:sldId id="436" r:id="rId15"/>
    <p:sldId id="437" r:id="rId16"/>
    <p:sldId id="438" r:id="rId17"/>
    <p:sldId id="439" r:id="rId18"/>
    <p:sldId id="440" r:id="rId19"/>
    <p:sldId id="441" r:id="rId20"/>
    <p:sldId id="442" r:id="rId21"/>
    <p:sldId id="443" r:id="rId22"/>
    <p:sldId id="444" r:id="rId23"/>
    <p:sldId id="445" r:id="rId24"/>
    <p:sldId id="450" r:id="rId25"/>
    <p:sldId id="453" r:id="rId26"/>
    <p:sldId id="455" r:id="rId27"/>
    <p:sldId id="419" r:id="rId28"/>
  </p:sldIdLst>
  <p:sldSz cx="9144000" cy="6858000" type="screen4x3"/>
  <p:notesSz cx="6997700" cy="9283700"/>
  <p:custShowLst>
    <p:custShow name="Custom Show 1" id="0">
      <p:sldLst/>
    </p:custShow>
  </p:custShowLst>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07">
          <p15:clr>
            <a:srgbClr val="A4A3A4"/>
          </p15:clr>
        </p15:guide>
        <p15:guide id="2" pos="57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 Sudarshan" initials="SS" lastIdx="1" clrIdx="0">
    <p:extLst>
      <p:ext uri="{19B8F6BF-5375-455C-9EA6-DF929625EA0E}">
        <p15:presenceInfo xmlns:p15="http://schemas.microsoft.com/office/powerpoint/2012/main" userId="b463bc06a992a74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24" autoAdjust="0"/>
    <p:restoredTop sz="62193" autoAdjust="0"/>
  </p:normalViewPr>
  <p:slideViewPr>
    <p:cSldViewPr snapToGrid="0">
      <p:cViewPr varScale="1">
        <p:scale>
          <a:sx n="44" d="100"/>
          <a:sy n="44" d="100"/>
        </p:scale>
        <p:origin x="2004" y="42"/>
      </p:cViewPr>
      <p:guideLst>
        <p:guide orient="horz" pos="707"/>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C6EF5354-BFFB-44DF-8FA7-1A088153BD87}"/>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7" name="Rectangle 3">
            <a:extLst>
              <a:ext uri="{FF2B5EF4-FFF2-40B4-BE49-F238E27FC236}">
                <a16:creationId xmlns:a16="http://schemas.microsoft.com/office/drawing/2014/main" id="{5BBF6CF9-ADFE-4F6E-89A0-8CB582D8FFC5}"/>
              </a:ext>
            </a:extLst>
          </p:cNvPr>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267268" name="Rectangle 4">
            <a:extLst>
              <a:ext uri="{FF2B5EF4-FFF2-40B4-BE49-F238E27FC236}">
                <a16:creationId xmlns:a16="http://schemas.microsoft.com/office/drawing/2014/main" id="{8C120FC7-7BCE-4696-BB5D-C087861E4B4E}"/>
              </a:ext>
            </a:extLst>
          </p:cNvPr>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9" name="Rectangle 5">
            <a:extLst>
              <a:ext uri="{FF2B5EF4-FFF2-40B4-BE49-F238E27FC236}">
                <a16:creationId xmlns:a16="http://schemas.microsoft.com/office/drawing/2014/main" id="{6735A123-7D3E-455E-AB82-1C3749BB052A}"/>
              </a:ext>
            </a:extLst>
          </p:cNvPr>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275">
              <a:defRPr sz="1300"/>
            </a:lvl1pPr>
          </a:lstStyle>
          <a:p>
            <a:pPr>
              <a:defRPr/>
            </a:pPr>
            <a:fld id="{A8B4C920-550B-4EA7-9CB5-2D8883A273B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2E8AF117-EF14-4BF3-AB7D-D75C4F934CCD}"/>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3" name="Rectangle 3">
            <a:extLst>
              <a:ext uri="{FF2B5EF4-FFF2-40B4-BE49-F238E27FC236}">
                <a16:creationId xmlns:a16="http://schemas.microsoft.com/office/drawing/2014/main" id="{D7D2DA5C-BED3-45D1-AFD2-94AF29863ABC}"/>
              </a:ext>
            </a:extLst>
          </p:cNvPr>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3076" name="Rectangle 4">
            <a:extLst>
              <a:ext uri="{FF2B5EF4-FFF2-40B4-BE49-F238E27FC236}">
                <a16:creationId xmlns:a16="http://schemas.microsoft.com/office/drawing/2014/main" id="{A2936E5F-4C9B-4144-9261-C3F188AA67D9}"/>
              </a:ext>
            </a:extLst>
          </p:cNvPr>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0645" name="Rectangle 5">
            <a:extLst>
              <a:ext uri="{FF2B5EF4-FFF2-40B4-BE49-F238E27FC236}">
                <a16:creationId xmlns:a16="http://schemas.microsoft.com/office/drawing/2014/main" id="{D73F14C5-05F8-4300-9D01-F3633C854740}"/>
              </a:ext>
            </a:extLst>
          </p:cNvPr>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0646" name="Rectangle 6">
            <a:extLst>
              <a:ext uri="{FF2B5EF4-FFF2-40B4-BE49-F238E27FC236}">
                <a16:creationId xmlns:a16="http://schemas.microsoft.com/office/drawing/2014/main" id="{BCB6CAD9-A006-4455-8054-9CACB290288C}"/>
              </a:ext>
            </a:extLst>
          </p:cNvPr>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7" name="Rectangle 7">
            <a:extLst>
              <a:ext uri="{FF2B5EF4-FFF2-40B4-BE49-F238E27FC236}">
                <a16:creationId xmlns:a16="http://schemas.microsoft.com/office/drawing/2014/main" id="{63060AD7-0C3D-477B-BD60-55C8EBDB9451}"/>
              </a:ext>
            </a:extLst>
          </p:cNvPr>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algn="r" defTabSz="930275">
              <a:defRPr sz="1300"/>
            </a:lvl1pPr>
          </a:lstStyle>
          <a:p>
            <a:pPr>
              <a:defRPr/>
            </a:pPr>
            <a:fld id="{AE66C03C-4B0E-4149-8287-A3B340EB818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1DE2DCE1-2EFC-4C42-8DFC-CBA6F33233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1637794-A468-4EC6-9DD2-8F932E639220}" type="slidenum">
              <a:rPr lang="en-US" altLang="en-US" sz="1300" smtClean="0"/>
              <a:pPr/>
              <a:t>1</a:t>
            </a:fld>
            <a:endParaRPr lang="en-US" altLang="en-US" sz="1300"/>
          </a:p>
        </p:txBody>
      </p:sp>
      <p:sp>
        <p:nvSpPr>
          <p:cNvPr id="6147" name="Rectangle 2">
            <a:extLst>
              <a:ext uri="{FF2B5EF4-FFF2-40B4-BE49-F238E27FC236}">
                <a16:creationId xmlns:a16="http://schemas.microsoft.com/office/drawing/2014/main" id="{607B12F9-7FC5-42D0-9964-0865785D1C17}"/>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2BC6D4DE-B9DA-4FD2-A997-14A566E8D5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55796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7696">
              <a:defRPr sz="1600">
                <a:solidFill>
                  <a:schemeClr val="tx1"/>
                </a:solidFill>
                <a:latin typeface="Helvetica" panose="020B0604020202020204" pitchFamily="34" charset="0"/>
                <a:ea typeface="ＭＳ Ｐゴシック" panose="020B0600070205080204" pitchFamily="34" charset="-128"/>
              </a:defRPr>
            </a:lvl1pPr>
            <a:lvl2pPr marL="750157" indent="-288522" defTabSz="937696">
              <a:defRPr sz="1600">
                <a:solidFill>
                  <a:schemeClr val="tx1"/>
                </a:solidFill>
                <a:latin typeface="Helvetica" panose="020B0604020202020204" pitchFamily="34" charset="0"/>
                <a:ea typeface="ＭＳ Ｐゴシック" panose="020B0600070205080204" pitchFamily="34" charset="-128"/>
              </a:defRPr>
            </a:lvl2pPr>
            <a:lvl3pPr marL="1154087" indent="-230817" defTabSz="937696">
              <a:defRPr sz="1600">
                <a:solidFill>
                  <a:schemeClr val="tx1"/>
                </a:solidFill>
                <a:latin typeface="Helvetica" panose="020B0604020202020204" pitchFamily="34" charset="0"/>
                <a:ea typeface="ＭＳ Ｐゴシック" panose="020B0600070205080204" pitchFamily="34" charset="-128"/>
              </a:defRPr>
            </a:lvl3pPr>
            <a:lvl4pPr marL="1615722" indent="-230817" defTabSz="937696">
              <a:defRPr sz="1600">
                <a:solidFill>
                  <a:schemeClr val="tx1"/>
                </a:solidFill>
                <a:latin typeface="Helvetica" panose="020B0604020202020204" pitchFamily="34" charset="0"/>
                <a:ea typeface="ＭＳ Ｐゴシック" panose="020B0600070205080204" pitchFamily="34" charset="-128"/>
              </a:defRPr>
            </a:lvl4pPr>
            <a:lvl5pPr marL="2077357" indent="-230817" defTabSz="937696">
              <a:defRPr sz="1600">
                <a:solidFill>
                  <a:schemeClr val="tx1"/>
                </a:solidFill>
                <a:latin typeface="Helvetica" panose="020B0604020202020204" pitchFamily="34" charset="0"/>
                <a:ea typeface="ＭＳ Ｐゴシック" panose="020B0600070205080204" pitchFamily="34" charset="-128"/>
              </a:defRPr>
            </a:lvl5pPr>
            <a:lvl6pPr marL="2538992" indent="-230817" defTabSz="937696"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3000626" indent="-230817" defTabSz="937696"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62261" indent="-230817" defTabSz="937696"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923896" indent="-230817" defTabSz="937696"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A3F0CAC2-290B-4447-A1A9-9DF2412B29D5}" type="slidenum">
              <a:rPr lang="en-US" altLang="en-US" sz="1200"/>
              <a:pPr/>
              <a:t>2</a:t>
            </a:fld>
            <a:endParaRPr lang="en-US" altLang="en-US" sz="1200"/>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32910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093">
              <a:defRPr sz="1600">
                <a:solidFill>
                  <a:schemeClr val="tx1"/>
                </a:solidFill>
                <a:latin typeface="Helvetica" panose="020B0604020202020204" pitchFamily="34" charset="0"/>
                <a:ea typeface="ＭＳ Ｐゴシック" panose="020B0600070205080204" pitchFamily="34" charset="-128"/>
              </a:defRPr>
            </a:lvl1pPr>
            <a:lvl2pPr marL="750157" indent="-288522" defTabSz="936093">
              <a:defRPr sz="1600">
                <a:solidFill>
                  <a:schemeClr val="tx1"/>
                </a:solidFill>
                <a:latin typeface="Helvetica" panose="020B0604020202020204" pitchFamily="34" charset="0"/>
                <a:ea typeface="ＭＳ Ｐゴシック" panose="020B0600070205080204" pitchFamily="34" charset="-128"/>
              </a:defRPr>
            </a:lvl2pPr>
            <a:lvl3pPr marL="1154087" indent="-230817" defTabSz="936093">
              <a:defRPr sz="1600">
                <a:solidFill>
                  <a:schemeClr val="tx1"/>
                </a:solidFill>
                <a:latin typeface="Helvetica" panose="020B0604020202020204" pitchFamily="34" charset="0"/>
                <a:ea typeface="ＭＳ Ｐゴシック" panose="020B0600070205080204" pitchFamily="34" charset="-128"/>
              </a:defRPr>
            </a:lvl3pPr>
            <a:lvl4pPr marL="1615722" indent="-230817" defTabSz="936093">
              <a:defRPr sz="1600">
                <a:solidFill>
                  <a:schemeClr val="tx1"/>
                </a:solidFill>
                <a:latin typeface="Helvetica" panose="020B0604020202020204" pitchFamily="34" charset="0"/>
                <a:ea typeface="ＭＳ Ｐゴシック" panose="020B0600070205080204" pitchFamily="34" charset="-128"/>
              </a:defRPr>
            </a:lvl4pPr>
            <a:lvl5pPr marL="2077357" indent="-230817" defTabSz="936093">
              <a:defRPr sz="1600">
                <a:solidFill>
                  <a:schemeClr val="tx1"/>
                </a:solidFill>
                <a:latin typeface="Helvetica" panose="020B0604020202020204" pitchFamily="34" charset="0"/>
                <a:ea typeface="ＭＳ Ｐゴシック" panose="020B0600070205080204" pitchFamily="34" charset="-128"/>
              </a:defRPr>
            </a:lvl5pPr>
            <a:lvl6pPr marL="2538992"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300062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62261"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92389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AA60B134-387B-41E7-B677-3964AC0C6785}" type="slidenum">
              <a:rPr lang="en-US" altLang="en-US" sz="1200"/>
              <a:pPr/>
              <a:t>3</a:t>
            </a:fld>
            <a:endParaRPr lang="en-US" altLang="en-US" sz="1200"/>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8052385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093">
              <a:defRPr sz="1600">
                <a:solidFill>
                  <a:schemeClr val="tx1"/>
                </a:solidFill>
                <a:latin typeface="Helvetica" panose="020B0604020202020204" pitchFamily="34" charset="0"/>
                <a:ea typeface="ＭＳ Ｐゴシック" panose="020B0600070205080204" pitchFamily="34" charset="-128"/>
              </a:defRPr>
            </a:lvl1pPr>
            <a:lvl2pPr marL="750157" indent="-288522" defTabSz="936093">
              <a:defRPr sz="1600">
                <a:solidFill>
                  <a:schemeClr val="tx1"/>
                </a:solidFill>
                <a:latin typeface="Helvetica" panose="020B0604020202020204" pitchFamily="34" charset="0"/>
                <a:ea typeface="ＭＳ Ｐゴシック" panose="020B0600070205080204" pitchFamily="34" charset="-128"/>
              </a:defRPr>
            </a:lvl2pPr>
            <a:lvl3pPr marL="1154087" indent="-230817" defTabSz="936093">
              <a:defRPr sz="1600">
                <a:solidFill>
                  <a:schemeClr val="tx1"/>
                </a:solidFill>
                <a:latin typeface="Helvetica" panose="020B0604020202020204" pitchFamily="34" charset="0"/>
                <a:ea typeface="ＭＳ Ｐゴシック" panose="020B0600070205080204" pitchFamily="34" charset="-128"/>
              </a:defRPr>
            </a:lvl3pPr>
            <a:lvl4pPr marL="1615722" indent="-230817" defTabSz="936093">
              <a:defRPr sz="1600">
                <a:solidFill>
                  <a:schemeClr val="tx1"/>
                </a:solidFill>
                <a:latin typeface="Helvetica" panose="020B0604020202020204" pitchFamily="34" charset="0"/>
                <a:ea typeface="ＭＳ Ｐゴシック" panose="020B0600070205080204" pitchFamily="34" charset="-128"/>
              </a:defRPr>
            </a:lvl4pPr>
            <a:lvl5pPr marL="2077357" indent="-230817" defTabSz="936093">
              <a:defRPr sz="1600">
                <a:solidFill>
                  <a:schemeClr val="tx1"/>
                </a:solidFill>
                <a:latin typeface="Helvetica" panose="020B0604020202020204" pitchFamily="34" charset="0"/>
                <a:ea typeface="ＭＳ Ｐゴシック" panose="020B0600070205080204" pitchFamily="34" charset="-128"/>
              </a:defRPr>
            </a:lvl5pPr>
            <a:lvl6pPr marL="2538992"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300062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62261"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92389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15F59032-4CC8-49AA-B921-0985818A4A69}" type="slidenum">
              <a:rPr lang="en-US" altLang="en-US" sz="1200"/>
              <a:pPr/>
              <a:t>4</a:t>
            </a:fld>
            <a:endParaRPr lang="en-US" altLang="en-US" sz="1200"/>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An entity set may include subgroupings of entities that are distinct in some way from other entities in the set. For instance, a subset of entities within an entity set may have attributes that are not shared by all the entities in the entity set. The E-R model provides a means for representing these distinctive entity groupings.</a:t>
            </a:r>
          </a:p>
          <a:p>
            <a:endParaRPr lang="en-US" dirty="0" smtClean="0"/>
          </a:p>
          <a:p>
            <a:r>
              <a:rPr lang="en-US" b="1" dirty="0" smtClean="0"/>
              <a:t>A crucial property of the higher- and lower-level entities created by specialization and generalization is attribute inheritance. The attributes of the higher-level entity sets are said to be inherited by the lower-level entity sets. For example, student and employee inherit the attributes of person</a:t>
            </a:r>
          </a:p>
          <a:p>
            <a:endParaRPr lang="en-US" dirty="0" smtClean="0"/>
          </a:p>
          <a:p>
            <a:r>
              <a:rPr lang="en-US" b="1" dirty="0" smtClean="0"/>
              <a:t>The process of designating subgroupings within an entity set is called specialization. The specialization of person allows us to distinguish among person entities according to whether they correspond to employees or students: in general, a person could be an employee, a student, both, or neither</a:t>
            </a:r>
          </a:p>
          <a:p>
            <a:endParaRPr lang="en-US" b="1" dirty="0" smtClean="0"/>
          </a:p>
          <a:p>
            <a:r>
              <a:rPr lang="en-US" b="0" dirty="0" smtClean="0"/>
              <a:t>In terms of an E-R diagram, specialization is depicted by a hollow arrow-head pointing from the specialized entity to the other entity (see Figure 6.18). We refer to this relationship as the ISA relationship, which stands for “is a” and represents, for example, that an instructor “is a” employee.</a:t>
            </a:r>
          </a:p>
          <a:p>
            <a:endParaRPr lang="en-US" altLang="en-US" dirty="0" smtClean="0">
              <a:latin typeface="Times New Roman" panose="02020603050405020304" pitchFamily="18" charset="0"/>
            </a:endParaRPr>
          </a:p>
          <a:p>
            <a:r>
              <a:rPr lang="en-US" altLang="en-US" dirty="0" err="1" smtClean="0">
                <a:latin typeface="Times New Roman" panose="02020603050405020304" pitchFamily="18" charset="0"/>
              </a:rPr>
              <a:t>Slajd</a:t>
            </a:r>
            <a:r>
              <a:rPr lang="en-US" altLang="en-US" dirty="0" smtClean="0">
                <a:latin typeface="Times New Roman" panose="02020603050405020304" pitchFamily="18" charset="0"/>
              </a:rPr>
              <a:t>--</a:t>
            </a: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520624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093">
              <a:defRPr sz="1600">
                <a:solidFill>
                  <a:schemeClr val="tx1"/>
                </a:solidFill>
                <a:latin typeface="Helvetica" panose="020B0604020202020204" pitchFamily="34" charset="0"/>
                <a:ea typeface="ＭＳ Ｐゴシック" panose="020B0600070205080204" pitchFamily="34" charset="-128"/>
              </a:defRPr>
            </a:lvl1pPr>
            <a:lvl2pPr marL="750157" indent="-288522" defTabSz="936093">
              <a:defRPr sz="1600">
                <a:solidFill>
                  <a:schemeClr val="tx1"/>
                </a:solidFill>
                <a:latin typeface="Helvetica" panose="020B0604020202020204" pitchFamily="34" charset="0"/>
                <a:ea typeface="ＭＳ Ｐゴシック" panose="020B0600070205080204" pitchFamily="34" charset="-128"/>
              </a:defRPr>
            </a:lvl2pPr>
            <a:lvl3pPr marL="1154087" indent="-230817" defTabSz="936093">
              <a:defRPr sz="1600">
                <a:solidFill>
                  <a:schemeClr val="tx1"/>
                </a:solidFill>
                <a:latin typeface="Helvetica" panose="020B0604020202020204" pitchFamily="34" charset="0"/>
                <a:ea typeface="ＭＳ Ｐゴシック" panose="020B0600070205080204" pitchFamily="34" charset="-128"/>
              </a:defRPr>
            </a:lvl3pPr>
            <a:lvl4pPr marL="1615722" indent="-230817" defTabSz="936093">
              <a:defRPr sz="1600">
                <a:solidFill>
                  <a:schemeClr val="tx1"/>
                </a:solidFill>
                <a:latin typeface="Helvetica" panose="020B0604020202020204" pitchFamily="34" charset="0"/>
                <a:ea typeface="ＭＳ Ｐゴシック" panose="020B0600070205080204" pitchFamily="34" charset="-128"/>
              </a:defRPr>
            </a:lvl4pPr>
            <a:lvl5pPr marL="2077357" indent="-230817" defTabSz="936093">
              <a:defRPr sz="1600">
                <a:solidFill>
                  <a:schemeClr val="tx1"/>
                </a:solidFill>
                <a:latin typeface="Helvetica" panose="020B0604020202020204" pitchFamily="34" charset="0"/>
                <a:ea typeface="ＭＳ Ｐゴシック" panose="020B0600070205080204" pitchFamily="34" charset="-128"/>
              </a:defRPr>
            </a:lvl5pPr>
            <a:lvl6pPr marL="2538992"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300062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62261"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92389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4BB37812-7A60-4D4D-B158-CDF22B62669D}" type="slidenum">
              <a:rPr lang="en-US" altLang="en-US" sz="1200"/>
              <a:pPr/>
              <a:t>5</a:t>
            </a:fld>
            <a:endParaRPr lang="en-US" altLang="en-US" sz="1200"/>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In terms of an E-R diagram, specialization is depicted by a hollow arrow-head pointing from the specialized entity to the other entity (see Figure 6.18). We refer to this relationship as the ISA relationship, which stands for “is a” and represents, for example, that an instructor “is a” employee.</a:t>
            </a:r>
          </a:p>
          <a:p>
            <a:endParaRPr lang="en-US" altLang="en-US" b="1" dirty="0" smtClean="0">
              <a:latin typeface="Times New Roman" panose="02020603050405020304" pitchFamily="18" charset="0"/>
            </a:endParaRPr>
          </a:p>
          <a:p>
            <a:r>
              <a:rPr lang="en-US" b="1" dirty="0" smtClean="0"/>
              <a:t>The way we depict specialization in an E-R diagram depends on whether an entity may belong to multiple specialized entity sets or if it must belong to at most one specialized entity set. The former case (multiple sets permitted) is called overlapping specialization, while the latter case (at most one permitted) is called disjoint specialization. </a:t>
            </a:r>
            <a:r>
              <a:rPr lang="en-US" b="1" i="1" dirty="0" smtClean="0"/>
              <a:t>For an overlapping specialization (as is the case for student and employee as specializations of person), two separate arrows are used. For a disjoint specialization (as is the case for instructor and secretary as specializations of employee), a single arrow is used. The specialization relationship may also be referred to as a superclass-subclass relationship. Higher- and lower-level entity sets are depicted as regular entity sets—that is, as rectangles containing the name of the entity set.</a:t>
            </a: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1992756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txBox="1">
            <a:spLocks noGrp="1" noChangeArrowheads="1"/>
          </p:cNvSpPr>
          <p:nvPr/>
        </p:nvSpPr>
        <p:spPr bwMode="auto">
          <a:xfrm>
            <a:off x="4011160" y="8896201"/>
            <a:ext cx="3065916" cy="4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09" tIns="46955" rIns="93909" bIns="46955" anchor="b"/>
          <a:lstStyle>
            <a:lvl1pPr>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lgn="r"/>
            <a:fld id="{019A4C02-8989-47FD-A904-144A669035C3}" type="slidenum">
              <a:rPr lang="en-US" altLang="en-US" sz="1200"/>
              <a:pPr algn="r"/>
              <a:t>6</a:t>
            </a:fld>
            <a:endParaRPr lang="en-US" altLang="en-US" sz="1200"/>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730016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txBox="1">
            <a:spLocks noGrp="1" noChangeArrowheads="1"/>
          </p:cNvSpPr>
          <p:nvPr/>
        </p:nvSpPr>
        <p:spPr bwMode="auto">
          <a:xfrm>
            <a:off x="4011160" y="8896201"/>
            <a:ext cx="3065916" cy="4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09" tIns="46955" rIns="93909" bIns="46955" anchor="b"/>
          <a:lstStyle>
            <a:lvl1pPr>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lgn="r"/>
            <a:fld id="{36AEDBC9-C94E-4A98-8290-172F520CC2AF}" type="slidenum">
              <a:rPr lang="en-US" altLang="en-US" sz="1200"/>
              <a:pPr algn="r"/>
              <a:t>7</a:t>
            </a:fld>
            <a:endParaRPr lang="en-US" altLang="en-US" sz="1200"/>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7167375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093">
              <a:defRPr sz="1600">
                <a:solidFill>
                  <a:schemeClr val="tx1"/>
                </a:solidFill>
                <a:latin typeface="Helvetica" panose="020B0604020202020204" pitchFamily="34" charset="0"/>
                <a:ea typeface="ＭＳ Ｐゴシック" panose="020B0600070205080204" pitchFamily="34" charset="-128"/>
              </a:defRPr>
            </a:lvl1pPr>
            <a:lvl2pPr marL="750157" indent="-288522" defTabSz="936093">
              <a:defRPr sz="1600">
                <a:solidFill>
                  <a:schemeClr val="tx1"/>
                </a:solidFill>
                <a:latin typeface="Helvetica" panose="020B0604020202020204" pitchFamily="34" charset="0"/>
                <a:ea typeface="ＭＳ Ｐゴシック" panose="020B0600070205080204" pitchFamily="34" charset="-128"/>
              </a:defRPr>
            </a:lvl2pPr>
            <a:lvl3pPr marL="1154087" indent="-230817" defTabSz="936093">
              <a:defRPr sz="1600">
                <a:solidFill>
                  <a:schemeClr val="tx1"/>
                </a:solidFill>
                <a:latin typeface="Helvetica" panose="020B0604020202020204" pitchFamily="34" charset="0"/>
                <a:ea typeface="ＭＳ Ｐゴシック" panose="020B0600070205080204" pitchFamily="34" charset="-128"/>
              </a:defRPr>
            </a:lvl3pPr>
            <a:lvl4pPr marL="1615722" indent="-230817" defTabSz="936093">
              <a:defRPr sz="1600">
                <a:solidFill>
                  <a:schemeClr val="tx1"/>
                </a:solidFill>
                <a:latin typeface="Helvetica" panose="020B0604020202020204" pitchFamily="34" charset="0"/>
                <a:ea typeface="ＭＳ Ｐゴシック" panose="020B0600070205080204" pitchFamily="34" charset="-128"/>
              </a:defRPr>
            </a:lvl4pPr>
            <a:lvl5pPr marL="2077357" indent="-230817" defTabSz="936093">
              <a:defRPr sz="1600">
                <a:solidFill>
                  <a:schemeClr val="tx1"/>
                </a:solidFill>
                <a:latin typeface="Helvetica" panose="020B0604020202020204" pitchFamily="34" charset="0"/>
                <a:ea typeface="ＭＳ Ｐゴシック" panose="020B0600070205080204" pitchFamily="34" charset="-128"/>
              </a:defRPr>
            </a:lvl5pPr>
            <a:lvl6pPr marL="2538992"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300062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62261"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92389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101C0836-68E5-499B-9488-51A72A955B8C}" type="slidenum">
              <a:rPr lang="en-US" altLang="en-US" sz="1200"/>
              <a:pPr/>
              <a:t>8</a:t>
            </a:fld>
            <a:endParaRPr lang="en-US" altLang="en-US" sz="1200"/>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refinement from an initial entity set into successive levels of entity subgroupings represents a top-down design process in which distinctions are made explicit. The design process may also proceed in a bottom-up manner, in which multiple entity sets are synthesized into a higher-level entity set on the basis of common features.</a:t>
            </a:r>
          </a:p>
          <a:p>
            <a:endParaRPr lang="en-US" altLang="en-US" dirty="0" smtClean="0">
              <a:latin typeface="Times New Roman" panose="02020603050405020304" pitchFamily="18" charset="0"/>
            </a:endParaRPr>
          </a:p>
          <a:p>
            <a:r>
              <a:rPr lang="en-US" altLang="en-US" sz="1200" b="1" i="1" dirty="0" smtClean="0"/>
              <a:t>Specialization and generalization are simple inversions of each other; they are represented in an E-R diagram in the same way.</a:t>
            </a:r>
          </a:p>
          <a:p>
            <a:r>
              <a:rPr lang="en-US" altLang="en-US" sz="1200" b="1" i="1" dirty="0" smtClean="0"/>
              <a:t>The terms specialization and generalization are used </a:t>
            </a:r>
            <a:r>
              <a:rPr lang="en-US" altLang="en-US" sz="1200" b="1" i="1" dirty="0" smtClean="0"/>
              <a:t>interchangeably</a:t>
            </a:r>
          </a:p>
          <a:p>
            <a:endParaRPr lang="en-US" altLang="en-US" sz="1200" b="1" i="1" dirty="0" smtClean="0">
              <a:latin typeface="Times New Roman" panose="02020603050405020304" pitchFamily="18" charset="0"/>
            </a:endParaRPr>
          </a:p>
          <a:p>
            <a:r>
              <a:rPr lang="en-US" altLang="en-US" sz="1200" b="1" i="1" dirty="0" err="1" smtClean="0">
                <a:latin typeface="Times New Roman" panose="02020603050405020304" pitchFamily="18" charset="0"/>
              </a:rPr>
              <a:t>slajd</a:t>
            </a:r>
            <a:endParaRPr lang="en-US" altLang="en-US" b="1" i="1" dirty="0" smtClean="0">
              <a:latin typeface="Times New Roman" panose="02020603050405020304" pitchFamily="18" charset="0"/>
            </a:endParaRP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3205793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093">
              <a:defRPr sz="1600">
                <a:solidFill>
                  <a:schemeClr val="tx1"/>
                </a:solidFill>
                <a:latin typeface="Helvetica" panose="020B0604020202020204" pitchFamily="34" charset="0"/>
                <a:ea typeface="ＭＳ Ｐゴシック" panose="020B0600070205080204" pitchFamily="34" charset="-128"/>
              </a:defRPr>
            </a:lvl1pPr>
            <a:lvl2pPr marL="750157" indent="-288522" defTabSz="936093">
              <a:defRPr sz="1600">
                <a:solidFill>
                  <a:schemeClr val="tx1"/>
                </a:solidFill>
                <a:latin typeface="Helvetica" panose="020B0604020202020204" pitchFamily="34" charset="0"/>
                <a:ea typeface="ＭＳ Ｐゴシック" panose="020B0600070205080204" pitchFamily="34" charset="-128"/>
              </a:defRPr>
            </a:lvl2pPr>
            <a:lvl3pPr marL="1154087" indent="-230817" defTabSz="936093">
              <a:defRPr sz="1600">
                <a:solidFill>
                  <a:schemeClr val="tx1"/>
                </a:solidFill>
                <a:latin typeface="Helvetica" panose="020B0604020202020204" pitchFamily="34" charset="0"/>
                <a:ea typeface="ＭＳ Ｐゴシック" panose="020B0600070205080204" pitchFamily="34" charset="-128"/>
              </a:defRPr>
            </a:lvl3pPr>
            <a:lvl4pPr marL="1615722" indent="-230817" defTabSz="936093">
              <a:defRPr sz="1600">
                <a:solidFill>
                  <a:schemeClr val="tx1"/>
                </a:solidFill>
                <a:latin typeface="Helvetica" panose="020B0604020202020204" pitchFamily="34" charset="0"/>
                <a:ea typeface="ＭＳ Ｐゴシック" panose="020B0600070205080204" pitchFamily="34" charset="-128"/>
              </a:defRPr>
            </a:lvl4pPr>
            <a:lvl5pPr marL="2077357" indent="-230817" defTabSz="936093">
              <a:defRPr sz="1600">
                <a:solidFill>
                  <a:schemeClr val="tx1"/>
                </a:solidFill>
                <a:latin typeface="Helvetica" panose="020B0604020202020204" pitchFamily="34" charset="0"/>
                <a:ea typeface="ＭＳ Ｐゴシック" panose="020B0600070205080204" pitchFamily="34" charset="-128"/>
              </a:defRPr>
            </a:lvl5pPr>
            <a:lvl6pPr marL="2538992"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300062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62261"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92389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BD25D0B9-C0C0-40E8-996B-37789D8CE8CB}" type="slidenum">
              <a:rPr lang="en-US" altLang="en-US" sz="1200"/>
              <a:pPr/>
              <a:t>9</a:t>
            </a:fld>
            <a:endParaRPr lang="en-US" altLang="en-US" sz="1200"/>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One type of constraint on specialization which we saw earlier specifies whether a specialization is disjoint or overlapping. Another type of constraint on a specialization/generalization is a completeness constraint, which specifies whether or not an entity in the higher-level entity set must belong to at least one of the lower-level entity sets within the generalization/specialization. </a:t>
            </a:r>
          </a:p>
          <a:p>
            <a:r>
              <a:rPr lang="en-US" b="1" dirty="0" smtClean="0"/>
              <a:t>This constraint may be one of the following: </a:t>
            </a:r>
          </a:p>
          <a:p>
            <a:endParaRPr lang="en-US" b="1" dirty="0" smtClean="0"/>
          </a:p>
          <a:p>
            <a:r>
              <a:rPr lang="en-US" b="1" dirty="0" smtClean="0"/>
              <a:t>• Total specialization or generalization. Each higher-level entity must belong to a lower-level entity set. </a:t>
            </a:r>
          </a:p>
          <a:p>
            <a:r>
              <a:rPr lang="en-US" b="1" dirty="0" smtClean="0"/>
              <a:t>• Partial specialization or generalization. Some higher-level entities may not belong to any lower-level entity set.</a:t>
            </a:r>
            <a:endParaRPr lang="en-US" altLang="en-US" b="1" dirty="0">
              <a:latin typeface="Times New Roman" panose="02020603050405020304" pitchFamily="18" charset="0"/>
            </a:endParaRPr>
          </a:p>
        </p:txBody>
      </p:sp>
    </p:spTree>
    <p:extLst>
      <p:ext uri="{BB962C8B-B14F-4D97-AF65-F5344CB8AC3E}">
        <p14:creationId xmlns:p14="http://schemas.microsoft.com/office/powerpoint/2010/main" val="991555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093">
              <a:defRPr sz="1600">
                <a:solidFill>
                  <a:schemeClr val="tx1"/>
                </a:solidFill>
                <a:latin typeface="Helvetica" panose="020B0604020202020204" pitchFamily="34" charset="0"/>
                <a:ea typeface="ＭＳ Ｐゴシック" panose="020B0600070205080204" pitchFamily="34" charset="-128"/>
              </a:defRPr>
            </a:lvl1pPr>
            <a:lvl2pPr marL="750157" indent="-288522" defTabSz="936093">
              <a:defRPr sz="1600">
                <a:solidFill>
                  <a:schemeClr val="tx1"/>
                </a:solidFill>
                <a:latin typeface="Helvetica" panose="020B0604020202020204" pitchFamily="34" charset="0"/>
                <a:ea typeface="ＭＳ Ｐゴシック" panose="020B0600070205080204" pitchFamily="34" charset="-128"/>
              </a:defRPr>
            </a:lvl2pPr>
            <a:lvl3pPr marL="1154087" indent="-230817" defTabSz="936093">
              <a:defRPr sz="1600">
                <a:solidFill>
                  <a:schemeClr val="tx1"/>
                </a:solidFill>
                <a:latin typeface="Helvetica" panose="020B0604020202020204" pitchFamily="34" charset="0"/>
                <a:ea typeface="ＭＳ Ｐゴシック" panose="020B0600070205080204" pitchFamily="34" charset="-128"/>
              </a:defRPr>
            </a:lvl3pPr>
            <a:lvl4pPr marL="1615722" indent="-230817" defTabSz="936093">
              <a:defRPr sz="1600">
                <a:solidFill>
                  <a:schemeClr val="tx1"/>
                </a:solidFill>
                <a:latin typeface="Helvetica" panose="020B0604020202020204" pitchFamily="34" charset="0"/>
                <a:ea typeface="ＭＳ Ｐゴシック" panose="020B0600070205080204" pitchFamily="34" charset="-128"/>
              </a:defRPr>
            </a:lvl4pPr>
            <a:lvl5pPr marL="2077357" indent="-230817" defTabSz="936093">
              <a:defRPr sz="1600">
                <a:solidFill>
                  <a:schemeClr val="tx1"/>
                </a:solidFill>
                <a:latin typeface="Helvetica" panose="020B0604020202020204" pitchFamily="34" charset="0"/>
                <a:ea typeface="ＭＳ Ｐゴシック" panose="020B0600070205080204" pitchFamily="34" charset="-128"/>
              </a:defRPr>
            </a:lvl5pPr>
            <a:lvl6pPr marL="2538992"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300062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62261"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92389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136294EE-9918-45CD-8B30-53914648990E}" type="slidenum">
              <a:rPr lang="en-US" altLang="en-US" sz="1200"/>
              <a:pPr/>
              <a:t>10</a:t>
            </a:fld>
            <a:endParaRPr lang="en-US" altLang="en-US" sz="1200"/>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Partial specialization is the default. </a:t>
            </a:r>
          </a:p>
          <a:p>
            <a:r>
              <a:rPr lang="en-US" b="1" dirty="0" smtClean="0"/>
              <a:t>We can specify total specialization in an E-R diagram by adding the keyword “total” in the diagram and drawing a dashed line from the keyword to the corresponding hollow arrowhead to which it applies (for a total specialization), or to the set of hollow arrowheads to which it applies (for an overlapping specialization</a:t>
            </a:r>
            <a:r>
              <a:rPr lang="en-US" dirty="0" smtClean="0"/>
              <a:t>).</a:t>
            </a:r>
          </a:p>
          <a:p>
            <a:endParaRPr lang="en-US" altLang="en-US" dirty="0" smtClean="0">
              <a:latin typeface="Times New Roman" panose="02020603050405020304" pitchFamily="18" charset="0"/>
            </a:endParaRPr>
          </a:p>
          <a:p>
            <a:r>
              <a:rPr lang="en-US" altLang="en-US" dirty="0" smtClean="0">
                <a:latin typeface="Times New Roman" panose="02020603050405020304" pitchFamily="18" charset="0"/>
              </a:rPr>
              <a:t>Example </a:t>
            </a:r>
          </a:p>
          <a:p>
            <a:endParaRPr lang="en-US" altLang="en-US" dirty="0" smtClean="0">
              <a:latin typeface="Times New Roman" panose="02020603050405020304"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u="sng" dirty="0" smtClean="0"/>
              <a:t>The </a:t>
            </a:r>
            <a:r>
              <a:rPr lang="en-US" altLang="en-US" sz="1200" i="1" u="sng" dirty="0" smtClean="0"/>
              <a:t>student</a:t>
            </a:r>
            <a:r>
              <a:rPr lang="en-US" altLang="en-US" sz="1200" u="sng" dirty="0" smtClean="0"/>
              <a:t> generalization is total: All student entities must be either graduate or undergraduate. Because the higher-level entity set arrived at through generalization is generally composed of only those entities in the lower-level entity sets, the completeness constraint for a generalized higher-level entity set is usually total</a:t>
            </a: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8755523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093">
              <a:defRPr sz="1600">
                <a:solidFill>
                  <a:schemeClr val="tx1"/>
                </a:solidFill>
                <a:latin typeface="Helvetica" panose="020B0604020202020204" pitchFamily="34" charset="0"/>
                <a:ea typeface="ＭＳ Ｐゴシック" panose="020B0600070205080204" pitchFamily="34" charset="-128"/>
              </a:defRPr>
            </a:lvl1pPr>
            <a:lvl2pPr marL="750157" indent="-288522" defTabSz="936093">
              <a:defRPr sz="1600">
                <a:solidFill>
                  <a:schemeClr val="tx1"/>
                </a:solidFill>
                <a:latin typeface="Helvetica" panose="020B0604020202020204" pitchFamily="34" charset="0"/>
                <a:ea typeface="ＭＳ Ｐゴシック" panose="020B0600070205080204" pitchFamily="34" charset="-128"/>
              </a:defRPr>
            </a:lvl2pPr>
            <a:lvl3pPr marL="1154087" indent="-230817" defTabSz="936093">
              <a:defRPr sz="1600">
                <a:solidFill>
                  <a:schemeClr val="tx1"/>
                </a:solidFill>
                <a:latin typeface="Helvetica" panose="020B0604020202020204" pitchFamily="34" charset="0"/>
                <a:ea typeface="ＭＳ Ｐゴシック" panose="020B0600070205080204" pitchFamily="34" charset="-128"/>
              </a:defRPr>
            </a:lvl3pPr>
            <a:lvl4pPr marL="1615722" indent="-230817" defTabSz="936093">
              <a:defRPr sz="1600">
                <a:solidFill>
                  <a:schemeClr val="tx1"/>
                </a:solidFill>
                <a:latin typeface="Helvetica" panose="020B0604020202020204" pitchFamily="34" charset="0"/>
                <a:ea typeface="ＭＳ Ｐゴシック" panose="020B0600070205080204" pitchFamily="34" charset="-128"/>
              </a:defRPr>
            </a:lvl4pPr>
            <a:lvl5pPr marL="2077357" indent="-230817" defTabSz="936093">
              <a:defRPr sz="1600">
                <a:solidFill>
                  <a:schemeClr val="tx1"/>
                </a:solidFill>
                <a:latin typeface="Helvetica" panose="020B0604020202020204" pitchFamily="34" charset="0"/>
                <a:ea typeface="ＭＳ Ｐゴシック" panose="020B0600070205080204" pitchFamily="34" charset="-128"/>
              </a:defRPr>
            </a:lvl5pPr>
            <a:lvl6pPr marL="2538992"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300062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62261"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92389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2CB36896-4F4E-48BE-8ED8-64318D033CE8}" type="slidenum">
              <a:rPr lang="en-US" altLang="en-US" sz="1200"/>
              <a:pPr/>
              <a:t>11</a:t>
            </a:fld>
            <a:endParaRPr lang="en-US" altLang="en-US" sz="1200"/>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One limitation of the E-R model is that it cannot express relationships among relationships. To illustrate the need for such a construct, consider the ternary relationship </a:t>
            </a:r>
            <a:r>
              <a:rPr lang="en-US" b="1" dirty="0" err="1" smtClean="0"/>
              <a:t>proj_guide</a:t>
            </a:r>
            <a:r>
              <a:rPr lang="en-US" b="1" dirty="0" smtClean="0"/>
              <a:t>, which we saw earlier, between an instructor, student and project (see Figure 6.6). </a:t>
            </a:r>
          </a:p>
          <a:p>
            <a:endParaRPr lang="en-US" altLang="en-US" b="1" dirty="0" smtClean="0">
              <a:latin typeface="Times New Roman" panose="02020603050405020304" pitchFamily="18" charset="0"/>
            </a:endParaRPr>
          </a:p>
          <a:p>
            <a:r>
              <a:rPr lang="en-US" b="1" dirty="0" smtClean="0"/>
              <a:t>Now suppose that each instructor guiding a student on a project is required to file a monthly evaluation report. </a:t>
            </a:r>
            <a:endParaRPr lang="en-US" b="1" dirty="0" smtClean="0"/>
          </a:p>
          <a:p>
            <a:endParaRPr lang="en-US" altLang="en-US" b="1" dirty="0" smtClean="0">
              <a:latin typeface="Times New Roman" panose="02020603050405020304"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b="1" dirty="0" smtClean="0"/>
              <a:t>We model the evaluation report as an entity evaluation, with a primary key </a:t>
            </a:r>
            <a:r>
              <a:rPr lang="en-US" b="1" dirty="0" err="1" smtClean="0"/>
              <a:t>evaluation_id</a:t>
            </a:r>
            <a:r>
              <a:rPr lang="en-US" b="1" dirty="0" smtClean="0"/>
              <a:t>. One alternative for recording the (student, project, instructor) combination to which an evaluation corresponds is to create a quaternary (4-way) relationship set </a:t>
            </a:r>
            <a:r>
              <a:rPr lang="en-US" b="1" dirty="0" err="1" smtClean="0"/>
              <a:t>eval_for</a:t>
            </a:r>
            <a:r>
              <a:rPr lang="en-US" b="1" dirty="0" smtClean="0"/>
              <a:t> between instructor, student, project, and evaluation. </a:t>
            </a:r>
          </a:p>
          <a:p>
            <a:pPr marL="0" marR="0" indent="0" algn="l" defTabSz="914400" rtl="0" eaLnBrk="0" fontAlgn="base" latinLnBrk="0" hangingPunct="0">
              <a:lnSpc>
                <a:spcPct val="100000"/>
              </a:lnSpc>
              <a:spcBef>
                <a:spcPct val="30000"/>
              </a:spcBef>
              <a:spcAft>
                <a:spcPct val="0"/>
              </a:spcAft>
              <a:buClrTx/>
              <a:buSzTx/>
              <a:buFontTx/>
              <a:buNone/>
              <a:tabLst/>
              <a:defRPr/>
            </a:pPr>
            <a:r>
              <a:rPr lang="en-US" b="1" dirty="0" smtClean="0"/>
              <a:t>(A quaternary relationship is required—a binary relationship between student and evaluation, for example, would not permit us to represent the (project, instructor) combination to which an evaluation corresponds.) Using the basic E-R modeling constructs, we obtain the E-R diagram of Figure 6.19. (We have omitted the attributes of the entity sets, for simplicity.)</a:t>
            </a:r>
          </a:p>
          <a:p>
            <a:endParaRPr lang="en-US" altLang="en-US" b="1" dirty="0">
              <a:latin typeface="Times New Roman" panose="02020603050405020304" pitchFamily="18" charset="0"/>
            </a:endParaRPr>
          </a:p>
        </p:txBody>
      </p:sp>
    </p:spTree>
    <p:extLst>
      <p:ext uri="{BB962C8B-B14F-4D97-AF65-F5344CB8AC3E}">
        <p14:creationId xmlns:p14="http://schemas.microsoft.com/office/powerpoint/2010/main" val="9819837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093">
              <a:defRPr sz="1600">
                <a:solidFill>
                  <a:schemeClr val="tx1"/>
                </a:solidFill>
                <a:latin typeface="Helvetica" panose="020B0604020202020204" pitchFamily="34" charset="0"/>
                <a:ea typeface="ＭＳ Ｐゴシック" panose="020B0600070205080204" pitchFamily="34" charset="-128"/>
              </a:defRPr>
            </a:lvl1pPr>
            <a:lvl2pPr marL="750157" indent="-288522" defTabSz="936093">
              <a:defRPr sz="1600">
                <a:solidFill>
                  <a:schemeClr val="tx1"/>
                </a:solidFill>
                <a:latin typeface="Helvetica" panose="020B0604020202020204" pitchFamily="34" charset="0"/>
                <a:ea typeface="ＭＳ Ｐゴシック" panose="020B0600070205080204" pitchFamily="34" charset="-128"/>
              </a:defRPr>
            </a:lvl2pPr>
            <a:lvl3pPr marL="1154087" indent="-230817" defTabSz="936093">
              <a:defRPr sz="1600">
                <a:solidFill>
                  <a:schemeClr val="tx1"/>
                </a:solidFill>
                <a:latin typeface="Helvetica" panose="020B0604020202020204" pitchFamily="34" charset="0"/>
                <a:ea typeface="ＭＳ Ｐゴシック" panose="020B0600070205080204" pitchFamily="34" charset="-128"/>
              </a:defRPr>
            </a:lvl3pPr>
            <a:lvl4pPr marL="1615722" indent="-230817" defTabSz="936093">
              <a:defRPr sz="1600">
                <a:solidFill>
                  <a:schemeClr val="tx1"/>
                </a:solidFill>
                <a:latin typeface="Helvetica" panose="020B0604020202020204" pitchFamily="34" charset="0"/>
                <a:ea typeface="ＭＳ Ｐゴシック" panose="020B0600070205080204" pitchFamily="34" charset="-128"/>
              </a:defRPr>
            </a:lvl4pPr>
            <a:lvl5pPr marL="2077357" indent="-230817" defTabSz="936093">
              <a:defRPr sz="1600">
                <a:solidFill>
                  <a:schemeClr val="tx1"/>
                </a:solidFill>
                <a:latin typeface="Helvetica" panose="020B0604020202020204" pitchFamily="34" charset="0"/>
                <a:ea typeface="ＭＳ Ｐゴシック" panose="020B0600070205080204" pitchFamily="34" charset="-128"/>
              </a:defRPr>
            </a:lvl5pPr>
            <a:lvl6pPr marL="2538992"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300062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62261"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92389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FDE8E9FC-6F08-40BB-B772-EA0C2AE1A7A0}" type="slidenum">
              <a:rPr lang="en-US" altLang="en-US" sz="1200"/>
              <a:pPr/>
              <a:t>12</a:t>
            </a:fld>
            <a:endParaRPr lang="en-US" altLang="en-US" sz="1200"/>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0" u="sng" dirty="0" smtClean="0"/>
              <a:t>We model the evaluation report as an entity evaluation, with a primary key </a:t>
            </a:r>
            <a:r>
              <a:rPr lang="en-US" b="0" u="sng" dirty="0" err="1" smtClean="0"/>
              <a:t>evaluation_id</a:t>
            </a:r>
            <a:r>
              <a:rPr lang="en-US" b="0" u="sng" dirty="0" smtClean="0"/>
              <a:t>. One alternative for recording the (student, project, instructor) combination to which an evaluation corresponds is to create a quaternary (4-way) relationship </a:t>
            </a:r>
            <a:r>
              <a:rPr lang="en-US" b="0" u="sng" dirty="0" err="1" smtClean="0"/>
              <a:t>set_eval_for</a:t>
            </a:r>
            <a:r>
              <a:rPr lang="en-US" b="0" u="sng" dirty="0" smtClean="0"/>
              <a:t> </a:t>
            </a:r>
            <a:r>
              <a:rPr lang="en-US" b="0" u="sng" dirty="0" smtClean="0"/>
              <a:t>between instructor, student, project, and evaluation. (A quaternary relationship is required—a binary relationship between student and evaluation, for example, would not permit us to represent the (project, instructor) combination to which an evaluation corresponds.) Using the basic E-R modeling constructs, we obtain the E-R diagram of Figure 6.19. (We have omitted the attributes of the entity sets, for simplicity.)</a:t>
            </a:r>
          </a:p>
          <a:p>
            <a:endParaRPr lang="en-US" altLang="en-US" b="1" dirty="0" smtClean="0">
              <a:latin typeface="Times New Roman" panose="02020603050405020304" pitchFamily="18" charset="0"/>
            </a:endParaRPr>
          </a:p>
          <a:p>
            <a:r>
              <a:rPr lang="en-US" b="1" dirty="0" smtClean="0"/>
              <a:t>It appears that the relationship sets </a:t>
            </a:r>
            <a:r>
              <a:rPr lang="en-US" b="1" dirty="0" err="1" smtClean="0"/>
              <a:t>proj_guide</a:t>
            </a:r>
            <a:r>
              <a:rPr lang="en-US" b="1" dirty="0" smtClean="0"/>
              <a:t> </a:t>
            </a:r>
            <a:r>
              <a:rPr lang="en-US" b="1" dirty="0" smtClean="0"/>
              <a:t>and </a:t>
            </a:r>
            <a:r>
              <a:rPr lang="en-US" b="1" dirty="0" err="1" smtClean="0"/>
              <a:t>eval_for</a:t>
            </a:r>
            <a:r>
              <a:rPr lang="en-US" b="1" dirty="0" smtClean="0"/>
              <a:t> </a:t>
            </a:r>
            <a:r>
              <a:rPr lang="en-US" b="1" dirty="0" smtClean="0"/>
              <a:t>can be combined into one single relationship set. Nevertheless, we should not combine them into a single relationship, since some instructor, student, project combinations may not have an associated evaluation.</a:t>
            </a:r>
            <a:endParaRPr lang="en-US" altLang="en-US" b="1"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altLang="en-US" dirty="0" smtClean="0">
                <a:latin typeface="Times New Roman" panose="02020603050405020304" pitchFamily="18" charset="0"/>
              </a:rPr>
              <a:t>Pa</a:t>
            </a:r>
            <a:r>
              <a:rPr lang="en-US" altLang="en-US" baseline="0" dirty="0" smtClean="0">
                <a:latin typeface="Times New Roman" panose="02020603050405020304" pitchFamily="18" charset="0"/>
              </a:rPr>
              <a:t> </a:t>
            </a:r>
            <a:r>
              <a:rPr lang="en-US" altLang="en-US" baseline="0" dirty="0" err="1" smtClean="0">
                <a:latin typeface="Times New Roman" panose="02020603050405020304" pitchFamily="18" charset="0"/>
              </a:rPr>
              <a:t>slajd</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26381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txBox="1">
            <a:spLocks noGrp="1" noChangeArrowheads="1"/>
          </p:cNvSpPr>
          <p:nvPr/>
        </p:nvSpPr>
        <p:spPr bwMode="auto">
          <a:xfrm>
            <a:off x="4011160" y="8896201"/>
            <a:ext cx="3065916" cy="4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09" tIns="46955" rIns="93909" bIns="46955" anchor="b"/>
          <a:lstStyle>
            <a:lvl1pPr>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lgn="r"/>
            <a:fld id="{B999CF1A-EE2D-40C7-88BC-5CB4646E5D8B}" type="slidenum">
              <a:rPr lang="en-US" altLang="en-US" sz="1200"/>
              <a:pPr algn="r"/>
              <a:t>13</a:t>
            </a:fld>
            <a:endParaRPr lang="en-US" altLang="en-US" sz="1200"/>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dirty="0" smtClean="0"/>
              <a:t>The best way to model a situation such as the one just described is to use aggregation. Aggregation is an abstraction through which relationships are treated as higher level entities. Thus, for our example, we regard the relationship set </a:t>
            </a:r>
            <a:r>
              <a:rPr lang="en-US" b="1" dirty="0" err="1" smtClean="0"/>
              <a:t>proj_guide</a:t>
            </a:r>
            <a:r>
              <a:rPr lang="en-US" b="1" dirty="0" smtClean="0"/>
              <a:t> </a:t>
            </a:r>
            <a:r>
              <a:rPr lang="en-US" b="1" dirty="0" smtClean="0"/>
              <a:t>(relating the entity sets instructor, student, and project) as a higher-level entity set called </a:t>
            </a:r>
            <a:r>
              <a:rPr lang="en-US" b="1" dirty="0" err="1" smtClean="0"/>
              <a:t>proj_guide</a:t>
            </a:r>
            <a:r>
              <a:rPr lang="en-US" b="1" dirty="0" smtClean="0"/>
              <a:t>. Such an entity set is treated in the same manner as is any other entity set. We can then create a binary relationship </a:t>
            </a:r>
            <a:r>
              <a:rPr lang="en-US" b="1" dirty="0" err="1" smtClean="0"/>
              <a:t>eval_for</a:t>
            </a:r>
            <a:r>
              <a:rPr lang="en-US" b="1" dirty="0" smtClean="0"/>
              <a:t> </a:t>
            </a:r>
            <a:r>
              <a:rPr lang="en-US" b="1" dirty="0" smtClean="0"/>
              <a:t>between </a:t>
            </a:r>
            <a:r>
              <a:rPr lang="en-US" b="1" dirty="0" err="1" smtClean="0"/>
              <a:t>proj</a:t>
            </a:r>
            <a:r>
              <a:rPr lang="en-US" b="1" dirty="0" smtClean="0"/>
              <a:t>__guide </a:t>
            </a:r>
            <a:r>
              <a:rPr lang="en-US" b="1" dirty="0" smtClean="0"/>
              <a:t>and evaluation to represent which (student, project, instructor) combination an evaluation is for. Figure 6.20 shows a notation for aggregation commonly used to represent this situation. </a:t>
            </a: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8255142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093">
              <a:defRPr sz="1600">
                <a:solidFill>
                  <a:schemeClr val="tx1"/>
                </a:solidFill>
                <a:latin typeface="Helvetica" panose="020B0604020202020204" pitchFamily="34" charset="0"/>
                <a:ea typeface="ＭＳ Ｐゴシック" panose="020B0600070205080204" pitchFamily="34" charset="-128"/>
              </a:defRPr>
            </a:lvl1pPr>
            <a:lvl2pPr marL="750157" indent="-288522" defTabSz="936093">
              <a:defRPr sz="1600">
                <a:solidFill>
                  <a:schemeClr val="tx1"/>
                </a:solidFill>
                <a:latin typeface="Helvetica" panose="020B0604020202020204" pitchFamily="34" charset="0"/>
                <a:ea typeface="ＭＳ Ｐゴシック" panose="020B0600070205080204" pitchFamily="34" charset="-128"/>
              </a:defRPr>
            </a:lvl2pPr>
            <a:lvl3pPr marL="1154087" indent="-230817" defTabSz="936093">
              <a:defRPr sz="1600">
                <a:solidFill>
                  <a:schemeClr val="tx1"/>
                </a:solidFill>
                <a:latin typeface="Helvetica" panose="020B0604020202020204" pitchFamily="34" charset="0"/>
                <a:ea typeface="ＭＳ Ｐゴシック" panose="020B0600070205080204" pitchFamily="34" charset="-128"/>
              </a:defRPr>
            </a:lvl3pPr>
            <a:lvl4pPr marL="1615722" indent="-230817" defTabSz="936093">
              <a:defRPr sz="1600">
                <a:solidFill>
                  <a:schemeClr val="tx1"/>
                </a:solidFill>
                <a:latin typeface="Helvetica" panose="020B0604020202020204" pitchFamily="34" charset="0"/>
                <a:ea typeface="ＭＳ Ｐゴシック" panose="020B0600070205080204" pitchFamily="34" charset="-128"/>
              </a:defRPr>
            </a:lvl4pPr>
            <a:lvl5pPr marL="2077357" indent="-230817" defTabSz="936093">
              <a:defRPr sz="1600">
                <a:solidFill>
                  <a:schemeClr val="tx1"/>
                </a:solidFill>
                <a:latin typeface="Helvetica" panose="020B0604020202020204" pitchFamily="34" charset="0"/>
                <a:ea typeface="ＭＳ Ｐゴシック" panose="020B0600070205080204" pitchFamily="34" charset="-128"/>
              </a:defRPr>
            </a:lvl5pPr>
            <a:lvl6pPr marL="2538992"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300062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62261"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92389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25DBE05D-165E-44E5-8FF5-12AB8BF987CB}" type="slidenum">
              <a:rPr lang="en-US" altLang="en-US" sz="1200"/>
              <a:pPr/>
              <a:t>14</a:t>
            </a:fld>
            <a:endParaRPr lang="en-US" altLang="en-US" sz="1200"/>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Designing schemas for an E-R diagram containing aggregation is straightforward. Consider Figure 6.20. The schema for the relationship set </a:t>
            </a:r>
            <a:r>
              <a:rPr lang="en-US" b="1" dirty="0" err="1" smtClean="0"/>
              <a:t>eval_for</a:t>
            </a:r>
            <a:r>
              <a:rPr lang="en-US" b="1" dirty="0" smtClean="0"/>
              <a:t> </a:t>
            </a:r>
            <a:r>
              <a:rPr lang="en-US" b="1" dirty="0" smtClean="0"/>
              <a:t>between the aggregation of </a:t>
            </a:r>
            <a:r>
              <a:rPr lang="en-US" b="1" dirty="0" err="1" smtClean="0"/>
              <a:t>proj_guide</a:t>
            </a:r>
            <a:r>
              <a:rPr lang="en-US" b="1" dirty="0" smtClean="0"/>
              <a:t> </a:t>
            </a:r>
            <a:r>
              <a:rPr lang="en-US" b="1" dirty="0" smtClean="0"/>
              <a:t>and the entity set evaluation includes an attribute for each attribute in the primary keys of the entity set evaluation and the relationship set </a:t>
            </a:r>
            <a:r>
              <a:rPr lang="en-US" b="1" dirty="0" err="1" smtClean="0"/>
              <a:t>proj_guide</a:t>
            </a:r>
            <a:r>
              <a:rPr lang="en-US" b="1" dirty="0" smtClean="0"/>
              <a:t>. It also includes an attribute for any descriptive attributes, if they exist, of the relationship set </a:t>
            </a:r>
            <a:r>
              <a:rPr lang="en-US" b="1" dirty="0" err="1" smtClean="0"/>
              <a:t>eval_for</a:t>
            </a:r>
            <a:r>
              <a:rPr lang="en-US" b="1" dirty="0" smtClean="0"/>
              <a:t>. We then transform the relationship sets and entity sets within the aggregated entity set following the rules we have already defined.</a:t>
            </a:r>
            <a:endParaRPr lang="en-US" altLang="en-US" b="1" dirty="0">
              <a:latin typeface="Times New Roman" panose="02020603050405020304" pitchFamily="18" charset="0"/>
            </a:endParaRPr>
          </a:p>
        </p:txBody>
      </p:sp>
    </p:spTree>
    <p:extLst>
      <p:ext uri="{BB962C8B-B14F-4D97-AF65-F5344CB8AC3E}">
        <p14:creationId xmlns:p14="http://schemas.microsoft.com/office/powerpoint/2010/main" val="7673177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Rot="1" noChangeAspect="1" noChangeArrowheads="1" noTextEdit="1"/>
          </p:cNvSpPr>
          <p:nvPr>
            <p:ph type="sldImg"/>
          </p:nvPr>
        </p:nvSpPr>
        <p:spPr>
          <a:ln/>
        </p:spPr>
      </p:sp>
      <p:sp>
        <p:nvSpPr>
          <p:cNvPr id="1576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221747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txBox="1">
            <a:spLocks noGrp="1" noChangeArrowheads="1"/>
          </p:cNvSpPr>
          <p:nvPr/>
        </p:nvSpPr>
        <p:spPr bwMode="auto">
          <a:xfrm>
            <a:off x="4011160" y="8896201"/>
            <a:ext cx="3065916" cy="4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09" tIns="46955" rIns="93909" bIns="46955" anchor="b"/>
          <a:lstStyle>
            <a:lvl1pPr>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lgn="r"/>
            <a:fld id="{4934C981-6806-4B1C-8EC3-8AAD8F35AA7C}" type="slidenum">
              <a:rPr lang="en-US" altLang="en-US" sz="1200"/>
              <a:pPr algn="r"/>
              <a:t>16</a:t>
            </a:fld>
            <a:endParaRPr lang="en-US" altLang="en-US" sz="1200"/>
          </a:p>
        </p:txBody>
      </p:sp>
      <p:sp>
        <p:nvSpPr>
          <p:cNvPr id="158723" name="Rectangle 2"/>
          <p:cNvSpPr>
            <a:spLocks noGrp="1" noRot="1" noChangeAspect="1" noChangeArrowheads="1" noTextEdit="1"/>
          </p:cNvSpPr>
          <p:nvPr>
            <p:ph type="sldImg"/>
          </p:nvPr>
        </p:nvSpPr>
        <p:spPr>
          <a:ln/>
        </p:spPr>
      </p:sp>
      <p:sp>
        <p:nvSpPr>
          <p:cNvPr id="158724"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notions of an entity set and a relationship set are not precise, and it is possible to define a set of entities and the relationships among them in a number of different ways. In this section, we examine basic issues in the design of an E-R database schema. </a:t>
            </a:r>
            <a:r>
              <a:rPr lang="en-US" dirty="0" smtClean="0"/>
              <a:t>Section 6.11 covers the design process in further detail.</a:t>
            </a:r>
          </a:p>
          <a:p>
            <a:endParaRPr lang="en-US" dirty="0" smtClean="0"/>
          </a:p>
          <a:p>
            <a:r>
              <a:rPr lang="en-US" b="1" dirty="0" smtClean="0"/>
              <a:t>A common mistake when creating E-R models is the use of the primary key of an entity set as an attribute of another entity set, instead of using a relationship. For example, in our university E-R model, it is incorrect to have </a:t>
            </a:r>
            <a:r>
              <a:rPr lang="en-US" b="1" dirty="0" err="1" smtClean="0"/>
              <a:t>dept_name</a:t>
            </a:r>
            <a:r>
              <a:rPr lang="en-US" b="1" dirty="0" smtClean="0"/>
              <a:t> </a:t>
            </a:r>
            <a:r>
              <a:rPr lang="en-US" b="1" dirty="0" smtClean="0"/>
              <a:t>as an attribute of student, as depicted in Figure 6.21a, even though it is present as an attribute in the relation schema for student. The relationship </a:t>
            </a:r>
            <a:r>
              <a:rPr lang="en-US" b="1" dirty="0" err="1" smtClean="0"/>
              <a:t>stud_dept</a:t>
            </a:r>
            <a:r>
              <a:rPr lang="en-US" b="1" dirty="0" smtClean="0"/>
              <a:t> </a:t>
            </a:r>
            <a:r>
              <a:rPr lang="en-US" b="1" dirty="0" smtClean="0"/>
              <a:t>is the correct way to represent this information in the E-R model, since it makes the relationship between student and department explicit, rather than implicit via an attribute. Having an attribute </a:t>
            </a:r>
            <a:r>
              <a:rPr lang="en-US" b="1" dirty="0" err="1" smtClean="0"/>
              <a:t>dept_name</a:t>
            </a:r>
            <a:r>
              <a:rPr lang="en-US" b="1" dirty="0" smtClean="0"/>
              <a:t> </a:t>
            </a:r>
            <a:r>
              <a:rPr lang="en-US" b="1" dirty="0" smtClean="0"/>
              <a:t>as well as a relationship </a:t>
            </a:r>
            <a:r>
              <a:rPr lang="en-US" b="1" dirty="0" err="1" smtClean="0"/>
              <a:t>stud_dept</a:t>
            </a:r>
            <a:r>
              <a:rPr lang="en-US" b="1" dirty="0" smtClean="0"/>
              <a:t> </a:t>
            </a:r>
            <a:r>
              <a:rPr lang="en-US" b="1" dirty="0" smtClean="0"/>
              <a:t>would result in duplication of information.</a:t>
            </a:r>
          </a:p>
          <a:p>
            <a:endParaRPr lang="en-US" dirty="0" smtClean="0"/>
          </a:p>
          <a:p>
            <a:r>
              <a:rPr lang="en-US" b="1" i="1" dirty="0" smtClean="0"/>
              <a:t>Another related mistake that people sometimes make is to designate the primary key attributes of the related entity sets as attributes of the relationship set. For example, ID (the primary-key attributes of student) and ID (the primary key of instructor) should not appear as attributes of the relationship advisor. This should not be done since the primary-key attributes are already implicit in the relationship set.</a:t>
            </a:r>
          </a:p>
          <a:p>
            <a:endParaRPr lang="en-US" dirty="0" smtClean="0"/>
          </a:p>
          <a:p>
            <a:r>
              <a:rPr lang="en-US" b="1" i="1" dirty="0" smtClean="0"/>
              <a:t>A third common mistake is to use a relationship with a single-valued attribute in a situation that requires a multivalued attribute. For example, suppose we decided to represent the marks that a student gets in different assignments of a course offering (section). A wrong way of doing this would be to add two attributes assignment and marks to the relationship takes, as depicted in Figure 6.21b. The problem with this design is that we can only represent a single assignment for a given student-section pair, since relationship instances must be uniquely identified by the participating entities, student and section</a:t>
            </a: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110242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txBox="1">
            <a:spLocks noGrp="1" noChangeArrowheads="1"/>
          </p:cNvSpPr>
          <p:nvPr/>
        </p:nvSpPr>
        <p:spPr bwMode="auto">
          <a:xfrm>
            <a:off x="4011160" y="8896201"/>
            <a:ext cx="3065916" cy="4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09" tIns="46955" rIns="93909" bIns="46955" anchor="b"/>
          <a:lstStyle>
            <a:lvl1pPr>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lgn="r"/>
            <a:fld id="{500DFA9D-6D5B-4797-B1CA-7EEB8BD7226F}" type="slidenum">
              <a:rPr lang="en-US" altLang="en-US" sz="1200"/>
              <a:pPr algn="r"/>
              <a:t>17</a:t>
            </a:fld>
            <a:endParaRPr lang="en-US" altLang="en-US" sz="1200"/>
          </a:p>
        </p:txBody>
      </p:sp>
      <p:sp>
        <p:nvSpPr>
          <p:cNvPr id="159747" name="Rectangle 2"/>
          <p:cNvSpPr>
            <a:spLocks noGrp="1" noRot="1" noChangeAspect="1" noChangeArrowheads="1" noTextEdit="1"/>
          </p:cNvSpPr>
          <p:nvPr>
            <p:ph type="sldImg"/>
          </p:nvPr>
        </p:nvSpPr>
        <p:spPr>
          <a:ln/>
        </p:spPr>
      </p:sp>
      <p:sp>
        <p:nvSpPr>
          <p:cNvPr id="159748"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One solution to the problem depicted in Figure 6.21c, shown in Figure 6.22a, is to model assignment as a weak entity identified by section, and to add a relationship </a:t>
            </a:r>
            <a:r>
              <a:rPr lang="en-US" b="1" dirty="0" err="1" smtClean="0"/>
              <a:t>marks_in</a:t>
            </a:r>
            <a:r>
              <a:rPr lang="en-US" b="1" dirty="0" smtClean="0"/>
              <a:t> </a:t>
            </a:r>
            <a:r>
              <a:rPr lang="en-US" b="1" dirty="0" smtClean="0"/>
              <a:t>between assignment and student; the relationship would have an attribute marks. An alternative solution, shown in Figure 6.22d, is to use a multivalued composite attribute {assignment marks} to takes, where assignment marks has component attributes assignment and marks. Modeling an assignment as a weak entity is preferable in this case, since it allows recording other information about the assignment, such as maximum marks or deadlines </a:t>
            </a: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b="0" i="1" u="sng" dirty="0" smtClean="0"/>
              <a:t>When an E-R diagram becomes too big to draw in a single piece, it makes sense to break it up into pieces, each showing part of the E-R model. When doing so, you may need to depict an entity set in more than one page. </a:t>
            </a:r>
            <a:r>
              <a:rPr lang="en-US" dirty="0" smtClean="0"/>
              <a:t>As discussed in Section 6.2.2, attributes of the entity set should be shown only once, in its first occurrence. </a:t>
            </a:r>
            <a:r>
              <a:rPr lang="en-US" dirty="0" err="1" smtClean="0"/>
              <a:t>Subsequent</a:t>
            </a:r>
            <a:r>
              <a:rPr lang="en-US" dirty="0" smtClean="0"/>
              <a:t> occurrences of the entity set should be shown without any attributes, to avoid repeating the same information at multiple places, which may lead to inconsistency</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509477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txBox="1">
            <a:spLocks noGrp="1" noChangeArrowheads="1"/>
          </p:cNvSpPr>
          <p:nvPr/>
        </p:nvSpPr>
        <p:spPr bwMode="auto">
          <a:xfrm>
            <a:off x="4011160" y="8896201"/>
            <a:ext cx="3065916" cy="4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09" tIns="46955" rIns="93909" bIns="46955" anchor="b"/>
          <a:lstStyle>
            <a:lvl1pPr>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lgn="r"/>
            <a:fld id="{ACD7BD46-B851-41F6-BDE0-EE3DE5BA6FCC}" type="slidenum">
              <a:rPr lang="en-US" altLang="en-US" sz="1200"/>
              <a:pPr algn="r"/>
              <a:t>18</a:t>
            </a:fld>
            <a:endParaRPr lang="en-US" altLang="en-US" sz="1200"/>
          </a:p>
        </p:txBody>
      </p:sp>
      <p:sp>
        <p:nvSpPr>
          <p:cNvPr id="160771" name="Rectangle 2"/>
          <p:cNvSpPr>
            <a:spLocks noGrp="1" noRot="1" noChangeAspect="1" noChangeArrowheads="1" noTextEdit="1"/>
          </p:cNvSpPr>
          <p:nvPr>
            <p:ph type="sldImg"/>
          </p:nvPr>
        </p:nvSpPr>
        <p:spPr>
          <a:ln/>
        </p:spPr>
      </p:sp>
      <p:sp>
        <p:nvSpPr>
          <p:cNvPr id="160772"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Consider the entity set instructor with the additional attribute phone number (Figure 6.23a.) It can be argued that a phone is an entity in its own right with attributes </a:t>
            </a:r>
            <a:r>
              <a:rPr lang="en-US" b="1" dirty="0" err="1" smtClean="0"/>
              <a:t>phone_number</a:t>
            </a:r>
            <a:r>
              <a:rPr lang="en-US" b="1" dirty="0" smtClean="0"/>
              <a:t> </a:t>
            </a:r>
            <a:r>
              <a:rPr lang="en-US" b="1" dirty="0" smtClean="0"/>
              <a:t>and location; the location may be the office or home where the phone is located, with mobile (cell) phones perhaps represented by the value “mobile.” If we take this point of view, we do not add the attribute phone number to the instructor. Rather, we create: </a:t>
            </a:r>
          </a:p>
          <a:p>
            <a:r>
              <a:rPr lang="en-US" b="1" dirty="0" smtClean="0"/>
              <a:t>• A phone entity set with attributes phone number and location. </a:t>
            </a:r>
          </a:p>
          <a:p>
            <a:r>
              <a:rPr lang="en-US" b="1" dirty="0" smtClean="0"/>
              <a:t>• A relationship set </a:t>
            </a:r>
            <a:r>
              <a:rPr lang="en-US" b="1" dirty="0" err="1" smtClean="0"/>
              <a:t>inst_phone</a:t>
            </a:r>
            <a:r>
              <a:rPr lang="en-US" b="1" dirty="0" smtClean="0"/>
              <a:t>, denoting the association between instructors and the phones that they have.</a:t>
            </a:r>
          </a:p>
          <a:p>
            <a:endParaRPr lang="en-US" dirty="0" smtClean="0"/>
          </a:p>
          <a:p>
            <a:r>
              <a:rPr lang="en-US" dirty="0" smtClean="0"/>
              <a:t>This alternative is shown in Figure 6.23b.- </a:t>
            </a:r>
            <a:r>
              <a:rPr lang="en-US" dirty="0" err="1" smtClean="0"/>
              <a:t>desna</a:t>
            </a:r>
            <a:r>
              <a:rPr lang="en-US" dirty="0" smtClean="0"/>
              <a:t> </a:t>
            </a:r>
            <a:r>
              <a:rPr lang="en-US" dirty="0" err="1" smtClean="0"/>
              <a:t>slika</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6316886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txBox="1">
            <a:spLocks noGrp="1" noChangeArrowheads="1"/>
          </p:cNvSpPr>
          <p:nvPr/>
        </p:nvSpPr>
        <p:spPr bwMode="auto">
          <a:xfrm>
            <a:off x="4011160" y="8896201"/>
            <a:ext cx="3065916" cy="4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09" tIns="46955" rIns="93909" bIns="46955" anchor="b"/>
          <a:lstStyle>
            <a:lvl1pPr>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lgn="r"/>
            <a:fld id="{B8506864-7409-4F31-A643-622503D4FBA6}" type="slidenum">
              <a:rPr lang="en-US" altLang="en-US" sz="1200"/>
              <a:pPr algn="r"/>
              <a:t>19</a:t>
            </a:fld>
            <a:endParaRPr lang="en-US" altLang="en-US" sz="1200"/>
          </a:p>
        </p:txBody>
      </p:sp>
      <p:sp>
        <p:nvSpPr>
          <p:cNvPr id="161795" name="Rectangle 2"/>
          <p:cNvSpPr>
            <a:spLocks noGrp="1" noRot="1" noChangeAspect="1" noChangeArrowheads="1" noTextEdit="1"/>
          </p:cNvSpPr>
          <p:nvPr>
            <p:ph type="sldImg"/>
          </p:nvPr>
        </p:nvSpPr>
        <p:spPr>
          <a:ln/>
        </p:spPr>
      </p:sp>
      <p:sp>
        <p:nvSpPr>
          <p:cNvPr id="161796"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It is not always clear whether an object is best expressed by an entity set or a relationship set. In Figure 6.15, we used the takes relationship set to model the situation where a student takes a (section of a) course. An alternative is to imagine that there is a course registration record for each course that each student takes. Then, we have an entity set to represent the course-registration record. Let us call that entity set registration. Each registration entity is related to exactly one student and to exactly one section, so we have two relationship sets, one to relate course-registration records to students and one to relate course-registration records to sections. In Figure 6.24, we show the entity sets section and student from Figure 6.15 with the takes relationship set replaced by one entity set and two relationship sets: </a:t>
            </a:r>
          </a:p>
          <a:p>
            <a:pPr marL="171450" indent="-171450">
              <a:buFont typeface="Arial" panose="020B0604020202020204" pitchFamily="34" charset="0"/>
              <a:buChar char="•"/>
            </a:pPr>
            <a:r>
              <a:rPr lang="en-US" b="1" dirty="0" smtClean="0"/>
              <a:t>registration, the entity set representing course-registration records. </a:t>
            </a:r>
          </a:p>
          <a:p>
            <a:pPr marL="171450" indent="-171450">
              <a:buFont typeface="Arial" panose="020B0604020202020204" pitchFamily="34" charset="0"/>
              <a:buChar char="•"/>
            </a:pPr>
            <a:r>
              <a:rPr lang="en-US" b="1" dirty="0" err="1" smtClean="0"/>
              <a:t>Section_reg</a:t>
            </a:r>
            <a:r>
              <a:rPr lang="en-US" b="1" dirty="0" smtClean="0"/>
              <a:t>, the relationship set relating registration and course. </a:t>
            </a:r>
          </a:p>
          <a:p>
            <a:pPr marL="171450" indent="-171450">
              <a:buFont typeface="Arial" panose="020B0604020202020204" pitchFamily="34" charset="0"/>
              <a:buChar char="•"/>
            </a:pPr>
            <a:r>
              <a:rPr lang="en-US" b="1" dirty="0" err="1" smtClean="0"/>
              <a:t>Student_reg</a:t>
            </a:r>
            <a:r>
              <a:rPr lang="en-US" b="1" dirty="0" smtClean="0"/>
              <a:t>, the relationship set relating registration and student.</a:t>
            </a:r>
          </a:p>
          <a:p>
            <a:pPr marL="171450" indent="-171450">
              <a:buFont typeface="Arial" panose="020B0604020202020204" pitchFamily="34" charset="0"/>
              <a:buChar char="•"/>
            </a:pPr>
            <a:endParaRPr lang="en-US" altLang="en-US" dirty="0" smtClean="0">
              <a:latin typeface="Times New Roman" panose="02020603050405020304" pitchFamily="18" charset="0"/>
            </a:endParaRPr>
          </a:p>
          <a:p>
            <a:pPr marL="0" indent="0">
              <a:buFont typeface="Arial" panose="020B0604020202020204" pitchFamily="34" charset="0"/>
              <a:buNone/>
            </a:pP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8566977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txBox="1">
            <a:spLocks noGrp="1" noChangeArrowheads="1"/>
          </p:cNvSpPr>
          <p:nvPr/>
        </p:nvSpPr>
        <p:spPr bwMode="auto">
          <a:xfrm>
            <a:off x="4011160" y="8896201"/>
            <a:ext cx="3065916" cy="4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09" tIns="46955" rIns="93909" bIns="46955" anchor="b"/>
          <a:lstStyle>
            <a:lvl1pPr>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lgn="r"/>
            <a:fld id="{7DB985E1-F95E-4DDA-9035-000ADC85BF1B}" type="slidenum">
              <a:rPr lang="en-US" altLang="en-US" sz="1200"/>
              <a:pPr algn="r"/>
              <a:t>20</a:t>
            </a:fld>
            <a:endParaRPr lang="en-US" altLang="en-US" sz="1200"/>
          </a:p>
        </p:txBody>
      </p:sp>
      <p:sp>
        <p:nvSpPr>
          <p:cNvPr id="162819" name="Rectangle 2"/>
          <p:cNvSpPr>
            <a:spLocks noGrp="1" noRot="1" noChangeAspect="1" noChangeArrowheads="1" noTextEdit="1"/>
          </p:cNvSpPr>
          <p:nvPr>
            <p:ph type="sldImg"/>
          </p:nvPr>
        </p:nvSpPr>
        <p:spPr>
          <a:ln/>
        </p:spPr>
      </p:sp>
      <p:sp>
        <p:nvSpPr>
          <p:cNvPr id="162820"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Relationships in databases are often binary. Some relationships that appear to be non-binary could actually be better represented by several binary relationships. For instance, one could create a ternary relationship parent, relating a child to his/her mother and father. However, such a relationship could also be represented by two binary relationships, mother and father, relating a child to his/her mother and father separately. Using the two relationships mother and father provides us with a record of a child’s mother, even if we are not aware of the father’s identity; a null value would be required if the ternary relationship parent were used. Using binary relationship sets is preferable in this case.</a:t>
            </a:r>
          </a:p>
        </p:txBody>
      </p:sp>
    </p:spTree>
    <p:extLst>
      <p:ext uri="{BB962C8B-B14F-4D97-AF65-F5344CB8AC3E}">
        <p14:creationId xmlns:p14="http://schemas.microsoft.com/office/powerpoint/2010/main" val="13146250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txBox="1">
            <a:spLocks noGrp="1" noChangeArrowheads="1"/>
          </p:cNvSpPr>
          <p:nvPr/>
        </p:nvSpPr>
        <p:spPr bwMode="auto">
          <a:xfrm>
            <a:off x="4011160" y="8896201"/>
            <a:ext cx="3065916" cy="4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09" tIns="46955" rIns="93909" bIns="46955" anchor="b"/>
          <a:lstStyle>
            <a:lvl1pPr>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lgn="r"/>
            <a:fld id="{AA716B33-9885-4347-A6EC-10A44624E185}" type="slidenum">
              <a:rPr lang="en-US" altLang="en-US" sz="1200"/>
              <a:pPr algn="r"/>
              <a:t>21</a:t>
            </a:fld>
            <a:endParaRPr lang="en-US" altLang="en-US" sz="1200"/>
          </a:p>
        </p:txBody>
      </p:sp>
      <p:sp>
        <p:nvSpPr>
          <p:cNvPr id="163843" name="Rectangle 2"/>
          <p:cNvSpPr>
            <a:spLocks noGrp="1" noRot="1" noChangeAspect="1" noChangeArrowheads="1" noTextEdit="1"/>
          </p:cNvSpPr>
          <p:nvPr>
            <p:ph type="sldImg"/>
          </p:nvPr>
        </p:nvSpPr>
        <p:spPr>
          <a:ln/>
        </p:spPr>
      </p:sp>
      <p:sp>
        <p:nvSpPr>
          <p:cNvPr id="163844"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In fact, it is always possible to replace a </a:t>
            </a:r>
            <a:r>
              <a:rPr lang="en-US" b="1" dirty="0" err="1" smtClean="0"/>
              <a:t>nonbinary</a:t>
            </a:r>
            <a:r>
              <a:rPr lang="en-US" b="1" dirty="0" smtClean="0"/>
              <a:t> (n-</a:t>
            </a:r>
            <a:r>
              <a:rPr lang="en-US" b="1" dirty="0" err="1" smtClean="0"/>
              <a:t>ary</a:t>
            </a:r>
            <a:r>
              <a:rPr lang="en-US" b="1" dirty="0" smtClean="0"/>
              <a:t>, for n &gt; 2) relationship set by a number of distinct binary relationship sets. For simplicity, consider the abstract ternary (n = 3) relationship set R, relating entity sets A, B, and C. We replace the relationship set R with an entity set E, and we create three relationship sets as shown in Figure 6.25:</a:t>
            </a:r>
          </a:p>
          <a:p>
            <a:r>
              <a:rPr lang="en-US" b="1" dirty="0" smtClean="0"/>
              <a:t>• RA, a many-to-one relationship set from E to A. </a:t>
            </a:r>
          </a:p>
          <a:p>
            <a:r>
              <a:rPr lang="en-US" b="1" dirty="0" smtClean="0"/>
              <a:t>• RB, a many-to-one relationship set from E to B. </a:t>
            </a:r>
          </a:p>
          <a:p>
            <a:r>
              <a:rPr lang="en-US" b="1" dirty="0" smtClean="0"/>
              <a:t>• RC, a many-to-one relationship set from E to C.</a:t>
            </a:r>
            <a:endParaRPr lang="en-US" altLang="en-US" b="1" dirty="0" smtClean="0">
              <a:latin typeface="Times New Roman" panose="02020603050405020304" pitchFamily="18" charset="0"/>
            </a:endParaRPr>
          </a:p>
          <a:p>
            <a:endParaRPr lang="en-US" altLang="en-US" b="1" dirty="0" smtClean="0">
              <a:latin typeface="Times New Roman" panose="02020603050405020304" pitchFamily="18" charset="0"/>
            </a:endParaRPr>
          </a:p>
          <a:p>
            <a:r>
              <a:rPr lang="en-US" b="1" dirty="0" smtClean="0"/>
              <a:t>E is required to have total participation in each of RA, RB, and RC. If the relationship set R had any attributes, these are assigned to entity set E; further, a special identifying attribute is created for E (since it must be possible to distinguish different entities in an entity set on the basis of their attribute values). For each relationship (</a:t>
            </a:r>
            <a:r>
              <a:rPr lang="en-US" b="1" dirty="0" err="1" smtClean="0"/>
              <a:t>ai</a:t>
            </a:r>
            <a:r>
              <a:rPr lang="en-US" b="1" dirty="0" smtClean="0"/>
              <a:t> , bi ,ci ) in the relationship set R, we create a new entity </a:t>
            </a:r>
            <a:r>
              <a:rPr lang="en-US" b="1" dirty="0" err="1" smtClean="0"/>
              <a:t>ei</a:t>
            </a:r>
            <a:r>
              <a:rPr lang="en-US" b="1" dirty="0" smtClean="0"/>
              <a:t> in the entity set E. Then, in each of the three new relationship sets, we insert a relationship as follows:</a:t>
            </a:r>
          </a:p>
          <a:p>
            <a:pPr lvl="1"/>
            <a:r>
              <a:rPr lang="it-IT" b="1" dirty="0" smtClean="0"/>
              <a:t>• (ei , ai ) in RA. </a:t>
            </a:r>
          </a:p>
          <a:p>
            <a:pPr lvl="1"/>
            <a:r>
              <a:rPr lang="it-IT" b="1" dirty="0" smtClean="0"/>
              <a:t>• (ei , bi ) in RB. </a:t>
            </a:r>
          </a:p>
          <a:p>
            <a:pPr lvl="1"/>
            <a:r>
              <a:rPr lang="it-IT" b="1" dirty="0" smtClean="0"/>
              <a:t>• (ei ,ci ) in RC.</a:t>
            </a:r>
            <a:endParaRPr lang="en-US" altLang="en-US" b="1" dirty="0">
              <a:latin typeface="Times New Roman" panose="02020603050405020304" pitchFamily="18" charset="0"/>
            </a:endParaRPr>
          </a:p>
        </p:txBody>
      </p:sp>
    </p:spTree>
    <p:extLst>
      <p:ext uri="{BB962C8B-B14F-4D97-AF65-F5344CB8AC3E}">
        <p14:creationId xmlns:p14="http://schemas.microsoft.com/office/powerpoint/2010/main" val="17748620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txBox="1">
            <a:spLocks noGrp="1" noChangeArrowheads="1"/>
          </p:cNvSpPr>
          <p:nvPr/>
        </p:nvSpPr>
        <p:spPr bwMode="auto">
          <a:xfrm>
            <a:off x="4011160" y="8896201"/>
            <a:ext cx="3065916" cy="4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09" tIns="46955" rIns="93909" bIns="46955" anchor="b"/>
          <a:lstStyle>
            <a:lvl1pPr>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lgn="r"/>
            <a:fld id="{CABF513D-38FF-41B0-951F-F069DAE8A50D}" type="slidenum">
              <a:rPr lang="en-US" altLang="en-US" sz="1200"/>
              <a:pPr algn="r"/>
              <a:t>22</a:t>
            </a:fld>
            <a:endParaRPr lang="en-US" altLang="en-US" sz="1200"/>
          </a:p>
        </p:txBody>
      </p:sp>
      <p:sp>
        <p:nvSpPr>
          <p:cNvPr id="164867" name="Rectangle 2"/>
          <p:cNvSpPr>
            <a:spLocks noGrp="1" noRot="1" noChangeAspect="1" noChangeArrowheads="1" noTextEdit="1"/>
          </p:cNvSpPr>
          <p:nvPr>
            <p:ph type="sldImg"/>
          </p:nvPr>
        </p:nvSpPr>
        <p:spPr>
          <a:ln/>
        </p:spPr>
      </p:sp>
      <p:sp>
        <p:nvSpPr>
          <p:cNvPr id="164868"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i="1" dirty="0" smtClean="0"/>
              <a:t>We can generalize this process in a straightforward manner to n-</a:t>
            </a:r>
            <a:r>
              <a:rPr lang="en-US" b="1" i="1" dirty="0" err="1" smtClean="0"/>
              <a:t>ary</a:t>
            </a:r>
            <a:r>
              <a:rPr lang="en-US" b="1" i="1" dirty="0" smtClean="0"/>
              <a:t> relationship sets. Thus, conceptually, we can restrict the E-R model to include only binary relationship sets. However, this restriction is not always desirable.</a:t>
            </a:r>
          </a:p>
          <a:p>
            <a:endParaRPr lang="en-US" altLang="en-US" b="1" i="1" dirty="0" smtClean="0">
              <a:latin typeface="Times New Roman" panose="02020603050405020304" pitchFamily="18" charset="0"/>
            </a:endParaRPr>
          </a:p>
          <a:p>
            <a:r>
              <a:rPr lang="en-US" b="1" i="1" dirty="0" smtClean="0"/>
              <a:t>• An identifying attribute may have to be created for the entity set created to represent the relationship set. This attribute, along with the extra relationship sets required, increases the complexity of the design and (as we shall see in Section 6.7) overall storage requirements. </a:t>
            </a:r>
          </a:p>
          <a:p>
            <a:r>
              <a:rPr lang="en-US" b="1" i="1" dirty="0" smtClean="0"/>
              <a:t>• An n-</a:t>
            </a:r>
            <a:r>
              <a:rPr lang="en-US" b="1" i="1" dirty="0" err="1" smtClean="0"/>
              <a:t>ary</a:t>
            </a:r>
            <a:r>
              <a:rPr lang="en-US" b="1" i="1" dirty="0" smtClean="0"/>
              <a:t> relationship set shows more clearly that several entities participate in a single relationship. </a:t>
            </a:r>
          </a:p>
          <a:p>
            <a:r>
              <a:rPr lang="en-US" b="1" i="1" dirty="0" smtClean="0"/>
              <a:t>• </a:t>
            </a:r>
            <a:r>
              <a:rPr lang="en-US" b="1" i="0" dirty="0" smtClean="0"/>
              <a:t>There may not be a way to translate constraints on the ternary relationship into constraints on the binary relationships</a:t>
            </a:r>
            <a:r>
              <a:rPr lang="en-US" b="1" i="1" dirty="0" smtClean="0"/>
              <a:t>. </a:t>
            </a:r>
            <a:r>
              <a:rPr lang="en-US" b="0" i="1" u="sng" dirty="0" smtClean="0"/>
              <a:t>For example, consider a constraint that says that R is many-to-one from A, B to C; that is, each pair of entities from A and B is associated with at most one C entity. This constraint cannot be expressed by using cardinality constraints on the relationship sets RA, RB, and RC.</a:t>
            </a:r>
            <a:endParaRPr lang="en-US" altLang="en-US" b="0" i="1" u="sng" dirty="0">
              <a:latin typeface="Times New Roman" panose="02020603050405020304" pitchFamily="18" charset="0"/>
            </a:endParaRPr>
          </a:p>
        </p:txBody>
      </p:sp>
    </p:spTree>
    <p:extLst>
      <p:ext uri="{BB962C8B-B14F-4D97-AF65-F5344CB8AC3E}">
        <p14:creationId xmlns:p14="http://schemas.microsoft.com/office/powerpoint/2010/main" val="26765547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093">
              <a:defRPr sz="1600">
                <a:solidFill>
                  <a:schemeClr val="tx1"/>
                </a:solidFill>
                <a:latin typeface="Helvetica" panose="020B0604020202020204" pitchFamily="34" charset="0"/>
                <a:ea typeface="ＭＳ Ｐゴシック" panose="020B0600070205080204" pitchFamily="34" charset="-128"/>
              </a:defRPr>
            </a:lvl1pPr>
            <a:lvl2pPr marL="750157" indent="-288522" defTabSz="936093">
              <a:defRPr sz="1600">
                <a:solidFill>
                  <a:schemeClr val="tx1"/>
                </a:solidFill>
                <a:latin typeface="Helvetica" panose="020B0604020202020204" pitchFamily="34" charset="0"/>
                <a:ea typeface="ＭＳ Ｐゴシック" panose="020B0600070205080204" pitchFamily="34" charset="-128"/>
              </a:defRPr>
            </a:lvl2pPr>
            <a:lvl3pPr marL="1154087" indent="-230817" defTabSz="936093">
              <a:defRPr sz="1600">
                <a:solidFill>
                  <a:schemeClr val="tx1"/>
                </a:solidFill>
                <a:latin typeface="Helvetica" panose="020B0604020202020204" pitchFamily="34" charset="0"/>
                <a:ea typeface="ＭＳ Ｐゴシック" panose="020B0600070205080204" pitchFamily="34" charset="-128"/>
              </a:defRPr>
            </a:lvl3pPr>
            <a:lvl4pPr marL="1615722" indent="-230817" defTabSz="936093">
              <a:defRPr sz="1600">
                <a:solidFill>
                  <a:schemeClr val="tx1"/>
                </a:solidFill>
                <a:latin typeface="Helvetica" panose="020B0604020202020204" pitchFamily="34" charset="0"/>
                <a:ea typeface="ＭＳ Ｐゴシック" panose="020B0600070205080204" pitchFamily="34" charset="-128"/>
              </a:defRPr>
            </a:lvl4pPr>
            <a:lvl5pPr marL="2077357" indent="-230817" defTabSz="936093">
              <a:defRPr sz="1600">
                <a:solidFill>
                  <a:schemeClr val="tx1"/>
                </a:solidFill>
                <a:latin typeface="Helvetica" panose="020B0604020202020204" pitchFamily="34" charset="0"/>
                <a:ea typeface="ＭＳ Ｐゴシック" panose="020B0600070205080204" pitchFamily="34" charset="-128"/>
              </a:defRPr>
            </a:lvl5pPr>
            <a:lvl6pPr marL="2538992"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300062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62261"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92389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AFAD77A2-2119-4E7C-B11C-A31372FFAE35}" type="slidenum">
              <a:rPr lang="en-US" altLang="en-US" sz="1200"/>
              <a:pPr/>
              <a:t>23</a:t>
            </a:fld>
            <a:endParaRPr lang="en-US" altLang="en-US" sz="1200"/>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mk-MK" altLang="en-US" dirty="0" smtClean="0">
                <a:latin typeface="Times New Roman" panose="02020603050405020304" pitchFamily="18" charset="0"/>
              </a:rPr>
              <a:t>Нема</a:t>
            </a:r>
          </a:p>
          <a:p>
            <a:r>
              <a:rPr lang="en-US" b="1" i="1" dirty="0" smtClean="0"/>
              <a:t>A diagrammatic representation of the data model of an application is a very important part of designing a database schema. Creation of a database schema requires not only data modeling experts, but also domain experts who know the requirements of the application but may not be familiar with data modeling. An intuitive diagrammatic representation is particularly important since it eases communication of information between these groups of experts. A number of alternative notations for modeling data have been proposed, of which E-R diagrams and UML class diagrams are the most widely used. There is no universal standard for E-R diagram notation, and different books and E-R diagram software use different notations. In the rest of this section, we study some of the alternative E-R diagram notations, as well as the UML class diagram notation. </a:t>
            </a:r>
            <a:r>
              <a:rPr lang="en-US" dirty="0" smtClean="0"/>
              <a:t>To aid in comparison of our notation with these alternatives, Figure 6.26 summarizes the set of symbols we have used in our E-R diagram notation.</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1968947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093">
              <a:defRPr sz="1600">
                <a:solidFill>
                  <a:schemeClr val="tx1"/>
                </a:solidFill>
                <a:latin typeface="Helvetica" panose="020B0604020202020204" pitchFamily="34" charset="0"/>
                <a:ea typeface="ＭＳ Ｐゴシック" panose="020B0600070205080204" pitchFamily="34" charset="-128"/>
              </a:defRPr>
            </a:lvl1pPr>
            <a:lvl2pPr marL="750157" indent="-288522" defTabSz="936093">
              <a:defRPr sz="1600">
                <a:solidFill>
                  <a:schemeClr val="tx1"/>
                </a:solidFill>
                <a:latin typeface="Helvetica" panose="020B0604020202020204" pitchFamily="34" charset="0"/>
                <a:ea typeface="ＭＳ Ｐゴシック" panose="020B0600070205080204" pitchFamily="34" charset="-128"/>
              </a:defRPr>
            </a:lvl2pPr>
            <a:lvl3pPr marL="1154087" indent="-230817" defTabSz="936093">
              <a:defRPr sz="1600">
                <a:solidFill>
                  <a:schemeClr val="tx1"/>
                </a:solidFill>
                <a:latin typeface="Helvetica" panose="020B0604020202020204" pitchFamily="34" charset="0"/>
                <a:ea typeface="ＭＳ Ｐゴシック" panose="020B0600070205080204" pitchFamily="34" charset="-128"/>
              </a:defRPr>
            </a:lvl3pPr>
            <a:lvl4pPr marL="1615722" indent="-230817" defTabSz="936093">
              <a:defRPr sz="1600">
                <a:solidFill>
                  <a:schemeClr val="tx1"/>
                </a:solidFill>
                <a:latin typeface="Helvetica" panose="020B0604020202020204" pitchFamily="34" charset="0"/>
                <a:ea typeface="ＭＳ Ｐゴシック" panose="020B0600070205080204" pitchFamily="34" charset="-128"/>
              </a:defRPr>
            </a:lvl4pPr>
            <a:lvl5pPr marL="2077357" indent="-230817" defTabSz="936093">
              <a:defRPr sz="1600">
                <a:solidFill>
                  <a:schemeClr val="tx1"/>
                </a:solidFill>
                <a:latin typeface="Helvetica" panose="020B0604020202020204" pitchFamily="34" charset="0"/>
                <a:ea typeface="ＭＳ Ｐゴシック" panose="020B0600070205080204" pitchFamily="34" charset="-128"/>
              </a:defRPr>
            </a:lvl5pPr>
            <a:lvl6pPr marL="2538992"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300062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62261"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92389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46605841-5CB7-4C7A-924F-2C7512868176}" type="slidenum">
              <a:rPr lang="en-US" altLang="en-US" sz="1200"/>
              <a:pPr/>
              <a:t>24</a:t>
            </a:fld>
            <a:endParaRPr lang="en-US" altLang="en-US" sz="1200"/>
          </a:p>
        </p:txBody>
      </p:sp>
      <p:sp>
        <p:nvSpPr>
          <p:cNvPr id="171011" name="Rectangle 2"/>
          <p:cNvSpPr>
            <a:spLocks noGrp="1" noRot="1" noChangeAspect="1" noChangeArrowheads="1" noTextEdit="1"/>
          </p:cNvSpPr>
          <p:nvPr>
            <p:ph type="sldImg"/>
          </p:nvPr>
        </p:nvSpPr>
        <p:spPr>
          <a:ln/>
        </p:spPr>
      </p:sp>
      <p:sp>
        <p:nvSpPr>
          <p:cNvPr id="171012"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u="sng" dirty="0" smtClean="0"/>
              <a:t>Entity-relationship diagrams help model the data representation component of a software system. Data representation, however, forms only one part of an overall system design. Other components include models of user interactions with the system, specification of functional modules of the system and their interaction, etc. The Unified Modeling Language (UML) is a standard developed under the auspices of the Object Management Group (OMG) for creating specifications of various components of a software system. Some of the parts of UML are: </a:t>
            </a:r>
          </a:p>
          <a:p>
            <a:r>
              <a:rPr lang="en-US" dirty="0" smtClean="0"/>
              <a:t>• </a:t>
            </a:r>
            <a:r>
              <a:rPr lang="en-US" b="1" dirty="0" smtClean="0"/>
              <a:t>Class diagram</a:t>
            </a:r>
            <a:r>
              <a:rPr lang="en-US" dirty="0" smtClean="0"/>
              <a:t>. A class diagram is similar to an E-R diagram. Later in this section we illustrate a few features of class diagrams and how they relate to E-R diagrams. </a:t>
            </a:r>
          </a:p>
          <a:p>
            <a:r>
              <a:rPr lang="en-US" dirty="0" smtClean="0"/>
              <a:t>• </a:t>
            </a:r>
            <a:r>
              <a:rPr lang="en-US" b="1" dirty="0" smtClean="0"/>
              <a:t>Use case diagram. </a:t>
            </a:r>
            <a:r>
              <a:rPr lang="en-US" dirty="0" smtClean="0"/>
              <a:t>Use case diagrams show the interaction between users and the system, in particular the steps of tasks that users perform (such as withdrawing money or registering for a course). </a:t>
            </a:r>
          </a:p>
          <a:p>
            <a:r>
              <a:rPr lang="en-US" dirty="0" smtClean="0"/>
              <a:t>• </a:t>
            </a:r>
            <a:r>
              <a:rPr lang="en-US" b="1" dirty="0" smtClean="0"/>
              <a:t>Activity diagram</a:t>
            </a:r>
            <a:r>
              <a:rPr lang="en-US" dirty="0" smtClean="0"/>
              <a:t>. Activity diagrams depict the flow of tasks between various components of a system.</a:t>
            </a:r>
          </a:p>
          <a:p>
            <a:r>
              <a:rPr lang="en-US" dirty="0" smtClean="0"/>
              <a:t>• </a:t>
            </a:r>
            <a:r>
              <a:rPr lang="en-US" b="1" dirty="0" smtClean="0"/>
              <a:t>Implementation diagram</a:t>
            </a:r>
            <a:r>
              <a:rPr lang="en-US" dirty="0" smtClean="0"/>
              <a:t>. Implementation diagrams show the system components and their interconnections, both at the software component level and the hardware component level.</a:t>
            </a: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6681583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093">
              <a:defRPr sz="1600">
                <a:solidFill>
                  <a:schemeClr val="tx1"/>
                </a:solidFill>
                <a:latin typeface="Helvetica" panose="020B0604020202020204" pitchFamily="34" charset="0"/>
                <a:ea typeface="ＭＳ Ｐゴシック" panose="020B0600070205080204" pitchFamily="34" charset="-128"/>
              </a:defRPr>
            </a:lvl1pPr>
            <a:lvl2pPr marL="750157" indent="-288522" defTabSz="936093">
              <a:defRPr sz="1600">
                <a:solidFill>
                  <a:schemeClr val="tx1"/>
                </a:solidFill>
                <a:latin typeface="Helvetica" panose="020B0604020202020204" pitchFamily="34" charset="0"/>
                <a:ea typeface="ＭＳ Ｐゴシック" panose="020B0600070205080204" pitchFamily="34" charset="-128"/>
              </a:defRPr>
            </a:lvl2pPr>
            <a:lvl3pPr marL="1154087" indent="-230817" defTabSz="936093">
              <a:defRPr sz="1600">
                <a:solidFill>
                  <a:schemeClr val="tx1"/>
                </a:solidFill>
                <a:latin typeface="Helvetica" panose="020B0604020202020204" pitchFamily="34" charset="0"/>
                <a:ea typeface="ＭＳ Ｐゴシック" panose="020B0600070205080204" pitchFamily="34" charset="-128"/>
              </a:defRPr>
            </a:lvl3pPr>
            <a:lvl4pPr marL="1615722" indent="-230817" defTabSz="936093">
              <a:defRPr sz="1600">
                <a:solidFill>
                  <a:schemeClr val="tx1"/>
                </a:solidFill>
                <a:latin typeface="Helvetica" panose="020B0604020202020204" pitchFamily="34" charset="0"/>
                <a:ea typeface="ＭＳ Ｐゴシック" panose="020B0600070205080204" pitchFamily="34" charset="-128"/>
              </a:defRPr>
            </a:lvl4pPr>
            <a:lvl5pPr marL="2077357" indent="-230817" defTabSz="936093">
              <a:defRPr sz="1600">
                <a:solidFill>
                  <a:schemeClr val="tx1"/>
                </a:solidFill>
                <a:latin typeface="Helvetica" panose="020B0604020202020204" pitchFamily="34" charset="0"/>
                <a:ea typeface="ＭＳ Ｐゴシック" panose="020B0600070205080204" pitchFamily="34" charset="-128"/>
              </a:defRPr>
            </a:lvl5pPr>
            <a:lvl6pPr marL="2538992"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300062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62261"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92389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5D861502-E13A-4E4B-8A3F-EB8172491AE8}" type="slidenum">
              <a:rPr lang="en-US" altLang="en-US" sz="1200"/>
              <a:pPr/>
              <a:t>25</a:t>
            </a:fld>
            <a:endParaRPr lang="en-US" altLang="en-US" sz="1200"/>
          </a:p>
        </p:txBody>
      </p:sp>
      <p:sp>
        <p:nvSpPr>
          <p:cNvPr id="174083" name="Rectangle 2"/>
          <p:cNvSpPr>
            <a:spLocks noGrp="1" noRot="1" noChangeAspect="1" noChangeArrowheads="1" noTextEdit="1"/>
          </p:cNvSpPr>
          <p:nvPr>
            <p:ph type="sldImg"/>
          </p:nvPr>
        </p:nvSpPr>
        <p:spPr>
          <a:ln/>
        </p:spPr>
      </p:sp>
      <p:sp>
        <p:nvSpPr>
          <p:cNvPr id="174084"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u="sng" dirty="0" err="1" smtClean="0"/>
              <a:t>Slajd</a:t>
            </a:r>
            <a:endParaRPr lang="en-US" u="sng" dirty="0" smtClean="0"/>
          </a:p>
          <a:p>
            <a:endParaRPr lang="en-US" u="sng" dirty="0" smtClean="0"/>
          </a:p>
          <a:p>
            <a:r>
              <a:rPr lang="en-US" u="sng" dirty="0" smtClean="0"/>
              <a:t>Single </a:t>
            </a:r>
            <a:r>
              <a:rPr lang="en-US" u="sng" dirty="0" smtClean="0"/>
              <a:t>values such as 1 or ∗ may be written on edges; the single value 1 on an edge is treated as equivalent to 1..1, while ∗ is equivalent to 0.. ∗. UML supports generalization; the notation is basically the same as in our E-R notation, including the representation of disjoint and overlapping generalizations.</a:t>
            </a:r>
          </a:p>
          <a:p>
            <a:endParaRPr lang="en-US" altLang="en-US" dirty="0" smtClean="0">
              <a:latin typeface="Times New Roman" panose="02020603050405020304" pitchFamily="18" charset="0"/>
            </a:endParaRPr>
          </a:p>
          <a:p>
            <a:r>
              <a:rPr lang="en-US" b="1" u="sng" dirty="0" smtClean="0"/>
              <a:t>UML class diagrams include several other notations that approximately correspond to the E-R notations we have seen. A line between two entity sets with a small shaded diamond at one end in UML specifies “composition” in UML. </a:t>
            </a:r>
            <a:r>
              <a:rPr lang="en-US" i="1" u="sng" dirty="0" smtClean="0"/>
              <a:t>The composition relationship between E2 and E1 in Figure 6.28 indicates that E2 is existence dependent on E1; this is roughly equivalent to denoting E2 as a weak entity set that is existence</a:t>
            </a:r>
            <a:r>
              <a:rPr lang="en-US" i="1" u="sng" baseline="0" dirty="0">
                <a:latin typeface="Times New Roman" panose="02020603050405020304" pitchFamily="18" charset="0"/>
              </a:rPr>
              <a:t> </a:t>
            </a:r>
            <a:r>
              <a:rPr lang="en-US" i="1" u="sng" dirty="0" smtClean="0"/>
              <a:t>dependent on the identifying entity set E1. (The term aggregation in UML denotes a variant of composition where E2 is contained in E1 but may exist independently, and it is denoted using a small hollow diamond.)</a:t>
            </a:r>
          </a:p>
          <a:p>
            <a:endParaRPr lang="en-US" dirty="0" smtClean="0"/>
          </a:p>
          <a:p>
            <a:endParaRPr lang="en-US" dirty="0" smtClean="0"/>
          </a:p>
        </p:txBody>
      </p:sp>
    </p:spTree>
    <p:extLst>
      <p:ext uri="{BB962C8B-B14F-4D97-AF65-F5344CB8AC3E}">
        <p14:creationId xmlns:p14="http://schemas.microsoft.com/office/powerpoint/2010/main" val="31826259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6093">
              <a:defRPr sz="1600">
                <a:solidFill>
                  <a:schemeClr val="tx1"/>
                </a:solidFill>
                <a:latin typeface="Helvetica" panose="020B0604020202020204" pitchFamily="34" charset="0"/>
                <a:ea typeface="ＭＳ Ｐゴシック" panose="020B0600070205080204" pitchFamily="34" charset="-128"/>
              </a:defRPr>
            </a:lvl1pPr>
            <a:lvl2pPr marL="750157" indent="-288522" defTabSz="936093">
              <a:defRPr sz="1600">
                <a:solidFill>
                  <a:schemeClr val="tx1"/>
                </a:solidFill>
                <a:latin typeface="Helvetica" panose="020B0604020202020204" pitchFamily="34" charset="0"/>
                <a:ea typeface="ＭＳ Ｐゴシック" panose="020B0600070205080204" pitchFamily="34" charset="-128"/>
              </a:defRPr>
            </a:lvl2pPr>
            <a:lvl3pPr marL="1154087" indent="-230817" defTabSz="936093">
              <a:defRPr sz="1600">
                <a:solidFill>
                  <a:schemeClr val="tx1"/>
                </a:solidFill>
                <a:latin typeface="Helvetica" panose="020B0604020202020204" pitchFamily="34" charset="0"/>
                <a:ea typeface="ＭＳ Ｐゴシック" panose="020B0600070205080204" pitchFamily="34" charset="-128"/>
              </a:defRPr>
            </a:lvl3pPr>
            <a:lvl4pPr marL="1615722" indent="-230817" defTabSz="936093">
              <a:defRPr sz="1600">
                <a:solidFill>
                  <a:schemeClr val="tx1"/>
                </a:solidFill>
                <a:latin typeface="Helvetica" panose="020B0604020202020204" pitchFamily="34" charset="0"/>
                <a:ea typeface="ＭＳ Ｐゴシック" panose="020B0600070205080204" pitchFamily="34" charset="-128"/>
              </a:defRPr>
            </a:lvl4pPr>
            <a:lvl5pPr marL="2077357" indent="-230817" defTabSz="936093">
              <a:defRPr sz="1600">
                <a:solidFill>
                  <a:schemeClr val="tx1"/>
                </a:solidFill>
                <a:latin typeface="Helvetica" panose="020B0604020202020204" pitchFamily="34" charset="0"/>
                <a:ea typeface="ＭＳ Ｐゴシック" panose="020B0600070205080204" pitchFamily="34" charset="-128"/>
              </a:defRPr>
            </a:lvl5pPr>
            <a:lvl6pPr marL="2538992"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300062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62261"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923896" indent="-230817" defTabSz="936093"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47BADD71-F370-42F0-9F4D-D0E45F2310C4}" type="slidenum">
              <a:rPr lang="en-US" altLang="en-US" sz="1200"/>
              <a:pPr/>
              <a:t>26</a:t>
            </a:fld>
            <a:endParaRPr lang="en-US" altLang="en-US" sz="1200"/>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xfrm>
            <a:off x="941979" y="4448101"/>
            <a:ext cx="5193119" cy="421146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Functional Requirements </a:t>
            </a:r>
            <a:r>
              <a:rPr lang="en-US" b="1" i="1" dirty="0" smtClean="0"/>
              <a:t>All enterprises have rules on what kinds of functionality are to be supported by an enterprise application. These could include transactions that update the data, as well as queries to view data in a desired fashion. </a:t>
            </a:r>
            <a:r>
              <a:rPr lang="en-US" dirty="0" smtClean="0"/>
              <a:t>In addition to planning the functionality, designers have to plan the interfaces to be built to support the functionality.</a:t>
            </a:r>
          </a:p>
          <a:p>
            <a:endParaRPr lang="en-US" altLang="en-US" dirty="0" smtClean="0">
              <a:latin typeface="Times New Roman" panose="02020603050405020304" pitchFamily="18" charset="0"/>
            </a:endParaRPr>
          </a:p>
          <a:p>
            <a:r>
              <a:rPr lang="en-US" b="1" dirty="0" smtClean="0"/>
              <a:t>Data Flow, Workflow </a:t>
            </a:r>
            <a:r>
              <a:rPr lang="en-US" b="1" i="1" dirty="0" smtClean="0"/>
              <a:t>The term workflow refers to the combination of data and tasks involved in processes like those of the preceding examples. Workflows interact with the database system as they move among users and users perform their tasks on the workflow. </a:t>
            </a:r>
            <a:r>
              <a:rPr lang="en-US" dirty="0" smtClean="0"/>
              <a:t>In addition to the data on which workflows operate, the database may store data about the workflow itself, including the tasks making up a workflow and how they are to be routed among users. Workflows thus specify a series of queries and updates to the database that may be taken into account as part of the database-design process. </a:t>
            </a:r>
          </a:p>
          <a:p>
            <a:endParaRPr lang="en-US" dirty="0" smtClean="0"/>
          </a:p>
          <a:p>
            <a:r>
              <a:rPr lang="en-US" b="1" dirty="0" smtClean="0"/>
              <a:t>Schema Evolution </a:t>
            </a:r>
            <a:r>
              <a:rPr lang="en-US" b="1" i="1" dirty="0" smtClean="0"/>
              <a:t>Database design is usually not a one-time activity. The needs of an organization evolve continually, and the data that it needs to store also evolve correspondingly. During the initial database-design phases, or during the development of an application, the database designer may realize that changes are required at the conceptual, logical, or physical schema levels</a:t>
            </a:r>
            <a:r>
              <a:rPr lang="en-US" dirty="0" smtClean="0"/>
              <a:t>. Changes in the schema can affect all aspects of the database application. A good database design anticipates future needs of an organization and ensures that the schema requires minimal changes as the needs evolve.</a:t>
            </a: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6492997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defRPr sz="1600">
                <a:solidFill>
                  <a:schemeClr val="tx1"/>
                </a:solidFill>
                <a:latin typeface="Helvetica" panose="020B0604020202020204" pitchFamily="34" charset="0"/>
                <a:ea typeface="ＭＳ Ｐゴシック" panose="020B0600070205080204" pitchFamily="34" charset="-128"/>
              </a:defRPr>
            </a:lvl1pPr>
            <a:lvl2pPr marL="742950" indent="-285750" defTabSz="927100">
              <a:defRPr sz="1600">
                <a:solidFill>
                  <a:schemeClr val="tx1"/>
                </a:solidFill>
                <a:latin typeface="Helvetica" panose="020B0604020202020204" pitchFamily="34" charset="0"/>
                <a:ea typeface="ＭＳ Ｐゴシック" panose="020B0600070205080204" pitchFamily="34" charset="-128"/>
              </a:defRPr>
            </a:lvl2pPr>
            <a:lvl3pPr marL="1143000" indent="-228600" defTabSz="927100">
              <a:defRPr sz="1600">
                <a:solidFill>
                  <a:schemeClr val="tx1"/>
                </a:solidFill>
                <a:latin typeface="Helvetica" panose="020B0604020202020204" pitchFamily="34" charset="0"/>
                <a:ea typeface="ＭＳ Ｐゴシック" panose="020B0600070205080204" pitchFamily="34" charset="-128"/>
              </a:defRPr>
            </a:lvl3pPr>
            <a:lvl4pPr marL="1600200" indent="-228600" defTabSz="927100">
              <a:defRPr sz="1600">
                <a:solidFill>
                  <a:schemeClr val="tx1"/>
                </a:solidFill>
                <a:latin typeface="Helvetica" panose="020B0604020202020204" pitchFamily="34" charset="0"/>
                <a:ea typeface="ＭＳ Ｐゴシック" panose="020B0600070205080204" pitchFamily="34" charset="-128"/>
              </a:defRPr>
            </a:lvl4pPr>
            <a:lvl5pPr marL="2057400" indent="-228600" defTabSz="927100">
              <a:defRPr sz="1600">
                <a:solidFill>
                  <a:schemeClr val="tx1"/>
                </a:solidFill>
                <a:latin typeface="Helvetica" panose="020B0604020202020204" pitchFamily="34" charset="0"/>
                <a:ea typeface="ＭＳ Ｐゴシック" panose="020B0600070205080204" pitchFamily="34" charset="-128"/>
              </a:defRPr>
            </a:lvl5pPr>
            <a:lvl6pPr marL="25146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C7372408-51E1-415E-A2FF-CF1B7A173FF8}" type="slidenum">
              <a:rPr lang="en-US" altLang="en-US" sz="1200"/>
              <a:pPr/>
              <a:t>27</a:t>
            </a:fld>
            <a:endParaRPr lang="en-US" altLang="en-US" sz="1200"/>
          </a:p>
        </p:txBody>
      </p:sp>
      <p:sp>
        <p:nvSpPr>
          <p:cNvPr id="177155" name="Rectangle 2"/>
          <p:cNvSpPr>
            <a:spLocks noGrp="1" noRot="1" noChangeAspect="1" noChangeArrowheads="1" noTextEdit="1"/>
          </p:cNvSpPr>
          <p:nvPr>
            <p:ph type="sldImg"/>
          </p:nvPr>
        </p:nvSpPr>
        <p:spPr>
          <a:ln/>
        </p:spPr>
      </p:sp>
      <p:sp>
        <p:nvSpPr>
          <p:cNvPr id="177156"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A25BB261-D773-4836-B381-7A051175F570}"/>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5130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p>
        </p:txBody>
      </p:sp>
      <p:sp>
        <p:nvSpPr>
          <p:cNvPr id="8" name="Rectangle 5">
            <a:extLst>
              <a:ext uri="{FF2B5EF4-FFF2-40B4-BE49-F238E27FC236}">
                <a16:creationId xmlns:a16="http://schemas.microsoft.com/office/drawing/2014/main" id="{B4760F52-45E1-4E1D-A744-2F2290DE90CC}"/>
              </a:ext>
            </a:extLst>
          </p:cNvPr>
          <p:cNvSpPr>
            <a:spLocks noGrp="1" noChangeArrowheads="1"/>
          </p:cNvSpPr>
          <p:nvPr>
            <p:ph type="sldNum" sz="quarter" idx="11"/>
          </p:nvPr>
        </p:nvSpPr>
        <p:spPr>
          <a:xfrm>
            <a:off x="6596063" y="6218238"/>
            <a:ext cx="1905000" cy="457200"/>
          </a:xfrm>
        </p:spPr>
        <p:txBody>
          <a:bodyPr/>
          <a:lstStyle>
            <a:lvl1pPr>
              <a:defRPr>
                <a:solidFill>
                  <a:srgbClr val="578963"/>
                </a:solidFill>
              </a:defRPr>
            </a:lvl1pPr>
          </a:lstStyle>
          <a:p>
            <a:pPr>
              <a:defRPr/>
            </a:pPr>
            <a:fld id="{3B69BB99-A72A-4470-971F-83530C443C91}" type="slidenum">
              <a:rPr lang="en-US" altLang="en-US"/>
              <a:pPr>
                <a:defRPr/>
              </a:pPr>
              <a:t>‹#›</a:t>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13858" y="0"/>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0487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768350" y="1093788"/>
            <a:ext cx="7707313" cy="4903787"/>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Font typeface="Wingdings" panose="05000000000000000000" pitchFamily="2" charset="2"/>
              <a:buChar cha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24371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a16="http://schemas.microsoft.com/office/drawing/2014/main" id="{336F2EBE-FF5F-4F9D-A3C2-A59A92D7809D}"/>
              </a:ext>
            </a:extLst>
          </p:cNvPr>
          <p:cNvSpPr>
            <a:spLocks noGrp="1" noChangeArrowheads="1"/>
          </p:cNvSpPr>
          <p:nvPr>
            <p:ph type="sldNum" sz="quarter" idx="10"/>
          </p:nvPr>
        </p:nvSpPr>
        <p:spPr>
          <a:ln/>
        </p:spPr>
        <p:txBody>
          <a:bodyPr/>
          <a:lstStyle>
            <a:lvl1pPr>
              <a:defRPr/>
            </a:lvl1pPr>
          </a:lstStyle>
          <a:p>
            <a:pPr>
              <a:defRPr/>
            </a:pPr>
            <a:fld id="{547F3CAF-32BF-49A6-93F1-59C9E4B7C957}" type="slidenum">
              <a:rPr lang="en-US" altLang="en-US"/>
              <a:pPr>
                <a:defRPr/>
              </a:pPr>
              <a:t>‹#›</a:t>
            </a:fld>
            <a:endParaRPr lang="en-US" altLang="en-US"/>
          </a:p>
        </p:txBody>
      </p:sp>
    </p:spTree>
    <p:extLst>
      <p:ext uri="{BB962C8B-B14F-4D97-AF65-F5344CB8AC3E}">
        <p14:creationId xmlns:p14="http://schemas.microsoft.com/office/powerpoint/2010/main" val="2960709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4388" y="1093788"/>
            <a:ext cx="3754437"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1093788"/>
            <a:ext cx="3754438"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A6D4A7F0-1138-4608-80AA-D0A6F5D41187}"/>
              </a:ext>
            </a:extLst>
          </p:cNvPr>
          <p:cNvSpPr>
            <a:spLocks noGrp="1" noChangeArrowheads="1"/>
          </p:cNvSpPr>
          <p:nvPr>
            <p:ph type="sldNum" sz="quarter" idx="10"/>
          </p:nvPr>
        </p:nvSpPr>
        <p:spPr>
          <a:ln/>
        </p:spPr>
        <p:txBody>
          <a:bodyPr/>
          <a:lstStyle>
            <a:lvl1pPr>
              <a:defRPr/>
            </a:lvl1pPr>
          </a:lstStyle>
          <a:p>
            <a:pPr>
              <a:defRPr/>
            </a:pPr>
            <a:fld id="{00852D5F-D37B-4E9D-98AD-511A1ABBD6A9}" type="slidenum">
              <a:rPr lang="en-US" altLang="en-US"/>
              <a:pPr>
                <a:defRPr/>
              </a:pPr>
              <a:t>‹#›</a:t>
            </a:fld>
            <a:endParaRPr lang="en-US" altLang="en-US"/>
          </a:p>
        </p:txBody>
      </p:sp>
    </p:spTree>
    <p:extLst>
      <p:ext uri="{BB962C8B-B14F-4D97-AF65-F5344CB8AC3E}">
        <p14:creationId xmlns:p14="http://schemas.microsoft.com/office/powerpoint/2010/main" val="4110802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56DFCFB3-6710-4DD2-8404-7E55A930F352}"/>
              </a:ext>
            </a:extLst>
          </p:cNvPr>
          <p:cNvSpPr>
            <a:spLocks noGrp="1" noChangeArrowheads="1"/>
          </p:cNvSpPr>
          <p:nvPr>
            <p:ph type="sldNum" sz="quarter" idx="10"/>
          </p:nvPr>
        </p:nvSpPr>
        <p:spPr>
          <a:ln/>
        </p:spPr>
        <p:txBody>
          <a:bodyPr/>
          <a:lstStyle>
            <a:lvl1pPr>
              <a:defRPr/>
            </a:lvl1pPr>
          </a:lstStyle>
          <a:p>
            <a:pPr>
              <a:defRPr/>
            </a:pPr>
            <a:fld id="{C0191CCC-CC48-429B-87C9-7123B48E52D4}" type="slidenum">
              <a:rPr lang="en-US" altLang="en-US"/>
              <a:pPr>
                <a:defRPr/>
              </a:pPr>
              <a:t>‹#›</a:t>
            </a:fld>
            <a:endParaRPr lang="en-US" altLang="en-US"/>
          </a:p>
        </p:txBody>
      </p:sp>
    </p:spTree>
    <p:extLst>
      <p:ext uri="{BB962C8B-B14F-4D97-AF65-F5344CB8AC3E}">
        <p14:creationId xmlns:p14="http://schemas.microsoft.com/office/powerpoint/2010/main" val="2519042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BB431453-8F56-47C4-89BA-3EDF3CD092BA}"/>
              </a:ext>
            </a:extLst>
          </p:cNvPr>
          <p:cNvSpPr>
            <a:spLocks noGrp="1" noChangeArrowheads="1"/>
          </p:cNvSpPr>
          <p:nvPr>
            <p:ph type="sldNum" sz="quarter" idx="10"/>
          </p:nvPr>
        </p:nvSpPr>
        <p:spPr>
          <a:ln/>
        </p:spPr>
        <p:txBody>
          <a:bodyPr/>
          <a:lstStyle>
            <a:lvl1pPr>
              <a:defRPr/>
            </a:lvl1pPr>
          </a:lstStyle>
          <a:p>
            <a:pPr>
              <a:defRPr/>
            </a:pPr>
            <a:fld id="{5E9D92F0-DB25-4E6B-A10D-A7937AC7A365}" type="slidenum">
              <a:rPr lang="en-US" altLang="en-US"/>
              <a:pPr>
                <a:defRPr/>
              </a:pPr>
              <a:t>‹#›</a:t>
            </a:fld>
            <a:endParaRPr lang="en-US" altLang="en-US"/>
          </a:p>
        </p:txBody>
      </p:sp>
    </p:spTree>
    <p:extLst>
      <p:ext uri="{BB962C8B-B14F-4D97-AF65-F5344CB8AC3E}">
        <p14:creationId xmlns:p14="http://schemas.microsoft.com/office/powerpoint/2010/main" val="3836005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4BE8099E-18A5-481A-9697-216087BE0676}"/>
              </a:ext>
            </a:extLst>
          </p:cNvPr>
          <p:cNvSpPr>
            <a:spLocks noGrp="1" noChangeArrowheads="1"/>
          </p:cNvSpPr>
          <p:nvPr>
            <p:ph type="sldNum" sz="quarter" idx="10"/>
          </p:nvPr>
        </p:nvSpPr>
        <p:spPr>
          <a:ln/>
        </p:spPr>
        <p:txBody>
          <a:bodyPr/>
          <a:lstStyle>
            <a:lvl1pPr>
              <a:defRPr/>
            </a:lvl1pPr>
          </a:lstStyle>
          <a:p>
            <a:pPr>
              <a:defRPr/>
            </a:pPr>
            <a:fld id="{0E555C8E-F740-4D28-8DA3-D7B8E0F6F578}" type="slidenum">
              <a:rPr lang="en-US" altLang="en-US"/>
              <a:pPr>
                <a:defRPr/>
              </a:pPr>
              <a:t>‹#›</a:t>
            </a:fld>
            <a:endParaRPr lang="en-US" altLang="en-US"/>
          </a:p>
        </p:txBody>
      </p:sp>
    </p:spTree>
    <p:extLst>
      <p:ext uri="{BB962C8B-B14F-4D97-AF65-F5344CB8AC3E}">
        <p14:creationId xmlns:p14="http://schemas.microsoft.com/office/powerpoint/2010/main" val="2432147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7E2C57D-1205-411A-BA90-DF60A810F6DB}"/>
              </a:ext>
            </a:extLst>
          </p:cNvPr>
          <p:cNvSpPr>
            <a:spLocks noGrp="1" noChangeArrowheads="1"/>
          </p:cNvSpPr>
          <p:nvPr>
            <p:ph type="sldNum" sz="quarter" idx="10"/>
          </p:nvPr>
        </p:nvSpPr>
        <p:spPr>
          <a:ln/>
        </p:spPr>
        <p:txBody>
          <a:bodyPr/>
          <a:lstStyle>
            <a:lvl1pPr>
              <a:defRPr/>
            </a:lvl1pPr>
          </a:lstStyle>
          <a:p>
            <a:pPr>
              <a:defRPr/>
            </a:pPr>
            <a:fld id="{2BBBE5B0-1186-4DAB-9E97-511F15F5C63C}" type="slidenum">
              <a:rPr lang="en-US" altLang="en-US"/>
              <a:pPr>
                <a:defRPr/>
              </a:pPr>
              <a:t>‹#›</a:t>
            </a:fld>
            <a:endParaRPr lang="en-US" altLang="en-US"/>
          </a:p>
        </p:txBody>
      </p:sp>
    </p:spTree>
    <p:extLst>
      <p:ext uri="{BB962C8B-B14F-4D97-AF65-F5344CB8AC3E}">
        <p14:creationId xmlns:p14="http://schemas.microsoft.com/office/powerpoint/2010/main" val="1348809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9EB6957-06EE-46F8-A450-3DB417A1F8A6}"/>
              </a:ext>
            </a:extLst>
          </p:cNvPr>
          <p:cNvSpPr>
            <a:spLocks noGrp="1" noChangeArrowheads="1"/>
          </p:cNvSpPr>
          <p:nvPr>
            <p:ph type="sldNum" sz="quarter" idx="10"/>
          </p:nvPr>
        </p:nvSpPr>
        <p:spPr>
          <a:ln/>
        </p:spPr>
        <p:txBody>
          <a:bodyPr/>
          <a:lstStyle>
            <a:lvl1pPr>
              <a:defRPr/>
            </a:lvl1pPr>
          </a:lstStyle>
          <a:p>
            <a:pPr>
              <a:defRPr/>
            </a:pPr>
            <a:fld id="{F291DB2E-7BC4-4C22-ACAE-0B8B3F0C5147}" type="slidenum">
              <a:rPr lang="en-US" altLang="en-US"/>
              <a:pPr>
                <a:defRPr/>
              </a:pPr>
              <a:t>‹#›</a:t>
            </a:fld>
            <a:endParaRPr lang="en-US" altLang="en-US"/>
          </a:p>
        </p:txBody>
      </p:sp>
    </p:spTree>
    <p:extLst>
      <p:ext uri="{BB962C8B-B14F-4D97-AF65-F5344CB8AC3E}">
        <p14:creationId xmlns:p14="http://schemas.microsoft.com/office/powerpoint/2010/main" val="24814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85C950AD-734E-45C7-8042-5795FFAD6750}"/>
              </a:ext>
            </a:extLst>
          </p:cNvPr>
          <p:cNvSpPr>
            <a:spLocks noGrp="1" noChangeArrowheads="1"/>
          </p:cNvSpPr>
          <p:nvPr>
            <p:ph type="sldNum" sz="quarter" idx="10"/>
          </p:nvPr>
        </p:nvSpPr>
        <p:spPr>
          <a:ln/>
        </p:spPr>
        <p:txBody>
          <a:bodyPr/>
          <a:lstStyle>
            <a:lvl1pPr>
              <a:defRPr/>
            </a:lvl1pPr>
          </a:lstStyle>
          <a:p>
            <a:pPr>
              <a:defRPr/>
            </a:pPr>
            <a:fld id="{D7E5E31B-1343-4510-8DCD-65E7B6544692}" type="slidenum">
              <a:rPr lang="en-US" altLang="en-US"/>
              <a:pPr>
                <a:defRPr/>
              </a:pPr>
              <a:t>‹#›</a:t>
            </a:fld>
            <a:endParaRPr lang="en-US" altLang="en-US"/>
          </a:p>
        </p:txBody>
      </p:sp>
    </p:spTree>
    <p:extLst>
      <p:ext uri="{BB962C8B-B14F-4D97-AF65-F5344CB8AC3E}">
        <p14:creationId xmlns:p14="http://schemas.microsoft.com/office/powerpoint/2010/main" val="1763046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C7A7A2CD-B5B0-4CF6-8038-339B0E99E366}"/>
              </a:ext>
            </a:extLst>
          </p:cNvPr>
          <p:cNvSpPr>
            <a:spLocks noGrp="1" noChangeArrowheads="1"/>
          </p:cNvSpPr>
          <p:nvPr>
            <p:ph type="sldNum" sz="quarter" idx="10"/>
          </p:nvPr>
        </p:nvSpPr>
        <p:spPr>
          <a:ln/>
        </p:spPr>
        <p:txBody>
          <a:bodyPr/>
          <a:lstStyle>
            <a:lvl1pPr>
              <a:defRPr/>
            </a:lvl1pPr>
          </a:lstStyle>
          <a:p>
            <a:pPr>
              <a:defRPr/>
            </a:pPr>
            <a:fld id="{833574B0-C055-4E38-82A9-667A1DF1F8D0}" type="slidenum">
              <a:rPr lang="en-US" altLang="en-US"/>
              <a:pPr>
                <a:defRPr/>
              </a:pPr>
              <a:t>‹#›</a:t>
            </a:fld>
            <a:endParaRPr lang="en-US" altLang="en-US"/>
          </a:p>
        </p:txBody>
      </p:sp>
    </p:spTree>
    <p:extLst>
      <p:ext uri="{BB962C8B-B14F-4D97-AF65-F5344CB8AC3E}">
        <p14:creationId xmlns:p14="http://schemas.microsoft.com/office/powerpoint/2010/main" val="2894649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3">
            <a:extLst>
              <a:ext uri="{FF2B5EF4-FFF2-40B4-BE49-F238E27FC236}">
                <a16:creationId xmlns:a16="http://schemas.microsoft.com/office/drawing/2014/main" id="{A9796C49-4A73-449B-A170-DFFCD45313DF}"/>
              </a:ext>
            </a:extLst>
          </p:cNvPr>
          <p:cNvSpPr>
            <a:spLocks noGrp="1" noChangeArrowheads="1"/>
          </p:cNvSpPr>
          <p:nvPr>
            <p:ph type="sldNum" sz="quarter" idx="10"/>
          </p:nvPr>
        </p:nvSpPr>
        <p:spPr>
          <a:ln/>
        </p:spPr>
        <p:txBody>
          <a:bodyPr/>
          <a:lstStyle>
            <a:lvl1pPr>
              <a:defRPr/>
            </a:lvl1pPr>
          </a:lstStyle>
          <a:p>
            <a:pPr>
              <a:defRPr/>
            </a:pPr>
            <a:fld id="{300D9E99-A0D8-4F2F-B04A-331DF655FEAB}" type="slidenum">
              <a:rPr lang="en-US" altLang="en-US"/>
              <a:pPr>
                <a:defRPr/>
              </a:pPr>
              <a:t>‹#›</a:t>
            </a:fld>
            <a:endParaRPr lang="en-US" altLang="en-US"/>
          </a:p>
        </p:txBody>
      </p:sp>
    </p:spTree>
    <p:extLst>
      <p:ext uri="{BB962C8B-B14F-4D97-AF65-F5344CB8AC3E}">
        <p14:creationId xmlns:p14="http://schemas.microsoft.com/office/powerpoint/2010/main" val="2422825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6112478-D9B7-4D0D-ADE5-62D5EFAAFBBF}"/>
              </a:ext>
            </a:extLst>
          </p:cNvPr>
          <p:cNvSpPr>
            <a:spLocks noGrp="1" noChangeArrowheads="1"/>
          </p:cNvSpPr>
          <p:nvPr>
            <p:ph type="body" idx="1"/>
          </p:nvPr>
        </p:nvSpPr>
        <p:spPr bwMode="auto">
          <a:xfrm>
            <a:off x="768350" y="1093788"/>
            <a:ext cx="7707313"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512003" name="Rectangle 3">
            <a:extLst>
              <a:ext uri="{FF2B5EF4-FFF2-40B4-BE49-F238E27FC236}">
                <a16:creationId xmlns:a16="http://schemas.microsoft.com/office/drawing/2014/main" id="{D2EB5033-CF44-472B-B77D-FAA18581E631}"/>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a:solidFill>
                  <a:srgbClr val="002060"/>
                </a:solidFill>
                <a:latin typeface="Times New Roman" panose="02020603050405020304" pitchFamily="18" charset="0"/>
              </a:defRPr>
            </a:lvl1pPr>
          </a:lstStyle>
          <a:p>
            <a:pPr>
              <a:defRPr/>
            </a:pPr>
            <a:fld id="{8BECA7E0-09BC-41D3-BD93-B7E81A2ACCB7}" type="slidenum">
              <a:rPr lang="en-US" altLang="en-US" smtClean="0"/>
              <a:pPr>
                <a:defRPr/>
              </a:pPr>
              <a:t>‹#›</a:t>
            </a:fld>
            <a:endParaRPr lang="en-US" altLang="en-US" dirty="0"/>
          </a:p>
        </p:txBody>
      </p:sp>
      <p:sp>
        <p:nvSpPr>
          <p:cNvPr id="1028" name="Text Box 4">
            <a:extLst>
              <a:ext uri="{FF2B5EF4-FFF2-40B4-BE49-F238E27FC236}">
                <a16:creationId xmlns:a16="http://schemas.microsoft.com/office/drawing/2014/main" id="{D0CFC8B2-2C6C-4CA4-9AFC-14298F0DD4EC}"/>
              </a:ext>
            </a:extLst>
          </p:cNvPr>
          <p:cNvSpPr txBox="1">
            <a:spLocks noChangeArrowheads="1"/>
          </p:cNvSpPr>
          <p:nvPr/>
        </p:nvSpPr>
        <p:spPr bwMode="auto">
          <a:xfrm>
            <a:off x="6762750" y="6613525"/>
            <a:ext cx="23812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p>
        </p:txBody>
      </p:sp>
      <p:sp>
        <p:nvSpPr>
          <p:cNvPr id="512005" name="Text Box 5">
            <a:extLst>
              <a:ext uri="{FF2B5EF4-FFF2-40B4-BE49-F238E27FC236}">
                <a16:creationId xmlns:a16="http://schemas.microsoft.com/office/drawing/2014/main" id="{ED25C836-0663-424A-84A7-5AB803422860}"/>
              </a:ext>
            </a:extLst>
          </p:cNvPr>
          <p:cNvSpPr txBox="1">
            <a:spLocks noChangeArrowheads="1"/>
          </p:cNvSpPr>
          <p:nvPr userDrawn="1"/>
        </p:nvSpPr>
        <p:spPr bwMode="auto">
          <a:xfrm>
            <a:off x="4479985" y="6613525"/>
            <a:ext cx="447558"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6.</a:t>
            </a:r>
            <a:fld id="{669DE52E-05EC-4487-BE79-3F9A6A9F8797}"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512006" name="Rectangle 6">
            <a:extLst>
              <a:ext uri="{FF2B5EF4-FFF2-40B4-BE49-F238E27FC236}">
                <a16:creationId xmlns:a16="http://schemas.microsoft.com/office/drawing/2014/main" id="{BFAC4B4C-D3C2-4A14-871E-CC7D45F0769E}"/>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id="{5472E9A1-C06F-4393-872E-7F8100F91627}"/>
              </a:ext>
            </a:extLst>
          </p:cNvPr>
          <p:cNvSpPr txBox="1">
            <a:spLocks noChangeArrowheads="1"/>
          </p:cNvSpPr>
          <p:nvPr/>
        </p:nvSpPr>
        <p:spPr bwMode="auto">
          <a:xfrm>
            <a:off x="0" y="6613525"/>
            <a:ext cx="25717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ＭＳ Ｐゴシック" charset="0"/>
                <a:cs typeface="ＭＳ Ｐゴシック" charset="0"/>
              </a:defRPr>
            </a:lvl1pPr>
            <a:lvl2pPr marL="742950" indent="-285750">
              <a:defRPr sz="1600">
                <a:solidFill>
                  <a:schemeClr val="tx1"/>
                </a:solidFill>
                <a:latin typeface="Helvetica" charset="0"/>
                <a:ea typeface="ＭＳ Ｐゴシック" charset="0"/>
              </a:defRPr>
            </a:lvl2pPr>
            <a:lvl3pPr marL="1143000" indent="-228600">
              <a:defRPr sz="1600">
                <a:solidFill>
                  <a:schemeClr val="tx1"/>
                </a:solidFill>
                <a:latin typeface="Helvetica" charset="0"/>
                <a:ea typeface="ＭＳ Ｐゴシック" charset="0"/>
              </a:defRPr>
            </a:lvl3pPr>
            <a:lvl4pPr marL="1600200" indent="-228600">
              <a:defRPr sz="1600">
                <a:solidFill>
                  <a:schemeClr val="tx1"/>
                </a:solidFill>
                <a:latin typeface="Helvetica" charset="0"/>
                <a:ea typeface="ＭＳ Ｐゴシック" charset="0"/>
              </a:defRPr>
            </a:lvl4pPr>
            <a:lvl5pPr marL="2057400" indent="-228600">
              <a:defRPr sz="1600">
                <a:solidFill>
                  <a:schemeClr val="tx1"/>
                </a:solidFill>
                <a:latin typeface="Helvetica" charset="0"/>
                <a:ea typeface="ＭＳ Ｐゴシック" charset="0"/>
              </a:defRPr>
            </a:lvl5pPr>
            <a:lvl6pPr marL="2514600" indent="-228600" eaLnBrk="0" fontAlgn="base" hangingPunct="0">
              <a:spcBef>
                <a:spcPct val="0"/>
              </a:spcBef>
              <a:spcAft>
                <a:spcPct val="0"/>
              </a:spcAft>
              <a:defRPr sz="1600">
                <a:solidFill>
                  <a:schemeClr val="tx1"/>
                </a:solidFill>
                <a:latin typeface="Helvetica" charset="0"/>
                <a:ea typeface="ＭＳ Ｐゴシック" charset="0"/>
              </a:defRPr>
            </a:lvl6pPr>
            <a:lvl7pPr marL="2971800" indent="-228600" eaLnBrk="0" fontAlgn="base" hangingPunct="0">
              <a:spcBef>
                <a:spcPct val="0"/>
              </a:spcBef>
              <a:spcAft>
                <a:spcPct val="0"/>
              </a:spcAft>
              <a:defRPr sz="1600">
                <a:solidFill>
                  <a:schemeClr val="tx1"/>
                </a:solidFill>
                <a:latin typeface="Helvetica" charset="0"/>
                <a:ea typeface="ＭＳ Ｐゴシック" charset="0"/>
              </a:defRPr>
            </a:lvl7pPr>
            <a:lvl8pPr marL="3429000" indent="-228600" eaLnBrk="0" fontAlgn="base" hangingPunct="0">
              <a:spcBef>
                <a:spcPct val="0"/>
              </a:spcBef>
              <a:spcAft>
                <a:spcPct val="0"/>
              </a:spcAft>
              <a:defRPr sz="1600">
                <a:solidFill>
                  <a:schemeClr val="tx1"/>
                </a:solidFill>
                <a:latin typeface="Helvetica" charset="0"/>
                <a:ea typeface="ＭＳ Ｐゴシック" charset="0"/>
              </a:defRPr>
            </a:lvl8pPr>
            <a:lvl9pPr marL="3886200" indent="-228600" eaLnBrk="0" fontAlgn="base" hangingPunct="0">
              <a:spcBef>
                <a:spcPct val="0"/>
              </a:spcBef>
              <a:spcAft>
                <a:spcPct val="0"/>
              </a:spcAft>
              <a:defRPr sz="1600">
                <a:solidFill>
                  <a:schemeClr val="tx1"/>
                </a:solidFill>
                <a:latin typeface="Helvetica" charset="0"/>
                <a:ea typeface="ＭＳ Ｐゴシック"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a16="http://schemas.microsoft.com/office/drawing/2014/main" id="{0362D880-06BD-4D02-876C-3226AC8E6F10}"/>
              </a:ext>
            </a:extLst>
          </p:cNvPr>
          <p:cNvSpPr>
            <a:spLocks/>
          </p:cNvSpPr>
          <p:nvPr/>
        </p:nvSpPr>
        <p:spPr bwMode="auto">
          <a:xfrm>
            <a:off x="8916988" y="5445125"/>
            <a:ext cx="227012" cy="47625"/>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0" name="Picture 8" descr="Cover-6Ed"/>
          <p:cNvPicPr>
            <a:picLocks noChangeAspect="1" noChangeArrowheads="1"/>
          </p:cNvPicPr>
          <p:nvPr userDrawn="1"/>
        </p:nvPicPr>
        <p:blipFill>
          <a:blip r:embed="rId14"/>
          <a:stretch>
            <a:fillRect/>
          </a:stretch>
        </p:blipFill>
        <p:spPr bwMode="auto">
          <a:xfrm>
            <a:off x="5546" y="0"/>
            <a:ext cx="742012" cy="9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61"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Lst>
  <p:txStyles>
    <p:titleStyle>
      <a:lvl1pPr algn="ctr" rtl="0" eaLnBrk="0" fontAlgn="base" hangingPunct="0">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0" fontAlgn="base" hangingPunct="0">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35000"/>
        </a:spcBef>
        <a:spcAft>
          <a:spcPct val="0"/>
        </a:spcAft>
        <a:buClr>
          <a:schemeClr val="folHlink"/>
        </a:buClr>
        <a:buSzPct val="110000"/>
        <a:buFont typeface="Arial" panose="020B0604020202020204" pitchFamily="34" charset="0"/>
        <a:buChar char="•"/>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ingdings" panose="05000000000000000000" pitchFamily="2" charset="2"/>
        <a:buChar char="§"/>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Font typeface="Wingdings" panose="05000000000000000000" pitchFamily="2" charset="2"/>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6.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8.emf"/><Relationship Id="rId5" Type="http://schemas.openxmlformats.org/officeDocument/2006/relationships/image" Target="../media/image10.emf"/><Relationship Id="rId4" Type="http://schemas.openxmlformats.org/officeDocument/2006/relationships/image" Target="../media/image32.svg"/></Relationships>
</file>

<file path=ppt/slides/_rels/slide1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22DBFC5-E763-46C1-ABAD-DD42419B93B8}"/>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272386" name="Rectangle 2">
            <a:extLst>
              <a:ext uri="{FF2B5EF4-FFF2-40B4-BE49-F238E27FC236}">
                <a16:creationId xmlns:a16="http://schemas.microsoft.com/office/drawing/2014/main" id="{1CB68582-BBE2-4F64-8E5F-7C76410784FB}"/>
              </a:ext>
            </a:extLst>
          </p:cNvPr>
          <p:cNvSpPr>
            <a:spLocks noGrp="1" noChangeArrowheads="1"/>
          </p:cNvSpPr>
          <p:nvPr>
            <p:ph type="ctrTitle"/>
          </p:nvPr>
        </p:nvSpPr>
        <p:spPr/>
        <p:txBody>
          <a:bodyPr/>
          <a:lstStyle/>
          <a:p>
            <a:pPr>
              <a:defRPr/>
            </a:pPr>
            <a:r>
              <a:rPr lang="en-US" dirty="0">
                <a:effectLst/>
              </a:rPr>
              <a:t>More E/R, UML, </a:t>
            </a:r>
            <a:r>
              <a:rPr lang="en-US" dirty="0" smtClean="0">
                <a:effectLst/>
              </a:rPr>
              <a:t>ODL</a:t>
            </a:r>
            <a:br>
              <a:rPr lang="en-US" dirty="0" smtClean="0">
                <a:effectLst/>
              </a:rPr>
            </a:br>
            <a:r>
              <a:rPr lang="en-US" altLang="en-US" dirty="0" smtClean="0">
                <a:effectLst>
                  <a:outerShdw blurRad="38100" dist="38100" dir="2700000" algn="tl">
                    <a:srgbClr val="C0C0C0"/>
                  </a:outerShdw>
                </a:effectLst>
              </a:rPr>
              <a:t>Database </a:t>
            </a:r>
            <a:r>
              <a:rPr lang="en-US" altLang="en-US" dirty="0">
                <a:effectLst>
                  <a:outerShdw blurRad="38100" dist="38100" dir="2700000" algn="tl">
                    <a:srgbClr val="C0C0C0"/>
                  </a:outerShdw>
                </a:effectLst>
              </a:rPr>
              <a:t>Design Using the E-R </a:t>
            </a:r>
            <a:r>
              <a:rPr lang="en-US" altLang="en-US" dirty="0" smtClean="0">
                <a:effectLst>
                  <a:outerShdw blurRad="38100" dist="38100" dir="2700000" algn="tl">
                    <a:srgbClr val="C0C0C0"/>
                  </a:outerShdw>
                </a:effectLst>
              </a:rPr>
              <a:t>Model -2</a:t>
            </a:r>
            <a:endParaRPr lang="en-US" altLang="en-US" dirty="0">
              <a:effectLst>
                <a:outerShdw blurRad="38100" dist="38100" dir="2700000" algn="tl">
                  <a:srgbClr val="C0C0C0"/>
                </a:outerShdw>
              </a:effectLst>
            </a:endParaRPr>
          </a:p>
        </p:txBody>
      </p:sp>
    </p:spTree>
    <p:extLst>
      <p:ext uri="{BB962C8B-B14F-4D97-AF65-F5344CB8AC3E}">
        <p14:creationId xmlns:p14="http://schemas.microsoft.com/office/powerpoint/2010/main" val="4162239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EAFE568E-7EE2-451B-AB3F-F04DFB7B76FF}"/>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457730" name="Rectangle 2"/>
          <p:cNvSpPr>
            <a:spLocks noGrp="1" noChangeArrowheads="1"/>
          </p:cNvSpPr>
          <p:nvPr>
            <p:ph type="title"/>
          </p:nvPr>
        </p:nvSpPr>
        <p:spPr>
          <a:xfrm>
            <a:off x="755650" y="125413"/>
            <a:ext cx="8077200" cy="609600"/>
          </a:xfrm>
        </p:spPr>
        <p:txBody>
          <a:bodyPr/>
          <a:lstStyle/>
          <a:p>
            <a:pPr>
              <a:defRPr/>
            </a:pPr>
            <a:r>
              <a:rPr lang="en-US" altLang="en-US" dirty="0">
                <a:effectLst>
                  <a:outerShdw blurRad="38100" dist="38100" dir="2700000" algn="tl">
                    <a:srgbClr val="C0C0C0"/>
                  </a:outerShdw>
                </a:effectLst>
              </a:rPr>
              <a:t>Outline</a:t>
            </a:r>
          </a:p>
        </p:txBody>
      </p:sp>
      <p:sp>
        <p:nvSpPr>
          <p:cNvPr id="6147" name="Rectangle 3"/>
          <p:cNvSpPr>
            <a:spLocks noGrp="1" noChangeArrowheads="1"/>
          </p:cNvSpPr>
          <p:nvPr>
            <p:ph type="body" idx="1"/>
          </p:nvPr>
        </p:nvSpPr>
        <p:spPr>
          <a:xfrm>
            <a:off x="755651" y="1222375"/>
            <a:ext cx="7620254" cy="2861945"/>
          </a:xfrm>
        </p:spPr>
        <p:txBody>
          <a:bodyPr/>
          <a:lstStyle/>
          <a:p>
            <a:r>
              <a:rPr lang="en-US" altLang="en-US" sz="1700" dirty="0"/>
              <a:t>Extended E-R Features</a:t>
            </a:r>
          </a:p>
          <a:p>
            <a:r>
              <a:rPr lang="en-US" altLang="en-US" sz="1700" dirty="0"/>
              <a:t>Entity-Relationship Design Issues</a:t>
            </a:r>
          </a:p>
          <a:p>
            <a:r>
              <a:rPr lang="en-US" altLang="en-US" sz="1700" dirty="0"/>
              <a:t>Alternative Notations for Modeling Data</a:t>
            </a:r>
          </a:p>
          <a:p>
            <a:r>
              <a:rPr lang="en-US" altLang="en-US" sz="1700" dirty="0"/>
              <a:t>Other Aspects of Database Design</a:t>
            </a:r>
          </a:p>
          <a:p>
            <a:pPr>
              <a:buFont typeface="Monotype Sorts" charset="2"/>
              <a:buNone/>
            </a:pPr>
            <a:endParaRPr lang="en-US" altLang="en-US" dirty="0"/>
          </a:p>
          <a:p>
            <a:pPr>
              <a:buFont typeface="Monotype Sorts" charset="2"/>
              <a:buNone/>
            </a:pPr>
            <a:endParaRPr lang="en-US" altLang="en-US" dirty="0"/>
          </a:p>
        </p:txBody>
      </p:sp>
    </p:spTree>
    <p:extLst>
      <p:ext uri="{BB962C8B-B14F-4D97-AF65-F5344CB8AC3E}">
        <p14:creationId xmlns:p14="http://schemas.microsoft.com/office/powerpoint/2010/main" val="35921385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80A76AC4-F330-4D11-A19E-B6BCAEE76B93}"/>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486402" name="Rectangle 2"/>
          <p:cNvSpPr>
            <a:spLocks noGrp="1" noChangeArrowheads="1"/>
          </p:cNvSpPr>
          <p:nvPr>
            <p:ph type="title"/>
          </p:nvPr>
        </p:nvSpPr>
        <p:spPr>
          <a:xfrm>
            <a:off x="469900" y="2736850"/>
            <a:ext cx="8267700" cy="609600"/>
          </a:xfrm>
        </p:spPr>
        <p:txBody>
          <a:bodyPr/>
          <a:lstStyle/>
          <a:p>
            <a:pPr>
              <a:defRPr/>
            </a:pPr>
            <a:r>
              <a:rPr lang="en-US" altLang="en-US" dirty="0">
                <a:effectLst>
                  <a:outerShdw blurRad="38100" dist="38100" dir="2700000" algn="tl">
                    <a:srgbClr val="C0C0C0"/>
                  </a:outerShdw>
                </a:effectLst>
              </a:rPr>
              <a:t>Extended E-R Features</a:t>
            </a:r>
          </a:p>
        </p:txBody>
      </p:sp>
      <p:sp>
        <p:nvSpPr>
          <p:cNvPr id="58371" name="Rectangle 3"/>
          <p:cNvSpPr>
            <a:spLocks noChangeArrowheads="1"/>
          </p:cNvSpPr>
          <p:nvPr/>
        </p:nvSpPr>
        <p:spPr bwMode="auto">
          <a:xfrm>
            <a:off x="1422400" y="2851150"/>
            <a:ext cx="6845300"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spcBef>
                <a:spcPct val="35000"/>
              </a:spcBef>
              <a:buClr>
                <a:schemeClr val="tx2"/>
              </a:buClr>
              <a:buSzPct val="90000"/>
            </a:pPr>
            <a:endParaRPr kumimoji="1" lang="en-US" altLang="en-US" sz="1800"/>
          </a:p>
        </p:txBody>
      </p:sp>
    </p:spTree>
    <p:extLst>
      <p:ext uri="{BB962C8B-B14F-4D97-AF65-F5344CB8AC3E}">
        <p14:creationId xmlns:p14="http://schemas.microsoft.com/office/powerpoint/2010/main" val="1249226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908D798C-4676-4394-951D-313370757CC9}"/>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53350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Specialization</a:t>
            </a:r>
          </a:p>
        </p:txBody>
      </p:sp>
      <p:sp>
        <p:nvSpPr>
          <p:cNvPr id="59395" name="Rectangle 3"/>
          <p:cNvSpPr>
            <a:spLocks noGrp="1" noChangeArrowheads="1"/>
          </p:cNvSpPr>
          <p:nvPr>
            <p:ph type="body" idx="1"/>
          </p:nvPr>
        </p:nvSpPr>
        <p:spPr>
          <a:xfrm>
            <a:off x="768350" y="1208089"/>
            <a:ext cx="7674314" cy="3924744"/>
          </a:xfrm>
        </p:spPr>
        <p:txBody>
          <a:bodyPr/>
          <a:lstStyle/>
          <a:p>
            <a:r>
              <a:rPr lang="en-US" altLang="en-US" sz="1700" dirty="0"/>
              <a:t>Top-down design process; we designate sub-groupings within an entity set that are distinctive from other entities in the set.</a:t>
            </a:r>
          </a:p>
          <a:p>
            <a:r>
              <a:rPr lang="en-US" altLang="en-US" sz="1700" dirty="0"/>
              <a:t>These sub-groupings become lower-level entity sets that have attributes or participate in relationships that do not apply to the higher-level entity set.</a:t>
            </a:r>
          </a:p>
          <a:p>
            <a:r>
              <a:rPr lang="en-US" altLang="en-US" sz="1700" dirty="0"/>
              <a:t>Depicted by a </a:t>
            </a:r>
            <a:r>
              <a:rPr lang="en-US" altLang="en-US" sz="1700" i="1" dirty="0"/>
              <a:t>triangle</a:t>
            </a:r>
            <a:r>
              <a:rPr lang="en-US" altLang="en-US" sz="1700" dirty="0"/>
              <a:t> component labeled ISA (e.g., </a:t>
            </a:r>
            <a:r>
              <a:rPr lang="en-US" altLang="en-US" sz="1700" i="1" dirty="0"/>
              <a:t>instructor</a:t>
            </a:r>
            <a:r>
              <a:rPr lang="en-US" altLang="en-US" sz="1700" dirty="0"/>
              <a:t> “is a” </a:t>
            </a:r>
            <a:r>
              <a:rPr lang="en-US" altLang="en-US" sz="1700" i="1" dirty="0"/>
              <a:t>person</a:t>
            </a:r>
            <a:r>
              <a:rPr lang="en-US" altLang="en-US" sz="1700" dirty="0"/>
              <a:t>).</a:t>
            </a:r>
          </a:p>
          <a:p>
            <a:r>
              <a:rPr lang="en-US" altLang="en-US" sz="1700" b="1" dirty="0">
                <a:solidFill>
                  <a:srgbClr val="002060"/>
                </a:solidFill>
              </a:rPr>
              <a:t>Attribute inheritance</a:t>
            </a:r>
            <a:r>
              <a:rPr lang="en-US" altLang="en-US" sz="1700" dirty="0">
                <a:solidFill>
                  <a:srgbClr val="002060"/>
                </a:solidFill>
              </a:rPr>
              <a:t> </a:t>
            </a:r>
            <a:r>
              <a:rPr lang="en-US" altLang="en-US" sz="1700" dirty="0"/>
              <a:t>– a lower-level entity set inherits all the attributes and relationship participation of the higher-level entity set to which it is linked.</a:t>
            </a:r>
          </a:p>
          <a:p>
            <a:endParaRPr lang="en-US" altLang="en-US" dirty="0"/>
          </a:p>
        </p:txBody>
      </p:sp>
    </p:spTree>
    <p:extLst>
      <p:ext uri="{BB962C8B-B14F-4D97-AF65-F5344CB8AC3E}">
        <p14:creationId xmlns:p14="http://schemas.microsoft.com/office/powerpoint/2010/main" val="39437074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45F89BDF-93E5-44B2-AF99-B53F9EA76A60}"/>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53760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Specialization Example</a:t>
            </a:r>
          </a:p>
        </p:txBody>
      </p:sp>
      <p:sp>
        <p:nvSpPr>
          <p:cNvPr id="60419" name="Rectangle 3"/>
          <p:cNvSpPr>
            <a:spLocks noGrp="1" noChangeArrowheads="1"/>
          </p:cNvSpPr>
          <p:nvPr>
            <p:ph type="body" idx="1"/>
          </p:nvPr>
        </p:nvSpPr>
        <p:spPr>
          <a:xfrm>
            <a:off x="768350" y="993775"/>
            <a:ext cx="7692898" cy="1240952"/>
          </a:xfrm>
        </p:spPr>
        <p:txBody>
          <a:bodyPr/>
          <a:lstStyle/>
          <a:p>
            <a:r>
              <a:rPr lang="en-US" altLang="en-US" sz="1700" b="1" dirty="0">
                <a:solidFill>
                  <a:srgbClr val="002060"/>
                </a:solidFill>
              </a:rPr>
              <a:t>Overlapping</a:t>
            </a:r>
            <a:r>
              <a:rPr lang="en-US" altLang="en-US" sz="1700" dirty="0"/>
              <a:t> – </a:t>
            </a:r>
            <a:r>
              <a:rPr lang="en-US" altLang="en-US" sz="1700" i="1" dirty="0"/>
              <a:t>employee</a:t>
            </a:r>
            <a:r>
              <a:rPr lang="en-US" altLang="en-US" sz="1700" dirty="0"/>
              <a:t> and </a:t>
            </a:r>
            <a:r>
              <a:rPr lang="en-US" altLang="en-US" sz="1700" i="1" dirty="0"/>
              <a:t>student</a:t>
            </a:r>
          </a:p>
          <a:p>
            <a:r>
              <a:rPr lang="en-US" altLang="en-US" sz="1700" b="1" dirty="0">
                <a:solidFill>
                  <a:srgbClr val="002060"/>
                </a:solidFill>
              </a:rPr>
              <a:t>Disjoint</a:t>
            </a:r>
            <a:r>
              <a:rPr lang="en-US" altLang="en-US" sz="1700" dirty="0"/>
              <a:t> – </a:t>
            </a:r>
            <a:r>
              <a:rPr lang="en-US" altLang="en-US" sz="1700" i="1" dirty="0"/>
              <a:t>instructor</a:t>
            </a:r>
            <a:r>
              <a:rPr lang="en-US" altLang="en-US" sz="1700" dirty="0"/>
              <a:t> and </a:t>
            </a:r>
            <a:r>
              <a:rPr lang="en-US" altLang="en-US" sz="1700" i="1" dirty="0"/>
              <a:t>secretary</a:t>
            </a:r>
          </a:p>
          <a:p>
            <a:r>
              <a:rPr lang="en-US" altLang="en-US" sz="1700" dirty="0"/>
              <a:t>Total and partial</a:t>
            </a:r>
          </a:p>
        </p:txBody>
      </p:sp>
      <p:pic>
        <p:nvPicPr>
          <p:cNvPr id="7" name="Picture 6">
            <a:extLst>
              <a:ext uri="{FF2B5EF4-FFF2-40B4-BE49-F238E27FC236}">
                <a16:creationId xmlns:a16="http://schemas.microsoft.com/office/drawing/2014/main" id="{C38F3536-A890-497F-97EC-7CB9E83711C9}"/>
              </a:ext>
            </a:extLst>
          </p:cNvPr>
          <p:cNvPicPr>
            <a:picLocks noChangeAspect="1"/>
          </p:cNvPicPr>
          <p:nvPr/>
        </p:nvPicPr>
        <p:blipFill>
          <a:blip r:embed="rId3"/>
          <a:stretch>
            <a:fillRect/>
          </a:stretch>
        </p:blipFill>
        <p:spPr>
          <a:xfrm>
            <a:off x="2375263" y="2250822"/>
            <a:ext cx="3496612" cy="3613403"/>
          </a:xfrm>
          <a:prstGeom prst="rect">
            <a:avLst/>
          </a:prstGeom>
        </p:spPr>
      </p:pic>
    </p:spTree>
    <p:extLst>
      <p:ext uri="{BB962C8B-B14F-4D97-AF65-F5344CB8AC3E}">
        <p14:creationId xmlns:p14="http://schemas.microsoft.com/office/powerpoint/2010/main" val="1131938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F477ECB-1B1D-4830-A530-CDBFA91473C1}"/>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70722" name="Rectangle 2"/>
          <p:cNvSpPr>
            <a:spLocks noGrp="1" noChangeArrowheads="1"/>
          </p:cNvSpPr>
          <p:nvPr>
            <p:ph type="title" idx="4294967295"/>
          </p:nvPr>
        </p:nvSpPr>
        <p:spPr>
          <a:xfrm>
            <a:off x="808038" y="49213"/>
            <a:ext cx="8077200" cy="609600"/>
          </a:xfrm>
        </p:spPr>
        <p:txBody>
          <a:bodyPr/>
          <a:lstStyle/>
          <a:p>
            <a:pPr>
              <a:defRPr/>
            </a:pPr>
            <a:r>
              <a:rPr lang="en-US" altLang="en-US" sz="2800">
                <a:effectLst>
                  <a:outerShdw blurRad="38100" dist="38100" dir="2700000" algn="tl">
                    <a:srgbClr val="C0C0C0"/>
                  </a:outerShdw>
                </a:effectLst>
              </a:rPr>
              <a:t>Representing Specialization via Schemas</a:t>
            </a:r>
          </a:p>
        </p:txBody>
      </p:sp>
      <p:sp>
        <p:nvSpPr>
          <p:cNvPr id="61443" name="Rectangle 3"/>
          <p:cNvSpPr>
            <a:spLocks noGrp="1" noChangeArrowheads="1"/>
          </p:cNvSpPr>
          <p:nvPr>
            <p:ph type="body" idx="4294967295"/>
          </p:nvPr>
        </p:nvSpPr>
        <p:spPr>
          <a:xfrm>
            <a:off x="772360" y="1157289"/>
            <a:ext cx="7507195" cy="4499800"/>
          </a:xfrm>
        </p:spPr>
        <p:txBody>
          <a:bodyPr/>
          <a:lstStyle/>
          <a:p>
            <a:pPr>
              <a:buFont typeface="Wingdings" panose="05000000000000000000" pitchFamily="2" charset="2"/>
              <a:buChar char="§"/>
              <a:tabLst>
                <a:tab pos="346075" algn="l"/>
                <a:tab pos="1255713" algn="ctr"/>
                <a:tab pos="2452688" algn="l"/>
                <a:tab pos="3824288" algn="ctr"/>
              </a:tabLst>
            </a:pPr>
            <a:r>
              <a:rPr lang="en-US" altLang="en-US" sz="1700" dirty="0"/>
              <a:t>Method 1: </a:t>
            </a:r>
          </a:p>
          <a:p>
            <a:pPr lvl="1">
              <a:buSzPct val="110000"/>
              <a:buFont typeface="Arial" panose="020B0604020202020204" pitchFamily="34" charset="0"/>
              <a:buChar char="•"/>
              <a:tabLst>
                <a:tab pos="346075" algn="l"/>
                <a:tab pos="1255713" algn="ctr"/>
                <a:tab pos="2452688" algn="l"/>
                <a:tab pos="3824288" algn="ctr"/>
              </a:tabLst>
            </a:pPr>
            <a:r>
              <a:rPr lang="en-US" altLang="en-US" sz="1700" dirty="0">
                <a:ea typeface="ＭＳ Ｐゴシック" panose="020B0600070205080204" pitchFamily="34" charset="-128"/>
              </a:rPr>
              <a:t>Form a schema for the higher-level entity </a:t>
            </a:r>
          </a:p>
          <a:p>
            <a:pPr lvl="1">
              <a:buSzPct val="110000"/>
              <a:buFont typeface="Arial" panose="020B0604020202020204" pitchFamily="34" charset="0"/>
              <a:buChar char="•"/>
              <a:tabLst>
                <a:tab pos="346075" algn="l"/>
                <a:tab pos="1255713" algn="ctr"/>
                <a:tab pos="2452688" algn="l"/>
                <a:tab pos="3824288" algn="ctr"/>
              </a:tabLst>
            </a:pPr>
            <a:r>
              <a:rPr lang="en-US" altLang="en-US" sz="1700" dirty="0">
                <a:ea typeface="ＭＳ Ｐゴシック" panose="020B0600070205080204" pitchFamily="34" charset="-128"/>
              </a:rPr>
              <a:t>Form a schema for each lower-level entity set, include primary key of higher-level entity set and local attributes</a:t>
            </a:r>
          </a:p>
          <a:p>
            <a:pPr marL="457200" lvl="1" indent="0">
              <a:buSzPct val="110000"/>
              <a:buNone/>
              <a:tabLst>
                <a:tab pos="346075" algn="l"/>
                <a:tab pos="1255713" algn="ctr"/>
                <a:tab pos="2452688" algn="l"/>
                <a:tab pos="3824288" algn="ctr"/>
              </a:tabLst>
            </a:pPr>
            <a:r>
              <a:rPr lang="en-US" altLang="en-US" sz="1700" dirty="0">
                <a:ea typeface="ＭＳ Ｐゴシック" panose="020B0600070205080204" pitchFamily="34" charset="-128"/>
              </a:rPr>
              <a:t/>
            </a:r>
            <a:br>
              <a:rPr lang="en-US" altLang="en-US" sz="1700" dirty="0">
                <a:ea typeface="ＭＳ Ｐゴシック" panose="020B0600070205080204" pitchFamily="34" charset="-128"/>
              </a:rPr>
            </a:br>
            <a:r>
              <a:rPr lang="en-US" altLang="en-US" sz="1700" dirty="0">
                <a:ea typeface="ＭＳ Ｐゴシック" panose="020B0600070205080204" pitchFamily="34" charset="-128"/>
              </a:rPr>
              <a:t/>
            </a:r>
            <a:br>
              <a:rPr lang="en-US" altLang="en-US" sz="1700" dirty="0">
                <a:ea typeface="ＭＳ Ｐゴシック" panose="020B0600070205080204" pitchFamily="34" charset="-128"/>
              </a:rPr>
            </a:br>
            <a:endParaRPr lang="en-US" altLang="en-US" sz="1700" dirty="0">
              <a:ea typeface="ＭＳ Ｐゴシック" panose="020B0600070205080204" pitchFamily="34" charset="-128"/>
            </a:endParaRPr>
          </a:p>
          <a:p>
            <a:pPr lvl="1">
              <a:tabLst>
                <a:tab pos="346075" algn="l"/>
                <a:tab pos="1255713" algn="ctr"/>
                <a:tab pos="2452688" algn="l"/>
                <a:tab pos="3824288" algn="ctr"/>
              </a:tabLst>
            </a:pPr>
            <a:endParaRPr lang="en-US" altLang="en-US" sz="1700" dirty="0">
              <a:ea typeface="ＭＳ Ｐゴシック" panose="020B0600070205080204" pitchFamily="34" charset="-128"/>
            </a:endParaRPr>
          </a:p>
          <a:p>
            <a:pPr marL="457200" lvl="1" indent="0">
              <a:buNone/>
              <a:tabLst>
                <a:tab pos="346075" algn="l"/>
                <a:tab pos="1255713" algn="ctr"/>
                <a:tab pos="2452688" algn="l"/>
                <a:tab pos="3824288" algn="ctr"/>
              </a:tabLst>
            </a:pPr>
            <a:endParaRPr lang="en-US" altLang="en-US" sz="1700" dirty="0">
              <a:ea typeface="ＭＳ Ｐゴシック" panose="020B0600070205080204" pitchFamily="34" charset="-128"/>
            </a:endParaRPr>
          </a:p>
          <a:p>
            <a:pPr lvl="1">
              <a:buSzPct val="110000"/>
              <a:buFont typeface="Arial" panose="020B0604020202020204" pitchFamily="34" charset="0"/>
              <a:buChar char="•"/>
              <a:tabLst>
                <a:tab pos="346075" algn="l"/>
                <a:tab pos="1255713" algn="ctr"/>
                <a:tab pos="2452688" algn="l"/>
                <a:tab pos="3824288" algn="ctr"/>
              </a:tabLst>
            </a:pPr>
            <a:r>
              <a:rPr lang="en-US" altLang="en-US" sz="1700" dirty="0">
                <a:ea typeface="ＭＳ Ｐゴシック" panose="020B0600070205080204" pitchFamily="34" charset="-128"/>
              </a:rPr>
              <a:t>Drawback:  getting information about, an </a:t>
            </a:r>
            <a:r>
              <a:rPr lang="en-US" altLang="en-US" sz="1700" i="1" dirty="0">
                <a:ea typeface="ＭＳ Ｐゴシック" panose="020B0600070205080204" pitchFamily="34" charset="-128"/>
              </a:rPr>
              <a:t>employee</a:t>
            </a:r>
            <a:r>
              <a:rPr lang="en-US" altLang="en-US" sz="1700" dirty="0">
                <a:ea typeface="ＭＳ Ｐゴシック" panose="020B0600070205080204" pitchFamily="34" charset="-128"/>
              </a:rPr>
              <a:t> requires accessing two relations, the one corresponding to the low-level schema and the one corresponding to the high-level schema</a:t>
            </a:r>
          </a:p>
        </p:txBody>
      </p:sp>
      <p:pic>
        <p:nvPicPr>
          <p:cNvPr id="2" name="Picture 1"/>
          <p:cNvPicPr>
            <a:picLocks noChangeAspect="1"/>
          </p:cNvPicPr>
          <p:nvPr/>
        </p:nvPicPr>
        <p:blipFill>
          <a:blip r:embed="rId3"/>
          <a:stretch>
            <a:fillRect/>
          </a:stretch>
        </p:blipFill>
        <p:spPr>
          <a:xfrm>
            <a:off x="2852737" y="2621661"/>
            <a:ext cx="3633407" cy="1268170"/>
          </a:xfrm>
          <a:prstGeom prst="rect">
            <a:avLst/>
          </a:prstGeom>
        </p:spPr>
      </p:pic>
    </p:spTree>
    <p:extLst>
      <p:ext uri="{BB962C8B-B14F-4D97-AF65-F5344CB8AC3E}">
        <p14:creationId xmlns:p14="http://schemas.microsoft.com/office/powerpoint/2010/main" val="4212955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0CD3AA66-3572-4BFF-962D-40C8BC68FF83}"/>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72770" name="Rectangle 2"/>
          <p:cNvSpPr>
            <a:spLocks noGrp="1" noChangeArrowheads="1"/>
          </p:cNvSpPr>
          <p:nvPr>
            <p:ph type="title" idx="4294967295"/>
          </p:nvPr>
        </p:nvSpPr>
        <p:spPr>
          <a:xfrm>
            <a:off x="506027" y="96901"/>
            <a:ext cx="8942773" cy="609600"/>
          </a:xfrm>
        </p:spPr>
        <p:txBody>
          <a:bodyPr/>
          <a:lstStyle/>
          <a:p>
            <a:pPr>
              <a:defRPr/>
            </a:pPr>
            <a:r>
              <a:rPr lang="en-US" altLang="en-US" sz="2800" dirty="0">
                <a:effectLst>
                  <a:outerShdw blurRad="38100" dist="38100" dir="2700000" algn="tl">
                    <a:srgbClr val="C0C0C0"/>
                  </a:outerShdw>
                </a:effectLst>
              </a:rPr>
              <a:t>Representing Specialization as Schemas (Cont.)</a:t>
            </a:r>
          </a:p>
        </p:txBody>
      </p:sp>
      <p:sp>
        <p:nvSpPr>
          <p:cNvPr id="62467" name="Rectangle 3"/>
          <p:cNvSpPr>
            <a:spLocks noGrp="1" noChangeArrowheads="1"/>
          </p:cNvSpPr>
          <p:nvPr>
            <p:ph type="body" idx="4294967295"/>
          </p:nvPr>
        </p:nvSpPr>
        <p:spPr>
          <a:xfrm>
            <a:off x="763480" y="1148763"/>
            <a:ext cx="7392969" cy="3972941"/>
          </a:xfrm>
        </p:spPr>
        <p:txBody>
          <a:bodyPr/>
          <a:lstStyle/>
          <a:p>
            <a:pPr>
              <a:buFont typeface="Wingdings" panose="05000000000000000000" pitchFamily="2" charset="2"/>
              <a:buChar char="§"/>
              <a:tabLst>
                <a:tab pos="346075" algn="l"/>
                <a:tab pos="1255713" algn="ctr"/>
                <a:tab pos="2452688" algn="l"/>
                <a:tab pos="3824288" algn="ctr"/>
              </a:tabLst>
            </a:pPr>
            <a:r>
              <a:rPr lang="en-US" altLang="en-US" sz="1700" dirty="0"/>
              <a:t>Method 2:  </a:t>
            </a:r>
          </a:p>
          <a:p>
            <a:pPr lvl="1">
              <a:buSzPct val="110000"/>
              <a:buFont typeface="Arial" panose="020B0604020202020204" pitchFamily="34" charset="0"/>
              <a:buChar char="•"/>
              <a:tabLst>
                <a:tab pos="346075" algn="l"/>
                <a:tab pos="1255713" algn="ctr"/>
                <a:tab pos="2452688" algn="l"/>
                <a:tab pos="3824288" algn="ctr"/>
              </a:tabLst>
            </a:pPr>
            <a:r>
              <a:rPr lang="en-US" altLang="en-US" sz="1700" dirty="0">
                <a:ea typeface="ＭＳ Ｐゴシック" panose="020B0600070205080204" pitchFamily="34" charset="-128"/>
              </a:rPr>
              <a:t>Form a schema for each entity set with all local and inherited attributes</a:t>
            </a:r>
          </a:p>
          <a:p>
            <a:pPr lvl="1">
              <a:buFont typeface="Monotype Sorts" charset="2"/>
              <a:buNone/>
              <a:tabLst>
                <a:tab pos="346075" algn="l"/>
                <a:tab pos="1255713" algn="ctr"/>
                <a:tab pos="2452688" algn="l"/>
                <a:tab pos="3824288" algn="ctr"/>
              </a:tabLst>
            </a:pPr>
            <a:endParaRPr lang="en-US" altLang="en-US" sz="1700" dirty="0">
              <a:ea typeface="ＭＳ Ｐゴシック" panose="020B0600070205080204" pitchFamily="34" charset="-128"/>
            </a:endParaRPr>
          </a:p>
          <a:p>
            <a:pPr lvl="1">
              <a:buFont typeface="Monotype Sorts" charset="2"/>
              <a:buNone/>
              <a:tabLst>
                <a:tab pos="346075" algn="l"/>
                <a:tab pos="1255713" algn="ctr"/>
                <a:tab pos="2452688" algn="l"/>
                <a:tab pos="3824288" algn="ctr"/>
              </a:tabLst>
            </a:pPr>
            <a:endParaRPr lang="en-US" altLang="en-US" sz="1700" dirty="0">
              <a:ea typeface="ＭＳ Ｐゴシック" panose="020B0600070205080204" pitchFamily="34" charset="-128"/>
            </a:endParaRPr>
          </a:p>
          <a:p>
            <a:pPr lvl="1">
              <a:buFont typeface="Monotype Sorts" charset="2"/>
              <a:buNone/>
              <a:tabLst>
                <a:tab pos="346075" algn="l"/>
                <a:tab pos="1255713" algn="ctr"/>
                <a:tab pos="2452688" algn="l"/>
                <a:tab pos="3824288" algn="ctr"/>
              </a:tabLst>
            </a:pPr>
            <a:endParaRPr lang="en-US" altLang="en-US" sz="1700" dirty="0">
              <a:ea typeface="ＭＳ Ｐゴシック" panose="020B0600070205080204" pitchFamily="34" charset="-128"/>
            </a:endParaRPr>
          </a:p>
          <a:p>
            <a:pPr lvl="1">
              <a:buFont typeface="Monotype Sorts" charset="2"/>
              <a:buNone/>
              <a:tabLst>
                <a:tab pos="346075" algn="l"/>
                <a:tab pos="1255713" algn="ctr"/>
                <a:tab pos="2452688" algn="l"/>
                <a:tab pos="3824288" algn="ctr"/>
              </a:tabLst>
            </a:pPr>
            <a:endParaRPr lang="en-US" altLang="en-US" sz="1700" dirty="0">
              <a:ea typeface="ＭＳ Ｐゴシック" panose="020B0600070205080204" pitchFamily="34" charset="-128"/>
            </a:endParaRPr>
          </a:p>
          <a:p>
            <a:pPr lvl="1">
              <a:buSzPct val="110000"/>
              <a:buFont typeface="Arial" panose="020B0604020202020204" pitchFamily="34" charset="0"/>
              <a:buChar char="•"/>
              <a:tabLst>
                <a:tab pos="346075" algn="l"/>
                <a:tab pos="1255713" algn="ctr"/>
                <a:tab pos="2452688" algn="l"/>
                <a:tab pos="3824288" algn="ctr"/>
              </a:tabLst>
            </a:pPr>
            <a:r>
              <a:rPr lang="en-US" altLang="en-US" sz="1700" dirty="0">
                <a:ea typeface="ＭＳ Ｐゴシック" panose="020B0600070205080204" pitchFamily="34" charset="-128"/>
              </a:rPr>
              <a:t>Drawback:  </a:t>
            </a:r>
            <a:r>
              <a:rPr lang="en-US" altLang="en-US" sz="1700" i="1" dirty="0">
                <a:ea typeface="ＭＳ Ｐゴシック" panose="020B0600070205080204" pitchFamily="34" charset="-128"/>
              </a:rPr>
              <a:t>name, street</a:t>
            </a:r>
            <a:r>
              <a:rPr lang="en-US" altLang="en-US" sz="1700" dirty="0">
                <a:ea typeface="ＭＳ Ｐゴシック" panose="020B0600070205080204" pitchFamily="34" charset="-128"/>
              </a:rPr>
              <a:t> and </a:t>
            </a:r>
            <a:r>
              <a:rPr lang="en-US" altLang="en-US" sz="1700" i="1" dirty="0">
                <a:ea typeface="ＭＳ Ｐゴシック" panose="020B0600070205080204" pitchFamily="34" charset="-128"/>
              </a:rPr>
              <a:t>city</a:t>
            </a:r>
            <a:r>
              <a:rPr lang="en-US" altLang="en-US" sz="1700" dirty="0">
                <a:ea typeface="ＭＳ Ｐゴシック" panose="020B0600070205080204" pitchFamily="34" charset="-128"/>
              </a:rPr>
              <a:t> may be stored redundantly for people who are both students and employees</a:t>
            </a:r>
          </a:p>
        </p:txBody>
      </p:sp>
      <p:pic>
        <p:nvPicPr>
          <p:cNvPr id="2" name="Picture 1"/>
          <p:cNvPicPr>
            <a:picLocks noChangeAspect="1"/>
          </p:cNvPicPr>
          <p:nvPr/>
        </p:nvPicPr>
        <p:blipFill>
          <a:blip r:embed="rId3"/>
          <a:stretch>
            <a:fillRect/>
          </a:stretch>
        </p:blipFill>
        <p:spPr>
          <a:xfrm>
            <a:off x="2346483" y="2212449"/>
            <a:ext cx="4451033" cy="1216551"/>
          </a:xfrm>
          <a:prstGeom prst="rect">
            <a:avLst/>
          </a:prstGeom>
        </p:spPr>
      </p:pic>
    </p:spTree>
    <p:extLst>
      <p:ext uri="{BB962C8B-B14F-4D97-AF65-F5344CB8AC3E}">
        <p14:creationId xmlns:p14="http://schemas.microsoft.com/office/powerpoint/2010/main" val="3270814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1EB7603E-9E27-4651-BDF9-F99DC2BE23A6}"/>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53760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Generalization</a:t>
            </a:r>
          </a:p>
        </p:txBody>
      </p:sp>
      <p:sp>
        <p:nvSpPr>
          <p:cNvPr id="63491" name="Rectangle 3"/>
          <p:cNvSpPr>
            <a:spLocks noGrp="1" noChangeArrowheads="1"/>
          </p:cNvSpPr>
          <p:nvPr>
            <p:ph type="body" idx="1"/>
          </p:nvPr>
        </p:nvSpPr>
        <p:spPr>
          <a:xfrm>
            <a:off x="768349" y="1168400"/>
            <a:ext cx="7541149" cy="2674938"/>
          </a:xfrm>
        </p:spPr>
        <p:txBody>
          <a:bodyPr/>
          <a:lstStyle/>
          <a:p>
            <a:r>
              <a:rPr lang="en-US" altLang="en-US" sz="1700" b="1" dirty="0">
                <a:solidFill>
                  <a:srgbClr val="002060"/>
                </a:solidFill>
              </a:rPr>
              <a:t>A bottom-up design process</a:t>
            </a:r>
            <a:r>
              <a:rPr lang="en-US" altLang="en-US" sz="1700" dirty="0">
                <a:solidFill>
                  <a:srgbClr val="002060"/>
                </a:solidFill>
              </a:rPr>
              <a:t> </a:t>
            </a:r>
            <a:r>
              <a:rPr lang="en-US" altLang="en-US" sz="1700" dirty="0"/>
              <a:t>– combine a number of entity sets that share the same features into a higher-level entity set.</a:t>
            </a:r>
          </a:p>
          <a:p>
            <a:r>
              <a:rPr lang="en-US" altLang="en-US" sz="1700" dirty="0"/>
              <a:t>Specialization and generalization are simple inversions of each other; they are represented in an E-R diagram in the same way.</a:t>
            </a:r>
          </a:p>
          <a:p>
            <a:r>
              <a:rPr lang="en-US" altLang="en-US" sz="1700" dirty="0"/>
              <a:t>The terms specialization and generalization are used interchangeably.</a:t>
            </a:r>
          </a:p>
        </p:txBody>
      </p:sp>
    </p:spTree>
    <p:extLst>
      <p:ext uri="{BB962C8B-B14F-4D97-AF65-F5344CB8AC3E}">
        <p14:creationId xmlns:p14="http://schemas.microsoft.com/office/powerpoint/2010/main" val="725667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8BE5D142-6198-48DE-9A8C-0A4EBCEB4A35}"/>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543746" name="Rectangle 2"/>
          <p:cNvSpPr>
            <a:spLocks noGrp="1" noChangeArrowheads="1"/>
          </p:cNvSpPr>
          <p:nvPr>
            <p:ph type="title"/>
          </p:nvPr>
        </p:nvSpPr>
        <p:spPr>
          <a:xfrm>
            <a:off x="855663" y="114300"/>
            <a:ext cx="8077200" cy="561975"/>
          </a:xfrm>
        </p:spPr>
        <p:txBody>
          <a:bodyPr/>
          <a:lstStyle/>
          <a:p>
            <a:pPr>
              <a:defRPr/>
            </a:pPr>
            <a:r>
              <a:rPr lang="en-US" altLang="en-US" dirty="0">
                <a:effectLst>
                  <a:outerShdw blurRad="38100" dist="38100" dir="2700000" algn="tl">
                    <a:srgbClr val="C0C0C0"/>
                  </a:outerShdw>
                </a:effectLst>
              </a:rPr>
              <a:t>Completeness constraint</a:t>
            </a:r>
          </a:p>
        </p:txBody>
      </p:sp>
      <p:sp>
        <p:nvSpPr>
          <p:cNvPr id="64515" name="Rectangle 3"/>
          <p:cNvSpPr>
            <a:spLocks noGrp="1" noChangeArrowheads="1"/>
          </p:cNvSpPr>
          <p:nvPr>
            <p:ph type="body" idx="1"/>
          </p:nvPr>
        </p:nvSpPr>
        <p:spPr>
          <a:xfrm>
            <a:off x="766883" y="1187451"/>
            <a:ext cx="7471591" cy="3165094"/>
          </a:xfrm>
        </p:spPr>
        <p:txBody>
          <a:bodyPr/>
          <a:lstStyle/>
          <a:p>
            <a:r>
              <a:rPr lang="en-US" altLang="en-US" sz="1700" b="1" dirty="0">
                <a:solidFill>
                  <a:srgbClr val="002060"/>
                </a:solidFill>
              </a:rPr>
              <a:t>Completeness constraint</a:t>
            </a:r>
            <a:r>
              <a:rPr lang="en-US" altLang="en-US" sz="1700" dirty="0">
                <a:solidFill>
                  <a:srgbClr val="002060"/>
                </a:solidFill>
              </a:rPr>
              <a:t> </a:t>
            </a:r>
            <a:r>
              <a:rPr lang="en-US" altLang="en-US" sz="1700" dirty="0"/>
              <a:t>-- specifies whether or not an entity in the higher-level entity set must belong to at least one of the lower-level entity sets within a generalization.</a:t>
            </a:r>
          </a:p>
          <a:p>
            <a:pPr lvl="1"/>
            <a:r>
              <a:rPr lang="en-US" altLang="en-US" sz="1700" b="1" dirty="0">
                <a:solidFill>
                  <a:srgbClr val="002060"/>
                </a:solidFill>
                <a:ea typeface="ＭＳ Ｐゴシック" panose="020B0600070205080204" pitchFamily="34" charset="-128"/>
              </a:rPr>
              <a:t>total</a:t>
            </a:r>
            <a:r>
              <a:rPr lang="en-US" altLang="en-US" sz="1700" dirty="0">
                <a:ea typeface="ＭＳ Ｐゴシック" panose="020B0600070205080204" pitchFamily="34" charset="-128"/>
              </a:rPr>
              <a:t>: an entity must belong to one of the lower-level entity sets</a:t>
            </a:r>
          </a:p>
          <a:p>
            <a:pPr lvl="1"/>
            <a:r>
              <a:rPr lang="en-US" altLang="en-US" sz="1700" b="1" dirty="0">
                <a:solidFill>
                  <a:srgbClr val="002060"/>
                </a:solidFill>
                <a:ea typeface="ＭＳ Ｐゴシック" panose="020B0600070205080204" pitchFamily="34" charset="-128"/>
              </a:rPr>
              <a:t>partial</a:t>
            </a:r>
            <a:r>
              <a:rPr lang="en-US" altLang="en-US" sz="1700" dirty="0">
                <a:ea typeface="ＭＳ Ｐゴシック" panose="020B0600070205080204" pitchFamily="34" charset="-128"/>
              </a:rPr>
              <a:t>: an entity need not belong to one of the lower-level entity sets</a:t>
            </a:r>
          </a:p>
          <a:p>
            <a:endParaRPr lang="en-US" altLang="en-US" sz="1600" dirty="0"/>
          </a:p>
          <a:p>
            <a:endParaRPr lang="en-US" altLang="en-US" dirty="0"/>
          </a:p>
          <a:p>
            <a:endParaRPr lang="en-US" altLang="en-US" dirty="0"/>
          </a:p>
          <a:p>
            <a:pPr lvl="1"/>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118697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638E0E32-A40D-46FA-A542-E938EC8A1F31}"/>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543746" name="Rectangle 2"/>
          <p:cNvSpPr>
            <a:spLocks noGrp="1" noChangeArrowheads="1"/>
          </p:cNvSpPr>
          <p:nvPr>
            <p:ph type="title"/>
          </p:nvPr>
        </p:nvSpPr>
        <p:spPr>
          <a:xfrm>
            <a:off x="855663" y="114300"/>
            <a:ext cx="8077200" cy="561975"/>
          </a:xfrm>
        </p:spPr>
        <p:txBody>
          <a:bodyPr/>
          <a:lstStyle/>
          <a:p>
            <a:pPr>
              <a:defRPr/>
            </a:pPr>
            <a:r>
              <a:rPr lang="en-US" altLang="en-US" dirty="0">
                <a:effectLst>
                  <a:outerShdw blurRad="38100" dist="38100" dir="2700000" algn="tl">
                    <a:srgbClr val="C0C0C0"/>
                  </a:outerShdw>
                </a:effectLst>
              </a:rPr>
              <a:t>Completeness constraint (Cont.)</a:t>
            </a:r>
          </a:p>
        </p:txBody>
      </p:sp>
      <p:sp>
        <p:nvSpPr>
          <p:cNvPr id="65539" name="Rectangle 3"/>
          <p:cNvSpPr>
            <a:spLocks noGrp="1" noChangeArrowheads="1"/>
          </p:cNvSpPr>
          <p:nvPr>
            <p:ph type="body" idx="1"/>
          </p:nvPr>
        </p:nvSpPr>
        <p:spPr>
          <a:xfrm>
            <a:off x="772357" y="1233995"/>
            <a:ext cx="7354144" cy="3926657"/>
          </a:xfrm>
        </p:spPr>
        <p:txBody>
          <a:bodyPr/>
          <a:lstStyle/>
          <a:p>
            <a:r>
              <a:rPr lang="en-US" altLang="en-US" sz="1700" dirty="0"/>
              <a:t>Partial generalization is the default.  </a:t>
            </a:r>
          </a:p>
          <a:p>
            <a:r>
              <a:rPr lang="en-US" altLang="en-US" sz="1700" dirty="0"/>
              <a:t>We can specify total generalization in an ER diagram by adding the keyword </a:t>
            </a:r>
            <a:r>
              <a:rPr lang="en-US" altLang="en-US" sz="1700" b="1" dirty="0"/>
              <a:t>total</a:t>
            </a:r>
            <a:r>
              <a:rPr lang="en-US" altLang="en-US" sz="1700" dirty="0"/>
              <a:t> in the diagram and drawing a dashed line from the keyword to the corresponding hollow arrow-head to which it applies (for a total generalization), or to the set of hollow arrow-heads to which it applies (for an overlapping generalization</a:t>
            </a:r>
            <a:r>
              <a:rPr lang="en-US" altLang="en-US" sz="1700" dirty="0" smtClean="0"/>
              <a:t>).</a:t>
            </a:r>
          </a:p>
          <a:p>
            <a:endParaRPr lang="en-US" altLang="en-US" sz="1700" dirty="0"/>
          </a:p>
          <a:p>
            <a:r>
              <a:rPr lang="en-US" altLang="en-US" sz="1700" dirty="0"/>
              <a:t>The </a:t>
            </a:r>
            <a:r>
              <a:rPr lang="en-US" altLang="en-US" sz="1700" i="1" dirty="0"/>
              <a:t>student</a:t>
            </a:r>
            <a:r>
              <a:rPr lang="en-US" altLang="en-US" sz="1700" dirty="0"/>
              <a:t> generalization is total: All student entities must be either graduate or undergraduate. Because the higher-level entity set arrived at through generalization is generally composed of only those entities in the lower-level entity sets, the completeness constraint for a generalized higher-level entity set is usually total</a:t>
            </a:r>
          </a:p>
          <a:p>
            <a:endParaRPr lang="en-US" altLang="en-US" sz="2000" dirty="0"/>
          </a:p>
          <a:p>
            <a:endParaRPr lang="en-US" altLang="en-US" sz="2000" dirty="0"/>
          </a:p>
          <a:p>
            <a:endParaRPr lang="en-US" altLang="en-US" dirty="0"/>
          </a:p>
          <a:p>
            <a:pPr lvl="1"/>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40299873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4B44043F-A027-4FC0-ABC7-723F0ED4AB87}"/>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545794" name="Rectangle 2"/>
          <p:cNvSpPr>
            <a:spLocks noGrp="1" noChangeArrowheads="1"/>
          </p:cNvSpPr>
          <p:nvPr>
            <p:ph type="title"/>
          </p:nvPr>
        </p:nvSpPr>
        <p:spPr>
          <a:xfrm>
            <a:off x="1209675" y="52388"/>
            <a:ext cx="6726238" cy="622300"/>
          </a:xfrm>
        </p:spPr>
        <p:txBody>
          <a:bodyPr/>
          <a:lstStyle/>
          <a:p>
            <a:pPr>
              <a:defRPr/>
            </a:pPr>
            <a:r>
              <a:rPr lang="en-US" altLang="en-US">
                <a:effectLst>
                  <a:outerShdw blurRad="38100" dist="38100" dir="2700000" algn="tl">
                    <a:srgbClr val="C0C0C0"/>
                  </a:outerShdw>
                </a:effectLst>
              </a:rPr>
              <a:t>Aggregation</a:t>
            </a:r>
          </a:p>
        </p:txBody>
      </p:sp>
      <p:sp>
        <p:nvSpPr>
          <p:cNvPr id="66563" name="Rectangle 3"/>
          <p:cNvSpPr>
            <a:spLocks noChangeArrowheads="1"/>
          </p:cNvSpPr>
          <p:nvPr/>
        </p:nvSpPr>
        <p:spPr bwMode="auto">
          <a:xfrm>
            <a:off x="710215" y="1071563"/>
            <a:ext cx="7679184" cy="1007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marL="400050">
              <a:spcBef>
                <a:spcPct val="50000"/>
              </a:spcBef>
              <a:buClr>
                <a:srgbClr val="002060"/>
              </a:buClr>
              <a:buSzPct val="110000"/>
              <a:buFont typeface="Wingdings" panose="05000000000000000000" pitchFamily="2" charset="2"/>
              <a:buChar char="§"/>
            </a:pPr>
            <a:r>
              <a:rPr kumimoji="1" lang="en-US" altLang="en-US" sz="1700" dirty="0"/>
              <a:t>Consider the ternary relationship </a:t>
            </a:r>
            <a:r>
              <a:rPr kumimoji="1" lang="en-US" altLang="en-US" sz="1700" i="1" dirty="0" err="1"/>
              <a:t>proj_guide</a:t>
            </a:r>
            <a:r>
              <a:rPr kumimoji="1" lang="en-US" altLang="en-US" sz="1700" dirty="0"/>
              <a:t>, which we saw earlier</a:t>
            </a:r>
          </a:p>
          <a:p>
            <a:pPr marL="400050">
              <a:spcBef>
                <a:spcPct val="50000"/>
              </a:spcBef>
              <a:buClr>
                <a:srgbClr val="002060"/>
              </a:buClr>
              <a:buSzPct val="110000"/>
              <a:buFont typeface="Wingdings" panose="05000000000000000000" pitchFamily="2" charset="2"/>
              <a:buChar char="§"/>
            </a:pPr>
            <a:r>
              <a:rPr kumimoji="1" lang="en-US" altLang="en-US" sz="1700" dirty="0"/>
              <a:t>Suppose we want to record evaluations of a student by a guide on a project</a:t>
            </a:r>
          </a:p>
        </p:txBody>
      </p:sp>
      <p:pic>
        <p:nvPicPr>
          <p:cNvPr id="66564" name="Picture 4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9541" y="2201769"/>
            <a:ext cx="4140454" cy="32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969" y="5256514"/>
            <a:ext cx="3580319" cy="1378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4488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FE20832C-B96D-4B75-BA34-D9E99EE91A32}"/>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54784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Aggregation (Cont.)</a:t>
            </a:r>
          </a:p>
        </p:txBody>
      </p:sp>
      <p:sp>
        <p:nvSpPr>
          <p:cNvPr id="67587" name="Rectangle 3"/>
          <p:cNvSpPr>
            <a:spLocks noGrp="1" noChangeArrowheads="1"/>
          </p:cNvSpPr>
          <p:nvPr>
            <p:ph type="body" idx="1"/>
          </p:nvPr>
        </p:nvSpPr>
        <p:spPr>
          <a:xfrm>
            <a:off x="768350" y="1184275"/>
            <a:ext cx="7677723" cy="3760587"/>
          </a:xfrm>
        </p:spPr>
        <p:txBody>
          <a:bodyPr/>
          <a:lstStyle/>
          <a:p>
            <a:r>
              <a:rPr lang="en-US" altLang="en-US" sz="1700" dirty="0"/>
              <a:t>Relationship sets </a:t>
            </a:r>
            <a:r>
              <a:rPr lang="en-US" altLang="en-US" sz="1700" i="1" dirty="0" err="1"/>
              <a:t>eval_for</a:t>
            </a:r>
            <a:r>
              <a:rPr lang="en-US" altLang="en-US" sz="1700" i="1" dirty="0"/>
              <a:t> </a:t>
            </a:r>
            <a:r>
              <a:rPr lang="en-US" altLang="en-US" sz="1700" dirty="0"/>
              <a:t>and </a:t>
            </a:r>
            <a:r>
              <a:rPr lang="en-US" altLang="en-US" sz="1700" i="1" dirty="0" err="1"/>
              <a:t>proj_guide</a:t>
            </a:r>
            <a:r>
              <a:rPr lang="en-US" altLang="en-US" sz="1700" dirty="0"/>
              <a:t> represent overlapping information</a:t>
            </a:r>
          </a:p>
          <a:p>
            <a:pPr lvl="1"/>
            <a:r>
              <a:rPr lang="en-US" altLang="en-US" sz="1700" dirty="0">
                <a:ea typeface="ＭＳ Ｐゴシック" panose="020B0600070205080204" pitchFamily="34" charset="-128"/>
              </a:rPr>
              <a:t>Every </a:t>
            </a:r>
            <a:r>
              <a:rPr lang="en-US" altLang="en-US" sz="1700" i="1" dirty="0" err="1">
                <a:ea typeface="ＭＳ Ｐゴシック" panose="020B0600070205080204" pitchFamily="34" charset="-128"/>
              </a:rPr>
              <a:t>eval_for</a:t>
            </a:r>
            <a:r>
              <a:rPr lang="en-US" altLang="en-US" sz="1700" dirty="0">
                <a:ea typeface="ＭＳ Ｐゴシック" panose="020B0600070205080204" pitchFamily="34" charset="-128"/>
              </a:rPr>
              <a:t> relationship corresponds to a </a:t>
            </a:r>
            <a:r>
              <a:rPr lang="en-US" altLang="en-US" sz="1700" i="1" dirty="0" err="1">
                <a:ea typeface="ＭＳ Ｐゴシック" panose="020B0600070205080204" pitchFamily="34" charset="-128"/>
              </a:rPr>
              <a:t>proj_guide</a:t>
            </a:r>
            <a:r>
              <a:rPr lang="en-US" altLang="en-US" sz="1700" dirty="0">
                <a:ea typeface="ＭＳ Ｐゴシック" panose="020B0600070205080204" pitchFamily="34" charset="-128"/>
              </a:rPr>
              <a:t> relationship</a:t>
            </a:r>
          </a:p>
          <a:p>
            <a:pPr lvl="1"/>
            <a:r>
              <a:rPr lang="en-US" altLang="en-US" sz="1700" dirty="0">
                <a:ea typeface="ＭＳ Ｐゴシック" panose="020B0600070205080204" pitchFamily="34" charset="-128"/>
              </a:rPr>
              <a:t>However, some </a:t>
            </a:r>
            <a:r>
              <a:rPr lang="en-US" altLang="en-US" sz="1700" i="1" dirty="0" err="1">
                <a:ea typeface="ＭＳ Ｐゴシック" panose="020B0600070205080204" pitchFamily="34" charset="-128"/>
              </a:rPr>
              <a:t>proj_guide</a:t>
            </a:r>
            <a:r>
              <a:rPr lang="en-US" altLang="en-US" sz="1700" dirty="0">
                <a:ea typeface="ＭＳ Ｐゴシック" panose="020B0600070205080204" pitchFamily="34" charset="-128"/>
              </a:rPr>
              <a:t> relationships may not correspond to any </a:t>
            </a:r>
            <a:r>
              <a:rPr lang="en-US" altLang="en-US" sz="1700" i="1" dirty="0" err="1">
                <a:ea typeface="ＭＳ Ｐゴシック" panose="020B0600070205080204" pitchFamily="34" charset="-128"/>
              </a:rPr>
              <a:t>eval_for</a:t>
            </a:r>
            <a:r>
              <a:rPr lang="en-US" altLang="en-US" sz="1700" dirty="0">
                <a:ea typeface="ＭＳ Ｐゴシック" panose="020B0600070205080204" pitchFamily="34" charset="-128"/>
              </a:rPr>
              <a:t> relationships </a:t>
            </a:r>
          </a:p>
          <a:p>
            <a:pPr lvl="2"/>
            <a:r>
              <a:rPr lang="en-US" altLang="en-US" sz="1700" dirty="0">
                <a:ea typeface="ＭＳ Ｐゴシック" panose="020B0600070205080204" pitchFamily="34" charset="-128"/>
              </a:rPr>
              <a:t>So we can’t discard the </a:t>
            </a:r>
            <a:r>
              <a:rPr lang="en-US" altLang="en-US" sz="1700" i="1" dirty="0" err="1">
                <a:ea typeface="ＭＳ Ｐゴシック" panose="020B0600070205080204" pitchFamily="34" charset="-128"/>
              </a:rPr>
              <a:t>proj_guide</a:t>
            </a:r>
            <a:r>
              <a:rPr lang="en-US" altLang="en-US" sz="1700" dirty="0">
                <a:ea typeface="ＭＳ Ｐゴシック" panose="020B0600070205080204" pitchFamily="34" charset="-128"/>
              </a:rPr>
              <a:t> </a:t>
            </a:r>
            <a:r>
              <a:rPr lang="en-US" altLang="en-US" sz="1700" dirty="0" smtClean="0">
                <a:ea typeface="ＭＳ Ｐゴシック" panose="020B0600070205080204" pitchFamily="34" charset="-128"/>
              </a:rPr>
              <a:t>relationship</a:t>
            </a:r>
          </a:p>
          <a:p>
            <a:pPr lvl="2"/>
            <a:endParaRPr lang="en-US" altLang="en-US" sz="1700" dirty="0">
              <a:ea typeface="ＭＳ Ｐゴシック" panose="020B0600070205080204" pitchFamily="34" charset="-128"/>
            </a:endParaRPr>
          </a:p>
          <a:p>
            <a:r>
              <a:rPr lang="en-US" altLang="en-US" sz="1700" dirty="0"/>
              <a:t>Eliminate this redundancy via </a:t>
            </a:r>
            <a:r>
              <a:rPr lang="en-US" altLang="en-US" sz="1700" i="1" dirty="0"/>
              <a:t>aggregation</a:t>
            </a:r>
            <a:endParaRPr lang="en-US" altLang="en-US" sz="1700" dirty="0"/>
          </a:p>
          <a:p>
            <a:pPr lvl="1"/>
            <a:r>
              <a:rPr lang="en-US" altLang="en-US" sz="1700" dirty="0">
                <a:ea typeface="ＭＳ Ｐゴシック" panose="020B0600070205080204" pitchFamily="34" charset="-128"/>
              </a:rPr>
              <a:t>Treat relationship as an abstract entity</a:t>
            </a:r>
          </a:p>
          <a:p>
            <a:pPr lvl="1"/>
            <a:r>
              <a:rPr lang="en-US" altLang="en-US" sz="1700" dirty="0">
                <a:ea typeface="ＭＳ Ｐゴシック" panose="020B0600070205080204" pitchFamily="34" charset="-128"/>
              </a:rPr>
              <a:t>Allows relationships between relationships </a:t>
            </a:r>
          </a:p>
          <a:p>
            <a:pPr lvl="1"/>
            <a:r>
              <a:rPr lang="en-US" altLang="en-US" sz="1700" dirty="0">
                <a:ea typeface="ＭＳ Ｐゴシック" panose="020B0600070205080204" pitchFamily="34" charset="-128"/>
              </a:rPr>
              <a:t>Abstraction of relationship into new entity</a:t>
            </a:r>
          </a:p>
        </p:txBody>
      </p:sp>
    </p:spTree>
    <p:extLst>
      <p:ext uri="{BB962C8B-B14F-4D97-AF65-F5344CB8AC3E}">
        <p14:creationId xmlns:p14="http://schemas.microsoft.com/office/powerpoint/2010/main" val="2506998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7B140C94-6C41-4365-BD45-45ADE443FAB5}"/>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547842" name="Rectangle 2"/>
          <p:cNvSpPr>
            <a:spLocks noGrp="1" noChangeArrowheads="1"/>
          </p:cNvSpPr>
          <p:nvPr>
            <p:ph type="title" idx="4294967295"/>
          </p:nvPr>
        </p:nvSpPr>
        <p:spPr/>
        <p:txBody>
          <a:bodyPr/>
          <a:lstStyle/>
          <a:p>
            <a:pPr>
              <a:defRPr/>
            </a:pPr>
            <a:r>
              <a:rPr lang="en-US" altLang="en-US">
                <a:effectLst>
                  <a:outerShdw blurRad="38100" dist="38100" dir="2700000" algn="tl">
                    <a:srgbClr val="C0C0C0"/>
                  </a:outerShdw>
                </a:effectLst>
              </a:rPr>
              <a:t>Aggregation (Cont.)</a:t>
            </a:r>
          </a:p>
        </p:txBody>
      </p:sp>
      <p:sp>
        <p:nvSpPr>
          <p:cNvPr id="68611" name="Rectangle 3"/>
          <p:cNvSpPr>
            <a:spLocks noGrp="1" noChangeArrowheads="1"/>
          </p:cNvSpPr>
          <p:nvPr>
            <p:ph type="body" idx="4294967295"/>
          </p:nvPr>
        </p:nvSpPr>
        <p:spPr>
          <a:xfrm>
            <a:off x="768351" y="1106488"/>
            <a:ext cx="7647680" cy="1773237"/>
          </a:xfrm>
        </p:spPr>
        <p:txBody>
          <a:bodyPr/>
          <a:lstStyle/>
          <a:p>
            <a:pPr>
              <a:buFont typeface="Wingdings" panose="05000000000000000000" pitchFamily="2" charset="2"/>
              <a:buChar char="§"/>
            </a:pPr>
            <a:r>
              <a:rPr lang="en-US" altLang="en-US" sz="1700" dirty="0"/>
              <a:t>Eliminate this redundancy via </a:t>
            </a:r>
            <a:r>
              <a:rPr lang="en-US" altLang="en-US" sz="1700" i="1" dirty="0"/>
              <a:t>aggregation</a:t>
            </a:r>
            <a:r>
              <a:rPr lang="en-US" altLang="en-US" sz="1700" dirty="0"/>
              <a:t> without introducing redundancy, the following diagram represents:</a:t>
            </a:r>
          </a:p>
          <a:p>
            <a:pPr lvl="1">
              <a:buSzPct val="110000"/>
              <a:buFont typeface="Arial" panose="020B0604020202020204" pitchFamily="34" charset="0"/>
              <a:buChar char="•"/>
            </a:pPr>
            <a:r>
              <a:rPr lang="en-US" altLang="en-US" sz="1700" dirty="0">
                <a:ea typeface="ＭＳ Ｐゴシック" panose="020B0600070205080204" pitchFamily="34" charset="-128"/>
              </a:rPr>
              <a:t>A student is guided by a particular instructor on a particular project </a:t>
            </a:r>
          </a:p>
          <a:p>
            <a:pPr lvl="1">
              <a:buSzPct val="110000"/>
              <a:buFont typeface="Arial" panose="020B0604020202020204" pitchFamily="34" charset="0"/>
              <a:buChar char="•"/>
            </a:pPr>
            <a:r>
              <a:rPr lang="en-US" altLang="en-US" sz="1700" dirty="0">
                <a:ea typeface="ＭＳ Ｐゴシック" panose="020B0600070205080204" pitchFamily="34" charset="-128"/>
              </a:rPr>
              <a:t>A student, instructor, project combination may have an associated evaluation</a:t>
            </a:r>
          </a:p>
        </p:txBody>
      </p:sp>
      <p:pic>
        <p:nvPicPr>
          <p:cNvPr id="68612" name="Picture 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5392" y="2837298"/>
            <a:ext cx="3677389" cy="2952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7104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D8962555-0291-4727-B566-F7E227EEC3E4}"/>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74818" name="Rectangle 2"/>
          <p:cNvSpPr>
            <a:spLocks noGrp="1" noChangeArrowheads="1"/>
          </p:cNvSpPr>
          <p:nvPr>
            <p:ph type="title"/>
          </p:nvPr>
        </p:nvSpPr>
        <p:spPr>
          <a:xfrm>
            <a:off x="942975" y="-180975"/>
            <a:ext cx="8131175" cy="865188"/>
          </a:xfrm>
        </p:spPr>
        <p:txBody>
          <a:bodyPr/>
          <a:lstStyle/>
          <a:p>
            <a:pPr>
              <a:defRPr/>
            </a:pPr>
            <a:r>
              <a:rPr lang="en-US" altLang="en-US" dirty="0">
                <a:effectLst>
                  <a:outerShdw blurRad="38100" dist="38100" dir="2700000" algn="tl">
                    <a:srgbClr val="C0C0C0"/>
                  </a:outerShdw>
                </a:effectLst>
              </a:rPr>
              <a:t>Reduction to Relational Schemas</a:t>
            </a:r>
          </a:p>
        </p:txBody>
      </p:sp>
      <p:sp>
        <p:nvSpPr>
          <p:cNvPr id="17411" name="Rectangle 3"/>
          <p:cNvSpPr>
            <a:spLocks noChangeArrowheads="1"/>
          </p:cNvSpPr>
          <p:nvPr/>
        </p:nvSpPr>
        <p:spPr bwMode="auto">
          <a:xfrm>
            <a:off x="781235" y="1222375"/>
            <a:ext cx="7682172" cy="4210050"/>
          </a:xfrm>
          <a:prstGeom prst="rect">
            <a:avLst/>
          </a:prstGeom>
          <a:noFill/>
          <a:ln w="9525">
            <a:noFill/>
            <a:miter lim="800000"/>
            <a:headEnd/>
            <a:tailEnd/>
          </a:ln>
        </p:spPr>
        <p:txBody>
          <a:bodyPr/>
          <a:lstStyle/>
          <a:p>
            <a:pPr marL="342900" indent="-342900">
              <a:spcBef>
                <a:spcPct val="35000"/>
              </a:spcBef>
              <a:buClr>
                <a:srgbClr val="002060"/>
              </a:buClr>
              <a:buSzPct val="110000"/>
              <a:buFont typeface="Wingdings" panose="05000000000000000000" pitchFamily="2" charset="2"/>
              <a:buChar char="§"/>
              <a:defRPr/>
            </a:pPr>
            <a:r>
              <a:rPr kumimoji="1" lang="en-US" altLang="en-US" sz="1700" dirty="0">
                <a:ea typeface="ＭＳ Ｐゴシック" charset="-128"/>
              </a:rPr>
              <a:t>To represent aggregation, create a schema containing</a:t>
            </a:r>
          </a:p>
          <a:p>
            <a:pPr marL="800100" lvl="1" indent="-342900">
              <a:spcBef>
                <a:spcPct val="35000"/>
              </a:spcBef>
              <a:buClr>
                <a:srgbClr val="FF9933"/>
              </a:buClr>
              <a:buSzPct val="110000"/>
              <a:buFont typeface="Arial" panose="020B0604020202020204" pitchFamily="34" charset="0"/>
              <a:buChar char="•"/>
              <a:defRPr/>
            </a:pPr>
            <a:r>
              <a:rPr kumimoji="1" lang="en-US" altLang="en-US" sz="1700" dirty="0">
                <a:ea typeface="ＭＳ Ｐゴシック" charset="-128"/>
              </a:rPr>
              <a:t>Primary key of the aggregated relationship,</a:t>
            </a:r>
          </a:p>
          <a:p>
            <a:pPr marL="800100" lvl="1" indent="-342900">
              <a:spcBef>
                <a:spcPct val="35000"/>
              </a:spcBef>
              <a:buClr>
                <a:srgbClr val="FF9933"/>
              </a:buClr>
              <a:buSzPct val="110000"/>
              <a:buFont typeface="Arial" panose="020B0604020202020204" pitchFamily="34" charset="0"/>
              <a:buChar char="•"/>
              <a:defRPr/>
            </a:pPr>
            <a:r>
              <a:rPr kumimoji="1" lang="en-US" altLang="en-US" sz="1700" dirty="0">
                <a:ea typeface="ＭＳ Ｐゴシック" charset="-128"/>
              </a:rPr>
              <a:t>The primary key of the associated entity set</a:t>
            </a:r>
          </a:p>
          <a:p>
            <a:pPr marL="800100" lvl="1" indent="-342900">
              <a:spcBef>
                <a:spcPct val="35000"/>
              </a:spcBef>
              <a:buClr>
                <a:srgbClr val="FF9933"/>
              </a:buClr>
              <a:buSzPct val="110000"/>
              <a:buFont typeface="Arial" panose="020B0604020202020204" pitchFamily="34" charset="0"/>
              <a:buChar char="•"/>
              <a:defRPr/>
            </a:pPr>
            <a:r>
              <a:rPr kumimoji="1" lang="en-US" altLang="en-US" sz="1700" dirty="0">
                <a:ea typeface="ＭＳ Ｐゴシック" charset="-128"/>
              </a:rPr>
              <a:t>Any descriptive attributes</a:t>
            </a:r>
          </a:p>
          <a:p>
            <a:pPr marL="342900" indent="-342900">
              <a:spcBef>
                <a:spcPct val="35000"/>
              </a:spcBef>
              <a:buClr>
                <a:srgbClr val="002060"/>
              </a:buClr>
              <a:buSzPct val="110000"/>
              <a:buFont typeface="Wingdings" panose="05000000000000000000" pitchFamily="2" charset="2"/>
              <a:buChar char="§"/>
              <a:defRPr/>
            </a:pPr>
            <a:r>
              <a:rPr kumimoji="1" lang="en-US" altLang="en-US" sz="1700" dirty="0">
                <a:ea typeface="ＭＳ Ｐゴシック" charset="-128"/>
              </a:rPr>
              <a:t>In our example:</a:t>
            </a:r>
          </a:p>
          <a:p>
            <a:pPr marL="800100" lvl="1" indent="-342900">
              <a:spcBef>
                <a:spcPct val="35000"/>
              </a:spcBef>
              <a:buClr>
                <a:srgbClr val="FF9933"/>
              </a:buClr>
              <a:buSzPct val="110000"/>
              <a:buFont typeface="Arial" panose="020B0604020202020204" pitchFamily="34" charset="0"/>
              <a:buChar char="•"/>
              <a:defRPr/>
            </a:pPr>
            <a:r>
              <a:rPr kumimoji="1" lang="en-US" altLang="en-US" sz="1700" dirty="0">
                <a:ea typeface="ＭＳ Ｐゴシック" charset="-128"/>
              </a:rPr>
              <a:t>The schema </a:t>
            </a:r>
            <a:r>
              <a:rPr kumimoji="1" lang="en-US" altLang="en-US" sz="1700" i="1" dirty="0" err="1">
                <a:ea typeface="ＭＳ Ｐゴシック" charset="-128"/>
              </a:rPr>
              <a:t>eval_for</a:t>
            </a:r>
            <a:r>
              <a:rPr kumimoji="1" lang="en-US" altLang="en-US" sz="1700" i="1" dirty="0">
                <a:ea typeface="ＭＳ Ｐゴシック" charset="-128"/>
              </a:rPr>
              <a:t> </a:t>
            </a:r>
            <a:r>
              <a:rPr kumimoji="1" lang="en-US" altLang="en-US" sz="1700" dirty="0">
                <a:ea typeface="ＭＳ Ｐゴシック" charset="-128"/>
              </a:rPr>
              <a:t>is:</a:t>
            </a:r>
          </a:p>
          <a:p>
            <a:pPr lvl="1">
              <a:spcBef>
                <a:spcPct val="35000"/>
              </a:spcBef>
              <a:buClr>
                <a:srgbClr val="FF9933"/>
              </a:buClr>
              <a:buSzPct val="110000"/>
              <a:defRPr/>
            </a:pPr>
            <a:r>
              <a:rPr kumimoji="1" lang="en-US" altLang="en-US" sz="1700" dirty="0">
                <a:ea typeface="ＭＳ Ｐゴシック" charset="-128"/>
              </a:rPr>
              <a:t>	       </a:t>
            </a:r>
            <a:r>
              <a:rPr kumimoji="1" lang="en-US" altLang="en-US" sz="1700" i="1" dirty="0" err="1">
                <a:ea typeface="ＭＳ Ｐゴシック" charset="-128"/>
              </a:rPr>
              <a:t>eval_for</a:t>
            </a:r>
            <a:r>
              <a:rPr kumimoji="1" lang="en-US" altLang="en-US" sz="1700" i="1" dirty="0">
                <a:ea typeface="ＭＳ Ｐゴシック" charset="-128"/>
              </a:rPr>
              <a:t> </a:t>
            </a:r>
            <a:r>
              <a:rPr kumimoji="1" lang="en-US" altLang="en-US" sz="1700" dirty="0">
                <a:ea typeface="ＭＳ Ｐゴシック" charset="-128"/>
              </a:rPr>
              <a:t>(</a:t>
            </a:r>
            <a:r>
              <a:rPr kumimoji="1" lang="en-US" altLang="en-US" sz="1700" i="1" dirty="0" err="1">
                <a:ea typeface="ＭＳ Ｐゴシック" charset="-128"/>
              </a:rPr>
              <a:t>s_ID</a:t>
            </a:r>
            <a:r>
              <a:rPr kumimoji="1" lang="en-US" altLang="en-US" sz="1700" i="1" dirty="0">
                <a:ea typeface="ＭＳ Ｐゴシック" charset="-128"/>
              </a:rPr>
              <a:t>, </a:t>
            </a:r>
            <a:r>
              <a:rPr kumimoji="1" lang="en-US" altLang="en-US" sz="1700" i="1" dirty="0" err="1">
                <a:ea typeface="ＭＳ Ｐゴシック" charset="-128"/>
              </a:rPr>
              <a:t>project_id</a:t>
            </a:r>
            <a:r>
              <a:rPr kumimoji="1" lang="en-US" altLang="en-US" sz="1700" i="1" dirty="0">
                <a:ea typeface="ＭＳ Ｐゴシック" charset="-128"/>
              </a:rPr>
              <a:t>, </a:t>
            </a:r>
            <a:r>
              <a:rPr kumimoji="1" lang="en-US" altLang="en-US" sz="1700" i="1" dirty="0" err="1">
                <a:ea typeface="ＭＳ Ｐゴシック" charset="-128"/>
              </a:rPr>
              <a:t>i_ID</a:t>
            </a:r>
            <a:r>
              <a:rPr kumimoji="1" lang="en-US" altLang="en-US" sz="1700" i="1" dirty="0">
                <a:ea typeface="ＭＳ Ｐゴシック" charset="-128"/>
              </a:rPr>
              <a:t>, </a:t>
            </a:r>
            <a:r>
              <a:rPr kumimoji="1" lang="en-US" altLang="en-US" sz="1700" i="1" dirty="0" err="1">
                <a:ea typeface="ＭＳ Ｐゴシック" charset="-128"/>
              </a:rPr>
              <a:t>evaluation_id</a:t>
            </a:r>
            <a:r>
              <a:rPr kumimoji="1" lang="en-US" altLang="en-US" sz="1700" dirty="0">
                <a:ea typeface="ＭＳ Ｐゴシック" charset="-128"/>
              </a:rPr>
              <a:t>)</a:t>
            </a:r>
          </a:p>
          <a:p>
            <a:pPr marL="800100" lvl="1" indent="-342900">
              <a:spcBef>
                <a:spcPct val="35000"/>
              </a:spcBef>
              <a:buClr>
                <a:srgbClr val="FF9933"/>
              </a:buClr>
              <a:buSzPct val="110000"/>
              <a:buFont typeface="Arial" panose="020B0604020202020204" pitchFamily="34" charset="0"/>
              <a:buChar char="•"/>
              <a:defRPr/>
            </a:pPr>
            <a:r>
              <a:rPr kumimoji="1" lang="en-US" altLang="en-US" sz="1700" dirty="0">
                <a:ea typeface="ＭＳ Ｐゴシック" charset="-128"/>
              </a:rPr>
              <a:t>The schema </a:t>
            </a:r>
            <a:r>
              <a:rPr kumimoji="1" lang="en-US" altLang="en-US" sz="1700" i="1" dirty="0" err="1">
                <a:ea typeface="ＭＳ Ｐゴシック" charset="-128"/>
              </a:rPr>
              <a:t>proj_guide</a:t>
            </a:r>
            <a:r>
              <a:rPr kumimoji="1" lang="en-US" altLang="en-US" sz="1700" dirty="0">
                <a:ea typeface="ＭＳ Ｐゴシック" charset="-128"/>
              </a:rPr>
              <a:t> is redundant.</a:t>
            </a:r>
          </a:p>
          <a:p>
            <a:pPr marL="342900" indent="-342900">
              <a:spcBef>
                <a:spcPct val="35000"/>
              </a:spcBef>
              <a:buClr>
                <a:schemeClr val="tx2"/>
              </a:buClr>
              <a:buSzPct val="90000"/>
              <a:buFont typeface="Monotype Sorts" charset="2"/>
              <a:buChar char="n"/>
              <a:defRPr/>
            </a:pPr>
            <a:endParaRPr kumimoji="1" lang="en-US" altLang="en-US" sz="1700" dirty="0">
              <a:ea typeface="ＭＳ Ｐゴシック" charset="-128"/>
            </a:endParaRPr>
          </a:p>
          <a:p>
            <a:pPr marL="342900" indent="-342900">
              <a:spcBef>
                <a:spcPct val="35000"/>
              </a:spcBef>
              <a:buClr>
                <a:schemeClr val="tx2"/>
              </a:buClr>
              <a:buSzPct val="90000"/>
              <a:buFont typeface="Monotype Sorts" charset="2"/>
              <a:buChar char="n"/>
              <a:defRPr/>
            </a:pPr>
            <a:endParaRPr kumimoji="1" lang="en-US" altLang="en-US" sz="1800" dirty="0">
              <a:ea typeface="ＭＳ Ｐゴシック" charset="-128"/>
            </a:endParaRPr>
          </a:p>
        </p:txBody>
      </p:sp>
    </p:spTree>
    <p:extLst>
      <p:ext uri="{BB962C8B-B14F-4D97-AF65-F5344CB8AC3E}">
        <p14:creationId xmlns:p14="http://schemas.microsoft.com/office/powerpoint/2010/main" val="2376761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1904062-BFCB-4299-9B25-5F1784B3C430}"/>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70658" name="Rectangle 4"/>
          <p:cNvSpPr>
            <a:spLocks noGrp="1" noChangeArrowheads="1"/>
          </p:cNvSpPr>
          <p:nvPr>
            <p:ph type="ctrTitle"/>
          </p:nvPr>
        </p:nvSpPr>
        <p:spPr/>
        <p:txBody>
          <a:bodyPr/>
          <a:lstStyle/>
          <a:p>
            <a:r>
              <a:rPr lang="en-US" altLang="en-US" dirty="0">
                <a:effectLst/>
              </a:rPr>
              <a:t>Design Issues</a:t>
            </a:r>
          </a:p>
        </p:txBody>
      </p:sp>
    </p:spTree>
    <p:extLst>
      <p:ext uri="{BB962C8B-B14F-4D97-AF65-F5344CB8AC3E}">
        <p14:creationId xmlns:p14="http://schemas.microsoft.com/office/powerpoint/2010/main" val="969661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F639CB37-6CED-4366-8B08-6552F9E6A390}"/>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46146" name="Rectangle 2"/>
          <p:cNvSpPr>
            <a:spLocks noGrp="1" noChangeArrowheads="1"/>
          </p:cNvSpPr>
          <p:nvPr>
            <p:ph type="title" idx="4294967295"/>
          </p:nvPr>
        </p:nvSpPr>
        <p:spPr>
          <a:xfrm>
            <a:off x="852488" y="42863"/>
            <a:ext cx="8077200" cy="609600"/>
          </a:xfrm>
        </p:spPr>
        <p:txBody>
          <a:bodyPr/>
          <a:lstStyle/>
          <a:p>
            <a:pPr>
              <a:defRPr/>
            </a:pPr>
            <a:r>
              <a:rPr lang="en-US" altLang="en-US" dirty="0">
                <a:effectLst>
                  <a:outerShdw blurRad="38100" dist="38100" dir="2700000" algn="tl">
                    <a:srgbClr val="C0C0C0"/>
                  </a:outerShdw>
                </a:effectLst>
              </a:rPr>
              <a:t>Common Mistakes in E-R Diagrams</a:t>
            </a:r>
          </a:p>
        </p:txBody>
      </p:sp>
      <p:sp>
        <p:nvSpPr>
          <p:cNvPr id="71683" name="Rectangle 3"/>
          <p:cNvSpPr>
            <a:spLocks noGrp="1" noChangeArrowheads="1"/>
          </p:cNvSpPr>
          <p:nvPr>
            <p:ph type="body" idx="4294967295"/>
          </p:nvPr>
        </p:nvSpPr>
        <p:spPr>
          <a:xfrm>
            <a:off x="772357" y="1093788"/>
            <a:ext cx="7396283" cy="503364"/>
          </a:xfrm>
        </p:spPr>
        <p:txBody>
          <a:bodyPr/>
          <a:lstStyle/>
          <a:p>
            <a:pPr>
              <a:buSzPct val="110000"/>
              <a:buFont typeface="Wingdings" panose="05000000000000000000" pitchFamily="2" charset="2"/>
              <a:buChar char="§"/>
            </a:pPr>
            <a:r>
              <a:rPr lang="en-US" altLang="en-US" sz="1700" dirty="0"/>
              <a:t>Example of erroneous E-R diagrams </a:t>
            </a:r>
            <a:r>
              <a:rPr lang="en-US" altLang="en-US" sz="2000" dirty="0"/>
              <a:t/>
            </a:r>
            <a:br>
              <a:rPr lang="en-US" altLang="en-US" sz="2000" dirty="0"/>
            </a:br>
            <a:r>
              <a:rPr lang="en-US" altLang="en-US" sz="2000" b="1" dirty="0">
                <a:solidFill>
                  <a:schemeClr val="tx2"/>
                </a:solidFill>
              </a:rPr>
              <a:t/>
            </a:r>
            <a:br>
              <a:rPr lang="en-US" altLang="en-US" sz="2000" b="1" dirty="0">
                <a:solidFill>
                  <a:schemeClr val="tx2"/>
                </a:solidFill>
              </a:rPr>
            </a:br>
            <a:r>
              <a:rPr lang="en-US" altLang="en-US" sz="2000" dirty="0"/>
              <a:t/>
            </a:r>
            <a:br>
              <a:rPr lang="en-US" altLang="en-US" sz="2000" dirty="0"/>
            </a:br>
            <a:r>
              <a:rPr lang="en-US" altLang="en-US" sz="2000" dirty="0"/>
              <a:t/>
            </a:r>
            <a:br>
              <a:rPr lang="en-US" altLang="en-US" sz="2000" dirty="0"/>
            </a:br>
            <a:r>
              <a:rPr lang="en-US" altLang="en-US" sz="2000" dirty="0"/>
              <a:t/>
            </a:r>
            <a:br>
              <a:rPr lang="en-US" altLang="en-US" sz="2000" dirty="0"/>
            </a:br>
            <a:endParaRPr lang="en-US" altLang="en-US" sz="2000" dirty="0"/>
          </a:p>
          <a:p>
            <a:endParaRPr lang="en-US" altLang="en-US" sz="2000" dirty="0"/>
          </a:p>
          <a:p>
            <a:pPr>
              <a:buFont typeface="Monotype Sorts" charset="2"/>
              <a:buNone/>
            </a:pPr>
            <a:endParaRPr lang="en-US" altLang="en-US" sz="2000" dirty="0"/>
          </a:p>
        </p:txBody>
      </p:sp>
      <p:pic>
        <p:nvPicPr>
          <p:cNvPr id="9" name="Picture 8">
            <a:extLst>
              <a:ext uri="{FF2B5EF4-FFF2-40B4-BE49-F238E27FC236}">
                <a16:creationId xmlns:a16="http://schemas.microsoft.com/office/drawing/2014/main" id="{53F4A2C6-AD3A-4980-A730-8ECCCC93FA22}"/>
              </a:ext>
            </a:extLst>
          </p:cNvPr>
          <p:cNvPicPr>
            <a:picLocks noChangeAspect="1"/>
          </p:cNvPicPr>
          <p:nvPr/>
        </p:nvPicPr>
        <p:blipFill>
          <a:blip r:embed="rId3"/>
          <a:stretch>
            <a:fillRect/>
          </a:stretch>
        </p:blipFill>
        <p:spPr>
          <a:xfrm>
            <a:off x="1712763" y="1597152"/>
            <a:ext cx="5515470" cy="4674870"/>
          </a:xfrm>
          <a:prstGeom prst="rect">
            <a:avLst/>
          </a:prstGeom>
        </p:spPr>
      </p:pic>
    </p:spTree>
    <p:extLst>
      <p:ext uri="{BB962C8B-B14F-4D97-AF65-F5344CB8AC3E}">
        <p14:creationId xmlns:p14="http://schemas.microsoft.com/office/powerpoint/2010/main" val="188273056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B750DED-DE3D-4B85-A29E-EEF4A31DE8EF}"/>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46146" name="Rectangle 2"/>
          <p:cNvSpPr>
            <a:spLocks noGrp="1" noChangeArrowheads="1"/>
          </p:cNvSpPr>
          <p:nvPr>
            <p:ph type="title" idx="4294967295"/>
          </p:nvPr>
        </p:nvSpPr>
        <p:spPr>
          <a:xfrm>
            <a:off x="852488" y="42863"/>
            <a:ext cx="8077200" cy="609600"/>
          </a:xfrm>
        </p:spPr>
        <p:txBody>
          <a:bodyPr/>
          <a:lstStyle/>
          <a:p>
            <a:pPr>
              <a:defRPr/>
            </a:pPr>
            <a:r>
              <a:rPr lang="en-US" altLang="en-US" sz="2800" dirty="0">
                <a:effectLst>
                  <a:outerShdw blurRad="38100" dist="38100" dir="2700000" algn="tl">
                    <a:srgbClr val="C0C0C0"/>
                  </a:outerShdw>
                </a:effectLst>
              </a:rPr>
              <a:t>Common Mistakes in E-R Diagrams (Cont.)</a:t>
            </a:r>
          </a:p>
        </p:txBody>
      </p:sp>
      <p:pic>
        <p:nvPicPr>
          <p:cNvPr id="9" name="Graphic 8">
            <a:extLst>
              <a:ext uri="{FF2B5EF4-FFF2-40B4-BE49-F238E27FC236}">
                <a16:creationId xmlns:a16="http://schemas.microsoft.com/office/drawing/2014/main" id="{8CD4B8B1-B217-4EE5-92FB-5CD6F4196362}"/>
              </a:ext>
            </a:extLst>
          </p:cNvPr>
          <p:cNvPicPr>
            <a:picLocks noChangeAspect="1"/>
          </p:cNvPicPr>
          <p:nvPr/>
        </p:nvPicPr>
        <p:blipFill rotWithShape="1">
          <a:blip r:embed="rId3">
            <a:extLst>
              <a:ext uri="{96DAC541-7B7A-43D3-8B79-37D633B846F1}">
                <asvg:svgBlip xmlns:asvg="http://schemas.microsoft.com/office/drawing/2016/SVG/main" xmlns="" r:embed="rId4"/>
              </a:ext>
            </a:extLst>
          </a:blip>
          <a:srcRect l="-36205" t="105595" r="36205" b="-56126"/>
          <a:stretch/>
        </p:blipFill>
        <p:spPr>
          <a:xfrm>
            <a:off x="2060437" y="4277264"/>
            <a:ext cx="5023126" cy="2149570"/>
          </a:xfrm>
          <a:prstGeom prst="rect">
            <a:avLst/>
          </a:prstGeom>
        </p:spPr>
      </p:pic>
      <p:pic>
        <p:nvPicPr>
          <p:cNvPr id="7" name="Picture 6">
            <a:extLst>
              <a:ext uri="{FF2B5EF4-FFF2-40B4-BE49-F238E27FC236}">
                <a16:creationId xmlns:a16="http://schemas.microsoft.com/office/drawing/2014/main" id="{F8DA6C23-F47F-4655-AC8F-8208C2E54AA3}"/>
              </a:ext>
            </a:extLst>
          </p:cNvPr>
          <p:cNvPicPr>
            <a:picLocks noChangeAspect="1"/>
          </p:cNvPicPr>
          <p:nvPr/>
        </p:nvPicPr>
        <p:blipFill>
          <a:blip r:embed="rId5"/>
          <a:stretch>
            <a:fillRect/>
          </a:stretch>
        </p:blipFill>
        <p:spPr>
          <a:xfrm>
            <a:off x="337765" y="2478943"/>
            <a:ext cx="6322431" cy="3988434"/>
          </a:xfrm>
          <a:prstGeom prst="rect">
            <a:avLst/>
          </a:prstGeom>
        </p:spPr>
      </p:pic>
      <p:pic>
        <p:nvPicPr>
          <p:cNvPr id="12" name="Picture 11">
            <a:extLst>
              <a:ext uri="{FF2B5EF4-FFF2-40B4-BE49-F238E27FC236}">
                <a16:creationId xmlns:a16="http://schemas.microsoft.com/office/drawing/2014/main" id="{697A24E2-46AE-4A30-BC73-9BEC3131440A}"/>
              </a:ext>
            </a:extLst>
          </p:cNvPr>
          <p:cNvPicPr>
            <a:picLocks noChangeAspect="1"/>
          </p:cNvPicPr>
          <p:nvPr/>
        </p:nvPicPr>
        <p:blipFill rotWithShape="1">
          <a:blip r:embed="rId6"/>
          <a:srcRect t="44302"/>
          <a:stretch/>
        </p:blipFill>
        <p:spPr>
          <a:xfrm>
            <a:off x="4145280" y="652463"/>
            <a:ext cx="4398328" cy="2076422"/>
          </a:xfrm>
          <a:prstGeom prst="rect">
            <a:avLst/>
          </a:prstGeom>
        </p:spPr>
      </p:pic>
    </p:spTree>
    <p:extLst>
      <p:ext uri="{BB962C8B-B14F-4D97-AF65-F5344CB8AC3E}">
        <p14:creationId xmlns:p14="http://schemas.microsoft.com/office/powerpoint/2010/main" val="26485464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FF10E6B3-244B-40B7-92EA-A85265E64CD0}"/>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46146" name="Rectangle 2"/>
          <p:cNvSpPr>
            <a:spLocks noGrp="1" noChangeArrowheads="1"/>
          </p:cNvSpPr>
          <p:nvPr>
            <p:ph type="title" idx="4294967295"/>
          </p:nvPr>
        </p:nvSpPr>
        <p:spPr>
          <a:xfrm>
            <a:off x="852488" y="42863"/>
            <a:ext cx="8077200" cy="609600"/>
          </a:xfrm>
        </p:spPr>
        <p:txBody>
          <a:bodyPr/>
          <a:lstStyle/>
          <a:p>
            <a:pPr>
              <a:defRPr/>
            </a:pPr>
            <a:r>
              <a:rPr lang="en-US" altLang="en-US">
                <a:effectLst>
                  <a:outerShdw blurRad="38100" dist="38100" dir="2700000" algn="tl">
                    <a:srgbClr val="C0C0C0"/>
                  </a:outerShdw>
                </a:effectLst>
              </a:rPr>
              <a:t>Entities vs. Attributes</a:t>
            </a:r>
          </a:p>
        </p:txBody>
      </p:sp>
      <p:sp>
        <p:nvSpPr>
          <p:cNvPr id="73731" name="Rectangle 3"/>
          <p:cNvSpPr>
            <a:spLocks noGrp="1" noChangeArrowheads="1"/>
          </p:cNvSpPr>
          <p:nvPr>
            <p:ph type="body" idx="4294967295"/>
          </p:nvPr>
        </p:nvSpPr>
        <p:spPr>
          <a:xfrm>
            <a:off x="772357" y="1093788"/>
            <a:ext cx="7606861" cy="4368228"/>
          </a:xfrm>
        </p:spPr>
        <p:txBody>
          <a:bodyPr/>
          <a:lstStyle/>
          <a:p>
            <a:pPr>
              <a:buSzPct val="110000"/>
              <a:buFont typeface="Wingdings" panose="05000000000000000000" pitchFamily="2" charset="2"/>
              <a:buChar char="§"/>
            </a:pPr>
            <a:r>
              <a:rPr lang="en-US" altLang="en-US" sz="1700" dirty="0"/>
              <a:t>Use of entity sets vs. attributes</a:t>
            </a:r>
            <a:br>
              <a:rPr lang="en-US" altLang="en-US" sz="1700" dirty="0"/>
            </a:br>
            <a:r>
              <a:rPr lang="en-US" altLang="en-US" sz="1700" b="1" dirty="0">
                <a:solidFill>
                  <a:schemeClr val="tx2"/>
                </a:solidFill>
              </a:rPr>
              <a:t/>
            </a:r>
            <a:br>
              <a:rPr lang="en-US" altLang="en-US" sz="1700" b="1" dirty="0">
                <a:solidFill>
                  <a:schemeClr val="tx2"/>
                </a:solidFill>
              </a:rPr>
            </a:br>
            <a:r>
              <a:rPr lang="en-US" altLang="en-US" sz="1700" dirty="0"/>
              <a:t/>
            </a:r>
            <a:br>
              <a:rPr lang="en-US" altLang="en-US" sz="1700" dirty="0"/>
            </a:br>
            <a:r>
              <a:rPr lang="en-US" altLang="en-US" sz="1700" dirty="0"/>
              <a:t/>
            </a:r>
            <a:br>
              <a:rPr lang="en-US" altLang="en-US" sz="1700" dirty="0"/>
            </a:br>
            <a:r>
              <a:rPr lang="en-US" altLang="en-US" sz="1700" dirty="0"/>
              <a:t/>
            </a:r>
            <a:br>
              <a:rPr lang="en-US" altLang="en-US" sz="1700" dirty="0"/>
            </a:br>
            <a:endParaRPr lang="en-US" altLang="en-US" sz="1700" dirty="0"/>
          </a:p>
          <a:p>
            <a:endParaRPr lang="en-US" altLang="en-US" sz="1700" dirty="0"/>
          </a:p>
          <a:p>
            <a:endParaRPr lang="en-US" altLang="en-US" sz="1700" dirty="0"/>
          </a:p>
          <a:p>
            <a:pPr>
              <a:buSzPct val="110000"/>
              <a:buFont typeface="Wingdings" panose="05000000000000000000" pitchFamily="2" charset="2"/>
              <a:buChar char="§"/>
            </a:pPr>
            <a:r>
              <a:rPr lang="en-US" altLang="en-US" sz="1700" dirty="0"/>
              <a:t>Use of phone as an entity allows extra information about phone numbers (plus multiple phone numbers)</a:t>
            </a:r>
          </a:p>
        </p:txBody>
      </p:sp>
      <p:pic>
        <p:nvPicPr>
          <p:cNvPr id="73732" name="Picture 5"/>
          <p:cNvPicPr>
            <a:picLocks noChangeAspect="1" noChangeArrowheads="1"/>
          </p:cNvPicPr>
          <p:nvPr/>
        </p:nvPicPr>
        <p:blipFill>
          <a:blip r:embed="rId3">
            <a:extLst>
              <a:ext uri="{28A0092B-C50C-407E-A947-70E740481C1C}">
                <a14:useLocalDpi xmlns:a14="http://schemas.microsoft.com/office/drawing/2010/main" val="0"/>
              </a:ext>
            </a:extLst>
          </a:blip>
          <a:srcRect b="18642"/>
          <a:stretch>
            <a:fillRect/>
          </a:stretch>
        </p:blipFill>
        <p:spPr bwMode="auto">
          <a:xfrm>
            <a:off x="1600228" y="1835368"/>
            <a:ext cx="5598097" cy="1218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60400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297334F-3F8E-4C9E-A3BB-1813819B402E}"/>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46146" name="Rectangle 2"/>
          <p:cNvSpPr>
            <a:spLocks noGrp="1" noChangeArrowheads="1"/>
          </p:cNvSpPr>
          <p:nvPr>
            <p:ph type="title" idx="4294967295"/>
          </p:nvPr>
        </p:nvSpPr>
        <p:spPr/>
        <p:txBody>
          <a:bodyPr/>
          <a:lstStyle/>
          <a:p>
            <a:pPr>
              <a:defRPr/>
            </a:pPr>
            <a:r>
              <a:rPr lang="en-US" altLang="en-US">
                <a:effectLst>
                  <a:outerShdw blurRad="38100" dist="38100" dir="2700000" algn="tl">
                    <a:srgbClr val="C0C0C0"/>
                  </a:outerShdw>
                </a:effectLst>
              </a:rPr>
              <a:t>Entities vs. Relationship sets</a:t>
            </a:r>
          </a:p>
        </p:txBody>
      </p:sp>
      <p:sp>
        <p:nvSpPr>
          <p:cNvPr id="74755" name="Rectangle 3"/>
          <p:cNvSpPr>
            <a:spLocks noGrp="1" noChangeArrowheads="1"/>
          </p:cNvSpPr>
          <p:nvPr>
            <p:ph type="body" idx="4294967295"/>
          </p:nvPr>
        </p:nvSpPr>
        <p:spPr>
          <a:xfrm>
            <a:off x="768350" y="1093788"/>
            <a:ext cx="7416862" cy="4990020"/>
          </a:xfrm>
        </p:spPr>
        <p:txBody>
          <a:bodyPr/>
          <a:lstStyle/>
          <a:p>
            <a:pPr>
              <a:buSzPct val="110000"/>
              <a:buFont typeface="Wingdings" panose="05000000000000000000" pitchFamily="2" charset="2"/>
              <a:buChar char="§"/>
            </a:pPr>
            <a:r>
              <a:rPr lang="en-US" altLang="en-US" sz="1700" b="1" dirty="0">
                <a:solidFill>
                  <a:srgbClr val="002060"/>
                </a:solidFill>
              </a:rPr>
              <a:t>Use of entity sets vs. relationship sets</a:t>
            </a:r>
          </a:p>
          <a:p>
            <a:pPr>
              <a:buSzPct val="110000"/>
              <a:buFont typeface="Wingdings" panose="05000000000000000000" pitchFamily="2" charset="2"/>
              <a:buChar char="§"/>
            </a:pPr>
            <a:endParaRPr lang="en-US" altLang="en-US" sz="700" b="1" dirty="0">
              <a:solidFill>
                <a:srgbClr val="002060"/>
              </a:solidFill>
            </a:endParaRPr>
          </a:p>
          <a:p>
            <a:pPr marL="0" indent="0">
              <a:spcBef>
                <a:spcPts val="0"/>
              </a:spcBef>
              <a:buNone/>
            </a:pPr>
            <a:r>
              <a:rPr lang="en-US" altLang="en-US" sz="1700" dirty="0"/>
              <a:t>      Possible guideline is to designate a relationship set to describe</a:t>
            </a:r>
          </a:p>
          <a:p>
            <a:pPr marL="400050" lvl="1" indent="0">
              <a:spcBef>
                <a:spcPts val="0"/>
              </a:spcBef>
              <a:buNone/>
            </a:pPr>
            <a:r>
              <a:rPr lang="en-US" altLang="en-US" sz="1700" dirty="0"/>
              <a:t>an action that occurs between entities</a:t>
            </a:r>
            <a:endParaRPr lang="en-US" altLang="en-US" sz="1700" b="1" dirty="0">
              <a:solidFill>
                <a:srgbClr val="002060"/>
              </a:solidFill>
            </a:endParaRPr>
          </a:p>
          <a:p>
            <a:pPr>
              <a:buSzPct val="110000"/>
              <a:buFont typeface="Wingdings" panose="05000000000000000000" pitchFamily="2" charset="2"/>
              <a:buChar char="§"/>
            </a:pPr>
            <a:endParaRPr lang="en-US" altLang="en-US" sz="1700" b="1" dirty="0">
              <a:solidFill>
                <a:srgbClr val="002060"/>
              </a:solidFill>
            </a:endParaRPr>
          </a:p>
          <a:p>
            <a:pPr>
              <a:buSzPct val="110000"/>
              <a:buFont typeface="Wingdings" panose="05000000000000000000" pitchFamily="2" charset="2"/>
              <a:buChar char="§"/>
            </a:pPr>
            <a:endParaRPr lang="en-US" altLang="en-US" sz="1700" b="1" dirty="0">
              <a:solidFill>
                <a:srgbClr val="002060"/>
              </a:solidFill>
            </a:endParaRPr>
          </a:p>
          <a:p>
            <a:pPr>
              <a:buSzPct val="110000"/>
              <a:buFont typeface="Wingdings" panose="05000000000000000000" pitchFamily="2" charset="2"/>
              <a:buChar char="§"/>
            </a:pPr>
            <a:endParaRPr lang="en-US" altLang="en-US" sz="1700" b="1" dirty="0">
              <a:solidFill>
                <a:srgbClr val="002060"/>
              </a:solidFill>
            </a:endParaRPr>
          </a:p>
          <a:p>
            <a:pPr>
              <a:buSzPct val="110000"/>
              <a:buFont typeface="Wingdings" panose="05000000000000000000" pitchFamily="2" charset="2"/>
              <a:buChar char="§"/>
            </a:pPr>
            <a:endParaRPr lang="en-US" altLang="en-US" sz="1700" b="1" dirty="0">
              <a:solidFill>
                <a:srgbClr val="002060"/>
              </a:solidFill>
            </a:endParaRPr>
          </a:p>
          <a:p>
            <a:pPr>
              <a:buSzPct val="110000"/>
              <a:buFont typeface="Wingdings" panose="05000000000000000000" pitchFamily="2" charset="2"/>
              <a:buChar char="§"/>
            </a:pPr>
            <a:endParaRPr lang="en-US" altLang="en-US" sz="1700" b="1" dirty="0">
              <a:solidFill>
                <a:srgbClr val="002060"/>
              </a:solidFill>
            </a:endParaRPr>
          </a:p>
          <a:p>
            <a:pPr>
              <a:buSzPct val="110000"/>
              <a:buFont typeface="Wingdings" panose="05000000000000000000" pitchFamily="2" charset="2"/>
              <a:buChar char="§"/>
            </a:pPr>
            <a:endParaRPr lang="en-US" altLang="en-US" sz="1700" b="1" dirty="0">
              <a:solidFill>
                <a:srgbClr val="002060"/>
              </a:solidFill>
            </a:endParaRPr>
          </a:p>
          <a:p>
            <a:pPr>
              <a:buSzPct val="110000"/>
              <a:buFont typeface="Wingdings" panose="05000000000000000000" pitchFamily="2" charset="2"/>
              <a:buChar char="§"/>
            </a:pPr>
            <a:endParaRPr lang="en-US" altLang="en-US" sz="1700" b="1" dirty="0">
              <a:solidFill>
                <a:srgbClr val="002060"/>
              </a:solidFill>
            </a:endParaRPr>
          </a:p>
          <a:p>
            <a:r>
              <a:rPr lang="en-US" altLang="en-US" sz="1700" b="1" dirty="0">
                <a:solidFill>
                  <a:srgbClr val="002060"/>
                </a:solidFill>
              </a:rPr>
              <a:t>Placement of relationship attributes</a:t>
            </a:r>
            <a:endParaRPr lang="en-US" altLang="en-US" sz="2000" b="1" dirty="0">
              <a:solidFill>
                <a:srgbClr val="002060"/>
              </a:solidFill>
            </a:endParaRPr>
          </a:p>
          <a:p>
            <a:endParaRPr lang="en-US" altLang="en-US" sz="2000" b="1" dirty="0">
              <a:solidFill>
                <a:srgbClr val="000099"/>
              </a:solidFill>
            </a:endParaRPr>
          </a:p>
          <a:p>
            <a:endParaRPr lang="en-US" altLang="en-US" sz="2000" b="1" dirty="0">
              <a:solidFill>
                <a:srgbClr val="000099"/>
              </a:solidFill>
            </a:endParaRPr>
          </a:p>
          <a:p>
            <a:endParaRPr lang="en-US" altLang="en-US" sz="2000" b="1" dirty="0">
              <a:solidFill>
                <a:srgbClr val="000099"/>
              </a:solidFill>
            </a:endParaRPr>
          </a:p>
          <a:p>
            <a:pPr marL="37931725" lvl="1" indent="-37474525"/>
            <a:endParaRPr lang="en-US" altLang="en-US" sz="2000" dirty="0">
              <a:solidFill>
                <a:srgbClr val="000099"/>
              </a:solidFill>
              <a:ea typeface="ＭＳ Ｐゴシック" panose="020B0600070205080204" pitchFamily="34" charset="-128"/>
            </a:endParaRPr>
          </a:p>
        </p:txBody>
      </p:sp>
      <p:pic>
        <p:nvPicPr>
          <p:cNvPr id="7475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7296" y="2280273"/>
            <a:ext cx="5343596" cy="1964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1127464" y="4935746"/>
            <a:ext cx="6309656" cy="877163"/>
          </a:xfrm>
          <a:prstGeom prst="rect">
            <a:avLst/>
          </a:prstGeom>
        </p:spPr>
        <p:txBody>
          <a:bodyPr wrap="square">
            <a:spAutoFit/>
          </a:bodyPr>
          <a:lstStyle/>
          <a:p>
            <a:pPr>
              <a:defRPr/>
            </a:pPr>
            <a:r>
              <a:rPr kumimoji="1" lang="en-US" sz="1700" dirty="0">
                <a:latin typeface="+mn-lt"/>
                <a:ea typeface="ＭＳ Ｐゴシック" charset="-128"/>
              </a:rPr>
              <a:t>For example, attribute date as attribute of advisor or as attribute of student</a:t>
            </a:r>
          </a:p>
          <a:p>
            <a:pPr>
              <a:defRPr/>
            </a:pPr>
            <a:endParaRPr kumimoji="1" lang="en-US" sz="1700" dirty="0">
              <a:latin typeface="+mn-lt"/>
              <a:ea typeface="ＭＳ Ｐゴシック" charset="-128"/>
            </a:endParaRPr>
          </a:p>
        </p:txBody>
      </p:sp>
    </p:spTree>
    <p:extLst>
      <p:ext uri="{BB962C8B-B14F-4D97-AF65-F5344CB8AC3E}">
        <p14:creationId xmlns:p14="http://schemas.microsoft.com/office/powerpoint/2010/main" val="14748453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BDE380F1-487D-4B55-B4CE-F7BC3AB41446}"/>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48194" name="Rectangle 2"/>
          <p:cNvSpPr>
            <a:spLocks noGrp="1" noChangeArrowheads="1"/>
          </p:cNvSpPr>
          <p:nvPr>
            <p:ph type="title" idx="4294967295"/>
          </p:nvPr>
        </p:nvSpPr>
        <p:spPr>
          <a:xfrm>
            <a:off x="838200" y="95250"/>
            <a:ext cx="8077200" cy="609600"/>
          </a:xfrm>
        </p:spPr>
        <p:txBody>
          <a:bodyPr/>
          <a:lstStyle/>
          <a:p>
            <a:pPr>
              <a:defRPr/>
            </a:pPr>
            <a:r>
              <a:rPr lang="en-US" altLang="en-US">
                <a:effectLst>
                  <a:outerShdw blurRad="38100" dist="38100" dir="2700000" algn="tl">
                    <a:srgbClr val="C0C0C0"/>
                  </a:outerShdw>
                </a:effectLst>
              </a:rPr>
              <a:t>Binary Vs. Non-Binary Relationships</a:t>
            </a:r>
          </a:p>
        </p:txBody>
      </p:sp>
      <p:sp>
        <p:nvSpPr>
          <p:cNvPr id="75779" name="Rectangle 3"/>
          <p:cNvSpPr>
            <a:spLocks noGrp="1" noChangeArrowheads="1"/>
          </p:cNvSpPr>
          <p:nvPr>
            <p:ph type="body" idx="4294967295"/>
          </p:nvPr>
        </p:nvSpPr>
        <p:spPr>
          <a:xfrm>
            <a:off x="772358" y="1107341"/>
            <a:ext cx="7572652" cy="4932779"/>
          </a:xfrm>
        </p:spPr>
        <p:txBody>
          <a:bodyPr/>
          <a:lstStyle/>
          <a:p>
            <a:r>
              <a:rPr lang="en-US" altLang="en-US" sz="1700" dirty="0"/>
              <a:t>Although it is possible to replace any non-binary (</a:t>
            </a:r>
            <a:r>
              <a:rPr lang="en-US" altLang="en-US" sz="1700" i="1" dirty="0"/>
              <a:t>n</a:t>
            </a:r>
            <a:r>
              <a:rPr lang="en-US" altLang="en-US" sz="1700" dirty="0"/>
              <a:t>-</a:t>
            </a:r>
            <a:r>
              <a:rPr lang="en-US" altLang="en-US" sz="1700" dirty="0" err="1"/>
              <a:t>ary</a:t>
            </a:r>
            <a:r>
              <a:rPr lang="en-US" altLang="en-US" sz="1700" dirty="0"/>
              <a:t>, for </a:t>
            </a:r>
            <a:r>
              <a:rPr lang="en-US" altLang="en-US" sz="1700" i="1" dirty="0"/>
              <a:t>n</a:t>
            </a:r>
            <a:r>
              <a:rPr lang="en-US" altLang="en-US" sz="1700" dirty="0"/>
              <a:t> &gt; 2) relationship set by a number of distinct binary relationship sets, a </a:t>
            </a:r>
            <a:r>
              <a:rPr lang="en-US" altLang="en-US" sz="1700" i="1" dirty="0"/>
              <a:t>n</a:t>
            </a:r>
            <a:r>
              <a:rPr lang="en-US" altLang="en-US" sz="1700" dirty="0"/>
              <a:t>-</a:t>
            </a:r>
            <a:r>
              <a:rPr lang="en-US" altLang="en-US" sz="1700" dirty="0" err="1"/>
              <a:t>ary</a:t>
            </a:r>
            <a:r>
              <a:rPr lang="en-US" altLang="en-US" sz="1700" dirty="0"/>
              <a:t> relationship set shows more clearly that several entities participate in a single relationship.</a:t>
            </a:r>
          </a:p>
          <a:p>
            <a:r>
              <a:rPr lang="en-US" altLang="en-US" sz="1700" dirty="0"/>
              <a:t>Some relationships that appear to be non-binary may be better represented using binary relationships</a:t>
            </a:r>
          </a:p>
          <a:p>
            <a:pPr lvl="1"/>
            <a:r>
              <a:rPr lang="en-US" altLang="en-US" sz="1700" dirty="0">
                <a:ea typeface="ＭＳ Ｐゴシック" panose="020B0600070205080204" pitchFamily="34" charset="-128"/>
              </a:rPr>
              <a:t>For example,  a ternary relationship </a:t>
            </a:r>
            <a:r>
              <a:rPr lang="en-US" altLang="en-US" sz="1700" i="1" dirty="0">
                <a:ea typeface="ＭＳ Ｐゴシック" panose="020B0600070205080204" pitchFamily="34" charset="-128"/>
              </a:rPr>
              <a:t>parents</a:t>
            </a:r>
            <a:r>
              <a:rPr lang="en-US" altLang="en-US" sz="1700" dirty="0">
                <a:ea typeface="ＭＳ Ｐゴシック" panose="020B0600070205080204" pitchFamily="34" charset="-128"/>
              </a:rPr>
              <a:t>, relating a child to his/her father and mother, is best replaced by two binary relationships,  </a:t>
            </a:r>
            <a:r>
              <a:rPr lang="en-US" altLang="en-US" sz="1700" i="1" dirty="0">
                <a:ea typeface="ＭＳ Ｐゴシック" panose="020B0600070205080204" pitchFamily="34" charset="-128"/>
              </a:rPr>
              <a:t>father</a:t>
            </a:r>
            <a:r>
              <a:rPr lang="en-US" altLang="en-US" sz="1700" dirty="0">
                <a:ea typeface="ＭＳ Ｐゴシック" panose="020B0600070205080204" pitchFamily="34" charset="-128"/>
              </a:rPr>
              <a:t> and </a:t>
            </a:r>
            <a:r>
              <a:rPr lang="en-US" altLang="en-US" sz="1700" i="1" dirty="0">
                <a:ea typeface="ＭＳ Ｐゴシック" panose="020B0600070205080204" pitchFamily="34" charset="-128"/>
              </a:rPr>
              <a:t>mother</a:t>
            </a:r>
          </a:p>
          <a:p>
            <a:pPr lvl="2"/>
            <a:r>
              <a:rPr lang="en-US" altLang="en-US" sz="1700" dirty="0">
                <a:ea typeface="ＭＳ Ｐゴシック" panose="020B0600070205080204" pitchFamily="34" charset="-128"/>
              </a:rPr>
              <a:t>Using two binary relationships allows partial information (e.g., only mother being known)</a:t>
            </a:r>
          </a:p>
          <a:p>
            <a:pPr lvl="1"/>
            <a:r>
              <a:rPr lang="en-US" altLang="en-US" sz="1700" dirty="0">
                <a:ea typeface="ＭＳ Ｐゴシック" panose="020B0600070205080204" pitchFamily="34" charset="-128"/>
              </a:rPr>
              <a:t>But there are some relationships that are naturally non-binary</a:t>
            </a:r>
          </a:p>
          <a:p>
            <a:pPr lvl="2"/>
            <a:r>
              <a:rPr lang="en-US" altLang="en-US" sz="1700" dirty="0">
                <a:ea typeface="ＭＳ Ｐゴシック" panose="020B0600070205080204" pitchFamily="34" charset="-128"/>
              </a:rPr>
              <a:t>Example: </a:t>
            </a:r>
            <a:r>
              <a:rPr lang="en-US" altLang="en-US" sz="1700" i="1" dirty="0" err="1">
                <a:ea typeface="ＭＳ Ｐゴシック" panose="020B0600070205080204" pitchFamily="34" charset="-128"/>
              </a:rPr>
              <a:t>proj_guide</a:t>
            </a:r>
            <a:endParaRPr lang="en-US" altLang="en-US" sz="1700" i="1" dirty="0">
              <a:ea typeface="ＭＳ Ｐゴシック" panose="020B0600070205080204" pitchFamily="34" charset="-128"/>
            </a:endParaRPr>
          </a:p>
        </p:txBody>
      </p:sp>
    </p:spTree>
    <p:extLst>
      <p:ext uri="{BB962C8B-B14F-4D97-AF65-F5344CB8AC3E}">
        <p14:creationId xmlns:p14="http://schemas.microsoft.com/office/powerpoint/2010/main" val="25811330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9C3F0691-02FD-4F01-B16B-37F0C98E7651}"/>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50242" name="Rectangle 2"/>
          <p:cNvSpPr>
            <a:spLocks noGrp="1" noChangeArrowheads="1"/>
          </p:cNvSpPr>
          <p:nvPr>
            <p:ph type="title" idx="4294967295"/>
          </p:nvPr>
        </p:nvSpPr>
        <p:spPr>
          <a:xfrm>
            <a:off x="855663" y="69850"/>
            <a:ext cx="8077200" cy="609600"/>
          </a:xfrm>
        </p:spPr>
        <p:txBody>
          <a:bodyPr/>
          <a:lstStyle/>
          <a:p>
            <a:pPr>
              <a:defRPr/>
            </a:pPr>
            <a:r>
              <a:rPr lang="en-US" altLang="en-US" sz="2400">
                <a:effectLst>
                  <a:outerShdw blurRad="38100" dist="38100" dir="2700000" algn="tl">
                    <a:srgbClr val="C0C0C0"/>
                  </a:outerShdw>
                </a:effectLst>
              </a:rPr>
              <a:t>Converting Non-Binary Relationships to Binary Form</a:t>
            </a:r>
          </a:p>
        </p:txBody>
      </p:sp>
      <p:sp>
        <p:nvSpPr>
          <p:cNvPr id="76803" name="Rectangle 3"/>
          <p:cNvSpPr>
            <a:spLocks noGrp="1" noChangeArrowheads="1"/>
          </p:cNvSpPr>
          <p:nvPr>
            <p:ph type="body" idx="4294967295"/>
          </p:nvPr>
        </p:nvSpPr>
        <p:spPr>
          <a:xfrm>
            <a:off x="772357" y="1050925"/>
            <a:ext cx="8012512" cy="3179699"/>
          </a:xfrm>
        </p:spPr>
        <p:txBody>
          <a:bodyPr/>
          <a:lstStyle/>
          <a:p>
            <a:pPr>
              <a:lnSpc>
                <a:spcPct val="90000"/>
              </a:lnSpc>
            </a:pPr>
            <a:r>
              <a:rPr lang="en-US" altLang="en-US" sz="1700" dirty="0"/>
              <a:t>In general, any non-binary relationship can be represented using binary relationships by creating an artificial entity set.</a:t>
            </a:r>
          </a:p>
          <a:p>
            <a:pPr lvl="1">
              <a:lnSpc>
                <a:spcPct val="90000"/>
              </a:lnSpc>
            </a:pPr>
            <a:r>
              <a:rPr lang="en-US" altLang="en-US" sz="1700" dirty="0">
                <a:ea typeface="ＭＳ Ｐゴシック" panose="020B0600070205080204" pitchFamily="34" charset="-128"/>
              </a:rPr>
              <a:t>Replace </a:t>
            </a:r>
            <a:r>
              <a:rPr lang="en-US" altLang="en-US" sz="1700" i="1" dirty="0">
                <a:ea typeface="ＭＳ Ｐゴシック" panose="020B0600070205080204" pitchFamily="34" charset="-128"/>
              </a:rPr>
              <a:t>R </a:t>
            </a:r>
            <a:r>
              <a:rPr lang="en-US" altLang="en-US" sz="1700" dirty="0">
                <a:ea typeface="ＭＳ Ｐゴシック" panose="020B0600070205080204" pitchFamily="34" charset="-128"/>
              </a:rPr>
              <a:t>between entity sets A, B and C</a:t>
            </a:r>
            <a:r>
              <a:rPr lang="en-US" altLang="en-US" sz="1700" i="1" dirty="0">
                <a:ea typeface="ＭＳ Ｐゴシック" panose="020B0600070205080204" pitchFamily="34" charset="-128"/>
              </a:rPr>
              <a:t> </a:t>
            </a:r>
            <a:r>
              <a:rPr lang="en-US" altLang="en-US" sz="1700" dirty="0">
                <a:ea typeface="ＭＳ Ｐゴシック" panose="020B0600070205080204" pitchFamily="34" charset="-128"/>
              </a:rPr>
              <a:t>by an entity set </a:t>
            </a:r>
            <a:r>
              <a:rPr lang="en-US" altLang="en-US" sz="1700" i="1" dirty="0">
                <a:ea typeface="ＭＳ Ｐゴシック" panose="020B0600070205080204" pitchFamily="34" charset="-128"/>
              </a:rPr>
              <a:t>E</a:t>
            </a:r>
            <a:r>
              <a:rPr lang="en-US" altLang="en-US" sz="1700" dirty="0">
                <a:ea typeface="ＭＳ Ｐゴシック" panose="020B0600070205080204" pitchFamily="34" charset="-128"/>
              </a:rPr>
              <a:t>, and three relationship sets: </a:t>
            </a:r>
          </a:p>
          <a:p>
            <a:pPr>
              <a:lnSpc>
                <a:spcPct val="90000"/>
              </a:lnSpc>
              <a:buFont typeface="Monotype Sorts" charset="2"/>
              <a:buNone/>
            </a:pPr>
            <a:r>
              <a:rPr lang="en-US" altLang="en-US" sz="1700" dirty="0"/>
              <a:t>		1. </a:t>
            </a:r>
            <a:r>
              <a:rPr lang="en-US" altLang="en-US" sz="1700" i="1" dirty="0"/>
              <a:t>R</a:t>
            </a:r>
            <a:r>
              <a:rPr lang="en-US" altLang="en-US" sz="1700" i="1" baseline="-25000" dirty="0"/>
              <a:t>A</a:t>
            </a:r>
            <a:r>
              <a:rPr lang="en-US" altLang="en-US" sz="1700" dirty="0"/>
              <a:t>, relating </a:t>
            </a:r>
            <a:r>
              <a:rPr lang="en-US" altLang="en-US" sz="1700" i="1" dirty="0"/>
              <a:t>E </a:t>
            </a:r>
            <a:r>
              <a:rPr lang="en-US" altLang="en-US" sz="1700" dirty="0"/>
              <a:t>and </a:t>
            </a:r>
            <a:r>
              <a:rPr lang="en-US" altLang="en-US" sz="1700" i="1" dirty="0"/>
              <a:t>A        </a:t>
            </a:r>
            <a:r>
              <a:rPr lang="en-US" altLang="en-US" sz="1700" dirty="0"/>
              <a:t>2.  </a:t>
            </a:r>
            <a:r>
              <a:rPr lang="en-US" altLang="en-US" sz="1700" i="1" dirty="0"/>
              <a:t>R</a:t>
            </a:r>
            <a:r>
              <a:rPr lang="en-US" altLang="en-US" sz="1700" i="1" baseline="-25000" dirty="0"/>
              <a:t>B</a:t>
            </a:r>
            <a:r>
              <a:rPr lang="en-US" altLang="en-US" sz="1700" dirty="0"/>
              <a:t>, relating </a:t>
            </a:r>
            <a:r>
              <a:rPr lang="en-US" altLang="en-US" sz="1700" i="1" dirty="0"/>
              <a:t>E </a:t>
            </a:r>
            <a:r>
              <a:rPr lang="en-US" altLang="en-US" sz="1700" dirty="0"/>
              <a:t>and </a:t>
            </a:r>
            <a:r>
              <a:rPr lang="en-US" altLang="en-US" sz="1700" i="1" dirty="0"/>
              <a:t>B      </a:t>
            </a:r>
            <a:br>
              <a:rPr lang="en-US" altLang="en-US" sz="1700" i="1" dirty="0"/>
            </a:br>
            <a:r>
              <a:rPr lang="en-US" altLang="en-US" sz="1700" i="1" dirty="0"/>
              <a:t>          </a:t>
            </a:r>
            <a:r>
              <a:rPr lang="en-US" altLang="en-US" sz="1700" dirty="0"/>
              <a:t>3. </a:t>
            </a:r>
            <a:r>
              <a:rPr lang="en-US" altLang="en-US" sz="1700" i="1" dirty="0"/>
              <a:t>R</a:t>
            </a:r>
            <a:r>
              <a:rPr lang="en-US" altLang="en-US" sz="1700" i="1" baseline="-25000" dirty="0"/>
              <a:t>C</a:t>
            </a:r>
            <a:r>
              <a:rPr lang="en-US" altLang="en-US" sz="1700" dirty="0"/>
              <a:t>, relating </a:t>
            </a:r>
            <a:r>
              <a:rPr lang="en-US" altLang="en-US" sz="1700" i="1" dirty="0"/>
              <a:t>E </a:t>
            </a:r>
            <a:r>
              <a:rPr lang="en-US" altLang="en-US" sz="1700" dirty="0"/>
              <a:t>and </a:t>
            </a:r>
            <a:r>
              <a:rPr lang="en-US" altLang="en-US" sz="1700" i="1" dirty="0"/>
              <a:t>C</a:t>
            </a:r>
          </a:p>
          <a:p>
            <a:pPr lvl="1">
              <a:lnSpc>
                <a:spcPct val="90000"/>
              </a:lnSpc>
            </a:pPr>
            <a:r>
              <a:rPr lang="en-US" altLang="en-US" sz="1700" dirty="0">
                <a:ea typeface="ＭＳ Ｐゴシック" panose="020B0600070205080204" pitchFamily="34" charset="-128"/>
              </a:rPr>
              <a:t>Create an identifying attribute for </a:t>
            </a:r>
            <a:r>
              <a:rPr lang="en-US" altLang="en-US" sz="1700" i="1" dirty="0">
                <a:ea typeface="ＭＳ Ｐゴシック" panose="020B0600070205080204" pitchFamily="34" charset="-128"/>
              </a:rPr>
              <a:t>E and </a:t>
            </a:r>
            <a:r>
              <a:rPr lang="en-US" altLang="en-US" sz="1700" dirty="0">
                <a:ea typeface="ＭＳ Ｐゴシック" panose="020B0600070205080204" pitchFamily="34" charset="-128"/>
              </a:rPr>
              <a:t>add any attributes of </a:t>
            </a:r>
            <a:r>
              <a:rPr lang="en-US" altLang="en-US" sz="1700" i="1" dirty="0">
                <a:ea typeface="ＭＳ Ｐゴシック" panose="020B0600070205080204" pitchFamily="34" charset="-128"/>
              </a:rPr>
              <a:t>R </a:t>
            </a:r>
            <a:r>
              <a:rPr lang="en-US" altLang="en-US" sz="1700" dirty="0">
                <a:ea typeface="ＭＳ Ｐゴシック" panose="020B0600070205080204" pitchFamily="34" charset="-128"/>
              </a:rPr>
              <a:t>to </a:t>
            </a:r>
            <a:r>
              <a:rPr lang="en-US" altLang="en-US" sz="1700" i="1" dirty="0">
                <a:ea typeface="ＭＳ Ｐゴシック" panose="020B0600070205080204" pitchFamily="34" charset="-128"/>
              </a:rPr>
              <a:t>E </a:t>
            </a:r>
          </a:p>
          <a:p>
            <a:pPr lvl="1">
              <a:lnSpc>
                <a:spcPct val="90000"/>
              </a:lnSpc>
            </a:pPr>
            <a:r>
              <a:rPr lang="en-US" altLang="en-US" sz="1700" dirty="0">
                <a:ea typeface="ＭＳ Ｐゴシック" panose="020B0600070205080204" pitchFamily="34" charset="-128"/>
              </a:rPr>
              <a:t>For each relationship (</a:t>
            </a:r>
            <a:r>
              <a:rPr lang="en-US" altLang="en-US" sz="1700" i="1" dirty="0" err="1">
                <a:ea typeface="ＭＳ Ｐゴシック" panose="020B0600070205080204" pitchFamily="34" charset="-128"/>
              </a:rPr>
              <a:t>a</a:t>
            </a:r>
            <a:r>
              <a:rPr lang="en-US" altLang="en-US" sz="1700" i="1" baseline="-25000" dirty="0" err="1">
                <a:ea typeface="ＭＳ Ｐゴシック" panose="020B0600070205080204" pitchFamily="34" charset="-128"/>
              </a:rPr>
              <a:t>i</a:t>
            </a:r>
            <a:r>
              <a:rPr lang="en-US" altLang="en-US" sz="1700" i="1" dirty="0">
                <a:ea typeface="ＭＳ Ｐゴシック" panose="020B0600070205080204" pitchFamily="34" charset="-128"/>
              </a:rPr>
              <a:t> , b</a:t>
            </a:r>
            <a:r>
              <a:rPr lang="en-US" altLang="en-US" sz="1700" i="1" baseline="-25000" dirty="0">
                <a:ea typeface="ＭＳ Ｐゴシック" panose="020B0600070205080204" pitchFamily="34" charset="-128"/>
              </a:rPr>
              <a:t>i</a:t>
            </a:r>
            <a:r>
              <a:rPr lang="en-US" altLang="en-US" sz="1700" i="1" dirty="0">
                <a:ea typeface="ＭＳ Ｐゴシック" panose="020B0600070205080204" pitchFamily="34" charset="-128"/>
              </a:rPr>
              <a:t> , c</a:t>
            </a:r>
            <a:r>
              <a:rPr lang="en-US" altLang="en-US" sz="1700" i="1" baseline="-25000" dirty="0">
                <a:ea typeface="ＭＳ Ｐゴシック" panose="020B0600070205080204" pitchFamily="34" charset="-128"/>
              </a:rPr>
              <a:t>i</a:t>
            </a:r>
            <a:r>
              <a:rPr lang="en-US" altLang="en-US" sz="1700" dirty="0">
                <a:ea typeface="ＭＳ Ｐゴシック" panose="020B0600070205080204" pitchFamily="34" charset="-128"/>
              </a:rPr>
              <a:t>) in </a:t>
            </a:r>
            <a:r>
              <a:rPr lang="en-US" altLang="en-US" sz="1700" i="1" dirty="0">
                <a:ea typeface="ＭＳ Ｐゴシック" panose="020B0600070205080204" pitchFamily="34" charset="-128"/>
              </a:rPr>
              <a:t>R,</a:t>
            </a:r>
            <a:r>
              <a:rPr lang="en-US" altLang="en-US" sz="1700" dirty="0">
                <a:ea typeface="ＭＳ Ｐゴシック" panose="020B0600070205080204" pitchFamily="34" charset="-128"/>
              </a:rPr>
              <a:t> create </a:t>
            </a:r>
          </a:p>
          <a:p>
            <a:pPr>
              <a:lnSpc>
                <a:spcPct val="90000"/>
              </a:lnSpc>
              <a:buFont typeface="Monotype Sorts" charset="2"/>
              <a:buNone/>
            </a:pPr>
            <a:r>
              <a:rPr lang="en-US" altLang="en-US" sz="1700" dirty="0"/>
              <a:t>	      1. a new entity </a:t>
            </a:r>
            <a:r>
              <a:rPr lang="en-US" altLang="en-US" sz="1700" i="1" dirty="0" err="1"/>
              <a:t>e</a:t>
            </a:r>
            <a:r>
              <a:rPr lang="en-US" altLang="en-US" sz="1700" i="1" baseline="-25000" dirty="0" err="1"/>
              <a:t>i</a:t>
            </a:r>
            <a:r>
              <a:rPr lang="en-US" altLang="en-US" sz="1700" i="1" dirty="0"/>
              <a:t> </a:t>
            </a:r>
            <a:r>
              <a:rPr lang="en-US" altLang="en-US" sz="1700" dirty="0"/>
              <a:t>in the entity set </a:t>
            </a:r>
            <a:r>
              <a:rPr lang="en-US" altLang="en-US" sz="1700" i="1" dirty="0"/>
              <a:t>E       </a:t>
            </a:r>
            <a:r>
              <a:rPr lang="en-US" altLang="en-US" sz="1700" dirty="0"/>
              <a:t>2. add (</a:t>
            </a:r>
            <a:r>
              <a:rPr lang="en-US" altLang="en-US" sz="1700" i="1" dirty="0" err="1"/>
              <a:t>e</a:t>
            </a:r>
            <a:r>
              <a:rPr lang="en-US" altLang="en-US" sz="1700" i="1" baseline="-25000" dirty="0" err="1"/>
              <a:t>i</a:t>
            </a:r>
            <a:r>
              <a:rPr lang="en-US" altLang="en-US" sz="1700" i="1" dirty="0"/>
              <a:t> , </a:t>
            </a:r>
            <a:r>
              <a:rPr lang="en-US" altLang="en-US" sz="1700" i="1" dirty="0" err="1"/>
              <a:t>a</a:t>
            </a:r>
            <a:r>
              <a:rPr lang="en-US" altLang="en-US" sz="1700" i="1" baseline="-25000" dirty="0" err="1"/>
              <a:t>i</a:t>
            </a:r>
            <a:r>
              <a:rPr lang="en-US" altLang="en-US" sz="1700" i="1" baseline="-25000" dirty="0"/>
              <a:t> </a:t>
            </a:r>
            <a:r>
              <a:rPr lang="en-US" altLang="en-US" sz="1700" dirty="0"/>
              <a:t>) to </a:t>
            </a:r>
            <a:r>
              <a:rPr lang="en-US" altLang="en-US" sz="1700" i="1" dirty="0"/>
              <a:t>R</a:t>
            </a:r>
            <a:r>
              <a:rPr lang="en-US" altLang="en-US" sz="1700" i="1" baseline="-25000" dirty="0"/>
              <a:t>A</a:t>
            </a:r>
          </a:p>
          <a:p>
            <a:pPr>
              <a:lnSpc>
                <a:spcPct val="90000"/>
              </a:lnSpc>
              <a:buFont typeface="Monotype Sorts" charset="2"/>
              <a:buNone/>
            </a:pPr>
            <a:r>
              <a:rPr lang="en-US" altLang="en-US" sz="1700" dirty="0"/>
              <a:t>	      3. add (</a:t>
            </a:r>
            <a:r>
              <a:rPr lang="en-US" altLang="en-US" sz="1700" i="1" dirty="0" err="1"/>
              <a:t>e</a:t>
            </a:r>
            <a:r>
              <a:rPr lang="en-US" altLang="en-US" sz="1700" i="1" baseline="-25000" dirty="0" err="1"/>
              <a:t>i</a:t>
            </a:r>
            <a:r>
              <a:rPr lang="en-US" altLang="en-US" sz="1700" i="1" dirty="0"/>
              <a:t> , b</a:t>
            </a:r>
            <a:r>
              <a:rPr lang="en-US" altLang="en-US" sz="1700" i="1" baseline="-25000" dirty="0"/>
              <a:t>i</a:t>
            </a:r>
            <a:r>
              <a:rPr lang="en-US" altLang="en-US" sz="1700" i="1" dirty="0"/>
              <a:t> </a:t>
            </a:r>
            <a:r>
              <a:rPr lang="en-US" altLang="en-US" sz="1700" dirty="0"/>
              <a:t>) to </a:t>
            </a:r>
            <a:r>
              <a:rPr lang="en-US" altLang="en-US" sz="1700" i="1" dirty="0"/>
              <a:t>R</a:t>
            </a:r>
            <a:r>
              <a:rPr lang="en-US" altLang="en-US" sz="1700" i="1" baseline="-25000" dirty="0"/>
              <a:t>B</a:t>
            </a:r>
            <a:r>
              <a:rPr lang="en-US" altLang="en-US" sz="1700" i="1" dirty="0"/>
              <a:t>      </a:t>
            </a:r>
            <a:r>
              <a:rPr lang="en-US" altLang="en-US" sz="1700" dirty="0"/>
              <a:t>	             4. add (</a:t>
            </a:r>
            <a:r>
              <a:rPr lang="en-US" altLang="en-US" sz="1700" i="1" dirty="0" err="1"/>
              <a:t>e</a:t>
            </a:r>
            <a:r>
              <a:rPr lang="en-US" altLang="en-US" sz="1700" i="1" baseline="-25000" dirty="0" err="1"/>
              <a:t>i</a:t>
            </a:r>
            <a:r>
              <a:rPr lang="en-US" altLang="en-US" sz="1700" i="1" dirty="0"/>
              <a:t> , c</a:t>
            </a:r>
            <a:r>
              <a:rPr lang="en-US" altLang="en-US" sz="1700" i="1" baseline="-25000" dirty="0"/>
              <a:t>i </a:t>
            </a:r>
            <a:r>
              <a:rPr lang="en-US" altLang="en-US" sz="1700" dirty="0"/>
              <a:t>) to </a:t>
            </a:r>
            <a:r>
              <a:rPr lang="en-US" altLang="en-US" sz="1700" i="1" dirty="0"/>
              <a:t>R</a:t>
            </a:r>
            <a:r>
              <a:rPr lang="en-US" altLang="en-US" sz="1700" i="1" baseline="-25000" dirty="0"/>
              <a:t>C</a:t>
            </a:r>
          </a:p>
        </p:txBody>
      </p:sp>
      <p:pic>
        <p:nvPicPr>
          <p:cNvPr id="7" name="Picture 6">
            <a:extLst>
              <a:ext uri="{FF2B5EF4-FFF2-40B4-BE49-F238E27FC236}">
                <a16:creationId xmlns:a16="http://schemas.microsoft.com/office/drawing/2014/main" id="{61798D97-0C41-4127-8946-9AD5E1534429}"/>
              </a:ext>
            </a:extLst>
          </p:cNvPr>
          <p:cNvPicPr>
            <a:picLocks noChangeAspect="1"/>
          </p:cNvPicPr>
          <p:nvPr/>
        </p:nvPicPr>
        <p:blipFill>
          <a:blip r:embed="rId3"/>
          <a:stretch>
            <a:fillRect/>
          </a:stretch>
        </p:blipFill>
        <p:spPr>
          <a:xfrm>
            <a:off x="1523993" y="4230624"/>
            <a:ext cx="6516802" cy="2211451"/>
          </a:xfrm>
          <a:prstGeom prst="rect">
            <a:avLst/>
          </a:prstGeom>
        </p:spPr>
      </p:pic>
    </p:spTree>
    <p:extLst>
      <p:ext uri="{BB962C8B-B14F-4D97-AF65-F5344CB8AC3E}">
        <p14:creationId xmlns:p14="http://schemas.microsoft.com/office/powerpoint/2010/main" val="8912983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7775FB3B-D5B1-47CA-AF72-600243D3EE2E}"/>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52290" name="Rectangle 2"/>
          <p:cNvSpPr>
            <a:spLocks noGrp="1" noChangeArrowheads="1"/>
          </p:cNvSpPr>
          <p:nvPr>
            <p:ph type="title" idx="4294967295"/>
          </p:nvPr>
        </p:nvSpPr>
        <p:spPr>
          <a:xfrm>
            <a:off x="781050" y="-15875"/>
            <a:ext cx="8096250" cy="696913"/>
          </a:xfrm>
        </p:spPr>
        <p:txBody>
          <a:bodyPr/>
          <a:lstStyle/>
          <a:p>
            <a:pPr>
              <a:defRPr/>
            </a:pPr>
            <a:r>
              <a:rPr lang="en-US" altLang="en-US" sz="2800">
                <a:effectLst>
                  <a:outerShdw blurRad="38100" dist="38100" dir="2700000" algn="tl">
                    <a:srgbClr val="C0C0C0"/>
                  </a:outerShdw>
                </a:effectLst>
              </a:rPr>
              <a:t>Converting Non-Binary Relationships (Cont.)</a:t>
            </a:r>
          </a:p>
        </p:txBody>
      </p:sp>
      <p:sp>
        <p:nvSpPr>
          <p:cNvPr id="77827" name="Rectangle 3"/>
          <p:cNvSpPr>
            <a:spLocks noGrp="1" noChangeArrowheads="1"/>
          </p:cNvSpPr>
          <p:nvPr>
            <p:ph type="body" idx="4294967295"/>
          </p:nvPr>
        </p:nvSpPr>
        <p:spPr>
          <a:xfrm>
            <a:off x="763294" y="1160463"/>
            <a:ext cx="7594854" cy="3387153"/>
          </a:xfrm>
        </p:spPr>
        <p:txBody>
          <a:bodyPr/>
          <a:lstStyle/>
          <a:p>
            <a:r>
              <a:rPr lang="en-US" altLang="en-US" sz="1700" dirty="0"/>
              <a:t>Also need to translate constraints</a:t>
            </a:r>
          </a:p>
          <a:p>
            <a:pPr lvl="1"/>
            <a:r>
              <a:rPr lang="en-US" altLang="en-US" sz="1700" dirty="0">
                <a:ea typeface="ＭＳ Ｐゴシック" panose="020B0600070205080204" pitchFamily="34" charset="-128"/>
              </a:rPr>
              <a:t>Translating all constraints may not be possible</a:t>
            </a:r>
          </a:p>
          <a:p>
            <a:pPr lvl="1"/>
            <a:r>
              <a:rPr lang="en-US" altLang="en-US" sz="1700" dirty="0">
                <a:ea typeface="ＭＳ Ｐゴシック" panose="020B0600070205080204" pitchFamily="34" charset="-128"/>
              </a:rPr>
              <a:t>There may be instances in the translated schema that</a:t>
            </a:r>
            <a:br>
              <a:rPr lang="en-US" altLang="en-US" sz="1700" dirty="0">
                <a:ea typeface="ＭＳ Ｐゴシック" panose="020B0600070205080204" pitchFamily="34" charset="-128"/>
              </a:rPr>
            </a:br>
            <a:r>
              <a:rPr lang="en-US" altLang="en-US" sz="1700" dirty="0">
                <a:ea typeface="ＭＳ Ｐゴシック" panose="020B0600070205080204" pitchFamily="34" charset="-128"/>
              </a:rPr>
              <a:t>cannot correspond to any instance of </a:t>
            </a:r>
            <a:r>
              <a:rPr lang="en-US" altLang="en-US" sz="1700" i="1" dirty="0">
                <a:ea typeface="ＭＳ Ｐゴシック" panose="020B0600070205080204" pitchFamily="34" charset="-128"/>
              </a:rPr>
              <a:t>R</a:t>
            </a:r>
          </a:p>
          <a:p>
            <a:pPr lvl="2"/>
            <a:r>
              <a:rPr lang="en-US" altLang="en-US" sz="1700" dirty="0">
                <a:ea typeface="ＭＳ Ｐゴシック" panose="020B0600070205080204" pitchFamily="34" charset="-128"/>
              </a:rPr>
              <a:t>Exercise:</a:t>
            </a:r>
            <a:r>
              <a:rPr lang="en-US" altLang="en-US" sz="1700" i="1" dirty="0">
                <a:ea typeface="ＭＳ Ｐゴシック" panose="020B0600070205080204" pitchFamily="34" charset="-128"/>
              </a:rPr>
              <a:t>  add constraints to the relationships R</a:t>
            </a:r>
            <a:r>
              <a:rPr lang="en-US" altLang="en-US" sz="1700" i="1" baseline="-25000" dirty="0">
                <a:ea typeface="ＭＳ Ｐゴシック" panose="020B0600070205080204" pitchFamily="34" charset="-128"/>
              </a:rPr>
              <a:t>A</a:t>
            </a:r>
            <a:r>
              <a:rPr lang="en-US" altLang="en-US" sz="1700" i="1" dirty="0">
                <a:ea typeface="ＭＳ Ｐゴシック" panose="020B0600070205080204" pitchFamily="34" charset="-128"/>
              </a:rPr>
              <a:t>, R</a:t>
            </a:r>
            <a:r>
              <a:rPr lang="en-US" altLang="en-US" sz="1700" i="1" baseline="-25000" dirty="0">
                <a:ea typeface="ＭＳ Ｐゴシック" panose="020B0600070205080204" pitchFamily="34" charset="-128"/>
              </a:rPr>
              <a:t>B</a:t>
            </a:r>
            <a:r>
              <a:rPr lang="en-US" altLang="en-US" sz="1700" i="1" dirty="0">
                <a:ea typeface="ＭＳ Ｐゴシック" panose="020B0600070205080204" pitchFamily="34" charset="-128"/>
              </a:rPr>
              <a:t> and R</a:t>
            </a:r>
            <a:r>
              <a:rPr lang="en-US" altLang="en-US" sz="1700" i="1" baseline="-25000" dirty="0">
                <a:ea typeface="ＭＳ Ｐゴシック" panose="020B0600070205080204" pitchFamily="34" charset="-128"/>
              </a:rPr>
              <a:t>C </a:t>
            </a:r>
            <a:r>
              <a:rPr lang="en-US" altLang="en-US" sz="1700" dirty="0">
                <a:ea typeface="ＭＳ Ｐゴシック" panose="020B0600070205080204" pitchFamily="34" charset="-128"/>
              </a:rPr>
              <a:t>to ensure that a newly created entity corresponds to exactly one entity in each of entity sets </a:t>
            </a:r>
            <a:r>
              <a:rPr lang="en-US" altLang="en-US" sz="1700" i="1" dirty="0">
                <a:ea typeface="ＭＳ Ｐゴシック" panose="020B0600070205080204" pitchFamily="34" charset="-128"/>
              </a:rPr>
              <a:t>A, B</a:t>
            </a:r>
            <a:r>
              <a:rPr lang="en-US" altLang="en-US" sz="1700" dirty="0">
                <a:ea typeface="ＭＳ Ｐゴシック" panose="020B0600070205080204" pitchFamily="34" charset="-128"/>
              </a:rPr>
              <a:t> and </a:t>
            </a:r>
            <a:r>
              <a:rPr lang="en-US" altLang="en-US" sz="1700" i="1" dirty="0">
                <a:ea typeface="ＭＳ Ｐゴシック" panose="020B0600070205080204" pitchFamily="34" charset="-128"/>
              </a:rPr>
              <a:t>C</a:t>
            </a:r>
          </a:p>
          <a:p>
            <a:pPr lvl="1"/>
            <a:r>
              <a:rPr lang="en-US" altLang="en-US" sz="1700" dirty="0">
                <a:ea typeface="ＭＳ Ｐゴシック" panose="020B0600070205080204" pitchFamily="34" charset="-128"/>
              </a:rPr>
              <a:t>We can avoid creating an identifying attribute by making E a weak entity set (described shortly) identified by the three relationship sets </a:t>
            </a:r>
          </a:p>
          <a:p>
            <a:endParaRPr lang="en-US" altLang="en-US" sz="2000" dirty="0"/>
          </a:p>
        </p:txBody>
      </p:sp>
    </p:spTree>
    <p:extLst>
      <p:ext uri="{BB962C8B-B14F-4D97-AF65-F5344CB8AC3E}">
        <p14:creationId xmlns:p14="http://schemas.microsoft.com/office/powerpoint/2010/main" val="383194694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6C2CC3E-3224-40AD-B723-310FED80F625}"/>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55193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E-R Design Decisions</a:t>
            </a:r>
          </a:p>
        </p:txBody>
      </p:sp>
      <p:sp>
        <p:nvSpPr>
          <p:cNvPr id="78851" name="Rectangle 3"/>
          <p:cNvSpPr>
            <a:spLocks noGrp="1" noChangeArrowheads="1"/>
          </p:cNvSpPr>
          <p:nvPr>
            <p:ph type="body" idx="1"/>
          </p:nvPr>
        </p:nvSpPr>
        <p:spPr>
          <a:xfrm>
            <a:off x="768350" y="1166941"/>
            <a:ext cx="7523394" cy="4136580"/>
          </a:xfrm>
        </p:spPr>
        <p:txBody>
          <a:bodyPr/>
          <a:lstStyle/>
          <a:p>
            <a:r>
              <a:rPr lang="en-US" altLang="en-US" sz="1700" dirty="0"/>
              <a:t>The use of an attribute or entity set to represent an object.</a:t>
            </a:r>
          </a:p>
          <a:p>
            <a:r>
              <a:rPr lang="en-US" altLang="en-US" sz="1700" dirty="0"/>
              <a:t>Whether a real-world concept is best expressed by an entity set or a relationship set.</a:t>
            </a:r>
          </a:p>
          <a:p>
            <a:r>
              <a:rPr lang="en-US" altLang="en-US" sz="1700" dirty="0"/>
              <a:t>The use of a ternary relationship versus a pair of binary relationships.</a:t>
            </a:r>
          </a:p>
          <a:p>
            <a:r>
              <a:rPr lang="en-US" altLang="en-US" sz="1700" dirty="0"/>
              <a:t>The use of a strong or weak entity set.</a:t>
            </a:r>
          </a:p>
          <a:p>
            <a:r>
              <a:rPr lang="en-US" altLang="en-US" sz="1700" dirty="0"/>
              <a:t>The use of specialization/generalization – contributes to modularity in the design.</a:t>
            </a:r>
          </a:p>
          <a:p>
            <a:r>
              <a:rPr lang="en-US" altLang="en-US" sz="1700" dirty="0"/>
              <a:t>The use of aggregation – can treat the aggregate entity set as a single unit without concern for the details of its internal structure.</a:t>
            </a:r>
          </a:p>
        </p:txBody>
      </p:sp>
    </p:spTree>
    <p:extLst>
      <p:ext uri="{BB962C8B-B14F-4D97-AF65-F5344CB8AC3E}">
        <p14:creationId xmlns:p14="http://schemas.microsoft.com/office/powerpoint/2010/main" val="24730635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FBBC8C7-FE94-41E3-9B6E-04E57B64D6AB}"/>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8813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UML	</a:t>
            </a:r>
          </a:p>
        </p:txBody>
      </p:sp>
      <p:sp>
        <p:nvSpPr>
          <p:cNvPr id="83971" name="Rectangle 3"/>
          <p:cNvSpPr>
            <a:spLocks noGrp="1" noChangeArrowheads="1"/>
          </p:cNvSpPr>
          <p:nvPr>
            <p:ph type="body" idx="1"/>
          </p:nvPr>
        </p:nvSpPr>
        <p:spPr>
          <a:xfrm>
            <a:off x="768350" y="1222375"/>
            <a:ext cx="7558903" cy="2508377"/>
          </a:xfrm>
        </p:spPr>
        <p:txBody>
          <a:bodyPr/>
          <a:lstStyle/>
          <a:p>
            <a:r>
              <a:rPr lang="en-US" altLang="en-US" sz="1700" b="1" dirty="0">
                <a:solidFill>
                  <a:srgbClr val="002060"/>
                </a:solidFill>
              </a:rPr>
              <a:t>UML</a:t>
            </a:r>
            <a:r>
              <a:rPr lang="en-US" altLang="en-US" sz="1700" dirty="0"/>
              <a:t>: Unified Modeling Language</a:t>
            </a:r>
          </a:p>
          <a:p>
            <a:r>
              <a:rPr lang="en-US" altLang="en-US" sz="1700" dirty="0"/>
              <a:t>UML has many components to graphically model different aspects of an entire software system</a:t>
            </a:r>
          </a:p>
          <a:p>
            <a:r>
              <a:rPr lang="en-US" altLang="en-US" sz="1700" dirty="0"/>
              <a:t>UML Class Diagrams correspond to E-R Diagram, but several differences.</a:t>
            </a:r>
          </a:p>
        </p:txBody>
      </p:sp>
    </p:spTree>
    <p:extLst>
      <p:ext uri="{BB962C8B-B14F-4D97-AF65-F5344CB8AC3E}">
        <p14:creationId xmlns:p14="http://schemas.microsoft.com/office/powerpoint/2010/main" val="95836227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2068415-F0CF-42DA-A518-81E10F803A85}"/>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9222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UML Class Diagrams (Cont.)</a:t>
            </a:r>
          </a:p>
        </p:txBody>
      </p:sp>
      <p:sp>
        <p:nvSpPr>
          <p:cNvPr id="87043" name="Rectangle 3"/>
          <p:cNvSpPr>
            <a:spLocks noGrp="1" noChangeArrowheads="1"/>
          </p:cNvSpPr>
          <p:nvPr>
            <p:ph type="body" idx="1"/>
          </p:nvPr>
        </p:nvSpPr>
        <p:spPr>
          <a:xfrm>
            <a:off x="768351" y="1222375"/>
            <a:ext cx="7550026" cy="3508121"/>
          </a:xfrm>
        </p:spPr>
        <p:txBody>
          <a:bodyPr/>
          <a:lstStyle/>
          <a:p>
            <a:r>
              <a:rPr lang="en-US" altLang="en-US" sz="1700" dirty="0"/>
              <a:t>Binary relationship sets are represented in UML by just drawing a line connecting the entity sets. The relationship set name is written adjacent to the line.  </a:t>
            </a:r>
          </a:p>
          <a:p>
            <a:r>
              <a:rPr lang="en-US" altLang="en-US" sz="1700" dirty="0"/>
              <a:t>The role played by an entity set in a relationship set may also be specified by writing the role name on the line, adjacent to the entity set. </a:t>
            </a:r>
          </a:p>
          <a:p>
            <a:r>
              <a:rPr lang="en-US" altLang="en-US" sz="1700" dirty="0"/>
              <a:t>The relationship set name may alternatively be written in a box, along with attributes of the relationship set, and the box is connected, using a dotted line, to the line depicting the  relationship set.</a:t>
            </a:r>
          </a:p>
        </p:txBody>
      </p:sp>
    </p:spTree>
    <p:extLst>
      <p:ext uri="{BB962C8B-B14F-4D97-AF65-F5344CB8AC3E}">
        <p14:creationId xmlns:p14="http://schemas.microsoft.com/office/powerpoint/2010/main" val="49858572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7F6441C8-E573-4A5B-8258-A6E51AFBCB12}"/>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92226"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Other Aspects of Database Design</a:t>
            </a:r>
          </a:p>
        </p:txBody>
      </p:sp>
      <p:sp>
        <p:nvSpPr>
          <p:cNvPr id="89091" name="Rectangle 3"/>
          <p:cNvSpPr>
            <a:spLocks noGrp="1" noChangeArrowheads="1"/>
          </p:cNvSpPr>
          <p:nvPr>
            <p:ph type="body" idx="1"/>
          </p:nvPr>
        </p:nvSpPr>
        <p:spPr>
          <a:xfrm>
            <a:off x="768351" y="1222375"/>
            <a:ext cx="7449058" cy="1533017"/>
          </a:xfrm>
        </p:spPr>
        <p:txBody>
          <a:bodyPr/>
          <a:lstStyle/>
          <a:p>
            <a:r>
              <a:rPr lang="en-US" altLang="en-US" sz="1700" dirty="0"/>
              <a:t>Functional Requirements</a:t>
            </a:r>
          </a:p>
          <a:p>
            <a:r>
              <a:rPr lang="en-US" altLang="en-US" sz="1700" dirty="0"/>
              <a:t>Data Flow, Workflow</a:t>
            </a:r>
          </a:p>
          <a:p>
            <a:r>
              <a:rPr lang="en-US" altLang="en-US" sz="1700" dirty="0"/>
              <a:t>Schema Evolution</a:t>
            </a:r>
          </a:p>
        </p:txBody>
      </p:sp>
    </p:spTree>
    <p:extLst>
      <p:ext uri="{BB962C8B-B14F-4D97-AF65-F5344CB8AC3E}">
        <p14:creationId xmlns:p14="http://schemas.microsoft.com/office/powerpoint/2010/main" val="200449976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1544F2F2-5A6B-4799-91D5-5773E98E905B}"/>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698370" name="Rectangle 2"/>
          <p:cNvSpPr>
            <a:spLocks noGrp="1" noChangeArrowheads="1"/>
          </p:cNvSpPr>
          <p:nvPr>
            <p:ph type="ctrTitle"/>
          </p:nvPr>
        </p:nvSpPr>
        <p:spPr/>
        <p:txBody>
          <a:bodyPr/>
          <a:lstStyle/>
          <a:p>
            <a:pPr>
              <a:defRPr/>
            </a:pPr>
            <a:r>
              <a:rPr lang="en-US" altLang="en-US" smtClean="0">
                <a:effectLst>
                  <a:outerShdw blurRad="38100" dist="38100" dir="2700000" algn="tl">
                    <a:srgbClr val="C0C0C0"/>
                  </a:outerShdw>
                </a:effectLst>
              </a:rPr>
              <a:t>End</a:t>
            </a:r>
            <a:r>
              <a:rPr lang="en-US" altLang="en-US" dirty="0">
                <a:effectLst>
                  <a:outerShdw blurRad="38100" dist="38100" dir="2700000" algn="tl">
                    <a:srgbClr val="C0C0C0"/>
                  </a:outerShdw>
                </a:effectLst>
              </a:rPr>
              <a:t/>
            </a:r>
            <a:br>
              <a:rPr lang="en-US" altLang="en-US" dirty="0">
                <a:effectLst>
                  <a:outerShdw blurRad="38100" dist="38100" dir="2700000" algn="tl">
                    <a:srgbClr val="C0C0C0"/>
                  </a:outerShdw>
                </a:effectLst>
              </a:rPr>
            </a:br>
            <a:endParaRPr lang="en-US" altLang="en-US" dirty="0">
              <a:effectLst>
                <a:outerShdw blurRad="38100" dist="38100" dir="2700000" algn="tl">
                  <a:srgbClr val="C0C0C0"/>
                </a:outerShdw>
              </a:effectLst>
            </a:endParaRPr>
          </a:p>
        </p:txBody>
      </p:sp>
    </p:spTree>
  </p:cSld>
  <p:clrMapOvr>
    <a:masterClrMapping/>
  </p:clrMapOvr>
</p:sld>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DB6</Template>
  <TotalTime>120636</TotalTime>
  <Words>4727</Words>
  <Application>Microsoft Office PowerPoint</Application>
  <PresentationFormat>On-screen Show (4:3)</PresentationFormat>
  <Paragraphs>261</Paragraphs>
  <Slides>27</Slides>
  <Notes>27</Notes>
  <HiddenSlides>0</HiddenSlides>
  <MMClips>0</MMClips>
  <ScaleCrop>false</ScaleCrop>
  <HeadingPairs>
    <vt:vector size="8" baseType="variant">
      <vt:variant>
        <vt:lpstr>Fonts Used</vt:lpstr>
      </vt:variant>
      <vt:variant>
        <vt:i4>7</vt:i4>
      </vt:variant>
      <vt:variant>
        <vt:lpstr>Theme</vt:lpstr>
      </vt:variant>
      <vt:variant>
        <vt:i4>1</vt:i4>
      </vt:variant>
      <vt:variant>
        <vt:lpstr>Slide Titles</vt:lpstr>
      </vt:variant>
      <vt:variant>
        <vt:i4>27</vt:i4>
      </vt:variant>
      <vt:variant>
        <vt:lpstr>Custom Shows</vt:lpstr>
      </vt:variant>
      <vt:variant>
        <vt:i4>1</vt:i4>
      </vt:variant>
    </vt:vector>
  </HeadingPairs>
  <TitlesOfParts>
    <vt:vector size="36" baseType="lpstr">
      <vt:lpstr>ＭＳ Ｐゴシック</vt:lpstr>
      <vt:lpstr>ＭＳ Ｐゴシック</vt:lpstr>
      <vt:lpstr>Arial</vt:lpstr>
      <vt:lpstr>Helvetica</vt:lpstr>
      <vt:lpstr>Monotype Sorts</vt:lpstr>
      <vt:lpstr>Times New Roman</vt:lpstr>
      <vt:lpstr>Wingdings</vt:lpstr>
      <vt:lpstr>2_db-5-grey</vt:lpstr>
      <vt:lpstr>More E/R, UML, ODL Database Design Using the E-R Model -2</vt:lpstr>
      <vt:lpstr>Outline</vt:lpstr>
      <vt:lpstr>Extended E-R Features</vt:lpstr>
      <vt:lpstr>Specialization</vt:lpstr>
      <vt:lpstr>Specialization Example</vt:lpstr>
      <vt:lpstr>Representing Specialization via Schemas</vt:lpstr>
      <vt:lpstr>Representing Specialization as Schemas (Cont.)</vt:lpstr>
      <vt:lpstr>Generalization</vt:lpstr>
      <vt:lpstr>Completeness constraint</vt:lpstr>
      <vt:lpstr>Completeness constraint (Cont.)</vt:lpstr>
      <vt:lpstr>Aggregation</vt:lpstr>
      <vt:lpstr>Aggregation (Cont.)</vt:lpstr>
      <vt:lpstr>Aggregation (Cont.)</vt:lpstr>
      <vt:lpstr>Reduction to Relational Schemas</vt:lpstr>
      <vt:lpstr>Design Issues</vt:lpstr>
      <vt:lpstr>Common Mistakes in E-R Diagrams</vt:lpstr>
      <vt:lpstr>Common Mistakes in E-R Diagrams (Cont.)</vt:lpstr>
      <vt:lpstr>Entities vs. Attributes</vt:lpstr>
      <vt:lpstr>Entities vs. Relationship sets</vt:lpstr>
      <vt:lpstr>Binary Vs. Non-Binary Relationships</vt:lpstr>
      <vt:lpstr>Converting Non-Binary Relationships to Binary Form</vt:lpstr>
      <vt:lpstr>Converting Non-Binary Relationships (Cont.)</vt:lpstr>
      <vt:lpstr>E-R Design Decisions</vt:lpstr>
      <vt:lpstr>UML </vt:lpstr>
      <vt:lpstr>UML Class Diagrams (Cont.)</vt:lpstr>
      <vt:lpstr>Other Aspects of Database Design</vt:lpstr>
      <vt:lpstr>End </vt:lpstr>
      <vt:lpstr>Custom Show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Windows User</cp:lastModifiedBy>
  <cp:revision>567</cp:revision>
  <cp:lastPrinted>1999-06-28T19:27:31Z</cp:lastPrinted>
  <dcterms:created xsi:type="dcterms:W3CDTF">2009-12-21T15:40:22Z</dcterms:created>
  <dcterms:modified xsi:type="dcterms:W3CDTF">2022-02-13T18:05:42Z</dcterms:modified>
</cp:coreProperties>
</file>