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handoutMasterIdLst>
    <p:handoutMasterId r:id="rId15"/>
  </p:handoutMasterIdLst>
  <p:sldIdLst>
    <p:sldId id="445" r:id="rId2"/>
    <p:sldId id="446" r:id="rId3"/>
    <p:sldId id="462" r:id="rId4"/>
    <p:sldId id="464" r:id="rId5"/>
    <p:sldId id="465" r:id="rId6"/>
    <p:sldId id="466" r:id="rId7"/>
    <p:sldId id="467" r:id="rId8"/>
    <p:sldId id="468" r:id="rId9"/>
    <p:sldId id="469" r:id="rId10"/>
    <p:sldId id="393" r:id="rId11"/>
    <p:sldId id="394" r:id="rId12"/>
    <p:sldId id="395" r:id="rId13"/>
  </p:sldIdLst>
  <p:sldSz cx="9144000" cy="6858000" type="screen4x3"/>
  <p:notesSz cx="6997700" cy="9283700"/>
  <p:custShowLst>
    <p:custShow name="Custom Show 1" id="0">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22" autoAdjust="0"/>
    <p:restoredTop sz="55009" autoAdjust="0"/>
  </p:normalViewPr>
  <p:slideViewPr>
    <p:cSldViewPr snapToGrid="0">
      <p:cViewPr varScale="1">
        <p:scale>
          <a:sx n="39" d="100"/>
          <a:sy n="39" d="100"/>
        </p:scale>
        <p:origin x="1452" y="42"/>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2936E5F-4C9B-4144-9261-C3F188AA67D9}"/>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475">
              <a:defRPr sz="1600">
                <a:solidFill>
                  <a:schemeClr val="tx1"/>
                </a:solidFill>
                <a:latin typeface="Helvetica" panose="020B0604020202020204" pitchFamily="34" charset="0"/>
                <a:ea typeface="MS PGothic" panose="020B0600070205080204" pitchFamily="34" charset="-128"/>
              </a:defRPr>
            </a:lvl1pPr>
            <a:lvl2pPr marL="742950" indent="-285750" defTabSz="879475">
              <a:defRPr sz="1600">
                <a:solidFill>
                  <a:schemeClr val="tx1"/>
                </a:solidFill>
                <a:latin typeface="Helvetica" panose="020B0604020202020204" pitchFamily="34" charset="0"/>
                <a:ea typeface="MS PGothic" panose="020B0600070205080204" pitchFamily="34" charset="-128"/>
              </a:defRPr>
            </a:lvl2pPr>
            <a:lvl3pPr marL="1143000" indent="-228600" defTabSz="879475">
              <a:defRPr sz="1600">
                <a:solidFill>
                  <a:schemeClr val="tx1"/>
                </a:solidFill>
                <a:latin typeface="Helvetica" panose="020B0604020202020204" pitchFamily="34" charset="0"/>
                <a:ea typeface="MS PGothic" panose="020B0600070205080204" pitchFamily="34" charset="-128"/>
              </a:defRPr>
            </a:lvl3pPr>
            <a:lvl4pPr marL="1600200" indent="-228600" defTabSz="879475">
              <a:defRPr sz="1600">
                <a:solidFill>
                  <a:schemeClr val="tx1"/>
                </a:solidFill>
                <a:latin typeface="Helvetica" panose="020B0604020202020204" pitchFamily="34" charset="0"/>
                <a:ea typeface="MS PGothic" panose="020B0600070205080204" pitchFamily="34" charset="-128"/>
              </a:defRPr>
            </a:lvl4pPr>
            <a:lvl5pPr marL="2057400" indent="-228600" defTabSz="879475">
              <a:defRPr sz="1600">
                <a:solidFill>
                  <a:schemeClr val="tx1"/>
                </a:solidFill>
                <a:latin typeface="Helvetica" panose="020B0604020202020204" pitchFamily="34" charset="0"/>
                <a:ea typeface="MS PGothic" panose="020B0600070205080204" pitchFamily="34" charset="-128"/>
              </a:defRPr>
            </a:lvl5pPr>
            <a:lvl6pPr marL="25146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8794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351C3CC-85E9-4EB0-AE84-86EE2CEAA304}"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E56AE75-B906-4BBE-9F19-01C6ABDA8665}" type="slidenum">
              <a:rPr lang="en-US" altLang="en-US" sz="1200"/>
              <a:pPr/>
              <a:t>2</a:t>
            </a:fld>
            <a:endParaRPr lang="en-US" altLang="en-US" sz="1200"/>
          </a:p>
        </p:txBody>
      </p:sp>
      <p:sp>
        <p:nvSpPr>
          <p:cNvPr id="18435" name="Rectangle 2"/>
          <p:cNvSpPr>
            <a:spLocks noChangeArrowheads="1"/>
          </p:cNvSpPr>
          <p:nvPr/>
        </p:nvSpPr>
        <p:spPr bwMode="auto">
          <a:xfrm>
            <a:off x="3965576" y="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37931725" indent="-3747452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18436" name="Rectangle 3"/>
          <p:cNvSpPr>
            <a:spLocks noChangeArrowheads="1"/>
          </p:cNvSpPr>
          <p:nvPr/>
        </p:nvSpPr>
        <p:spPr bwMode="auto">
          <a:xfrm>
            <a:off x="3965576"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2058" tIns="45221" rIns="92058" bIns="45221" anchor="b"/>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300">
                <a:latin typeface="Times New Roman" panose="02020603050405020304" pitchFamily="18" charset="0"/>
              </a:rPr>
              <a:t>1</a:t>
            </a:r>
          </a:p>
        </p:txBody>
      </p:sp>
      <p:sp>
        <p:nvSpPr>
          <p:cNvPr id="18437" name="Rectangle 4"/>
          <p:cNvSpPr>
            <a:spLocks noChangeArrowheads="1"/>
          </p:cNvSpPr>
          <p:nvPr/>
        </p:nvSpPr>
        <p:spPr bwMode="auto">
          <a:xfrm>
            <a:off x="1"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37931725" indent="-3747452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18438" name="Rectangle 5"/>
          <p:cNvSpPr>
            <a:spLocks noChangeArrowheads="1"/>
          </p:cNvSpPr>
          <p:nvPr/>
        </p:nvSpPr>
        <p:spPr bwMode="auto">
          <a:xfrm>
            <a:off x="1" y="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600">
                <a:solidFill>
                  <a:schemeClr val="tx1"/>
                </a:solidFill>
                <a:latin typeface="Helvetica" panose="020B0604020202020204" pitchFamily="34" charset="0"/>
                <a:ea typeface="MS PGothic" panose="020B0600070205080204" pitchFamily="34" charset="-128"/>
              </a:defRPr>
            </a:lvl1pPr>
            <a:lvl2pPr marL="37931725" indent="-3747452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endParaRPr lang="en-US" altLang="en-US"/>
          </a:p>
        </p:txBody>
      </p:sp>
      <p:sp>
        <p:nvSpPr>
          <p:cNvPr id="18439" name="Rectangle 6"/>
          <p:cNvSpPr>
            <a:spLocks noGrp="1" noRot="1" noChangeAspect="1" noChangeArrowheads="1" noTextEdit="1"/>
          </p:cNvSpPr>
          <p:nvPr>
            <p:ph type="sldImg"/>
          </p:nvPr>
        </p:nvSpPr>
        <p:spPr>
          <a:xfrm>
            <a:off x="1187450" y="703263"/>
            <a:ext cx="4622800" cy="3467100"/>
          </a:xfrm>
          <a:ln w="12700" cap="flat"/>
        </p:spPr>
      </p:sp>
      <p:sp>
        <p:nvSpPr>
          <p:cNvPr id="18440" name="Rectangle 7"/>
          <p:cNvSpPr>
            <a:spLocks noGrp="1" noChangeArrowheads="1"/>
          </p:cNvSpPr>
          <p:nvPr>
            <p:ph type="body" idx="1"/>
          </p:nvPr>
        </p:nvSpPr>
        <p:spPr>
          <a:xfrm>
            <a:off x="931864" y="4410076"/>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58" tIns="45221" rIns="92058" bIns="45221" anchor="ct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dirty="0" smtClean="0"/>
              <a:t>Join  Expressions – se </a:t>
            </a:r>
            <a:r>
              <a:rPr lang="en-US" altLang="en-US" sz="1200" dirty="0" err="1" smtClean="0"/>
              <a:t>pripojuiva</a:t>
            </a:r>
            <a:r>
              <a:rPr lang="en-US" altLang="en-US" sz="1200" dirty="0" smtClean="0"/>
              <a:t> so </a:t>
            </a:r>
            <a:r>
              <a:rPr lang="en-US" altLang="en-US" sz="1200" dirty="0" err="1" smtClean="0"/>
              <a:t>prethodna</a:t>
            </a:r>
            <a:r>
              <a:rPr lang="en-US" altLang="en-US" sz="1200" dirty="0" smtClean="0"/>
              <a:t> </a:t>
            </a:r>
            <a:r>
              <a:rPr lang="en-US" altLang="en-US" sz="1200" dirty="0" err="1" smtClean="0"/>
              <a:t>lekcija</a:t>
            </a:r>
            <a:r>
              <a:rPr lang="en-US" altLang="en-US" sz="1200" baseline="0" dirty="0" smtClean="0"/>
              <a:t> I taka se deli </a:t>
            </a:r>
            <a:r>
              <a:rPr lang="en-US" altLang="en-US" sz="1200" baseline="0" dirty="0" err="1" smtClean="0"/>
              <a:t>na</a:t>
            </a:r>
            <a:r>
              <a:rPr lang="en-US" altLang="en-US" sz="1200" baseline="0" dirty="0" smtClean="0"/>
              <a:t> </a:t>
            </a:r>
            <a:r>
              <a:rPr lang="en-US" altLang="en-US" sz="1200" baseline="0" dirty="0" err="1" smtClean="0"/>
              <a:t>dve</a:t>
            </a:r>
            <a:r>
              <a:rPr lang="en-US" altLang="en-US" sz="1200" baseline="0" dirty="0" smtClean="0"/>
              <a:t> </a:t>
            </a:r>
            <a:r>
              <a:rPr lang="en-US" altLang="en-US" sz="1200" baseline="0" dirty="0" err="1" smtClean="0"/>
              <a:t>predavanja</a:t>
            </a:r>
            <a:r>
              <a:rPr lang="en-US" altLang="en-US" sz="1200" baseline="0" dirty="0" smtClean="0"/>
              <a:t> so </a:t>
            </a:r>
            <a:r>
              <a:rPr lang="en-US" altLang="en-US" sz="1200" baseline="0" dirty="0" err="1" smtClean="0"/>
              <a:t>sto</a:t>
            </a:r>
            <a:r>
              <a:rPr lang="en-US" altLang="en-US" sz="1200" baseline="0" dirty="0" smtClean="0"/>
              <a:t> se </a:t>
            </a:r>
            <a:r>
              <a:rPr lang="en-US" altLang="en-US" sz="1200" baseline="0" dirty="0" err="1" smtClean="0"/>
              <a:t>pokriva</a:t>
            </a:r>
            <a:r>
              <a:rPr lang="en-US" altLang="en-US" sz="1200" baseline="0" dirty="0" smtClean="0"/>
              <a:t> so </a:t>
            </a:r>
            <a:r>
              <a:rPr lang="en-US" altLang="en-US" sz="1200" baseline="0" dirty="0" err="1" smtClean="0"/>
              <a:t>stari</a:t>
            </a:r>
            <a:r>
              <a:rPr lang="en-US" altLang="en-US" sz="1200" baseline="0" dirty="0" smtClean="0"/>
              <a:t> </a:t>
            </a:r>
            <a:r>
              <a:rPr lang="en-US" altLang="en-US" sz="1200" baseline="0" dirty="0" err="1" smtClean="0"/>
              <a:t>ppt</a:t>
            </a:r>
            <a:endParaRPr lang="en-US" altLang="en-US" sz="1200"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en-US" sz="1200"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aseline="0" dirty="0" err="1" smtClean="0"/>
              <a:t>Ostatokot</a:t>
            </a:r>
            <a:r>
              <a:rPr lang="en-US" altLang="en-US" sz="1200" baseline="0" dirty="0" smtClean="0"/>
              <a:t> se </a:t>
            </a:r>
            <a:r>
              <a:rPr lang="en-US" altLang="en-US" sz="1200" baseline="0" dirty="0" err="1" smtClean="0"/>
              <a:t>spojuva</a:t>
            </a:r>
            <a:r>
              <a:rPr lang="en-US" altLang="en-US" sz="1200" baseline="0" dirty="0" smtClean="0"/>
              <a:t> so triggers od </a:t>
            </a:r>
            <a:r>
              <a:rPr lang="en-US" altLang="en-US" sz="1200" baseline="0" dirty="0" err="1" smtClean="0"/>
              <a:t>naredna</a:t>
            </a:r>
            <a:r>
              <a:rPr lang="en-US" altLang="en-US" sz="1200" baseline="0" dirty="0" smtClean="0"/>
              <a:t> I se </a:t>
            </a:r>
            <a:r>
              <a:rPr lang="en-US" altLang="en-US" sz="1200" baseline="0" dirty="0" err="1" smtClean="0"/>
              <a:t>dobivaat</a:t>
            </a:r>
            <a:r>
              <a:rPr lang="en-US" altLang="en-US" sz="1200" baseline="0" dirty="0" smtClean="0"/>
              <a:t> 2 </a:t>
            </a:r>
            <a:r>
              <a:rPr lang="en-US" altLang="en-US" sz="1200" baseline="0" dirty="0" err="1" smtClean="0"/>
              <a:t>predavanja</a:t>
            </a:r>
            <a:endParaRPr lang="en-US" altLang="en-US" sz="1200" dirty="0" smtClean="0"/>
          </a:p>
          <a:p>
            <a:r>
              <a:rPr lang="en-US" altLang="en-US" dirty="0" smtClean="0">
                <a:latin typeface="Times New Roman" panose="02020603050405020304" pitchFamily="18" charset="0"/>
              </a:rPr>
              <a:t> </a:t>
            </a:r>
          </a:p>
          <a:p>
            <a:r>
              <a:rPr lang="en-US" dirty="0" smtClean="0"/>
              <a:t>In this chapter, we continue our study of SQL. We consider more complex forms of SQL queries, view definition, transactions, integrity constraints, more details regarding SQL data definition, and authorization.</a:t>
            </a:r>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We may assign a user several forms of authorizations on parts of the database. Authorizations on data include: </a:t>
            </a:r>
          </a:p>
          <a:p>
            <a:pPr lvl="1"/>
            <a:r>
              <a:rPr lang="en-US" b="1" dirty="0" smtClean="0"/>
              <a:t>• Authorization to read data. </a:t>
            </a:r>
          </a:p>
          <a:p>
            <a:pPr lvl="1"/>
            <a:r>
              <a:rPr lang="en-US" b="1" dirty="0" smtClean="0"/>
              <a:t>• Authorization to insert new data. </a:t>
            </a:r>
          </a:p>
          <a:p>
            <a:pPr lvl="1"/>
            <a:r>
              <a:rPr lang="en-US" b="1" dirty="0" smtClean="0"/>
              <a:t>• Authorization to update data. </a:t>
            </a:r>
          </a:p>
          <a:p>
            <a:pPr lvl="1"/>
            <a:r>
              <a:rPr lang="en-US" b="1" dirty="0" smtClean="0"/>
              <a:t>• Authorization to delete data.</a:t>
            </a:r>
          </a:p>
          <a:p>
            <a:pPr lvl="1"/>
            <a:endParaRPr lang="en-US" b="1" i="1" dirty="0" smtClean="0"/>
          </a:p>
          <a:p>
            <a:pPr lvl="0"/>
            <a:r>
              <a:rPr lang="en-US" b="1" i="1" dirty="0" smtClean="0"/>
              <a:t>Each of these types of authorizations is called a privilege. We may authorize the user all, none, or a combination of these types of privileges on specified parts of a database, such as a relation or a view.</a:t>
            </a:r>
          </a:p>
          <a:p>
            <a:pPr lvl="0"/>
            <a:endParaRPr lang="en-US" dirty="0" smtClean="0"/>
          </a:p>
          <a:p>
            <a:pPr lvl="0"/>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3</a:t>
            </a:fld>
            <a:endParaRPr lang="en-US" altLang="en-US"/>
          </a:p>
        </p:txBody>
      </p:sp>
    </p:spTree>
    <p:extLst>
      <p:ext uri="{BB962C8B-B14F-4D97-AF65-F5344CB8AC3E}">
        <p14:creationId xmlns:p14="http://schemas.microsoft.com/office/powerpoint/2010/main" val="2840376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smtClean="0"/>
              <a:t>When a user submits a query or an update, the SQL implementation first checks if the query or update is authorized, based on the authorizations that the user has been granted. If the query or update is not authorized, it is rejected.</a:t>
            </a:r>
          </a:p>
          <a:p>
            <a:endParaRPr lang="en-US" dirty="0" smtClean="0"/>
          </a:p>
          <a:p>
            <a:r>
              <a:rPr lang="en-US" b="1" i="1" dirty="0" smtClean="0"/>
              <a:t>In addition to authorizations on data, users may also be granted authorizations on the database schema, allowing them, for example, to create, modify, or drop relations. A user who has some form of authorization may be allowed to pass on (grant) this authorization to other users, or to withdraw (revoke) an authorization that was granted earlier. In this section, we see how each of these authorizations can be specified in SQL.</a:t>
            </a:r>
          </a:p>
          <a:p>
            <a:endParaRPr lang="en-US" dirty="0" smtClean="0"/>
          </a:p>
          <a:p>
            <a:r>
              <a:rPr lang="en-US" b="1" dirty="0" smtClean="0"/>
              <a:t>The ultimate form of authority is that given to the database administrator. The database administrator may authorize new users, restructure the database, and so on. This form of authorization is analogous to that of a </a:t>
            </a:r>
            <a:r>
              <a:rPr lang="en-US" b="1" dirty="0" err="1" smtClean="0"/>
              <a:t>superuser</a:t>
            </a:r>
            <a:r>
              <a:rPr lang="en-US" b="1" dirty="0" smtClean="0"/>
              <a:t>, administrator, or operator for an operating system.</a:t>
            </a:r>
            <a:endParaRPr lang="en-US" b="1"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4</a:t>
            </a:fld>
            <a:endParaRPr lang="en-US" altLang="en-US"/>
          </a:p>
        </p:txBody>
      </p:sp>
    </p:spTree>
    <p:extLst>
      <p:ext uri="{BB962C8B-B14F-4D97-AF65-F5344CB8AC3E}">
        <p14:creationId xmlns:p14="http://schemas.microsoft.com/office/powerpoint/2010/main" val="4031209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The SQL standard includes the privileges select, insert, update, and delete. The privilege all privileges can be used as a short form for all the allowable privileges. A user who creates a new relation is given all privileges on that relation automatically.</a:t>
            </a:r>
          </a:p>
          <a:p>
            <a:endParaRPr lang="en-US" dirty="0" smtClean="0"/>
          </a:p>
          <a:p>
            <a:r>
              <a:rPr lang="en-US" b="1" dirty="0" smtClean="0"/>
              <a:t>The SQL data-definition language includes commands to grant and revoke privileges. The grant statement is used to confer authorization. The basic form of this statement is:</a:t>
            </a:r>
          </a:p>
          <a:p>
            <a:pPr>
              <a:buFont typeface="Monotype Sorts" charset="2"/>
              <a:buNone/>
            </a:pPr>
            <a:r>
              <a:rPr lang="en-US" altLang="en-US" sz="1200" b="1" dirty="0" smtClean="0"/>
              <a:t>	grant</a:t>
            </a:r>
            <a:r>
              <a:rPr lang="en-US" altLang="en-US" sz="1200" dirty="0" smtClean="0"/>
              <a:t> &lt;privilege list&gt; </a:t>
            </a:r>
          </a:p>
          <a:p>
            <a:pPr>
              <a:buFont typeface="Monotype Sorts" charset="2"/>
              <a:buNone/>
            </a:pPr>
            <a:r>
              <a:rPr lang="en-US" altLang="en-US" b="1" dirty="0" smtClean="0"/>
              <a:t>	   </a:t>
            </a:r>
            <a:r>
              <a:rPr lang="en-US" altLang="en-US" sz="1200" b="1" dirty="0" smtClean="0"/>
              <a:t>on </a:t>
            </a:r>
            <a:r>
              <a:rPr lang="en-US" altLang="en-US" sz="1200" dirty="0" smtClean="0"/>
              <a:t>&lt;relation or view &gt; </a:t>
            </a:r>
          </a:p>
          <a:p>
            <a:pPr>
              <a:buFont typeface="Monotype Sorts" charset="2"/>
              <a:buNone/>
            </a:pPr>
            <a:r>
              <a:rPr lang="en-US" altLang="en-US" b="1" dirty="0" smtClean="0"/>
              <a:t> 	  </a:t>
            </a:r>
            <a:r>
              <a:rPr lang="en-US" altLang="en-US" sz="1200" b="1" dirty="0" smtClean="0"/>
              <a:t>to</a:t>
            </a:r>
            <a:r>
              <a:rPr lang="en-US" altLang="en-US" sz="1200" dirty="0" smtClean="0"/>
              <a:t> &lt;user/role list&gt;</a:t>
            </a:r>
          </a:p>
          <a:p>
            <a:r>
              <a:rPr lang="en-US" b="1" dirty="0" smtClean="0"/>
              <a:t>The privilege list allows the granting of several privileges in one command.</a:t>
            </a:r>
          </a:p>
          <a:p>
            <a:endParaRPr lang="en-US" dirty="0" smtClean="0"/>
          </a:p>
          <a:p>
            <a:r>
              <a:rPr lang="en-US" b="1" i="1" dirty="0" smtClean="0"/>
              <a:t>The select authorization on a relation is required to read tuples in the relation. The following grant statement grants database users Amit and Satoshi select authorization on the department relation:</a:t>
            </a:r>
          </a:p>
          <a:p>
            <a:endParaRPr lang="en-US" b="1" i="1" dirty="0" smtClean="0"/>
          </a:p>
          <a:p>
            <a:r>
              <a:rPr lang="en-US" b="1" i="1" dirty="0" smtClean="0"/>
              <a:t>This allows those users to run queries on the department relation.</a:t>
            </a:r>
          </a:p>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5</a:t>
            </a:fld>
            <a:endParaRPr lang="en-US" altLang="en-US"/>
          </a:p>
        </p:txBody>
      </p:sp>
    </p:spTree>
    <p:extLst>
      <p:ext uri="{BB962C8B-B14F-4D97-AF65-F5344CB8AC3E}">
        <p14:creationId xmlns:p14="http://schemas.microsoft.com/office/powerpoint/2010/main" val="4067100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The update authorization on a relation allows a user to update any tuple in the relation</a:t>
            </a:r>
            <a:r>
              <a:rPr lang="en-US" dirty="0" smtClean="0"/>
              <a:t>. </a:t>
            </a:r>
            <a:r>
              <a:rPr lang="en-US" b="1" i="1" dirty="0" smtClean="0"/>
              <a:t>The update authorization may be given either on all attributes of the relation or on only some. If update authorization is included in a grant statement, the list of attributes on which update authorization is to be granted optionally appears in parentheses immediately after the update keyword.</a:t>
            </a:r>
            <a:r>
              <a:rPr lang="en-US" dirty="0" smtClean="0"/>
              <a:t> If the list of attributes is omitted, the update privilege will be granted on all attributes of the relation. </a:t>
            </a:r>
          </a:p>
          <a:p>
            <a:endParaRPr lang="en-US" dirty="0" smtClean="0"/>
          </a:p>
          <a:p>
            <a:r>
              <a:rPr lang="en-US" b="1" dirty="0" smtClean="0"/>
              <a:t>This grant statement gives users Amit and Satoshi update authorization on the budget attribute of the department relation:</a:t>
            </a:r>
          </a:p>
          <a:p>
            <a:endParaRPr lang="en-US" dirty="0" smtClean="0"/>
          </a:p>
          <a:p>
            <a:r>
              <a:rPr lang="en-US" b="1" dirty="0" smtClean="0"/>
              <a:t>Grant update (budget) on department to Amit, Satoshi;</a:t>
            </a:r>
          </a:p>
          <a:p>
            <a:endParaRPr lang="en-US" dirty="0" smtClean="0"/>
          </a:p>
          <a:p>
            <a:r>
              <a:rPr lang="en-US" b="1" dirty="0" smtClean="0"/>
              <a:t>The insert authorization on a relation allows a user to insert tuples into the relation. The insert privilege may also specify a list of attributes; any inserts to the relation must specify only these attributes, and the system either gives each of the remaining attributes default values (if a default is defined for the attribute) or sets them to null. </a:t>
            </a:r>
          </a:p>
          <a:p>
            <a:r>
              <a:rPr lang="en-US" b="1" i="1" dirty="0" smtClean="0"/>
              <a:t>The delete authorization on a relation allows a user to delete tuples from a relation. The user name public refers to all current and future users of the system. Thus, privileges granted to public are implicitly granted to all current and future users.</a:t>
            </a:r>
            <a:endParaRPr lang="en-US" b="1" i="1"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6</a:t>
            </a:fld>
            <a:endParaRPr lang="en-US" altLang="en-US"/>
          </a:p>
        </p:txBody>
      </p:sp>
    </p:spTree>
    <p:extLst>
      <p:ext uri="{BB962C8B-B14F-4D97-AF65-F5344CB8AC3E}">
        <p14:creationId xmlns:p14="http://schemas.microsoft.com/office/powerpoint/2010/main" val="1378848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SLAJD</a:t>
            </a:r>
          </a:p>
          <a:p>
            <a:endParaRPr lang="en-US" dirty="0" smtClean="0"/>
          </a:p>
          <a:p>
            <a:r>
              <a:rPr lang="en-US" dirty="0" smtClean="0"/>
              <a:t>To revoke an authorization, we use the revoke statement. It takes a form almost identical to that of grant:</a:t>
            </a:r>
          </a:p>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7</a:t>
            </a:fld>
            <a:endParaRPr lang="en-US" altLang="en-US"/>
          </a:p>
        </p:txBody>
      </p:sp>
    </p:spTree>
    <p:extLst>
      <p:ext uri="{BB962C8B-B14F-4D97-AF65-F5344CB8AC3E}">
        <p14:creationId xmlns:p14="http://schemas.microsoft.com/office/powerpoint/2010/main" val="2537772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Consider the real-world roles of various people in a university. Each instructor must have the same types of authorizations on the same set of relations. Whenever a new instructor is appointed, she will have to be given all these authorizations individually. </a:t>
            </a:r>
          </a:p>
          <a:p>
            <a:endParaRPr lang="en-US" dirty="0" smtClean="0"/>
          </a:p>
          <a:p>
            <a:r>
              <a:rPr lang="en-US" b="1" dirty="0" smtClean="0"/>
              <a:t>A better approach would be to specify the authorizations that every instructor is to be given, and to identify separately which database users are instructors. The system can use these two pieces of information to determine the authorizations of each instructor. When a new instructor is hired, a user identifier must be allocated to him, and he must be identified as an instructor. Individual permissions given to instructors need not be specified agai</a:t>
            </a:r>
            <a:r>
              <a:rPr lang="en-US" dirty="0" smtClean="0"/>
              <a:t>n.</a:t>
            </a:r>
          </a:p>
          <a:p>
            <a:endParaRPr lang="en-US" b="1" i="1" dirty="0" smtClean="0"/>
          </a:p>
          <a:p>
            <a:r>
              <a:rPr lang="en-US" b="1" i="1" dirty="0" smtClean="0"/>
              <a:t>The notion of roles captures this concept. A set of roles is created in the database. Authorizations can be granted to roles, in exactly the same fashion as they are granted to individual users. Each database user is granted a set of roles (which may be empty) that she is authorized to perform.</a:t>
            </a:r>
            <a:endParaRPr lang="en-US" b="1" i="1"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8</a:t>
            </a:fld>
            <a:endParaRPr lang="en-US" altLang="en-US"/>
          </a:p>
        </p:txBody>
      </p:sp>
    </p:spTree>
    <p:extLst>
      <p:ext uri="{BB962C8B-B14F-4D97-AF65-F5344CB8AC3E}">
        <p14:creationId xmlns:p14="http://schemas.microsoft.com/office/powerpoint/2010/main" val="29897985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Any authorization that can be granted to a user can be granted to a role. Roles are granted to users just as authorizations are. </a:t>
            </a:r>
          </a:p>
          <a:p>
            <a:r>
              <a:rPr lang="en-US" b="1" dirty="0" smtClean="0"/>
              <a:t>Roles can be created in SQL as follows:</a:t>
            </a:r>
          </a:p>
          <a:p>
            <a:r>
              <a:rPr lang="en-US" dirty="0" smtClean="0"/>
              <a:t>	create role instructor;</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	</a:t>
            </a:r>
            <a:r>
              <a:rPr lang="en-US" altLang="en-US" sz="1200" b="1" dirty="0" smtClean="0"/>
              <a:t>grant</a:t>
            </a:r>
            <a:r>
              <a:rPr lang="en-US" altLang="en-US" sz="1200" dirty="0" smtClean="0"/>
              <a:t> </a:t>
            </a:r>
            <a:r>
              <a:rPr lang="en-US" altLang="en-US" sz="1200" i="1" dirty="0" smtClean="0"/>
              <a:t>instructor</a:t>
            </a:r>
            <a:r>
              <a:rPr lang="en-US" altLang="en-US" sz="1200" b="1" dirty="0" smtClean="0"/>
              <a:t> to </a:t>
            </a:r>
            <a:r>
              <a:rPr lang="en-US" altLang="en-US" sz="1200" dirty="0" smtClean="0"/>
              <a:t>Amit</a:t>
            </a:r>
            <a:r>
              <a:rPr lang="en-US" altLang="en-US" sz="1200" b="1" dirty="0" smtClean="0"/>
              <a:t>;</a:t>
            </a:r>
            <a:endParaRPr lang="en-US" altLang="en-US" sz="1200" dirty="0" smtClean="0"/>
          </a:p>
          <a:p>
            <a:endParaRPr lang="en-US" dirty="0" smtClean="0"/>
          </a:p>
          <a:p>
            <a:r>
              <a:rPr lang="en-US" b="1" dirty="0" smtClean="0"/>
              <a:t>Roles can then be granted privileges just as the users can, as illustrated in this statement</a:t>
            </a:r>
            <a:r>
              <a:rPr lang="en-US" dirty="0" smtClean="0"/>
              <a:t>: </a:t>
            </a:r>
          </a:p>
          <a:p>
            <a:r>
              <a:rPr lang="en-US" dirty="0" smtClean="0"/>
              <a:t> 	</a:t>
            </a:r>
          </a:p>
          <a:p>
            <a:r>
              <a:rPr lang="en-US" dirty="0" smtClean="0"/>
              <a:t>	grant select on takes </a:t>
            </a:r>
          </a:p>
          <a:p>
            <a:r>
              <a:rPr lang="en-US" dirty="0" smtClean="0"/>
              <a:t>	to instructor;</a:t>
            </a:r>
          </a:p>
          <a:p>
            <a:r>
              <a:rPr lang="en-US" b="1" dirty="0" smtClean="0"/>
              <a:t>Roles can be granted to users, as well as to other roles, as these statements show:</a:t>
            </a:r>
          </a:p>
          <a:p>
            <a:endParaRPr lang="en-US" dirty="0" smtClean="0"/>
          </a:p>
          <a:p>
            <a:pPr lvl="2"/>
            <a:r>
              <a:rPr lang="en-US" dirty="0" smtClean="0"/>
              <a:t>create role dean; </a:t>
            </a:r>
          </a:p>
          <a:p>
            <a:pPr lvl="2"/>
            <a:r>
              <a:rPr lang="en-US" dirty="0" smtClean="0"/>
              <a:t>grant instructor to dean; </a:t>
            </a:r>
          </a:p>
          <a:p>
            <a:pPr lvl="2"/>
            <a:r>
              <a:rPr lang="en-US" dirty="0" smtClean="0"/>
              <a:t>grant dean to Satoshi;</a:t>
            </a:r>
          </a:p>
          <a:p>
            <a:pPr lvl="2"/>
            <a:endParaRPr lang="en-US" dirty="0" smtClean="0"/>
          </a:p>
          <a:p>
            <a:pPr lvl="0"/>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9</a:t>
            </a:fld>
            <a:endParaRPr lang="en-US" altLang="en-US"/>
          </a:p>
        </p:txBody>
      </p:sp>
    </p:spTree>
    <p:extLst>
      <p:ext uri="{BB962C8B-B14F-4D97-AF65-F5344CB8AC3E}">
        <p14:creationId xmlns:p14="http://schemas.microsoft.com/office/powerpoint/2010/main" val="2781453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 our university example, consider a staff member who needs to know the salaries of all faculty in a particular department, say the Geology department. </a:t>
            </a:r>
            <a:r>
              <a:rPr lang="en-US" b="1" i="1" dirty="0" smtClean="0"/>
              <a:t>This staff member is not authorized to see information regarding faculty in other departments. Thus, the staff member must be denied direct access to the instructor relation.</a:t>
            </a:r>
            <a:r>
              <a:rPr lang="en-US" dirty="0" smtClean="0"/>
              <a:t> </a:t>
            </a:r>
          </a:p>
          <a:p>
            <a:r>
              <a:rPr lang="en-US" dirty="0" smtClean="0"/>
              <a:t>But if he is to have access to the information for the Geology department, he might be granted access to a view that we shall call geo instructor, consisting of only those instructor tuples pertaining to the Geology department. This view can be defined in SQL as follows:</a:t>
            </a:r>
          </a:p>
          <a:p>
            <a:endParaRPr lang="en-US" dirty="0" smtClean="0"/>
          </a:p>
          <a:p>
            <a:r>
              <a:rPr lang="en-US" b="1" dirty="0" smtClean="0"/>
              <a:t>Suppose that the staff member issues the following SQL query:</a:t>
            </a:r>
          </a:p>
          <a:p>
            <a:endParaRPr lang="en-US" dirty="0" smtClean="0"/>
          </a:p>
          <a:p>
            <a:r>
              <a:rPr lang="en-US" dirty="0" smtClean="0"/>
              <a:t>select * from </a:t>
            </a:r>
            <a:r>
              <a:rPr lang="en-US" dirty="0" err="1" smtClean="0"/>
              <a:t>geo_instructor</a:t>
            </a:r>
            <a:r>
              <a:rPr lang="en-US" dirty="0" smtClean="0"/>
              <a:t>;</a:t>
            </a:r>
          </a:p>
          <a:p>
            <a:endParaRPr lang="en-US" dirty="0" smtClean="0"/>
          </a:p>
          <a:p>
            <a:endParaRPr lang="en-US" dirty="0" smtClean="0"/>
          </a:p>
          <a:p>
            <a:r>
              <a:rPr lang="en-US" b="1" dirty="0" smtClean="0"/>
              <a:t>The staff member is authorized to see the result of this query. However, when the query processor translates it into a query on the actual relations in the database, it replaces uses of a view by the definition of the view, producing a query on instructor. Thus, the system must check authorization on the clerk’s query before it replaces views by their definitions.</a:t>
            </a:r>
            <a:endParaRPr lang="en-US" b="1"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10</a:t>
            </a:fld>
            <a:endParaRPr lang="en-US" altLang="en-US"/>
          </a:p>
        </p:txBody>
      </p:sp>
    </p:spTree>
    <p:extLst>
      <p:ext uri="{BB962C8B-B14F-4D97-AF65-F5344CB8AC3E}">
        <p14:creationId xmlns:p14="http://schemas.microsoft.com/office/powerpoint/2010/main" val="3162895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Authorizations on Schema</a:t>
            </a:r>
          </a:p>
          <a:p>
            <a:r>
              <a:rPr lang="en-US" b="1" i="1" dirty="0" smtClean="0"/>
              <a:t>The SQL standard specifies a primitive authorization mechanism for the database schema: Only the owner of the schema can carry out any modification to the schema, such as creating or deleting relations, adding or dropping attributes of relations, and adding or dropping indices. </a:t>
            </a:r>
          </a:p>
          <a:p>
            <a:endParaRPr lang="en-US" dirty="0" smtClean="0"/>
          </a:p>
          <a:p>
            <a:r>
              <a:rPr lang="en-US" b="1" i="1" dirty="0" smtClean="0"/>
              <a:t>However, SQL includes a references privilege that permits a user to declare foreign keys when creating relations. The SQL references privilege is granted on specific attributes in a manner like that for the update privilege. The following grant statement allows user Mariano to create relations that reference the key </a:t>
            </a:r>
            <a:r>
              <a:rPr lang="en-US" b="1" i="1" dirty="0" err="1" smtClean="0"/>
              <a:t>dept_name</a:t>
            </a:r>
            <a:r>
              <a:rPr lang="en-US" b="1" i="1" dirty="0" smtClean="0"/>
              <a:t> of the department relation as a foreign key:</a:t>
            </a:r>
          </a:p>
          <a:p>
            <a:endParaRPr lang="en-US" dirty="0" smtClean="0"/>
          </a:p>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en-US" sz="1700" b="1" dirty="0" smtClean="0"/>
              <a:t>grant reference </a:t>
            </a:r>
            <a:r>
              <a:rPr lang="en-US" altLang="en-US" sz="1700" dirty="0" smtClean="0"/>
              <a:t>(</a:t>
            </a:r>
            <a:r>
              <a:rPr lang="en-US" altLang="en-US" sz="1700" i="1" dirty="0" err="1" smtClean="0"/>
              <a:t>dept_name</a:t>
            </a:r>
            <a:r>
              <a:rPr lang="en-US" altLang="en-US" sz="1700" dirty="0" smtClean="0"/>
              <a:t>) </a:t>
            </a:r>
            <a:r>
              <a:rPr lang="en-US" altLang="en-US" sz="1700" b="1" dirty="0" smtClean="0"/>
              <a:t>on </a:t>
            </a:r>
            <a:r>
              <a:rPr lang="en-US" altLang="en-US" sz="1700" i="1" dirty="0" smtClean="0"/>
              <a:t>department </a:t>
            </a:r>
            <a:r>
              <a:rPr lang="en-US" altLang="en-US" sz="1700" b="1" dirty="0" smtClean="0"/>
              <a:t>to </a:t>
            </a:r>
            <a:r>
              <a:rPr lang="en-US" altLang="en-US" sz="1700" dirty="0" smtClean="0"/>
              <a:t>Mariano;</a:t>
            </a:r>
          </a:p>
          <a:p>
            <a:endParaRPr lang="en-US" dirty="0" smtClean="0"/>
          </a:p>
          <a:p>
            <a:r>
              <a:rPr lang="en-US" dirty="0" smtClean="0"/>
              <a:t>Initially, it may appear that there is no reason ever to prevent users from creating foreign keys referencing another relation. However, recall that foreign-key constraints restrict deletion and update operations on the referenced relation. Suppose Mariano creates a foreign key in a relation r referencing the </a:t>
            </a:r>
            <a:r>
              <a:rPr lang="en-US" dirty="0" err="1" smtClean="0"/>
              <a:t>dept</a:t>
            </a:r>
            <a:r>
              <a:rPr lang="en-US" dirty="0" smtClean="0"/>
              <a:t> name attribute of the department relation and then inserts a tuple into r pertaining to the Geology department. It is no longer possible to delete the Geology department from the department relation without also modifying relation r. Thus, the definition of a foreign key by Mariano restricts future activity by other users; therefore, there is a need for the references privilege.</a:t>
            </a:r>
          </a:p>
          <a:p>
            <a:endParaRPr lang="en-US" dirty="0" smtClean="0"/>
          </a:p>
          <a:p>
            <a:r>
              <a:rPr lang="en-US" b="1" dirty="0" smtClean="0"/>
              <a:t>Transfer of Privileges</a:t>
            </a:r>
          </a:p>
          <a:p>
            <a:endParaRPr lang="en-US" b="1" dirty="0" smtClean="0"/>
          </a:p>
          <a:p>
            <a:r>
              <a:rPr lang="en-US" dirty="0" smtClean="0"/>
              <a:t>A user who has been granted some form of authorization may be allowed to pass on this authorization to other users. By default, a user/role that is granted a privilege is not authorized to grant that privilege to another user/role. If we wish to grant a privilege and to allow the recipient to pass the privilege on to other users, we append the with grant option clause to the appropriate grant command. For example, if we wish to allow</a:t>
            </a:r>
          </a:p>
          <a:p>
            <a:endParaRPr lang="en-US" dirty="0" smtClean="0"/>
          </a:p>
          <a:p>
            <a:r>
              <a:rPr lang="en-US" b="1" i="1" dirty="0" smtClean="0"/>
              <a:t>Amit the select privilege on department and allow Amit to grant this privilege to others, we write:</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altLang="en-US" sz="1700" b="1" dirty="0" smtClean="0"/>
          </a:p>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en-US" sz="1700" b="1" dirty="0" smtClean="0"/>
              <a:t>grant select on </a:t>
            </a:r>
            <a:r>
              <a:rPr lang="en-US" altLang="en-US" sz="1700" i="1" dirty="0" smtClean="0"/>
              <a:t>department </a:t>
            </a:r>
            <a:r>
              <a:rPr lang="en-US" altLang="en-US" sz="1700" b="1" dirty="0" smtClean="0"/>
              <a:t>to </a:t>
            </a:r>
            <a:r>
              <a:rPr lang="en-US" altLang="en-US" sz="1700" dirty="0" smtClean="0"/>
              <a:t>Amit </a:t>
            </a:r>
            <a:r>
              <a:rPr lang="en-US" altLang="en-US" sz="1700" b="1" dirty="0" smtClean="0"/>
              <a:t>with grant option</a:t>
            </a:r>
            <a:r>
              <a:rPr lang="en-US" altLang="en-US" sz="1700" dirty="0" smtClean="0"/>
              <a:t>;</a:t>
            </a:r>
          </a:p>
          <a:p>
            <a:endParaRPr lang="en-US" b="1" dirty="0" smtClean="0"/>
          </a:p>
          <a:p>
            <a:endParaRPr lang="en-US" b="1" dirty="0" smtClean="0"/>
          </a:p>
          <a:p>
            <a:r>
              <a:rPr lang="en-US" b="1" dirty="0" smtClean="0"/>
              <a:t>Revoking of Privileges</a:t>
            </a:r>
          </a:p>
          <a:p>
            <a:endParaRPr lang="en-US" b="1" dirty="0" smtClean="0"/>
          </a:p>
          <a:p>
            <a:r>
              <a:rPr lang="en-US" b="1" i="1" dirty="0" smtClean="0"/>
              <a:t>As we just saw, revocation of a privilege from a user/role may cause other users/roles also to lose that privilege. This behavior is called cascading revocation. In most database systems, cascading is the default behavior. However, the revoke statement may specify restrict in order to prevent cascading revocation:</a:t>
            </a:r>
          </a:p>
          <a:p>
            <a:endParaRPr lang="en-US" b="1" dirty="0" smtClean="0"/>
          </a:p>
          <a:p>
            <a:r>
              <a:rPr lang="en-US" dirty="0" smtClean="0"/>
              <a:t>In this case, the system returns an error if there are any cascading revocations and does not carry out the revoke action. </a:t>
            </a:r>
          </a:p>
          <a:p>
            <a:r>
              <a:rPr lang="en-US" i="1" dirty="0" smtClean="0"/>
              <a:t>The keyword cascade can be used instead of restrict to indicate that revocation should cascade; however, it can be omitted, as we have done in the preceding examples, since it is the default behavior.</a:t>
            </a:r>
          </a:p>
          <a:p>
            <a:endParaRPr lang="en-US" b="1" dirty="0" smtClean="0"/>
          </a:p>
          <a:p>
            <a:r>
              <a:rPr lang="en-US" b="1" dirty="0" smtClean="0"/>
              <a:t>The following revoke statement revokes only the grant option, rather than the actual select privilege:</a:t>
            </a:r>
          </a:p>
          <a:p>
            <a:endParaRPr lang="en-US" b="1" dirty="0" smtClean="0"/>
          </a:p>
          <a:p>
            <a:r>
              <a:rPr lang="en-US" dirty="0" smtClean="0"/>
              <a:t>revoke grant option for select on department from Amit;</a:t>
            </a:r>
            <a:endParaRPr lang="en-US" b="1"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11</a:t>
            </a:fld>
            <a:endParaRPr lang="en-US" altLang="en-US"/>
          </a:p>
        </p:txBody>
      </p:sp>
    </p:spTree>
    <p:extLst>
      <p:ext uri="{BB962C8B-B14F-4D97-AF65-F5344CB8AC3E}">
        <p14:creationId xmlns:p14="http://schemas.microsoft.com/office/powerpoint/2010/main" val="4176767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ACED373-63CE-4F43-BE90-54DF58F8F5BB}" type="slidenum">
              <a:rPr lang="en-US" altLang="en-US" sz="1200"/>
              <a:pPr/>
              <a:t>12</a:t>
            </a:fld>
            <a:endParaRPr lang="en-US" altLang="en-US" sz="1200"/>
          </a:p>
        </p:txBody>
      </p:sp>
      <p:sp>
        <p:nvSpPr>
          <p:cNvPr id="91139" name="Rectangle 2"/>
          <p:cNvSpPr>
            <a:spLocks noGrp="1" noRot="1" noChangeAspect="1" noChangeArrowheads="1" noTextEdit="1"/>
          </p:cNvSpPr>
          <p:nvPr>
            <p:ph type="sldImg"/>
          </p:nvPr>
        </p:nvSpPr>
        <p:spPr>
          <a:xfrm>
            <a:off x="1177925" y="695325"/>
            <a:ext cx="4641850" cy="3481388"/>
          </a:xfrm>
          <a:ln/>
        </p:spPr>
      </p:sp>
      <p:sp>
        <p:nvSpPr>
          <p:cNvPr id="91140" name="Rectangle 3"/>
          <p:cNvSpPr>
            <a:spLocks noGrp="1" noChangeArrowheads="1"/>
          </p:cNvSpPr>
          <p:nvPr>
            <p:ph type="body" idx="1"/>
          </p:nvPr>
        </p:nvSpPr>
        <p:spPr>
          <a:xfrm>
            <a:off x="931864"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A25BB261-D773-4836-B381-7A051175F570}"/>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B4760F52-45E1-4E1D-A744-2F2290DE90CC}"/>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048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768350" y="1093788"/>
            <a:ext cx="7707313" cy="4903787"/>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2437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296070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41108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251904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383600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243214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134880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2481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17630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289464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42282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112478-D9B7-4D0D-ADE5-62D5EFAAFBBF}"/>
              </a:ext>
            </a:extLst>
          </p:cNvPr>
          <p:cNvSpPr>
            <a:spLocks noGrp="1" noChangeArrowheads="1"/>
          </p:cNvSpPr>
          <p:nvPr>
            <p:ph type="body" idx="1"/>
          </p:nvPr>
        </p:nvSpPr>
        <p:spPr bwMode="auto">
          <a:xfrm>
            <a:off x="747558" y="1093788"/>
            <a:ext cx="772810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dirty="0"/>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userDrawn="1"/>
        </p:nvSpPr>
        <p:spPr bwMode="auto">
          <a:xfrm>
            <a:off x="4479984" y="6613525"/>
            <a:ext cx="447559"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4.</a:t>
            </a:r>
            <a:fld id="{669DE52E-05EC-4487-BE79-3F9A6A9F8797}"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362D880-06BD-4D02-876C-3226AC8E6F10}"/>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8" descr="Cover-6Ed"/>
          <p:cNvPicPr>
            <a:picLocks noChangeAspect="1" noChangeArrowheads="1"/>
          </p:cNvPicPr>
          <p:nvPr userDrawn="1"/>
        </p:nvPicPr>
        <p:blipFill>
          <a:blip r:embed="rId14"/>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8242" name="Rectangle 2"/>
          <p:cNvSpPr>
            <a:spLocks noGrp="1" noChangeArrowheads="1"/>
          </p:cNvSpPr>
          <p:nvPr>
            <p:ph type="ctrTitle"/>
          </p:nvPr>
        </p:nvSpPr>
        <p:spPr/>
        <p:txBody>
          <a:bodyPr/>
          <a:lstStyle/>
          <a:p>
            <a:pPr>
              <a:defRPr/>
            </a:pPr>
            <a:r>
              <a:rPr lang="en-US" dirty="0">
                <a:effectLst>
                  <a:outerShdw blurRad="38100" dist="38100" dir="2700000" algn="tl">
                    <a:srgbClr val="C0C0C0"/>
                  </a:outerShdw>
                </a:effectLst>
              </a:rPr>
              <a:t>Chapter 4 : </a:t>
            </a:r>
            <a:r>
              <a:rPr lang="en-US" dirty="0"/>
              <a:t>Intermediate SQL</a:t>
            </a:r>
            <a:endParaRPr lang="en-US" dirty="0">
              <a:effectLst>
                <a:outerShdw blurRad="38100" dist="38100" dir="2700000" algn="tl">
                  <a:srgbClr val="C0C0C0"/>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p:txBody>
          <a:bodyPr lIns="90488" tIns="44450" rIns="90488" bIns="44450" anchor="ctr"/>
          <a:lstStyle/>
          <a:p>
            <a:pPr>
              <a:defRPr/>
            </a:pPr>
            <a:r>
              <a:rPr lang="en-US" sz="2800" dirty="0">
                <a:ea typeface="+mj-ea"/>
              </a:rPr>
              <a:t>Outline</a:t>
            </a:r>
          </a:p>
        </p:txBody>
      </p:sp>
      <p:sp>
        <p:nvSpPr>
          <p:cNvPr id="17411" name="Rectangle 3"/>
          <p:cNvSpPr>
            <a:spLocks noGrp="1" noChangeArrowheads="1"/>
          </p:cNvSpPr>
          <p:nvPr>
            <p:ph type="body" idx="1"/>
          </p:nvPr>
        </p:nvSpPr>
        <p:spPr>
          <a:xfrm>
            <a:off x="768351" y="1104900"/>
            <a:ext cx="6587800" cy="4135840"/>
          </a:xfrm>
          <a:noFill/>
        </p:spPr>
        <p:txBody>
          <a:bodyPr lIns="90488" tIns="44450" rIns="90488" bIns="44450"/>
          <a:lstStyle/>
          <a:p>
            <a:r>
              <a:rPr lang="en-US" altLang="en-US" sz="1700" dirty="0" smtClean="0"/>
              <a:t>Authorization</a:t>
            </a:r>
            <a:endParaRPr lang="en-US" altLang="en-US" sz="1700" dirty="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US" sz="2800" dirty="0"/>
              <a:t>Authorization</a:t>
            </a:r>
            <a:endParaRPr lang="en-US" altLang="en-US" sz="2800" dirty="0">
              <a:effectLst>
                <a:outerShdw blurRad="38100" dist="38100" dir="2700000" algn="tl">
                  <a:srgbClr val="C0C0C0"/>
                </a:outerShdw>
              </a:effectLst>
            </a:endParaRPr>
          </a:p>
        </p:txBody>
      </p:sp>
      <p:sp>
        <p:nvSpPr>
          <p:cNvPr id="72707" name="Rectangle 3"/>
          <p:cNvSpPr>
            <a:spLocks noGrp="1" noChangeArrowheads="1"/>
          </p:cNvSpPr>
          <p:nvPr>
            <p:ph type="body" idx="1"/>
          </p:nvPr>
        </p:nvSpPr>
        <p:spPr>
          <a:xfrm>
            <a:off x="768350" y="1093789"/>
            <a:ext cx="7612169" cy="4758372"/>
          </a:xfrm>
        </p:spPr>
        <p:txBody>
          <a:bodyPr/>
          <a:lstStyle/>
          <a:p>
            <a:r>
              <a:rPr lang="en-US" altLang="en-US" sz="1700" dirty="0"/>
              <a:t>We may assign a user several forms of authorizations on parts of the database.</a:t>
            </a:r>
          </a:p>
          <a:p>
            <a:pPr lvl="1">
              <a:lnSpc>
                <a:spcPct val="160000"/>
              </a:lnSpc>
            </a:pPr>
            <a:r>
              <a:rPr lang="en-US" altLang="en-US" sz="1700" b="1" dirty="0"/>
              <a:t>Read</a:t>
            </a:r>
            <a:r>
              <a:rPr lang="en-US" altLang="en-US" sz="1700" b="1" dirty="0">
                <a:solidFill>
                  <a:schemeClr val="tx2"/>
                </a:solidFill>
              </a:rPr>
              <a:t> </a:t>
            </a:r>
            <a:r>
              <a:rPr lang="en-US" altLang="en-US" sz="1700" dirty="0"/>
              <a:t>- allows reading, but not modification of data.</a:t>
            </a:r>
          </a:p>
          <a:p>
            <a:pPr lvl="1"/>
            <a:r>
              <a:rPr lang="en-US" altLang="en-US" sz="1700" b="1" dirty="0"/>
              <a:t>Insert</a:t>
            </a:r>
            <a:r>
              <a:rPr lang="en-US" altLang="en-US" sz="1700" b="1" dirty="0">
                <a:solidFill>
                  <a:schemeClr val="tx2"/>
                </a:solidFill>
              </a:rPr>
              <a:t> </a:t>
            </a:r>
            <a:r>
              <a:rPr lang="en-US" altLang="en-US" sz="1700" dirty="0"/>
              <a:t>- allows insertion of new data, but not modification of existing data.</a:t>
            </a:r>
          </a:p>
          <a:p>
            <a:pPr lvl="1"/>
            <a:r>
              <a:rPr lang="en-US" altLang="en-US" sz="1700" b="1" dirty="0"/>
              <a:t>Update</a:t>
            </a:r>
            <a:r>
              <a:rPr lang="en-US" altLang="en-US" sz="1700" b="1" dirty="0">
                <a:solidFill>
                  <a:schemeClr val="tx2"/>
                </a:solidFill>
              </a:rPr>
              <a:t> </a:t>
            </a:r>
            <a:r>
              <a:rPr lang="en-US" altLang="en-US" sz="1700" dirty="0"/>
              <a:t>- allows modification, but not deletion of data.</a:t>
            </a:r>
          </a:p>
          <a:p>
            <a:pPr lvl="1"/>
            <a:r>
              <a:rPr lang="en-US" altLang="en-US" sz="1700" b="1" dirty="0"/>
              <a:t>Delete</a:t>
            </a:r>
            <a:r>
              <a:rPr lang="en-US" altLang="en-US" sz="1700" b="1" dirty="0">
                <a:solidFill>
                  <a:schemeClr val="tx2"/>
                </a:solidFill>
              </a:rPr>
              <a:t> </a:t>
            </a:r>
            <a:r>
              <a:rPr lang="en-US" altLang="en-US" sz="1700" dirty="0"/>
              <a:t>- allows deletion of data.</a:t>
            </a:r>
          </a:p>
          <a:p>
            <a:r>
              <a:rPr lang="en-US" altLang="en-US" sz="1700" dirty="0"/>
              <a:t>Each of these types of authorizations is called a </a:t>
            </a:r>
            <a:r>
              <a:rPr lang="en-US" altLang="en-US" sz="1700" b="1" dirty="0">
                <a:solidFill>
                  <a:srgbClr val="002060"/>
                </a:solidFill>
              </a:rPr>
              <a:t>privilege</a:t>
            </a:r>
            <a:r>
              <a:rPr lang="en-US" altLang="en-US" sz="1700" dirty="0"/>
              <a:t>. We may authorize the user all, none, or a combination of these types of privileges on specified parts of a database, such as a relation or a view.</a:t>
            </a:r>
          </a:p>
          <a:p>
            <a:endParaRPr lang="en-US" alt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US" sz="2800" dirty="0"/>
              <a:t>Authorization (Cont.)</a:t>
            </a:r>
            <a:endParaRPr lang="en-US" altLang="en-US" sz="2800" dirty="0">
              <a:effectLst>
                <a:outerShdw blurRad="38100" dist="38100" dir="2700000" algn="tl">
                  <a:srgbClr val="C0C0C0"/>
                </a:outerShdw>
              </a:effectLst>
            </a:endParaRPr>
          </a:p>
        </p:txBody>
      </p:sp>
      <p:sp>
        <p:nvSpPr>
          <p:cNvPr id="72707" name="Rectangle 3"/>
          <p:cNvSpPr>
            <a:spLocks noGrp="1" noChangeArrowheads="1"/>
          </p:cNvSpPr>
          <p:nvPr>
            <p:ph type="body" idx="1"/>
          </p:nvPr>
        </p:nvSpPr>
        <p:spPr>
          <a:xfrm>
            <a:off x="768350" y="1093789"/>
            <a:ext cx="7590445" cy="2807652"/>
          </a:xfrm>
        </p:spPr>
        <p:txBody>
          <a:bodyPr/>
          <a:lstStyle/>
          <a:p>
            <a:r>
              <a:rPr lang="en-US" altLang="en-US" sz="1700" dirty="0"/>
              <a:t>Forms of authorization to modify the database schema</a:t>
            </a:r>
          </a:p>
          <a:p>
            <a:pPr lvl="1"/>
            <a:r>
              <a:rPr lang="en-US" altLang="en-US" sz="1700" b="1" dirty="0">
                <a:solidFill>
                  <a:srgbClr val="002060"/>
                </a:solidFill>
              </a:rPr>
              <a:t>Index</a:t>
            </a:r>
            <a:r>
              <a:rPr lang="en-US" altLang="en-US" sz="1700" b="1" dirty="0">
                <a:solidFill>
                  <a:schemeClr val="tx2"/>
                </a:solidFill>
              </a:rPr>
              <a:t> </a:t>
            </a:r>
            <a:r>
              <a:rPr lang="en-US" altLang="en-US" sz="1700" dirty="0"/>
              <a:t>- allows creation and deletion of indices.</a:t>
            </a:r>
          </a:p>
          <a:p>
            <a:pPr lvl="1"/>
            <a:r>
              <a:rPr lang="en-US" altLang="en-US" sz="1700" b="1" dirty="0">
                <a:solidFill>
                  <a:srgbClr val="002060"/>
                </a:solidFill>
              </a:rPr>
              <a:t>Resources</a:t>
            </a:r>
            <a:r>
              <a:rPr lang="en-US" altLang="en-US" sz="1700" b="1" dirty="0">
                <a:solidFill>
                  <a:schemeClr val="tx2"/>
                </a:solidFill>
              </a:rPr>
              <a:t> </a:t>
            </a:r>
            <a:r>
              <a:rPr lang="en-US" altLang="en-US" sz="1700" dirty="0"/>
              <a:t>- allows creation of new relations.</a:t>
            </a:r>
          </a:p>
          <a:p>
            <a:pPr lvl="1"/>
            <a:r>
              <a:rPr lang="en-US" altLang="en-US" sz="1700" b="1" dirty="0">
                <a:solidFill>
                  <a:srgbClr val="002060"/>
                </a:solidFill>
              </a:rPr>
              <a:t>Alteration</a:t>
            </a:r>
            <a:r>
              <a:rPr lang="en-US" altLang="en-US" sz="1700" b="1" dirty="0">
                <a:solidFill>
                  <a:schemeClr val="tx2"/>
                </a:solidFill>
              </a:rPr>
              <a:t> </a:t>
            </a:r>
            <a:r>
              <a:rPr lang="en-US" altLang="en-US" sz="1700" dirty="0"/>
              <a:t>- allows addition or deletion of attributes in a relation.</a:t>
            </a:r>
          </a:p>
          <a:p>
            <a:pPr lvl="1"/>
            <a:r>
              <a:rPr lang="en-US" altLang="en-US" sz="1700" b="1" dirty="0">
                <a:solidFill>
                  <a:srgbClr val="002060"/>
                </a:solidFill>
              </a:rPr>
              <a:t>Drop</a:t>
            </a:r>
            <a:r>
              <a:rPr lang="en-US" altLang="en-US" sz="1700" b="1" dirty="0">
                <a:solidFill>
                  <a:schemeClr val="tx2"/>
                </a:solidFill>
              </a:rPr>
              <a:t> </a:t>
            </a:r>
            <a:r>
              <a:rPr lang="en-US" altLang="en-US" sz="1700" dirty="0"/>
              <a:t>- allows deletion of relations.</a:t>
            </a:r>
          </a:p>
          <a:p>
            <a:endParaRPr lang="en-US"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US" sz="2800" dirty="0"/>
              <a:t>Authorization Specification in SQL</a:t>
            </a:r>
            <a:endParaRPr lang="en-US" altLang="en-US" sz="2800" dirty="0">
              <a:effectLst>
                <a:outerShdw blurRad="38100" dist="38100" dir="2700000" algn="tl">
                  <a:srgbClr val="C0C0C0"/>
                </a:outerShdw>
              </a:effectLst>
            </a:endParaRPr>
          </a:p>
        </p:txBody>
      </p:sp>
      <p:sp>
        <p:nvSpPr>
          <p:cNvPr id="72707" name="Rectangle 3"/>
          <p:cNvSpPr>
            <a:spLocks noGrp="1" noChangeArrowheads="1"/>
          </p:cNvSpPr>
          <p:nvPr>
            <p:ph type="body" idx="1"/>
          </p:nvPr>
        </p:nvSpPr>
        <p:spPr>
          <a:xfrm>
            <a:off x="768350" y="1105980"/>
            <a:ext cx="7612169" cy="4903787"/>
          </a:xfrm>
        </p:spPr>
        <p:txBody>
          <a:bodyPr/>
          <a:lstStyle/>
          <a:p>
            <a:r>
              <a:rPr lang="en-US" altLang="en-US" sz="1700" dirty="0"/>
              <a:t>The </a:t>
            </a:r>
            <a:r>
              <a:rPr lang="en-US" altLang="en-US" sz="1700" b="1" dirty="0">
                <a:solidFill>
                  <a:srgbClr val="002060"/>
                </a:solidFill>
              </a:rPr>
              <a:t>grant</a:t>
            </a:r>
            <a:r>
              <a:rPr lang="en-US" altLang="en-US" sz="1700" dirty="0"/>
              <a:t> statement is used to confer authorization</a:t>
            </a:r>
          </a:p>
          <a:p>
            <a:pPr>
              <a:buFont typeface="Monotype Sorts" charset="2"/>
              <a:buNone/>
            </a:pPr>
            <a:r>
              <a:rPr lang="en-US" altLang="en-US" sz="1700" dirty="0"/>
              <a:t>	   </a:t>
            </a:r>
            <a:r>
              <a:rPr lang="en-US" altLang="en-US" sz="1700" b="1" dirty="0"/>
              <a:t>grant</a:t>
            </a:r>
            <a:r>
              <a:rPr lang="en-US" altLang="en-US" sz="1700" dirty="0"/>
              <a:t> &lt;privilege list&gt; </a:t>
            </a:r>
            <a:endParaRPr lang="en-US" altLang="en-US" sz="1700" dirty="0" smtClean="0"/>
          </a:p>
          <a:p>
            <a:pPr>
              <a:buFont typeface="Monotype Sorts" charset="2"/>
              <a:buNone/>
            </a:pPr>
            <a:r>
              <a:rPr lang="en-US" altLang="en-US" b="1" dirty="0"/>
              <a:t>	</a:t>
            </a:r>
            <a:r>
              <a:rPr lang="en-US" altLang="en-US" b="1" dirty="0" smtClean="0"/>
              <a:t>   </a:t>
            </a:r>
            <a:r>
              <a:rPr lang="en-US" altLang="en-US" sz="1700" b="1" dirty="0" smtClean="0"/>
              <a:t>on </a:t>
            </a:r>
            <a:r>
              <a:rPr lang="en-US" altLang="en-US" sz="1700" dirty="0"/>
              <a:t>&lt;relation or view &gt; </a:t>
            </a:r>
            <a:endParaRPr lang="en-US" altLang="en-US" sz="1700" dirty="0" smtClean="0"/>
          </a:p>
          <a:p>
            <a:pPr>
              <a:buFont typeface="Monotype Sorts" charset="2"/>
              <a:buNone/>
            </a:pPr>
            <a:r>
              <a:rPr lang="en-US" altLang="en-US" b="1" dirty="0"/>
              <a:t> </a:t>
            </a:r>
            <a:r>
              <a:rPr lang="en-US" altLang="en-US" b="1" dirty="0" smtClean="0"/>
              <a:t>	  </a:t>
            </a:r>
            <a:r>
              <a:rPr lang="en-US" altLang="en-US" sz="1700" b="1" dirty="0" smtClean="0"/>
              <a:t>to</a:t>
            </a:r>
            <a:r>
              <a:rPr lang="en-US" altLang="en-US" sz="1700" dirty="0" smtClean="0"/>
              <a:t> </a:t>
            </a:r>
            <a:r>
              <a:rPr lang="en-US" altLang="en-US" sz="1700" dirty="0"/>
              <a:t>&lt;user list&gt;</a:t>
            </a:r>
          </a:p>
          <a:p>
            <a:r>
              <a:rPr lang="en-US" altLang="en-US" sz="1700" dirty="0"/>
              <a:t>&lt;user list&gt; is:</a:t>
            </a:r>
          </a:p>
          <a:p>
            <a:pPr lvl="1"/>
            <a:r>
              <a:rPr lang="en-US" altLang="en-US" sz="1700" dirty="0"/>
              <a:t>a user-id</a:t>
            </a:r>
          </a:p>
          <a:p>
            <a:pPr lvl="1"/>
            <a:r>
              <a:rPr lang="en-US" altLang="en-US" sz="1700" b="1" dirty="0"/>
              <a:t>public</a:t>
            </a:r>
            <a:r>
              <a:rPr lang="en-US" altLang="en-US" sz="1700" dirty="0"/>
              <a:t>, which allows all valid users the privilege granted</a:t>
            </a:r>
          </a:p>
          <a:p>
            <a:pPr lvl="1"/>
            <a:r>
              <a:rPr lang="en-US" altLang="en-US" sz="1700" dirty="0"/>
              <a:t>A role (more on this later)</a:t>
            </a:r>
          </a:p>
          <a:p>
            <a:r>
              <a:rPr lang="en-US" altLang="en-US" sz="1700" dirty="0"/>
              <a:t>Example:</a:t>
            </a:r>
          </a:p>
          <a:p>
            <a:pPr lvl="1"/>
            <a:r>
              <a:rPr lang="en-US" altLang="en-US" sz="1700" b="1" dirty="0"/>
              <a:t>grant</a:t>
            </a:r>
            <a:r>
              <a:rPr lang="en-US" altLang="en-US" sz="1700" dirty="0"/>
              <a:t>  </a:t>
            </a:r>
            <a:r>
              <a:rPr lang="en-US" altLang="en-US" sz="1700" b="1" dirty="0"/>
              <a:t>select on  </a:t>
            </a:r>
            <a:r>
              <a:rPr lang="en-US" altLang="en-US" sz="1700" i="1" dirty="0"/>
              <a:t>department</a:t>
            </a:r>
            <a:r>
              <a:rPr lang="en-US" altLang="en-US" sz="1700" b="1" dirty="0"/>
              <a:t> to</a:t>
            </a:r>
            <a:r>
              <a:rPr lang="en-US" altLang="en-US" sz="1700" dirty="0"/>
              <a:t> </a:t>
            </a:r>
            <a:r>
              <a:rPr lang="en-US" altLang="en-US" sz="1700" dirty="0" err="1"/>
              <a:t>Amit</a:t>
            </a:r>
            <a:r>
              <a:rPr lang="en-US" altLang="en-US" sz="1700" dirty="0"/>
              <a:t>,  Satoshi</a:t>
            </a:r>
          </a:p>
          <a:p>
            <a:r>
              <a:rPr lang="en-US" altLang="en-US" sz="1700" dirty="0"/>
              <a:t>Granting a privilege on a view does not imply granting any privileges on the underlying relations.</a:t>
            </a:r>
          </a:p>
          <a:p>
            <a:r>
              <a:rPr lang="en-US" altLang="en-US" sz="1700" dirty="0"/>
              <a:t>The grantor of the privilege must already hold the privilege on the specified item (or be the database administrator).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US" sz="2800" dirty="0"/>
              <a:t>Privileges in SQL</a:t>
            </a:r>
            <a:endParaRPr lang="en-US" altLang="en-US" sz="2800" dirty="0">
              <a:effectLst>
                <a:outerShdw blurRad="38100" dist="38100" dir="2700000" algn="tl">
                  <a:srgbClr val="C0C0C0"/>
                </a:outerShdw>
              </a:effectLst>
            </a:endParaRPr>
          </a:p>
        </p:txBody>
      </p:sp>
      <p:sp>
        <p:nvSpPr>
          <p:cNvPr id="72707" name="Rectangle 3"/>
          <p:cNvSpPr>
            <a:spLocks noGrp="1" noChangeArrowheads="1"/>
          </p:cNvSpPr>
          <p:nvPr>
            <p:ph type="body" idx="1"/>
          </p:nvPr>
        </p:nvSpPr>
        <p:spPr>
          <a:xfrm>
            <a:off x="768351" y="1093788"/>
            <a:ext cx="7327138" cy="4903787"/>
          </a:xfrm>
        </p:spPr>
        <p:txBody>
          <a:bodyPr/>
          <a:lstStyle/>
          <a:p>
            <a:r>
              <a:rPr lang="en-US" altLang="en-US" sz="1700" b="1" dirty="0">
                <a:solidFill>
                  <a:srgbClr val="002060"/>
                </a:solidFill>
              </a:rPr>
              <a:t>select</a:t>
            </a:r>
            <a:r>
              <a:rPr lang="en-US" altLang="en-US" sz="1700" dirty="0"/>
              <a:t>: allows read access to relation, or the ability to query using the view</a:t>
            </a:r>
          </a:p>
          <a:p>
            <a:pPr lvl="1"/>
            <a:r>
              <a:rPr lang="en-US" altLang="en-US" sz="1700" dirty="0"/>
              <a:t>Example: grant users </a:t>
            </a:r>
            <a:r>
              <a:rPr lang="en-US" altLang="en-US" sz="1700" i="1" dirty="0"/>
              <a:t>U</a:t>
            </a:r>
            <a:r>
              <a:rPr lang="en-US" altLang="en-US" sz="1700" baseline="-25000" dirty="0"/>
              <a:t>1</a:t>
            </a:r>
            <a:r>
              <a:rPr lang="en-US" altLang="en-US" sz="1700" dirty="0"/>
              <a:t>, </a:t>
            </a:r>
            <a:r>
              <a:rPr lang="en-US" altLang="en-US" sz="1700" i="1" dirty="0"/>
              <a:t>U</a:t>
            </a:r>
            <a:r>
              <a:rPr lang="en-US" altLang="en-US" sz="1700" baseline="-25000" dirty="0"/>
              <a:t>2</a:t>
            </a:r>
            <a:r>
              <a:rPr lang="en-US" altLang="en-US" sz="1700" dirty="0"/>
              <a:t>, and </a:t>
            </a:r>
            <a:r>
              <a:rPr lang="en-US" altLang="en-US" sz="1700" i="1" dirty="0"/>
              <a:t>U</a:t>
            </a:r>
            <a:r>
              <a:rPr lang="en-US" altLang="en-US" sz="1700" baseline="-25000" dirty="0"/>
              <a:t>3</a:t>
            </a:r>
            <a:r>
              <a:rPr lang="en-US" altLang="en-US" sz="1700" dirty="0"/>
              <a:t> </a:t>
            </a:r>
            <a:r>
              <a:rPr lang="en-US" altLang="en-US" sz="1700" b="1" dirty="0"/>
              <a:t>select</a:t>
            </a:r>
            <a:r>
              <a:rPr lang="en-US" altLang="en-US" sz="1700" dirty="0"/>
              <a:t> authorization on the </a:t>
            </a:r>
            <a:r>
              <a:rPr lang="en-US" altLang="en-US" sz="1700" i="1" dirty="0"/>
              <a:t>instructor </a:t>
            </a:r>
            <a:r>
              <a:rPr lang="en-US" altLang="en-US" sz="1700" dirty="0"/>
              <a:t>relation:</a:t>
            </a:r>
          </a:p>
          <a:p>
            <a:pPr>
              <a:buFont typeface="Monotype Sorts" charset="2"/>
              <a:buNone/>
            </a:pPr>
            <a:r>
              <a:rPr lang="en-US" altLang="en-US" sz="1700" dirty="0"/>
              <a:t>			</a:t>
            </a:r>
            <a:r>
              <a:rPr lang="en-US" altLang="en-US" sz="1700" b="1" dirty="0"/>
              <a:t>grant select on </a:t>
            </a:r>
            <a:r>
              <a:rPr lang="en-US" altLang="en-US" sz="1700" i="1" dirty="0"/>
              <a:t>instructor </a:t>
            </a:r>
            <a:r>
              <a:rPr lang="en-US" altLang="en-US" sz="1700" b="1" dirty="0"/>
              <a:t>to </a:t>
            </a:r>
            <a:r>
              <a:rPr lang="en-US" altLang="en-US" sz="1700" i="1" dirty="0"/>
              <a:t>U</a:t>
            </a:r>
            <a:r>
              <a:rPr lang="en-US" altLang="en-US" sz="1700" baseline="-25000" dirty="0"/>
              <a:t>1</a:t>
            </a:r>
            <a:r>
              <a:rPr lang="en-US" altLang="en-US" sz="1700" i="1" dirty="0"/>
              <a:t>, U</a:t>
            </a:r>
            <a:r>
              <a:rPr lang="en-US" altLang="en-US" sz="1700" baseline="-25000" dirty="0"/>
              <a:t>2</a:t>
            </a:r>
            <a:r>
              <a:rPr lang="en-US" altLang="en-US" sz="1700" i="1" dirty="0"/>
              <a:t>, U</a:t>
            </a:r>
            <a:r>
              <a:rPr lang="en-US" altLang="en-US" sz="1700" baseline="-25000" dirty="0"/>
              <a:t>3</a:t>
            </a:r>
            <a:endParaRPr lang="en-US" altLang="en-US" sz="1700" dirty="0"/>
          </a:p>
          <a:p>
            <a:r>
              <a:rPr lang="en-US" altLang="en-US" sz="1700" b="1" dirty="0">
                <a:solidFill>
                  <a:srgbClr val="002060"/>
                </a:solidFill>
              </a:rPr>
              <a:t>insert</a:t>
            </a:r>
            <a:r>
              <a:rPr lang="en-US" altLang="en-US" sz="1700" dirty="0"/>
              <a:t>: the ability to insert tuples</a:t>
            </a:r>
          </a:p>
          <a:p>
            <a:r>
              <a:rPr lang="en-US" altLang="en-US" sz="1700" b="1" dirty="0">
                <a:solidFill>
                  <a:srgbClr val="002060"/>
                </a:solidFill>
              </a:rPr>
              <a:t>update</a:t>
            </a:r>
            <a:r>
              <a:rPr lang="en-US" altLang="en-US" sz="1700" dirty="0"/>
              <a:t>: the ability  to update using the SQL update statement</a:t>
            </a:r>
          </a:p>
          <a:p>
            <a:r>
              <a:rPr lang="en-US" altLang="en-US" sz="1700" b="1" dirty="0">
                <a:solidFill>
                  <a:srgbClr val="002060"/>
                </a:solidFill>
              </a:rPr>
              <a:t>delete</a:t>
            </a:r>
            <a:r>
              <a:rPr lang="en-US" altLang="en-US" sz="1700" dirty="0"/>
              <a:t>: the ability to delete tuples.</a:t>
            </a:r>
          </a:p>
          <a:p>
            <a:r>
              <a:rPr lang="en-US" altLang="en-US" sz="1700" b="1" dirty="0">
                <a:solidFill>
                  <a:srgbClr val="002060"/>
                </a:solidFill>
              </a:rPr>
              <a:t>all privileges</a:t>
            </a:r>
            <a:r>
              <a:rPr lang="en-US" altLang="en-US" sz="1700" dirty="0"/>
              <a:t>: used as a short form for all the allowable </a:t>
            </a:r>
            <a:r>
              <a:rPr lang="en-US" altLang="en-US" sz="1700" dirty="0" smtClean="0"/>
              <a:t>privileges</a:t>
            </a:r>
            <a:endParaRPr lang="mk-MK" altLang="en-US" sz="1700" dirty="0" smtClean="0"/>
          </a:p>
          <a:p>
            <a:endParaRPr lang="mk-MK" altLang="en-US" dirty="0"/>
          </a:p>
          <a:p>
            <a:pPr marL="0" indent="0">
              <a:buNone/>
            </a:pPr>
            <a:r>
              <a:rPr lang="en-US" b="1" dirty="0"/>
              <a:t>g</a:t>
            </a:r>
            <a:r>
              <a:rPr lang="en-US" b="1" dirty="0" smtClean="0"/>
              <a:t>rant </a:t>
            </a:r>
            <a:r>
              <a:rPr lang="en-US" b="1" dirty="0"/>
              <a:t>update (budget) on department to Amit, Satoshi;</a:t>
            </a:r>
          </a:p>
          <a:p>
            <a:pPr marL="0" indent="0">
              <a:buNone/>
            </a:pPr>
            <a:endParaRPr lang="en-US" alt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US" sz="2800" dirty="0"/>
              <a:t>Revoking Authorization in SQL</a:t>
            </a:r>
            <a:endParaRPr lang="en-US" altLang="en-US" sz="2800" dirty="0">
              <a:effectLst>
                <a:outerShdw blurRad="38100" dist="38100" dir="2700000" algn="tl">
                  <a:srgbClr val="C0C0C0"/>
                </a:outerShdw>
              </a:effectLst>
            </a:endParaRPr>
          </a:p>
        </p:txBody>
      </p:sp>
      <p:sp>
        <p:nvSpPr>
          <p:cNvPr id="72707" name="Rectangle 3"/>
          <p:cNvSpPr>
            <a:spLocks noGrp="1" noChangeArrowheads="1"/>
          </p:cNvSpPr>
          <p:nvPr>
            <p:ph type="body" idx="1"/>
          </p:nvPr>
        </p:nvSpPr>
        <p:spPr>
          <a:xfrm>
            <a:off x="768351" y="1142556"/>
            <a:ext cx="7558786" cy="4903787"/>
          </a:xfrm>
        </p:spPr>
        <p:txBody>
          <a:bodyPr/>
          <a:lstStyle/>
          <a:p>
            <a:r>
              <a:rPr lang="en-US" altLang="en-US" sz="1700" dirty="0"/>
              <a:t>The </a:t>
            </a:r>
            <a:r>
              <a:rPr lang="en-US" altLang="en-US" sz="1700" b="1" dirty="0">
                <a:solidFill>
                  <a:srgbClr val="002060"/>
                </a:solidFill>
              </a:rPr>
              <a:t>revoke</a:t>
            </a:r>
            <a:r>
              <a:rPr lang="en-US" altLang="en-US" sz="1700" b="1" dirty="0"/>
              <a:t> </a:t>
            </a:r>
            <a:r>
              <a:rPr lang="en-US" altLang="en-US" sz="1700" dirty="0"/>
              <a:t>statement is used to revoke authorization.</a:t>
            </a:r>
          </a:p>
          <a:p>
            <a:pPr lvl="1">
              <a:buFont typeface="Monotype Sorts" charset="2"/>
              <a:buNone/>
            </a:pPr>
            <a:r>
              <a:rPr lang="en-US" altLang="en-US" sz="1700" b="1" dirty="0"/>
              <a:t>revoke </a:t>
            </a:r>
            <a:r>
              <a:rPr lang="en-US" altLang="en-US" sz="1700" dirty="0"/>
              <a:t>&lt;privilege list&gt; </a:t>
            </a:r>
            <a:r>
              <a:rPr lang="en-US" altLang="en-US" sz="1700" b="1" dirty="0"/>
              <a:t>on </a:t>
            </a:r>
            <a:r>
              <a:rPr lang="en-US" altLang="en-US" sz="1700" dirty="0"/>
              <a:t>&lt;relation or view&gt; </a:t>
            </a:r>
            <a:r>
              <a:rPr lang="en-US" altLang="en-US" sz="1700" b="1" dirty="0"/>
              <a:t>from </a:t>
            </a:r>
            <a:r>
              <a:rPr lang="en-US" altLang="en-US" sz="1700" dirty="0"/>
              <a:t>&lt;user list&gt;</a:t>
            </a:r>
          </a:p>
          <a:p>
            <a:r>
              <a:rPr lang="en-US" altLang="en-US" sz="1700" dirty="0"/>
              <a:t>Example:</a:t>
            </a:r>
          </a:p>
          <a:p>
            <a:pPr lvl="1">
              <a:buFont typeface="Monotype Sorts" charset="2"/>
              <a:buNone/>
            </a:pPr>
            <a:r>
              <a:rPr lang="en-US" altLang="en-US" sz="1700" b="1" dirty="0"/>
              <a:t>revoke select on </a:t>
            </a:r>
            <a:r>
              <a:rPr lang="en-US" altLang="en-US" sz="1700" i="1" dirty="0"/>
              <a:t>student  </a:t>
            </a:r>
            <a:r>
              <a:rPr lang="en-US" altLang="en-US" sz="1700" b="1" dirty="0"/>
              <a:t>from </a:t>
            </a:r>
            <a:r>
              <a:rPr lang="en-US" altLang="en-US" sz="1700" i="1" dirty="0"/>
              <a:t>U</a:t>
            </a:r>
            <a:r>
              <a:rPr lang="en-US" altLang="en-US" sz="1700" i="1" baseline="-25000" dirty="0"/>
              <a:t>1</a:t>
            </a:r>
            <a:r>
              <a:rPr lang="en-US" altLang="en-US" sz="1700" i="1" dirty="0"/>
              <a:t>, U</a:t>
            </a:r>
            <a:r>
              <a:rPr lang="en-US" altLang="en-US" sz="1700" i="1" baseline="-25000" dirty="0"/>
              <a:t>2</a:t>
            </a:r>
            <a:r>
              <a:rPr lang="en-US" altLang="en-US" sz="1700" i="1" dirty="0"/>
              <a:t>, U</a:t>
            </a:r>
            <a:r>
              <a:rPr lang="en-US" altLang="en-US" sz="1700" i="1" baseline="-25000" dirty="0"/>
              <a:t>3</a:t>
            </a:r>
          </a:p>
          <a:p>
            <a:r>
              <a:rPr lang="en-US" altLang="en-US" sz="1700" dirty="0"/>
              <a:t>&lt;privilege-list&gt; may be </a:t>
            </a:r>
            <a:r>
              <a:rPr lang="en-US" altLang="en-US" sz="1700" b="1" dirty="0"/>
              <a:t>all </a:t>
            </a:r>
            <a:r>
              <a:rPr lang="en-US" altLang="en-US" sz="1700" dirty="0"/>
              <a:t>to revoke all privileges the </a:t>
            </a:r>
            <a:r>
              <a:rPr lang="en-US" altLang="en-US" sz="1700" dirty="0" err="1"/>
              <a:t>revokee</a:t>
            </a:r>
            <a:r>
              <a:rPr lang="en-US" altLang="en-US" sz="1700" dirty="0"/>
              <a:t> may hold.</a:t>
            </a:r>
          </a:p>
          <a:p>
            <a:r>
              <a:rPr lang="en-US" altLang="en-US" sz="1700" dirty="0"/>
              <a:t>If &lt;</a:t>
            </a:r>
            <a:r>
              <a:rPr lang="en-US" altLang="en-US" sz="1700" dirty="0" err="1"/>
              <a:t>revokee</a:t>
            </a:r>
            <a:r>
              <a:rPr lang="en-US" altLang="en-US" sz="1700" dirty="0"/>
              <a:t>-list&gt; includes </a:t>
            </a:r>
            <a:r>
              <a:rPr lang="en-US" altLang="en-US" sz="1700" b="1" dirty="0"/>
              <a:t>public, </a:t>
            </a:r>
            <a:r>
              <a:rPr lang="en-US" altLang="en-US" sz="1700" dirty="0"/>
              <a:t>all users lose the privilege except those granted it explicitly.</a:t>
            </a:r>
          </a:p>
          <a:p>
            <a:r>
              <a:rPr lang="en-US" altLang="en-US" sz="1700" dirty="0"/>
              <a:t>If the same privilege was granted twice to the same user by different grantees, the user may retain the privilege after the revocation.</a:t>
            </a:r>
          </a:p>
          <a:p>
            <a:r>
              <a:rPr lang="en-US" altLang="en-US" sz="1700" dirty="0"/>
              <a:t>All privileges that depend on the privilege being revoked are also revoked.</a:t>
            </a:r>
          </a:p>
          <a:p>
            <a:endParaRPr lang="en-US"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US" altLang="en-US" sz="2800" dirty="0">
                <a:effectLst/>
              </a:rPr>
              <a:t>Roles</a:t>
            </a:r>
            <a:endParaRPr lang="en-US" altLang="en-US" sz="2800" dirty="0">
              <a:effectLst>
                <a:outerShdw blurRad="38100" dist="38100" dir="2700000" algn="tl">
                  <a:srgbClr val="C0C0C0"/>
                </a:outerShdw>
              </a:effectLst>
            </a:endParaRPr>
          </a:p>
        </p:txBody>
      </p:sp>
      <p:sp>
        <p:nvSpPr>
          <p:cNvPr id="72707" name="Rectangle 3"/>
          <p:cNvSpPr>
            <a:spLocks noGrp="1" noChangeArrowheads="1"/>
          </p:cNvSpPr>
          <p:nvPr>
            <p:ph type="body" idx="1"/>
          </p:nvPr>
        </p:nvSpPr>
        <p:spPr>
          <a:xfrm>
            <a:off x="768350" y="1118173"/>
            <a:ext cx="7629925" cy="3161220"/>
          </a:xfrm>
        </p:spPr>
        <p:txBody>
          <a:bodyPr/>
          <a:lstStyle/>
          <a:p>
            <a:r>
              <a:rPr lang="en-US" altLang="en-US" sz="1700" dirty="0"/>
              <a:t>A</a:t>
            </a:r>
            <a:r>
              <a:rPr lang="en-US" altLang="en-US" sz="1700" b="1" dirty="0">
                <a:solidFill>
                  <a:srgbClr val="000099"/>
                </a:solidFill>
              </a:rPr>
              <a:t> </a:t>
            </a:r>
            <a:r>
              <a:rPr lang="en-US" altLang="en-US" sz="1700" b="1" dirty="0">
                <a:solidFill>
                  <a:srgbClr val="002060"/>
                </a:solidFill>
              </a:rPr>
              <a:t>role</a:t>
            </a:r>
            <a:r>
              <a:rPr lang="en-US" altLang="en-US" sz="1700" b="1" dirty="0">
                <a:solidFill>
                  <a:srgbClr val="000099"/>
                </a:solidFill>
              </a:rPr>
              <a:t> </a:t>
            </a:r>
            <a:r>
              <a:rPr lang="en-US" altLang="en-US" sz="1700" dirty="0"/>
              <a:t>is</a:t>
            </a:r>
            <a:r>
              <a:rPr lang="en-US" altLang="en-US" sz="1700" b="1" dirty="0">
                <a:solidFill>
                  <a:srgbClr val="000099"/>
                </a:solidFill>
              </a:rPr>
              <a:t> </a:t>
            </a:r>
            <a:r>
              <a:rPr lang="en-US" altLang="en-US" sz="1700" dirty="0"/>
              <a:t>a way to distinguish among various users as far as what  these users can access/update in the database.</a:t>
            </a:r>
          </a:p>
          <a:p>
            <a:r>
              <a:rPr lang="en-US" altLang="en-US" sz="1700" dirty="0"/>
              <a:t>To create a role we use:</a:t>
            </a:r>
          </a:p>
          <a:p>
            <a:pPr>
              <a:buNone/>
            </a:pPr>
            <a:r>
              <a:rPr lang="en-US" altLang="en-US" sz="1700" b="1" dirty="0"/>
              <a:t>        create a role </a:t>
            </a:r>
            <a:r>
              <a:rPr lang="en-US" altLang="en-US" sz="1700" dirty="0"/>
              <a:t>&lt;name&gt;</a:t>
            </a:r>
          </a:p>
          <a:p>
            <a:r>
              <a:rPr lang="en-US" altLang="en-US" sz="1700" dirty="0"/>
              <a:t>Example:</a:t>
            </a:r>
          </a:p>
          <a:p>
            <a:pPr lvl="1"/>
            <a:r>
              <a:rPr lang="en-US" altLang="en-US" sz="1700" dirty="0"/>
              <a:t>  </a:t>
            </a:r>
            <a:r>
              <a:rPr lang="en-US" altLang="en-US" sz="1700" b="1" dirty="0"/>
              <a:t>create role</a:t>
            </a:r>
            <a:r>
              <a:rPr lang="en-US" altLang="en-US" sz="1700" dirty="0"/>
              <a:t> instructor</a:t>
            </a:r>
          </a:p>
          <a:p>
            <a:r>
              <a:rPr lang="en-US" altLang="en-US" sz="1700" dirty="0"/>
              <a:t>Once a role is created we can assign “users” to the role using:</a:t>
            </a:r>
          </a:p>
          <a:p>
            <a:pPr lvl="1"/>
            <a:r>
              <a:rPr lang="en-US" altLang="en-US" sz="1700" b="1" dirty="0"/>
              <a:t>grant</a:t>
            </a:r>
            <a:r>
              <a:rPr lang="en-US" altLang="en-US" sz="1700" dirty="0"/>
              <a:t>  &lt;role&gt; </a:t>
            </a:r>
            <a:r>
              <a:rPr lang="en-US" altLang="en-US" sz="1700" b="1" dirty="0"/>
              <a:t>to </a:t>
            </a:r>
            <a:r>
              <a:rPr lang="en-US" altLang="en-US" sz="1700" dirty="0"/>
              <a:t>&lt;users&gt;</a:t>
            </a:r>
          </a:p>
          <a:p>
            <a:endParaRPr lang="en-US"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US" altLang="en-US" sz="2800" dirty="0">
                <a:effectLst/>
              </a:rPr>
              <a:t>Roles Example</a:t>
            </a:r>
            <a:endParaRPr lang="en-US" altLang="en-US" sz="2800" dirty="0">
              <a:effectLst>
                <a:outerShdw blurRad="38100" dist="38100" dir="2700000" algn="tl">
                  <a:srgbClr val="C0C0C0"/>
                </a:outerShdw>
              </a:effectLst>
            </a:endParaRPr>
          </a:p>
        </p:txBody>
      </p:sp>
      <p:sp>
        <p:nvSpPr>
          <p:cNvPr id="72707" name="Rectangle 3"/>
          <p:cNvSpPr>
            <a:spLocks noGrp="1" noChangeArrowheads="1"/>
          </p:cNvSpPr>
          <p:nvPr>
            <p:ph type="body" idx="1"/>
          </p:nvPr>
        </p:nvSpPr>
        <p:spPr>
          <a:xfrm>
            <a:off x="768350" y="1130364"/>
            <a:ext cx="7590445" cy="4903787"/>
          </a:xfrm>
        </p:spPr>
        <p:txBody>
          <a:bodyPr/>
          <a:lstStyle/>
          <a:p>
            <a:r>
              <a:rPr lang="en-US" altLang="en-US" sz="1700" b="1" dirty="0"/>
              <a:t>create role</a:t>
            </a:r>
            <a:r>
              <a:rPr lang="en-US" altLang="en-US" sz="1700" dirty="0"/>
              <a:t> instructor;</a:t>
            </a:r>
          </a:p>
          <a:p>
            <a:r>
              <a:rPr lang="en-US" altLang="en-US" sz="1700" b="1" dirty="0"/>
              <a:t>grant</a:t>
            </a:r>
            <a:r>
              <a:rPr lang="en-US" altLang="en-US" sz="1700" dirty="0"/>
              <a:t> </a:t>
            </a:r>
            <a:r>
              <a:rPr lang="en-US" altLang="en-US" sz="1700" i="1" dirty="0"/>
              <a:t>instructor</a:t>
            </a:r>
            <a:r>
              <a:rPr lang="en-US" altLang="en-US" sz="1700" b="1" dirty="0"/>
              <a:t> to </a:t>
            </a:r>
            <a:r>
              <a:rPr lang="en-US" altLang="en-US" sz="1700" dirty="0" err="1"/>
              <a:t>Amit</a:t>
            </a:r>
            <a:r>
              <a:rPr lang="en-US" altLang="en-US" sz="1700" b="1" dirty="0"/>
              <a:t>;</a:t>
            </a:r>
            <a:endParaRPr lang="en-US" altLang="en-US" sz="1700" dirty="0"/>
          </a:p>
          <a:p>
            <a:r>
              <a:rPr lang="en-US" altLang="en-US" sz="1700" dirty="0"/>
              <a:t>Privileges can be granted to roles:</a:t>
            </a:r>
          </a:p>
          <a:p>
            <a:pPr lvl="1"/>
            <a:r>
              <a:rPr lang="en-US" altLang="en-US" sz="1700" b="1" dirty="0"/>
              <a:t>grant</a:t>
            </a:r>
            <a:r>
              <a:rPr lang="en-US" altLang="en-US" sz="1700" dirty="0"/>
              <a:t> </a:t>
            </a:r>
            <a:r>
              <a:rPr lang="en-US" altLang="en-US" sz="1700" b="1" dirty="0"/>
              <a:t>select</a:t>
            </a:r>
            <a:r>
              <a:rPr lang="en-US" altLang="en-US" sz="1700" dirty="0"/>
              <a:t> </a:t>
            </a:r>
            <a:r>
              <a:rPr lang="en-US" altLang="en-US" sz="1700" b="1" dirty="0"/>
              <a:t>on</a:t>
            </a:r>
            <a:r>
              <a:rPr lang="en-US" altLang="en-US" sz="1700" dirty="0"/>
              <a:t> </a:t>
            </a:r>
            <a:r>
              <a:rPr lang="en-US" altLang="en-US" sz="1700" i="1" dirty="0"/>
              <a:t>takes</a:t>
            </a:r>
            <a:r>
              <a:rPr lang="en-US" altLang="en-US" sz="1700" dirty="0"/>
              <a:t> </a:t>
            </a:r>
            <a:r>
              <a:rPr lang="en-US" altLang="en-US" sz="1700" b="1" dirty="0"/>
              <a:t>to</a:t>
            </a:r>
            <a:r>
              <a:rPr lang="en-US" altLang="en-US" sz="1700" dirty="0"/>
              <a:t> </a:t>
            </a:r>
            <a:r>
              <a:rPr lang="en-US" altLang="en-US" sz="1700" i="1" dirty="0"/>
              <a:t>instructor</a:t>
            </a:r>
            <a:r>
              <a:rPr lang="en-US" altLang="en-US" sz="1700" dirty="0"/>
              <a:t>;</a:t>
            </a:r>
          </a:p>
          <a:p>
            <a:r>
              <a:rPr lang="en-US" altLang="en-US" sz="1700" dirty="0"/>
              <a:t>Roles can be granted to users, as well as to other roles</a:t>
            </a:r>
          </a:p>
          <a:p>
            <a:pPr lvl="1"/>
            <a:r>
              <a:rPr lang="en-US" altLang="en-US" sz="1700" b="1" dirty="0"/>
              <a:t>create</a:t>
            </a:r>
            <a:r>
              <a:rPr lang="en-US" altLang="en-US" sz="1700" dirty="0"/>
              <a:t> </a:t>
            </a:r>
            <a:r>
              <a:rPr lang="en-US" altLang="en-US" sz="1700" b="1" dirty="0"/>
              <a:t>role</a:t>
            </a:r>
            <a:r>
              <a:rPr lang="en-US" altLang="en-US" sz="1700" dirty="0"/>
              <a:t> </a:t>
            </a:r>
            <a:r>
              <a:rPr lang="en-US" altLang="en-US" sz="1700" i="1" dirty="0" err="1"/>
              <a:t>teaching_assistant</a:t>
            </a:r>
            <a:endParaRPr lang="en-US" altLang="en-US" sz="1700" i="1" dirty="0"/>
          </a:p>
          <a:p>
            <a:pPr lvl="1"/>
            <a:r>
              <a:rPr lang="en-US" altLang="en-US" sz="1700" b="1" dirty="0"/>
              <a:t>grant</a:t>
            </a:r>
            <a:r>
              <a:rPr lang="en-US" altLang="en-US" sz="1700" dirty="0"/>
              <a:t> </a:t>
            </a:r>
            <a:r>
              <a:rPr lang="en-US" altLang="en-US" sz="1700" i="1" dirty="0" err="1"/>
              <a:t>teaching_assistant</a:t>
            </a:r>
            <a:r>
              <a:rPr lang="en-US" altLang="en-US" sz="1700" dirty="0"/>
              <a:t> </a:t>
            </a:r>
            <a:r>
              <a:rPr lang="en-US" altLang="en-US" sz="1700" b="1" dirty="0"/>
              <a:t>to</a:t>
            </a:r>
            <a:r>
              <a:rPr lang="en-US" altLang="en-US" sz="1700" dirty="0"/>
              <a:t> </a:t>
            </a:r>
            <a:r>
              <a:rPr lang="en-US" altLang="en-US" sz="1700" i="1" dirty="0"/>
              <a:t>instructor</a:t>
            </a:r>
            <a:r>
              <a:rPr lang="en-US" altLang="en-US" sz="1700" dirty="0"/>
              <a:t>;</a:t>
            </a:r>
          </a:p>
          <a:p>
            <a:pPr lvl="2"/>
            <a:r>
              <a:rPr lang="en-US" altLang="en-US" sz="1700" i="1" dirty="0"/>
              <a:t>Instructor</a:t>
            </a:r>
            <a:r>
              <a:rPr lang="en-US" altLang="en-US" sz="1700" dirty="0"/>
              <a:t> inherits all privileges of </a:t>
            </a:r>
            <a:r>
              <a:rPr lang="en-US" altLang="en-US" sz="1700" i="1" dirty="0" err="1"/>
              <a:t>teaching_assistant</a:t>
            </a:r>
            <a:endParaRPr lang="en-US" altLang="en-US" sz="1700" i="1" dirty="0"/>
          </a:p>
          <a:p>
            <a:r>
              <a:rPr lang="en-US" altLang="en-US" sz="1700" dirty="0"/>
              <a:t>Chain of roles</a:t>
            </a:r>
          </a:p>
          <a:p>
            <a:pPr lvl="1"/>
            <a:r>
              <a:rPr lang="en-US" altLang="en-US" sz="1700" b="1" dirty="0"/>
              <a:t>create</a:t>
            </a:r>
            <a:r>
              <a:rPr lang="en-US" altLang="en-US" sz="1700" dirty="0"/>
              <a:t> </a:t>
            </a:r>
            <a:r>
              <a:rPr lang="en-US" altLang="en-US" sz="1700" b="1" dirty="0"/>
              <a:t>role</a:t>
            </a:r>
            <a:r>
              <a:rPr lang="en-US" altLang="en-US" sz="1700" dirty="0"/>
              <a:t> </a:t>
            </a:r>
            <a:r>
              <a:rPr lang="en-US" altLang="en-US" sz="1700" i="1" dirty="0"/>
              <a:t>dean</a:t>
            </a:r>
            <a:r>
              <a:rPr lang="en-US" altLang="en-US" sz="1700" dirty="0"/>
              <a:t>;</a:t>
            </a:r>
          </a:p>
          <a:p>
            <a:pPr lvl="1"/>
            <a:r>
              <a:rPr lang="en-US" altLang="en-US" sz="1700" b="1" dirty="0"/>
              <a:t>grant</a:t>
            </a:r>
            <a:r>
              <a:rPr lang="en-US" altLang="en-US" sz="1700" dirty="0"/>
              <a:t> </a:t>
            </a:r>
            <a:r>
              <a:rPr lang="en-US" altLang="en-US" sz="1700" i="1" dirty="0"/>
              <a:t>instructor</a:t>
            </a:r>
            <a:r>
              <a:rPr lang="en-US" altLang="en-US" sz="1700" dirty="0"/>
              <a:t> </a:t>
            </a:r>
            <a:r>
              <a:rPr lang="en-US" altLang="en-US" sz="1700" b="1" dirty="0"/>
              <a:t>to</a:t>
            </a:r>
            <a:r>
              <a:rPr lang="en-US" altLang="en-US" sz="1700" dirty="0"/>
              <a:t> </a:t>
            </a:r>
            <a:r>
              <a:rPr lang="en-US" altLang="en-US" sz="1700" i="1" dirty="0"/>
              <a:t>dean</a:t>
            </a:r>
            <a:r>
              <a:rPr lang="en-US" altLang="en-US" sz="1700" dirty="0"/>
              <a:t>;</a:t>
            </a:r>
          </a:p>
          <a:p>
            <a:pPr lvl="1"/>
            <a:r>
              <a:rPr lang="en-US" altLang="en-US" sz="1700" b="1" dirty="0"/>
              <a:t>grant</a:t>
            </a:r>
            <a:r>
              <a:rPr lang="en-US" altLang="en-US" sz="1700" dirty="0"/>
              <a:t> </a:t>
            </a:r>
            <a:r>
              <a:rPr lang="en-US" altLang="en-US" sz="1700" i="1" dirty="0"/>
              <a:t>dean</a:t>
            </a:r>
            <a:r>
              <a:rPr lang="en-US" altLang="en-US" sz="1700" dirty="0"/>
              <a:t> </a:t>
            </a:r>
            <a:r>
              <a:rPr lang="en-US" altLang="en-US" sz="1700" b="1" dirty="0"/>
              <a:t>to</a:t>
            </a:r>
            <a:r>
              <a:rPr lang="en-US" altLang="en-US" sz="1700" dirty="0"/>
              <a:t> Satoshi;</a:t>
            </a:r>
          </a:p>
          <a:p>
            <a:endParaRPr lang="en-US" alt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pPr>
              <a:defRPr/>
            </a:pPr>
            <a:r>
              <a:rPr lang="en-US" sz="2800" dirty="0">
                <a:ea typeface="+mj-ea"/>
              </a:rPr>
              <a:t>Authorization on Views</a:t>
            </a:r>
          </a:p>
        </p:txBody>
      </p:sp>
      <p:sp>
        <p:nvSpPr>
          <p:cNvPr id="88067" name="Rectangle 3"/>
          <p:cNvSpPr>
            <a:spLocks noGrp="1" noChangeArrowheads="1"/>
          </p:cNvSpPr>
          <p:nvPr>
            <p:ph type="body" idx="1"/>
          </p:nvPr>
        </p:nvSpPr>
        <p:spPr>
          <a:xfrm>
            <a:off x="768351" y="1179132"/>
            <a:ext cx="7612170" cy="3730219"/>
          </a:xfrm>
        </p:spPr>
        <p:txBody>
          <a:bodyPr/>
          <a:lstStyle/>
          <a:p>
            <a:r>
              <a:rPr lang="en-US" altLang="en-US" sz="1700" b="1" dirty="0"/>
              <a:t>create view  </a:t>
            </a:r>
            <a:r>
              <a:rPr lang="en-US" altLang="en-US" sz="1700" i="1" dirty="0" err="1"/>
              <a:t>geo_instructor</a:t>
            </a:r>
            <a:r>
              <a:rPr lang="en-US" altLang="en-US" sz="1700" i="1" dirty="0"/>
              <a:t> </a:t>
            </a:r>
            <a:r>
              <a:rPr lang="en-US" altLang="en-US" sz="1700" b="1" dirty="0"/>
              <a:t>as</a:t>
            </a:r>
            <a:br>
              <a:rPr lang="en-US" altLang="en-US" sz="1700" b="1" dirty="0"/>
            </a:br>
            <a:r>
              <a:rPr lang="en-US" altLang="en-US" sz="1700" dirty="0"/>
              <a:t>(</a:t>
            </a:r>
            <a:r>
              <a:rPr lang="en-US" altLang="en-US" sz="1700" b="1" dirty="0"/>
              <a:t>select </a:t>
            </a:r>
            <a:r>
              <a:rPr lang="en-US" altLang="en-US" sz="1700" dirty="0"/>
              <a:t>*</a:t>
            </a:r>
            <a:br>
              <a:rPr lang="en-US" altLang="en-US" sz="1700" dirty="0"/>
            </a:br>
            <a:r>
              <a:rPr lang="en-US" altLang="en-US" sz="1700" b="1" dirty="0"/>
              <a:t>from </a:t>
            </a:r>
            <a:r>
              <a:rPr lang="en-US" altLang="en-US" sz="1700" i="1" dirty="0"/>
              <a:t>instructor</a:t>
            </a:r>
            <a:br>
              <a:rPr lang="en-US" altLang="en-US" sz="1700" i="1" dirty="0"/>
            </a:br>
            <a:r>
              <a:rPr lang="en-US" altLang="en-US" sz="1700" b="1" dirty="0"/>
              <a:t>where </a:t>
            </a:r>
            <a:r>
              <a:rPr lang="en-US" altLang="en-US" sz="1700" i="1" dirty="0"/>
              <a:t>dept_name </a:t>
            </a:r>
            <a:r>
              <a:rPr lang="en-US" altLang="en-US" sz="1700" dirty="0"/>
              <a:t>= 'Geology');</a:t>
            </a:r>
          </a:p>
          <a:p>
            <a:r>
              <a:rPr lang="en-US" altLang="en-US" sz="1700" b="1" dirty="0"/>
              <a:t>grant select on </a:t>
            </a:r>
            <a:r>
              <a:rPr lang="en-US" altLang="en-US" sz="1700" i="1" dirty="0" err="1"/>
              <a:t>geo_instructor</a:t>
            </a:r>
            <a:r>
              <a:rPr lang="en-US" altLang="en-US" sz="1700" i="1" dirty="0"/>
              <a:t> </a:t>
            </a:r>
            <a:r>
              <a:rPr lang="en-US" altLang="en-US" sz="1700" b="1" dirty="0"/>
              <a:t>to </a:t>
            </a:r>
            <a:r>
              <a:rPr lang="en-US" altLang="en-US" sz="1700" i="1" dirty="0"/>
              <a:t> </a:t>
            </a:r>
            <a:r>
              <a:rPr lang="en-US" altLang="en-US" sz="1700" i="1" dirty="0" err="1"/>
              <a:t>geo_staff</a:t>
            </a:r>
            <a:endParaRPr lang="en-US" altLang="en-US" sz="1700" i="1" dirty="0"/>
          </a:p>
          <a:p>
            <a:r>
              <a:rPr lang="en-US" altLang="en-US" sz="1700" dirty="0"/>
              <a:t>Suppose that a  </a:t>
            </a:r>
            <a:r>
              <a:rPr lang="en-US" altLang="en-US" sz="1700" i="1" dirty="0" err="1"/>
              <a:t>geo_staff</a:t>
            </a:r>
            <a:r>
              <a:rPr lang="en-US" altLang="en-US" sz="1700" dirty="0"/>
              <a:t> member issues</a:t>
            </a:r>
          </a:p>
          <a:p>
            <a:pPr lvl="1"/>
            <a:r>
              <a:rPr lang="en-US" altLang="en-US" sz="1700" b="1" dirty="0"/>
              <a:t>select </a:t>
            </a:r>
            <a:r>
              <a:rPr lang="en-US" altLang="en-US" sz="1700" dirty="0"/>
              <a:t>*</a:t>
            </a:r>
            <a:br>
              <a:rPr lang="en-US" altLang="en-US" sz="1700" dirty="0"/>
            </a:br>
            <a:r>
              <a:rPr lang="en-US" altLang="en-US" sz="1700" b="1" dirty="0"/>
              <a:t>from </a:t>
            </a:r>
            <a:r>
              <a:rPr lang="en-US" altLang="en-US" sz="1700" i="1" dirty="0" err="1"/>
              <a:t>geo_instructor</a:t>
            </a:r>
            <a:r>
              <a:rPr lang="en-US" altLang="en-US" sz="1700" dirty="0"/>
              <a:t>;</a:t>
            </a:r>
          </a:p>
          <a:p>
            <a:r>
              <a:rPr lang="en-US" altLang="en-US" sz="1700" dirty="0"/>
              <a:t>What if </a:t>
            </a:r>
          </a:p>
          <a:p>
            <a:pPr lvl="1"/>
            <a:r>
              <a:rPr lang="en-US" altLang="en-US" sz="1700" i="1" dirty="0" err="1"/>
              <a:t>geo_staff</a:t>
            </a:r>
            <a:r>
              <a:rPr lang="en-US" altLang="en-US" sz="1700" dirty="0"/>
              <a:t> does not have permissions on </a:t>
            </a:r>
            <a:r>
              <a:rPr lang="en-US" altLang="en-US" sz="1700" i="1" dirty="0"/>
              <a:t>instructor?</a:t>
            </a:r>
          </a:p>
          <a:p>
            <a:pPr lvl="1"/>
            <a:r>
              <a:rPr lang="en-US" altLang="en-US" sz="1700" dirty="0"/>
              <a:t>Creator of view did not have some permissions on </a:t>
            </a:r>
            <a:r>
              <a:rPr lang="en-US" altLang="en-US" sz="1700" i="1" dirty="0"/>
              <a:t>instructor?</a:t>
            </a:r>
            <a:endParaRPr lang="en-US" altLang="en-US" sz="1700" dirty="0"/>
          </a:p>
          <a:p>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p:txBody>
          <a:bodyPr/>
          <a:lstStyle/>
          <a:p>
            <a:pPr>
              <a:defRPr/>
            </a:pPr>
            <a:r>
              <a:rPr lang="en-US" sz="2800" dirty="0">
                <a:ea typeface="+mj-ea"/>
              </a:rPr>
              <a:t>Other Authorization Features</a:t>
            </a:r>
          </a:p>
        </p:txBody>
      </p:sp>
      <p:sp>
        <p:nvSpPr>
          <p:cNvPr id="89091" name="Rectangle 3"/>
          <p:cNvSpPr>
            <a:spLocks noGrp="1" noChangeArrowheads="1"/>
          </p:cNvSpPr>
          <p:nvPr>
            <p:ph type="body" idx="1"/>
          </p:nvPr>
        </p:nvSpPr>
        <p:spPr>
          <a:xfrm>
            <a:off x="768350" y="1093789"/>
            <a:ext cx="7709825" cy="3685476"/>
          </a:xfrm>
        </p:spPr>
        <p:txBody>
          <a:bodyPr/>
          <a:lstStyle/>
          <a:p>
            <a:r>
              <a:rPr lang="en-US" altLang="en-US" sz="1700" b="1" dirty="0"/>
              <a:t>references</a:t>
            </a:r>
            <a:r>
              <a:rPr lang="en-US" altLang="en-US" sz="1700" dirty="0"/>
              <a:t> privilege to create foreign key</a:t>
            </a:r>
          </a:p>
          <a:p>
            <a:pPr lvl="1"/>
            <a:r>
              <a:rPr lang="en-US" altLang="en-US" sz="1700" b="1" dirty="0"/>
              <a:t>grant reference </a:t>
            </a:r>
            <a:r>
              <a:rPr lang="en-US" altLang="en-US" sz="1700" dirty="0"/>
              <a:t>(</a:t>
            </a:r>
            <a:r>
              <a:rPr lang="en-US" altLang="en-US" sz="1700" i="1" dirty="0"/>
              <a:t>dept_name</a:t>
            </a:r>
            <a:r>
              <a:rPr lang="en-US" altLang="en-US" sz="1700" dirty="0"/>
              <a:t>) </a:t>
            </a:r>
            <a:r>
              <a:rPr lang="en-US" altLang="en-US" sz="1700" b="1" dirty="0"/>
              <a:t>on </a:t>
            </a:r>
            <a:r>
              <a:rPr lang="en-US" altLang="en-US" sz="1700" i="1" dirty="0"/>
              <a:t>department </a:t>
            </a:r>
            <a:r>
              <a:rPr lang="en-US" altLang="en-US" sz="1700" b="1" dirty="0"/>
              <a:t>to </a:t>
            </a:r>
            <a:r>
              <a:rPr lang="en-US" altLang="en-US" sz="1700" dirty="0"/>
              <a:t>Mariano;</a:t>
            </a:r>
          </a:p>
          <a:p>
            <a:pPr lvl="1"/>
            <a:r>
              <a:rPr lang="en-US" altLang="en-US" sz="1700" dirty="0"/>
              <a:t>Why is this required?</a:t>
            </a:r>
          </a:p>
          <a:p>
            <a:r>
              <a:rPr lang="en-US" altLang="en-US" sz="1700" dirty="0"/>
              <a:t>transfer of privileges</a:t>
            </a:r>
          </a:p>
          <a:p>
            <a:pPr lvl="1"/>
            <a:r>
              <a:rPr lang="en-US" altLang="en-US" sz="1700" b="1" dirty="0"/>
              <a:t>grant select on </a:t>
            </a:r>
            <a:r>
              <a:rPr lang="en-US" altLang="en-US" sz="1700" i="1" dirty="0"/>
              <a:t>department </a:t>
            </a:r>
            <a:r>
              <a:rPr lang="en-US" altLang="en-US" sz="1700" b="1" dirty="0"/>
              <a:t>to </a:t>
            </a:r>
            <a:r>
              <a:rPr lang="en-US" altLang="en-US" sz="1700" dirty="0" err="1"/>
              <a:t>Amit</a:t>
            </a:r>
            <a:r>
              <a:rPr lang="en-US" altLang="en-US" sz="1700" dirty="0"/>
              <a:t> </a:t>
            </a:r>
            <a:r>
              <a:rPr lang="en-US" altLang="en-US" sz="1700" b="1" dirty="0"/>
              <a:t>with grant option</a:t>
            </a:r>
            <a:r>
              <a:rPr lang="en-US" altLang="en-US" sz="1700" dirty="0"/>
              <a:t>;</a:t>
            </a:r>
          </a:p>
          <a:p>
            <a:pPr lvl="1"/>
            <a:r>
              <a:rPr lang="en-US" altLang="en-US" sz="1700" b="1" dirty="0"/>
              <a:t>revoke select on </a:t>
            </a:r>
            <a:r>
              <a:rPr lang="en-US" altLang="en-US" sz="1700" i="1" dirty="0"/>
              <a:t>department </a:t>
            </a:r>
            <a:r>
              <a:rPr lang="en-US" altLang="en-US" sz="1700" b="1" dirty="0"/>
              <a:t>from </a:t>
            </a:r>
            <a:r>
              <a:rPr lang="en-US" altLang="en-US" sz="1700" dirty="0" err="1"/>
              <a:t>Amit</a:t>
            </a:r>
            <a:r>
              <a:rPr lang="en-US" altLang="en-US" sz="1700" dirty="0"/>
              <a:t>, Satoshi </a:t>
            </a:r>
            <a:r>
              <a:rPr lang="en-US" altLang="en-US" sz="1700" b="1" dirty="0"/>
              <a:t>cascade</a:t>
            </a:r>
            <a:r>
              <a:rPr lang="en-US" altLang="en-US" sz="1700" dirty="0"/>
              <a:t>;</a:t>
            </a:r>
          </a:p>
          <a:p>
            <a:pPr lvl="1"/>
            <a:r>
              <a:rPr lang="en-US" altLang="en-US" sz="1700" b="1" dirty="0"/>
              <a:t>revoke select on </a:t>
            </a:r>
            <a:r>
              <a:rPr lang="en-US" altLang="en-US" sz="1700" i="1" dirty="0"/>
              <a:t>department </a:t>
            </a:r>
            <a:r>
              <a:rPr lang="en-US" altLang="en-US" sz="1700" b="1" dirty="0"/>
              <a:t>from </a:t>
            </a:r>
            <a:r>
              <a:rPr lang="en-US" altLang="en-US" sz="1700" dirty="0" err="1"/>
              <a:t>Amit</a:t>
            </a:r>
            <a:r>
              <a:rPr lang="en-US" altLang="en-US" sz="1700" dirty="0"/>
              <a:t>, Satoshi </a:t>
            </a:r>
            <a:r>
              <a:rPr lang="en-US" altLang="en-US" sz="1700" b="1" dirty="0"/>
              <a:t>restrict</a:t>
            </a:r>
            <a:r>
              <a:rPr lang="en-US" altLang="en-US" sz="1700" dirty="0"/>
              <a:t>;</a:t>
            </a:r>
          </a:p>
          <a:p>
            <a:pPr lvl="1"/>
            <a:r>
              <a:rPr lang="en-US" altLang="en-US" sz="1700" dirty="0"/>
              <a:t>And more!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22" name="Rectangle 2"/>
          <p:cNvSpPr>
            <a:spLocks noGrp="1" noChangeArrowheads="1"/>
          </p:cNvSpPr>
          <p:nvPr>
            <p:ph type="ctrTitle"/>
          </p:nvPr>
        </p:nvSpPr>
        <p:spPr/>
        <p:txBody>
          <a:bodyPr/>
          <a:lstStyle/>
          <a:p>
            <a:pPr>
              <a:defRPr/>
            </a:pPr>
            <a:r>
              <a:rPr lang="en-US">
                <a:ea typeface="+mj-ea"/>
              </a:rPr>
              <a:t>End of Chapter 4</a:t>
            </a:r>
          </a:p>
        </p:txBody>
      </p:sp>
    </p:spTree>
  </p:cSld>
  <p:clrMapOvr>
    <a:masterClrMapping/>
  </p:clrMapOvr>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93439</TotalTime>
  <Words>2136</Words>
  <Application>Microsoft Office PowerPoint</Application>
  <PresentationFormat>On-screen Show (4:3)</PresentationFormat>
  <Paragraphs>195</Paragraphs>
  <Slides>12</Slides>
  <Notes>12</Notes>
  <HiddenSlides>0</HiddenSlides>
  <MMClips>0</MMClips>
  <ScaleCrop>false</ScaleCrop>
  <HeadingPairs>
    <vt:vector size="8" baseType="variant">
      <vt:variant>
        <vt:lpstr>Fonts Used</vt:lpstr>
      </vt:variant>
      <vt:variant>
        <vt:i4>8</vt:i4>
      </vt:variant>
      <vt:variant>
        <vt:lpstr>Theme</vt:lpstr>
      </vt:variant>
      <vt:variant>
        <vt:i4>1</vt:i4>
      </vt:variant>
      <vt:variant>
        <vt:lpstr>Slide Titles</vt:lpstr>
      </vt:variant>
      <vt:variant>
        <vt:i4>12</vt:i4>
      </vt:variant>
      <vt:variant>
        <vt:lpstr>Custom Shows</vt:lpstr>
      </vt:variant>
      <vt:variant>
        <vt:i4>1</vt:i4>
      </vt:variant>
    </vt:vector>
  </HeadingPairs>
  <TitlesOfParts>
    <vt:vector size="22" baseType="lpstr">
      <vt:lpstr>ＭＳ Ｐゴシック</vt:lpstr>
      <vt:lpstr>ＭＳ Ｐゴシック</vt:lpstr>
      <vt:lpstr>Arial</vt:lpstr>
      <vt:lpstr>Helvetica</vt:lpstr>
      <vt:lpstr>Monotype Sorts</vt:lpstr>
      <vt:lpstr>Times New Roman</vt:lpstr>
      <vt:lpstr>Webdings</vt:lpstr>
      <vt:lpstr>Wingdings</vt:lpstr>
      <vt:lpstr>2_db-5-grey</vt:lpstr>
      <vt:lpstr>Chapter 4 : Intermediate SQL</vt:lpstr>
      <vt:lpstr>Outline</vt:lpstr>
      <vt:lpstr>Authorization</vt:lpstr>
      <vt:lpstr>Authorization (Cont.)</vt:lpstr>
      <vt:lpstr>Authorization Specification in SQL</vt:lpstr>
      <vt:lpstr>Privileges in SQL</vt:lpstr>
      <vt:lpstr>Revoking Authorization in SQL</vt:lpstr>
      <vt:lpstr>Roles</vt:lpstr>
      <vt:lpstr>Roles Example</vt:lpstr>
      <vt:lpstr>Authorization on Views</vt:lpstr>
      <vt:lpstr>Other Authorization Features</vt:lpstr>
      <vt:lpstr>End of Chapter 4</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Windows User</cp:lastModifiedBy>
  <cp:revision>528</cp:revision>
  <cp:lastPrinted>1999-06-28T19:27:31Z</cp:lastPrinted>
  <dcterms:created xsi:type="dcterms:W3CDTF">2009-12-21T15:40:22Z</dcterms:created>
  <dcterms:modified xsi:type="dcterms:W3CDTF">2022-03-17T10:12:09Z</dcterms:modified>
</cp:coreProperties>
</file>