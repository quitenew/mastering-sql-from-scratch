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handoutMasterIdLst>
    <p:handoutMasterId r:id="rId19"/>
  </p:handoutMasterIdLst>
  <p:sldIdLst>
    <p:sldId id="335" r:id="rId2"/>
    <p:sldId id="336" r:id="rId3"/>
    <p:sldId id="384" r:id="rId4"/>
    <p:sldId id="385" r:id="rId5"/>
    <p:sldId id="386" r:id="rId6"/>
    <p:sldId id="387" r:id="rId7"/>
    <p:sldId id="388" r:id="rId8"/>
    <p:sldId id="389" r:id="rId9"/>
    <p:sldId id="390" r:id="rId10"/>
    <p:sldId id="391" r:id="rId11"/>
    <p:sldId id="392" r:id="rId12"/>
    <p:sldId id="393" r:id="rId13"/>
    <p:sldId id="394" r:id="rId14"/>
    <p:sldId id="395" r:id="rId15"/>
    <p:sldId id="396" r:id="rId16"/>
    <p:sldId id="397" r:id="rId17"/>
  </p:sldIdLst>
  <p:sldSz cx="9144000" cy="6858000" type="screen4x3"/>
  <p:notesSz cx="6997700" cy="9283700"/>
  <p:custShowLst>
    <p:custShow name="Custom Show 1" id="0">
      <p:sldLst>
        <p:sld r:id="rId2"/>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707">
          <p15:clr>
            <a:srgbClr val="A4A3A4"/>
          </p15:clr>
        </p15:guide>
        <p15:guide id="2" pos="57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15" autoAdjust="0"/>
    <p:restoredTop sz="60302" autoAdjust="0"/>
  </p:normalViewPr>
  <p:slideViewPr>
    <p:cSldViewPr snapToGrid="0">
      <p:cViewPr varScale="1">
        <p:scale>
          <a:sx n="42" d="100"/>
          <a:sy n="42" d="100"/>
        </p:scale>
        <p:origin x="2226" y="60"/>
      </p:cViewPr>
      <p:guideLst>
        <p:guide orient="horz" pos="707"/>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C6EF5354-BFFB-44DF-8FA7-1A088153BD87}"/>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7" name="Rectangle 3">
            <a:extLst>
              <a:ext uri="{FF2B5EF4-FFF2-40B4-BE49-F238E27FC236}">
                <a16:creationId xmlns:a16="http://schemas.microsoft.com/office/drawing/2014/main" id="{5BBF6CF9-ADFE-4F6E-89A0-8CB582D8FFC5}"/>
              </a:ext>
            </a:extLst>
          </p:cNvPr>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squar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267268" name="Rectangle 4">
            <a:extLst>
              <a:ext uri="{FF2B5EF4-FFF2-40B4-BE49-F238E27FC236}">
                <a16:creationId xmlns:a16="http://schemas.microsoft.com/office/drawing/2014/main" id="{8C120FC7-7BCE-4696-BB5D-C087861E4B4E}"/>
              </a:ext>
            </a:extLst>
          </p:cNvPr>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67269" name="Rectangle 5">
            <a:extLst>
              <a:ext uri="{FF2B5EF4-FFF2-40B4-BE49-F238E27FC236}">
                <a16:creationId xmlns:a16="http://schemas.microsoft.com/office/drawing/2014/main" id="{6735A123-7D3E-455E-AB82-1C3749BB052A}"/>
              </a:ext>
            </a:extLst>
          </p:cNvPr>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square" lIns="93027" tIns="46514" rIns="93027" bIns="46514" numCol="1" anchor="b" anchorCtr="0" compatLnSpc="1">
            <a:prstTxWarp prst="textNoShape">
              <a:avLst/>
            </a:prstTxWarp>
          </a:bodyPr>
          <a:lstStyle>
            <a:lvl1pPr algn="r" defTabSz="930275">
              <a:defRPr sz="1300"/>
            </a:lvl1pPr>
          </a:lstStyle>
          <a:p>
            <a:pPr>
              <a:defRPr/>
            </a:pPr>
            <a:fld id="{A8B4C920-550B-4EA7-9CB5-2D8883A273B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0642" name="Rectangle 2">
            <a:extLst>
              <a:ext uri="{FF2B5EF4-FFF2-40B4-BE49-F238E27FC236}">
                <a16:creationId xmlns:a16="http://schemas.microsoft.com/office/drawing/2014/main" id="{2E8AF117-EF14-4BF3-AB7D-D75C4F934CCD}"/>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3" name="Rectangle 3">
            <a:extLst>
              <a:ext uri="{FF2B5EF4-FFF2-40B4-BE49-F238E27FC236}">
                <a16:creationId xmlns:a16="http://schemas.microsoft.com/office/drawing/2014/main" id="{D7D2DA5C-BED3-45D1-AFD2-94AF29863ABC}"/>
              </a:ext>
            </a:extLst>
          </p:cNvPr>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lvl1pPr algn="r" defTabSz="930275">
              <a:defRPr sz="1300">
                <a:latin typeface="Helvetica" charset="0"/>
                <a:ea typeface="+mn-ea"/>
                <a:cs typeface="+mn-cs"/>
              </a:defRPr>
            </a:lvl1pPr>
          </a:lstStyle>
          <a:p>
            <a:pPr>
              <a:defRPr/>
            </a:pPr>
            <a:endParaRPr lang="en-US"/>
          </a:p>
        </p:txBody>
      </p:sp>
      <p:sp>
        <p:nvSpPr>
          <p:cNvPr id="3076" name="Rectangle 4">
            <a:extLst>
              <a:ext uri="{FF2B5EF4-FFF2-40B4-BE49-F238E27FC236}">
                <a16:creationId xmlns:a16="http://schemas.microsoft.com/office/drawing/2014/main" id="{A2936E5F-4C9B-4144-9261-C3F188AA67D9}"/>
              </a:ext>
            </a:extLst>
          </p:cNvPr>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0645" name="Rectangle 5">
            <a:extLst>
              <a:ext uri="{FF2B5EF4-FFF2-40B4-BE49-F238E27FC236}">
                <a16:creationId xmlns:a16="http://schemas.microsoft.com/office/drawing/2014/main" id="{D73F14C5-05F8-4300-9D01-F3633C854740}"/>
              </a:ext>
            </a:extLst>
          </p:cNvPr>
          <p:cNvSpPr>
            <a:spLocks noGrp="1" noChangeArrowheads="1"/>
          </p:cNvSpPr>
          <p:nvPr>
            <p:ph type="body" sz="quarter" idx="3"/>
          </p:nvPr>
        </p:nvSpPr>
        <p:spPr bwMode="auto">
          <a:xfrm>
            <a:off x="931863" y="4410075"/>
            <a:ext cx="5133975" cy="4176713"/>
          </a:xfrm>
          <a:prstGeom prst="rect">
            <a:avLst/>
          </a:prstGeom>
          <a:noFill/>
          <a:ln w="9525">
            <a:noFill/>
            <a:miter lim="800000"/>
            <a:headEnd/>
            <a:tailEnd/>
          </a:ln>
          <a:effectLst/>
        </p:spPr>
        <p:txBody>
          <a:bodyPr vert="horz" wrap="none" lIns="93027" tIns="46514" rIns="93027" bIns="465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0646" name="Rectangle 6">
            <a:extLst>
              <a:ext uri="{FF2B5EF4-FFF2-40B4-BE49-F238E27FC236}">
                <a16:creationId xmlns:a16="http://schemas.microsoft.com/office/drawing/2014/main" id="{BCB6CAD9-A006-4455-8054-9CACB290288C}"/>
              </a:ext>
            </a:extLst>
          </p:cNvPr>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defTabSz="930275">
              <a:defRPr sz="1300">
                <a:latin typeface="Helvetica" charset="0"/>
                <a:ea typeface="+mn-ea"/>
                <a:cs typeface="+mn-cs"/>
              </a:defRPr>
            </a:lvl1pPr>
          </a:lstStyle>
          <a:p>
            <a:pPr>
              <a:defRPr/>
            </a:pPr>
            <a:endParaRPr lang="en-US"/>
          </a:p>
        </p:txBody>
      </p:sp>
      <p:sp>
        <p:nvSpPr>
          <p:cNvPr id="240647" name="Rectangle 7">
            <a:extLst>
              <a:ext uri="{FF2B5EF4-FFF2-40B4-BE49-F238E27FC236}">
                <a16:creationId xmlns:a16="http://schemas.microsoft.com/office/drawing/2014/main" id="{63060AD7-0C3D-477B-BD60-55C8EBDB9451}"/>
              </a:ext>
            </a:extLst>
          </p:cNvPr>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27" tIns="46514" rIns="93027" bIns="46514" numCol="1" anchor="b" anchorCtr="0" compatLnSpc="1">
            <a:prstTxWarp prst="textNoShape">
              <a:avLst/>
            </a:prstTxWarp>
          </a:bodyPr>
          <a:lstStyle>
            <a:lvl1pPr algn="r" defTabSz="930275">
              <a:defRPr sz="1300"/>
            </a:lvl1pPr>
          </a:lstStyle>
          <a:p>
            <a:pPr>
              <a:defRPr/>
            </a:pPr>
            <a:fld id="{AE66C03C-4B0E-4149-8287-A3B340EB818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1DE2DCE1-2EFC-4C42-8DFC-CBA6F33233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742950" indent="-285750"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1637794-A468-4EC6-9DD2-8F932E639220}" type="slidenum">
              <a:rPr lang="en-US" altLang="en-US" sz="1300" smtClean="0"/>
              <a:pPr/>
              <a:t>1</a:t>
            </a:fld>
            <a:endParaRPr lang="en-US" altLang="en-US" sz="1300"/>
          </a:p>
        </p:txBody>
      </p:sp>
      <p:sp>
        <p:nvSpPr>
          <p:cNvPr id="6147" name="Rectangle 2">
            <a:extLst>
              <a:ext uri="{FF2B5EF4-FFF2-40B4-BE49-F238E27FC236}">
                <a16:creationId xmlns:a16="http://schemas.microsoft.com/office/drawing/2014/main" id="{607B12F9-7FC5-42D0-9964-0865785D1C17}"/>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2BC6D4DE-B9DA-4FD2-A997-14A566E8D5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A5814F0E-33C5-4FFC-97A8-A1EDBAA0258F}" type="slidenum">
              <a:rPr lang="en-US" altLang="en-US" sz="1200"/>
              <a:pPr/>
              <a:t>2</a:t>
            </a:fld>
            <a:endParaRPr lang="en-US" altLang="en-US" sz="1200" dirty="0"/>
          </a:p>
        </p:txBody>
      </p:sp>
      <p:sp>
        <p:nvSpPr>
          <p:cNvPr id="72706" name="Rectangle 2"/>
          <p:cNvSpPr>
            <a:spLocks noChangeArrowheads="1"/>
          </p:cNvSpPr>
          <p:nvPr/>
        </p:nvSpPr>
        <p:spPr bwMode="auto">
          <a:xfrm>
            <a:off x="3965991"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07" name="Rectangle 3"/>
          <p:cNvSpPr>
            <a:spLocks noChangeArrowheads="1"/>
          </p:cNvSpPr>
          <p:nvPr/>
        </p:nvSpPr>
        <p:spPr bwMode="auto">
          <a:xfrm>
            <a:off x="3965991"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903" tIns="45146" rIns="91903" bIns="45146" anchor="b"/>
          <a:lstStyle>
            <a:lvl1pPr defTabSz="930275" eaLnBrk="0" hangingPunct="0">
              <a:defRPr sz="2400">
                <a:solidFill>
                  <a:schemeClr val="tx1"/>
                </a:solidFill>
                <a:latin typeface="Helvetica" panose="020B0604020202020204" pitchFamily="34" charset="0"/>
                <a:ea typeface="MS PGothic" panose="020B0600070205080204" pitchFamily="34" charset="-128"/>
              </a:defRPr>
            </a:lvl1pPr>
            <a:lvl2pPr marL="742950" indent="-285750" defTabSz="930275"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defTabSz="930275"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defTabSz="930275"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defTabSz="930275"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pPr algn="r"/>
            <a:r>
              <a:rPr lang="en-US" altLang="en-US" sz="1300" dirty="0">
                <a:latin typeface="Times New Roman" panose="02020603050405020304" pitchFamily="18" charset="0"/>
              </a:rPr>
              <a:t>1</a:t>
            </a:r>
          </a:p>
        </p:txBody>
      </p:sp>
      <p:sp>
        <p:nvSpPr>
          <p:cNvPr id="72708" name="Rectangle 4"/>
          <p:cNvSpPr>
            <a:spLocks noChangeArrowheads="1"/>
          </p:cNvSpPr>
          <p:nvPr/>
        </p:nvSpPr>
        <p:spPr bwMode="auto">
          <a:xfrm>
            <a:off x="0" y="8821402"/>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09" name="Rectangle 5"/>
          <p:cNvSpPr>
            <a:spLocks noChangeArrowheads="1"/>
          </p:cNvSpPr>
          <p:nvPr/>
        </p:nvSpPr>
        <p:spPr bwMode="auto">
          <a:xfrm>
            <a:off x="0" y="1"/>
            <a:ext cx="3031710" cy="462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1286" tIns="45643" rIns="91286" bIns="45643" anchor="ct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endParaRPr lang="en-US" altLang="en-US" sz="1800" dirty="0"/>
          </a:p>
        </p:txBody>
      </p:sp>
      <p:sp>
        <p:nvSpPr>
          <p:cNvPr id="72710" name="Rectangle 6"/>
          <p:cNvSpPr>
            <a:spLocks noGrp="1" noRot="1" noChangeAspect="1" noChangeArrowheads="1" noTextEdit="1"/>
          </p:cNvSpPr>
          <p:nvPr>
            <p:ph type="sldImg"/>
          </p:nvPr>
        </p:nvSpPr>
        <p:spPr>
          <a:xfrm>
            <a:off x="1187450" y="703263"/>
            <a:ext cx="4622800" cy="3467100"/>
          </a:xfrm>
          <a:ln w="12700" cap="flat"/>
        </p:spPr>
      </p:sp>
      <p:sp>
        <p:nvSpPr>
          <p:cNvPr id="72711" name="Rectangle 7"/>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03" tIns="45146" rIns="91903" bIns="45146" anchor="ctr"/>
          <a:lstStyle/>
          <a:p>
            <a:r>
              <a:rPr lang="en-US" b="0" dirty="0" smtClean="0"/>
              <a:t>In this chapter, as well as in Chapter 4 and Chapter 5, </a:t>
            </a:r>
            <a:r>
              <a:rPr lang="en-US" b="1" dirty="0" smtClean="0"/>
              <a:t>we study the most widely used database query language, SQL. </a:t>
            </a:r>
          </a:p>
          <a:p>
            <a:endParaRPr lang="en-US" b="1" dirty="0" smtClean="0"/>
          </a:p>
          <a:p>
            <a:r>
              <a:rPr lang="en-US" b="1" dirty="0" smtClean="0"/>
              <a:t>Although we refer to the SQL language as a “query language,” it can do much more than just query a database. It can define the structure of the data, modify data in the database, and specify security constraints.</a:t>
            </a:r>
          </a:p>
          <a:p>
            <a:endParaRPr lang="en-US" b="1" dirty="0" smtClean="0"/>
          </a:p>
          <a:p>
            <a:r>
              <a:rPr lang="en-US" b="1" dirty="0" smtClean="0"/>
              <a:t>It is not our intention to provide a complete users’ guide for SQL. Rather, we present SQL’s fundamental constructs and concepts. Individual implementations of SQL may differ in details or may support only a subset of the full language.</a:t>
            </a:r>
            <a:endParaRPr lang="en-US" altLang="en-US" b="1"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49F5A96B-D536-4BD1-BFE1-FD6DBF117D8A}" type="slidenum">
              <a:rPr lang="en-US" altLang="en-US" sz="1200"/>
              <a:pPr/>
              <a:t>3</a:t>
            </a:fld>
            <a:endParaRPr lang="en-US" altLang="en-US" sz="1200" dirty="0"/>
          </a:p>
        </p:txBody>
      </p:sp>
      <p:sp>
        <p:nvSpPr>
          <p:cNvPr id="112642" name="Rectangle 2"/>
          <p:cNvSpPr>
            <a:spLocks noGrp="1" noRot="1" noChangeAspect="1" noChangeArrowheads="1" noTextEdit="1"/>
          </p:cNvSpPr>
          <p:nvPr>
            <p:ph type="sldImg"/>
          </p:nvPr>
        </p:nvSpPr>
        <p:spPr>
          <a:xfrm>
            <a:off x="1187450" y="703263"/>
            <a:ext cx="4622800" cy="3467100"/>
          </a:xfrm>
          <a:ln/>
        </p:spPr>
      </p:sp>
      <p:sp>
        <p:nvSpPr>
          <p:cNvPr id="112643"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SQL allows a subquery expression to be used in the from clause. The key concept applied here is that any select-from-where expression returns a relation as a result and, therefore, can be inserted into another select-from-where anywhere that a relation can appear. </a:t>
            </a:r>
          </a:p>
          <a:p>
            <a:endParaRPr lang="en-US" b="1" dirty="0" smtClean="0"/>
          </a:p>
          <a:p>
            <a:r>
              <a:rPr lang="en-US" b="1" dirty="0" smtClean="0"/>
              <a:t>Consider the query “Find the average instructors’ salaries of those departments where the average salary is greater than $42,000.” We wrote this query in Section 3.7 by using the having clause. We can now rewrite this query, without using the having clause, by using a subquery in the from clause, as follows:</a:t>
            </a:r>
          </a:p>
          <a:p>
            <a:endParaRPr lang="en-US" altLang="en-US" b="1" dirty="0" smtClean="0"/>
          </a:p>
          <a:p>
            <a:endParaRPr lang="en-US" altLang="en-US" b="1" dirty="0" smtClean="0"/>
          </a:p>
          <a:p>
            <a:r>
              <a:rPr lang="en-US" b="1" dirty="0" smtClean="0"/>
              <a:t>Note that we do not need to use the having clause, since the subquery in the from clause computes the average salary, and the predicate that was in the having clause earlier is now in the where clause of the outer query. </a:t>
            </a:r>
          </a:p>
          <a:p>
            <a:r>
              <a:rPr lang="en-US" b="1" dirty="0" smtClean="0"/>
              <a:t>We can give the subquery result relation a name, and rename the attributes, using the </a:t>
            </a:r>
            <a:r>
              <a:rPr lang="en-US" b="1" u="sng" dirty="0" smtClean="0"/>
              <a:t>as clause</a:t>
            </a:r>
            <a:r>
              <a:rPr lang="en-US" b="1" dirty="0" smtClean="0"/>
              <a:t>, as illustrated below.  </a:t>
            </a:r>
          </a:p>
          <a:p>
            <a:endParaRPr lang="en-US" altLang="en-US" b="1" dirty="0" smtClean="0"/>
          </a:p>
          <a:p>
            <a:r>
              <a:rPr lang="en-US" altLang="en-US" b="1" dirty="0" smtClean="0"/>
              <a:t>Goren </a:t>
            </a:r>
            <a:r>
              <a:rPr lang="en-US" altLang="en-US" b="1" dirty="0" err="1" smtClean="0"/>
              <a:t>desen</a:t>
            </a:r>
            <a:r>
              <a:rPr lang="en-US" altLang="en-US" b="1" dirty="0" smtClean="0"/>
              <a:t> del</a:t>
            </a:r>
            <a:endParaRPr lang="en-US" altLang="en-US" b="1" dirty="0" smtClean="0"/>
          </a:p>
          <a:p>
            <a:endParaRPr lang="en-US" altLang="en-US" b="1" dirty="0" smtClean="0"/>
          </a:p>
          <a:p>
            <a:r>
              <a:rPr lang="en-US" altLang="en-US" b="1" dirty="0" err="1" smtClean="0"/>
              <a:t>Porano</a:t>
            </a:r>
            <a:endParaRPr lang="en-US" altLang="en-US" b="1" dirty="0" smtClean="0"/>
          </a:p>
          <a:p>
            <a:endParaRPr lang="en-US" altLang="en-US" b="1" dirty="0" smtClean="0"/>
          </a:p>
          <a:p>
            <a:r>
              <a:rPr lang="en-US" altLang="en-US" sz="1200" b="1" dirty="0" smtClean="0"/>
              <a:t>select </a:t>
            </a:r>
            <a:r>
              <a:rPr lang="en-US" altLang="en-US" sz="1200" i="1" dirty="0" err="1" smtClean="0"/>
              <a:t>dept_name</a:t>
            </a:r>
            <a:r>
              <a:rPr lang="en-US" altLang="en-US" sz="1200" dirty="0" smtClean="0"/>
              <a:t>, </a:t>
            </a:r>
            <a:r>
              <a:rPr lang="en-US" altLang="en-US" sz="1200" b="1" dirty="0" err="1" smtClean="0"/>
              <a:t>avg</a:t>
            </a:r>
            <a:r>
              <a:rPr lang="en-US" altLang="en-US" sz="1200" b="1" dirty="0" smtClean="0"/>
              <a:t> </a:t>
            </a:r>
            <a:r>
              <a:rPr lang="en-US" altLang="en-US" sz="1200" dirty="0" smtClean="0"/>
              <a:t>(</a:t>
            </a:r>
            <a:r>
              <a:rPr lang="en-US" altLang="en-US" sz="1200" i="1" dirty="0" smtClean="0"/>
              <a:t>salary</a:t>
            </a:r>
            <a:r>
              <a:rPr lang="en-US" altLang="en-US" sz="1200" dirty="0" smtClean="0"/>
              <a:t>) </a:t>
            </a:r>
            <a:r>
              <a:rPr lang="en-US" altLang="en-US" sz="1200" b="1" dirty="0" smtClean="0"/>
              <a:t>as</a:t>
            </a:r>
            <a:r>
              <a:rPr lang="en-US" altLang="en-US" sz="1200" dirty="0" smtClean="0"/>
              <a:t> </a:t>
            </a:r>
            <a:r>
              <a:rPr lang="en-US" altLang="en-US" sz="1200" i="1" dirty="0" err="1" smtClean="0"/>
              <a:t>avg_salary</a:t>
            </a:r>
            <a:endParaRPr lang="en-US" altLang="en-US" sz="1200" i="1" dirty="0" smtClean="0"/>
          </a:p>
          <a:p>
            <a:r>
              <a:rPr lang="en-US" altLang="en-US" sz="1200" b="1" dirty="0" smtClean="0"/>
              <a:t>from </a:t>
            </a:r>
            <a:r>
              <a:rPr lang="en-US" altLang="en-US" sz="1200" i="1" dirty="0" smtClean="0"/>
              <a:t>instructor</a:t>
            </a:r>
          </a:p>
          <a:p>
            <a:r>
              <a:rPr lang="en-US" altLang="en-US" sz="1200" b="1" dirty="0" smtClean="0"/>
              <a:t>group by </a:t>
            </a:r>
            <a:r>
              <a:rPr lang="en-US" altLang="en-US" sz="1200" i="1" dirty="0" err="1" smtClean="0"/>
              <a:t>dept_name</a:t>
            </a:r>
            <a:endParaRPr lang="en-US" altLang="en-US" sz="1200" i="1" dirty="0" smtClean="0"/>
          </a:p>
          <a:p>
            <a:r>
              <a:rPr lang="en-US" altLang="en-US" sz="1200" b="1" dirty="0" smtClean="0"/>
              <a:t>having </a:t>
            </a:r>
            <a:r>
              <a:rPr lang="en-US" altLang="en-US" sz="1200" b="1" dirty="0" err="1" smtClean="0"/>
              <a:t>avg</a:t>
            </a:r>
            <a:r>
              <a:rPr lang="en-US" altLang="en-US" sz="1200" b="1" dirty="0" smtClean="0"/>
              <a:t> </a:t>
            </a:r>
            <a:r>
              <a:rPr lang="en-US" altLang="en-US" sz="1200" dirty="0" smtClean="0"/>
              <a:t>(</a:t>
            </a:r>
            <a:r>
              <a:rPr lang="en-US" altLang="en-US" sz="1200" i="1" dirty="0" smtClean="0"/>
              <a:t>salary</a:t>
            </a:r>
            <a:r>
              <a:rPr lang="en-US" altLang="en-US" sz="1200" dirty="0" smtClean="0"/>
              <a:t>) &gt; 42000;</a:t>
            </a:r>
          </a:p>
          <a:p>
            <a:endParaRPr lang="en-US" altLang="en-US" b="1"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FC40216D-0A9E-4598-BBBD-B7C39318A82C}" type="slidenum">
              <a:rPr lang="en-US" altLang="en-US" sz="1200"/>
              <a:pPr/>
              <a:t>4</a:t>
            </a:fld>
            <a:endParaRPr lang="en-US" altLang="en-US" sz="1200" dirty="0"/>
          </a:p>
        </p:txBody>
      </p:sp>
      <p:sp>
        <p:nvSpPr>
          <p:cNvPr id="113666" name="Rectangle 2"/>
          <p:cNvSpPr>
            <a:spLocks noGrp="1" noRot="1" noChangeAspect="1" noChangeArrowheads="1" noTextEdit="1"/>
          </p:cNvSpPr>
          <p:nvPr>
            <p:ph type="sldImg"/>
          </p:nvPr>
        </p:nvSpPr>
        <p:spPr>
          <a:xfrm>
            <a:off x="1187450" y="703263"/>
            <a:ext cx="4622800" cy="3467100"/>
          </a:xfrm>
          <a:ln/>
        </p:spPr>
      </p:sp>
      <p:sp>
        <p:nvSpPr>
          <p:cNvPr id="113667"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The with clause provides a way of defining a temporary relation whose definition is available only to the query in which the with clause occurs. Consider the following query, which finds those departments with the maximum budget.</a:t>
            </a:r>
          </a:p>
          <a:p>
            <a:endParaRPr lang="en-US" altLang="en-US" b="1" dirty="0" smtClean="0"/>
          </a:p>
          <a:p>
            <a:endParaRPr lang="en-US" altLang="en-US" b="1" dirty="0" smtClean="0"/>
          </a:p>
          <a:p>
            <a:r>
              <a:rPr lang="en-US" b="1" dirty="0" smtClean="0"/>
              <a:t>The with clause in the query defines the temporary relation </a:t>
            </a:r>
            <a:r>
              <a:rPr lang="en-US" b="1" dirty="0" err="1" smtClean="0"/>
              <a:t>max_budget</a:t>
            </a:r>
            <a:r>
              <a:rPr lang="en-US" b="1" dirty="0" smtClean="0"/>
              <a:t> </a:t>
            </a:r>
            <a:r>
              <a:rPr lang="en-US" b="1" dirty="0" smtClean="0"/>
              <a:t>containing the results of the subquery defining the relation. The relation is available for use only within later parts of the same query. The with clause, introduced in SQL:1999, is supported by many, but not all, database systems.</a:t>
            </a:r>
          </a:p>
          <a:p>
            <a:endParaRPr lang="en-US" b="1" dirty="0" smtClean="0"/>
          </a:p>
          <a:p>
            <a:r>
              <a:rPr lang="en-US" b="1" dirty="0" smtClean="0"/>
              <a:t> We could have written the preceding query by using a nested subquery in either the from clause or the where clause. However, using nested subqueries would have made the query harder to read and understand. The with clause makes the query logic clearer; it also permits this temporary relation to be used in multiple places within a query.</a:t>
            </a:r>
            <a:endParaRPr lang="en-US" altLang="en-US" b="1"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928C80B3-281C-47A9-A6F3-980AD41E77DF}" type="slidenum">
              <a:rPr lang="en-US" altLang="en-US" sz="1200"/>
              <a:pPr/>
              <a:t>5</a:t>
            </a:fld>
            <a:endParaRPr lang="en-US" altLang="en-US" sz="1200" dirty="0"/>
          </a:p>
        </p:txBody>
      </p:sp>
      <p:sp>
        <p:nvSpPr>
          <p:cNvPr id="114690" name="Rectangle 2"/>
          <p:cNvSpPr>
            <a:spLocks noGrp="1" noRot="1" noChangeAspect="1" noChangeArrowheads="1" noTextEdit="1"/>
          </p:cNvSpPr>
          <p:nvPr>
            <p:ph type="sldImg"/>
          </p:nvPr>
        </p:nvSpPr>
        <p:spPr>
          <a:xfrm>
            <a:off x="1187450" y="703263"/>
            <a:ext cx="4622800" cy="3467100"/>
          </a:xfrm>
          <a:ln/>
        </p:spPr>
      </p:sp>
      <p:sp>
        <p:nvSpPr>
          <p:cNvPr id="114691"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For example, suppose we want to find all departments where the total salary is greater than the average of the total salary at all departments. We can write the query using the with clause as follows.</a:t>
            </a:r>
          </a:p>
          <a:p>
            <a:endParaRPr lang="en-US" altLang="en-US" dirty="0" smtClean="0"/>
          </a:p>
          <a:p>
            <a:endParaRPr lang="en-US"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SQL allows subqueries to occur wherever an expression returning a value is permitted, provided the subquery returns only one tuple containing a single attribute; such subqueries are called scalar subqueries. For example, a subquery can be used in the select clause as illustrated in the following example that lists all departments along with the number of instructors in each department:</a:t>
            </a:r>
          </a:p>
          <a:p>
            <a:endParaRPr lang="en-US" b="1" dirty="0" smtClean="0"/>
          </a:p>
          <a:p>
            <a:endParaRPr lang="en-US" b="1" dirty="0" smtClean="0"/>
          </a:p>
          <a:p>
            <a:r>
              <a:rPr lang="en-US" b="1" dirty="0" smtClean="0"/>
              <a:t>The subquery in this example is guaranteed to return only a single value since it has a count(*) aggregate without a group by. The example also illustrates the usage of correlation variables, that is, attributes of relations in the from clause of the outer query, such as </a:t>
            </a:r>
            <a:r>
              <a:rPr lang="en-US" b="1" dirty="0" err="1" smtClean="0"/>
              <a:t>department.dept_name</a:t>
            </a:r>
            <a:r>
              <a:rPr lang="en-US" b="1" dirty="0" smtClean="0"/>
              <a:t> </a:t>
            </a:r>
            <a:r>
              <a:rPr lang="en-US" b="1" dirty="0" smtClean="0"/>
              <a:t>in the above example.</a:t>
            </a:r>
          </a:p>
          <a:p>
            <a:endParaRPr lang="en-US" b="1" dirty="0" smtClean="0"/>
          </a:p>
          <a:p>
            <a:endParaRPr lang="en-US" b="1" dirty="0" smtClean="0"/>
          </a:p>
          <a:p>
            <a:r>
              <a:rPr lang="en-US" b="1" dirty="0" smtClean="0"/>
              <a:t>Scalar subqueries can occur in select, where, and having clauses. Scalar subqueries may also be defined without aggregates. It is not always possible to figure out at compile time if a subquery can return more than one tuple in its result; if the result has more than one tuple when the subquery is executed, a run-time error occurs.</a:t>
            </a:r>
          </a:p>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AE66C03C-4B0E-4149-8287-A3B340EB818D}" type="slidenum">
              <a:rPr lang="en-US" altLang="en-US" smtClean="0"/>
              <a:pPr>
                <a:defRPr/>
              </a:pPr>
              <a:t>6</a:t>
            </a:fld>
            <a:endParaRPr lang="en-US" altLang="en-US"/>
          </a:p>
        </p:txBody>
      </p:sp>
    </p:spTree>
    <p:extLst>
      <p:ext uri="{BB962C8B-B14F-4D97-AF65-F5344CB8AC3E}">
        <p14:creationId xmlns:p14="http://schemas.microsoft.com/office/powerpoint/2010/main" val="292186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4BD73B76-F558-45CE-871C-8466EA0D0DF2}" type="slidenum">
              <a:rPr lang="en-US" altLang="en-US" sz="1200"/>
              <a:pPr/>
              <a:t>7</a:t>
            </a:fld>
            <a:endParaRPr lang="en-US" altLang="en-US" sz="1200" dirty="0"/>
          </a:p>
        </p:txBody>
      </p:sp>
      <p:sp>
        <p:nvSpPr>
          <p:cNvPr id="129026" name="Rectangle 2"/>
          <p:cNvSpPr>
            <a:spLocks noGrp="1" noRot="1" noChangeAspect="1" noChangeArrowheads="1" noTextEdit="1"/>
          </p:cNvSpPr>
          <p:nvPr>
            <p:ph type="sldImg"/>
          </p:nvPr>
        </p:nvSpPr>
        <p:spPr>
          <a:xfrm>
            <a:off x="1187450" y="703263"/>
            <a:ext cx="4622800" cy="3467100"/>
          </a:xfrm>
          <a:ln/>
        </p:spPr>
      </p:sp>
      <p:sp>
        <p:nvSpPr>
          <p:cNvPr id="129027"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We have restricted our attention until now to the extraction of information from the database. Now, we show how to add, remove, or change information with SQL. </a:t>
            </a:r>
            <a:endParaRPr lang="en-US" altLang="en-US" b="1"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E85CE7E0-7666-4352-A4C1-28EF06861AC9}" type="slidenum">
              <a:rPr lang="en-US" altLang="en-US" sz="1200"/>
              <a:pPr/>
              <a:t>8</a:t>
            </a:fld>
            <a:endParaRPr lang="en-US" altLang="en-US" sz="1200" dirty="0"/>
          </a:p>
        </p:txBody>
      </p:sp>
      <p:sp>
        <p:nvSpPr>
          <p:cNvPr id="130050" name="Rectangle 2"/>
          <p:cNvSpPr>
            <a:spLocks noGrp="1" noRot="1" noChangeAspect="1" noChangeArrowheads="1" noTextEdit="1"/>
          </p:cNvSpPr>
          <p:nvPr>
            <p:ph type="sldImg"/>
          </p:nvPr>
        </p:nvSpPr>
        <p:spPr>
          <a:xfrm>
            <a:off x="1187450" y="703263"/>
            <a:ext cx="4622800" cy="3467100"/>
          </a:xfrm>
          <a:ln/>
        </p:spPr>
      </p:sp>
      <p:sp>
        <p:nvSpPr>
          <p:cNvPr id="130051"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A delete request is expressed in much the same way as a query. We can delete only whole tuples; we cannot delete values on only particular attributes. SQL expresses a deletion by: </a:t>
            </a:r>
          </a:p>
          <a:p>
            <a:endParaRPr lang="en-US" altLang="en-US" b="1" dirty="0" smtClean="0"/>
          </a:p>
          <a:p>
            <a:pPr lvl="1"/>
            <a:r>
              <a:rPr lang="en-US" b="1" dirty="0" smtClean="0"/>
              <a:t>delete from r </a:t>
            </a:r>
          </a:p>
          <a:p>
            <a:pPr lvl="1"/>
            <a:r>
              <a:rPr lang="en-US" b="1" dirty="0" smtClean="0"/>
              <a:t>where P;</a:t>
            </a:r>
          </a:p>
          <a:p>
            <a:pPr lvl="1"/>
            <a:endParaRPr lang="en-US" altLang="en-US" b="1" dirty="0" smtClean="0"/>
          </a:p>
          <a:p>
            <a:pPr lvl="0"/>
            <a:r>
              <a:rPr lang="en-US" b="1" dirty="0" smtClean="0"/>
              <a:t>where P represents a predicate and r represents a relation. The delete statement first finds all tuples t in r for which P(t) is true, and then deletes them from r. The where clause can be omitted, in which case all tuples in r are deleted.</a:t>
            </a:r>
          </a:p>
          <a:p>
            <a:pPr lvl="0"/>
            <a:endParaRPr lang="en-US" altLang="en-US" b="1" dirty="0" smtClean="0"/>
          </a:p>
          <a:p>
            <a:pPr lvl="0"/>
            <a:r>
              <a:rPr lang="en-US" b="1" dirty="0" smtClean="0"/>
              <a:t>Note that a delete command operates on only one relation. If we want to delete tuples from several relations, we must use one delete command for each relation. The predicate in the where clause may be as complex as a select command’s where clause. At the other extreme, the where clause may be empty. The request:</a:t>
            </a:r>
          </a:p>
          <a:p>
            <a:pPr lvl="0"/>
            <a:endParaRPr lang="en-US" altLang="en-US" b="1" dirty="0" smtClean="0"/>
          </a:p>
          <a:p>
            <a:pPr lvl="0"/>
            <a:r>
              <a:rPr lang="en-US" b="1" dirty="0" smtClean="0"/>
              <a:t>delete from instructor;</a:t>
            </a:r>
          </a:p>
          <a:p>
            <a:pPr lvl="0"/>
            <a:r>
              <a:rPr lang="en-US" b="1" dirty="0" smtClean="0"/>
              <a:t>deletes all tuples from the instructor relation. The instructor relation itself still exists, but it is empty.</a:t>
            </a:r>
          </a:p>
          <a:p>
            <a:pPr lvl="0"/>
            <a:endParaRPr lang="en-US" altLang="en-US" b="1" dirty="0" smtClean="0"/>
          </a:p>
          <a:p>
            <a:pPr marL="171450" lvl="0" indent="-171450">
              <a:buFont typeface="Arial" panose="020B0604020202020204" pitchFamily="34" charset="0"/>
              <a:buChar char="•"/>
            </a:pPr>
            <a:r>
              <a:rPr lang="en-US" b="1" dirty="0" smtClean="0"/>
              <a:t>Delete all tuples in the instructor relation pertaining to instructors in the Finance department.</a:t>
            </a:r>
          </a:p>
          <a:p>
            <a:pPr marL="171450" lvl="0" indent="-171450">
              <a:buFont typeface="Arial" panose="020B0604020202020204" pitchFamily="34" charset="0"/>
              <a:buChar char="•"/>
            </a:pPr>
            <a:r>
              <a:rPr lang="en-US" b="1" dirty="0" smtClean="0"/>
              <a:t>This delete request first finds all departments located in Watson and then deletes all instructor tuples pertaining to those departments.</a:t>
            </a:r>
          </a:p>
          <a:p>
            <a:pPr lvl="0"/>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3DA57BBC-3DEF-4030-90C9-4A7A7E87C33E}" type="slidenum">
              <a:rPr lang="en-US" altLang="en-US" sz="1200"/>
              <a:pPr/>
              <a:t>9</a:t>
            </a:fld>
            <a:endParaRPr lang="en-US" altLang="en-US" sz="1200" dirty="0"/>
          </a:p>
        </p:txBody>
      </p:sp>
      <p:sp>
        <p:nvSpPr>
          <p:cNvPr id="131074" name="Rectangle 2"/>
          <p:cNvSpPr>
            <a:spLocks noGrp="1" noRot="1" noChangeAspect="1" noChangeArrowheads="1" noTextEdit="1"/>
          </p:cNvSpPr>
          <p:nvPr>
            <p:ph type="sldImg"/>
          </p:nvPr>
        </p:nvSpPr>
        <p:spPr>
          <a:xfrm>
            <a:off x="1187450" y="703263"/>
            <a:ext cx="4622800" cy="3467100"/>
          </a:xfrm>
          <a:ln/>
        </p:spPr>
      </p:sp>
      <p:sp>
        <p:nvSpPr>
          <p:cNvPr id="131075"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Note that, although we may delete tuples from only one relation at a time, we may reference any number of relations in a select-from-where nested in the where clause of a delete. The delete request can contain a nested select that references the relation from which tuples are to be deleted. For example, suppose that we want to delete the records of all instructors with salary below the average at the university. We could write:</a:t>
            </a:r>
          </a:p>
          <a:p>
            <a:endParaRPr lang="en-US" altLang="en-US" b="1" dirty="0" smtClean="0"/>
          </a:p>
          <a:p>
            <a:endParaRPr lang="en-US" altLang="en-US" b="1" dirty="0" smtClean="0"/>
          </a:p>
          <a:p>
            <a:r>
              <a:rPr lang="en-US" b="1" dirty="0" smtClean="0"/>
              <a:t>The delete statement first tests each tuple in the relation instructor to check whether the salary is less than the average salary of instructors in the university. Then, all tuples that pass the test—that is, represent an instructor with a lower-than-average salary—are deleted. Performing all the tests before performing any deletion is important—if some tuples are deleted before other tuples have been tested, the average salary may change, and the final result of the delete would depend on the order in which the tuples were processed!</a:t>
            </a:r>
            <a:endParaRPr lang="en-US" altLang="en-US" b="1"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EC1FEC76-0B84-458E-8A4E-B7ECCB6E1DCF}" type="slidenum">
              <a:rPr lang="en-US" altLang="en-US" sz="1200"/>
              <a:pPr/>
              <a:t>10</a:t>
            </a:fld>
            <a:endParaRPr lang="en-US" altLang="en-US" sz="1200" dirty="0"/>
          </a:p>
        </p:txBody>
      </p:sp>
      <p:sp>
        <p:nvSpPr>
          <p:cNvPr id="132098" name="Rectangle 2"/>
          <p:cNvSpPr>
            <a:spLocks noGrp="1" noRot="1" noChangeAspect="1" noChangeArrowheads="1" noTextEdit="1"/>
          </p:cNvSpPr>
          <p:nvPr>
            <p:ph type="sldImg"/>
          </p:nvPr>
        </p:nvSpPr>
        <p:spPr>
          <a:xfrm>
            <a:off x="1187450" y="703263"/>
            <a:ext cx="4622800" cy="3467100"/>
          </a:xfrm>
          <a:ln/>
        </p:spPr>
      </p:sp>
      <p:sp>
        <p:nvSpPr>
          <p:cNvPr id="132099"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To insert data into a relation, we either specify a tuple to be inserted or write a query whose result is a set of tuples to be inserted. The attribute values for inserted tuples must be members of the corresponding attribute’s domain. Similarly, tuples inserted must have the correct number of attributes. The simplest insert statement is a request to insert one tuple. Suppose that we wish to insert the fact that there is a course CS-437 in the Computer Science department with title “Database Systems” and four credit hours. We write:</a:t>
            </a:r>
          </a:p>
          <a:p>
            <a:endParaRPr lang="en-US" altLang="en-US" b="1" dirty="0" smtClean="0"/>
          </a:p>
          <a:p>
            <a:endParaRPr lang="en-US" altLang="en-US" b="1" dirty="0" smtClean="0"/>
          </a:p>
          <a:p>
            <a:r>
              <a:rPr lang="en-US" b="1" dirty="0" smtClean="0"/>
              <a:t>Our discussion of the insert statement considered only examples in which a value is given for every attribute in inserted tuples. It is possible for inserted tuples to be given values on only some attributes of the schema. The remaining attributes are assigned a null value denoted by null. Consider the request:</a:t>
            </a:r>
          </a:p>
          <a:p>
            <a:endParaRPr lang="en-US" altLang="en-US" dirty="0" smtClean="0"/>
          </a:p>
          <a:p>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35F31BFB-CE80-49DF-B5B2-8D11C75DEDAB}" type="slidenum">
              <a:rPr lang="en-US" altLang="en-US" sz="1200"/>
              <a:pPr/>
              <a:t>11</a:t>
            </a:fld>
            <a:endParaRPr lang="en-US" altLang="en-US" sz="1200" dirty="0"/>
          </a:p>
        </p:txBody>
      </p:sp>
      <p:sp>
        <p:nvSpPr>
          <p:cNvPr id="133122" name="Rectangle 2"/>
          <p:cNvSpPr>
            <a:spLocks noGrp="1" noRot="1" noChangeAspect="1" noChangeArrowheads="1" noTextEdit="1"/>
          </p:cNvSpPr>
          <p:nvPr>
            <p:ph type="sldImg"/>
          </p:nvPr>
        </p:nvSpPr>
        <p:spPr>
          <a:xfrm>
            <a:off x="1187450" y="703263"/>
            <a:ext cx="4622800" cy="3467100"/>
          </a:xfrm>
          <a:ln/>
        </p:spPr>
      </p:sp>
      <p:sp>
        <p:nvSpPr>
          <p:cNvPr id="133123"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More generally, we might want to insert tuples on the basis of the result of a query. Suppose that we want to make each student in the Music department who has earned more than 144 credit hours an instructor in the Music department with a salary of $18,000. We write:</a:t>
            </a:r>
          </a:p>
          <a:p>
            <a:endParaRPr lang="en-US" altLang="en-US" b="1" dirty="0" smtClean="0"/>
          </a:p>
          <a:p>
            <a:endParaRPr lang="en-US" altLang="en-US" b="1" dirty="0" smtClean="0"/>
          </a:p>
          <a:p>
            <a:r>
              <a:rPr lang="en-US" b="1" dirty="0" smtClean="0"/>
              <a:t>Instead of specifying a tuple as we did earlier in this section, we use a select to specify a set of tuples. SQL evaluates the select statement first, giving a set of tuples that is then inserted into the instructor relation. Each tuple has an ID, a name, a </a:t>
            </a:r>
            <a:r>
              <a:rPr lang="en-US" b="1" dirty="0" err="1" smtClean="0"/>
              <a:t>dept_name</a:t>
            </a:r>
            <a:r>
              <a:rPr lang="en-US" b="1" dirty="0" smtClean="0"/>
              <a:t> </a:t>
            </a:r>
            <a:r>
              <a:rPr lang="en-US" b="1" dirty="0" smtClean="0"/>
              <a:t>(Music), and a salary of $18,000.</a:t>
            </a:r>
          </a:p>
          <a:p>
            <a:endParaRPr lang="en-US" altLang="en-US" b="1" dirty="0" smtClean="0"/>
          </a:p>
          <a:p>
            <a:endParaRPr lang="en-US" altLang="en-US" b="1" dirty="0" smtClean="0"/>
          </a:p>
          <a:p>
            <a:r>
              <a:rPr lang="en-US" b="1" dirty="0" smtClean="0"/>
              <a:t>It is important that the system evaluate the select statement fully before it performs any insertions. If it were to carry out some insertions while the select statement was being evaluated, a request such as:</a:t>
            </a:r>
          </a:p>
          <a:p>
            <a:endParaRPr lang="en-US" altLang="en-US" b="1" dirty="0" smtClean="0"/>
          </a:p>
          <a:p>
            <a:r>
              <a:rPr lang="en-US" b="1" dirty="0" smtClean="0"/>
              <a:t>might insert an infinite number of tuples, if the primary key constraint on student were absent. Without the primary key constraint, the request would insert the first tuple in student again, creating a second copy of the tuple. Since this second copy is part of student now, the select statement may find it, and a third copy would be inserted into student. The select statement may then find this third copy and insert a fourth copy, and so on, forever. Evaluating the select statement completely before performing insertions avoids such problems. Thus, the above insert statement would simply duplicate every tuple in the student relation if the relation did not have a primary key constraint.</a:t>
            </a:r>
            <a:endParaRPr lang="en-US" altLang="en-US" b="1"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8B0ED708-B857-4AA3-91E9-C395C0C34058}" type="slidenum">
              <a:rPr lang="en-US" altLang="en-US" sz="1200"/>
              <a:pPr/>
              <a:t>12</a:t>
            </a:fld>
            <a:endParaRPr lang="en-US" altLang="en-US" sz="1200" dirty="0"/>
          </a:p>
        </p:txBody>
      </p:sp>
      <p:sp>
        <p:nvSpPr>
          <p:cNvPr id="134146" name="Rectangle 2"/>
          <p:cNvSpPr>
            <a:spLocks noGrp="1" noRot="1" noChangeAspect="1" noChangeArrowheads="1" noTextEdit="1"/>
          </p:cNvSpPr>
          <p:nvPr>
            <p:ph type="sldImg"/>
          </p:nvPr>
        </p:nvSpPr>
        <p:spPr>
          <a:xfrm>
            <a:off x="1187450" y="703263"/>
            <a:ext cx="4622800" cy="3467100"/>
          </a:xfrm>
          <a:ln/>
        </p:spPr>
      </p:sp>
      <p:sp>
        <p:nvSpPr>
          <p:cNvPr id="134147"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In certain situations, we may wish to change a value in a tuple without changing all values in the tuple. For this purpose, the update statement can be used. As we could for insert and delete, we can choose the tuples to be updated by using a query. Suppose that annual salary increases are being made, and salaries of all instructors are to be increased by 5 percent. We write:</a:t>
            </a:r>
          </a:p>
          <a:p>
            <a:endParaRPr lang="en-US" altLang="en-US" b="1" dirty="0" smtClean="0"/>
          </a:p>
          <a:p>
            <a:endParaRPr lang="en-US" altLang="en-US" b="1" dirty="0" smtClean="0"/>
          </a:p>
          <a:p>
            <a:r>
              <a:rPr lang="en-US" b="1" dirty="0" smtClean="0"/>
              <a:t>The preceding update statement is applied once to each of the tuples in the instructor relation. If a salary increase is to be paid only to instructors with a salary of less than $70,000, we can write:</a:t>
            </a:r>
          </a:p>
          <a:p>
            <a:endParaRPr lang="en-US" altLang="en-US" b="1" dirty="0" smtClean="0"/>
          </a:p>
          <a:p>
            <a:r>
              <a:rPr lang="en-US" b="1" dirty="0" smtClean="0"/>
              <a:t>In general, the where clause of the update statement may contain any construct legal in the where clause of the select statement (including nested selects). As with insert and delete, a nested select within an update statement may reference the relation that is being updated. As before, SQL first tests all tuples in the relation to see whether they should be updated, and it carries out the updates afterward. For example, we can write the request “Give a 5 percent salary raise to instructors whose salary is less than average” as follows:</a:t>
            </a:r>
            <a:endParaRPr lang="en-US" altLang="en-US" b="1"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8B0ED708-B857-4AA3-91E9-C395C0C34058}" type="slidenum">
              <a:rPr lang="en-US" altLang="en-US" sz="1200"/>
              <a:pPr/>
              <a:t>13</a:t>
            </a:fld>
            <a:endParaRPr lang="en-US" altLang="en-US" sz="1200" dirty="0"/>
          </a:p>
        </p:txBody>
      </p:sp>
      <p:sp>
        <p:nvSpPr>
          <p:cNvPr id="134146" name="Rectangle 2"/>
          <p:cNvSpPr>
            <a:spLocks noGrp="1" noRot="1" noChangeAspect="1" noChangeArrowheads="1" noTextEdit="1"/>
          </p:cNvSpPr>
          <p:nvPr>
            <p:ph type="sldImg"/>
          </p:nvPr>
        </p:nvSpPr>
        <p:spPr>
          <a:xfrm>
            <a:off x="1187450" y="703263"/>
            <a:ext cx="4622800" cy="3467100"/>
          </a:xfrm>
          <a:ln/>
        </p:spPr>
      </p:sp>
      <p:sp>
        <p:nvSpPr>
          <p:cNvPr id="134147"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Let us now suppose that all instructors with salary over $100,000 receive a 3 percent raise, whereas all others receive a 5 percent raise. </a:t>
            </a:r>
            <a:r>
              <a:rPr lang="en-US" b="1" u="sng" dirty="0" smtClean="0"/>
              <a:t>We could write two update statements</a:t>
            </a:r>
            <a:r>
              <a:rPr lang="en-US" dirty="0" smtClean="0"/>
              <a:t>:</a:t>
            </a:r>
          </a:p>
          <a:p>
            <a:endParaRPr lang="en-US" altLang="en-US" dirty="0" smtClean="0"/>
          </a:p>
          <a:p>
            <a:r>
              <a:rPr lang="en-US" b="1" u="sng" dirty="0" smtClean="0"/>
              <a:t>Note that the order of the two update statements is important. If we changed the order of the two statements, an instructor with a salary just under $100,000 would receive a raise of over 8 percent.</a:t>
            </a:r>
            <a:endParaRPr lang="en-US" altLang="en-US" b="1" u="sng"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E5C62BF7-9C63-497B-BAE2-5CB77526CD21}" type="slidenum">
              <a:rPr lang="en-US" altLang="en-US" sz="1200"/>
              <a:pPr/>
              <a:t>14</a:t>
            </a:fld>
            <a:endParaRPr lang="en-US" altLang="en-US" sz="1200" dirty="0"/>
          </a:p>
        </p:txBody>
      </p:sp>
      <p:sp>
        <p:nvSpPr>
          <p:cNvPr id="135170" name="Rectangle 2"/>
          <p:cNvSpPr>
            <a:spLocks noGrp="1" noRot="1" noChangeAspect="1" noChangeArrowheads="1" noTextEdit="1"/>
          </p:cNvSpPr>
          <p:nvPr>
            <p:ph type="sldImg"/>
          </p:nvPr>
        </p:nvSpPr>
        <p:spPr>
          <a:xfrm>
            <a:off x="1187450" y="703263"/>
            <a:ext cx="4622800" cy="3467100"/>
          </a:xfrm>
          <a:ln/>
        </p:spPr>
      </p:sp>
      <p:sp>
        <p:nvSpPr>
          <p:cNvPr id="135171"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SQL provides a case construct that we can use to perform both updates with a single update statement, avoiding the problem with the order of updates.</a:t>
            </a:r>
          </a:p>
          <a:p>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CD5F1561-909F-45CB-8FAD-BF76CD539810}" type="slidenum">
              <a:rPr lang="en-US" altLang="en-US" sz="1200"/>
              <a:pPr/>
              <a:t>15</a:t>
            </a:fld>
            <a:endParaRPr lang="en-US" altLang="en-US" sz="1200" dirty="0"/>
          </a:p>
        </p:txBody>
      </p:sp>
      <p:sp>
        <p:nvSpPr>
          <p:cNvPr id="136194" name="Rectangle 2"/>
          <p:cNvSpPr>
            <a:spLocks noGrp="1" noRot="1" noChangeAspect="1" noChangeArrowheads="1" noTextEdit="1"/>
          </p:cNvSpPr>
          <p:nvPr>
            <p:ph type="sldImg"/>
          </p:nvPr>
        </p:nvSpPr>
        <p:spPr>
          <a:ln/>
        </p:spPr>
      </p:sp>
      <p:sp>
        <p:nvSpPr>
          <p:cNvPr id="1361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smtClean="0"/>
              <a:t>Scalar subqueries are useful in SQL update statements, where they can be used in the set clause. We illustrate this using the student and takes relations that we introduced in Chapter 2. Consider an update where we set the </a:t>
            </a:r>
            <a:r>
              <a:rPr lang="en-US" b="1" smtClean="0"/>
              <a:t>tot_cred</a:t>
            </a:r>
            <a:r>
              <a:rPr lang="en-US" b="1" dirty="0" smtClean="0"/>
              <a:t> </a:t>
            </a:r>
            <a:r>
              <a:rPr lang="en-US" b="1" dirty="0" smtClean="0"/>
              <a:t>attribute of each student tuple to the sum of the credits of courses successfully completed by the student. We assume that a course is successfully completed if the student has a grade that is neither 'F' nor null. To specify this update, we need to use a subquery in the set clause, as shown below:</a:t>
            </a:r>
          </a:p>
          <a:p>
            <a:endParaRPr lang="en-US" altLang="en-US" b="1" dirty="0" smtClean="0"/>
          </a:p>
          <a:p>
            <a:endParaRPr lang="en-US" altLang="en-US" b="1" dirty="0" smtClean="0"/>
          </a:p>
          <a:p>
            <a:endParaRPr lang="en-US" altLang="en-US" b="1" dirty="0" smtClean="0"/>
          </a:p>
          <a:p>
            <a:r>
              <a:rPr lang="en-US" b="1" dirty="0" smtClean="0"/>
              <a:t>In case a student has not successfully completed any course, the preceding statement would set the tot cred attribute value to null. To set the value to 0 instead, we could use another update statement to replace null values with 0; a better alternative is to replace the clause “select sum(credits)” in the preceding subquery with the following select clause using a case expression:</a:t>
            </a:r>
          </a:p>
          <a:p>
            <a:endParaRPr lang="en-US" altLang="en-US" dirty="0" smtClean="0"/>
          </a:p>
          <a:p>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8001" eaLnBrk="0" hangingPunct="0">
              <a:defRPr sz="2400">
                <a:solidFill>
                  <a:schemeClr val="tx1"/>
                </a:solidFill>
                <a:latin typeface="Helvetica" panose="020B0604020202020204" pitchFamily="34" charset="0"/>
                <a:ea typeface="MS PGothic" panose="020B0600070205080204" pitchFamily="34" charset="-128"/>
              </a:defRPr>
            </a:lvl1pPr>
            <a:lvl2pPr marL="734863" indent="-282640" defTabSz="928001" eaLnBrk="0" hangingPunct="0">
              <a:defRPr sz="2400">
                <a:solidFill>
                  <a:schemeClr val="tx1"/>
                </a:solidFill>
                <a:latin typeface="Helvetica" panose="020B0604020202020204" pitchFamily="34" charset="0"/>
                <a:ea typeface="MS PGothic" panose="020B0600070205080204" pitchFamily="34" charset="-128"/>
              </a:defRPr>
            </a:lvl2pPr>
            <a:lvl3pPr marL="1130558" indent="-226112" defTabSz="928001" eaLnBrk="0" hangingPunct="0">
              <a:defRPr sz="2400">
                <a:solidFill>
                  <a:schemeClr val="tx1"/>
                </a:solidFill>
                <a:latin typeface="Helvetica" panose="020B0604020202020204" pitchFamily="34" charset="0"/>
                <a:ea typeface="MS PGothic" panose="020B0600070205080204" pitchFamily="34" charset="-128"/>
              </a:defRPr>
            </a:lvl3pPr>
            <a:lvl4pPr marL="1582781" indent="-226112" defTabSz="928001" eaLnBrk="0" hangingPunct="0">
              <a:defRPr sz="2400">
                <a:solidFill>
                  <a:schemeClr val="tx1"/>
                </a:solidFill>
                <a:latin typeface="Helvetica" panose="020B0604020202020204" pitchFamily="34" charset="0"/>
                <a:ea typeface="MS PGothic" panose="020B0600070205080204" pitchFamily="34" charset="-128"/>
              </a:defRPr>
            </a:lvl4pPr>
            <a:lvl5pPr marL="2035005" indent="-226112" defTabSz="928001" eaLnBrk="0" hangingPunct="0">
              <a:defRPr sz="2400">
                <a:solidFill>
                  <a:schemeClr val="tx1"/>
                </a:solidFill>
                <a:latin typeface="Helvetica" panose="020B0604020202020204" pitchFamily="34" charset="0"/>
                <a:ea typeface="MS PGothic" panose="020B0600070205080204" pitchFamily="34" charset="-128"/>
              </a:defRPr>
            </a:lvl5pPr>
            <a:lvl6pPr marL="248722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39451"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391675"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43898" indent="-226112" defTabSz="928001"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fld id="{8FCFA389-9B55-41A5-BB85-9B9E03821269}" type="slidenum">
              <a:rPr lang="en-US" altLang="en-US" sz="1200"/>
              <a:pPr/>
              <a:t>16</a:t>
            </a:fld>
            <a:endParaRPr lang="en-US" altLang="en-US" sz="1200" dirty="0"/>
          </a:p>
        </p:txBody>
      </p:sp>
      <p:sp>
        <p:nvSpPr>
          <p:cNvPr id="137218" name="Rectangle 2"/>
          <p:cNvSpPr>
            <a:spLocks noGrp="1" noRot="1" noChangeAspect="1" noChangeArrowheads="1" noTextEdit="1"/>
          </p:cNvSpPr>
          <p:nvPr>
            <p:ph type="sldImg"/>
          </p:nvPr>
        </p:nvSpPr>
        <p:spPr>
          <a:xfrm>
            <a:off x="1187450" y="703263"/>
            <a:ext cx="4622800" cy="3467100"/>
          </a:xfrm>
          <a:ln/>
        </p:spPr>
      </p:sp>
      <p:sp>
        <p:nvSpPr>
          <p:cNvPr id="137219" name="Rectangle 3"/>
          <p:cNvSpPr>
            <a:spLocks noGrp="1" noChangeArrowheads="1"/>
          </p:cNvSpPr>
          <p:nvPr>
            <p:ph type="body" idx="1"/>
          </p:nvPr>
        </p:nvSpPr>
        <p:spPr>
          <a:xfrm>
            <a:off x="931146" y="4410702"/>
            <a:ext cx="5135409" cy="4174834"/>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www.db-book.com/"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5" name="Text Box 7">
            <a:extLst>
              <a:ext uri="{FF2B5EF4-FFF2-40B4-BE49-F238E27FC236}">
                <a16:creationId xmlns:a16="http://schemas.microsoft.com/office/drawing/2014/main" id="{A25BB261-D773-4836-B381-7A051175F570}"/>
              </a:ext>
            </a:extLst>
          </p:cNvPr>
          <p:cNvSpPr txBox="1">
            <a:spLocks noChangeArrowheads="1"/>
          </p:cNvSpPr>
          <p:nvPr/>
        </p:nvSpPr>
        <p:spPr bwMode="auto">
          <a:xfrm>
            <a:off x="2674938" y="5726113"/>
            <a:ext cx="3694112" cy="793750"/>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b="1" dirty="0">
                <a:solidFill>
                  <a:srgbClr val="002060"/>
                </a:solidFill>
              </a:rPr>
              <a:t>Database System Concepts, 7</a:t>
            </a:r>
            <a:r>
              <a:rPr lang="en-US" altLang="en-US" b="1" baseline="30000" dirty="0">
                <a:solidFill>
                  <a:srgbClr val="002060"/>
                </a:solidFill>
              </a:rPr>
              <a:t>th</a:t>
            </a:r>
            <a:r>
              <a:rPr lang="en-US" altLang="en-US" b="1" dirty="0">
                <a:solidFill>
                  <a:srgbClr val="002060"/>
                </a:solidFill>
              </a:rPr>
              <a:t> Ed</a:t>
            </a:r>
            <a:r>
              <a:rPr lang="en-US" altLang="en-US" dirty="0">
                <a:solidFill>
                  <a:srgbClr val="002060"/>
                </a:solidFill>
              </a:rPr>
              <a:t>.</a:t>
            </a:r>
          </a:p>
          <a:p>
            <a:pPr algn="ctr">
              <a:spcBef>
                <a:spcPct val="50000"/>
              </a:spcBef>
              <a:defRPr/>
            </a:pPr>
            <a:r>
              <a:rPr lang="en-US" altLang="en-US" sz="1200" b="1" dirty="0">
                <a:solidFill>
                  <a:srgbClr val="002060"/>
                </a:solidFill>
              </a:rPr>
              <a:t>©Silberschatz, Korth and Sudarshan</a:t>
            </a:r>
            <a:br>
              <a:rPr lang="en-US" altLang="en-US" sz="1200" b="1" dirty="0">
                <a:solidFill>
                  <a:srgbClr val="002060"/>
                </a:solidFill>
              </a:rPr>
            </a:br>
            <a:r>
              <a:rPr lang="en-US" altLang="en-US" sz="1200" b="1" dirty="0">
                <a:solidFill>
                  <a:srgbClr val="002060"/>
                </a:solidFill>
              </a:rPr>
              <a:t>See </a:t>
            </a:r>
            <a:r>
              <a:rPr lang="en-US" altLang="en-US" sz="1200" b="1" dirty="0">
                <a:solidFill>
                  <a:srgbClr val="002060"/>
                </a:solidFill>
                <a:hlinkClick r:id="rId2"/>
              </a:rPr>
              <a:t>www.db-book.com</a:t>
            </a:r>
            <a:r>
              <a:rPr lang="en-US" altLang="en-US" sz="1200" b="1" dirty="0">
                <a:solidFill>
                  <a:srgbClr val="002060"/>
                </a:solidFill>
              </a:rPr>
              <a:t> for conditions on re-use </a:t>
            </a:r>
          </a:p>
        </p:txBody>
      </p:sp>
      <p:sp>
        <p:nvSpPr>
          <p:cNvPr id="513026" name="Rectangle 2"/>
          <p:cNvSpPr>
            <a:spLocks noGrp="1" noChangeArrowheads="1"/>
          </p:cNvSpPr>
          <p:nvPr>
            <p:ph type="ctrTitle"/>
          </p:nvPr>
        </p:nvSpPr>
        <p:spPr>
          <a:xfrm>
            <a:off x="685800" y="2286000"/>
            <a:ext cx="7772400" cy="1143000"/>
          </a:xfrm>
        </p:spPr>
        <p:txBody>
          <a:bodyPr/>
          <a:lstStyle>
            <a:lvl1pPr>
              <a:defRPr>
                <a:solidFill>
                  <a:srgbClr val="002060"/>
                </a:solidFill>
              </a:defRPr>
            </a:lvl1pPr>
          </a:lstStyle>
          <a:p>
            <a:r>
              <a:rPr lang="en-US" dirty="0"/>
              <a:t>Click to edit Master title style</a:t>
            </a:r>
          </a:p>
        </p:txBody>
      </p:sp>
      <p:sp>
        <p:nvSpPr>
          <p:cNvPr id="8" name="Rectangle 5">
            <a:extLst>
              <a:ext uri="{FF2B5EF4-FFF2-40B4-BE49-F238E27FC236}">
                <a16:creationId xmlns:a16="http://schemas.microsoft.com/office/drawing/2014/main" id="{B4760F52-45E1-4E1D-A744-2F2290DE90CC}"/>
              </a:ext>
            </a:extLst>
          </p:cNvPr>
          <p:cNvSpPr>
            <a:spLocks noGrp="1" noChangeArrowheads="1"/>
          </p:cNvSpPr>
          <p:nvPr>
            <p:ph type="sldNum" sz="quarter" idx="11"/>
          </p:nvPr>
        </p:nvSpPr>
        <p:spPr>
          <a:xfrm>
            <a:off x="6596063" y="6218238"/>
            <a:ext cx="1905000" cy="457200"/>
          </a:xfrm>
        </p:spPr>
        <p:txBody>
          <a:bodyPr/>
          <a:lstStyle>
            <a:lvl1pPr>
              <a:defRPr>
                <a:solidFill>
                  <a:srgbClr val="578963"/>
                </a:solidFill>
              </a:defRPr>
            </a:lvl1pPr>
          </a:lstStyle>
          <a:p>
            <a:pPr>
              <a:defRPr/>
            </a:pPr>
            <a:fld id="{3B69BB99-A72A-4470-971F-83530C443C91}" type="slidenum">
              <a:rPr lang="en-US" altLang="en-US"/>
              <a:pPr>
                <a:defRPr/>
              </a:pPr>
              <a:t>‹#›</a:t>
            </a:fld>
            <a:endParaRPr lang="en-US" altLang="en-US"/>
          </a:p>
        </p:txBody>
      </p:sp>
      <p:pic>
        <p:nvPicPr>
          <p:cNvPr id="9" name="Picture 8" descr="Cover-6Ed"/>
          <p:cNvPicPr>
            <a:picLocks noChangeAspect="1" noChangeArrowheads="1"/>
          </p:cNvPicPr>
          <p:nvPr userDrawn="1"/>
        </p:nvPicPr>
        <p:blipFill>
          <a:blip r:embed="rId3"/>
          <a:stretch>
            <a:fillRect/>
          </a:stretch>
        </p:blipFill>
        <p:spPr bwMode="auto">
          <a:xfrm>
            <a:off x="13858" y="0"/>
            <a:ext cx="1331269" cy="170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0487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768350" y="1093788"/>
            <a:ext cx="7707313" cy="4903787"/>
          </a:xfrm>
        </p:spPr>
        <p:txBody>
          <a:bodyPr/>
          <a:lstStyle>
            <a:lvl1pPr marL="342900" indent="-342900">
              <a:buSzPct val="110000"/>
              <a:buFont typeface="Wingdings" panose="05000000000000000000" pitchFamily="2" charset="2"/>
              <a:buChar char="§"/>
              <a:defRPr sz="1700"/>
            </a:lvl1pPr>
            <a:lvl2pPr marL="742950" indent="-285750">
              <a:buSzPct val="110000"/>
              <a:buFont typeface="Arial" panose="020B0604020202020204" pitchFamily="34" charset="0"/>
              <a:buChar char="•"/>
              <a:defRPr sz="1700"/>
            </a:lvl2pPr>
            <a:lvl3pPr marL="1085850" indent="-228600">
              <a:buFont typeface="Wingdings" panose="05000000000000000000" pitchFamily="2" charset="2"/>
              <a:buChar char="§"/>
              <a:defRPr sz="1700"/>
            </a:lvl3pPr>
            <a:lvl4pPr marL="1428750" indent="-228600">
              <a:buFont typeface="Arial" panose="020B0604020202020204" pitchFamily="34" charset="0"/>
              <a:buChar char="•"/>
              <a:defRPr sz="1700"/>
            </a:lvl4pPr>
            <a:lvl5pPr marL="1771650" indent="-228600">
              <a:buFont typeface="Wingdings" panose="05000000000000000000" pitchFamily="2" charset="2"/>
              <a:buChar char="§"/>
              <a:defRPr sz="17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24371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336F2EBE-FF5F-4F9D-A3C2-A59A92D7809D}"/>
              </a:ext>
            </a:extLst>
          </p:cNvPr>
          <p:cNvSpPr>
            <a:spLocks noGrp="1" noChangeArrowheads="1"/>
          </p:cNvSpPr>
          <p:nvPr>
            <p:ph type="sldNum" sz="quarter" idx="10"/>
          </p:nvPr>
        </p:nvSpPr>
        <p:spPr>
          <a:ln/>
        </p:spPr>
        <p:txBody>
          <a:bodyPr/>
          <a:lstStyle>
            <a:lvl1pPr>
              <a:defRPr/>
            </a:lvl1pPr>
          </a:lstStyle>
          <a:p>
            <a:pPr>
              <a:defRPr/>
            </a:pPr>
            <a:fld id="{547F3CAF-32BF-49A6-93F1-59C9E4B7C957}" type="slidenum">
              <a:rPr lang="en-US" altLang="en-US"/>
              <a:pPr>
                <a:defRPr/>
              </a:pPr>
              <a:t>‹#›</a:t>
            </a:fld>
            <a:endParaRPr lang="en-US" altLang="en-US"/>
          </a:p>
        </p:txBody>
      </p:sp>
    </p:spTree>
    <p:extLst>
      <p:ext uri="{BB962C8B-B14F-4D97-AF65-F5344CB8AC3E}">
        <p14:creationId xmlns:p14="http://schemas.microsoft.com/office/powerpoint/2010/main" val="296070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4388" y="1093788"/>
            <a:ext cx="3754437"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21225" y="1093788"/>
            <a:ext cx="3754438" cy="4903787"/>
          </a:xfrm>
        </p:spPr>
        <p:txBody>
          <a:bodyPr/>
          <a:lstStyle>
            <a:lvl1pPr>
              <a:defRPr sz="1700"/>
            </a:lvl1pPr>
            <a:lvl2pPr>
              <a:defRPr sz="1700"/>
            </a:lvl2pPr>
            <a:lvl3pPr>
              <a:defRPr sz="1700"/>
            </a:lvl3pPr>
            <a:lvl4pPr>
              <a:defRPr sz="1700"/>
            </a:lvl4pPr>
            <a:lvl5pPr>
              <a:defRPr sz="17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
            <a:extLst>
              <a:ext uri="{FF2B5EF4-FFF2-40B4-BE49-F238E27FC236}">
                <a16:creationId xmlns:a16="http://schemas.microsoft.com/office/drawing/2014/main" id="{A6D4A7F0-1138-4608-80AA-D0A6F5D41187}"/>
              </a:ext>
            </a:extLst>
          </p:cNvPr>
          <p:cNvSpPr>
            <a:spLocks noGrp="1" noChangeArrowheads="1"/>
          </p:cNvSpPr>
          <p:nvPr>
            <p:ph type="sldNum" sz="quarter" idx="10"/>
          </p:nvPr>
        </p:nvSpPr>
        <p:spPr>
          <a:ln/>
        </p:spPr>
        <p:txBody>
          <a:bodyPr/>
          <a:lstStyle>
            <a:lvl1pPr>
              <a:defRPr/>
            </a:lvl1pPr>
          </a:lstStyle>
          <a:p>
            <a:pPr>
              <a:defRPr/>
            </a:pPr>
            <a:fld id="{00852D5F-D37B-4E9D-98AD-511A1ABBD6A9}" type="slidenum">
              <a:rPr lang="en-US" altLang="en-US"/>
              <a:pPr>
                <a:defRPr/>
              </a:pPr>
              <a:t>‹#›</a:t>
            </a:fld>
            <a:endParaRPr lang="en-US" altLang="en-US"/>
          </a:p>
        </p:txBody>
      </p:sp>
    </p:spTree>
    <p:extLst>
      <p:ext uri="{BB962C8B-B14F-4D97-AF65-F5344CB8AC3E}">
        <p14:creationId xmlns:p14="http://schemas.microsoft.com/office/powerpoint/2010/main" val="4110802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1700"/>
            </a:lvl1pPr>
            <a:lvl2pPr>
              <a:defRPr sz="1700"/>
            </a:lvl2pPr>
            <a:lvl3pPr>
              <a:defRPr sz="1700"/>
            </a:lvl3pPr>
            <a:lvl4pPr>
              <a:defRPr sz="1700"/>
            </a:lvl4pPr>
            <a:lvl5pPr>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
            <a:extLst>
              <a:ext uri="{FF2B5EF4-FFF2-40B4-BE49-F238E27FC236}">
                <a16:creationId xmlns:a16="http://schemas.microsoft.com/office/drawing/2014/main" id="{56DFCFB3-6710-4DD2-8404-7E55A930F352}"/>
              </a:ext>
            </a:extLst>
          </p:cNvPr>
          <p:cNvSpPr>
            <a:spLocks noGrp="1" noChangeArrowheads="1"/>
          </p:cNvSpPr>
          <p:nvPr>
            <p:ph type="sldNum" sz="quarter" idx="10"/>
          </p:nvPr>
        </p:nvSpPr>
        <p:spPr>
          <a:ln/>
        </p:spPr>
        <p:txBody>
          <a:bodyPr/>
          <a:lstStyle>
            <a:lvl1pPr>
              <a:defRPr/>
            </a:lvl1pPr>
          </a:lstStyle>
          <a:p>
            <a:pPr>
              <a:defRPr/>
            </a:pPr>
            <a:fld id="{C0191CCC-CC48-429B-87C9-7123B48E52D4}" type="slidenum">
              <a:rPr lang="en-US" altLang="en-US"/>
              <a:pPr>
                <a:defRPr/>
              </a:pPr>
              <a:t>‹#›</a:t>
            </a:fld>
            <a:endParaRPr lang="en-US" altLang="en-US"/>
          </a:p>
        </p:txBody>
      </p:sp>
    </p:spTree>
    <p:extLst>
      <p:ext uri="{BB962C8B-B14F-4D97-AF65-F5344CB8AC3E}">
        <p14:creationId xmlns:p14="http://schemas.microsoft.com/office/powerpoint/2010/main" val="2519042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
            <a:extLst>
              <a:ext uri="{FF2B5EF4-FFF2-40B4-BE49-F238E27FC236}">
                <a16:creationId xmlns:a16="http://schemas.microsoft.com/office/drawing/2014/main" id="{BB431453-8F56-47C4-89BA-3EDF3CD092BA}"/>
              </a:ext>
            </a:extLst>
          </p:cNvPr>
          <p:cNvSpPr>
            <a:spLocks noGrp="1" noChangeArrowheads="1"/>
          </p:cNvSpPr>
          <p:nvPr>
            <p:ph type="sldNum" sz="quarter" idx="10"/>
          </p:nvPr>
        </p:nvSpPr>
        <p:spPr>
          <a:ln/>
        </p:spPr>
        <p:txBody>
          <a:bodyPr/>
          <a:lstStyle>
            <a:lvl1pPr>
              <a:defRPr/>
            </a:lvl1pPr>
          </a:lstStyle>
          <a:p>
            <a:pPr>
              <a:defRPr/>
            </a:pPr>
            <a:fld id="{5E9D92F0-DB25-4E6B-A10D-A7937AC7A365}" type="slidenum">
              <a:rPr lang="en-US" altLang="en-US"/>
              <a:pPr>
                <a:defRPr/>
              </a:pPr>
              <a:t>‹#›</a:t>
            </a:fld>
            <a:endParaRPr lang="en-US" altLang="en-US"/>
          </a:p>
        </p:txBody>
      </p:sp>
    </p:spTree>
    <p:extLst>
      <p:ext uri="{BB962C8B-B14F-4D97-AF65-F5344CB8AC3E}">
        <p14:creationId xmlns:p14="http://schemas.microsoft.com/office/powerpoint/2010/main" val="3836005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BE8099E-18A5-481A-9697-216087BE0676}"/>
              </a:ext>
            </a:extLst>
          </p:cNvPr>
          <p:cNvSpPr>
            <a:spLocks noGrp="1" noChangeArrowheads="1"/>
          </p:cNvSpPr>
          <p:nvPr>
            <p:ph type="sldNum" sz="quarter" idx="10"/>
          </p:nvPr>
        </p:nvSpPr>
        <p:spPr>
          <a:ln/>
        </p:spPr>
        <p:txBody>
          <a:bodyPr/>
          <a:lstStyle>
            <a:lvl1pPr>
              <a:defRPr/>
            </a:lvl1pPr>
          </a:lstStyle>
          <a:p>
            <a:pPr>
              <a:defRPr/>
            </a:pPr>
            <a:fld id="{0E555C8E-F740-4D28-8DA3-D7B8E0F6F578}" type="slidenum">
              <a:rPr lang="en-US" altLang="en-US"/>
              <a:pPr>
                <a:defRPr/>
              </a:pPr>
              <a:t>‹#›</a:t>
            </a:fld>
            <a:endParaRPr lang="en-US" altLang="en-US"/>
          </a:p>
        </p:txBody>
      </p:sp>
    </p:spTree>
    <p:extLst>
      <p:ext uri="{BB962C8B-B14F-4D97-AF65-F5344CB8AC3E}">
        <p14:creationId xmlns:p14="http://schemas.microsoft.com/office/powerpoint/2010/main" val="2432147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1700"/>
            </a:lvl1pPr>
            <a:lvl2pPr>
              <a:defRPr sz="1700"/>
            </a:lvl2pPr>
            <a:lvl3pPr>
              <a:defRPr sz="1700"/>
            </a:lvl3pPr>
            <a:lvl4pPr>
              <a:defRPr sz="1700"/>
            </a:lvl4pPr>
            <a:lvl5pPr>
              <a:defRPr sz="17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7E2C57D-1205-411A-BA90-DF60A810F6DB}"/>
              </a:ext>
            </a:extLst>
          </p:cNvPr>
          <p:cNvSpPr>
            <a:spLocks noGrp="1" noChangeArrowheads="1"/>
          </p:cNvSpPr>
          <p:nvPr>
            <p:ph type="sldNum" sz="quarter" idx="10"/>
          </p:nvPr>
        </p:nvSpPr>
        <p:spPr>
          <a:ln/>
        </p:spPr>
        <p:txBody>
          <a:bodyPr/>
          <a:lstStyle>
            <a:lvl1pPr>
              <a:defRPr/>
            </a:lvl1pPr>
          </a:lstStyle>
          <a:p>
            <a:pPr>
              <a:defRPr/>
            </a:pPr>
            <a:fld id="{2BBBE5B0-1186-4DAB-9E97-511F15F5C63C}" type="slidenum">
              <a:rPr lang="en-US" altLang="en-US"/>
              <a:pPr>
                <a:defRPr/>
              </a:pPr>
              <a:t>‹#›</a:t>
            </a:fld>
            <a:endParaRPr lang="en-US" altLang="en-US"/>
          </a:p>
        </p:txBody>
      </p:sp>
    </p:spTree>
    <p:extLst>
      <p:ext uri="{BB962C8B-B14F-4D97-AF65-F5344CB8AC3E}">
        <p14:creationId xmlns:p14="http://schemas.microsoft.com/office/powerpoint/2010/main" val="1348809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99EB6957-06EE-46F8-A450-3DB417A1F8A6}"/>
              </a:ext>
            </a:extLst>
          </p:cNvPr>
          <p:cNvSpPr>
            <a:spLocks noGrp="1" noChangeArrowheads="1"/>
          </p:cNvSpPr>
          <p:nvPr>
            <p:ph type="sldNum" sz="quarter" idx="10"/>
          </p:nvPr>
        </p:nvSpPr>
        <p:spPr>
          <a:ln/>
        </p:spPr>
        <p:txBody>
          <a:bodyPr/>
          <a:lstStyle>
            <a:lvl1pPr>
              <a:defRPr/>
            </a:lvl1pPr>
          </a:lstStyle>
          <a:p>
            <a:pPr>
              <a:defRPr/>
            </a:pPr>
            <a:fld id="{F291DB2E-7BC4-4C22-ACAE-0B8B3F0C5147}" type="slidenum">
              <a:rPr lang="en-US" altLang="en-US"/>
              <a:pPr>
                <a:defRPr/>
              </a:pPr>
              <a:t>‹#›</a:t>
            </a:fld>
            <a:endParaRPr lang="en-US" altLang="en-US"/>
          </a:p>
        </p:txBody>
      </p:sp>
    </p:spTree>
    <p:extLst>
      <p:ext uri="{BB962C8B-B14F-4D97-AF65-F5344CB8AC3E}">
        <p14:creationId xmlns:p14="http://schemas.microsoft.com/office/powerpoint/2010/main" val="24814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85C950AD-734E-45C7-8042-5795FFAD6750}"/>
              </a:ext>
            </a:extLst>
          </p:cNvPr>
          <p:cNvSpPr>
            <a:spLocks noGrp="1" noChangeArrowheads="1"/>
          </p:cNvSpPr>
          <p:nvPr>
            <p:ph type="sldNum" sz="quarter" idx="10"/>
          </p:nvPr>
        </p:nvSpPr>
        <p:spPr>
          <a:ln/>
        </p:spPr>
        <p:txBody>
          <a:bodyPr/>
          <a:lstStyle>
            <a:lvl1pPr>
              <a:defRPr/>
            </a:lvl1pPr>
          </a:lstStyle>
          <a:p>
            <a:pPr>
              <a:defRPr/>
            </a:pPr>
            <a:fld id="{D7E5E31B-1343-4510-8DCD-65E7B6544692}" type="slidenum">
              <a:rPr lang="en-US" altLang="en-US"/>
              <a:pPr>
                <a:defRPr/>
              </a:pPr>
              <a:t>‹#›</a:t>
            </a:fld>
            <a:endParaRPr lang="en-US" altLang="en-US"/>
          </a:p>
        </p:txBody>
      </p:sp>
    </p:spTree>
    <p:extLst>
      <p:ext uri="{BB962C8B-B14F-4D97-AF65-F5344CB8AC3E}">
        <p14:creationId xmlns:p14="http://schemas.microsoft.com/office/powerpoint/2010/main" val="1763046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26250" y="117475"/>
            <a:ext cx="2019300" cy="58801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8350" y="117475"/>
            <a:ext cx="5905500" cy="58801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C7A7A2CD-B5B0-4CF6-8038-339B0E99E366}"/>
              </a:ext>
            </a:extLst>
          </p:cNvPr>
          <p:cNvSpPr>
            <a:spLocks noGrp="1" noChangeArrowheads="1"/>
          </p:cNvSpPr>
          <p:nvPr>
            <p:ph type="sldNum" sz="quarter" idx="10"/>
          </p:nvPr>
        </p:nvSpPr>
        <p:spPr>
          <a:ln/>
        </p:spPr>
        <p:txBody>
          <a:bodyPr/>
          <a:lstStyle>
            <a:lvl1pPr>
              <a:defRPr/>
            </a:lvl1pPr>
          </a:lstStyle>
          <a:p>
            <a:pPr>
              <a:defRPr/>
            </a:pPr>
            <a:fld id="{833574B0-C055-4E38-82A9-667A1DF1F8D0}" type="slidenum">
              <a:rPr lang="en-US" altLang="en-US"/>
              <a:pPr>
                <a:defRPr/>
              </a:pPr>
              <a:t>‹#›</a:t>
            </a:fld>
            <a:endParaRPr lang="en-US" altLang="en-US"/>
          </a:p>
        </p:txBody>
      </p:sp>
    </p:spTree>
    <p:extLst>
      <p:ext uri="{BB962C8B-B14F-4D97-AF65-F5344CB8AC3E}">
        <p14:creationId xmlns:p14="http://schemas.microsoft.com/office/powerpoint/2010/main" val="2894649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3">
            <a:extLst>
              <a:ext uri="{FF2B5EF4-FFF2-40B4-BE49-F238E27FC236}">
                <a16:creationId xmlns:a16="http://schemas.microsoft.com/office/drawing/2014/main" id="{A9796C49-4A73-449B-A170-DFFCD45313DF}"/>
              </a:ext>
            </a:extLst>
          </p:cNvPr>
          <p:cNvSpPr>
            <a:spLocks noGrp="1" noChangeArrowheads="1"/>
          </p:cNvSpPr>
          <p:nvPr>
            <p:ph type="sldNum" sz="quarter" idx="10"/>
          </p:nvPr>
        </p:nvSpPr>
        <p:spPr>
          <a:ln/>
        </p:spPr>
        <p:txBody>
          <a:bodyPr/>
          <a:lstStyle>
            <a:lvl1pPr>
              <a:defRPr/>
            </a:lvl1pPr>
          </a:lstStyle>
          <a:p>
            <a:pPr>
              <a:defRPr/>
            </a:pPr>
            <a:fld id="{300D9E99-A0D8-4F2F-B04A-331DF655FEAB}" type="slidenum">
              <a:rPr lang="en-US" altLang="en-US"/>
              <a:pPr>
                <a:defRPr/>
              </a:pPr>
              <a:t>‹#›</a:t>
            </a:fld>
            <a:endParaRPr lang="en-US" altLang="en-US"/>
          </a:p>
        </p:txBody>
      </p:sp>
    </p:spTree>
    <p:extLst>
      <p:ext uri="{BB962C8B-B14F-4D97-AF65-F5344CB8AC3E}">
        <p14:creationId xmlns:p14="http://schemas.microsoft.com/office/powerpoint/2010/main" val="2422825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6112478-D9B7-4D0D-ADE5-62D5EFAAFBBF}"/>
              </a:ext>
            </a:extLst>
          </p:cNvPr>
          <p:cNvSpPr>
            <a:spLocks noGrp="1" noChangeArrowheads="1"/>
          </p:cNvSpPr>
          <p:nvPr>
            <p:ph type="body" idx="1"/>
          </p:nvPr>
        </p:nvSpPr>
        <p:spPr bwMode="auto">
          <a:xfrm>
            <a:off x="768350" y="1093788"/>
            <a:ext cx="7707313"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512003" name="Rectangle 3">
            <a:extLst>
              <a:ext uri="{FF2B5EF4-FFF2-40B4-BE49-F238E27FC236}">
                <a16:creationId xmlns:a16="http://schemas.microsoft.com/office/drawing/2014/main" id="{D2EB5033-CF44-472B-B77D-FAA18581E631}"/>
              </a:ext>
            </a:extLst>
          </p:cNvPr>
          <p:cNvSpPr>
            <a:spLocks noGrp="1" noChangeArrowheads="1"/>
          </p:cNvSpPr>
          <p:nvPr>
            <p:ph type="sldNum" sz="quarter" idx="4"/>
          </p:nvPr>
        </p:nvSpPr>
        <p:spPr bwMode="auto">
          <a:xfrm>
            <a:off x="6553200" y="64008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50000"/>
              </a:spcBef>
              <a:defRPr sz="1400">
                <a:solidFill>
                  <a:srgbClr val="002060"/>
                </a:solidFill>
                <a:latin typeface="Times New Roman" panose="02020603050405020304" pitchFamily="18" charset="0"/>
              </a:defRPr>
            </a:lvl1pPr>
          </a:lstStyle>
          <a:p>
            <a:pPr>
              <a:defRPr/>
            </a:pPr>
            <a:fld id="{8BECA7E0-09BC-41D3-BD93-B7E81A2ACCB7}" type="slidenum">
              <a:rPr lang="en-US" altLang="en-US" smtClean="0"/>
              <a:pPr>
                <a:defRPr/>
              </a:pPr>
              <a:t>‹#›</a:t>
            </a:fld>
            <a:endParaRPr lang="en-US" altLang="en-US" dirty="0"/>
          </a:p>
        </p:txBody>
      </p:sp>
      <p:sp>
        <p:nvSpPr>
          <p:cNvPr id="1028" name="Text Box 4">
            <a:extLst>
              <a:ext uri="{FF2B5EF4-FFF2-40B4-BE49-F238E27FC236}">
                <a16:creationId xmlns:a16="http://schemas.microsoft.com/office/drawing/2014/main" id="{D0CFC8B2-2C6C-4CA4-9AFC-14298F0DD4EC}"/>
              </a:ext>
            </a:extLst>
          </p:cNvPr>
          <p:cNvSpPr txBox="1">
            <a:spLocks noChangeArrowheads="1"/>
          </p:cNvSpPr>
          <p:nvPr/>
        </p:nvSpPr>
        <p:spPr bwMode="auto">
          <a:xfrm>
            <a:off x="6762750" y="6613525"/>
            <a:ext cx="23812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©Silberschatz, Korth and Sudarshan</a:t>
            </a:r>
          </a:p>
        </p:txBody>
      </p:sp>
      <p:sp>
        <p:nvSpPr>
          <p:cNvPr id="512005" name="Text Box 5">
            <a:extLst>
              <a:ext uri="{FF2B5EF4-FFF2-40B4-BE49-F238E27FC236}">
                <a16:creationId xmlns:a16="http://schemas.microsoft.com/office/drawing/2014/main" id="{ED25C836-0663-424A-84A7-5AB803422860}"/>
              </a:ext>
            </a:extLst>
          </p:cNvPr>
          <p:cNvSpPr txBox="1">
            <a:spLocks noChangeArrowheads="1"/>
          </p:cNvSpPr>
          <p:nvPr userDrawn="1"/>
        </p:nvSpPr>
        <p:spPr bwMode="auto">
          <a:xfrm>
            <a:off x="4479983" y="6613525"/>
            <a:ext cx="447559" cy="246221"/>
          </a:xfrm>
          <a:prstGeom prst="rect">
            <a:avLst/>
          </a:prstGeom>
          <a:noFill/>
          <a:ln w="9525">
            <a:noFill/>
            <a:miter lim="800000"/>
            <a:headEnd/>
            <a:tailEnd/>
          </a:ln>
          <a:effectLst/>
        </p:spPr>
        <p:txBody>
          <a:bodyPr wrap="none">
            <a:spAutoFit/>
          </a:bodyPr>
          <a:lstStyle>
            <a:lvl1pPr>
              <a:defRPr sz="1600">
                <a:solidFill>
                  <a:schemeClr val="tx1"/>
                </a:solidFill>
                <a:latin typeface="Helvetica" panose="020B0604020202020204" pitchFamily="34" charset="0"/>
                <a:ea typeface="MS PGothic" panose="020B0600070205080204" pitchFamily="34" charset="-128"/>
              </a:defRPr>
            </a:lvl1pPr>
            <a:lvl2pPr marL="742950" indent="-285750">
              <a:defRPr sz="1600">
                <a:solidFill>
                  <a:schemeClr val="tx1"/>
                </a:solidFill>
                <a:latin typeface="Helvetica" panose="020B0604020202020204" pitchFamily="34" charset="0"/>
                <a:ea typeface="MS PGothic" panose="020B0600070205080204" pitchFamily="34" charset="-128"/>
              </a:defRPr>
            </a:lvl2pPr>
            <a:lvl3pPr marL="1143000" indent="-228600">
              <a:defRPr sz="1600">
                <a:solidFill>
                  <a:schemeClr val="tx1"/>
                </a:solidFill>
                <a:latin typeface="Helvetica" panose="020B0604020202020204" pitchFamily="34" charset="0"/>
                <a:ea typeface="MS PGothic" panose="020B0600070205080204" pitchFamily="34" charset="-128"/>
              </a:defRPr>
            </a:lvl3pPr>
            <a:lvl4pPr marL="1600200" indent="-228600">
              <a:defRPr sz="1600">
                <a:solidFill>
                  <a:schemeClr val="tx1"/>
                </a:solidFill>
                <a:latin typeface="Helvetica" panose="020B0604020202020204" pitchFamily="34" charset="0"/>
                <a:ea typeface="MS PGothic" panose="020B0600070205080204" pitchFamily="34" charset="-128"/>
              </a:defRPr>
            </a:lvl4pPr>
            <a:lvl5pPr marL="2057400" indent="-228600">
              <a:defRPr sz="16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algn="ctr">
              <a:spcBef>
                <a:spcPct val="50000"/>
              </a:spcBef>
              <a:defRPr/>
            </a:pPr>
            <a:r>
              <a:rPr lang="en-US" altLang="en-US" sz="1000" b="1" dirty="0">
                <a:solidFill>
                  <a:srgbClr val="002060"/>
                </a:solidFill>
              </a:rPr>
              <a:t>3.</a:t>
            </a:r>
            <a:fld id="{669DE52E-05EC-4487-BE79-3F9A6A9F8797}" type="slidenum">
              <a:rPr lang="en-US" altLang="en-US" sz="1000" b="1" smtClean="0">
                <a:solidFill>
                  <a:srgbClr val="002060"/>
                </a:solidFill>
              </a:rPr>
              <a:pPr algn="ctr">
                <a:spcBef>
                  <a:spcPct val="50000"/>
                </a:spcBef>
                <a:defRPr/>
              </a:pPr>
              <a:t>‹#›</a:t>
            </a:fld>
            <a:endParaRPr lang="en-US" altLang="en-US" sz="1000" b="1" dirty="0">
              <a:solidFill>
                <a:srgbClr val="002060"/>
              </a:solidFill>
            </a:endParaRPr>
          </a:p>
        </p:txBody>
      </p:sp>
      <p:sp>
        <p:nvSpPr>
          <p:cNvPr id="512006" name="Rectangle 6">
            <a:extLst>
              <a:ext uri="{FF2B5EF4-FFF2-40B4-BE49-F238E27FC236}">
                <a16:creationId xmlns:a16="http://schemas.microsoft.com/office/drawing/2014/main" id="{BFAC4B4C-D3C2-4A14-871E-CC7D45F0769E}"/>
              </a:ext>
            </a:extLst>
          </p:cNvPr>
          <p:cNvSpPr>
            <a:spLocks noGrp="1" noChangeArrowheads="1"/>
          </p:cNvSpPr>
          <p:nvPr>
            <p:ph type="title"/>
          </p:nvPr>
        </p:nvSpPr>
        <p:spPr bwMode="auto">
          <a:xfrm>
            <a:off x="768350" y="11747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31" name="Text Box 7">
            <a:extLst>
              <a:ext uri="{FF2B5EF4-FFF2-40B4-BE49-F238E27FC236}">
                <a16:creationId xmlns:a16="http://schemas.microsoft.com/office/drawing/2014/main" id="{5472E9A1-C06F-4393-872E-7F8100F91627}"/>
              </a:ext>
            </a:extLst>
          </p:cNvPr>
          <p:cNvSpPr txBox="1">
            <a:spLocks noChangeArrowheads="1"/>
          </p:cNvSpPr>
          <p:nvPr/>
        </p:nvSpPr>
        <p:spPr bwMode="auto">
          <a:xfrm>
            <a:off x="0" y="6613525"/>
            <a:ext cx="2571750" cy="244475"/>
          </a:xfrm>
          <a:prstGeom prst="rect">
            <a:avLst/>
          </a:prstGeom>
          <a:noFill/>
          <a:ln>
            <a:noFill/>
          </a:ln>
          <a:extLst>
            <a:ext uri="{909E8E84-426E-40dd-AFC4-6F175D3DCCD1}"/>
            <a:ext uri="{91240B29-F687-4f45-9708-019B960494DF}"/>
          </a:extLst>
        </p:spPr>
        <p:txBody>
          <a:bodyPr wrap="none">
            <a:spAutoFit/>
          </a:bodyPr>
          <a:lstStyle>
            <a:lvl1pPr>
              <a:defRPr sz="1600">
                <a:solidFill>
                  <a:schemeClr val="tx1"/>
                </a:solidFill>
                <a:latin typeface="Helvetica" charset="0"/>
                <a:ea typeface="ＭＳ Ｐゴシック" charset="0"/>
                <a:cs typeface="ＭＳ Ｐゴシック" charset="0"/>
              </a:defRPr>
            </a:lvl1pPr>
            <a:lvl2pPr marL="742950" indent="-285750">
              <a:defRPr sz="1600">
                <a:solidFill>
                  <a:schemeClr val="tx1"/>
                </a:solidFill>
                <a:latin typeface="Helvetica" charset="0"/>
                <a:ea typeface="ＭＳ Ｐゴシック" charset="0"/>
              </a:defRPr>
            </a:lvl2pPr>
            <a:lvl3pPr marL="1143000" indent="-228600">
              <a:defRPr sz="1600">
                <a:solidFill>
                  <a:schemeClr val="tx1"/>
                </a:solidFill>
                <a:latin typeface="Helvetica" charset="0"/>
                <a:ea typeface="ＭＳ Ｐゴシック" charset="0"/>
              </a:defRPr>
            </a:lvl3pPr>
            <a:lvl4pPr marL="1600200" indent="-228600">
              <a:defRPr sz="1600">
                <a:solidFill>
                  <a:schemeClr val="tx1"/>
                </a:solidFill>
                <a:latin typeface="Helvetica" charset="0"/>
                <a:ea typeface="ＭＳ Ｐゴシック" charset="0"/>
              </a:defRPr>
            </a:lvl4pPr>
            <a:lvl5pPr marL="2057400" indent="-228600">
              <a:defRPr sz="1600">
                <a:solidFill>
                  <a:schemeClr val="tx1"/>
                </a:solidFill>
                <a:latin typeface="Helvetica" charset="0"/>
                <a:ea typeface="ＭＳ Ｐゴシック" charset="0"/>
              </a:defRPr>
            </a:lvl5pPr>
            <a:lvl6pPr marL="2514600" indent="-228600" eaLnBrk="0" fontAlgn="base" hangingPunct="0">
              <a:spcBef>
                <a:spcPct val="0"/>
              </a:spcBef>
              <a:spcAft>
                <a:spcPct val="0"/>
              </a:spcAft>
              <a:defRPr sz="1600">
                <a:solidFill>
                  <a:schemeClr val="tx1"/>
                </a:solidFill>
                <a:latin typeface="Helvetica" charset="0"/>
                <a:ea typeface="ＭＳ Ｐゴシック" charset="0"/>
              </a:defRPr>
            </a:lvl6pPr>
            <a:lvl7pPr marL="2971800" indent="-228600" eaLnBrk="0" fontAlgn="base" hangingPunct="0">
              <a:spcBef>
                <a:spcPct val="0"/>
              </a:spcBef>
              <a:spcAft>
                <a:spcPct val="0"/>
              </a:spcAft>
              <a:defRPr sz="1600">
                <a:solidFill>
                  <a:schemeClr val="tx1"/>
                </a:solidFill>
                <a:latin typeface="Helvetica" charset="0"/>
                <a:ea typeface="ＭＳ Ｐゴシック" charset="0"/>
              </a:defRPr>
            </a:lvl7pPr>
            <a:lvl8pPr marL="3429000" indent="-228600" eaLnBrk="0" fontAlgn="base" hangingPunct="0">
              <a:spcBef>
                <a:spcPct val="0"/>
              </a:spcBef>
              <a:spcAft>
                <a:spcPct val="0"/>
              </a:spcAft>
              <a:defRPr sz="1600">
                <a:solidFill>
                  <a:schemeClr val="tx1"/>
                </a:solidFill>
                <a:latin typeface="Helvetica" charset="0"/>
                <a:ea typeface="ＭＳ Ｐゴシック" charset="0"/>
              </a:defRPr>
            </a:lvl8pPr>
            <a:lvl9pPr marL="3886200" indent="-228600" eaLnBrk="0" fontAlgn="base" hangingPunct="0">
              <a:spcBef>
                <a:spcPct val="0"/>
              </a:spcBef>
              <a:spcAft>
                <a:spcPct val="0"/>
              </a:spcAft>
              <a:defRPr sz="1600">
                <a:solidFill>
                  <a:schemeClr val="tx1"/>
                </a:solidFill>
                <a:latin typeface="Helvetica" charset="0"/>
                <a:ea typeface="ＭＳ Ｐゴシック" charset="0"/>
              </a:defRPr>
            </a:lvl9pPr>
          </a:lstStyle>
          <a:p>
            <a:pPr>
              <a:spcBef>
                <a:spcPct val="50000"/>
              </a:spcBef>
              <a:defRPr/>
            </a:pPr>
            <a:r>
              <a:rPr lang="en-US" sz="1000" b="1" dirty="0">
                <a:solidFill>
                  <a:srgbClr val="002060"/>
                </a:solidFill>
              </a:rPr>
              <a:t>Database System Concepts - 7</a:t>
            </a:r>
            <a:r>
              <a:rPr lang="en-US" sz="1000" b="1" baseline="30000" dirty="0">
                <a:solidFill>
                  <a:srgbClr val="002060"/>
                </a:solidFill>
              </a:rPr>
              <a:t>th</a:t>
            </a:r>
            <a:r>
              <a:rPr lang="en-US" sz="1000" b="1" dirty="0">
                <a:solidFill>
                  <a:srgbClr val="002060"/>
                </a:solidFill>
              </a:rPr>
              <a:t> Edition</a:t>
            </a:r>
          </a:p>
        </p:txBody>
      </p:sp>
      <p:sp>
        <p:nvSpPr>
          <p:cNvPr id="1032" name="Freeform 8">
            <a:extLst>
              <a:ext uri="{FF2B5EF4-FFF2-40B4-BE49-F238E27FC236}">
                <a16:creationId xmlns:a16="http://schemas.microsoft.com/office/drawing/2014/main" id="{0362D880-06BD-4D02-876C-3226AC8E6F10}"/>
              </a:ext>
            </a:extLst>
          </p:cNvPr>
          <p:cNvSpPr>
            <a:spLocks/>
          </p:cNvSpPr>
          <p:nvPr/>
        </p:nvSpPr>
        <p:spPr bwMode="auto">
          <a:xfrm>
            <a:off x="8916988" y="5445125"/>
            <a:ext cx="227012" cy="47625"/>
          </a:xfrm>
          <a:custGeom>
            <a:avLst/>
            <a:gdLst>
              <a:gd name="T0" fmla="*/ 0 w 285"/>
              <a:gd name="T1" fmla="*/ 2147483646 h 61"/>
              <a:gd name="T2" fmla="*/ 2147483646 w 285"/>
              <a:gd name="T3" fmla="*/ 2147483646 h 61"/>
              <a:gd name="T4" fmla="*/ 2147483646 w 285"/>
              <a:gd name="T5" fmla="*/ 2147483646 h 61"/>
              <a:gd name="T6" fmla="*/ 2147483646 w 285"/>
              <a:gd name="T7" fmla="*/ 2147483646 h 61"/>
              <a:gd name="T8" fmla="*/ 2147483646 w 285"/>
              <a:gd name="T9" fmla="*/ 2147483646 h 61"/>
              <a:gd name="T10" fmla="*/ 2147483646 w 285"/>
              <a:gd name="T11" fmla="*/ 2147483646 h 61"/>
              <a:gd name="T12" fmla="*/ 2147483646 w 285"/>
              <a:gd name="T13" fmla="*/ 2147483646 h 61"/>
              <a:gd name="T14" fmla="*/ 2147483646 w 285"/>
              <a:gd name="T15" fmla="*/ 2147483646 h 61"/>
              <a:gd name="T16" fmla="*/ 2147483646 w 285"/>
              <a:gd name="T17" fmla="*/ 0 h 61"/>
              <a:gd name="T18" fmla="*/ 2147483646 w 285"/>
              <a:gd name="T19" fmla="*/ 0 h 61"/>
              <a:gd name="T20" fmla="*/ 2147483646 w 285"/>
              <a:gd name="T21" fmla="*/ 0 h 61"/>
              <a:gd name="T22" fmla="*/ 2147483646 w 285"/>
              <a:gd name="T23" fmla="*/ 0 h 61"/>
              <a:gd name="T24" fmla="*/ 2147483646 w 285"/>
              <a:gd name="T25" fmla="*/ 2147483646 h 61"/>
              <a:gd name="T26" fmla="*/ 2147483646 w 285"/>
              <a:gd name="T27" fmla="*/ 2147483646 h 61"/>
              <a:gd name="T28" fmla="*/ 2147483646 w 285"/>
              <a:gd name="T29" fmla="*/ 2147483646 h 61"/>
              <a:gd name="T30" fmla="*/ 2147483646 w 285"/>
              <a:gd name="T31" fmla="*/ 2147483646 h 61"/>
              <a:gd name="T32" fmla="*/ 2147483646 w 285"/>
              <a:gd name="T33" fmla="*/ 2147483646 h 61"/>
              <a:gd name="T34" fmla="*/ 2147483646 w 285"/>
              <a:gd name="T35" fmla="*/ 2147483646 h 61"/>
              <a:gd name="T36" fmla="*/ 2147483646 w 285"/>
              <a:gd name="T37" fmla="*/ 2147483646 h 61"/>
              <a:gd name="T38" fmla="*/ 2147483646 w 285"/>
              <a:gd name="T39" fmla="*/ 2147483646 h 61"/>
              <a:gd name="T40" fmla="*/ 2147483646 w 285"/>
              <a:gd name="T41" fmla="*/ 2147483646 h 61"/>
              <a:gd name="T42" fmla="*/ 2147483646 w 285"/>
              <a:gd name="T43" fmla="*/ 2147483646 h 61"/>
              <a:gd name="T44" fmla="*/ 2147483646 w 285"/>
              <a:gd name="T45" fmla="*/ 2147483646 h 61"/>
              <a:gd name="T46" fmla="*/ 2147483646 w 285"/>
              <a:gd name="T47" fmla="*/ 2147483646 h 61"/>
              <a:gd name="T48" fmla="*/ 2147483646 w 285"/>
              <a:gd name="T49" fmla="*/ 2147483646 h 61"/>
              <a:gd name="T50" fmla="*/ 2147483646 w 285"/>
              <a:gd name="T51" fmla="*/ 2147483646 h 61"/>
              <a:gd name="T52" fmla="*/ 2147483646 w 285"/>
              <a:gd name="T53" fmla="*/ 2147483646 h 61"/>
              <a:gd name="T54" fmla="*/ 2147483646 w 285"/>
              <a:gd name="T55" fmla="*/ 2147483646 h 61"/>
              <a:gd name="T56" fmla="*/ 2147483646 w 285"/>
              <a:gd name="T57" fmla="*/ 2147483646 h 61"/>
              <a:gd name="T58" fmla="*/ 2147483646 w 285"/>
              <a:gd name="T59" fmla="*/ 2147483646 h 61"/>
              <a:gd name="T60" fmla="*/ 2147483646 w 285"/>
              <a:gd name="T61" fmla="*/ 2147483646 h 61"/>
              <a:gd name="T62" fmla="*/ 2147483646 w 285"/>
              <a:gd name="T63" fmla="*/ 2147483646 h 61"/>
              <a:gd name="T64" fmla="*/ 2147483646 w 285"/>
              <a:gd name="T65" fmla="*/ 2147483646 h 61"/>
              <a:gd name="T66" fmla="*/ 2147483646 w 285"/>
              <a:gd name="T67" fmla="*/ 2147483646 h 61"/>
              <a:gd name="T68" fmla="*/ 2147483646 w 285"/>
              <a:gd name="T69" fmla="*/ 2147483646 h 61"/>
              <a:gd name="T70" fmla="*/ 2147483646 w 285"/>
              <a:gd name="T71" fmla="*/ 2147483646 h 61"/>
              <a:gd name="T72" fmla="*/ 2147483646 w 285"/>
              <a:gd name="T73" fmla="*/ 2147483646 h 61"/>
              <a:gd name="T74" fmla="*/ 2147483646 w 285"/>
              <a:gd name="T75" fmla="*/ 2147483646 h 61"/>
              <a:gd name="T76" fmla="*/ 2147483646 w 285"/>
              <a:gd name="T77" fmla="*/ 2147483646 h 61"/>
              <a:gd name="T78" fmla="*/ 2147483646 w 285"/>
              <a:gd name="T79" fmla="*/ 2147483646 h 61"/>
              <a:gd name="T80" fmla="*/ 2147483646 w 285"/>
              <a:gd name="T81" fmla="*/ 2147483646 h 61"/>
              <a:gd name="T82" fmla="*/ 2147483646 w 285"/>
              <a:gd name="T83" fmla="*/ 2147483646 h 61"/>
              <a:gd name="T84" fmla="*/ 2147483646 w 285"/>
              <a:gd name="T85" fmla="*/ 2147483646 h 61"/>
              <a:gd name="T86" fmla="*/ 2147483646 w 285"/>
              <a:gd name="T87" fmla="*/ 2147483646 h 6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5" h="61">
                <a:moveTo>
                  <a:pt x="2" y="61"/>
                </a:moveTo>
                <a:lnTo>
                  <a:pt x="0" y="59"/>
                </a:lnTo>
                <a:lnTo>
                  <a:pt x="0" y="55"/>
                </a:lnTo>
                <a:lnTo>
                  <a:pt x="2" y="48"/>
                </a:lnTo>
                <a:lnTo>
                  <a:pt x="5" y="40"/>
                </a:lnTo>
                <a:lnTo>
                  <a:pt x="9" y="34"/>
                </a:lnTo>
                <a:lnTo>
                  <a:pt x="13" y="31"/>
                </a:lnTo>
                <a:lnTo>
                  <a:pt x="17" y="25"/>
                </a:lnTo>
                <a:lnTo>
                  <a:pt x="24" y="21"/>
                </a:lnTo>
                <a:lnTo>
                  <a:pt x="30" y="17"/>
                </a:lnTo>
                <a:lnTo>
                  <a:pt x="40" y="13"/>
                </a:lnTo>
                <a:lnTo>
                  <a:pt x="45" y="10"/>
                </a:lnTo>
                <a:lnTo>
                  <a:pt x="51" y="8"/>
                </a:lnTo>
                <a:lnTo>
                  <a:pt x="57" y="6"/>
                </a:lnTo>
                <a:lnTo>
                  <a:pt x="64" y="6"/>
                </a:lnTo>
                <a:lnTo>
                  <a:pt x="70" y="2"/>
                </a:lnTo>
                <a:lnTo>
                  <a:pt x="78" y="2"/>
                </a:lnTo>
                <a:lnTo>
                  <a:pt x="85" y="0"/>
                </a:lnTo>
                <a:lnTo>
                  <a:pt x="93" y="0"/>
                </a:lnTo>
                <a:lnTo>
                  <a:pt x="100" y="0"/>
                </a:lnTo>
                <a:lnTo>
                  <a:pt x="110" y="0"/>
                </a:lnTo>
                <a:lnTo>
                  <a:pt x="118" y="0"/>
                </a:lnTo>
                <a:lnTo>
                  <a:pt x="129" y="0"/>
                </a:lnTo>
                <a:lnTo>
                  <a:pt x="137" y="0"/>
                </a:lnTo>
                <a:lnTo>
                  <a:pt x="146" y="2"/>
                </a:lnTo>
                <a:lnTo>
                  <a:pt x="154" y="2"/>
                </a:lnTo>
                <a:lnTo>
                  <a:pt x="163" y="4"/>
                </a:lnTo>
                <a:lnTo>
                  <a:pt x="173" y="6"/>
                </a:lnTo>
                <a:lnTo>
                  <a:pt x="182" y="8"/>
                </a:lnTo>
                <a:lnTo>
                  <a:pt x="192" y="8"/>
                </a:lnTo>
                <a:lnTo>
                  <a:pt x="201" y="12"/>
                </a:lnTo>
                <a:lnTo>
                  <a:pt x="209" y="12"/>
                </a:lnTo>
                <a:lnTo>
                  <a:pt x="216" y="13"/>
                </a:lnTo>
                <a:lnTo>
                  <a:pt x="224" y="15"/>
                </a:lnTo>
                <a:lnTo>
                  <a:pt x="234" y="17"/>
                </a:lnTo>
                <a:lnTo>
                  <a:pt x="239" y="19"/>
                </a:lnTo>
                <a:lnTo>
                  <a:pt x="247" y="21"/>
                </a:lnTo>
                <a:lnTo>
                  <a:pt x="254" y="23"/>
                </a:lnTo>
                <a:lnTo>
                  <a:pt x="260" y="25"/>
                </a:lnTo>
                <a:lnTo>
                  <a:pt x="266" y="25"/>
                </a:lnTo>
                <a:lnTo>
                  <a:pt x="270" y="27"/>
                </a:lnTo>
                <a:lnTo>
                  <a:pt x="273" y="27"/>
                </a:lnTo>
                <a:lnTo>
                  <a:pt x="279" y="29"/>
                </a:lnTo>
                <a:lnTo>
                  <a:pt x="283" y="31"/>
                </a:lnTo>
                <a:lnTo>
                  <a:pt x="285" y="32"/>
                </a:lnTo>
                <a:lnTo>
                  <a:pt x="279" y="44"/>
                </a:lnTo>
                <a:lnTo>
                  <a:pt x="277" y="44"/>
                </a:lnTo>
                <a:lnTo>
                  <a:pt x="273" y="42"/>
                </a:lnTo>
                <a:lnTo>
                  <a:pt x="268" y="42"/>
                </a:lnTo>
                <a:lnTo>
                  <a:pt x="260" y="40"/>
                </a:lnTo>
                <a:lnTo>
                  <a:pt x="251" y="38"/>
                </a:lnTo>
                <a:lnTo>
                  <a:pt x="241" y="36"/>
                </a:lnTo>
                <a:lnTo>
                  <a:pt x="235" y="34"/>
                </a:lnTo>
                <a:lnTo>
                  <a:pt x="230" y="34"/>
                </a:lnTo>
                <a:lnTo>
                  <a:pt x="224" y="32"/>
                </a:lnTo>
                <a:lnTo>
                  <a:pt x="218" y="32"/>
                </a:lnTo>
                <a:lnTo>
                  <a:pt x="213" y="31"/>
                </a:lnTo>
                <a:lnTo>
                  <a:pt x="207" y="31"/>
                </a:lnTo>
                <a:lnTo>
                  <a:pt x="201" y="29"/>
                </a:lnTo>
                <a:lnTo>
                  <a:pt x="196" y="29"/>
                </a:lnTo>
                <a:lnTo>
                  <a:pt x="190" y="27"/>
                </a:lnTo>
                <a:lnTo>
                  <a:pt x="182" y="27"/>
                </a:lnTo>
                <a:lnTo>
                  <a:pt x="178" y="25"/>
                </a:lnTo>
                <a:lnTo>
                  <a:pt x="173" y="25"/>
                </a:lnTo>
                <a:lnTo>
                  <a:pt x="167" y="23"/>
                </a:lnTo>
                <a:lnTo>
                  <a:pt x="163" y="23"/>
                </a:lnTo>
                <a:lnTo>
                  <a:pt x="158" y="21"/>
                </a:lnTo>
                <a:lnTo>
                  <a:pt x="154" y="21"/>
                </a:lnTo>
                <a:lnTo>
                  <a:pt x="148" y="19"/>
                </a:lnTo>
                <a:lnTo>
                  <a:pt x="142" y="19"/>
                </a:lnTo>
                <a:lnTo>
                  <a:pt x="144" y="48"/>
                </a:lnTo>
                <a:lnTo>
                  <a:pt x="110" y="15"/>
                </a:lnTo>
                <a:lnTo>
                  <a:pt x="118" y="48"/>
                </a:lnTo>
                <a:lnTo>
                  <a:pt x="83" y="21"/>
                </a:lnTo>
                <a:lnTo>
                  <a:pt x="91" y="48"/>
                </a:lnTo>
                <a:lnTo>
                  <a:pt x="59" y="29"/>
                </a:lnTo>
                <a:lnTo>
                  <a:pt x="57" y="29"/>
                </a:lnTo>
                <a:lnTo>
                  <a:pt x="53" y="31"/>
                </a:lnTo>
                <a:lnTo>
                  <a:pt x="49" y="31"/>
                </a:lnTo>
                <a:lnTo>
                  <a:pt x="43" y="34"/>
                </a:lnTo>
                <a:lnTo>
                  <a:pt x="38" y="36"/>
                </a:lnTo>
                <a:lnTo>
                  <a:pt x="32" y="38"/>
                </a:lnTo>
                <a:lnTo>
                  <a:pt x="26" y="42"/>
                </a:lnTo>
                <a:lnTo>
                  <a:pt x="23" y="44"/>
                </a:lnTo>
                <a:lnTo>
                  <a:pt x="15" y="50"/>
                </a:lnTo>
                <a:lnTo>
                  <a:pt x="7" y="55"/>
                </a:lnTo>
                <a:lnTo>
                  <a:pt x="4" y="59"/>
                </a:lnTo>
                <a:lnTo>
                  <a:pt x="2" y="6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pic>
        <p:nvPicPr>
          <p:cNvPr id="10" name="Picture 8" descr="Cover-6Ed"/>
          <p:cNvPicPr>
            <a:picLocks noChangeAspect="1" noChangeArrowheads="1"/>
          </p:cNvPicPr>
          <p:nvPr userDrawn="1"/>
        </p:nvPicPr>
        <p:blipFill>
          <a:blip r:embed="rId14"/>
          <a:stretch>
            <a:fillRect/>
          </a:stretch>
        </p:blipFill>
        <p:spPr bwMode="auto">
          <a:xfrm>
            <a:off x="5546" y="0"/>
            <a:ext cx="742012" cy="9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61"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Lst>
  <p:txStyles>
    <p:titleStyle>
      <a:lvl1pPr algn="ctr" rtl="0" eaLnBrk="0" fontAlgn="base" hangingPunct="0">
        <a:spcBef>
          <a:spcPct val="0"/>
        </a:spcBef>
        <a:spcAft>
          <a:spcPct val="0"/>
        </a:spcAft>
        <a:defRPr kumimoji="1" sz="2800" b="1">
          <a:solidFill>
            <a:srgbClr val="002060"/>
          </a:solidFill>
          <a:effectLst>
            <a:outerShdw blurRad="38100" dist="38100" dir="2700000" algn="tl">
              <a:srgbClr val="DDDDDD"/>
            </a:outerShdw>
          </a:effectLst>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ea typeface="MS PGothic" panose="020B0600070205080204" pitchFamily="34" charset="-128"/>
          <a:cs typeface="ＭＳ Ｐゴシック"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DDDDDD"/>
            </a:outerShdw>
          </a:effectLst>
          <a:latin typeface="Helvetica" charset="0"/>
        </a:defRPr>
      </a:lvl9pPr>
    </p:titleStyle>
    <p:bodyStyle>
      <a:lvl1pPr marL="342900" indent="-342900" algn="l" rtl="0" eaLnBrk="0" fontAlgn="base" hangingPunct="0">
        <a:spcBef>
          <a:spcPct val="35000"/>
        </a:spcBef>
        <a:spcAft>
          <a:spcPct val="0"/>
        </a:spcAft>
        <a:buClr>
          <a:srgbClr val="002060"/>
        </a:buClr>
        <a:buSzPct val="100000"/>
        <a:buFont typeface="Monotype Sorts" pitchFamily="-65" charset="2"/>
        <a:buChar char="n"/>
        <a:defRPr kumimoji="1" sz="1700">
          <a:solidFill>
            <a:schemeClr val="tx1"/>
          </a:solidFill>
          <a:latin typeface="+mn-lt"/>
          <a:ea typeface="MS PGothic" panose="020B0600070205080204" pitchFamily="34" charset="-128"/>
          <a:cs typeface="ＭＳ Ｐゴシック" charset="0"/>
        </a:defRPr>
      </a:lvl1pPr>
      <a:lvl2pPr marL="742950" indent="-285750" algn="l" rtl="0" eaLnBrk="0" fontAlgn="base" hangingPunct="0">
        <a:spcBef>
          <a:spcPct val="35000"/>
        </a:spcBef>
        <a:spcAft>
          <a:spcPct val="0"/>
        </a:spcAft>
        <a:buClr>
          <a:schemeClr val="folHlink"/>
        </a:buClr>
        <a:buSzPct val="95000"/>
        <a:buFont typeface="Monotype Sorts" pitchFamily="-65" charset="2"/>
        <a:buChar char="l"/>
        <a:defRPr kumimoji="1" sz="1700">
          <a:solidFill>
            <a:schemeClr val="tx1"/>
          </a:solidFill>
          <a:latin typeface="+mn-lt"/>
          <a:ea typeface="MS PGothic" panose="020B0600070205080204" pitchFamily="34" charset="-128"/>
        </a:defRPr>
      </a:lvl2pPr>
      <a:lvl3pPr marL="1085850" indent="-228600" algn="l" rtl="0" eaLnBrk="0" fontAlgn="base" hangingPunct="0">
        <a:spcBef>
          <a:spcPct val="35000"/>
        </a:spcBef>
        <a:spcAft>
          <a:spcPct val="0"/>
        </a:spcAft>
        <a:buClr>
          <a:srgbClr val="33CC33"/>
        </a:buClr>
        <a:buSzPct val="85000"/>
        <a:buFont typeface="Webdings" panose="05030102010509060703" pitchFamily="18" charset="2"/>
        <a:buChar char="4"/>
        <a:defRPr kumimoji="1" sz="1700">
          <a:solidFill>
            <a:schemeClr val="tx1"/>
          </a:solidFill>
          <a:latin typeface="+mn-lt"/>
          <a:ea typeface="MS PGothic" panose="020B0600070205080204" pitchFamily="34" charset="-128"/>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sz="1700">
          <a:solidFill>
            <a:schemeClr val="tx1"/>
          </a:solidFill>
          <a:latin typeface="+mn-lt"/>
          <a:ea typeface="MS PGothic" panose="020B0600070205080204" pitchFamily="34" charset="-128"/>
        </a:defRPr>
      </a:lvl4pPr>
      <a:lvl5pPr marL="1771650" indent="-228600" algn="l" rtl="0" eaLnBrk="0" fontAlgn="base" hangingPunct="0">
        <a:spcBef>
          <a:spcPct val="35000"/>
        </a:spcBef>
        <a:spcAft>
          <a:spcPct val="0"/>
        </a:spcAft>
        <a:buClr>
          <a:schemeClr val="tx2"/>
        </a:buClr>
        <a:buSzPct val="75000"/>
        <a:buChar char="»"/>
        <a:defRPr kumimoji="1" sz="1700">
          <a:solidFill>
            <a:schemeClr val="tx1"/>
          </a:solidFill>
          <a:latin typeface="+mn-lt"/>
          <a:ea typeface="MS PGothic" panose="020B0600070205080204" pitchFamily="34" charset="-128"/>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2386" name="Rectangle 2">
            <a:extLst>
              <a:ext uri="{FF2B5EF4-FFF2-40B4-BE49-F238E27FC236}">
                <a16:creationId xmlns:a16="http://schemas.microsoft.com/office/drawing/2014/main" id="{1CB68582-BBE2-4F64-8E5F-7C76410784FB}"/>
              </a:ext>
            </a:extLst>
          </p:cNvPr>
          <p:cNvSpPr>
            <a:spLocks noGrp="1" noChangeArrowheads="1"/>
          </p:cNvSpPr>
          <p:nvPr>
            <p:ph type="ctrTitle"/>
          </p:nvPr>
        </p:nvSpPr>
        <p:spPr/>
        <p:txBody>
          <a:bodyPr/>
          <a:lstStyle/>
          <a:p>
            <a:pPr>
              <a:defRPr/>
            </a:pPr>
            <a:r>
              <a:rPr lang="en-US" altLang="en-US" dirty="0" smtClean="0">
                <a:effectLst>
                  <a:outerShdw blurRad="38100" dist="38100" dir="2700000" algn="tl">
                    <a:srgbClr val="C0C0C0"/>
                  </a:outerShdw>
                </a:effectLst>
              </a:rPr>
              <a:t>Introduction </a:t>
            </a:r>
            <a:r>
              <a:rPr lang="en-US" altLang="en-US" dirty="0">
                <a:effectLst>
                  <a:outerShdw blurRad="38100" dist="38100" dir="2700000" algn="tl">
                    <a:srgbClr val="C0C0C0"/>
                  </a:outerShdw>
                </a:effectLst>
              </a:rPr>
              <a:t>to </a:t>
            </a:r>
            <a:r>
              <a:rPr lang="en-US" altLang="en-US" dirty="0" smtClean="0">
                <a:effectLst>
                  <a:outerShdw blurRad="38100" dist="38100" dir="2700000" algn="tl">
                    <a:srgbClr val="C0C0C0"/>
                  </a:outerShdw>
                </a:effectLst>
              </a:rPr>
              <a:t>SQL</a:t>
            </a:r>
            <a:br>
              <a:rPr lang="en-US" altLang="en-US" dirty="0" smtClean="0">
                <a:effectLst>
                  <a:outerShdw blurRad="38100" dist="38100" dir="2700000" algn="tl">
                    <a:srgbClr val="C0C0C0"/>
                  </a:outerShdw>
                </a:effectLst>
              </a:rPr>
            </a:br>
            <a:r>
              <a:rPr lang="en-US" dirty="0">
                <a:effectLst/>
              </a:rPr>
              <a:t>Advanced Relational Algebra and SQL </a:t>
            </a:r>
            <a:endParaRPr lang="en-US" altLang="en-US" dirty="0">
              <a:effectLst>
                <a:outerShdw blurRad="38100" dist="38100" dir="2700000" algn="tl">
                  <a:srgbClr val="C0C0C0"/>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p:txBody>
          <a:bodyPr lIns="90488" tIns="44450" rIns="90488" bIns="44450" anchor="ctr"/>
          <a:lstStyle/>
          <a:p>
            <a:r>
              <a:rPr lang="en-US" altLang="en-US" sz="2800" dirty="0"/>
              <a:t>Outline</a:t>
            </a:r>
          </a:p>
        </p:txBody>
      </p:sp>
      <p:sp>
        <p:nvSpPr>
          <p:cNvPr id="5122" name="Rectangle 3"/>
          <p:cNvSpPr>
            <a:spLocks noGrp="1" noChangeArrowheads="1"/>
          </p:cNvSpPr>
          <p:nvPr>
            <p:ph type="body" idx="1"/>
          </p:nvPr>
        </p:nvSpPr>
        <p:spPr>
          <a:xfrm>
            <a:off x="768351" y="1127464"/>
            <a:ext cx="7205218" cy="3542072"/>
          </a:xfrm>
        </p:spPr>
        <p:txBody>
          <a:bodyPr lIns="90488" tIns="44450" rIns="90488" bIns="44450"/>
          <a:lstStyle/>
          <a:p>
            <a:r>
              <a:rPr lang="en-US" altLang="en-US" sz="1700" smtClean="0"/>
              <a:t>Nested </a:t>
            </a:r>
            <a:r>
              <a:rPr lang="en-US" altLang="en-US" sz="1700" dirty="0"/>
              <a:t>Subqueries</a:t>
            </a:r>
          </a:p>
          <a:p>
            <a:r>
              <a:rPr lang="en-US" altLang="en-US" sz="1700" dirty="0"/>
              <a:t>Modification of the Database</a:t>
            </a:r>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a:lstStyle/>
          <a:p>
            <a:r>
              <a:rPr lang="en-US" altLang="en-US" sz="2800" dirty="0"/>
              <a:t>Subqueries in the Form Clause</a:t>
            </a:r>
          </a:p>
        </p:txBody>
      </p:sp>
      <p:sp>
        <p:nvSpPr>
          <p:cNvPr id="44034" name="Rectangle 3"/>
          <p:cNvSpPr>
            <a:spLocks noGrp="1" noChangeArrowheads="1"/>
          </p:cNvSpPr>
          <p:nvPr>
            <p:ph type="body" idx="1"/>
          </p:nvPr>
        </p:nvSpPr>
        <p:spPr>
          <a:xfrm>
            <a:off x="768350" y="1069912"/>
            <a:ext cx="7443495" cy="4876800"/>
          </a:xfrm>
        </p:spPr>
        <p:txBody>
          <a:bodyPr/>
          <a:lstStyle/>
          <a:p>
            <a:pPr>
              <a:tabLst>
                <a:tab pos="1146175" algn="l"/>
                <a:tab pos="1608138" algn="l"/>
                <a:tab pos="1711325" algn="l"/>
              </a:tabLst>
            </a:pPr>
            <a:r>
              <a:rPr lang="en-US" altLang="en-US" sz="1700" dirty="0"/>
              <a:t>SQL allows a subquery expression to be used in the </a:t>
            </a:r>
            <a:r>
              <a:rPr lang="en-US" altLang="en-US" sz="1700" b="1" dirty="0"/>
              <a:t>from </a:t>
            </a:r>
            <a:r>
              <a:rPr lang="en-US" altLang="en-US" sz="1700" dirty="0"/>
              <a:t>clause</a:t>
            </a:r>
          </a:p>
          <a:p>
            <a:pPr>
              <a:tabLst>
                <a:tab pos="1146175" algn="l"/>
                <a:tab pos="1608138" algn="l"/>
                <a:tab pos="1711325" algn="l"/>
              </a:tabLst>
            </a:pPr>
            <a:r>
              <a:rPr lang="en-US" altLang="en-US" sz="1700" dirty="0"/>
              <a:t>Find the average instructors’ salaries of those departments where the average salary is greater than $42,000.”</a:t>
            </a:r>
          </a:p>
          <a:p>
            <a:pPr lvl="1">
              <a:buFont typeface="Monotype Sorts" charset="2"/>
              <a:buNone/>
              <a:tabLst>
                <a:tab pos="1146175" algn="l"/>
                <a:tab pos="1608138" algn="l"/>
                <a:tab pos="1711325" algn="l"/>
              </a:tabLst>
            </a:pPr>
            <a:r>
              <a:rPr lang="en-US" altLang="en-US" sz="1700" b="1" dirty="0"/>
              <a:t>     select </a:t>
            </a:r>
            <a:r>
              <a:rPr lang="en-US" altLang="en-US" sz="1700" i="1" dirty="0"/>
              <a:t>dept_name</a:t>
            </a:r>
            <a:r>
              <a:rPr lang="en-US" altLang="en-US" sz="1700" dirty="0"/>
              <a:t>, </a:t>
            </a:r>
            <a:r>
              <a:rPr lang="en-US" altLang="en-US" sz="1700" i="1" dirty="0" err="1"/>
              <a:t>avg_salary</a:t>
            </a:r>
            <a:r>
              <a:rPr lang="en-US" altLang="en-US" sz="1700" i="1" dirty="0"/>
              <a:t/>
            </a:r>
            <a:br>
              <a:rPr lang="en-US" altLang="en-US" sz="1700" i="1" dirty="0"/>
            </a:br>
            <a:r>
              <a:rPr lang="en-US" altLang="en-US" sz="1700" b="1" dirty="0"/>
              <a:t>from </a:t>
            </a:r>
            <a:r>
              <a:rPr lang="en-US" altLang="en-US" sz="1700" dirty="0"/>
              <a:t>( </a:t>
            </a:r>
            <a:r>
              <a:rPr lang="en-US" altLang="en-US" sz="1700" b="1" dirty="0"/>
              <a:t>select </a:t>
            </a:r>
            <a:r>
              <a:rPr lang="en-US" altLang="en-US" sz="1700" i="1" dirty="0"/>
              <a:t>dept_name</a:t>
            </a:r>
            <a:r>
              <a:rPr lang="en-US" altLang="en-US" sz="1700" dirty="0"/>
              <a:t>, </a:t>
            </a:r>
            <a:r>
              <a:rPr lang="en-US" altLang="en-US" sz="1700" b="1" dirty="0" err="1"/>
              <a:t>avg</a:t>
            </a:r>
            <a:r>
              <a:rPr lang="en-US" altLang="en-US" sz="1700" b="1" dirty="0"/>
              <a:t> </a:t>
            </a:r>
            <a:r>
              <a:rPr lang="en-US" altLang="en-US" sz="1700" dirty="0"/>
              <a:t>(</a:t>
            </a:r>
            <a:r>
              <a:rPr lang="en-US" altLang="en-US" sz="1700" i="1" dirty="0"/>
              <a:t>salary</a:t>
            </a:r>
            <a:r>
              <a:rPr lang="en-US" altLang="en-US" sz="1700" dirty="0"/>
              <a:t>) </a:t>
            </a:r>
            <a:r>
              <a:rPr lang="en-US" altLang="en-US" sz="1700" b="1" dirty="0"/>
              <a:t>as </a:t>
            </a:r>
            <a:r>
              <a:rPr lang="en-US" altLang="en-US" sz="1700" i="1" dirty="0" err="1"/>
              <a:t>avg_salary</a:t>
            </a:r>
            <a:r>
              <a:rPr lang="en-US" altLang="en-US" sz="1700" i="1" dirty="0"/>
              <a:t/>
            </a:r>
            <a:br>
              <a:rPr lang="en-US" altLang="en-US" sz="1700" i="1" dirty="0"/>
            </a:br>
            <a:r>
              <a:rPr lang="en-US" altLang="en-US" sz="1700" i="1" dirty="0"/>
              <a:t>           </a:t>
            </a:r>
            <a:r>
              <a:rPr lang="en-US" altLang="en-US" sz="1700" b="1" dirty="0"/>
              <a:t>from </a:t>
            </a:r>
            <a:r>
              <a:rPr lang="en-US" altLang="en-US" sz="1700" i="1" dirty="0"/>
              <a:t>instructor</a:t>
            </a:r>
            <a:br>
              <a:rPr lang="en-US" altLang="en-US" sz="1700" i="1" dirty="0"/>
            </a:br>
            <a:r>
              <a:rPr lang="en-US" altLang="en-US" sz="1700" i="1" dirty="0"/>
              <a:t>           </a:t>
            </a:r>
            <a:r>
              <a:rPr lang="en-US" altLang="en-US" sz="1700" b="1" dirty="0"/>
              <a:t>group by </a:t>
            </a:r>
            <a:r>
              <a:rPr lang="en-US" altLang="en-US" sz="1700" i="1" dirty="0"/>
              <a:t>dept_name</a:t>
            </a:r>
            <a:r>
              <a:rPr lang="en-US" altLang="en-US" sz="1700" dirty="0"/>
              <a:t>)</a:t>
            </a:r>
            <a:br>
              <a:rPr lang="en-US" altLang="en-US" sz="1700" dirty="0"/>
            </a:br>
            <a:r>
              <a:rPr lang="en-US" altLang="en-US" sz="1700" b="1" dirty="0"/>
              <a:t>where </a:t>
            </a:r>
            <a:r>
              <a:rPr lang="en-US" altLang="en-US" sz="1700" i="1" dirty="0" err="1"/>
              <a:t>avg_salary</a:t>
            </a:r>
            <a:r>
              <a:rPr lang="en-US" altLang="en-US" sz="1700" i="1" dirty="0"/>
              <a:t> </a:t>
            </a:r>
            <a:r>
              <a:rPr lang="en-US" altLang="en-US" sz="1700" dirty="0"/>
              <a:t>&gt; 42000;</a:t>
            </a:r>
          </a:p>
          <a:p>
            <a:pPr>
              <a:tabLst>
                <a:tab pos="1146175" algn="l"/>
                <a:tab pos="1608138" algn="l"/>
                <a:tab pos="1711325" algn="l"/>
              </a:tabLst>
            </a:pPr>
            <a:r>
              <a:rPr lang="en-US" altLang="en-US" sz="1700" dirty="0"/>
              <a:t>Note that we do not need to use the </a:t>
            </a:r>
            <a:r>
              <a:rPr lang="en-US" altLang="en-US" sz="1700" b="1" dirty="0"/>
              <a:t>having </a:t>
            </a:r>
            <a:r>
              <a:rPr lang="en-US" altLang="en-US" sz="1700" dirty="0"/>
              <a:t>clause</a:t>
            </a:r>
          </a:p>
          <a:p>
            <a:pPr>
              <a:tabLst>
                <a:tab pos="1146175" algn="l"/>
                <a:tab pos="1608138" algn="l"/>
                <a:tab pos="1711325" algn="l"/>
              </a:tabLst>
            </a:pPr>
            <a:r>
              <a:rPr lang="en-US" altLang="en-US" sz="1700" dirty="0"/>
              <a:t>Another way to write above query</a:t>
            </a:r>
          </a:p>
          <a:p>
            <a:pPr marL="0" indent="0">
              <a:buNone/>
              <a:tabLst>
                <a:tab pos="1146175" algn="l"/>
                <a:tab pos="1608138" algn="l"/>
                <a:tab pos="1711325" algn="l"/>
              </a:tabLst>
            </a:pPr>
            <a:r>
              <a:rPr lang="en-US" altLang="en-US" sz="800" dirty="0"/>
              <a:t> </a:t>
            </a:r>
          </a:p>
          <a:p>
            <a:pPr lvl="1">
              <a:spcBef>
                <a:spcPts val="0"/>
              </a:spcBef>
              <a:buFont typeface="Monotype Sorts" charset="2"/>
              <a:buNone/>
              <a:tabLst>
                <a:tab pos="1146175" algn="l"/>
                <a:tab pos="1608138" algn="l"/>
                <a:tab pos="1711325" algn="l"/>
              </a:tabLst>
            </a:pPr>
            <a:r>
              <a:rPr lang="en-US" altLang="en-US" sz="1700" b="1" dirty="0"/>
              <a:t>     select </a:t>
            </a:r>
            <a:r>
              <a:rPr lang="en-US" altLang="en-US" sz="1700" i="1" dirty="0"/>
              <a:t>dept_name</a:t>
            </a:r>
            <a:r>
              <a:rPr lang="en-US" altLang="en-US" sz="1700" dirty="0"/>
              <a:t>, </a:t>
            </a:r>
            <a:r>
              <a:rPr lang="en-US" altLang="en-US" sz="1700" i="1" dirty="0" err="1"/>
              <a:t>avg_salary</a:t>
            </a:r>
            <a:r>
              <a:rPr lang="en-US" altLang="en-US" sz="1700" i="1" dirty="0"/>
              <a:t/>
            </a:r>
            <a:br>
              <a:rPr lang="en-US" altLang="en-US" sz="1700" i="1" dirty="0"/>
            </a:br>
            <a:r>
              <a:rPr lang="en-US" altLang="en-US" sz="1700" b="1" dirty="0"/>
              <a:t>from </a:t>
            </a:r>
            <a:r>
              <a:rPr lang="en-US" altLang="en-US" sz="1700" dirty="0"/>
              <a:t>( </a:t>
            </a:r>
            <a:r>
              <a:rPr lang="en-US" altLang="en-US" sz="1700" b="1" dirty="0"/>
              <a:t>select </a:t>
            </a:r>
            <a:r>
              <a:rPr lang="en-US" altLang="en-US" sz="1700" i="1" dirty="0"/>
              <a:t>dept_name</a:t>
            </a:r>
            <a:r>
              <a:rPr lang="en-US" altLang="en-US" sz="1700" dirty="0"/>
              <a:t>, </a:t>
            </a:r>
            <a:r>
              <a:rPr lang="en-US" altLang="en-US" sz="1700" b="1" dirty="0" err="1"/>
              <a:t>avg</a:t>
            </a:r>
            <a:r>
              <a:rPr lang="en-US" altLang="en-US" sz="1700" b="1" dirty="0"/>
              <a:t> </a:t>
            </a:r>
            <a:r>
              <a:rPr lang="en-US" altLang="en-US" sz="1700" dirty="0"/>
              <a:t>(</a:t>
            </a:r>
            <a:r>
              <a:rPr lang="en-US" altLang="en-US" sz="1700" i="1" dirty="0"/>
              <a:t>salary</a:t>
            </a:r>
            <a:r>
              <a:rPr lang="en-US" altLang="en-US" sz="1700" dirty="0"/>
              <a:t>) </a:t>
            </a:r>
            <a:r>
              <a:rPr lang="en-US" altLang="en-US" sz="1700" i="1" dirty="0"/>
              <a:t/>
            </a:r>
            <a:br>
              <a:rPr lang="en-US" altLang="en-US" sz="1700" i="1" dirty="0"/>
            </a:br>
            <a:r>
              <a:rPr lang="en-US" altLang="en-US" sz="1700" i="1" dirty="0"/>
              <a:t>           </a:t>
            </a:r>
            <a:r>
              <a:rPr lang="en-US" altLang="en-US" sz="1700" b="1" dirty="0"/>
              <a:t>from </a:t>
            </a:r>
            <a:r>
              <a:rPr lang="en-US" altLang="en-US" sz="1700" i="1" dirty="0"/>
              <a:t>instructor</a:t>
            </a:r>
            <a:br>
              <a:rPr lang="en-US" altLang="en-US" sz="1700" i="1" dirty="0"/>
            </a:br>
            <a:r>
              <a:rPr lang="en-US" altLang="en-US" sz="1700" i="1" dirty="0"/>
              <a:t>           </a:t>
            </a:r>
            <a:r>
              <a:rPr lang="en-US" altLang="en-US" sz="1700" b="1" dirty="0"/>
              <a:t>group by </a:t>
            </a:r>
            <a:r>
              <a:rPr lang="en-US" altLang="en-US" sz="1700" i="1" dirty="0"/>
              <a:t>dept_name</a:t>
            </a:r>
            <a:r>
              <a:rPr lang="en-US" altLang="en-US" sz="1700" dirty="0"/>
              <a:t>) </a:t>
            </a:r>
          </a:p>
          <a:p>
            <a:pPr lvl="1">
              <a:spcBef>
                <a:spcPts val="0"/>
              </a:spcBef>
              <a:buFont typeface="Monotype Sorts" charset="2"/>
              <a:buNone/>
              <a:tabLst>
                <a:tab pos="1146175" algn="l"/>
                <a:tab pos="1608138" algn="l"/>
                <a:tab pos="1711325" algn="l"/>
              </a:tabLst>
            </a:pPr>
            <a:r>
              <a:rPr lang="en-US" altLang="en-US" sz="1700" b="1" dirty="0"/>
              <a:t>                as </a:t>
            </a:r>
            <a:r>
              <a:rPr lang="en-US" altLang="en-US" sz="1700" i="1" dirty="0" err="1"/>
              <a:t>dept_avg</a:t>
            </a:r>
            <a:r>
              <a:rPr lang="en-US" altLang="en-US" sz="1700" i="1" dirty="0"/>
              <a:t> </a:t>
            </a:r>
            <a:r>
              <a:rPr lang="en-US" altLang="en-US" sz="1700" dirty="0"/>
              <a:t>(</a:t>
            </a:r>
            <a:r>
              <a:rPr lang="en-US" altLang="en-US" sz="1700" i="1" dirty="0"/>
              <a:t>dept_name</a:t>
            </a:r>
            <a:r>
              <a:rPr lang="en-US" altLang="en-US" sz="1700" dirty="0"/>
              <a:t>, </a:t>
            </a:r>
            <a:r>
              <a:rPr lang="en-US" altLang="en-US" sz="1700" i="1" dirty="0" err="1"/>
              <a:t>avg_salary</a:t>
            </a:r>
            <a:r>
              <a:rPr lang="en-US" altLang="en-US" sz="1700" dirty="0"/>
              <a:t>)</a:t>
            </a:r>
          </a:p>
          <a:p>
            <a:pPr lvl="1">
              <a:spcBef>
                <a:spcPts val="0"/>
              </a:spcBef>
              <a:buFont typeface="Monotype Sorts" charset="2"/>
              <a:buNone/>
              <a:tabLst>
                <a:tab pos="1146175" algn="l"/>
                <a:tab pos="1608138" algn="l"/>
                <a:tab pos="1711325" algn="l"/>
              </a:tabLst>
            </a:pPr>
            <a:r>
              <a:rPr lang="en-US" altLang="en-US" sz="1700" b="1" dirty="0"/>
              <a:t>    where </a:t>
            </a:r>
            <a:r>
              <a:rPr lang="en-US" altLang="en-US" sz="1700" i="1" dirty="0" err="1"/>
              <a:t>avg_salary</a:t>
            </a:r>
            <a:r>
              <a:rPr lang="en-US" altLang="en-US" sz="1700" i="1" dirty="0"/>
              <a:t> </a:t>
            </a:r>
            <a:r>
              <a:rPr lang="en-US" altLang="en-US" sz="1700" dirty="0"/>
              <a:t>&gt; 42000;</a:t>
            </a:r>
          </a:p>
          <a:p>
            <a:pPr>
              <a:tabLst>
                <a:tab pos="1146175" algn="l"/>
                <a:tab pos="1608138" algn="l"/>
                <a:tab pos="1711325" algn="l"/>
              </a:tabLst>
            </a:pPr>
            <a:endParaRPr lang="en-US" altLang="en-US" dirty="0"/>
          </a:p>
          <a:p>
            <a:pPr>
              <a:buFont typeface="Monotype Sorts" charset="2"/>
              <a:buNone/>
              <a:tabLst>
                <a:tab pos="1146175" algn="l"/>
                <a:tab pos="1608138" algn="l"/>
                <a:tab pos="1711325" algn="l"/>
              </a:tabLst>
            </a:pPr>
            <a:endParaRPr lang="en-US" altLang="en-US" dirty="0"/>
          </a:p>
        </p:txBody>
      </p:sp>
      <p:sp>
        <p:nvSpPr>
          <p:cNvPr id="2" name="Rectangle 1"/>
          <p:cNvSpPr/>
          <p:nvPr/>
        </p:nvSpPr>
        <p:spPr>
          <a:xfrm>
            <a:off x="5739105" y="1595071"/>
            <a:ext cx="3404895" cy="830997"/>
          </a:xfrm>
          <a:prstGeom prst="rect">
            <a:avLst/>
          </a:prstGeom>
        </p:spPr>
        <p:txBody>
          <a:bodyPr wrap="square">
            <a:spAutoFit/>
          </a:bodyPr>
          <a:lstStyle/>
          <a:p>
            <a:r>
              <a:rPr lang="en-US" altLang="en-US" sz="1200" b="1" dirty="0"/>
              <a:t>select </a:t>
            </a:r>
            <a:r>
              <a:rPr lang="en-US" altLang="en-US" sz="1200" i="1" dirty="0" err="1"/>
              <a:t>dept_name</a:t>
            </a:r>
            <a:r>
              <a:rPr lang="en-US" altLang="en-US" sz="1200" dirty="0"/>
              <a:t>, </a:t>
            </a:r>
            <a:r>
              <a:rPr lang="en-US" altLang="en-US" sz="1200" b="1" dirty="0" err="1"/>
              <a:t>avg</a:t>
            </a:r>
            <a:r>
              <a:rPr lang="en-US" altLang="en-US" sz="1200" b="1" dirty="0"/>
              <a:t> </a:t>
            </a:r>
            <a:r>
              <a:rPr lang="en-US" altLang="en-US" sz="1200" dirty="0"/>
              <a:t>(</a:t>
            </a:r>
            <a:r>
              <a:rPr lang="en-US" altLang="en-US" sz="1200" i="1" dirty="0"/>
              <a:t>salary</a:t>
            </a:r>
            <a:r>
              <a:rPr lang="en-US" altLang="en-US" sz="1200" dirty="0"/>
              <a:t>) </a:t>
            </a:r>
            <a:r>
              <a:rPr lang="en-US" altLang="en-US" sz="1200" b="1" dirty="0"/>
              <a:t>as</a:t>
            </a:r>
            <a:r>
              <a:rPr lang="en-US" altLang="en-US" sz="1200" dirty="0"/>
              <a:t> </a:t>
            </a:r>
            <a:r>
              <a:rPr lang="en-US" altLang="en-US" sz="1200" i="1" dirty="0" err="1"/>
              <a:t>avg_salary</a:t>
            </a:r>
            <a:endParaRPr lang="en-US" altLang="en-US" sz="1200" i="1" dirty="0"/>
          </a:p>
          <a:p>
            <a:r>
              <a:rPr lang="en-US" altLang="en-US" sz="1200" b="1" dirty="0"/>
              <a:t>from </a:t>
            </a:r>
            <a:r>
              <a:rPr lang="en-US" altLang="en-US" sz="1200" i="1" dirty="0"/>
              <a:t>instructor</a:t>
            </a:r>
          </a:p>
          <a:p>
            <a:r>
              <a:rPr lang="en-US" altLang="en-US" sz="1200" b="1" dirty="0"/>
              <a:t>group by </a:t>
            </a:r>
            <a:r>
              <a:rPr lang="en-US" altLang="en-US" sz="1200" i="1" dirty="0" err="1"/>
              <a:t>dept_name</a:t>
            </a:r>
            <a:endParaRPr lang="en-US" altLang="en-US" sz="1200" i="1" dirty="0"/>
          </a:p>
          <a:p>
            <a:r>
              <a:rPr lang="en-US" altLang="en-US" sz="1200" b="1" dirty="0"/>
              <a:t>having </a:t>
            </a:r>
            <a:r>
              <a:rPr lang="en-US" altLang="en-US" sz="1200" b="1" dirty="0" err="1"/>
              <a:t>avg</a:t>
            </a:r>
            <a:r>
              <a:rPr lang="en-US" altLang="en-US" sz="1200" b="1" dirty="0"/>
              <a:t> </a:t>
            </a:r>
            <a:r>
              <a:rPr lang="en-US" altLang="en-US" sz="1200" dirty="0"/>
              <a:t>(</a:t>
            </a:r>
            <a:r>
              <a:rPr lang="en-US" altLang="en-US" sz="1200" i="1" dirty="0"/>
              <a:t>salary</a:t>
            </a:r>
            <a:r>
              <a:rPr lang="en-US" altLang="en-US" sz="1200" dirty="0"/>
              <a:t>) &gt; 42000;</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r>
              <a:rPr lang="en-US" altLang="en-US" sz="2800" dirty="0"/>
              <a:t>With Clause</a:t>
            </a:r>
          </a:p>
        </p:txBody>
      </p:sp>
      <p:sp>
        <p:nvSpPr>
          <p:cNvPr id="45058" name="Rectangle 3"/>
          <p:cNvSpPr>
            <a:spLocks noGrp="1" noChangeArrowheads="1"/>
          </p:cNvSpPr>
          <p:nvPr>
            <p:ph type="body" idx="1"/>
          </p:nvPr>
        </p:nvSpPr>
        <p:spPr>
          <a:xfrm>
            <a:off x="768350" y="1106488"/>
            <a:ext cx="7736457" cy="4903787"/>
          </a:xfrm>
        </p:spPr>
        <p:txBody>
          <a:bodyPr/>
          <a:lstStyle/>
          <a:p>
            <a:r>
              <a:rPr lang="en-US" altLang="en-US" sz="1700" dirty="0"/>
              <a:t>The </a:t>
            </a:r>
            <a:r>
              <a:rPr lang="en-US" altLang="en-US" sz="1700" b="1" dirty="0">
                <a:solidFill>
                  <a:srgbClr val="002060"/>
                </a:solidFill>
              </a:rPr>
              <a:t>with</a:t>
            </a:r>
            <a:r>
              <a:rPr lang="en-US" altLang="en-US" sz="1700" dirty="0"/>
              <a:t> clause provides a way of defining a temporary relation whose definition is available only to the query in which the </a:t>
            </a:r>
            <a:r>
              <a:rPr lang="en-US" altLang="en-US" sz="1700" b="1" dirty="0"/>
              <a:t>with</a:t>
            </a:r>
            <a:r>
              <a:rPr lang="en-US" altLang="en-US" sz="1700" b="1" dirty="0">
                <a:solidFill>
                  <a:schemeClr val="tx2"/>
                </a:solidFill>
              </a:rPr>
              <a:t> </a:t>
            </a:r>
            <a:r>
              <a:rPr lang="en-US" altLang="en-US" sz="1700" dirty="0"/>
              <a:t>clause occurs. </a:t>
            </a:r>
          </a:p>
          <a:p>
            <a:r>
              <a:rPr lang="en-US" altLang="en-US" sz="1700" dirty="0"/>
              <a:t>Find all departments with the maximum budget </a:t>
            </a:r>
            <a:br>
              <a:rPr lang="en-US" altLang="en-US" sz="1700" dirty="0"/>
            </a:br>
            <a:r>
              <a:rPr lang="en-US" altLang="en-US" sz="800" dirty="0"/>
              <a:t> </a:t>
            </a:r>
            <a:r>
              <a:rPr lang="en-US" altLang="en-US" sz="1700" b="1" dirty="0"/>
              <a:t/>
            </a:r>
            <a:br>
              <a:rPr lang="en-US" altLang="en-US" sz="1700" b="1" dirty="0"/>
            </a:br>
            <a:r>
              <a:rPr lang="en-US" altLang="en-US" sz="1700" b="1" dirty="0"/>
              <a:t>     with </a:t>
            </a:r>
            <a:r>
              <a:rPr lang="en-US" altLang="en-US" sz="1700" i="1" dirty="0" err="1"/>
              <a:t>max_budget</a:t>
            </a:r>
            <a:r>
              <a:rPr lang="en-US" altLang="en-US" sz="1700" i="1" dirty="0"/>
              <a:t> </a:t>
            </a:r>
            <a:r>
              <a:rPr lang="en-US" altLang="en-US" sz="1700" dirty="0"/>
              <a:t>(</a:t>
            </a:r>
            <a:r>
              <a:rPr lang="en-US" altLang="en-US" sz="1700" i="1" dirty="0"/>
              <a:t>value</a:t>
            </a:r>
            <a:r>
              <a:rPr lang="en-US" altLang="en-US" sz="1700" dirty="0"/>
              <a:t>) </a:t>
            </a:r>
            <a:r>
              <a:rPr lang="en-US" altLang="en-US" sz="1700" b="1" dirty="0"/>
              <a:t>as </a:t>
            </a:r>
            <a:br>
              <a:rPr lang="en-US" altLang="en-US" sz="1700" b="1" dirty="0"/>
            </a:br>
            <a:r>
              <a:rPr lang="en-US" altLang="en-US" sz="1700" b="1" dirty="0"/>
              <a:t>             </a:t>
            </a:r>
            <a:r>
              <a:rPr lang="en-US" altLang="en-US" sz="1700" dirty="0"/>
              <a:t>(</a:t>
            </a:r>
            <a:r>
              <a:rPr lang="en-US" altLang="en-US" sz="1700" b="1" dirty="0"/>
              <a:t>select max</a:t>
            </a:r>
            <a:r>
              <a:rPr lang="en-US" altLang="en-US" sz="1700" dirty="0"/>
              <a:t>(</a:t>
            </a:r>
            <a:r>
              <a:rPr lang="en-US" altLang="en-US" sz="1700" i="1" dirty="0"/>
              <a:t>budget</a:t>
            </a:r>
            <a:r>
              <a:rPr lang="en-US" altLang="en-US" sz="1700" dirty="0"/>
              <a:t>)</a:t>
            </a:r>
            <a:br>
              <a:rPr lang="en-US" altLang="en-US" sz="1700" dirty="0"/>
            </a:br>
            <a:r>
              <a:rPr lang="en-US" altLang="en-US" sz="1700" dirty="0"/>
              <a:t>              </a:t>
            </a:r>
            <a:r>
              <a:rPr lang="en-US" altLang="en-US" sz="1700" b="1" dirty="0"/>
              <a:t>from </a:t>
            </a:r>
            <a:r>
              <a:rPr lang="en-US" altLang="en-US" sz="1700" i="1" dirty="0"/>
              <a:t>department</a:t>
            </a:r>
            <a:r>
              <a:rPr lang="en-US" altLang="en-US" sz="1700" dirty="0"/>
              <a:t>)</a:t>
            </a:r>
            <a:br>
              <a:rPr lang="en-US" altLang="en-US" sz="1700" dirty="0"/>
            </a:br>
            <a:r>
              <a:rPr lang="en-US" altLang="en-US" sz="1700" dirty="0"/>
              <a:t>     </a:t>
            </a:r>
            <a:r>
              <a:rPr lang="en-US" altLang="en-US" sz="1700" b="1" dirty="0"/>
              <a:t>select </a:t>
            </a:r>
            <a:r>
              <a:rPr lang="en-US" altLang="en-US" sz="1700" i="1" dirty="0"/>
              <a:t>department.name</a:t>
            </a:r>
            <a:br>
              <a:rPr lang="en-US" altLang="en-US" sz="1700" i="1" dirty="0"/>
            </a:br>
            <a:r>
              <a:rPr lang="en-US" altLang="en-US" sz="1700" i="1" dirty="0"/>
              <a:t>     </a:t>
            </a:r>
            <a:r>
              <a:rPr lang="en-US" altLang="en-US" sz="1700" b="1" dirty="0"/>
              <a:t>from </a:t>
            </a:r>
            <a:r>
              <a:rPr lang="en-US" altLang="en-US" sz="1700" i="1" dirty="0"/>
              <a:t>department</a:t>
            </a:r>
            <a:r>
              <a:rPr lang="en-US" altLang="en-US" sz="1700" dirty="0"/>
              <a:t>, </a:t>
            </a:r>
            <a:r>
              <a:rPr lang="en-US" altLang="en-US" sz="1700" i="1" dirty="0" err="1"/>
              <a:t>max_budget</a:t>
            </a:r>
            <a:r>
              <a:rPr lang="en-US" altLang="en-US" sz="1700" i="1" dirty="0"/>
              <a:t/>
            </a:r>
            <a:br>
              <a:rPr lang="en-US" altLang="en-US" sz="1700" i="1" dirty="0"/>
            </a:br>
            <a:r>
              <a:rPr lang="en-US" altLang="en-US" sz="1700" i="1" dirty="0"/>
              <a:t>     </a:t>
            </a:r>
            <a:r>
              <a:rPr lang="en-US" altLang="en-US" sz="1700" b="1" dirty="0"/>
              <a:t>where </a:t>
            </a:r>
            <a:r>
              <a:rPr lang="en-US" altLang="en-US" sz="1700" i="1" dirty="0" err="1"/>
              <a:t>department</a:t>
            </a:r>
            <a:r>
              <a:rPr lang="en-US" altLang="en-US" sz="1700" dirty="0" err="1"/>
              <a:t>.</a:t>
            </a:r>
            <a:r>
              <a:rPr lang="en-US" altLang="en-US" sz="1700" i="1" dirty="0" err="1"/>
              <a:t>budget</a:t>
            </a:r>
            <a:r>
              <a:rPr lang="en-US" altLang="en-US" sz="1700" i="1" dirty="0"/>
              <a:t> </a:t>
            </a:r>
            <a:r>
              <a:rPr lang="en-US" altLang="en-US" sz="1700" dirty="0"/>
              <a:t>= </a:t>
            </a:r>
            <a:r>
              <a:rPr lang="en-US" altLang="en-US" sz="1700" i="1" dirty="0" err="1"/>
              <a:t>max_budget.value</a:t>
            </a:r>
            <a:r>
              <a:rPr lang="en-US" altLang="en-US" sz="1700" dirty="0"/>
              <a: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63874" name="Rectangle 2"/>
          <p:cNvSpPr>
            <a:spLocks noGrp="1" noChangeArrowheads="1"/>
          </p:cNvSpPr>
          <p:nvPr>
            <p:ph type="title"/>
          </p:nvPr>
        </p:nvSpPr>
        <p:spPr/>
        <p:txBody>
          <a:bodyPr/>
          <a:lstStyle/>
          <a:p>
            <a:r>
              <a:rPr lang="en-US" altLang="en-US" sz="2800" dirty="0"/>
              <a:t>Complex Queries using With Clause</a:t>
            </a:r>
          </a:p>
        </p:txBody>
      </p:sp>
      <p:sp>
        <p:nvSpPr>
          <p:cNvPr id="46082" name="Rectangle 3"/>
          <p:cNvSpPr>
            <a:spLocks noGrp="1" noChangeArrowheads="1"/>
          </p:cNvSpPr>
          <p:nvPr>
            <p:ph type="body" idx="1"/>
          </p:nvPr>
        </p:nvSpPr>
        <p:spPr>
          <a:xfrm>
            <a:off x="768350" y="1147763"/>
            <a:ext cx="7557504" cy="693864"/>
          </a:xfrm>
        </p:spPr>
        <p:txBody>
          <a:bodyPr/>
          <a:lstStyle/>
          <a:p>
            <a:r>
              <a:rPr lang="en-US" altLang="en-US" sz="1700" dirty="0"/>
              <a:t>Find all departments where the total salary is greater than the average of the total salary at all departments</a:t>
            </a:r>
          </a:p>
        </p:txBody>
      </p:sp>
      <p:sp>
        <p:nvSpPr>
          <p:cNvPr id="46083" name="Text Box 4"/>
          <p:cNvSpPr txBox="1">
            <a:spLocks noChangeArrowheads="1"/>
          </p:cNvSpPr>
          <p:nvPr/>
        </p:nvSpPr>
        <p:spPr bwMode="auto">
          <a:xfrm>
            <a:off x="1377932" y="1841627"/>
            <a:ext cx="6858036" cy="2730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r>
              <a:rPr lang="en-US" altLang="en-US" sz="1700" b="1" dirty="0"/>
              <a:t>with </a:t>
            </a:r>
            <a:r>
              <a:rPr lang="en-US" altLang="en-US" sz="1700" i="1" dirty="0" err="1"/>
              <a:t>dept</a:t>
            </a:r>
            <a:r>
              <a:rPr lang="en-US" altLang="en-US" sz="1700" i="1" dirty="0"/>
              <a:t> _total </a:t>
            </a:r>
            <a:r>
              <a:rPr lang="en-US" altLang="en-US" sz="1700" dirty="0"/>
              <a:t>(</a:t>
            </a:r>
            <a:r>
              <a:rPr lang="en-US" altLang="en-US" sz="1700" i="1" dirty="0"/>
              <a:t>dept_name</a:t>
            </a:r>
            <a:r>
              <a:rPr lang="en-US" altLang="en-US" sz="1700" dirty="0"/>
              <a:t>, </a:t>
            </a:r>
            <a:r>
              <a:rPr lang="en-US" altLang="en-US" sz="1700" i="1" dirty="0"/>
              <a:t>value</a:t>
            </a:r>
            <a:r>
              <a:rPr lang="en-US" altLang="en-US" sz="1700" dirty="0"/>
              <a:t>) </a:t>
            </a:r>
            <a:r>
              <a:rPr lang="en-US" altLang="en-US" sz="1700" b="1" dirty="0"/>
              <a:t>as</a:t>
            </a:r>
          </a:p>
          <a:p>
            <a:r>
              <a:rPr lang="en-US" altLang="en-US" sz="1700" dirty="0"/>
              <a:t>        (</a:t>
            </a:r>
            <a:r>
              <a:rPr lang="en-US" altLang="en-US" sz="1700" b="1" dirty="0"/>
              <a:t>select </a:t>
            </a:r>
            <a:r>
              <a:rPr lang="en-US" altLang="en-US" sz="1700" i="1" dirty="0"/>
              <a:t>dept_name</a:t>
            </a:r>
            <a:r>
              <a:rPr lang="en-US" altLang="en-US" sz="1700" dirty="0"/>
              <a:t>, </a:t>
            </a:r>
            <a:r>
              <a:rPr lang="en-US" altLang="en-US" sz="1700" b="1" dirty="0"/>
              <a:t>sum</a:t>
            </a:r>
            <a:r>
              <a:rPr lang="en-US" altLang="en-US" sz="1700" dirty="0"/>
              <a:t>(</a:t>
            </a:r>
            <a:r>
              <a:rPr lang="en-US" altLang="en-US" sz="1700" i="1" dirty="0"/>
              <a:t>salary</a:t>
            </a:r>
            <a:r>
              <a:rPr lang="en-US" altLang="en-US" sz="1700" dirty="0"/>
              <a:t>)</a:t>
            </a:r>
          </a:p>
          <a:p>
            <a:r>
              <a:rPr lang="en-US" altLang="en-US" sz="1700" b="1" dirty="0"/>
              <a:t>         from </a:t>
            </a:r>
            <a:r>
              <a:rPr lang="en-US" altLang="en-US" sz="1700" i="1" dirty="0"/>
              <a:t>instructor</a:t>
            </a:r>
          </a:p>
          <a:p>
            <a:r>
              <a:rPr lang="en-US" altLang="en-US" sz="1700" b="1" dirty="0"/>
              <a:t>         group by </a:t>
            </a:r>
            <a:r>
              <a:rPr lang="en-US" altLang="en-US" sz="1700" i="1" dirty="0"/>
              <a:t>dept_name</a:t>
            </a:r>
            <a:r>
              <a:rPr lang="en-US" altLang="en-US" sz="1700" dirty="0"/>
              <a:t>),</a:t>
            </a:r>
          </a:p>
          <a:p>
            <a:r>
              <a:rPr lang="en-US" altLang="en-US" sz="1700" i="1" dirty="0" err="1"/>
              <a:t>dept_total_avg</a:t>
            </a:r>
            <a:r>
              <a:rPr lang="en-US" altLang="en-US" sz="1700" dirty="0"/>
              <a:t>(</a:t>
            </a:r>
            <a:r>
              <a:rPr lang="en-US" altLang="en-US" sz="1700" i="1" dirty="0"/>
              <a:t>value</a:t>
            </a:r>
            <a:r>
              <a:rPr lang="en-US" altLang="en-US" sz="1700" dirty="0"/>
              <a:t>) </a:t>
            </a:r>
            <a:r>
              <a:rPr lang="en-US" altLang="en-US" sz="1700" b="1" dirty="0"/>
              <a:t>as</a:t>
            </a:r>
          </a:p>
          <a:p>
            <a:r>
              <a:rPr lang="en-US" altLang="en-US" sz="1700" dirty="0"/>
              <a:t>       (</a:t>
            </a:r>
            <a:r>
              <a:rPr lang="en-US" altLang="en-US" sz="1700" b="1" dirty="0"/>
              <a:t>select </a:t>
            </a:r>
            <a:r>
              <a:rPr lang="en-US" altLang="en-US" sz="1700" b="1" dirty="0" err="1"/>
              <a:t>avg</a:t>
            </a:r>
            <a:r>
              <a:rPr lang="en-US" altLang="en-US" sz="1700" dirty="0"/>
              <a:t>(</a:t>
            </a:r>
            <a:r>
              <a:rPr lang="en-US" altLang="en-US" sz="1700" i="1" dirty="0"/>
              <a:t>value</a:t>
            </a:r>
            <a:r>
              <a:rPr lang="en-US" altLang="en-US" sz="1700" dirty="0"/>
              <a:t>)</a:t>
            </a:r>
          </a:p>
          <a:p>
            <a:r>
              <a:rPr lang="en-US" altLang="en-US" sz="1700" b="1" dirty="0"/>
              <a:t>       from </a:t>
            </a:r>
            <a:r>
              <a:rPr lang="en-US" altLang="en-US" sz="1700" i="1" dirty="0" err="1"/>
              <a:t>dept_total</a:t>
            </a:r>
            <a:r>
              <a:rPr lang="en-US" altLang="en-US" sz="1700" dirty="0"/>
              <a:t>)</a:t>
            </a:r>
          </a:p>
          <a:p>
            <a:r>
              <a:rPr lang="en-US" altLang="en-US" sz="1700" b="1" dirty="0"/>
              <a:t>select </a:t>
            </a:r>
            <a:r>
              <a:rPr lang="en-US" altLang="en-US" sz="1700" i="1" dirty="0"/>
              <a:t>dept_name</a:t>
            </a:r>
          </a:p>
          <a:p>
            <a:r>
              <a:rPr lang="en-US" altLang="en-US" sz="1700" b="1" dirty="0"/>
              <a:t>from </a:t>
            </a:r>
            <a:r>
              <a:rPr lang="en-US" altLang="en-US" sz="1700" i="1" dirty="0" err="1"/>
              <a:t>dept_total</a:t>
            </a:r>
            <a:r>
              <a:rPr lang="en-US" altLang="en-US" sz="1700" dirty="0"/>
              <a:t>, </a:t>
            </a:r>
            <a:r>
              <a:rPr lang="en-US" altLang="en-US" sz="1700" i="1" dirty="0" err="1"/>
              <a:t>dept_total_avg</a:t>
            </a:r>
            <a:endParaRPr lang="en-US" altLang="en-US" sz="1700" i="1" dirty="0"/>
          </a:p>
          <a:p>
            <a:r>
              <a:rPr lang="en-US" altLang="en-US" sz="1700" b="1" dirty="0"/>
              <a:t>where </a:t>
            </a:r>
            <a:r>
              <a:rPr lang="en-US" altLang="en-US" sz="1700" i="1" dirty="0" err="1"/>
              <a:t>dept_total.value</a:t>
            </a:r>
            <a:r>
              <a:rPr lang="en-US" altLang="en-US" sz="1700" i="1" dirty="0"/>
              <a:t> </a:t>
            </a:r>
            <a:r>
              <a:rPr lang="en-US" altLang="en-US" sz="1700" dirty="0"/>
              <a:t>&gt; </a:t>
            </a:r>
            <a:r>
              <a:rPr lang="en-US" altLang="en-US" sz="1700" i="1" dirty="0" err="1"/>
              <a:t>dept_total_avg.value</a:t>
            </a:r>
            <a:r>
              <a:rPr lang="en-US" altLang="en-US" sz="1700" dirty="0"/>
              <a: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1154" name="Rectangle 2"/>
          <p:cNvSpPr>
            <a:spLocks noGrp="1" noChangeArrowheads="1"/>
          </p:cNvSpPr>
          <p:nvPr>
            <p:ph type="title"/>
          </p:nvPr>
        </p:nvSpPr>
        <p:spPr/>
        <p:txBody>
          <a:bodyPr/>
          <a:lstStyle/>
          <a:p>
            <a:r>
              <a:rPr lang="en-US" altLang="en-US" sz="2800" dirty="0"/>
              <a:t>Scalar Subquery</a:t>
            </a:r>
          </a:p>
        </p:txBody>
      </p:sp>
      <p:sp>
        <p:nvSpPr>
          <p:cNvPr id="60418" name="Rectangle 3"/>
          <p:cNvSpPr>
            <a:spLocks noGrp="1" noChangeArrowheads="1"/>
          </p:cNvSpPr>
          <p:nvPr>
            <p:ph type="body" idx="1"/>
          </p:nvPr>
        </p:nvSpPr>
        <p:spPr>
          <a:xfrm>
            <a:off x="768350" y="1093789"/>
            <a:ext cx="7546594" cy="4721796"/>
          </a:xfrm>
        </p:spPr>
        <p:txBody>
          <a:bodyPr/>
          <a:lstStyle/>
          <a:p>
            <a:r>
              <a:rPr lang="en-US" altLang="en-US" sz="1700" dirty="0"/>
              <a:t>Scalar subquery is one which is used where a single value is expected</a:t>
            </a:r>
          </a:p>
          <a:p>
            <a:r>
              <a:rPr lang="en-US" altLang="en-US" sz="1700" dirty="0"/>
              <a:t>List all departments along with the number of instructors in each department</a:t>
            </a:r>
          </a:p>
          <a:p>
            <a:pPr>
              <a:buFont typeface="Monotype Sorts" charset="2"/>
              <a:buNone/>
            </a:pPr>
            <a:r>
              <a:rPr lang="en-US" altLang="en-US" sz="1700" b="1" dirty="0"/>
              <a:t>	select </a:t>
            </a:r>
            <a:r>
              <a:rPr lang="en-US" altLang="en-US" sz="1700" i="1" dirty="0"/>
              <a:t>dept_name</a:t>
            </a:r>
            <a:r>
              <a:rPr lang="en-US" altLang="en-US" sz="1700" dirty="0"/>
              <a:t>, </a:t>
            </a:r>
            <a:br>
              <a:rPr lang="en-US" altLang="en-US" sz="1700" dirty="0"/>
            </a:br>
            <a:r>
              <a:rPr lang="en-US" altLang="en-US" sz="1700" dirty="0"/>
              <a:t>             ( </a:t>
            </a:r>
            <a:r>
              <a:rPr lang="en-US" altLang="en-US" sz="1700" b="1" dirty="0"/>
              <a:t>select count</a:t>
            </a:r>
            <a:r>
              <a:rPr lang="en-US" altLang="en-US" sz="1700" dirty="0"/>
              <a:t>(*) </a:t>
            </a:r>
            <a:br>
              <a:rPr lang="en-US" altLang="en-US" sz="1700" dirty="0"/>
            </a:br>
            <a:r>
              <a:rPr lang="en-US" altLang="en-US" sz="1700" dirty="0"/>
              <a:t>                </a:t>
            </a:r>
            <a:r>
              <a:rPr lang="en-US" altLang="en-US" sz="1700" b="1" dirty="0"/>
              <a:t>from </a:t>
            </a:r>
            <a:r>
              <a:rPr lang="en-US" altLang="en-US" sz="1700" i="1" dirty="0"/>
              <a:t>instructor </a:t>
            </a:r>
            <a:br>
              <a:rPr lang="en-US" altLang="en-US" sz="1700" i="1" dirty="0"/>
            </a:br>
            <a:r>
              <a:rPr lang="en-US" altLang="en-US" sz="1700" i="1" dirty="0"/>
              <a:t>                </a:t>
            </a:r>
            <a:r>
              <a:rPr lang="en-US" altLang="en-US" sz="1700" b="1" dirty="0"/>
              <a:t>where </a:t>
            </a:r>
            <a:r>
              <a:rPr lang="en-US" altLang="en-US" sz="1700" i="1" dirty="0" err="1"/>
              <a:t>department</a:t>
            </a:r>
            <a:r>
              <a:rPr lang="en-US" altLang="en-US" sz="1700" dirty="0" err="1"/>
              <a:t>.</a:t>
            </a:r>
            <a:r>
              <a:rPr lang="en-US" altLang="en-US" sz="1700" i="1" dirty="0" err="1"/>
              <a:t>dept_name</a:t>
            </a:r>
            <a:r>
              <a:rPr lang="en-US" altLang="en-US" sz="1700" i="1" dirty="0"/>
              <a:t> </a:t>
            </a:r>
            <a:r>
              <a:rPr lang="en-US" altLang="en-US" sz="1700" dirty="0"/>
              <a:t>= </a:t>
            </a:r>
            <a:r>
              <a:rPr lang="en-US" altLang="en-US" sz="1700" i="1" dirty="0" err="1"/>
              <a:t>instructor</a:t>
            </a:r>
            <a:r>
              <a:rPr lang="en-US" altLang="en-US" sz="1700" dirty="0" err="1"/>
              <a:t>.</a:t>
            </a:r>
            <a:r>
              <a:rPr lang="en-US" altLang="en-US" sz="1700" i="1" dirty="0" err="1"/>
              <a:t>dept_name</a:t>
            </a:r>
            <a:r>
              <a:rPr lang="en-US" altLang="en-US" sz="1700" dirty="0"/>
              <a:t>)</a:t>
            </a:r>
            <a:br>
              <a:rPr lang="en-US" altLang="en-US" sz="1700" dirty="0"/>
            </a:br>
            <a:r>
              <a:rPr lang="en-US" altLang="en-US" sz="1700" dirty="0"/>
              <a:t>             </a:t>
            </a:r>
            <a:r>
              <a:rPr lang="en-US" altLang="en-US" sz="1700" b="1" dirty="0"/>
              <a:t>as </a:t>
            </a:r>
            <a:r>
              <a:rPr lang="en-US" altLang="en-US" sz="1700" i="1" dirty="0" err="1"/>
              <a:t>num_instructors</a:t>
            </a:r>
            <a:r>
              <a:rPr lang="en-US" altLang="en-US" sz="1700" i="1" dirty="0"/>
              <a:t/>
            </a:r>
            <a:br>
              <a:rPr lang="en-US" altLang="en-US" sz="1700" i="1" dirty="0"/>
            </a:br>
            <a:r>
              <a:rPr lang="en-US" altLang="en-US" sz="1700" b="1" dirty="0"/>
              <a:t>from </a:t>
            </a:r>
            <a:r>
              <a:rPr lang="en-US" altLang="en-US" sz="1700" i="1" dirty="0"/>
              <a:t>department</a:t>
            </a:r>
            <a:r>
              <a:rPr lang="en-US" altLang="en-US" sz="1700" dirty="0"/>
              <a:t>;</a:t>
            </a:r>
          </a:p>
          <a:p>
            <a:r>
              <a:rPr lang="en-US" altLang="en-US" sz="1700" dirty="0"/>
              <a:t>Runtime error if subquery returns more than one result tuple</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6946" name="Rectangle 2"/>
          <p:cNvSpPr>
            <a:spLocks noGrp="1" noChangeArrowheads="1"/>
          </p:cNvSpPr>
          <p:nvPr>
            <p:ph type="title"/>
          </p:nvPr>
        </p:nvSpPr>
        <p:spPr>
          <a:xfrm>
            <a:off x="909638" y="112713"/>
            <a:ext cx="8077200" cy="609600"/>
          </a:xfrm>
        </p:spPr>
        <p:txBody>
          <a:bodyPr/>
          <a:lstStyle/>
          <a:p>
            <a:r>
              <a:rPr lang="en-US" altLang="en-US" sz="2800" dirty="0"/>
              <a:t>Modification of the Database</a:t>
            </a:r>
          </a:p>
        </p:txBody>
      </p:sp>
      <p:sp>
        <p:nvSpPr>
          <p:cNvPr id="61442" name="Rectangle 3"/>
          <p:cNvSpPr>
            <a:spLocks noGrp="1" noChangeArrowheads="1"/>
          </p:cNvSpPr>
          <p:nvPr>
            <p:ph type="body" idx="1"/>
          </p:nvPr>
        </p:nvSpPr>
        <p:spPr>
          <a:xfrm>
            <a:off x="772357" y="1145219"/>
            <a:ext cx="7420668" cy="3134173"/>
          </a:xfrm>
        </p:spPr>
        <p:txBody>
          <a:bodyPr/>
          <a:lstStyle/>
          <a:p>
            <a:pPr>
              <a:tabLst>
                <a:tab pos="1652588" algn="l"/>
                <a:tab pos="2633663" algn="l"/>
              </a:tabLst>
            </a:pPr>
            <a:r>
              <a:rPr lang="en-US" altLang="en-US" sz="1700" dirty="0"/>
              <a:t>Deletion of tuples from a given relation.</a:t>
            </a:r>
            <a:endParaRPr lang="en-US" altLang="en-US" sz="1700" dirty="0">
              <a:latin typeface="Century Gothic" panose="020B0502020202020204" pitchFamily="34" charset="0"/>
            </a:endParaRPr>
          </a:p>
          <a:p>
            <a:pPr>
              <a:tabLst>
                <a:tab pos="1652588" algn="l"/>
                <a:tab pos="2633663" algn="l"/>
              </a:tabLst>
            </a:pPr>
            <a:r>
              <a:rPr lang="en-US" altLang="en-US" sz="1700" dirty="0"/>
              <a:t>Insertion of new tuples into a given relation</a:t>
            </a:r>
          </a:p>
          <a:p>
            <a:pPr>
              <a:tabLst>
                <a:tab pos="1652588" algn="l"/>
                <a:tab pos="2633663" algn="l"/>
              </a:tabLst>
            </a:pPr>
            <a:r>
              <a:rPr lang="en-US" altLang="en-US" sz="1700" dirty="0"/>
              <a:t>Updating of values in some tuples in a given relation</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62" name="Rectangle 2"/>
          <p:cNvSpPr>
            <a:spLocks noGrp="1" noChangeArrowheads="1"/>
          </p:cNvSpPr>
          <p:nvPr>
            <p:ph type="title"/>
          </p:nvPr>
        </p:nvSpPr>
        <p:spPr>
          <a:xfrm>
            <a:off x="909638" y="167450"/>
            <a:ext cx="8077200" cy="609600"/>
          </a:xfrm>
        </p:spPr>
        <p:txBody>
          <a:bodyPr/>
          <a:lstStyle/>
          <a:p>
            <a:r>
              <a:rPr lang="en-US" altLang="en-US" sz="2800" dirty="0"/>
              <a:t>Deletion</a:t>
            </a:r>
          </a:p>
        </p:txBody>
      </p:sp>
      <p:sp>
        <p:nvSpPr>
          <p:cNvPr id="62466" name="Rectangle 3"/>
          <p:cNvSpPr>
            <a:spLocks noGrp="1" noChangeArrowheads="1"/>
          </p:cNvSpPr>
          <p:nvPr>
            <p:ph type="body" idx="1"/>
          </p:nvPr>
        </p:nvSpPr>
        <p:spPr>
          <a:xfrm>
            <a:off x="781236" y="1143064"/>
            <a:ext cx="7634796" cy="5175250"/>
          </a:xfrm>
        </p:spPr>
        <p:txBody>
          <a:bodyPr/>
          <a:lstStyle/>
          <a:p>
            <a:pPr>
              <a:tabLst>
                <a:tab pos="1652588" algn="l"/>
                <a:tab pos="2633663" algn="l"/>
              </a:tabLst>
            </a:pPr>
            <a:r>
              <a:rPr lang="en-US" altLang="en-US" sz="1700" smtClean="0"/>
              <a:t>Delete all instructors</a:t>
            </a:r>
          </a:p>
          <a:p>
            <a:pPr>
              <a:buFont typeface="Monotype Sorts" charset="2"/>
              <a:buNone/>
              <a:tabLst>
                <a:tab pos="1652588" algn="l"/>
                <a:tab pos="2633663" algn="l"/>
              </a:tabLst>
            </a:pPr>
            <a:r>
              <a:rPr lang="en-US" altLang="en-US" sz="1700" smtClean="0"/>
              <a:t>		</a:t>
            </a:r>
            <a:r>
              <a:rPr lang="en-US" altLang="en-US" sz="1700" b="1" smtClean="0"/>
              <a:t>delete from </a:t>
            </a:r>
            <a:r>
              <a:rPr lang="en-US" altLang="en-US" sz="1700" i="1" smtClean="0"/>
              <a:t>instructor</a:t>
            </a:r>
            <a:r>
              <a:rPr lang="en-US" altLang="en-US" sz="1700" smtClean="0">
                <a:latin typeface="Century Gothic" panose="020B0502020202020204" pitchFamily="34" charset="0"/>
              </a:rPr>
              <a:t> </a:t>
            </a:r>
          </a:p>
          <a:p>
            <a:pPr>
              <a:buFont typeface="Monotype Sorts" charset="2"/>
              <a:buNone/>
              <a:tabLst>
                <a:tab pos="1652588" algn="l"/>
                <a:tab pos="2633663" algn="l"/>
              </a:tabLst>
            </a:pPr>
            <a:endParaRPr lang="en-US" altLang="en-US" sz="800" smtClean="0">
              <a:latin typeface="Century Gothic" panose="020B0502020202020204" pitchFamily="34" charset="0"/>
            </a:endParaRPr>
          </a:p>
          <a:p>
            <a:pPr>
              <a:tabLst>
                <a:tab pos="1652588" algn="l"/>
                <a:tab pos="2633663" algn="l"/>
              </a:tabLst>
            </a:pPr>
            <a:r>
              <a:rPr lang="en-US" altLang="en-US" sz="1700" smtClean="0"/>
              <a:t>Delete all instructors from the Finance department</a:t>
            </a:r>
            <a:br>
              <a:rPr lang="en-US" altLang="en-US" sz="1700" smtClean="0"/>
            </a:br>
            <a:r>
              <a:rPr lang="en-US" altLang="en-US" sz="1700" smtClean="0"/>
              <a:t>                     </a:t>
            </a:r>
            <a:r>
              <a:rPr lang="en-US" altLang="en-US" sz="1700" b="1" smtClean="0"/>
              <a:t>delete from </a:t>
            </a:r>
            <a:r>
              <a:rPr lang="en-US" altLang="en-US" sz="1700" i="1" smtClean="0"/>
              <a:t>instructor</a:t>
            </a:r>
            <a:br>
              <a:rPr lang="en-US" altLang="en-US" sz="1700" i="1" smtClean="0"/>
            </a:br>
            <a:r>
              <a:rPr lang="en-US" altLang="en-US" sz="1700" i="1" smtClean="0"/>
              <a:t>                     </a:t>
            </a:r>
            <a:r>
              <a:rPr lang="en-US" altLang="en-US" sz="1700" b="1" smtClean="0"/>
              <a:t>where </a:t>
            </a:r>
            <a:r>
              <a:rPr lang="en-US" altLang="en-US" sz="1700" i="1" smtClean="0"/>
              <a:t>dept_name</a:t>
            </a:r>
            <a:r>
              <a:rPr lang="en-US" altLang="en-US" sz="1700" smtClean="0"/>
              <a:t>= 'Finance’;</a:t>
            </a:r>
          </a:p>
          <a:p>
            <a:pPr>
              <a:buFont typeface="Monotype Sorts" charset="2"/>
              <a:buNone/>
              <a:tabLst>
                <a:tab pos="1652588" algn="l"/>
                <a:tab pos="2633663" algn="l"/>
              </a:tabLst>
            </a:pPr>
            <a:r>
              <a:rPr lang="en-US" altLang="en-US" sz="800" smtClean="0"/>
              <a:t> </a:t>
            </a:r>
          </a:p>
          <a:p>
            <a:pPr>
              <a:tabLst>
                <a:tab pos="1652588" algn="l"/>
                <a:tab pos="2633663" algn="l"/>
              </a:tabLst>
            </a:pPr>
            <a:r>
              <a:rPr lang="en-US" altLang="en-US" sz="1700" i="1" smtClean="0"/>
              <a:t>Delete all tuples in the instructor relation for those instructors associated with a department located in the Watson building.</a:t>
            </a:r>
          </a:p>
          <a:p>
            <a:pPr>
              <a:buFont typeface="Monotype Sorts" charset="2"/>
              <a:buNone/>
              <a:tabLst>
                <a:tab pos="1652588" algn="l"/>
                <a:tab pos="2633663" algn="l"/>
              </a:tabLst>
            </a:pPr>
            <a:r>
              <a:rPr lang="en-US" altLang="en-US" sz="1700" b="1" smtClean="0"/>
              <a:t>	                     delete from </a:t>
            </a:r>
            <a:r>
              <a:rPr lang="en-US" altLang="en-US" sz="1700" i="1" smtClean="0"/>
              <a:t>instructor</a:t>
            </a:r>
            <a:br>
              <a:rPr lang="en-US" altLang="en-US" sz="1700" i="1" smtClean="0"/>
            </a:br>
            <a:r>
              <a:rPr lang="en-US" altLang="en-US" sz="1700" i="1" smtClean="0"/>
              <a:t>                     </a:t>
            </a:r>
            <a:r>
              <a:rPr lang="en-US" altLang="en-US" sz="1700" b="1" smtClean="0"/>
              <a:t>where </a:t>
            </a:r>
            <a:r>
              <a:rPr lang="en-US" altLang="en-US" sz="1700" i="1" smtClean="0"/>
              <a:t>dept name </a:t>
            </a:r>
            <a:r>
              <a:rPr lang="en-US" altLang="en-US" sz="1700" b="1" smtClean="0"/>
              <a:t>in </a:t>
            </a:r>
            <a:r>
              <a:rPr lang="en-US" altLang="en-US" sz="1700" smtClean="0"/>
              <a:t>(</a:t>
            </a:r>
            <a:r>
              <a:rPr lang="en-US" altLang="en-US" sz="1700" b="1" smtClean="0"/>
              <a:t>select </a:t>
            </a:r>
            <a:r>
              <a:rPr lang="en-US" altLang="en-US" sz="1700" i="1" smtClean="0"/>
              <a:t>dept name</a:t>
            </a:r>
            <a:br>
              <a:rPr lang="en-US" altLang="en-US" sz="1700" i="1" smtClean="0"/>
            </a:br>
            <a:r>
              <a:rPr lang="en-US" altLang="en-US" sz="1700" i="1" smtClean="0"/>
              <a:t>                                                        </a:t>
            </a:r>
            <a:r>
              <a:rPr lang="en-US" altLang="en-US" sz="1700" b="1" smtClean="0"/>
              <a:t>from </a:t>
            </a:r>
            <a:r>
              <a:rPr lang="en-US" altLang="en-US" sz="1700" i="1" smtClean="0"/>
              <a:t>department</a:t>
            </a:r>
            <a:br>
              <a:rPr lang="en-US" altLang="en-US" sz="1700" i="1" smtClean="0"/>
            </a:br>
            <a:r>
              <a:rPr lang="en-US" altLang="en-US" sz="1700" i="1" smtClean="0"/>
              <a:t>                                                        </a:t>
            </a:r>
            <a:r>
              <a:rPr lang="en-US" altLang="en-US" sz="1700" b="1" smtClean="0"/>
              <a:t>where </a:t>
            </a:r>
            <a:r>
              <a:rPr lang="en-US" altLang="en-US" sz="1700" i="1" smtClean="0"/>
              <a:t>building </a:t>
            </a:r>
            <a:r>
              <a:rPr lang="en-US" altLang="en-US" sz="1700" smtClean="0"/>
              <a:t>= 'Watson');</a:t>
            </a:r>
          </a:p>
          <a:p>
            <a:pPr>
              <a:tabLst>
                <a:tab pos="1652588" algn="l"/>
                <a:tab pos="2633663" algn="l"/>
              </a:tabLst>
            </a:pPr>
            <a:endParaRPr lang="en-US" altLang="en-US" sz="1700" dirty="0"/>
          </a:p>
        </p:txBody>
      </p:sp>
      <p:sp>
        <p:nvSpPr>
          <p:cNvPr id="2" name="Rectangle 1"/>
          <p:cNvSpPr/>
          <p:nvPr/>
        </p:nvSpPr>
        <p:spPr>
          <a:xfrm>
            <a:off x="376238" y="5354033"/>
            <a:ext cx="4572000" cy="584775"/>
          </a:xfrm>
          <a:prstGeom prst="rect">
            <a:avLst/>
          </a:prstGeom>
        </p:spPr>
        <p:txBody>
          <a:bodyPr>
            <a:spAutoFit/>
          </a:bodyPr>
          <a:lstStyle/>
          <a:p>
            <a:pPr lvl="1"/>
            <a:r>
              <a:rPr lang="en-US" b="1" dirty="0"/>
              <a:t>delete from r </a:t>
            </a:r>
          </a:p>
          <a:p>
            <a:pPr lvl="1"/>
            <a:r>
              <a:rPr lang="en-US" b="1" dirty="0"/>
              <a:t>where P;</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8994" name="Rectangle 2"/>
          <p:cNvSpPr>
            <a:spLocks noGrp="1" noChangeArrowheads="1"/>
          </p:cNvSpPr>
          <p:nvPr>
            <p:ph type="title"/>
          </p:nvPr>
        </p:nvSpPr>
        <p:spPr/>
        <p:txBody>
          <a:bodyPr/>
          <a:lstStyle/>
          <a:p>
            <a:r>
              <a:rPr lang="en-US" altLang="en-US" sz="2800" dirty="0"/>
              <a:t>Deletion (Cont.)</a:t>
            </a:r>
          </a:p>
        </p:txBody>
      </p:sp>
      <p:sp>
        <p:nvSpPr>
          <p:cNvPr id="63490" name="Rectangle 3"/>
          <p:cNvSpPr>
            <a:spLocks noGrp="1" noChangeArrowheads="1"/>
          </p:cNvSpPr>
          <p:nvPr>
            <p:ph type="body" idx="1"/>
          </p:nvPr>
        </p:nvSpPr>
        <p:spPr>
          <a:xfrm>
            <a:off x="768351" y="1097471"/>
            <a:ext cx="7875778" cy="814387"/>
          </a:xfrm>
        </p:spPr>
        <p:txBody>
          <a:bodyPr/>
          <a:lstStyle/>
          <a:p>
            <a:pPr>
              <a:tabLst>
                <a:tab pos="1370013" algn="l"/>
                <a:tab pos="3140075" algn="l"/>
              </a:tabLst>
            </a:pPr>
            <a:r>
              <a:rPr lang="en-US" altLang="en-US" sz="1700" dirty="0"/>
              <a:t>Delete all instructors whose salary is less than the average salary of instructors</a:t>
            </a:r>
          </a:p>
          <a:p>
            <a:pPr>
              <a:tabLst>
                <a:tab pos="1370013" algn="l"/>
                <a:tab pos="3140075" algn="l"/>
              </a:tabLst>
            </a:pPr>
            <a:endParaRPr lang="en-US" altLang="en-US" dirty="0"/>
          </a:p>
          <a:p>
            <a:pPr>
              <a:tabLst>
                <a:tab pos="1370013" algn="l"/>
                <a:tab pos="3140075" algn="l"/>
              </a:tabLst>
            </a:pPr>
            <a:endParaRPr lang="en-US" altLang="en-US" sz="1700" dirty="0"/>
          </a:p>
          <a:p>
            <a:pPr>
              <a:tabLst>
                <a:tab pos="1370013" algn="l"/>
                <a:tab pos="3140075" algn="l"/>
              </a:tabLst>
            </a:pPr>
            <a:endParaRPr lang="en-US" altLang="en-US" dirty="0"/>
          </a:p>
          <a:p>
            <a:pPr lvl="1">
              <a:tabLst>
                <a:tab pos="1370013" algn="l"/>
                <a:tab pos="3140075" algn="l"/>
              </a:tabLst>
            </a:pPr>
            <a:r>
              <a:rPr lang="en-US" altLang="en-US" dirty="0"/>
              <a:t>Problem:  as we delete tuples from </a:t>
            </a:r>
            <a:r>
              <a:rPr lang="en-US" altLang="en-US" i="1" dirty="0"/>
              <a:t>instructor</a:t>
            </a:r>
            <a:r>
              <a:rPr lang="en-US" altLang="en-US" dirty="0"/>
              <a:t>, the average salary changes</a:t>
            </a:r>
          </a:p>
          <a:p>
            <a:pPr lvl="1">
              <a:tabLst>
                <a:tab pos="1370013" algn="l"/>
                <a:tab pos="3140075" algn="l"/>
              </a:tabLst>
            </a:pPr>
            <a:r>
              <a:rPr lang="en-US" altLang="en-US" dirty="0"/>
              <a:t>Solution used in SQL:</a:t>
            </a:r>
          </a:p>
          <a:p>
            <a:pPr marL="1200150" lvl="2" indent="-342900">
              <a:buFont typeface="+mj-lt"/>
              <a:buAutoNum type="arabicPeriod"/>
              <a:tabLst>
                <a:tab pos="1370013" algn="l"/>
                <a:tab pos="3140075" algn="l"/>
              </a:tabLst>
            </a:pPr>
            <a:r>
              <a:rPr lang="en-US" altLang="en-US" dirty="0"/>
              <a:t>First, compute </a:t>
            </a:r>
            <a:r>
              <a:rPr lang="en-US" altLang="en-US" b="1" dirty="0" err="1"/>
              <a:t>avg</a:t>
            </a:r>
            <a:r>
              <a:rPr lang="en-US" altLang="en-US" dirty="0"/>
              <a:t> (salary) and find all tuples to delete</a:t>
            </a:r>
          </a:p>
          <a:p>
            <a:pPr marL="1200150" lvl="2" indent="-342900">
              <a:buFont typeface="+mj-lt"/>
              <a:buAutoNum type="arabicPeriod"/>
              <a:tabLst>
                <a:tab pos="1370013" algn="l"/>
                <a:tab pos="3140075" algn="l"/>
              </a:tabLst>
            </a:pPr>
            <a:r>
              <a:rPr lang="en-US" altLang="en-US" dirty="0"/>
              <a:t>Next, delete all tuples found above (without recomputing </a:t>
            </a:r>
            <a:r>
              <a:rPr lang="en-US" altLang="en-US" b="1" dirty="0" err="1"/>
              <a:t>avg</a:t>
            </a:r>
            <a:r>
              <a:rPr lang="en-US" altLang="en-US" dirty="0"/>
              <a:t> or retesting the tuples)</a:t>
            </a:r>
          </a:p>
          <a:p>
            <a:pPr lvl="1">
              <a:tabLst>
                <a:tab pos="1370013" algn="l"/>
                <a:tab pos="3140075" algn="l"/>
              </a:tabLst>
            </a:pPr>
            <a:endParaRPr lang="en-US" altLang="en-US" dirty="0"/>
          </a:p>
        </p:txBody>
      </p:sp>
      <p:sp>
        <p:nvSpPr>
          <p:cNvPr id="63491" name="Text Box 4"/>
          <p:cNvSpPr txBox="1">
            <a:spLocks noChangeArrowheads="1"/>
          </p:cNvSpPr>
          <p:nvPr/>
        </p:nvSpPr>
        <p:spPr bwMode="auto">
          <a:xfrm>
            <a:off x="1526959" y="1692402"/>
            <a:ext cx="6385650" cy="88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Helvetica" panose="020B0604020202020204" pitchFamily="34" charset="0"/>
                <a:ea typeface="MS PGothic" panose="020B0600070205080204" pitchFamily="34" charset="-128"/>
              </a:defRPr>
            </a:lvl1pPr>
            <a:lvl2pPr marL="742950" indent="-285750" eaLnBrk="0" hangingPunct="0">
              <a:defRPr sz="2400">
                <a:solidFill>
                  <a:schemeClr val="tx1"/>
                </a:solidFill>
                <a:latin typeface="Helvetica" panose="020B0604020202020204" pitchFamily="34" charset="0"/>
                <a:ea typeface="MS PGothic" panose="020B0600070205080204" pitchFamily="34" charset="-128"/>
              </a:defRPr>
            </a:lvl2pPr>
            <a:lvl3pPr marL="1143000" indent="-228600" eaLnBrk="0" hangingPunct="0">
              <a:defRPr sz="2400">
                <a:solidFill>
                  <a:schemeClr val="tx1"/>
                </a:solidFill>
                <a:latin typeface="Helvetica" panose="020B0604020202020204" pitchFamily="34" charset="0"/>
                <a:ea typeface="MS PGothic" panose="020B0600070205080204" pitchFamily="34" charset="-128"/>
              </a:defRPr>
            </a:lvl3pPr>
            <a:lvl4pPr marL="1600200" indent="-228600" eaLnBrk="0" hangingPunct="0">
              <a:defRPr sz="2400">
                <a:solidFill>
                  <a:schemeClr val="tx1"/>
                </a:solidFill>
                <a:latin typeface="Helvetica" panose="020B0604020202020204" pitchFamily="34" charset="0"/>
                <a:ea typeface="MS PGothic" panose="020B0600070205080204" pitchFamily="34" charset="-128"/>
              </a:defRPr>
            </a:lvl4pPr>
            <a:lvl5pPr marL="2057400" indent="-228600" eaLnBrk="0" hangingPunct="0">
              <a:defRPr sz="2400">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Helvetica" panose="020B0604020202020204" pitchFamily="34" charset="0"/>
                <a:ea typeface="MS PGothic" panose="020B0600070205080204" pitchFamily="34" charset="-128"/>
              </a:defRPr>
            </a:lvl9pPr>
          </a:lstStyle>
          <a:p>
            <a:r>
              <a:rPr kumimoji="1" lang="en-US" altLang="en-US" sz="1700" b="1" dirty="0"/>
              <a:t>delete from </a:t>
            </a:r>
            <a:r>
              <a:rPr kumimoji="1" lang="en-US" altLang="en-US" sz="1700" i="1" dirty="0"/>
              <a:t>instructor</a:t>
            </a:r>
          </a:p>
          <a:p>
            <a:r>
              <a:rPr kumimoji="1" lang="en-US" altLang="en-US" sz="1700" b="1" dirty="0"/>
              <a:t>where </a:t>
            </a:r>
            <a:r>
              <a:rPr kumimoji="1" lang="en-US" altLang="en-US" sz="1700" i="1" dirty="0"/>
              <a:t>salary </a:t>
            </a:r>
            <a:r>
              <a:rPr kumimoji="1" lang="en-US" altLang="en-US" sz="1700" dirty="0"/>
              <a:t>&lt; (</a:t>
            </a:r>
            <a:r>
              <a:rPr kumimoji="1" lang="en-US" altLang="en-US" sz="1700" b="1" dirty="0"/>
              <a:t>select </a:t>
            </a:r>
            <a:r>
              <a:rPr kumimoji="1" lang="en-US" altLang="en-US" sz="1700" b="1" dirty="0" err="1"/>
              <a:t>avg</a:t>
            </a:r>
            <a:r>
              <a:rPr kumimoji="1" lang="en-US" altLang="en-US" sz="1700" b="1" dirty="0"/>
              <a:t> </a:t>
            </a:r>
            <a:r>
              <a:rPr kumimoji="1" lang="en-US" altLang="en-US" sz="1700" dirty="0"/>
              <a:t>(</a:t>
            </a:r>
            <a:r>
              <a:rPr kumimoji="1" lang="en-US" altLang="en-US" sz="1700" i="1" dirty="0"/>
              <a:t>salary</a:t>
            </a:r>
            <a:r>
              <a:rPr kumimoji="1" lang="en-US" altLang="en-US" sz="1700" dirty="0"/>
              <a:t>) </a:t>
            </a:r>
          </a:p>
          <a:p>
            <a:r>
              <a:rPr kumimoji="1" lang="en-US" altLang="en-US" sz="1700" b="1" dirty="0"/>
              <a:t>                           from </a:t>
            </a:r>
            <a:r>
              <a:rPr kumimoji="1" lang="en-US" altLang="en-US" sz="1700" i="1" dirty="0"/>
              <a:t>instructor</a:t>
            </a:r>
            <a:r>
              <a:rPr kumimoji="1" lang="en-US" altLang="en-US" sz="1700" dirty="0"/>
              <a: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42" name="Rectangle 2"/>
          <p:cNvSpPr>
            <a:spLocks noGrp="1" noChangeArrowheads="1"/>
          </p:cNvSpPr>
          <p:nvPr>
            <p:ph type="title"/>
          </p:nvPr>
        </p:nvSpPr>
        <p:spPr>
          <a:xfrm>
            <a:off x="969963" y="277813"/>
            <a:ext cx="8077200" cy="457200"/>
          </a:xfrm>
        </p:spPr>
        <p:txBody>
          <a:bodyPr/>
          <a:lstStyle/>
          <a:p>
            <a:r>
              <a:rPr lang="en-US" altLang="en-US" sz="2800" dirty="0"/>
              <a:t>Insertion</a:t>
            </a:r>
          </a:p>
        </p:txBody>
      </p:sp>
      <p:sp>
        <p:nvSpPr>
          <p:cNvPr id="64514" name="Rectangle 3"/>
          <p:cNvSpPr>
            <a:spLocks noGrp="1" noChangeArrowheads="1"/>
          </p:cNvSpPr>
          <p:nvPr>
            <p:ph type="body" idx="1"/>
          </p:nvPr>
        </p:nvSpPr>
        <p:spPr>
          <a:xfrm>
            <a:off x="772358" y="1135412"/>
            <a:ext cx="7652552" cy="4587176"/>
          </a:xfrm>
        </p:spPr>
        <p:txBody>
          <a:bodyPr/>
          <a:lstStyle/>
          <a:p>
            <a:pPr>
              <a:tabLst>
                <a:tab pos="1204913" algn="l"/>
                <a:tab pos="1890713" algn="l"/>
              </a:tabLst>
            </a:pPr>
            <a:r>
              <a:rPr lang="en-US" altLang="en-US" sz="1700" dirty="0"/>
              <a:t>Add a new tuple to </a:t>
            </a:r>
            <a:r>
              <a:rPr lang="en-US" altLang="en-US" sz="1700" i="1" dirty="0"/>
              <a:t>course</a:t>
            </a:r>
          </a:p>
          <a:p>
            <a:pPr>
              <a:buFont typeface="Monotype Sorts" charset="2"/>
              <a:buNone/>
              <a:tabLst>
                <a:tab pos="1204913" algn="l"/>
                <a:tab pos="1890713" algn="l"/>
              </a:tabLst>
            </a:pPr>
            <a:r>
              <a:rPr lang="en-US" altLang="en-US" sz="1700" b="1" dirty="0"/>
              <a:t>	      insert into </a:t>
            </a:r>
            <a:r>
              <a:rPr lang="en-US" altLang="en-US" sz="1700" i="1" dirty="0"/>
              <a:t>course</a:t>
            </a:r>
            <a:br>
              <a:rPr lang="en-US" altLang="en-US" sz="1700" i="1" dirty="0"/>
            </a:br>
            <a:r>
              <a:rPr lang="en-US" altLang="en-US" sz="1700" i="1" dirty="0"/>
              <a:t>             </a:t>
            </a:r>
            <a:r>
              <a:rPr lang="en-US" altLang="en-US" sz="1700" b="1" dirty="0"/>
              <a:t>values </a:t>
            </a:r>
            <a:r>
              <a:rPr lang="en-US" altLang="en-US" sz="1700" dirty="0"/>
              <a:t>('CS-437', 'Database Systems', 'Comp. Sci.', 4);</a:t>
            </a:r>
          </a:p>
          <a:p>
            <a:pPr>
              <a:buFont typeface="Monotype Sorts" charset="2"/>
              <a:buNone/>
              <a:tabLst>
                <a:tab pos="1204913" algn="l"/>
                <a:tab pos="1890713" algn="l"/>
              </a:tabLst>
            </a:pPr>
            <a:r>
              <a:rPr lang="en-US" altLang="en-US" sz="800" dirty="0"/>
              <a:t> </a:t>
            </a:r>
          </a:p>
          <a:p>
            <a:pPr>
              <a:tabLst>
                <a:tab pos="1204913" algn="l"/>
                <a:tab pos="1890713" algn="l"/>
              </a:tabLst>
            </a:pPr>
            <a:r>
              <a:rPr lang="en-US" altLang="en-US" sz="1700" dirty="0"/>
              <a:t>or equivalently</a:t>
            </a:r>
            <a:br>
              <a:rPr lang="en-US" altLang="en-US" sz="1700" dirty="0"/>
            </a:br>
            <a:r>
              <a:rPr lang="en-US" altLang="en-US" sz="800" dirty="0"/>
              <a:t> </a:t>
            </a:r>
          </a:p>
          <a:p>
            <a:pPr>
              <a:buFont typeface="Monotype Sorts" charset="2"/>
              <a:buNone/>
              <a:tabLst>
                <a:tab pos="1204913" algn="l"/>
                <a:tab pos="1890713" algn="l"/>
              </a:tabLst>
            </a:pPr>
            <a:r>
              <a:rPr lang="en-US" altLang="en-US" sz="1700" dirty="0"/>
              <a:t>           </a:t>
            </a:r>
            <a:r>
              <a:rPr lang="en-US" altLang="en-US" sz="1700" b="1" dirty="0"/>
              <a:t>insert into </a:t>
            </a:r>
            <a:r>
              <a:rPr lang="en-US" altLang="en-US" sz="1700" i="1" dirty="0"/>
              <a:t>course </a:t>
            </a:r>
            <a:r>
              <a:rPr lang="en-US" altLang="en-US" sz="1700" dirty="0"/>
              <a:t>(</a:t>
            </a:r>
            <a:r>
              <a:rPr lang="en-US" altLang="en-US" sz="1700" i="1" dirty="0" err="1"/>
              <a:t>course_id</a:t>
            </a:r>
            <a:r>
              <a:rPr lang="en-US" altLang="en-US" sz="1700" dirty="0"/>
              <a:t>, </a:t>
            </a:r>
            <a:r>
              <a:rPr lang="en-US" altLang="en-US" sz="1700" i="1" dirty="0"/>
              <a:t>title</a:t>
            </a:r>
            <a:r>
              <a:rPr lang="en-US" altLang="en-US" sz="1700" dirty="0"/>
              <a:t>, </a:t>
            </a:r>
            <a:r>
              <a:rPr lang="en-US" altLang="en-US" sz="1700" i="1" dirty="0" err="1"/>
              <a:t>dept_name</a:t>
            </a:r>
            <a:r>
              <a:rPr lang="en-US" altLang="en-US" sz="1700" dirty="0"/>
              <a:t>, </a:t>
            </a:r>
            <a:r>
              <a:rPr lang="en-US" altLang="en-US" sz="1700" i="1" dirty="0"/>
              <a:t>credits</a:t>
            </a:r>
            <a:r>
              <a:rPr lang="en-US" altLang="en-US" sz="1700" dirty="0"/>
              <a:t>)</a:t>
            </a:r>
            <a:br>
              <a:rPr lang="en-US" altLang="en-US" sz="1700" dirty="0"/>
            </a:br>
            <a:r>
              <a:rPr lang="en-US" altLang="en-US" sz="1700" dirty="0"/>
              <a:t>             </a:t>
            </a:r>
            <a:r>
              <a:rPr lang="en-US" altLang="en-US" sz="1700" b="1" dirty="0"/>
              <a:t>values </a:t>
            </a:r>
            <a:r>
              <a:rPr lang="en-US" altLang="en-US" sz="1700" dirty="0"/>
              <a:t>('CS-437', 'Database Systems', 'Comp. Sci.', 4);</a:t>
            </a:r>
          </a:p>
          <a:p>
            <a:pPr>
              <a:buFont typeface="Monotype Sorts" charset="2"/>
              <a:buNone/>
              <a:tabLst>
                <a:tab pos="1204913" algn="l"/>
                <a:tab pos="1890713" algn="l"/>
              </a:tabLst>
            </a:pPr>
            <a:r>
              <a:rPr lang="en-US" altLang="en-US" sz="800" dirty="0"/>
              <a:t> </a:t>
            </a:r>
          </a:p>
          <a:p>
            <a:pPr>
              <a:tabLst>
                <a:tab pos="1204913" algn="l"/>
                <a:tab pos="1890713" algn="l"/>
              </a:tabLst>
            </a:pPr>
            <a:r>
              <a:rPr lang="en-US" altLang="en-US" sz="1700" dirty="0"/>
              <a:t>Add a new tuple to </a:t>
            </a:r>
            <a:r>
              <a:rPr lang="en-US" altLang="en-US" sz="1700" i="1" dirty="0"/>
              <a:t>student  </a:t>
            </a:r>
            <a:r>
              <a:rPr lang="en-US" altLang="en-US" sz="1700" dirty="0"/>
              <a:t>with </a:t>
            </a:r>
            <a:r>
              <a:rPr lang="en-US" altLang="en-US" sz="1700" i="1" dirty="0"/>
              <a:t>tot_creds </a:t>
            </a:r>
            <a:r>
              <a:rPr lang="en-US" altLang="en-US" sz="1700" dirty="0"/>
              <a:t>set to null</a:t>
            </a:r>
          </a:p>
          <a:p>
            <a:pPr>
              <a:buFont typeface="Monotype Sorts" charset="2"/>
              <a:buNone/>
              <a:tabLst>
                <a:tab pos="1204913" algn="l"/>
                <a:tab pos="1890713" algn="l"/>
              </a:tabLst>
            </a:pPr>
            <a:r>
              <a:rPr lang="en-US" altLang="en-US" sz="1700" b="1" dirty="0"/>
              <a:t>	      insert into </a:t>
            </a:r>
            <a:r>
              <a:rPr lang="en-US" altLang="en-US" sz="1700" i="1" dirty="0"/>
              <a:t>student</a:t>
            </a:r>
            <a:br>
              <a:rPr lang="en-US" altLang="en-US" sz="1700" i="1" dirty="0"/>
            </a:br>
            <a:r>
              <a:rPr lang="en-US" altLang="en-US" sz="1700" i="1" dirty="0"/>
              <a:t>             </a:t>
            </a:r>
            <a:r>
              <a:rPr lang="en-US" altLang="en-US" sz="1700" b="1" dirty="0"/>
              <a:t>values </a:t>
            </a:r>
            <a:r>
              <a:rPr lang="en-US" altLang="en-US" sz="1700" dirty="0"/>
              <a:t>('3003', 'Green', 'Finance', </a:t>
            </a:r>
            <a:r>
              <a:rPr lang="en-US" altLang="en-US" sz="1700" i="1" dirty="0"/>
              <a:t>null</a:t>
            </a:r>
            <a:r>
              <a:rPr lang="en-US" altLang="en-US" sz="1700" dirty="0"/>
              <a:t>);</a:t>
            </a:r>
          </a:p>
          <a:p>
            <a:pPr>
              <a:buFont typeface="Monotype Sorts" charset="2"/>
              <a:buNone/>
              <a:tabLst>
                <a:tab pos="1204913" algn="l"/>
                <a:tab pos="1890713" algn="l"/>
              </a:tabLst>
            </a:pPr>
            <a:endParaRPr lang="en-US" altLang="en-US" sz="17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3090" name="Rectangle 2"/>
          <p:cNvSpPr>
            <a:spLocks noGrp="1" noChangeArrowheads="1"/>
          </p:cNvSpPr>
          <p:nvPr>
            <p:ph type="title"/>
          </p:nvPr>
        </p:nvSpPr>
        <p:spPr>
          <a:xfrm>
            <a:off x="889000" y="246063"/>
            <a:ext cx="8058150" cy="457200"/>
          </a:xfrm>
        </p:spPr>
        <p:txBody>
          <a:bodyPr/>
          <a:lstStyle/>
          <a:p>
            <a:r>
              <a:rPr lang="en-US" altLang="en-US" sz="2800" dirty="0"/>
              <a:t>Insertion (Cont.)</a:t>
            </a:r>
          </a:p>
        </p:txBody>
      </p:sp>
      <p:sp>
        <p:nvSpPr>
          <p:cNvPr id="65538" name="Rectangle 3"/>
          <p:cNvSpPr>
            <a:spLocks noGrp="1" noChangeArrowheads="1"/>
          </p:cNvSpPr>
          <p:nvPr>
            <p:ph type="body" idx="1"/>
          </p:nvPr>
        </p:nvSpPr>
        <p:spPr>
          <a:xfrm>
            <a:off x="790113" y="1106488"/>
            <a:ext cx="7561407" cy="5074856"/>
          </a:xfrm>
        </p:spPr>
        <p:txBody>
          <a:bodyPr/>
          <a:lstStyle/>
          <a:p>
            <a:pPr>
              <a:tabLst>
                <a:tab pos="908050" algn="l"/>
              </a:tabLst>
            </a:pPr>
            <a:r>
              <a:rPr lang="en-US" altLang="en-US" sz="1700" dirty="0"/>
              <a:t>Make each student in the Music department who has earned more than 144 credit hours an instructor in the Music department with a salary of  $18,000.</a:t>
            </a:r>
          </a:p>
          <a:p>
            <a:pPr>
              <a:buFont typeface="Monotype Sorts" charset="2"/>
              <a:buNone/>
              <a:tabLst>
                <a:tab pos="908050" algn="l"/>
              </a:tabLst>
            </a:pPr>
            <a:r>
              <a:rPr lang="en-US" altLang="en-US" sz="1700" dirty="0"/>
              <a:t>	    </a:t>
            </a:r>
            <a:r>
              <a:rPr lang="en-US" altLang="en-US" sz="1700" b="1" dirty="0"/>
              <a:t>insert into </a:t>
            </a:r>
            <a:r>
              <a:rPr lang="en-US" altLang="en-US" sz="1700" i="1" dirty="0"/>
              <a:t>instructor</a:t>
            </a:r>
            <a:br>
              <a:rPr lang="en-US" altLang="en-US" sz="1700" i="1" dirty="0"/>
            </a:br>
            <a:r>
              <a:rPr lang="en-US" altLang="en-US" sz="1700" i="1" dirty="0"/>
              <a:t>	</a:t>
            </a:r>
            <a:r>
              <a:rPr lang="en-US" altLang="en-US" sz="1700" b="1" dirty="0"/>
              <a:t>select </a:t>
            </a:r>
            <a:r>
              <a:rPr lang="en-US" altLang="en-US" sz="1700" i="1" dirty="0"/>
              <a:t>ID, name, dept_name, 18000</a:t>
            </a:r>
            <a:br>
              <a:rPr lang="en-US" altLang="en-US" sz="1700" i="1" dirty="0"/>
            </a:br>
            <a:r>
              <a:rPr lang="en-US" altLang="en-US" sz="1700" i="1" dirty="0"/>
              <a:t>         </a:t>
            </a:r>
            <a:r>
              <a:rPr lang="en-US" altLang="en-US" sz="1700" b="1" dirty="0"/>
              <a:t>from </a:t>
            </a:r>
            <a:r>
              <a:rPr lang="en-US" altLang="en-US" sz="1700" i="1" dirty="0"/>
              <a:t>  student </a:t>
            </a:r>
            <a:br>
              <a:rPr lang="en-US" altLang="en-US" sz="1700" i="1" dirty="0"/>
            </a:br>
            <a:r>
              <a:rPr lang="en-US" altLang="en-US" sz="1700" i="1" dirty="0"/>
              <a:t>         </a:t>
            </a:r>
            <a:r>
              <a:rPr lang="en-US" altLang="en-US" sz="1700" b="1" dirty="0"/>
              <a:t>where </a:t>
            </a:r>
            <a:r>
              <a:rPr lang="en-US" altLang="en-US" sz="1700" i="1" dirty="0"/>
              <a:t>  dept_name = '</a:t>
            </a:r>
            <a:r>
              <a:rPr lang="en-US" altLang="en-US" sz="1700" dirty="0"/>
              <a:t>Music' </a:t>
            </a:r>
            <a:r>
              <a:rPr lang="en-US" altLang="en-US" sz="1700" b="1" dirty="0"/>
              <a:t>and </a:t>
            </a:r>
            <a:r>
              <a:rPr lang="en-US" altLang="en-US" sz="1700" i="1" dirty="0" err="1"/>
              <a:t>total_cred</a:t>
            </a:r>
            <a:r>
              <a:rPr lang="en-US" altLang="en-US" sz="1700" b="1" dirty="0"/>
              <a:t> </a:t>
            </a:r>
            <a:r>
              <a:rPr lang="en-US" altLang="en-US" sz="1700" dirty="0"/>
              <a:t>&gt;</a:t>
            </a:r>
            <a:r>
              <a:rPr lang="en-US" altLang="en-US" sz="1700" b="1" dirty="0"/>
              <a:t> </a:t>
            </a:r>
            <a:r>
              <a:rPr lang="en-US" altLang="en-US" sz="1700" dirty="0"/>
              <a:t>144;</a:t>
            </a:r>
            <a:endParaRPr lang="en-US" altLang="en-US" i="1" dirty="0"/>
          </a:p>
          <a:p>
            <a:pPr>
              <a:buFont typeface="Monotype Sorts" charset="2"/>
              <a:buNone/>
              <a:tabLst>
                <a:tab pos="908050" algn="l"/>
              </a:tabLst>
            </a:pPr>
            <a:r>
              <a:rPr lang="en-US" altLang="en-US" sz="800" i="1" dirty="0"/>
              <a:t> </a:t>
            </a:r>
          </a:p>
          <a:p>
            <a:pPr>
              <a:tabLst>
                <a:tab pos="908050" algn="l"/>
              </a:tabLst>
            </a:pPr>
            <a:r>
              <a:rPr lang="en-US" altLang="en-US" sz="1700" dirty="0"/>
              <a:t>The </a:t>
            </a:r>
            <a:r>
              <a:rPr lang="en-US" altLang="en-US" sz="1700" b="1" dirty="0"/>
              <a:t>select from where</a:t>
            </a:r>
            <a:r>
              <a:rPr lang="en-US" altLang="en-US" sz="1700" dirty="0"/>
              <a:t> statement is evaluated fully before any of its results are inserted into the relation.  </a:t>
            </a:r>
          </a:p>
          <a:p>
            <a:pPr>
              <a:buFont typeface="Monotype Sorts" charset="2"/>
              <a:buNone/>
              <a:tabLst>
                <a:tab pos="908050" algn="l"/>
              </a:tabLst>
            </a:pPr>
            <a:r>
              <a:rPr lang="en-US" altLang="en-US" sz="1700" dirty="0"/>
              <a:t>     Otherwise queries like</a:t>
            </a:r>
          </a:p>
          <a:p>
            <a:pPr>
              <a:buFont typeface="Monotype Sorts" charset="2"/>
              <a:buNone/>
              <a:tabLst>
                <a:tab pos="908050" algn="l"/>
              </a:tabLst>
            </a:pPr>
            <a:r>
              <a:rPr lang="en-US" altLang="en-US" sz="1700" dirty="0"/>
              <a:t>       	</a:t>
            </a:r>
            <a:r>
              <a:rPr lang="en-US" altLang="en-US" sz="1700" b="1" dirty="0"/>
              <a:t>insert into</a:t>
            </a:r>
            <a:r>
              <a:rPr lang="en-US" altLang="en-US" sz="1700" dirty="0"/>
              <a:t> </a:t>
            </a:r>
            <a:r>
              <a:rPr lang="en-US" altLang="en-US" sz="1700" i="1" dirty="0"/>
              <a:t>table</a:t>
            </a:r>
            <a:r>
              <a:rPr lang="en-US" altLang="en-US" sz="1700" dirty="0"/>
              <a:t>1 </a:t>
            </a:r>
            <a:r>
              <a:rPr lang="en-US" altLang="en-US" sz="1700" b="1" dirty="0"/>
              <a:t>select</a:t>
            </a:r>
            <a:r>
              <a:rPr lang="en-US" altLang="en-US" sz="1700" dirty="0"/>
              <a:t> * </a:t>
            </a:r>
            <a:r>
              <a:rPr lang="en-US" altLang="en-US" sz="1700" b="1" dirty="0"/>
              <a:t>from</a:t>
            </a:r>
            <a:r>
              <a:rPr lang="en-US" altLang="en-US" sz="1700" dirty="0"/>
              <a:t> </a:t>
            </a:r>
            <a:r>
              <a:rPr lang="en-US" altLang="en-US" sz="1700" i="1" dirty="0"/>
              <a:t>table</a:t>
            </a:r>
            <a:r>
              <a:rPr lang="en-US" altLang="en-US" sz="1700" dirty="0"/>
              <a:t>1</a:t>
            </a:r>
          </a:p>
          <a:p>
            <a:pPr>
              <a:buFont typeface="Monotype Sorts" charset="2"/>
              <a:buNone/>
              <a:tabLst>
                <a:tab pos="908050" algn="l"/>
              </a:tabLst>
            </a:pPr>
            <a:r>
              <a:rPr lang="en-US" altLang="en-US" sz="1700" dirty="0"/>
              <a:t>       would cause problem</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5138" name="Rectangle 2"/>
          <p:cNvSpPr>
            <a:spLocks noGrp="1" noChangeArrowheads="1"/>
          </p:cNvSpPr>
          <p:nvPr>
            <p:ph type="title"/>
          </p:nvPr>
        </p:nvSpPr>
        <p:spPr>
          <a:xfrm>
            <a:off x="881063" y="123825"/>
            <a:ext cx="8077200" cy="609600"/>
          </a:xfrm>
        </p:spPr>
        <p:txBody>
          <a:bodyPr/>
          <a:lstStyle/>
          <a:p>
            <a:r>
              <a:rPr lang="en-US" altLang="en-US" sz="2800" dirty="0"/>
              <a:t>Updates</a:t>
            </a:r>
          </a:p>
        </p:txBody>
      </p:sp>
      <p:sp>
        <p:nvSpPr>
          <p:cNvPr id="66562" name="Rectangle 3"/>
          <p:cNvSpPr>
            <a:spLocks noGrp="1" noChangeArrowheads="1"/>
          </p:cNvSpPr>
          <p:nvPr>
            <p:ph type="body" idx="1"/>
          </p:nvPr>
        </p:nvSpPr>
        <p:spPr>
          <a:xfrm>
            <a:off x="781235" y="1105345"/>
            <a:ext cx="7634796" cy="4876800"/>
          </a:xfrm>
        </p:spPr>
        <p:txBody>
          <a:bodyPr/>
          <a:lstStyle/>
          <a:p>
            <a:pPr>
              <a:tabLst>
                <a:tab pos="2336800" algn="l"/>
              </a:tabLst>
            </a:pPr>
            <a:r>
              <a:rPr lang="en-US" altLang="en-US" sz="1700" dirty="0"/>
              <a:t>Give  a  5% salary raise to all instructors</a:t>
            </a:r>
          </a:p>
          <a:p>
            <a:pPr lvl="1">
              <a:buFont typeface="Monotype Sorts" charset="2"/>
              <a:buNone/>
              <a:tabLst>
                <a:tab pos="2336800" algn="l"/>
              </a:tabLst>
            </a:pPr>
            <a:r>
              <a:rPr lang="en-US" altLang="en-US" sz="1700" dirty="0"/>
              <a:t>	           </a:t>
            </a:r>
            <a:r>
              <a:rPr lang="en-US" altLang="en-US" sz="1700" b="1" dirty="0">
                <a:sym typeface="Symbol" panose="05050102010706020507" pitchFamily="18" charset="2"/>
              </a:rPr>
              <a:t>update </a:t>
            </a:r>
            <a:r>
              <a:rPr lang="en-US" altLang="en-US" sz="1700" i="1" dirty="0">
                <a:sym typeface="Symbol" panose="05050102010706020507" pitchFamily="18" charset="2"/>
              </a:rPr>
              <a:t>instructor</a:t>
            </a:r>
            <a:br>
              <a:rPr lang="en-US" altLang="en-US" sz="1700" i="1" dirty="0">
                <a:sym typeface="Symbol" panose="05050102010706020507" pitchFamily="18" charset="2"/>
              </a:rPr>
            </a:br>
            <a:r>
              <a:rPr lang="en-US" altLang="en-US" sz="1700" i="1" dirty="0">
                <a:sym typeface="Symbol" panose="05050102010706020507" pitchFamily="18" charset="2"/>
              </a:rPr>
              <a:t>               </a:t>
            </a:r>
            <a:r>
              <a:rPr lang="en-US" altLang="en-US" sz="1700" b="1" dirty="0">
                <a:sym typeface="Symbol" panose="05050102010706020507" pitchFamily="18" charset="2"/>
              </a:rPr>
              <a:t>set </a:t>
            </a:r>
            <a:r>
              <a:rPr lang="en-US" altLang="en-US" sz="1700" i="1" dirty="0">
                <a:sym typeface="Symbol" panose="05050102010706020507" pitchFamily="18" charset="2"/>
              </a:rPr>
              <a:t>salary </a:t>
            </a:r>
            <a:r>
              <a:rPr lang="en-US" altLang="en-US" sz="1700" dirty="0">
                <a:sym typeface="Symbol" panose="05050102010706020507" pitchFamily="18" charset="2"/>
              </a:rPr>
              <a:t>= </a:t>
            </a:r>
            <a:r>
              <a:rPr lang="en-US" altLang="en-US" sz="1700" i="1" dirty="0">
                <a:sym typeface="Symbol" panose="05050102010706020507" pitchFamily="18" charset="2"/>
              </a:rPr>
              <a:t>salary </a:t>
            </a:r>
            <a:r>
              <a:rPr lang="en-US" altLang="en-US" sz="1700" dirty="0">
                <a:sym typeface="Symbol" panose="05050102010706020507" pitchFamily="18" charset="2"/>
              </a:rPr>
              <a:t>* 1.05</a:t>
            </a:r>
          </a:p>
          <a:p>
            <a:pPr>
              <a:tabLst>
                <a:tab pos="2336800" algn="l"/>
              </a:tabLst>
            </a:pPr>
            <a:r>
              <a:rPr lang="en-US" altLang="en-US" sz="1700" dirty="0"/>
              <a:t>Give  a 5% salary raise to those instructors who </a:t>
            </a:r>
            <a:r>
              <a:rPr lang="en-US" altLang="en-US" dirty="0"/>
              <a:t>earn</a:t>
            </a:r>
            <a:r>
              <a:rPr lang="en-US" altLang="en-US" sz="1700" dirty="0"/>
              <a:t> less than 70000</a:t>
            </a:r>
            <a:r>
              <a:rPr lang="en-US" altLang="en-US" sz="1700" dirty="0">
                <a:sym typeface="Symbol" panose="05050102010706020507" pitchFamily="18" charset="2"/>
              </a:rPr>
              <a:t/>
            </a:r>
            <a:br>
              <a:rPr lang="en-US" altLang="en-US" sz="1700" dirty="0">
                <a:sym typeface="Symbol" panose="05050102010706020507" pitchFamily="18" charset="2"/>
              </a:rPr>
            </a:br>
            <a:r>
              <a:rPr lang="en-US" altLang="en-US" sz="1700" dirty="0">
                <a:sym typeface="Symbol" panose="05050102010706020507" pitchFamily="18" charset="2"/>
              </a:rPr>
              <a:t>                </a:t>
            </a:r>
            <a:r>
              <a:rPr lang="en-US" altLang="en-US" sz="1700" b="1" dirty="0">
                <a:sym typeface="Symbol" panose="05050102010706020507" pitchFamily="18" charset="2"/>
              </a:rPr>
              <a:t>update </a:t>
            </a:r>
            <a:r>
              <a:rPr lang="en-US" altLang="en-US" sz="1700" i="1" dirty="0">
                <a:sym typeface="Symbol" panose="05050102010706020507" pitchFamily="18" charset="2"/>
              </a:rPr>
              <a:t>instructor</a:t>
            </a:r>
            <a:br>
              <a:rPr lang="en-US" altLang="en-US" sz="1700" i="1" dirty="0">
                <a:sym typeface="Symbol" panose="05050102010706020507" pitchFamily="18" charset="2"/>
              </a:rPr>
            </a:br>
            <a:r>
              <a:rPr lang="en-US" altLang="en-US" sz="1700" i="1" dirty="0">
                <a:sym typeface="Symbol" panose="05050102010706020507" pitchFamily="18" charset="2"/>
              </a:rPr>
              <a:t>                     </a:t>
            </a:r>
            <a:r>
              <a:rPr lang="en-US" altLang="en-US" sz="1700" b="1" dirty="0">
                <a:sym typeface="Symbol" panose="05050102010706020507" pitchFamily="18" charset="2"/>
              </a:rPr>
              <a:t>set </a:t>
            </a:r>
            <a:r>
              <a:rPr lang="en-US" altLang="en-US" sz="1700" i="1" dirty="0">
                <a:sym typeface="Symbol" panose="05050102010706020507" pitchFamily="18" charset="2"/>
              </a:rPr>
              <a:t>salary </a:t>
            </a:r>
            <a:r>
              <a:rPr lang="en-US" altLang="en-US" sz="1700" dirty="0">
                <a:sym typeface="Symbol" panose="05050102010706020507" pitchFamily="18" charset="2"/>
              </a:rPr>
              <a:t>= </a:t>
            </a:r>
            <a:r>
              <a:rPr lang="en-US" altLang="en-US" sz="1700" i="1" dirty="0">
                <a:sym typeface="Symbol" panose="05050102010706020507" pitchFamily="18" charset="2"/>
              </a:rPr>
              <a:t>salary </a:t>
            </a:r>
            <a:r>
              <a:rPr lang="en-US" altLang="en-US" sz="1700" dirty="0">
                <a:sym typeface="Symbol" panose="05050102010706020507" pitchFamily="18" charset="2"/>
              </a:rPr>
              <a:t>* 1.05</a:t>
            </a:r>
            <a:br>
              <a:rPr lang="en-US" altLang="en-US" sz="1700" dirty="0">
                <a:sym typeface="Symbol" panose="05050102010706020507" pitchFamily="18" charset="2"/>
              </a:rPr>
            </a:br>
            <a:r>
              <a:rPr lang="en-US" altLang="en-US" sz="1700" dirty="0">
                <a:sym typeface="Symbol" panose="05050102010706020507" pitchFamily="18" charset="2"/>
              </a:rPr>
              <a:t>                    </a:t>
            </a:r>
            <a:r>
              <a:rPr lang="en-US" altLang="en-US" sz="1700" b="1" dirty="0">
                <a:sym typeface="Symbol" panose="05050102010706020507" pitchFamily="18" charset="2"/>
              </a:rPr>
              <a:t>where </a:t>
            </a:r>
            <a:r>
              <a:rPr lang="en-US" altLang="en-US" sz="1700" i="1" dirty="0">
                <a:sym typeface="Symbol" panose="05050102010706020507" pitchFamily="18" charset="2"/>
              </a:rPr>
              <a:t>salary </a:t>
            </a:r>
            <a:r>
              <a:rPr lang="en-US" altLang="en-US" sz="1700" dirty="0">
                <a:sym typeface="Symbol" panose="05050102010706020507" pitchFamily="18" charset="2"/>
              </a:rPr>
              <a:t>&lt; 70000;</a:t>
            </a:r>
          </a:p>
          <a:p>
            <a:pPr>
              <a:tabLst>
                <a:tab pos="2336800" algn="l"/>
              </a:tabLst>
            </a:pPr>
            <a:r>
              <a:rPr lang="en-US" altLang="en-US" sz="1700" dirty="0"/>
              <a:t>Give  a 5% salary raise to instructors whose salary is less than average</a:t>
            </a:r>
          </a:p>
          <a:p>
            <a:pPr>
              <a:buNone/>
              <a:tabLst>
                <a:tab pos="2336800" algn="l"/>
              </a:tabLst>
            </a:pPr>
            <a:r>
              <a:rPr lang="en-US" altLang="en-US" sz="1700" b="1" dirty="0">
                <a:sym typeface="Symbol" panose="05050102010706020507" pitchFamily="18" charset="2"/>
              </a:rPr>
              <a:t>                          update </a:t>
            </a:r>
            <a:r>
              <a:rPr lang="en-US" altLang="en-US" sz="1700" i="1" dirty="0">
                <a:sym typeface="Symbol" panose="05050102010706020507" pitchFamily="18" charset="2"/>
              </a:rPr>
              <a:t>instructor</a:t>
            </a:r>
            <a:br>
              <a:rPr lang="en-US" altLang="en-US" sz="1700" i="1" dirty="0">
                <a:sym typeface="Symbol" panose="05050102010706020507" pitchFamily="18" charset="2"/>
              </a:rPr>
            </a:br>
            <a:r>
              <a:rPr lang="en-US" altLang="en-US" sz="1700" i="1" dirty="0">
                <a:sym typeface="Symbol" panose="05050102010706020507" pitchFamily="18" charset="2"/>
              </a:rPr>
              <a:t>                     </a:t>
            </a:r>
            <a:r>
              <a:rPr lang="en-US" altLang="en-US" sz="1700" b="1" dirty="0">
                <a:sym typeface="Symbol" panose="05050102010706020507" pitchFamily="18" charset="2"/>
              </a:rPr>
              <a:t>set </a:t>
            </a:r>
            <a:r>
              <a:rPr lang="en-US" altLang="en-US" sz="1700" i="1" dirty="0">
                <a:sym typeface="Symbol" panose="05050102010706020507" pitchFamily="18" charset="2"/>
              </a:rPr>
              <a:t>salary </a:t>
            </a:r>
            <a:r>
              <a:rPr lang="en-US" altLang="en-US" sz="1700" dirty="0">
                <a:sym typeface="Symbol" panose="05050102010706020507" pitchFamily="18" charset="2"/>
              </a:rPr>
              <a:t>= </a:t>
            </a:r>
            <a:r>
              <a:rPr lang="en-US" altLang="en-US" sz="1700" i="1" dirty="0">
                <a:sym typeface="Symbol" panose="05050102010706020507" pitchFamily="18" charset="2"/>
              </a:rPr>
              <a:t>salary </a:t>
            </a:r>
            <a:r>
              <a:rPr lang="en-US" altLang="en-US" sz="1700" dirty="0">
                <a:sym typeface="Symbol" panose="05050102010706020507" pitchFamily="18" charset="2"/>
              </a:rPr>
              <a:t>* 1.05</a:t>
            </a:r>
            <a:br>
              <a:rPr lang="en-US" altLang="en-US" sz="1700" dirty="0">
                <a:sym typeface="Symbol" panose="05050102010706020507" pitchFamily="18" charset="2"/>
              </a:rPr>
            </a:br>
            <a:r>
              <a:rPr lang="en-US" altLang="en-US" sz="1700" dirty="0">
                <a:sym typeface="Symbol" panose="05050102010706020507" pitchFamily="18" charset="2"/>
              </a:rPr>
              <a:t>                     </a:t>
            </a:r>
            <a:r>
              <a:rPr lang="en-US" altLang="en-US" sz="1700" b="1" dirty="0">
                <a:sym typeface="Symbol" panose="05050102010706020507" pitchFamily="18" charset="2"/>
              </a:rPr>
              <a:t>where </a:t>
            </a:r>
            <a:r>
              <a:rPr lang="en-US" altLang="en-US" sz="1700" i="1" dirty="0">
                <a:sym typeface="Symbol" panose="05050102010706020507" pitchFamily="18" charset="2"/>
              </a:rPr>
              <a:t>salary </a:t>
            </a:r>
            <a:r>
              <a:rPr lang="en-US" altLang="en-US" sz="1700" dirty="0">
                <a:sym typeface="Symbol" panose="05050102010706020507" pitchFamily="18" charset="2"/>
              </a:rPr>
              <a:t>&lt;  (</a:t>
            </a:r>
            <a:r>
              <a:rPr lang="en-US" altLang="en-US" sz="1700" b="1" dirty="0">
                <a:sym typeface="Symbol" panose="05050102010706020507" pitchFamily="18" charset="2"/>
              </a:rPr>
              <a:t>select </a:t>
            </a:r>
            <a:r>
              <a:rPr lang="en-US" altLang="en-US" sz="1700" b="1" dirty="0" err="1">
                <a:sym typeface="Symbol" panose="05050102010706020507" pitchFamily="18" charset="2"/>
              </a:rPr>
              <a:t>avg</a:t>
            </a:r>
            <a:r>
              <a:rPr lang="en-US" altLang="en-US" sz="1700" b="1" dirty="0">
                <a:sym typeface="Symbol" panose="05050102010706020507" pitchFamily="18" charset="2"/>
              </a:rPr>
              <a:t> </a:t>
            </a:r>
            <a:r>
              <a:rPr lang="en-US" altLang="en-US" sz="1700" dirty="0">
                <a:sym typeface="Symbol" panose="05050102010706020507" pitchFamily="18" charset="2"/>
              </a:rPr>
              <a:t>(salary)</a:t>
            </a:r>
            <a:br>
              <a:rPr lang="en-US" altLang="en-US" sz="1700" dirty="0">
                <a:sym typeface="Symbol" panose="05050102010706020507" pitchFamily="18" charset="2"/>
              </a:rPr>
            </a:br>
            <a:r>
              <a:rPr lang="en-US" altLang="en-US" sz="1700" dirty="0">
                <a:sym typeface="Symbol" panose="05050102010706020507" pitchFamily="18" charset="2"/>
              </a:rPr>
              <a:t>                                                 </a:t>
            </a:r>
            <a:r>
              <a:rPr lang="en-US" altLang="en-US" sz="1700" b="1" dirty="0">
                <a:sym typeface="Symbol" panose="05050102010706020507" pitchFamily="18" charset="2"/>
              </a:rPr>
              <a:t>from </a:t>
            </a:r>
            <a:r>
              <a:rPr lang="en-US" altLang="en-US" sz="1700" i="1" dirty="0">
                <a:sym typeface="Symbol" panose="05050102010706020507" pitchFamily="18" charset="2"/>
              </a:rPr>
              <a:t>instructor</a:t>
            </a:r>
            <a:r>
              <a:rPr lang="en-US" altLang="en-US" sz="1700" dirty="0">
                <a:sym typeface="Symbol" panose="05050102010706020507" pitchFamily="18" charset="2"/>
              </a:rPr>
              <a:t>);</a:t>
            </a:r>
          </a:p>
          <a:p>
            <a:pPr>
              <a:tabLst>
                <a:tab pos="2336800" algn="l"/>
              </a:tabLst>
            </a:pPr>
            <a:endParaRPr lang="en-US" altLang="en-US" dirty="0">
              <a:sym typeface="Symbol" panose="05050102010706020507" pitchFamily="18" charset="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5138" name="Rectangle 2"/>
          <p:cNvSpPr>
            <a:spLocks noGrp="1" noChangeArrowheads="1"/>
          </p:cNvSpPr>
          <p:nvPr>
            <p:ph type="title"/>
          </p:nvPr>
        </p:nvSpPr>
        <p:spPr>
          <a:xfrm>
            <a:off x="881063" y="123825"/>
            <a:ext cx="8077200" cy="609600"/>
          </a:xfrm>
        </p:spPr>
        <p:txBody>
          <a:bodyPr/>
          <a:lstStyle/>
          <a:p>
            <a:r>
              <a:rPr lang="en-US" altLang="en-US" sz="2800" dirty="0"/>
              <a:t>Updates (Cont.)</a:t>
            </a:r>
          </a:p>
        </p:txBody>
      </p:sp>
      <p:sp>
        <p:nvSpPr>
          <p:cNvPr id="66562" name="Rectangle 3"/>
          <p:cNvSpPr>
            <a:spLocks noGrp="1" noChangeArrowheads="1"/>
          </p:cNvSpPr>
          <p:nvPr>
            <p:ph type="body" idx="1"/>
          </p:nvPr>
        </p:nvSpPr>
        <p:spPr>
          <a:xfrm>
            <a:off x="781236" y="1100831"/>
            <a:ext cx="7634795" cy="3946657"/>
          </a:xfrm>
        </p:spPr>
        <p:txBody>
          <a:bodyPr/>
          <a:lstStyle/>
          <a:p>
            <a:pPr>
              <a:tabLst>
                <a:tab pos="2336800" algn="l"/>
              </a:tabLst>
            </a:pPr>
            <a:r>
              <a:rPr lang="en-US" altLang="en-US" sz="1700" dirty="0"/>
              <a:t>Increase salaries of instructors whose salary is over $100,000 by 3%, and all others by a 5% </a:t>
            </a:r>
          </a:p>
          <a:p>
            <a:pPr lvl="1">
              <a:tabLst>
                <a:tab pos="2336800" algn="l"/>
              </a:tabLst>
            </a:pPr>
            <a:r>
              <a:rPr lang="en-US" altLang="en-US" sz="1700" dirty="0"/>
              <a:t>Write two </a:t>
            </a:r>
            <a:r>
              <a:rPr lang="en-US" altLang="en-US" sz="1700" b="1" dirty="0"/>
              <a:t>update </a:t>
            </a:r>
            <a:r>
              <a:rPr lang="en-US" altLang="en-US" sz="1700" dirty="0"/>
              <a:t>statements:</a:t>
            </a:r>
          </a:p>
          <a:p>
            <a:pPr lvl="1">
              <a:buFont typeface="Monotype Sorts" charset="2"/>
              <a:buNone/>
              <a:tabLst>
                <a:tab pos="2336800" algn="l"/>
              </a:tabLst>
            </a:pPr>
            <a:r>
              <a:rPr lang="en-US" altLang="en-US" sz="1700" dirty="0"/>
              <a:t>	           </a:t>
            </a:r>
            <a:r>
              <a:rPr lang="en-US" altLang="en-US" sz="1700" b="1" dirty="0">
                <a:sym typeface="Symbol" panose="05050102010706020507" pitchFamily="18" charset="2"/>
              </a:rPr>
              <a:t>update </a:t>
            </a:r>
            <a:r>
              <a:rPr lang="en-US" altLang="en-US" sz="1700" i="1" dirty="0">
                <a:sym typeface="Symbol" panose="05050102010706020507" pitchFamily="18" charset="2"/>
              </a:rPr>
              <a:t>instructor</a:t>
            </a:r>
            <a:br>
              <a:rPr lang="en-US" altLang="en-US" sz="1700" i="1" dirty="0">
                <a:sym typeface="Symbol" panose="05050102010706020507" pitchFamily="18" charset="2"/>
              </a:rPr>
            </a:br>
            <a:r>
              <a:rPr lang="en-US" altLang="en-US" sz="1700" i="1" dirty="0">
                <a:sym typeface="Symbol" panose="05050102010706020507" pitchFamily="18" charset="2"/>
              </a:rPr>
              <a:t>               </a:t>
            </a:r>
            <a:r>
              <a:rPr lang="en-US" altLang="en-US" sz="1700" b="1" dirty="0">
                <a:sym typeface="Symbol" panose="05050102010706020507" pitchFamily="18" charset="2"/>
              </a:rPr>
              <a:t>set </a:t>
            </a:r>
            <a:r>
              <a:rPr lang="en-US" altLang="en-US" sz="1700" i="1" dirty="0">
                <a:sym typeface="Symbol" panose="05050102010706020507" pitchFamily="18" charset="2"/>
              </a:rPr>
              <a:t>salary </a:t>
            </a:r>
            <a:r>
              <a:rPr lang="en-US" altLang="en-US" sz="1700" dirty="0">
                <a:sym typeface="Symbol" panose="05050102010706020507" pitchFamily="18" charset="2"/>
              </a:rPr>
              <a:t>= </a:t>
            </a:r>
            <a:r>
              <a:rPr lang="en-US" altLang="en-US" sz="1700" i="1" dirty="0">
                <a:sym typeface="Symbol" panose="05050102010706020507" pitchFamily="18" charset="2"/>
              </a:rPr>
              <a:t>salary </a:t>
            </a:r>
            <a:r>
              <a:rPr lang="en-US" altLang="en-US" sz="1700" dirty="0">
                <a:sym typeface="Symbol" panose="05050102010706020507" pitchFamily="18" charset="2"/>
              </a:rPr>
              <a:t>* 1.03</a:t>
            </a:r>
            <a:br>
              <a:rPr lang="en-US" altLang="en-US" sz="1700" dirty="0">
                <a:sym typeface="Symbol" panose="05050102010706020507" pitchFamily="18" charset="2"/>
              </a:rPr>
            </a:br>
            <a:r>
              <a:rPr lang="en-US" altLang="en-US" sz="1700" dirty="0">
                <a:sym typeface="Symbol" panose="05050102010706020507" pitchFamily="18" charset="2"/>
              </a:rPr>
              <a:t>               </a:t>
            </a:r>
            <a:r>
              <a:rPr lang="en-US" altLang="en-US" sz="1700" b="1" dirty="0">
                <a:sym typeface="Symbol" panose="05050102010706020507" pitchFamily="18" charset="2"/>
              </a:rPr>
              <a:t>where </a:t>
            </a:r>
            <a:r>
              <a:rPr lang="en-US" altLang="en-US" sz="1700" i="1" dirty="0">
                <a:sym typeface="Symbol" panose="05050102010706020507" pitchFamily="18" charset="2"/>
              </a:rPr>
              <a:t>salary </a:t>
            </a:r>
            <a:r>
              <a:rPr lang="en-US" altLang="en-US" sz="1700" dirty="0">
                <a:sym typeface="Symbol" panose="05050102010706020507" pitchFamily="18" charset="2"/>
              </a:rPr>
              <a:t>&gt; 100000;</a:t>
            </a:r>
            <a:br>
              <a:rPr lang="en-US" altLang="en-US" sz="1700" dirty="0">
                <a:sym typeface="Symbol" panose="05050102010706020507" pitchFamily="18" charset="2"/>
              </a:rPr>
            </a:br>
            <a:r>
              <a:rPr lang="en-US" altLang="en-US" sz="1700" dirty="0">
                <a:sym typeface="Symbol" panose="05050102010706020507" pitchFamily="18" charset="2"/>
              </a:rPr>
              <a:t>           </a:t>
            </a:r>
            <a:r>
              <a:rPr lang="en-US" altLang="en-US" sz="1700" b="1" dirty="0">
                <a:sym typeface="Symbol" panose="05050102010706020507" pitchFamily="18" charset="2"/>
              </a:rPr>
              <a:t>update </a:t>
            </a:r>
            <a:r>
              <a:rPr lang="en-US" altLang="en-US" sz="1700" i="1" dirty="0">
                <a:sym typeface="Symbol" panose="05050102010706020507" pitchFamily="18" charset="2"/>
              </a:rPr>
              <a:t>instructor</a:t>
            </a:r>
            <a:br>
              <a:rPr lang="en-US" altLang="en-US" sz="1700" i="1" dirty="0">
                <a:sym typeface="Symbol" panose="05050102010706020507" pitchFamily="18" charset="2"/>
              </a:rPr>
            </a:br>
            <a:r>
              <a:rPr lang="en-US" altLang="en-US" sz="1700" i="1" dirty="0">
                <a:sym typeface="Symbol" panose="05050102010706020507" pitchFamily="18" charset="2"/>
              </a:rPr>
              <a:t>                </a:t>
            </a:r>
            <a:r>
              <a:rPr lang="en-US" altLang="en-US" sz="1700" b="1" dirty="0">
                <a:sym typeface="Symbol" panose="05050102010706020507" pitchFamily="18" charset="2"/>
              </a:rPr>
              <a:t>set </a:t>
            </a:r>
            <a:r>
              <a:rPr lang="en-US" altLang="en-US" sz="1700" i="1" dirty="0">
                <a:sym typeface="Symbol" panose="05050102010706020507" pitchFamily="18" charset="2"/>
              </a:rPr>
              <a:t>salary </a:t>
            </a:r>
            <a:r>
              <a:rPr lang="en-US" altLang="en-US" sz="1700" dirty="0">
                <a:sym typeface="Symbol" panose="05050102010706020507" pitchFamily="18" charset="2"/>
              </a:rPr>
              <a:t>= </a:t>
            </a:r>
            <a:r>
              <a:rPr lang="en-US" altLang="en-US" sz="1700" i="1" dirty="0">
                <a:sym typeface="Symbol" panose="05050102010706020507" pitchFamily="18" charset="2"/>
              </a:rPr>
              <a:t>salary </a:t>
            </a:r>
            <a:r>
              <a:rPr lang="en-US" altLang="en-US" sz="1700" dirty="0">
                <a:sym typeface="Symbol" panose="05050102010706020507" pitchFamily="18" charset="2"/>
              </a:rPr>
              <a:t>* 1.05</a:t>
            </a:r>
            <a:br>
              <a:rPr lang="en-US" altLang="en-US" sz="1700" dirty="0">
                <a:sym typeface="Symbol" panose="05050102010706020507" pitchFamily="18" charset="2"/>
              </a:rPr>
            </a:br>
            <a:r>
              <a:rPr lang="en-US" altLang="en-US" sz="1700" dirty="0">
                <a:sym typeface="Symbol" panose="05050102010706020507" pitchFamily="18" charset="2"/>
              </a:rPr>
              <a:t>                </a:t>
            </a:r>
            <a:r>
              <a:rPr lang="en-US" altLang="en-US" sz="1700" b="1" dirty="0">
                <a:sym typeface="Symbol" panose="05050102010706020507" pitchFamily="18" charset="2"/>
              </a:rPr>
              <a:t>where </a:t>
            </a:r>
            <a:r>
              <a:rPr lang="en-US" altLang="en-US" sz="1700" i="1" dirty="0">
                <a:sym typeface="Symbol" panose="05050102010706020507" pitchFamily="18" charset="2"/>
              </a:rPr>
              <a:t>salary </a:t>
            </a:r>
            <a:r>
              <a:rPr lang="en-US" altLang="en-US" sz="1700" dirty="0">
                <a:sym typeface="Symbol" panose="05050102010706020507" pitchFamily="18" charset="2"/>
              </a:rPr>
              <a:t>&lt;= 100000;</a:t>
            </a:r>
          </a:p>
          <a:p>
            <a:pPr lvl="1">
              <a:tabLst>
                <a:tab pos="2336800" algn="l"/>
              </a:tabLst>
            </a:pPr>
            <a:r>
              <a:rPr lang="en-US" altLang="en-US" sz="1700" dirty="0">
                <a:sym typeface="Symbol" panose="05050102010706020507" pitchFamily="18" charset="2"/>
              </a:rPr>
              <a:t>The order is important</a:t>
            </a:r>
          </a:p>
          <a:p>
            <a:pPr lvl="1">
              <a:tabLst>
                <a:tab pos="2336800" algn="l"/>
              </a:tabLst>
            </a:pPr>
            <a:r>
              <a:rPr lang="en-US" altLang="en-US" sz="1700" dirty="0">
                <a:sym typeface="Symbol" panose="05050102010706020507" pitchFamily="18" charset="2"/>
              </a:rPr>
              <a:t>Can be done better using the </a:t>
            </a:r>
            <a:r>
              <a:rPr lang="en-US" altLang="en-US" sz="1700" b="1" dirty="0">
                <a:sym typeface="Symbol" panose="05050102010706020507" pitchFamily="18" charset="2"/>
              </a:rPr>
              <a:t>case </a:t>
            </a:r>
            <a:r>
              <a:rPr lang="en-US" altLang="en-US" sz="1700" dirty="0">
                <a:sym typeface="Symbol" panose="05050102010706020507" pitchFamily="18" charset="2"/>
              </a:rPr>
              <a:t>statement (next slide)</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7186" name="Rectangle 2"/>
          <p:cNvSpPr>
            <a:spLocks noGrp="1" noChangeArrowheads="1"/>
          </p:cNvSpPr>
          <p:nvPr>
            <p:ph type="title"/>
          </p:nvPr>
        </p:nvSpPr>
        <p:spPr>
          <a:xfrm>
            <a:off x="895350" y="80963"/>
            <a:ext cx="8077200" cy="609600"/>
          </a:xfrm>
        </p:spPr>
        <p:txBody>
          <a:bodyPr/>
          <a:lstStyle/>
          <a:p>
            <a:r>
              <a:rPr lang="en-US" altLang="en-US" sz="2800" dirty="0"/>
              <a:t>Case Statement for Conditional Updates</a:t>
            </a:r>
          </a:p>
        </p:txBody>
      </p:sp>
      <p:sp>
        <p:nvSpPr>
          <p:cNvPr id="67586" name="Rectangle 3"/>
          <p:cNvSpPr>
            <a:spLocks noGrp="1" noChangeArrowheads="1"/>
          </p:cNvSpPr>
          <p:nvPr>
            <p:ph type="body" idx="1"/>
          </p:nvPr>
        </p:nvSpPr>
        <p:spPr>
          <a:xfrm>
            <a:off x="781235" y="1093789"/>
            <a:ext cx="7228909" cy="2576003"/>
          </a:xfrm>
        </p:spPr>
        <p:txBody>
          <a:bodyPr/>
          <a:lstStyle/>
          <a:p>
            <a:r>
              <a:rPr lang="en-US" altLang="en-US" sz="1700" dirty="0"/>
              <a:t>Same query as before but with case statement</a:t>
            </a:r>
          </a:p>
          <a:p>
            <a:pPr>
              <a:buFont typeface="Monotype Sorts" charset="2"/>
              <a:buNone/>
            </a:pPr>
            <a:r>
              <a:rPr lang="en-US" altLang="en-US" sz="1700" dirty="0"/>
              <a:t>		 </a:t>
            </a:r>
            <a:r>
              <a:rPr lang="en-US" altLang="en-US" sz="1700" b="1" dirty="0"/>
              <a:t>update </a:t>
            </a:r>
            <a:r>
              <a:rPr lang="en-US" altLang="en-US" sz="1700" i="1" dirty="0"/>
              <a:t>instructor</a:t>
            </a:r>
            <a:br>
              <a:rPr lang="en-US" altLang="en-US" sz="1700" i="1" dirty="0"/>
            </a:br>
            <a:r>
              <a:rPr lang="en-US" altLang="en-US" sz="1700" i="1" dirty="0"/>
              <a:t>               </a:t>
            </a:r>
            <a:r>
              <a:rPr lang="en-US" altLang="en-US" sz="1700" b="1" dirty="0"/>
              <a:t>set </a:t>
            </a:r>
            <a:r>
              <a:rPr lang="en-US" altLang="en-US" sz="1700" i="1" dirty="0"/>
              <a:t>salary </a:t>
            </a:r>
            <a:r>
              <a:rPr lang="en-US" altLang="en-US" sz="1700" dirty="0"/>
              <a:t>= </a:t>
            </a:r>
            <a:r>
              <a:rPr lang="en-US" altLang="en-US" sz="1700" b="1" dirty="0"/>
              <a:t>case</a:t>
            </a:r>
            <a:br>
              <a:rPr lang="en-US" altLang="en-US" sz="1700" b="1" dirty="0"/>
            </a:br>
            <a:r>
              <a:rPr lang="en-US" altLang="en-US" sz="1700" b="1" dirty="0"/>
              <a:t>                                      when </a:t>
            </a:r>
            <a:r>
              <a:rPr lang="en-US" altLang="en-US" sz="1700" i="1" dirty="0"/>
              <a:t>salary </a:t>
            </a:r>
            <a:r>
              <a:rPr lang="en-US" altLang="en-US" sz="1700" dirty="0"/>
              <a:t>&lt;= 100000 </a:t>
            </a:r>
            <a:r>
              <a:rPr lang="en-US" altLang="en-US" sz="1700" b="1" dirty="0"/>
              <a:t>then </a:t>
            </a:r>
            <a:r>
              <a:rPr lang="en-US" altLang="en-US" sz="1700" i="1" dirty="0"/>
              <a:t>salary </a:t>
            </a:r>
            <a:r>
              <a:rPr lang="en-US" altLang="en-US" sz="1700" dirty="0"/>
              <a:t>* 1.05</a:t>
            </a:r>
            <a:br>
              <a:rPr lang="en-US" altLang="en-US" sz="1700" dirty="0"/>
            </a:br>
            <a:r>
              <a:rPr lang="en-US" altLang="en-US" sz="1700" dirty="0"/>
              <a:t>                                      </a:t>
            </a:r>
            <a:r>
              <a:rPr lang="en-US" altLang="en-US" sz="1700" b="1" dirty="0"/>
              <a:t>else </a:t>
            </a:r>
            <a:r>
              <a:rPr lang="en-US" altLang="en-US" sz="1700" i="1" dirty="0"/>
              <a:t>salary </a:t>
            </a:r>
            <a:r>
              <a:rPr lang="en-US" altLang="en-US" sz="1700" dirty="0"/>
              <a:t>* 1.03</a:t>
            </a:r>
            <a:br>
              <a:rPr lang="en-US" altLang="en-US" sz="1700" dirty="0"/>
            </a:br>
            <a:r>
              <a:rPr lang="en-US" altLang="en-US" sz="1700" dirty="0"/>
              <a:t>                                     </a:t>
            </a:r>
            <a:r>
              <a:rPr lang="en-US" altLang="en-US" sz="1700" b="1" dirty="0"/>
              <a:t>end</a:t>
            </a:r>
            <a:endParaRPr lang="en-US" altLang="en-US" sz="1700" dirty="0"/>
          </a:p>
          <a:p>
            <a:pPr>
              <a:buFont typeface="Monotype Sorts" charset="2"/>
              <a:buNone/>
            </a:pPr>
            <a:endParaRPr lang="en-US"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5010" name="Rectangle 2"/>
          <p:cNvSpPr>
            <a:spLocks noGrp="1" noChangeArrowheads="1"/>
          </p:cNvSpPr>
          <p:nvPr>
            <p:ph type="title"/>
          </p:nvPr>
        </p:nvSpPr>
        <p:spPr/>
        <p:txBody>
          <a:bodyPr/>
          <a:lstStyle/>
          <a:p>
            <a:r>
              <a:rPr lang="en-US" altLang="en-US" sz="2800" dirty="0"/>
              <a:t>Updates with Scalar Subqueries</a:t>
            </a:r>
          </a:p>
        </p:txBody>
      </p:sp>
      <p:sp>
        <p:nvSpPr>
          <p:cNvPr id="68610" name="Rectangle 3"/>
          <p:cNvSpPr>
            <a:spLocks noGrp="1" noChangeArrowheads="1"/>
          </p:cNvSpPr>
          <p:nvPr>
            <p:ph type="body" idx="1"/>
          </p:nvPr>
        </p:nvSpPr>
        <p:spPr>
          <a:xfrm>
            <a:off x="768350" y="1057213"/>
            <a:ext cx="7656559" cy="4538916"/>
          </a:xfrm>
        </p:spPr>
        <p:txBody>
          <a:bodyPr/>
          <a:lstStyle/>
          <a:p>
            <a:r>
              <a:rPr lang="en-US" altLang="en-US" sz="1700" dirty="0"/>
              <a:t>Recompute and update tot_creds value for all students</a:t>
            </a:r>
          </a:p>
          <a:p>
            <a:pPr>
              <a:buFont typeface="Monotype Sorts" charset="2"/>
              <a:buNone/>
            </a:pPr>
            <a:r>
              <a:rPr lang="en-US" altLang="en-US" sz="1700" b="1" dirty="0"/>
              <a:t>           update </a:t>
            </a:r>
            <a:r>
              <a:rPr lang="en-US" altLang="en-US" sz="1700" i="1" dirty="0"/>
              <a:t>student S </a:t>
            </a:r>
            <a:br>
              <a:rPr lang="en-US" altLang="en-US" sz="1700" i="1" dirty="0"/>
            </a:br>
            <a:r>
              <a:rPr lang="en-US" altLang="en-US" sz="1700" i="1" dirty="0"/>
              <a:t>     </a:t>
            </a:r>
            <a:r>
              <a:rPr lang="en-US" altLang="en-US" sz="1700" b="1" dirty="0"/>
              <a:t>set </a:t>
            </a:r>
            <a:r>
              <a:rPr lang="en-US" altLang="en-US" sz="1700" i="1" dirty="0"/>
              <a:t>tot_cred </a:t>
            </a:r>
            <a:r>
              <a:rPr lang="en-US" altLang="en-US" sz="1700" dirty="0"/>
              <a:t>= (</a:t>
            </a:r>
            <a:r>
              <a:rPr lang="en-US" altLang="en-US" sz="1700" b="1" dirty="0"/>
              <a:t>select sum</a:t>
            </a:r>
            <a:r>
              <a:rPr lang="en-US" altLang="en-US" sz="1700" dirty="0"/>
              <a:t>(</a:t>
            </a:r>
            <a:r>
              <a:rPr lang="en-US" altLang="en-US" sz="1700" i="1" dirty="0"/>
              <a:t>credits</a:t>
            </a:r>
            <a:r>
              <a:rPr lang="en-US" altLang="en-US" sz="1700" dirty="0"/>
              <a:t>)</a:t>
            </a:r>
            <a:br>
              <a:rPr lang="en-US" altLang="en-US" sz="1700" dirty="0"/>
            </a:br>
            <a:r>
              <a:rPr lang="en-US" altLang="en-US" sz="1700" dirty="0"/>
              <a:t>                              </a:t>
            </a:r>
            <a:r>
              <a:rPr lang="en-US" altLang="en-US" sz="1700" b="1" dirty="0"/>
              <a:t>from </a:t>
            </a:r>
            <a:r>
              <a:rPr lang="en-US" altLang="en-US" sz="1700" i="1" dirty="0"/>
              <a:t>takes, course</a:t>
            </a:r>
            <a:br>
              <a:rPr lang="en-US" altLang="en-US" sz="1700" i="1" dirty="0"/>
            </a:br>
            <a:r>
              <a:rPr lang="en-US" altLang="en-US" sz="1700" i="1" dirty="0"/>
              <a:t>                              </a:t>
            </a:r>
            <a:r>
              <a:rPr lang="en-US" altLang="en-US" sz="1700" b="1" dirty="0"/>
              <a:t>where </a:t>
            </a:r>
            <a:r>
              <a:rPr lang="en-US" altLang="en-US" sz="1700" i="1" dirty="0" err="1"/>
              <a:t>takes.course_id</a:t>
            </a:r>
            <a:r>
              <a:rPr lang="en-US" altLang="en-US" sz="1700" i="1" dirty="0"/>
              <a:t> </a:t>
            </a:r>
            <a:r>
              <a:rPr lang="en-US" altLang="en-US" sz="1700" dirty="0"/>
              <a:t>= </a:t>
            </a:r>
            <a:r>
              <a:rPr lang="en-US" altLang="en-US" sz="1700" i="1" dirty="0" err="1"/>
              <a:t>course.course_id</a:t>
            </a:r>
            <a:r>
              <a:rPr lang="en-US" altLang="en-US" sz="1700" i="1" dirty="0"/>
              <a:t>  </a:t>
            </a:r>
            <a:r>
              <a:rPr lang="en-US" altLang="en-US" sz="1700" b="1" dirty="0"/>
              <a:t>and </a:t>
            </a:r>
            <a:br>
              <a:rPr lang="en-US" altLang="en-US" sz="1700" b="1" dirty="0"/>
            </a:br>
            <a:r>
              <a:rPr lang="en-US" altLang="en-US" sz="1700" b="1" dirty="0"/>
              <a:t>                                         </a:t>
            </a:r>
            <a:r>
              <a:rPr lang="en-US" altLang="en-US" sz="1700" i="1" dirty="0"/>
              <a:t>S</a:t>
            </a:r>
            <a:r>
              <a:rPr lang="en-US" altLang="en-US" sz="1700" dirty="0"/>
              <a:t>.</a:t>
            </a:r>
            <a:r>
              <a:rPr lang="en-US" altLang="en-US" sz="1700" i="1" dirty="0"/>
              <a:t>ID</a:t>
            </a:r>
            <a:r>
              <a:rPr lang="en-US" altLang="en-US" sz="1700" dirty="0"/>
              <a:t>= </a:t>
            </a:r>
            <a:r>
              <a:rPr lang="en-US" altLang="en-US" sz="1700" i="1" dirty="0" err="1"/>
              <a:t>takes</a:t>
            </a:r>
            <a:r>
              <a:rPr lang="en-US" altLang="en-US" sz="1700" dirty="0" err="1"/>
              <a:t>.</a:t>
            </a:r>
            <a:r>
              <a:rPr lang="en-US" altLang="en-US" sz="1700" i="1" dirty="0" err="1"/>
              <a:t>ID.</a:t>
            </a:r>
            <a:r>
              <a:rPr lang="en-US" altLang="en-US" sz="1700" b="1" dirty="0" err="1"/>
              <a:t>and</a:t>
            </a:r>
            <a:r>
              <a:rPr lang="en-US" altLang="en-US" sz="1700" b="1" dirty="0"/>
              <a:t>                             				  </a:t>
            </a:r>
            <a:r>
              <a:rPr lang="en-US" altLang="en-US" sz="1700" i="1" dirty="0" err="1"/>
              <a:t>takes</a:t>
            </a:r>
            <a:r>
              <a:rPr lang="en-US" altLang="en-US" sz="1700" dirty="0" err="1"/>
              <a:t>.</a:t>
            </a:r>
            <a:r>
              <a:rPr lang="en-US" altLang="en-US" sz="1700" i="1" dirty="0" err="1"/>
              <a:t>grade</a:t>
            </a:r>
            <a:r>
              <a:rPr lang="en-US" altLang="en-US" sz="1700" i="1" dirty="0"/>
              <a:t> </a:t>
            </a:r>
            <a:r>
              <a:rPr lang="en-US" altLang="en-US" sz="1700" dirty="0"/>
              <a:t>&lt;&gt; 'F' </a:t>
            </a:r>
            <a:r>
              <a:rPr lang="en-US" altLang="en-US" sz="1700" b="1" dirty="0"/>
              <a:t>and</a:t>
            </a:r>
            <a:br>
              <a:rPr lang="en-US" altLang="en-US" sz="1700" b="1" dirty="0"/>
            </a:br>
            <a:r>
              <a:rPr lang="en-US" altLang="en-US" sz="1700" b="1" dirty="0"/>
              <a:t>                                          </a:t>
            </a:r>
            <a:r>
              <a:rPr lang="en-US" altLang="en-US" sz="1700" i="1" dirty="0" err="1"/>
              <a:t>takes</a:t>
            </a:r>
            <a:r>
              <a:rPr lang="en-US" altLang="en-US" sz="1700" dirty="0" err="1"/>
              <a:t>.</a:t>
            </a:r>
            <a:r>
              <a:rPr lang="en-US" altLang="en-US" sz="1700" i="1" dirty="0" err="1"/>
              <a:t>grade</a:t>
            </a:r>
            <a:r>
              <a:rPr lang="en-US" altLang="en-US" sz="1700" i="1" dirty="0"/>
              <a:t> </a:t>
            </a:r>
            <a:r>
              <a:rPr lang="en-US" altLang="en-US" sz="1700" b="1" dirty="0"/>
              <a:t>is not null</a:t>
            </a:r>
            <a:r>
              <a:rPr lang="en-US" altLang="en-US" sz="1700" dirty="0"/>
              <a:t>);</a:t>
            </a:r>
          </a:p>
          <a:p>
            <a:r>
              <a:rPr lang="en-US" altLang="en-US" sz="1700" dirty="0"/>
              <a:t>Sets </a:t>
            </a:r>
            <a:r>
              <a:rPr lang="en-US" altLang="en-US" sz="1700" i="1" dirty="0"/>
              <a:t>tot_creds</a:t>
            </a:r>
            <a:r>
              <a:rPr lang="en-US" altLang="en-US" sz="1700" dirty="0"/>
              <a:t> to null for students who have not taken any course</a:t>
            </a:r>
          </a:p>
          <a:p>
            <a:r>
              <a:rPr lang="en-US" altLang="en-US" sz="1700" dirty="0"/>
              <a:t>Instead of </a:t>
            </a:r>
            <a:r>
              <a:rPr lang="en-US" altLang="en-US" sz="1700" b="1" dirty="0"/>
              <a:t>sum</a:t>
            </a:r>
            <a:r>
              <a:rPr lang="en-US" altLang="en-US" sz="1700" dirty="0"/>
              <a:t>(</a:t>
            </a:r>
            <a:r>
              <a:rPr lang="en-US" altLang="en-US" sz="1700" i="1" dirty="0"/>
              <a:t>credits</a:t>
            </a:r>
            <a:r>
              <a:rPr lang="en-US" altLang="en-US" sz="1700" dirty="0"/>
              <a:t>), use:</a:t>
            </a:r>
          </a:p>
          <a:p>
            <a:pPr>
              <a:buFont typeface="Monotype Sorts" charset="2"/>
              <a:buNone/>
            </a:pPr>
            <a:r>
              <a:rPr lang="en-US" altLang="en-US" sz="1700" b="1" dirty="0"/>
              <a:t>                  case </a:t>
            </a:r>
            <a:br>
              <a:rPr lang="en-US" altLang="en-US" sz="1700" b="1" dirty="0"/>
            </a:br>
            <a:r>
              <a:rPr lang="en-US" altLang="en-US" sz="1700" b="1" dirty="0"/>
              <a:t>                 when sum</a:t>
            </a:r>
            <a:r>
              <a:rPr lang="en-US" altLang="en-US" sz="1700" dirty="0"/>
              <a:t>(</a:t>
            </a:r>
            <a:r>
              <a:rPr lang="en-US" altLang="en-US" sz="1700" i="1" dirty="0"/>
              <a:t>credits</a:t>
            </a:r>
            <a:r>
              <a:rPr lang="en-US" altLang="en-US" sz="1700" dirty="0"/>
              <a:t>) </a:t>
            </a:r>
            <a:r>
              <a:rPr lang="en-US" altLang="en-US" sz="1700" b="1" dirty="0"/>
              <a:t>is not null then sum</a:t>
            </a:r>
            <a:r>
              <a:rPr lang="en-US" altLang="en-US" sz="1700" dirty="0"/>
              <a:t>(</a:t>
            </a:r>
            <a:r>
              <a:rPr lang="en-US" altLang="en-US" sz="1700" i="1" dirty="0"/>
              <a:t>credits</a:t>
            </a:r>
            <a:r>
              <a:rPr lang="en-US" altLang="en-US" sz="1700" dirty="0"/>
              <a:t>)</a:t>
            </a:r>
            <a:br>
              <a:rPr lang="en-US" altLang="en-US" sz="1700" dirty="0"/>
            </a:br>
            <a:r>
              <a:rPr lang="en-US" altLang="en-US" sz="1700" dirty="0"/>
              <a:t>                 </a:t>
            </a:r>
            <a:r>
              <a:rPr lang="en-US" altLang="en-US" sz="1700" b="1" dirty="0"/>
              <a:t>else </a:t>
            </a:r>
            <a:r>
              <a:rPr lang="en-US" altLang="en-US" sz="1700" dirty="0"/>
              <a:t>0</a:t>
            </a:r>
            <a:br>
              <a:rPr lang="en-US" altLang="en-US" sz="1700" dirty="0"/>
            </a:br>
            <a:r>
              <a:rPr lang="en-US" altLang="en-US" sz="1700" dirty="0"/>
              <a:t>             </a:t>
            </a:r>
            <a:r>
              <a:rPr lang="en-US" altLang="en-US" sz="1700" b="1" dirty="0"/>
              <a:t>end</a:t>
            </a:r>
            <a:endParaRPr lang="en-US" altLang="en-US" sz="1700" dirty="0"/>
          </a:p>
          <a:p>
            <a:pPr>
              <a:buFont typeface="Monotype Sorts" charset="2"/>
              <a:buNone/>
            </a:pPr>
            <a:endParaRPr lang="en-US" altLang="en-US" dirty="0"/>
          </a:p>
          <a:p>
            <a:endParaRPr lang="en-US"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0258" name="Rectangle 2"/>
          <p:cNvSpPr>
            <a:spLocks noGrp="1" noChangeArrowheads="1"/>
          </p:cNvSpPr>
          <p:nvPr>
            <p:ph type="ctrTitle"/>
          </p:nvPr>
        </p:nvSpPr>
        <p:spPr/>
        <p:txBody>
          <a:bodyPr/>
          <a:lstStyle/>
          <a:p>
            <a:r>
              <a:rPr lang="en-US" altLang="en-US" dirty="0" smtClean="0"/>
              <a:t>End</a:t>
            </a:r>
            <a:endParaRPr lang="en-US"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2_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2_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a:ln>
              <a:noFill/>
            </a:ln>
            <a:solidFill>
              <a:schemeClr val="tx1"/>
            </a:solidFill>
            <a:effectLst/>
            <a:latin typeface="Helvetica" charset="0"/>
          </a:defRPr>
        </a:defPPr>
      </a:lstStyle>
    </a:lnDef>
  </a:objectDefaults>
  <a:extraClrSchemeLst>
    <a:extraClrScheme>
      <a:clrScheme name="2_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2_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DB6</Template>
  <TotalTime>93161</TotalTime>
  <Words>2526</Words>
  <Application>Microsoft Office PowerPoint</Application>
  <PresentationFormat>On-screen Show (4:3)</PresentationFormat>
  <Paragraphs>202</Paragraphs>
  <Slides>16</Slides>
  <Notes>16</Notes>
  <HiddenSlides>0</HiddenSlides>
  <MMClips>0</MMClips>
  <ScaleCrop>false</ScaleCrop>
  <HeadingPairs>
    <vt:vector size="8" baseType="variant">
      <vt:variant>
        <vt:lpstr>Fonts Used</vt:lpstr>
      </vt:variant>
      <vt:variant>
        <vt:i4>10</vt:i4>
      </vt:variant>
      <vt:variant>
        <vt:lpstr>Theme</vt:lpstr>
      </vt:variant>
      <vt:variant>
        <vt:i4>1</vt:i4>
      </vt:variant>
      <vt:variant>
        <vt:lpstr>Slide Titles</vt:lpstr>
      </vt:variant>
      <vt:variant>
        <vt:i4>16</vt:i4>
      </vt:variant>
      <vt:variant>
        <vt:lpstr>Custom Shows</vt:lpstr>
      </vt:variant>
      <vt:variant>
        <vt:i4>1</vt:i4>
      </vt:variant>
    </vt:vector>
  </HeadingPairs>
  <TitlesOfParts>
    <vt:vector size="28" baseType="lpstr">
      <vt:lpstr>MS PGothic</vt:lpstr>
      <vt:lpstr>MS PGothic</vt:lpstr>
      <vt:lpstr>Arial</vt:lpstr>
      <vt:lpstr>Century Gothic</vt:lpstr>
      <vt:lpstr>Helvetica</vt:lpstr>
      <vt:lpstr>Monotype Sorts</vt:lpstr>
      <vt:lpstr>Symbol</vt:lpstr>
      <vt:lpstr>Times New Roman</vt:lpstr>
      <vt:lpstr>Webdings</vt:lpstr>
      <vt:lpstr>Wingdings</vt:lpstr>
      <vt:lpstr>2_db-5-grey</vt:lpstr>
      <vt:lpstr>Introduction to SQL Advanced Relational Algebra and SQL </vt:lpstr>
      <vt:lpstr>Outline</vt:lpstr>
      <vt:lpstr>Subqueries in the Form Clause</vt:lpstr>
      <vt:lpstr>With Clause</vt:lpstr>
      <vt:lpstr>Complex Queries using With Clause</vt:lpstr>
      <vt:lpstr>Scalar Subquery</vt:lpstr>
      <vt:lpstr>Modification of the Database</vt:lpstr>
      <vt:lpstr>Deletion</vt:lpstr>
      <vt:lpstr>Deletion (Cont.)</vt:lpstr>
      <vt:lpstr>Insertion</vt:lpstr>
      <vt:lpstr>Insertion (Cont.)</vt:lpstr>
      <vt:lpstr>Updates</vt:lpstr>
      <vt:lpstr>Updates (Cont.)</vt:lpstr>
      <vt:lpstr>Case Statement for Conditional Updates</vt:lpstr>
      <vt:lpstr>Updates with Scalar Subqueries</vt:lpstr>
      <vt:lpstr>End</vt:lpstr>
      <vt:lpstr>Custom Show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Relational Database Design</dc:title>
  <dc:creator>Marilyn Turnamian</dc:creator>
  <cp:lastModifiedBy>Windows User</cp:lastModifiedBy>
  <cp:revision>531</cp:revision>
  <cp:lastPrinted>1999-06-28T19:27:31Z</cp:lastPrinted>
  <dcterms:created xsi:type="dcterms:W3CDTF">2009-12-21T15:40:22Z</dcterms:created>
  <dcterms:modified xsi:type="dcterms:W3CDTF">2022-02-26T20:56:12Z</dcterms:modified>
</cp:coreProperties>
</file>