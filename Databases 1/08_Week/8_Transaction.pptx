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01" r:id="rId1"/>
  </p:sldMasterIdLst>
  <p:notesMasterIdLst>
    <p:notesMasterId r:id="rId42"/>
  </p:notesMasterIdLst>
  <p:handoutMasterIdLst>
    <p:handoutMasterId r:id="rId43"/>
  </p:handoutMasterIdLst>
  <p:sldIdLst>
    <p:sldId id="320" r:id="rId2"/>
    <p:sldId id="256" r:id="rId3"/>
    <p:sldId id="257" r:id="rId4"/>
    <p:sldId id="259" r:id="rId5"/>
    <p:sldId id="345" r:id="rId6"/>
    <p:sldId id="260" r:id="rId7"/>
    <p:sldId id="258" r:id="rId8"/>
    <p:sldId id="261" r:id="rId9"/>
    <p:sldId id="262" r:id="rId10"/>
    <p:sldId id="265" r:id="rId11"/>
    <p:sldId id="266" r:id="rId12"/>
    <p:sldId id="267" r:id="rId13"/>
    <p:sldId id="376" r:id="rId14"/>
    <p:sldId id="268" r:id="rId15"/>
    <p:sldId id="269" r:id="rId16"/>
    <p:sldId id="270" r:id="rId17"/>
    <p:sldId id="373" r:id="rId18"/>
    <p:sldId id="271" r:id="rId19"/>
    <p:sldId id="272" r:id="rId20"/>
    <p:sldId id="273" r:id="rId21"/>
    <p:sldId id="325" r:id="rId22"/>
    <p:sldId id="274" r:id="rId23"/>
    <p:sldId id="275" r:id="rId24"/>
    <p:sldId id="276" r:id="rId25"/>
    <p:sldId id="326" r:id="rId26"/>
    <p:sldId id="329" r:id="rId27"/>
    <p:sldId id="330" r:id="rId28"/>
    <p:sldId id="277" r:id="rId29"/>
    <p:sldId id="278" r:id="rId30"/>
    <p:sldId id="279" r:id="rId31"/>
    <p:sldId id="332" r:id="rId32"/>
    <p:sldId id="375" r:id="rId33"/>
    <p:sldId id="334" r:id="rId34"/>
    <p:sldId id="341" r:id="rId35"/>
    <p:sldId id="377" r:id="rId36"/>
    <p:sldId id="282" r:id="rId37"/>
    <p:sldId id="281" r:id="rId38"/>
    <p:sldId id="378" r:id="rId39"/>
    <p:sldId id="379" r:id="rId40"/>
    <p:sldId id="380" r:id="rId41"/>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9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91" autoAdjust="0"/>
    <p:restoredTop sz="44045" autoAdjust="0"/>
  </p:normalViewPr>
  <p:slideViewPr>
    <p:cSldViewPr snapToGrid="0">
      <p:cViewPr varScale="1">
        <p:scale>
          <a:sx n="31" d="100"/>
          <a:sy n="31" d="100"/>
        </p:scale>
        <p:origin x="1686" y="48"/>
      </p:cViewPr>
      <p:guideLst>
        <p:guide orient="horz" pos="69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32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8514"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5"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448516"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7"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fld id="{29E57153-A580-4B5E-9B53-6B87B5A1FB9A}"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47"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algn="r" defTabSz="930275">
              <a:defRPr sz="1300">
                <a:latin typeface="Times New Roman" charset="0"/>
                <a:ea typeface="+mn-ea"/>
                <a:cs typeface="+mn-cs"/>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5B7CC90F-195F-4DEF-A4DA-F5B0A181CF9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79FD97-3E05-4AF7-9FA7-5D40E8EC0B1C}" type="slidenum">
              <a:rPr lang="en-US" altLang="en-US" sz="1300">
                <a:latin typeface="Times New Roman" panose="02020603050405020304" pitchFamily="18" charset="0"/>
              </a:rPr>
              <a:pPr/>
              <a:t>1</a:t>
            </a:fld>
            <a:endParaRPr lang="en-US" altLang="en-US" sz="130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017DEB3-15EC-4046-B6FC-7059E5DE6572}" type="slidenum">
              <a:rPr lang="en-US" altLang="en-US" sz="1300">
                <a:latin typeface="Times New Roman" panose="02020603050405020304" pitchFamily="18" charset="0"/>
              </a:rPr>
              <a:pPr/>
              <a:t>2</a:t>
            </a:fld>
            <a:endParaRPr lang="en-US" altLang="en-US" sz="13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A90F1DB-8581-4412-BE09-331FFC345D8A}" type="slidenum">
              <a:rPr lang="en-US" altLang="en-US" sz="1300">
                <a:latin typeface="Times New Roman" panose="02020603050405020304" pitchFamily="18" charset="0"/>
              </a:rPr>
              <a:pPr/>
              <a:t>3</a:t>
            </a:fld>
            <a:endParaRPr lang="en-US" altLang="en-US" sz="13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 transaction is a unit of program execution that accesses and possibly updates various data items. Usually, a transaction is initiated by a user program written in a high-level data-manipulation language (typically SQL), or programming language (e.g., C++ or Java), with embedded database accesses in JDBC or ODBC. </a:t>
            </a:r>
          </a:p>
          <a:p>
            <a:r>
              <a:rPr lang="en-US" b="1" dirty="0" smtClean="0"/>
              <a:t>A transaction is delimited by statements (or function calls) of the form begin transaction and end transaction. The transaction consists of all operations executed between the begin transaction and end transaction.</a:t>
            </a:r>
          </a:p>
          <a:p>
            <a:endParaRPr lang="en-US" altLang="en-US" dirty="0" smtClean="0">
              <a:latin typeface="Times New Roman" panose="02020603050405020304" pitchFamily="18" charset="0"/>
            </a:endParaRPr>
          </a:p>
          <a:p>
            <a:r>
              <a:rPr lang="en-US" i="1" dirty="0" smtClean="0"/>
              <a:t>This collection of steps must appear to the user as a single, indivisible unit. Since a transaction is indivisible, it either executes in its entirety or not at all. Thus, if a transaction begins to execute but fails for whatever reason, any changes to the database that the transaction may have made must be undone. </a:t>
            </a:r>
          </a:p>
          <a:p>
            <a:endParaRPr lang="en-US" altLang="en-US" dirty="0" smtClean="0">
              <a:latin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b="1" i="1" dirty="0" smtClean="0"/>
              <a:t>Let </a:t>
            </a:r>
            <a:r>
              <a:rPr lang="en-US" b="1" i="1" dirty="0" err="1" smtClean="0"/>
              <a:t>Ti</a:t>
            </a:r>
            <a:r>
              <a:rPr lang="en-US" b="1" i="1" dirty="0" smtClean="0"/>
              <a:t> be a transaction that transfers $50 from account A to account B. This transaction can be defined as: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1" i="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b="1" i="1" dirty="0" err="1" smtClean="0"/>
              <a:t>Slajd</a:t>
            </a:r>
            <a:r>
              <a:rPr lang="en-US" b="1" i="1" dirty="0" smtClean="0"/>
              <a:t> </a:t>
            </a:r>
            <a:r>
              <a:rPr lang="en-US" b="1" i="1" dirty="0" err="1" smtClean="0"/>
              <a:t>posleden</a:t>
            </a:r>
            <a:r>
              <a:rPr lang="en-US" b="1" i="1" dirty="0" smtClean="0"/>
              <a:t> </a:t>
            </a:r>
            <a:r>
              <a:rPr lang="en-US" b="1" i="1" dirty="0" err="1" smtClean="0"/>
              <a:t>bulet</a:t>
            </a:r>
            <a:endParaRPr lang="en-US" b="1" i="1" dirty="0" smtClean="0"/>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pPr/>
              <a:t>4</a:t>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b="1" dirty="0" smtClean="0"/>
              <a:t>Atomicity: </a:t>
            </a:r>
            <a:r>
              <a:rPr lang="en-US" i="1" dirty="0" smtClean="0"/>
              <a:t>Suppose that, just before the execution of transaction </a:t>
            </a:r>
            <a:r>
              <a:rPr lang="en-US" i="1" dirty="0" err="1" smtClean="0"/>
              <a:t>Ti</a:t>
            </a:r>
            <a:r>
              <a:rPr lang="en-US" i="1" dirty="0" smtClean="0"/>
              <a:t> , the values of accounts A and B are $1000 and $2000, respectively. Now suppose that, during the execution of transaction </a:t>
            </a:r>
            <a:r>
              <a:rPr lang="en-US" i="1" dirty="0" err="1" smtClean="0"/>
              <a:t>Ti</a:t>
            </a:r>
            <a:r>
              <a:rPr lang="en-US" i="1" dirty="0" smtClean="0"/>
              <a:t> , a failure occurs that prevents </a:t>
            </a:r>
            <a:r>
              <a:rPr lang="en-US" i="1" dirty="0" err="1" smtClean="0"/>
              <a:t>Ti</a:t>
            </a:r>
            <a:r>
              <a:rPr lang="en-US" i="1" dirty="0" smtClean="0"/>
              <a:t> from completing its execution successfully. Further, suppose that the failure happened after the write(A) operation but before the write(B) operation. In this case, the values of accounts A and B reflected in the database are $950 and $2000. The system destroyed $50 as a result of this failure. In particular, we note that the sum A + B is no longer preserved.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pPr marL="171450" indent="-171450">
              <a:buFont typeface="Arial" panose="020B0604020202020204" pitchFamily="34" charset="0"/>
              <a:buChar char="•"/>
            </a:pPr>
            <a:r>
              <a:rPr lang="en-US" b="1" dirty="0" smtClean="0"/>
              <a:t>Durability: </a:t>
            </a:r>
            <a:r>
              <a:rPr lang="en-US" b="1" i="1" dirty="0" smtClean="0"/>
              <a:t>Once the execution of the transaction completes successfully, and the user who initiated the transaction has been notified that the transfer of funds has taken place, it must be the case that no system failure can result in a loss of data corresponding to this transfer of funds. </a:t>
            </a:r>
            <a:r>
              <a:rPr lang="en-US" i="1" dirty="0" smtClean="0"/>
              <a:t>The durability property guarantees that, once a transaction completes successfully, all the updates that it carried out on the database persist, even if there is a system failure after the transaction completes execution.</a:t>
            </a:r>
            <a:endParaRPr lang="en-US" altLang="en-US" i="1"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96B228-294A-4543-9668-830A4BA10FD0}" type="slidenum">
              <a:rPr lang="en-US" altLang="en-US" sz="1300">
                <a:latin typeface="Times New Roman" panose="02020603050405020304" pitchFamily="18" charset="0"/>
              </a:rPr>
              <a:pPr/>
              <a:t>5</a:t>
            </a:fld>
            <a:endParaRPr lang="en-US" altLang="en-US"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 Consistency: </a:t>
            </a:r>
            <a:r>
              <a:rPr lang="en-US" b="1" i="1" dirty="0" smtClean="0"/>
              <a:t>The consistency requirement here is that the sum of A and B be unchanged by the execution of the transaction. Without the consistency requirement, money could be created or destroyed by the transaction! It can be verified easily that, if the database is consistent before an execution of the transaction, the database remains consistent after the execution of the transaction. Ensuring consistency for an individual transaction is the responsibility of the application programmer who codes the transaction.</a:t>
            </a:r>
          </a:p>
          <a:p>
            <a:endParaRPr lang="en-US" b="1" i="1" dirty="0" smtClean="0"/>
          </a:p>
          <a:p>
            <a:r>
              <a:rPr lang="en-US" b="1" i="1" dirty="0" err="1" smtClean="0"/>
              <a:t>Moze</a:t>
            </a:r>
            <a:r>
              <a:rPr lang="en-US" b="1" i="1" dirty="0" smtClean="0"/>
              <a:t> I </a:t>
            </a:r>
            <a:r>
              <a:rPr lang="en-US" b="1" i="1" dirty="0" err="1" smtClean="0"/>
              <a:t>buleti</a:t>
            </a:r>
            <a:endParaRPr lang="en-US" b="1" i="1" dirty="0" smtClean="0"/>
          </a:p>
          <a:p>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300">
                <a:latin typeface="Times New Roman" panose="02020603050405020304" pitchFamily="18" charset="0"/>
              </a:rPr>
              <a:pPr/>
              <a:t>6</a:t>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 Isolation: </a:t>
            </a:r>
            <a:r>
              <a:rPr lang="en-US" b="1" i="1" dirty="0" smtClean="0"/>
              <a:t>Even if the consistency and atomicity properties are ensured for each transaction, if several transactions are executed concurrently, their operations may interleave in some undesirable way, resulting in an inconsistent state.</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7B586B-FBE3-4075-88E9-19535EAEDE53}" type="slidenum">
              <a:rPr lang="en-US" altLang="en-US" sz="1300">
                <a:latin typeface="Times New Roman" panose="02020603050405020304" pitchFamily="18" charset="0"/>
              </a:rPr>
              <a:pPr/>
              <a:t>7</a:t>
            </a:fld>
            <a:endParaRPr lang="en-US" altLang="en-US" sz="13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Let us now consider each of the ACID properties. (For ease of presentation, we consider them in an order different from the order A-C-I-D.)</a:t>
            </a:r>
          </a:p>
          <a:p>
            <a:r>
              <a:rPr lang="en-US" b="1" dirty="0" smtClean="0"/>
              <a:t>Here</a:t>
            </a:r>
            <a:r>
              <a:rPr lang="en-US" b="1" baseline="0" dirty="0" smtClean="0"/>
              <a:t> is mention again</a:t>
            </a:r>
          </a:p>
          <a:p>
            <a:endParaRPr lang="en-US" dirty="0" smtClean="0"/>
          </a:p>
          <a:p>
            <a:r>
              <a:rPr lang="en-US" dirty="0" smtClean="0"/>
              <a:t>• </a:t>
            </a:r>
            <a:r>
              <a:rPr lang="en-US" b="1" dirty="0" smtClean="0"/>
              <a:t>Consistency: </a:t>
            </a:r>
            <a:r>
              <a:rPr lang="en-US" i="1" dirty="0" smtClean="0"/>
              <a:t>The consistency requirement here is that the sum of A and B be unchanged by the execution of the transaction. Without the consistency requirement, money could be created or destroyed by the transaction! It can be verified easily that, if the database is consistent before an execution of the transaction, the database remains consistent after the execution of the transaction.</a:t>
            </a:r>
          </a:p>
          <a:p>
            <a:endParaRPr lang="en-US" dirty="0" smtClean="0"/>
          </a:p>
          <a:p>
            <a:pPr marL="171450" indent="-171450">
              <a:buFont typeface="Arial" panose="020B0604020202020204" pitchFamily="34" charset="0"/>
              <a:buChar char="•"/>
            </a:pPr>
            <a:r>
              <a:rPr lang="en-US" b="1" dirty="0" smtClean="0"/>
              <a:t>Atomicity: </a:t>
            </a:r>
            <a:r>
              <a:rPr lang="en-US" i="1" dirty="0" smtClean="0"/>
              <a:t>Suppose that, just before the execution of transaction </a:t>
            </a:r>
            <a:r>
              <a:rPr lang="en-US" i="1" dirty="0" err="1" smtClean="0"/>
              <a:t>Ti</a:t>
            </a:r>
            <a:r>
              <a:rPr lang="en-US" i="1" dirty="0" smtClean="0"/>
              <a:t> , the values of accounts A and B are $1000 and $2000, respectively. Now suppose that, during the execution of transaction </a:t>
            </a:r>
            <a:r>
              <a:rPr lang="en-US" i="1" dirty="0" err="1" smtClean="0"/>
              <a:t>Ti</a:t>
            </a:r>
            <a:r>
              <a:rPr lang="en-US" i="1" dirty="0" smtClean="0"/>
              <a:t> , a failure occurs that prevents </a:t>
            </a:r>
            <a:r>
              <a:rPr lang="en-US" i="1" dirty="0" err="1" smtClean="0"/>
              <a:t>Ti</a:t>
            </a:r>
            <a:r>
              <a:rPr lang="en-US" i="1" dirty="0" smtClean="0"/>
              <a:t> from completing its execution successfully. Further, suppose that the failure happened after the write(A) operation but before the write(B) operation. In this case, the values of accounts A and B reflected in the database are $950 and $2000. The system destroyed $50 as a result of this failure. In particular, we note that the sum A + B is no longer preserved.</a:t>
            </a:r>
          </a:p>
          <a:p>
            <a:r>
              <a:rPr lang="en-US" altLang="en-US" dirty="0" smtClean="0">
                <a:latin typeface="Times New Roman" panose="02020603050405020304" pitchFamily="18" charset="0"/>
              </a:rPr>
              <a:t>	</a:t>
            </a:r>
            <a:r>
              <a:rPr lang="en-US" dirty="0" smtClean="0"/>
              <a:t>Thus, because of the failure, the state of the system no longer reflects a real state of the world that the database is supposed to capture. We term such a state an inconsistent state. We must ensure that such inconsistencies are not visible in a database system. Note, however, that the system must at some point be in an inconsistent state. Even if transaction </a:t>
            </a:r>
            <a:r>
              <a:rPr lang="en-US" dirty="0" err="1" smtClean="0"/>
              <a:t>Ti</a:t>
            </a:r>
            <a:r>
              <a:rPr lang="en-US" dirty="0" smtClean="0"/>
              <a:t> is executed to completion, there exists a point at which the value of account A is $950 and the value of account B is $2000, which is clearly an inconsistent state. This state, however, is eventually replaced by the consistent state where the value of account A is $950, and the value of account B is $2050. Thus, if the transaction never started or was guaranteed to complete, such an inconsistent state would not be visible except during the execution of the transaction. That is the reason for the atomicity requirement: If the atomicity property is present, all actions of the transaction are reflected in the database, or none are.</a:t>
            </a:r>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pPr marL="171450" indent="-171450">
              <a:buFont typeface="Arial" panose="020B0604020202020204" pitchFamily="34" charset="0"/>
              <a:buChar char="•"/>
            </a:pPr>
            <a:r>
              <a:rPr lang="en-US" b="1" dirty="0" smtClean="0"/>
              <a:t>Durability: </a:t>
            </a:r>
            <a:r>
              <a:rPr lang="en-US" i="1" dirty="0" smtClean="0"/>
              <a:t>Once the execution of the transaction completes successfully, and the user who initiated the transaction has been notified that the transfer of funds has taken place, it must be the case that no system failure can result in a loss of data corresponding to this transfer of funds. The durability property guarantees that, once a transaction completes successfully, all the updates that it carried out on the database persist, even if there is a system failure after the transaction completes execution. </a:t>
            </a:r>
          </a:p>
          <a:p>
            <a:pPr marL="0" indent="0">
              <a:buFont typeface="Arial" panose="020B0604020202020204" pitchFamily="34" charset="0"/>
              <a:buNone/>
            </a:pPr>
            <a:r>
              <a:rPr lang="en-US" dirty="0" smtClean="0"/>
              <a:t>	</a:t>
            </a:r>
            <a:r>
              <a:rPr lang="en-US" i="1" dirty="0" smtClean="0"/>
              <a:t>We assume for now that a failure of the computer system may result in loss of data in main memory, but data written to disk are never lost. Protection against loss of data on disk is discussed in Chapter 19. We can guarantee durability by ensuring that either:</a:t>
            </a:r>
          </a:p>
          <a:p>
            <a:pPr marL="0" indent="0">
              <a:buFont typeface="Arial" panose="020B0604020202020204" pitchFamily="34" charset="0"/>
              <a:buNone/>
            </a:pPr>
            <a:endParaRPr lang="en-US" altLang="en-US" i="1" dirty="0" smtClean="0">
              <a:latin typeface="Times New Roman" panose="02020603050405020304" pitchFamily="18" charset="0"/>
            </a:endParaRPr>
          </a:p>
          <a:p>
            <a:pPr marL="0" indent="0">
              <a:buFont typeface="Arial" panose="020B0604020202020204" pitchFamily="34" charset="0"/>
              <a:buNone/>
            </a:pPr>
            <a:r>
              <a:rPr lang="en-US" i="1" dirty="0" smtClean="0"/>
              <a:t>	1. The updates carried out by the transaction have been written to disk before the transaction completes. </a:t>
            </a:r>
          </a:p>
          <a:p>
            <a:pPr marL="0" indent="0">
              <a:buFont typeface="Arial" panose="020B0604020202020204" pitchFamily="34" charset="0"/>
              <a:buNone/>
            </a:pPr>
            <a:r>
              <a:rPr lang="en-US" i="1" dirty="0" smtClean="0"/>
              <a:t>	2. Information about the updates carried out by the transaction is written to disk, and such information is sufficient to enable the database to 	reconstruct the updates when the database system is restarted after the failure.</a:t>
            </a:r>
          </a:p>
          <a:p>
            <a:pPr marL="171450" indent="-171450">
              <a:buFont typeface="Arial" panose="020B0604020202020204" pitchFamily="34" charset="0"/>
              <a:buChar char="•"/>
            </a:pPr>
            <a:r>
              <a:rPr lang="en-US" b="1" dirty="0" smtClean="0"/>
              <a:t>Isolation: </a:t>
            </a:r>
            <a:r>
              <a:rPr lang="en-US" i="1" dirty="0" smtClean="0"/>
              <a:t>Even if the consistency and atomicity properties are ensured for each transaction, if several transactions are executed concurrently, their operations may interleave in some undesirable way, resulting in an inconsistent state. For example, as we saw earlier, the database is temporarily inconsistent while the transaction to transfer funds from A to B is executing, with the deducted total written to A and the increased total yet to be written to B. If a second concurrently running transaction reads A and B at this intermediate point and computes A + B, it will observe an inconsistent value. Furthermore, if this second transaction then performs updates on A and B based on the inconsistent values that it read, the database may be left in an inconsistent state even after both transactions have completed.</a:t>
            </a:r>
            <a:endParaRPr lang="en-US" altLang="en-US" i="1"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09CAF58-8E40-42E6-AEEE-83BAC72A0401}" type="slidenum">
              <a:rPr lang="en-US" altLang="en-US" sz="1300">
                <a:latin typeface="Times New Roman" panose="02020603050405020304" pitchFamily="18" charset="0"/>
              </a:rPr>
              <a:pPr/>
              <a:t>8</a:t>
            </a:fld>
            <a:endParaRPr lang="en-US" altLang="en-US" sz="13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We need to be more precise about what we mean by successful completion of a transaction. We therefore establish a simple abstract transaction model. A transaction must be in one of the following states:</a:t>
            </a:r>
          </a:p>
          <a:p>
            <a:endParaRPr lang="en-US" altLang="en-US" b="1" dirty="0" smtClean="0">
              <a:latin typeface="Times New Roman" panose="02020603050405020304" pitchFamily="18" charset="0"/>
            </a:endParaRPr>
          </a:p>
          <a:p>
            <a:r>
              <a:rPr lang="en-US" b="1" i="1" dirty="0" smtClean="0"/>
              <a:t>• Active, </a:t>
            </a:r>
            <a:r>
              <a:rPr lang="en-US" i="1" dirty="0" smtClean="0"/>
              <a:t>the initial state; the transaction stays in this state while it is executing. </a:t>
            </a:r>
          </a:p>
          <a:p>
            <a:r>
              <a:rPr lang="en-US" i="1" dirty="0" smtClean="0"/>
              <a:t>• </a:t>
            </a:r>
            <a:r>
              <a:rPr lang="en-US" b="1" i="1" dirty="0" smtClean="0"/>
              <a:t>Partially committed</a:t>
            </a:r>
            <a:r>
              <a:rPr lang="en-US" i="1" dirty="0" smtClean="0"/>
              <a:t>, after the final statement has been executed. </a:t>
            </a:r>
          </a:p>
          <a:p>
            <a:r>
              <a:rPr lang="en-US" i="1" dirty="0" smtClean="0"/>
              <a:t>• </a:t>
            </a:r>
            <a:r>
              <a:rPr lang="en-US" b="1" i="1" dirty="0" smtClean="0"/>
              <a:t>Failed</a:t>
            </a:r>
            <a:r>
              <a:rPr lang="en-US" i="1" dirty="0" smtClean="0"/>
              <a:t>, after the discovery that normal execution can no longer proceed. </a:t>
            </a:r>
          </a:p>
          <a:p>
            <a:r>
              <a:rPr lang="en-US" i="1" dirty="0" smtClean="0"/>
              <a:t>•</a:t>
            </a:r>
            <a:r>
              <a:rPr lang="en-US" b="1" i="1" dirty="0" smtClean="0"/>
              <a:t> Aborted</a:t>
            </a:r>
            <a:r>
              <a:rPr lang="en-US" i="1" dirty="0" smtClean="0"/>
              <a:t>, after the transaction has been rolled back and the database has been restored to its state prior to the start of the transaction. </a:t>
            </a:r>
          </a:p>
          <a:p>
            <a:r>
              <a:rPr lang="en-US" i="1" dirty="0" smtClean="0"/>
              <a:t>• </a:t>
            </a:r>
            <a:r>
              <a:rPr lang="en-US" b="1" i="1" dirty="0" smtClean="0"/>
              <a:t>Committed, </a:t>
            </a:r>
            <a:r>
              <a:rPr lang="en-US" i="1" dirty="0" smtClean="0"/>
              <a:t>after successful completion.</a:t>
            </a:r>
          </a:p>
          <a:p>
            <a:endParaRPr lang="en-US" altLang="en-US" dirty="0" smtClean="0">
              <a:latin typeface="Times New Roman" panose="02020603050405020304" pitchFamily="18" charset="0"/>
            </a:endParaRPr>
          </a:p>
          <a:p>
            <a:r>
              <a:rPr lang="en-US" dirty="0" smtClean="0"/>
              <a:t>As we noted earlier, a transaction may not always complete its execution successfully. Such a transaction is termed aborted.</a:t>
            </a:r>
          </a:p>
          <a:p>
            <a:endParaRPr lang="en-US" altLang="en-US" dirty="0" smtClean="0">
              <a:latin typeface="Times New Roman" panose="02020603050405020304" pitchFamily="18" charset="0"/>
            </a:endParaRPr>
          </a:p>
          <a:p>
            <a:r>
              <a:rPr lang="en-US" dirty="0" smtClean="0"/>
              <a:t>Thus, any changes that the aborted transaction made to the database must be undone. Once the changes caused by an aborted transaction have been undone, we say that the transaction has been rolled back. It is part of the responsibility of the recovery scheme to manage transaction aborts. This is done typically by maintaining a log.</a:t>
            </a:r>
          </a:p>
          <a:p>
            <a:endParaRPr lang="en-US" altLang="en-US" dirty="0" smtClean="0">
              <a:latin typeface="Times New Roman" panose="02020603050405020304" pitchFamily="18" charset="0"/>
            </a:endParaRPr>
          </a:p>
          <a:p>
            <a:r>
              <a:rPr lang="en-US" dirty="0" smtClean="0"/>
              <a:t>A transaction that completes its execution successfully is said to be committed. A committed transaction that has performed updates transforms the database into a new consistent state, which must persist even if there is a system failure. </a:t>
            </a:r>
          </a:p>
          <a:p>
            <a:endParaRPr lang="en-US" altLang="en-US" dirty="0" smtClean="0">
              <a:latin typeface="Times New Roman" panose="02020603050405020304" pitchFamily="18" charset="0"/>
            </a:endParaRPr>
          </a:p>
          <a:p>
            <a:r>
              <a:rPr lang="en-US" dirty="0" smtClean="0"/>
              <a:t>Once a transaction has committed, we cannot undo its effects by aborting it. The only way to undo the effects of a committed transaction is to execute a compensating transaction.</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6D1BF8E-E101-475A-9CDD-3A67C3D2CCFD}" type="slidenum">
              <a:rPr lang="en-US" altLang="en-US" sz="1300">
                <a:latin typeface="Times New Roman" panose="02020603050405020304" pitchFamily="18" charset="0"/>
              </a:rPr>
              <a:pPr/>
              <a:t>9</a:t>
            </a:fld>
            <a:endParaRPr lang="en-US" altLang="en-US" sz="13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The state diagram corresponding to a transaction appears in Figure 17.1. We say that a transaction has committed only if it has entered the committed state. Similarly, we say that a transaction has aborted only if it has entered the aborted state. A transaction is said to have terminated if it has either committed or aborted.</a:t>
            </a:r>
          </a:p>
          <a:p>
            <a:endParaRPr lang="en-US" b="1" i="1" dirty="0" smtClean="0"/>
          </a:p>
          <a:p>
            <a:r>
              <a:rPr lang="en-US" b="1" i="1" dirty="0" smtClean="0"/>
              <a:t>A transaction starts in the active state. When it finishes its final statement, it enters the partially committed state. At this point, the transaction has completed its execution, but it is still possible that it may have to be aborted, since the actual output may still be temporarily residing in main memory, and thus a hardware failure may preclude its successful completion.</a:t>
            </a:r>
          </a:p>
          <a:p>
            <a:endParaRPr lang="en-US" b="1" i="1" dirty="0" smtClean="0"/>
          </a:p>
          <a:p>
            <a:r>
              <a:rPr lang="en-US" b="1" i="1" dirty="0" smtClean="0"/>
              <a:t>The database system then writes out enough information to disk that, even in the event of a failure, the updates performed by the transaction can be re-created when the system restarts after the failure. When the last of this information is written out, the transaction enters the committed state.</a:t>
            </a:r>
          </a:p>
          <a:p>
            <a:endParaRPr lang="en-US" b="1" i="1" dirty="0" smtClean="0"/>
          </a:p>
          <a:p>
            <a:r>
              <a:rPr lang="en-US" b="1" i="1" dirty="0" smtClean="0"/>
              <a:t>A transaction enters the failed state after the system determines that the transaction can no longer proceed with its normal execution (e.g., because of hardware or logical errors). Such a transaction must be rolled back. Then, it enters the aborted state. At this point, the system has two options:</a:t>
            </a:r>
          </a:p>
          <a:p>
            <a:endParaRPr lang="en-US" dirty="0" smtClean="0"/>
          </a:p>
          <a:p>
            <a:r>
              <a:rPr lang="en-US" dirty="0" smtClean="0"/>
              <a:t>• It can restart the transaction, but only if the transaction was aborted as a result of some hardware or software error that was not created through the internal logic of the transaction. A restarted transaction is considered to be a new transaction. </a:t>
            </a:r>
          </a:p>
          <a:p>
            <a:r>
              <a:rPr lang="en-US" dirty="0" smtClean="0"/>
              <a:t>• It can kill the transaction. It usually does so because of some internal logical error that can be corrected only by rewriting the application program, or because the input was bad, or because the desired data were not found in the database.</a:t>
            </a:r>
          </a:p>
          <a:p>
            <a:endParaRPr lang="en-US" dirty="0" smtClean="0"/>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300">
                <a:latin typeface="Times New Roman" panose="02020603050405020304" pitchFamily="18" charset="0"/>
              </a:rPr>
              <a:pPr/>
              <a:t>10</a:t>
            </a:fld>
            <a:endParaRPr lang="en-US" altLang="en-US" sz="13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Transaction-processing systems usually allow multiple transactions to run concurrently. Allowing multiple transactions to update data concurrently causes several complications with consistency of the data, as we saw earlier. Ensuring consistency in spite of concurrent execution of transactions requires extra work; it is far easier to insist that transactions run serially—that is, one at a time, each starting only after the previous one has completed. However, there are two good reasons for allowing concurrency:</a:t>
            </a:r>
          </a:p>
          <a:p>
            <a:r>
              <a:rPr lang="en-US" i="1" dirty="0" smtClean="0"/>
              <a:t>• Improved throughput and resource utilization. A transaction consists of many steps. Some involve I/O activity; others involve CPU activity. The CPU and the disks in a computer system can operate in parallel. Therefore, I/O activity can be done in parallel with processing at the CPU.</a:t>
            </a:r>
          </a:p>
          <a:p>
            <a:pPr marL="171450" indent="-171450">
              <a:buFont typeface="Arial" panose="020B0604020202020204" pitchFamily="34" charset="0"/>
              <a:buChar char="•"/>
            </a:pPr>
            <a:r>
              <a:rPr lang="en-US" i="1" dirty="0" smtClean="0"/>
              <a:t>Reduced waiting time. There may be a mix of transactions running on a system, some short and some long.</a:t>
            </a:r>
            <a:endParaRPr lang="en-US" altLang="en-US" i="1"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The database system must control the interaction among the concurrent transactions to prevent them from destroying the consistency of the database. It does so through a variety of mechanisms called concurrency-control schemes. </a:t>
            </a:r>
            <a:endParaRPr lang="en-US" altLang="en-US" b="1"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181E236-F3CF-4317-8D23-91C03DF91DAA}" type="slidenum">
              <a:rPr lang="en-US" altLang="en-US" sz="1300">
                <a:latin typeface="Times New Roman" panose="02020603050405020304" pitchFamily="18" charset="0"/>
              </a:rPr>
              <a:pPr/>
              <a:t>11</a:t>
            </a:fld>
            <a:endParaRPr lang="en-US" altLang="en-US" sz="13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The execution sequences just described are called </a:t>
            </a:r>
            <a:r>
              <a:rPr lang="en-US" b="1" dirty="0" smtClean="0"/>
              <a:t>schedules. </a:t>
            </a:r>
            <a:r>
              <a:rPr lang="en-US" dirty="0" smtClean="0"/>
              <a:t>T</a:t>
            </a:r>
            <a:r>
              <a:rPr lang="en-US" i="1" dirty="0" smtClean="0"/>
              <a:t>hey represent the chronological order in which instructions are executed in the system. Clearly, a schedule for a set of transactions must consist of all instructions of those transactions and they must preserve the order in which the instructions appear in each individual transaction. For example, in transaction T1, the instruction write(A) must appear before the instruction read(B), in any valid schedule. Note that we include in our schedules the commit operation to indicate that the transaction has entered the committed state. In the following discussion, we shall refer to the first execution sequence (T1 followed by T2) as schedule 1, and to the second execution sequence (T2 followed by T1) as schedule 2.</a:t>
            </a:r>
          </a:p>
          <a:p>
            <a:endParaRPr lang="en-US" altLang="en-US" dirty="0" smtClean="0">
              <a:latin typeface="Times New Roman" panose="02020603050405020304" pitchFamily="18" charset="0"/>
            </a:endParaRPr>
          </a:p>
          <a:p>
            <a:r>
              <a:rPr lang="en-US" altLang="en-US" b="1" i="1" dirty="0" smtClean="0">
                <a:latin typeface="Times New Roman" panose="02020603050405020304" pitchFamily="18" charset="0"/>
              </a:rPr>
              <a:t>Da se </a:t>
            </a:r>
            <a:r>
              <a:rPr lang="en-US" altLang="en-US" b="1" i="1" dirty="0" err="1" smtClean="0">
                <a:latin typeface="Times New Roman" panose="02020603050405020304" pitchFamily="18" charset="0"/>
              </a:rPr>
              <a:t>promeni</a:t>
            </a:r>
            <a:r>
              <a:rPr lang="en-US" altLang="en-US" b="1" i="1" dirty="0" smtClean="0">
                <a:latin typeface="Times New Roman" panose="02020603050405020304" pitchFamily="18" charset="0"/>
              </a:rPr>
              <a:t> </a:t>
            </a:r>
            <a:r>
              <a:rPr lang="en-US" altLang="en-US" b="1" i="1" dirty="0" err="1" smtClean="0">
                <a:latin typeface="Times New Roman" panose="02020603050405020304" pitchFamily="18" charset="0"/>
              </a:rPr>
              <a:t>ili</a:t>
            </a:r>
            <a:r>
              <a:rPr lang="en-US" altLang="en-US" b="1" i="1" dirty="0" smtClean="0">
                <a:latin typeface="Times New Roman" panose="02020603050405020304" pitchFamily="18" charset="0"/>
              </a:rPr>
              <a:t> </a:t>
            </a:r>
            <a:r>
              <a:rPr lang="en-US" altLang="en-US" b="1" i="1" dirty="0" err="1" smtClean="0">
                <a:latin typeface="Times New Roman" panose="02020603050405020304" pitchFamily="18" charset="0"/>
              </a:rPr>
              <a:t>pak</a:t>
            </a:r>
            <a:r>
              <a:rPr lang="en-US" altLang="en-US" b="1" i="1" dirty="0" smtClean="0">
                <a:latin typeface="Times New Roman" panose="02020603050405020304" pitchFamily="18" charset="0"/>
              </a:rPr>
              <a:t> da se </a:t>
            </a:r>
            <a:r>
              <a:rPr lang="en-US" altLang="en-US" b="1" i="1" dirty="0" err="1" smtClean="0">
                <a:latin typeface="Times New Roman" panose="02020603050405020304" pitchFamily="18" charset="0"/>
              </a:rPr>
              <a:t>cita</a:t>
            </a:r>
            <a:r>
              <a:rPr lang="en-US" altLang="en-US" b="1" i="1" dirty="0" smtClean="0">
                <a:latin typeface="Times New Roman" panose="02020603050405020304" pitchFamily="18" charset="0"/>
              </a:rPr>
              <a:t> </a:t>
            </a:r>
            <a:r>
              <a:rPr lang="en-US" altLang="en-US" b="1" i="1" dirty="0" err="1" smtClean="0">
                <a:latin typeface="Times New Roman" panose="02020603050405020304" pitchFamily="18" charset="0"/>
              </a:rPr>
              <a:t>samo</a:t>
            </a:r>
            <a:r>
              <a:rPr lang="en-US" altLang="en-US" b="1" i="1" dirty="0" smtClean="0">
                <a:latin typeface="Times New Roman" panose="02020603050405020304" pitchFamily="18" charset="0"/>
              </a:rPr>
              <a:t> od </a:t>
            </a:r>
            <a:r>
              <a:rPr lang="en-US" altLang="en-US" b="1" i="1" dirty="0" err="1" smtClean="0">
                <a:latin typeface="Times New Roman" panose="02020603050405020304" pitchFamily="18" charset="0"/>
              </a:rPr>
              <a:t>slajd</a:t>
            </a:r>
            <a:endParaRPr lang="en-US" altLang="en-US" b="1" i="1"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FD32BD-82F1-48BD-AD09-96AD51164653}" type="slidenum">
              <a:rPr lang="en-US" altLang="en-US" sz="1300">
                <a:latin typeface="Times New Roman" panose="02020603050405020304" pitchFamily="18" charset="0"/>
              </a:rPr>
              <a:pPr/>
              <a:t>12</a:t>
            </a:fld>
            <a:endParaRPr lang="en-US" altLang="en-US" sz="13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Consider again the simplified banking system of Section 17.1, which has several accounts, and a set of transactions that access and update those accounts. Let T1 and T2 be two transactions that transfer funds from one account to another. Transaction T1 transfers $50 from account A to account B. It is defined as:</a:t>
            </a:r>
          </a:p>
          <a:p>
            <a:endParaRPr lang="en-US" altLang="en-US" dirty="0" smtClean="0">
              <a:latin typeface="Times New Roman" panose="02020603050405020304" pitchFamily="18" charset="0"/>
            </a:endParaRPr>
          </a:p>
          <a:p>
            <a:r>
              <a:rPr lang="en-US" dirty="0" smtClean="0"/>
              <a:t>Transaction T2 transfers 10 percent of the balance from account A to account B. It is defined as:</a:t>
            </a:r>
          </a:p>
          <a:p>
            <a:endParaRPr lang="en-US" altLang="en-US" dirty="0" smtClean="0">
              <a:latin typeface="Times New Roman" panose="02020603050405020304" pitchFamily="18" charset="0"/>
            </a:endParaRPr>
          </a:p>
          <a:p>
            <a:r>
              <a:rPr lang="en-US" i="1" dirty="0" smtClean="0"/>
              <a:t>This execution sequence appears in Figure 17.2. In the figure, the sequence of instruction steps is in chronological order from top to bottom, with instructions of T1 appearing in the left column and instructions of T2 appearing in the right column. The final values of accounts A and B, after the execution in Figure 17.2 takes place, are $855 and $2145, respectively.</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5A69C5-4E79-40C5-A40D-3DE0D1BB057D}" type="slidenum">
              <a:rPr lang="en-US" altLang="en-US" sz="1300">
                <a:latin typeface="Times New Roman" panose="02020603050405020304" pitchFamily="18" charset="0"/>
              </a:rPr>
              <a:pPr/>
              <a:t>13</a:t>
            </a:fld>
            <a:endParaRPr lang="en-US" altLang="en-US" sz="1300">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Similarly, if the transactions are executed one at a time in the order T2 followed by T1, then the corresponding execution sequence is that of Figure 17.3. Again, as expected, the sum A + B is preserved, and the final values of accounts A and B are $850 and $2150, respectively.</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i="1" dirty="0" smtClean="0"/>
              <a:t>These schedules are serial: Each serial schedule consists of a sequence of instructions from various transactions, where the instructions belonging to one single transaction appear together in that schedule. Recalling a well-known formula from </a:t>
            </a:r>
            <a:r>
              <a:rPr lang="en-US" b="1" i="1" dirty="0" err="1" smtClean="0"/>
              <a:t>combinatorics</a:t>
            </a:r>
            <a:r>
              <a:rPr lang="en-US" b="1" i="1" dirty="0" smtClean="0"/>
              <a:t>, we note that, for a set of n transactions, there exist n factorial (n!) different valid serial schedules.</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66EED2-8886-4DAB-8F39-47600D19EAAD}" type="slidenum">
              <a:rPr lang="en-US" altLang="en-US" sz="1300">
                <a:latin typeface="Times New Roman" panose="02020603050405020304" pitchFamily="18" charset="0"/>
              </a:rPr>
              <a:pPr/>
              <a:t>14</a:t>
            </a:fld>
            <a:endParaRPr lang="en-US" altLang="en-US" sz="13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Returning to our previous example, suppose that the two transactions are executed concurrently. One possible schedule appears in Figure 17.4. After this execution takes place, we arrive at the same state as the one in which the transactions are executed serially in the order T1 followed by T2. The sum A + B is indeed preserved.</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C0A219B-7ED1-4E4A-95DF-430BAF20189A}" type="slidenum">
              <a:rPr lang="en-US" altLang="en-US" sz="1300">
                <a:latin typeface="Times New Roman" panose="02020603050405020304" pitchFamily="18" charset="0"/>
              </a:rPr>
              <a:pPr/>
              <a:t>15</a:t>
            </a:fld>
            <a:endParaRPr lang="en-US" altLang="en-US" sz="13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Not all concurrent executions result in a correct state. To illustrate, consider the schedule of Figure 17.5. After the execution of this schedule, we arrive at a state where the final values of accounts A and B are $950 and $2100, respectively. This final state is an inconsistent state, since we have gained $50 in the process of the concurrent execution. Indeed, the sum A + B is not preserved by the execution of the two transactions.</a:t>
            </a:r>
            <a:endParaRPr lang="en-US" altLang="en-US" b="1" i="1"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300">
                <a:latin typeface="Times New Roman" panose="02020603050405020304" pitchFamily="18" charset="0"/>
              </a:rPr>
              <a:pPr/>
              <a:t>16</a:t>
            </a:fld>
            <a:endParaRPr lang="en-US" altLang="en-US" sz="13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Before we can consider how the concurrency-control component of the database system can ensure </a:t>
            </a:r>
            <a:r>
              <a:rPr lang="en-US" b="1" dirty="0" err="1" smtClean="0"/>
              <a:t>serializability</a:t>
            </a:r>
            <a:r>
              <a:rPr lang="en-US" b="1" dirty="0" smtClean="0"/>
              <a:t>, we consider how to determine when a schedule is serializable. </a:t>
            </a:r>
            <a:r>
              <a:rPr lang="en-US" i="1" dirty="0" smtClean="0"/>
              <a:t>Certainly, serial schedules are serializable, but if steps of multiple transactions are interleaved, it is harder to determine whether a schedule is serializable. </a:t>
            </a:r>
          </a:p>
          <a:p>
            <a:endParaRPr lang="en-US" dirty="0" smtClean="0"/>
          </a:p>
          <a:p>
            <a:r>
              <a:rPr lang="en-US" dirty="0" smtClean="0"/>
              <a:t>Since transactions are programs, it is difficult to determine exactly what operations a transaction performs and how operations of various transactions interact. For this reason, we shall not consider the various types of operations that a transaction can perform on a data item, but instead consider only two operations: read and write. We assume that, between a read(Q) instruction and a write(Q) instruction on a data item Q, a transaction may perform an arbitrary sequence of operations on the copy of Q that is residing in the local buffer of the transaction. In this model, the only significant operations of a transaction, from a scheduling point of view, are its read and write instructions. Commit operations, though relevant, are not considered until Section 17.7. We therefore may show only read and write instructions in schedules, as we do for schedule 3 in Figure 17.6</a:t>
            </a:r>
          </a:p>
          <a:p>
            <a:endParaRPr lang="en-US" altLang="en-US" dirty="0" smtClean="0">
              <a:latin typeface="Times New Roman" panose="02020603050405020304" pitchFamily="18" charset="0"/>
            </a:endParaRPr>
          </a:p>
          <a:p>
            <a:r>
              <a:rPr lang="en-US" dirty="0" smtClean="0"/>
              <a:t>In this section, </a:t>
            </a:r>
            <a:r>
              <a:rPr lang="en-US" b="1" dirty="0" smtClean="0"/>
              <a:t>we discuss different forms of schedule equivalence but focus on a particular form called conflict </a:t>
            </a:r>
            <a:r>
              <a:rPr lang="en-US" b="1" dirty="0" err="1" smtClean="0"/>
              <a:t>serializability</a:t>
            </a:r>
            <a:r>
              <a:rPr lang="en-US" b="1" dirty="0" smtClean="0"/>
              <a:t>.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b="1" u="sng" dirty="0" smtClean="0">
                <a:latin typeface="Times New Roman" panose="02020603050405020304" pitchFamily="18" charset="0"/>
              </a:rPr>
              <a:t>Slide </a:t>
            </a:r>
            <a:endParaRPr lang="en-US" altLang="en-US" b="1" u="sng" dirty="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E9D46A0-8FB9-4F36-8A68-841EE000AD2B}" type="slidenum">
              <a:rPr lang="en-US" altLang="en-US" sz="1300">
                <a:latin typeface="Times New Roman" panose="02020603050405020304" pitchFamily="18" charset="0"/>
              </a:rPr>
              <a:pPr/>
              <a:t>17</a:t>
            </a:fld>
            <a:endParaRPr lang="en-US" altLang="en-US" sz="13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Times New Roman" panose="02020603050405020304" pitchFamily="18" charset="0"/>
              </a:rPr>
              <a:t>In our cases we</a:t>
            </a:r>
            <a:r>
              <a:rPr lang="en-US" altLang="en-US" baseline="0" dirty="0" smtClean="0">
                <a:latin typeface="Times New Roman" panose="02020603050405020304" pitchFamily="18" charset="0"/>
              </a:rPr>
              <a:t> ignore …..</a:t>
            </a: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DA3BC2A-3044-458B-B1BD-DEB1040FB7FC}" type="slidenum">
              <a:rPr lang="en-US" altLang="en-US" sz="1300">
                <a:latin typeface="Times New Roman" panose="02020603050405020304" pitchFamily="18" charset="0"/>
              </a:rPr>
              <a:pPr/>
              <a:t>18</a:t>
            </a:fld>
            <a:endParaRPr lang="en-US" altLang="en-US" sz="13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Let us consider a schedule S in which there are two consecutive instructions, I and J, of transactions </a:t>
            </a:r>
            <a:r>
              <a:rPr lang="en-US" i="1" dirty="0" err="1" smtClean="0"/>
              <a:t>Ti</a:t>
            </a:r>
            <a:r>
              <a:rPr lang="en-US" i="1" dirty="0" smtClean="0"/>
              <a:t> and </a:t>
            </a:r>
            <a:r>
              <a:rPr lang="en-US" i="1" dirty="0" err="1" smtClean="0"/>
              <a:t>Tj</a:t>
            </a:r>
            <a:r>
              <a:rPr lang="en-US" i="1" dirty="0" smtClean="0"/>
              <a:t> , respectively (i ≠ j). If I and J refer to different data items, then we can swap I and J without affecting the results of any instruction in the schedule. However, if I and J refer to the same data item Q, then the order of the two steps may matter. Since we are dealing with only read and write instructions, there are four cases that we need to consider: </a:t>
            </a:r>
          </a:p>
          <a:p>
            <a:endParaRPr lang="en-US" altLang="en-US" dirty="0" smtClean="0">
              <a:latin typeface="Times New Roman" panose="02020603050405020304" pitchFamily="18" charset="0"/>
            </a:endParaRPr>
          </a:p>
          <a:p>
            <a:pPr marL="228600" indent="-228600">
              <a:buAutoNum type="arabicPeriod"/>
            </a:pPr>
            <a:r>
              <a:rPr lang="en-US" dirty="0" smtClean="0"/>
              <a:t>I = read(Q), J = read(Q). The order of I and J does not matter, since the same value of Q is read by </a:t>
            </a:r>
            <a:r>
              <a:rPr lang="en-US" dirty="0" err="1" smtClean="0"/>
              <a:t>Ti</a:t>
            </a:r>
            <a:r>
              <a:rPr lang="en-US" dirty="0" smtClean="0"/>
              <a:t> and </a:t>
            </a:r>
            <a:r>
              <a:rPr lang="en-US" dirty="0" err="1" smtClean="0"/>
              <a:t>Tj</a:t>
            </a:r>
            <a:r>
              <a:rPr lang="en-US" dirty="0" smtClean="0"/>
              <a:t> , regardless of the order.</a:t>
            </a:r>
          </a:p>
          <a:p>
            <a:pPr marL="0" indent="0">
              <a:buNone/>
            </a:pPr>
            <a:r>
              <a:rPr lang="en-US" dirty="0" smtClean="0"/>
              <a:t>2. I = read(Q), J = write(Q). If I comes before J, then </a:t>
            </a:r>
            <a:r>
              <a:rPr lang="en-US" dirty="0" err="1" smtClean="0"/>
              <a:t>Ti</a:t>
            </a:r>
            <a:r>
              <a:rPr lang="en-US" dirty="0" smtClean="0"/>
              <a:t> does not read the value of Q that is written by </a:t>
            </a:r>
            <a:r>
              <a:rPr lang="en-US" dirty="0" err="1" smtClean="0"/>
              <a:t>Tj</a:t>
            </a:r>
            <a:r>
              <a:rPr lang="en-US" dirty="0" smtClean="0"/>
              <a:t> in instruction J. If J comes before I, then </a:t>
            </a:r>
            <a:r>
              <a:rPr lang="en-US" dirty="0" err="1" smtClean="0"/>
              <a:t>Ti</a:t>
            </a:r>
            <a:r>
              <a:rPr lang="en-US" dirty="0" smtClean="0"/>
              <a:t> reads the value of Q that is written by </a:t>
            </a:r>
            <a:r>
              <a:rPr lang="en-US" dirty="0" err="1" smtClean="0"/>
              <a:t>Tj</a:t>
            </a:r>
            <a:r>
              <a:rPr lang="en-US" dirty="0" smtClean="0"/>
              <a:t> . Thus, the order of I and J matters. </a:t>
            </a:r>
          </a:p>
          <a:p>
            <a:pPr marL="0" indent="0">
              <a:buNone/>
            </a:pPr>
            <a:r>
              <a:rPr lang="en-US" dirty="0" smtClean="0"/>
              <a:t>3. I = write(Q), J = read(Q). The order of I and J matters for reasons similar to those of the previous case. </a:t>
            </a:r>
          </a:p>
          <a:p>
            <a:pPr marL="0" indent="0">
              <a:buNone/>
            </a:pPr>
            <a:r>
              <a:rPr lang="en-US" dirty="0" smtClean="0"/>
              <a:t>4. I = write(Q), J = write(Q). Since both instructions are write operations, the order of these instructions does not affect either </a:t>
            </a:r>
            <a:r>
              <a:rPr lang="en-US" dirty="0" err="1" smtClean="0"/>
              <a:t>Ti</a:t>
            </a:r>
            <a:r>
              <a:rPr lang="en-US" dirty="0" smtClean="0"/>
              <a:t> or </a:t>
            </a:r>
            <a:r>
              <a:rPr lang="en-US" dirty="0" err="1" smtClean="0"/>
              <a:t>Tj</a:t>
            </a:r>
            <a:r>
              <a:rPr lang="en-US" dirty="0" smtClean="0"/>
              <a:t> . </a:t>
            </a:r>
          </a:p>
          <a:p>
            <a:pPr marL="0" indent="0">
              <a:buNone/>
            </a:pPr>
            <a:endParaRPr lang="en-US" dirty="0" smtClean="0"/>
          </a:p>
          <a:p>
            <a:pPr marL="0" indent="0">
              <a:buNone/>
            </a:pPr>
            <a:r>
              <a:rPr lang="en-US" i="1" dirty="0" smtClean="0"/>
              <a:t>However, the value obtained by the next read(Q) instruction of S is affected, since the result of only the latter of the two write instructions is preserved in the database. If there is no other write(Q) instruction after I and J in S, then the order of I and J directly affects the final value of Q in the database state that results from schedule S.</a:t>
            </a:r>
          </a:p>
          <a:p>
            <a:pPr marL="0" indent="0">
              <a:buNone/>
            </a:pPr>
            <a:endParaRPr lang="en-US" altLang="en-US" i="1" dirty="0" smtClean="0">
              <a:latin typeface="Times New Roman" panose="02020603050405020304" pitchFamily="18" charset="0"/>
            </a:endParaRPr>
          </a:p>
          <a:p>
            <a:pPr marL="0" indent="0">
              <a:buNone/>
            </a:pPr>
            <a:endParaRPr lang="en-US" altLang="en-US" i="1" dirty="0" smtClean="0">
              <a:latin typeface="Times New Roman" panose="02020603050405020304" pitchFamily="18" charset="0"/>
            </a:endParaRPr>
          </a:p>
          <a:p>
            <a:pPr marL="0" indent="0">
              <a:buNone/>
            </a:pPr>
            <a:r>
              <a:rPr lang="en-US" altLang="en-US" b="1" i="1" dirty="0" err="1" smtClean="0">
                <a:latin typeface="Times New Roman" panose="02020603050405020304" pitchFamily="18" charset="0"/>
              </a:rPr>
              <a:t>Moze</a:t>
            </a:r>
            <a:r>
              <a:rPr lang="en-US" altLang="en-US" b="1" i="1" baseline="0" dirty="0" smtClean="0">
                <a:latin typeface="Times New Roman" panose="02020603050405020304" pitchFamily="18" charset="0"/>
              </a:rPr>
              <a:t> </a:t>
            </a:r>
            <a:r>
              <a:rPr lang="en-US" altLang="en-US" b="1" i="1" baseline="0" dirty="0" err="1" smtClean="0">
                <a:latin typeface="Times New Roman" panose="02020603050405020304" pitchFamily="18" charset="0"/>
              </a:rPr>
              <a:t>samo</a:t>
            </a:r>
            <a:r>
              <a:rPr lang="en-US" altLang="en-US" b="1" i="1" baseline="0" dirty="0" smtClean="0">
                <a:latin typeface="Times New Roman" panose="02020603050405020304" pitchFamily="18" charset="0"/>
              </a:rPr>
              <a:t> </a:t>
            </a:r>
            <a:r>
              <a:rPr lang="en-US" altLang="en-US" b="1" i="1" baseline="0" dirty="0" err="1" smtClean="0">
                <a:latin typeface="Times New Roman" panose="02020603050405020304" pitchFamily="18" charset="0"/>
              </a:rPr>
              <a:t>prv</a:t>
            </a:r>
            <a:r>
              <a:rPr lang="en-US" altLang="en-US" b="1" i="1" baseline="0" dirty="0" smtClean="0">
                <a:latin typeface="Times New Roman" panose="02020603050405020304" pitchFamily="18" charset="0"/>
              </a:rPr>
              <a:t> </a:t>
            </a:r>
            <a:r>
              <a:rPr lang="en-US" altLang="en-US" b="1" i="1" baseline="0" dirty="0" err="1" smtClean="0">
                <a:latin typeface="Times New Roman" panose="02020603050405020304" pitchFamily="18" charset="0"/>
              </a:rPr>
              <a:t>passos</a:t>
            </a:r>
            <a:r>
              <a:rPr lang="en-US" altLang="en-US" b="1" i="1" baseline="0" dirty="0" smtClean="0">
                <a:latin typeface="Times New Roman" panose="02020603050405020304" pitchFamily="18" charset="0"/>
              </a:rPr>
              <a:t> pa </a:t>
            </a:r>
            <a:r>
              <a:rPr lang="en-US" altLang="en-US" b="1" i="1" baseline="0" dirty="0" err="1" smtClean="0">
                <a:latin typeface="Times New Roman" panose="02020603050405020304" pitchFamily="18" charset="0"/>
              </a:rPr>
              <a:t>slajd</a:t>
            </a:r>
            <a:endParaRPr lang="en-US" altLang="en-US" b="1" i="1"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70FF04-BD4D-47CF-853F-6CFC89ED42D1}" type="slidenum">
              <a:rPr lang="en-US" altLang="en-US" sz="1300">
                <a:latin typeface="Times New Roman" panose="02020603050405020304" pitchFamily="18" charset="0"/>
              </a:rPr>
              <a:pPr/>
              <a:t>19</a:t>
            </a:fld>
            <a:endParaRPr lang="en-US" altLang="en-US" sz="13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If a schedule S can be transformed into a schedule S′ by a series of swaps of non-conflicting instructions, we say that S and S′ are conflict equivalent.</a:t>
            </a:r>
          </a:p>
          <a:p>
            <a:endParaRPr lang="en-US" altLang="en-US" i="1" dirty="0" smtClean="0">
              <a:latin typeface="Times New Roman" panose="02020603050405020304" pitchFamily="18" charset="0"/>
            </a:endParaRPr>
          </a:p>
          <a:p>
            <a:r>
              <a:rPr lang="en-US" i="1" dirty="0" smtClean="0"/>
              <a:t>The concept of conflict equivalence leads to the concept of conflict </a:t>
            </a:r>
            <a:r>
              <a:rPr lang="en-US" i="1" dirty="0" err="1" smtClean="0"/>
              <a:t>serializability</a:t>
            </a:r>
            <a:r>
              <a:rPr lang="en-US" i="1" dirty="0" smtClean="0"/>
              <a:t>. We say that a schedule S is conflict serializable if it is conflict equivalent to a serial schedule. Thus, schedule 3 is conflict serializable, since it is conflict equivalent to the serial schedule 1 </a:t>
            </a:r>
            <a:endParaRPr lang="en-US" altLang="en-US" i="1"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C98D951-B8BF-4FE7-8FF8-B9812C3DBA9F}" type="slidenum">
              <a:rPr lang="en-US" altLang="en-US" sz="1300">
                <a:latin typeface="Times New Roman" panose="02020603050405020304" pitchFamily="18" charset="0"/>
              </a:rPr>
              <a:pPr/>
              <a:t>20</a:t>
            </a:fld>
            <a:endParaRPr lang="en-US" altLang="en-US" sz="13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The final result of these swaps, schedule 6 of Figure 17.8, is a serial schedule. Note that schedule 6 is exactly the same as schedule 1, but it shows only the read and write instructions. Thus, we have shown that schedule 3 is equivalent to a serial schedule. This equivalence implies that, regardless of the initial system state, schedule 3 produces the same final state as some serial schedule.</a:t>
            </a:r>
            <a:endParaRPr lang="en-US" altLang="en-US" i="1"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BAB2A54-CE49-40F1-BE38-E3DCEF43F856}" type="slidenum">
              <a:rPr lang="en-US" altLang="en-US" sz="1300">
                <a:latin typeface="Times New Roman" panose="02020603050405020304" pitchFamily="18" charset="0"/>
              </a:rPr>
              <a:pPr/>
              <a:t>21</a:t>
            </a:fld>
            <a:endParaRPr lang="en-US" altLang="en-US" sz="130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Finally, consider schedule 7 of Figure 17.9; it consists of only the significant operations (that is, the read and write) of transactions T3 and T4. This schedule is not conflict serializable, since it is not equivalent to either the serial schedule </a:t>
            </a:r>
            <a:r>
              <a:rPr lang="en-US" altLang="en-US" i="1" dirty="0" smtClean="0"/>
              <a:t>&lt; T</a:t>
            </a:r>
            <a:r>
              <a:rPr lang="en-US" altLang="en-US" i="1" baseline="-25000" dirty="0" smtClean="0"/>
              <a:t>3</a:t>
            </a:r>
            <a:r>
              <a:rPr lang="en-US" altLang="en-US" i="1" dirty="0" smtClean="0"/>
              <a:t>, T</a:t>
            </a:r>
            <a:r>
              <a:rPr lang="en-US" altLang="en-US" i="1" baseline="-25000" dirty="0" smtClean="0"/>
              <a:t>4</a:t>
            </a:r>
            <a:r>
              <a:rPr lang="en-US" altLang="en-US" i="1" dirty="0" smtClean="0"/>
              <a:t> &gt;, </a:t>
            </a:r>
            <a:r>
              <a:rPr lang="en-US" i="1" dirty="0" smtClean="0"/>
              <a:t>or the serial schedule </a:t>
            </a:r>
            <a:r>
              <a:rPr lang="en-US" altLang="en-US" i="1" dirty="0" smtClean="0"/>
              <a:t>&lt; T</a:t>
            </a:r>
            <a:r>
              <a:rPr lang="en-US" altLang="en-US" i="1" baseline="-25000" dirty="0" smtClean="0"/>
              <a:t>4</a:t>
            </a:r>
            <a:r>
              <a:rPr lang="en-US" altLang="en-US" i="1" dirty="0" smtClean="0"/>
              <a:t>, T</a:t>
            </a:r>
            <a:r>
              <a:rPr lang="en-US" altLang="en-US" i="1" baseline="-25000" dirty="0" smtClean="0"/>
              <a:t>3</a:t>
            </a:r>
            <a:r>
              <a:rPr lang="en-US" altLang="en-US" i="1" dirty="0" smtClean="0"/>
              <a:t> &gt;</a:t>
            </a:r>
            <a:r>
              <a:rPr lang="en-US" i="1" dirty="0" smtClean="0"/>
              <a:t>. </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3120282-FA19-4407-98A6-B549395434D4}" type="slidenum">
              <a:rPr lang="en-US" altLang="en-US" sz="1300">
                <a:latin typeface="Times New Roman" panose="02020603050405020304" pitchFamily="18" charset="0"/>
              </a:rPr>
              <a:pPr/>
              <a:t>22</a:t>
            </a:fld>
            <a:endParaRPr lang="en-US" altLang="en-US" sz="130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Str. 867 </a:t>
            </a:r>
            <a:r>
              <a:rPr lang="en-US" dirty="0" err="1" smtClean="0"/>
              <a:t>ili</a:t>
            </a:r>
            <a:r>
              <a:rPr lang="en-US" dirty="0" smtClean="0"/>
              <a:t> 896</a:t>
            </a:r>
          </a:p>
          <a:p>
            <a:endParaRPr lang="en-US" dirty="0" smtClean="0"/>
          </a:p>
          <a:p>
            <a:r>
              <a:rPr lang="en-US" b="1" dirty="0" smtClean="0"/>
              <a:t>There is another form of equivalence that is less stringent than conflict equivalence, but that, like conflict equivalence, is based on only the read and write operations of transactions. </a:t>
            </a:r>
          </a:p>
          <a:p>
            <a:endParaRPr lang="en-US" b="1" dirty="0" smtClean="0"/>
          </a:p>
          <a:p>
            <a:r>
              <a:rPr lang="en-US" b="1" dirty="0" smtClean="0"/>
              <a:t>Consider two schedules S and S′ , where the same set of transactions participates in both schedules. The schedules S and S′ are said to be view equivalent if three conditions are met:</a:t>
            </a:r>
          </a:p>
          <a:p>
            <a:endParaRPr lang="en-US" altLang="en-US" dirty="0" smtClean="0">
              <a:latin typeface="Times New Roman" panose="02020603050405020304" pitchFamily="18" charset="0"/>
            </a:endParaRPr>
          </a:p>
          <a:p>
            <a:pPr marL="228600" indent="-228600">
              <a:buAutoNum type="arabicPeriod"/>
            </a:pPr>
            <a:r>
              <a:rPr lang="en-US" dirty="0" smtClean="0"/>
              <a:t>For each data item Q, if transaction </a:t>
            </a:r>
            <a:r>
              <a:rPr lang="en-US" dirty="0" err="1" smtClean="0"/>
              <a:t>Ti</a:t>
            </a:r>
            <a:r>
              <a:rPr lang="en-US" dirty="0" smtClean="0"/>
              <a:t> reads the initial value of Q in schedule S, then transaction </a:t>
            </a:r>
            <a:r>
              <a:rPr lang="en-US" dirty="0" err="1" smtClean="0"/>
              <a:t>Ti</a:t>
            </a:r>
            <a:r>
              <a:rPr lang="en-US" dirty="0" smtClean="0"/>
              <a:t> must, in schedule S′ , also read the initial value of Q. </a:t>
            </a:r>
          </a:p>
          <a:p>
            <a:pPr marL="228600" indent="-228600">
              <a:buAutoNum type="arabicPeriod"/>
            </a:pPr>
            <a:r>
              <a:rPr lang="en-US" dirty="0" smtClean="0"/>
              <a:t>For each data item Q, if transaction </a:t>
            </a:r>
            <a:r>
              <a:rPr lang="en-US" dirty="0" err="1" smtClean="0"/>
              <a:t>Ti</a:t>
            </a:r>
            <a:r>
              <a:rPr lang="en-US" dirty="0" smtClean="0"/>
              <a:t> executes read(Q) in schedule S, and if that value was produced by a write(Q) operation executed by transaction </a:t>
            </a:r>
            <a:r>
              <a:rPr lang="en-US" dirty="0" err="1" smtClean="0"/>
              <a:t>Tj</a:t>
            </a:r>
            <a:r>
              <a:rPr lang="en-US" dirty="0" smtClean="0"/>
              <a:t> , then the read(Q) operation of transaction </a:t>
            </a:r>
            <a:r>
              <a:rPr lang="en-US" dirty="0" err="1" smtClean="0"/>
              <a:t>Ti</a:t>
            </a:r>
            <a:r>
              <a:rPr lang="en-US" dirty="0" smtClean="0"/>
              <a:t> must, in schedule S′ , also read the value of Q that was produced by the same write(Q) operation of transaction </a:t>
            </a:r>
            <a:r>
              <a:rPr lang="en-US" dirty="0" err="1" smtClean="0"/>
              <a:t>Tj</a:t>
            </a:r>
            <a:r>
              <a:rPr lang="en-US" dirty="0" smtClean="0"/>
              <a:t> . </a:t>
            </a:r>
          </a:p>
          <a:p>
            <a:pPr marL="228600" indent="-228600">
              <a:buAutoNum type="arabicPeriod"/>
            </a:pPr>
            <a:r>
              <a:rPr lang="en-US" dirty="0" smtClean="0"/>
              <a:t>For each data item Q, the transaction (if any) that performs the final write(Q) operation in schedule S must perform the final write(Q) in schedule S′ .</a:t>
            </a:r>
          </a:p>
          <a:p>
            <a:pPr marL="228600" indent="-228600">
              <a:buAutoNum type="arabicPeriod"/>
            </a:pPr>
            <a:endParaRPr lang="en-US" altLang="en-US" dirty="0" smtClean="0">
              <a:latin typeface="Times New Roman" panose="02020603050405020304" pitchFamily="18" charset="0"/>
            </a:endParaRPr>
          </a:p>
          <a:p>
            <a:pPr marL="0" indent="0">
              <a:buNone/>
            </a:pPr>
            <a:r>
              <a:rPr lang="en-US" b="1" i="1" dirty="0" smtClean="0"/>
              <a:t>Conditions 1 and 2 ensure that each transaction reads the same values in both schedules and, therefore, performs the same computation. Condition 3, coupled with conditions 1 and 2, ensures that both schedules result in the same final system state.</a:t>
            </a:r>
            <a:endParaRPr lang="en-US" altLang="en-US" b="1" i="1"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B704F0-BAEA-48FC-A020-011B0A01BDD0}" type="slidenum">
              <a:rPr lang="en-US" altLang="en-US" sz="1300">
                <a:latin typeface="Times New Roman" panose="02020603050405020304" pitchFamily="18" charset="0"/>
              </a:rPr>
              <a:pPr/>
              <a:t>23</a:t>
            </a:fld>
            <a:endParaRPr lang="en-US" altLang="en-US" sz="130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concept of view equivalence leads to the concept of view </a:t>
            </a:r>
            <a:r>
              <a:rPr lang="en-US" b="1" dirty="0" err="1" smtClean="0"/>
              <a:t>serializability</a:t>
            </a:r>
            <a:r>
              <a:rPr lang="en-US" b="1" dirty="0" smtClean="0"/>
              <a:t>. We say that a schedule S is view serializable if it is view equivalent to a serial schedule. </a:t>
            </a:r>
          </a:p>
          <a:p>
            <a:endParaRPr lang="en-US" dirty="0" smtClean="0"/>
          </a:p>
          <a:p>
            <a:r>
              <a:rPr lang="en-US" b="1" dirty="0" smtClean="0"/>
              <a:t>As an illustration, suppose that we augment schedule 4 with transaction T29 and obtain the following view serializable (schedule 5):</a:t>
            </a:r>
          </a:p>
          <a:p>
            <a:endParaRPr lang="en-US" altLang="en-US" dirty="0" smtClean="0">
              <a:latin typeface="Times New Roman" panose="02020603050405020304" pitchFamily="18" charset="0"/>
            </a:endParaRPr>
          </a:p>
          <a:p>
            <a:r>
              <a:rPr lang="en-US" i="1" dirty="0" smtClean="0"/>
              <a:t>Indeed, schedule 5 is view equivalent to the serial schedule , since the one read(Q) instruction reads the initial value of Q in both schedules and T29 performs the final write of Q in both schedules. </a:t>
            </a:r>
          </a:p>
          <a:p>
            <a:r>
              <a:rPr lang="en-US" i="1" dirty="0" smtClean="0"/>
              <a:t>Every conflict-serializable schedule is also view serializable, but there are view serializable schedules that are not conflict serializable. Indeed, schedule 5 is not conflict serializable, since every pair of consecutive instructions conflicts, and, thus, no swapping of instructions is possible.</a:t>
            </a:r>
            <a:endParaRPr lang="en-US" altLang="en-US" i="1"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Observe that, in schedule 5, transactions T28 and T29 perform write(Q) operations without having performed a read(Q) operation. Writes of this sort are called blind writes. </a:t>
            </a:r>
            <a:r>
              <a:rPr lang="en-US" b="1" dirty="0" smtClean="0"/>
              <a:t>Blind writes </a:t>
            </a:r>
            <a:r>
              <a:rPr lang="en-US" i="1" dirty="0" smtClean="0"/>
              <a:t>appear in any view-serializable schedule that is not conflict serializable.</a:t>
            </a:r>
            <a:endParaRPr lang="en-US" altLang="en-US" i="1" dirty="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6BDD98-9085-4F65-9BDF-1B839A8B4DC6}" type="slidenum">
              <a:rPr lang="en-US" altLang="en-US" sz="1300">
                <a:latin typeface="Times New Roman" panose="02020603050405020304" pitchFamily="18" charset="0"/>
              </a:rPr>
              <a:pPr/>
              <a:t>24</a:t>
            </a:fld>
            <a:endParaRPr lang="en-US" altLang="en-US" sz="1300">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We can see from this example that there are less-stringent definitions of schedule equivalence than conflict equivalence. </a:t>
            </a:r>
          </a:p>
          <a:p>
            <a:r>
              <a:rPr lang="en-US" b="1" dirty="0" smtClean="0"/>
              <a:t>For the system to determine that schedule 8 produces the same outcome as the serial schedule </a:t>
            </a:r>
            <a:r>
              <a:rPr lang="en-US" altLang="en-US" b="1" dirty="0" smtClean="0"/>
              <a:t>&lt; </a:t>
            </a:r>
            <a:r>
              <a:rPr lang="en-US" altLang="en-US" b="1" i="1" dirty="0" smtClean="0"/>
              <a:t>T</a:t>
            </a:r>
            <a:r>
              <a:rPr lang="en-US" altLang="en-US" b="1" baseline="-25000" dirty="0" smtClean="0"/>
              <a:t>1</a:t>
            </a:r>
            <a:r>
              <a:rPr lang="en-US" altLang="en-US" b="1" dirty="0" smtClean="0"/>
              <a:t>,</a:t>
            </a:r>
            <a:r>
              <a:rPr lang="en-US" altLang="en-US" b="1" baseline="-25000" dirty="0" smtClean="0"/>
              <a:t> </a:t>
            </a:r>
            <a:r>
              <a:rPr lang="en-US" altLang="en-US" b="1" i="1" dirty="0" smtClean="0"/>
              <a:t>T</a:t>
            </a:r>
            <a:r>
              <a:rPr lang="en-US" altLang="en-US" b="1" baseline="-25000" dirty="0" smtClean="0"/>
              <a:t>5</a:t>
            </a:r>
            <a:r>
              <a:rPr lang="en-US" altLang="en-US" b="1" dirty="0" smtClean="0"/>
              <a:t> &gt;, </a:t>
            </a:r>
            <a:r>
              <a:rPr lang="en-US" b="1" dirty="0" smtClean="0"/>
              <a:t>it must analyze the computation performed by T1 and T5, rather than just the read and write operations. In general, such analysis is hard to implement and is computationally expensive. </a:t>
            </a:r>
          </a:p>
          <a:p>
            <a:endParaRPr lang="en-US" dirty="0" smtClean="0"/>
          </a:p>
          <a:p>
            <a:r>
              <a:rPr lang="en-US" dirty="0" smtClean="0"/>
              <a:t>In our example, the final result is the same as that of a serial schedule because of the mathematical fact that the increment and decrement operations are commutative. While this may be easy to see in our simple example, the general case is not so easy since a transaction may be expressed as a complex SQL statement, a Java program with JDBC calls, etc.</a:t>
            </a:r>
            <a:endParaRPr lang="en-US"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9AF8D3E-D4BC-4C85-BC46-168123D4B1D3}" type="slidenum">
              <a:rPr lang="en-US" altLang="en-US" sz="1300">
                <a:latin typeface="Times New Roman" panose="02020603050405020304" pitchFamily="18" charset="0"/>
              </a:rPr>
              <a:pPr/>
              <a:t>25</a:t>
            </a:fld>
            <a:endParaRPr lang="en-US" altLang="en-US" sz="130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precedence graph for schedule 4 appears in Figure 17.11. It contains the edge T1 → T2 because T1 executes read(A) before T2 executes write(A). It also contains the edge T2 → T1 because T2 executes read(B) before T1 executes write(B). </a:t>
            </a:r>
          </a:p>
          <a:p>
            <a:endParaRPr lang="en-US" b="1" dirty="0" smtClean="0"/>
          </a:p>
          <a:p>
            <a:r>
              <a:rPr lang="en-US" b="1" dirty="0" smtClean="0"/>
              <a:t>If the precedence graph for S has a cycle, then schedule S is not conflict serializable. If the graph contains no cycles, then the schedule S is conflict serializable.</a:t>
            </a:r>
            <a:endParaRPr lang="en-US" altLang="en-US" b="1" dirty="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pPr/>
              <a:t>26</a:t>
            </a:fld>
            <a:endParaRPr lang="en-US" altLang="en-US" sz="13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i="1" dirty="0" smtClean="0"/>
              <a:t>A </a:t>
            </a:r>
            <a:r>
              <a:rPr lang="en-US" i="1" dirty="0" err="1" smtClean="0"/>
              <a:t>serializability</a:t>
            </a:r>
            <a:r>
              <a:rPr lang="en-US" i="1" dirty="0" smtClean="0"/>
              <a:t> order of the transactions can be obtained by finding a linear order consistent with the partial order of the precedence graph. This process is called topological sorting. There are, in general, several possible linear orders that can be obtained through a topological sort. For example, the graph of Figure 17.12a has the two acceptable linear orderings shown in Figure 17.12b and Figure 17.12c.</a:t>
            </a:r>
          </a:p>
          <a:p>
            <a:endParaRPr lang="en-US" altLang="en-US" i="1" dirty="0" smtClean="0">
              <a:latin typeface="Times New Roman" panose="02020603050405020304" pitchFamily="18" charset="0"/>
            </a:endParaRPr>
          </a:p>
          <a:p>
            <a:r>
              <a:rPr lang="en-US" i="1" dirty="0" smtClean="0"/>
              <a:t>Thus, to test for conflict </a:t>
            </a:r>
            <a:r>
              <a:rPr lang="en-US" i="1" dirty="0" err="1" smtClean="0"/>
              <a:t>serializability</a:t>
            </a:r>
            <a:r>
              <a:rPr lang="en-US" i="1" dirty="0" smtClean="0"/>
              <a:t>, we need to construct the precedence graph and to invoke a cycle-detection algorithm. Cycle-detection algorithms can be found in standard textbooks on algorithms. Cycle-detection algorithms, such as those based on depth-first search, require on the order of n2 operations, where n is the number of vertices in the graph (that is, the number of transactions).</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DD8D6FB-95B3-4852-BB48-80936A26FC18}" type="slidenum">
              <a:rPr lang="en-US" altLang="en-US" sz="1300">
                <a:latin typeface="Times New Roman" panose="02020603050405020304" pitchFamily="18" charset="0"/>
              </a:rPr>
              <a:pPr/>
              <a:t>27</a:t>
            </a:fld>
            <a:endParaRPr lang="en-US" altLang="en-US" sz="130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However, there are other definitions of schedule equivalence based purely on the read and write operations. One such definition is view equivalence, a definition that leads to the concept of view </a:t>
            </a:r>
            <a:r>
              <a:rPr lang="en-US" b="1" i="1" dirty="0" err="1" smtClean="0"/>
              <a:t>serializability</a:t>
            </a:r>
            <a:r>
              <a:rPr lang="en-US" b="1" i="1" dirty="0" smtClean="0"/>
              <a:t>. View </a:t>
            </a:r>
            <a:r>
              <a:rPr lang="en-US" b="1" i="1" dirty="0" err="1" smtClean="0"/>
              <a:t>serializability</a:t>
            </a:r>
            <a:r>
              <a:rPr lang="en-US" b="1" i="1" dirty="0" smtClean="0"/>
              <a:t> is not used in practice due to its high degree of computational complexity.. </a:t>
            </a:r>
          </a:p>
          <a:p>
            <a:endParaRPr lang="en-US" altLang="en-US" b="1" i="1" dirty="0" smtClean="0">
              <a:latin typeface="Times New Roman" panose="02020603050405020304" pitchFamily="18" charset="0"/>
            </a:endParaRPr>
          </a:p>
          <a:p>
            <a:r>
              <a:rPr lang="en-US" b="1" i="1" dirty="0" smtClean="0"/>
              <a:t>Testing for view </a:t>
            </a:r>
            <a:r>
              <a:rPr lang="en-US" b="1" i="1" dirty="0" err="1" smtClean="0"/>
              <a:t>serializability</a:t>
            </a:r>
            <a:r>
              <a:rPr lang="en-US" b="1" i="1" dirty="0" smtClean="0"/>
              <a:t> has been proven to be NP-complete, which means that it is virtually certain that no efficient test for view </a:t>
            </a:r>
            <a:r>
              <a:rPr lang="en-US" b="1" i="1" dirty="0" err="1" smtClean="0"/>
              <a:t>serializability</a:t>
            </a:r>
            <a:r>
              <a:rPr lang="en-US" b="1" i="1" dirty="0" smtClean="0"/>
              <a:t> exists.</a:t>
            </a:r>
            <a:endParaRPr lang="en-US" altLang="en-US" b="1" i="1"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78FB941-5722-4BA5-84DF-FC78527A2BB7}" type="slidenum">
              <a:rPr lang="en-US" altLang="en-US" sz="1300">
                <a:latin typeface="Times New Roman" panose="02020603050405020304" pitchFamily="18" charset="0"/>
              </a:rPr>
              <a:pPr/>
              <a:t>28</a:t>
            </a:fld>
            <a:endParaRPr lang="en-US" altLang="en-US" sz="130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Consider the partial schedule 9 in Figure 17.14, in which T7 is a transaction that performs only one instruction: read(A). We call this a partial schedule because we have not included a commit or abort operation for T6. Notice that T7 commits immediately after executing the read(A) instruction. Thus, T7 commits while T6 is still in the active state. Now suppose that T6 fails before it commits. T7 has read the value of data item A written by T6. Therefore, we say that T7 is dependent on T6. Because of this, we must abort T7 to ensure atomicity. However, T7 has already committed and cannot be aborted. Thus, we have a situation where it is impossible to recover correctly from the failure of T6.</a:t>
            </a:r>
          </a:p>
          <a:p>
            <a:endParaRPr lang="en-US" altLang="en-US" dirty="0" smtClean="0">
              <a:latin typeface="Times New Roman" panose="02020603050405020304" pitchFamily="18" charset="0"/>
            </a:endParaRPr>
          </a:p>
          <a:p>
            <a:r>
              <a:rPr lang="en-US" dirty="0" smtClean="0"/>
              <a:t>Schedule 9 is an example of a non-recoverable schedule. A recoverable schedule is one where, for each pair of transactions </a:t>
            </a:r>
            <a:r>
              <a:rPr lang="en-US" dirty="0" err="1" smtClean="0"/>
              <a:t>Ti</a:t>
            </a:r>
            <a:r>
              <a:rPr lang="en-US" dirty="0" smtClean="0"/>
              <a:t> and </a:t>
            </a:r>
            <a:r>
              <a:rPr lang="en-US" dirty="0" err="1" smtClean="0"/>
              <a:t>Tj</a:t>
            </a:r>
            <a:r>
              <a:rPr lang="en-US" dirty="0" smtClean="0"/>
              <a:t> such that </a:t>
            </a:r>
            <a:r>
              <a:rPr lang="en-US" dirty="0" err="1" smtClean="0"/>
              <a:t>Tj</a:t>
            </a:r>
            <a:r>
              <a:rPr lang="en-US" dirty="0" smtClean="0"/>
              <a:t> reads a data item previously written by </a:t>
            </a:r>
            <a:r>
              <a:rPr lang="en-US" dirty="0" err="1" smtClean="0"/>
              <a:t>Ti</a:t>
            </a:r>
            <a:r>
              <a:rPr lang="en-US" dirty="0" smtClean="0"/>
              <a:t> , the commit operation of </a:t>
            </a:r>
            <a:r>
              <a:rPr lang="en-US" dirty="0" err="1" smtClean="0"/>
              <a:t>Ti</a:t>
            </a:r>
            <a:r>
              <a:rPr lang="en-US" dirty="0" smtClean="0"/>
              <a:t> appears before the commit operation of </a:t>
            </a:r>
            <a:r>
              <a:rPr lang="en-US" dirty="0" err="1" smtClean="0"/>
              <a:t>Tj</a:t>
            </a:r>
            <a:r>
              <a:rPr lang="en-US" dirty="0" smtClean="0"/>
              <a:t> . For the example of schedule 9 to be recoverable, T7 would have to delay committing until after T6 commits.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Ne</a:t>
            </a:r>
            <a:r>
              <a:rPr lang="en-US" altLang="en-US" baseline="0" dirty="0" smtClean="0">
                <a:latin typeface="Times New Roman" panose="02020603050405020304" pitchFamily="18" charset="0"/>
              </a:rPr>
              <a:t> e </a:t>
            </a:r>
            <a:r>
              <a:rPr lang="en-US" altLang="en-US" baseline="0" dirty="0" err="1" smtClean="0">
                <a:latin typeface="Times New Roman" panose="02020603050405020304" pitchFamily="18" charset="0"/>
              </a:rPr>
              <a:t>ovoj</a:t>
            </a:r>
            <a:r>
              <a:rPr lang="en-US" altLang="en-US" baseline="0" dirty="0" smtClean="0">
                <a:latin typeface="Times New Roman" panose="02020603050405020304" pitchFamily="18" charset="0"/>
              </a:rPr>
              <a:t> </a:t>
            </a:r>
            <a:r>
              <a:rPr lang="en-US" altLang="en-US" baseline="0" dirty="0" err="1" smtClean="0">
                <a:latin typeface="Times New Roman" panose="02020603050405020304" pitchFamily="18" charset="0"/>
              </a:rPr>
              <a:t>tekst</a:t>
            </a:r>
            <a:endParaRPr lang="en-US" altLang="en-US" dirty="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37B947-B885-486A-9E0E-5DB5F2D174C2}" type="slidenum">
              <a:rPr lang="en-US" altLang="en-US" sz="1300">
                <a:latin typeface="Times New Roman" panose="02020603050405020304" pitchFamily="18" charset="0"/>
              </a:rPr>
              <a:pPr/>
              <a:t>29</a:t>
            </a:fld>
            <a:endParaRPr lang="en-US" altLang="en-US" sz="130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Even if a schedule is recoverable, to recover correctly from the failure of a transaction </a:t>
            </a:r>
            <a:r>
              <a:rPr lang="en-US" dirty="0" err="1" smtClean="0"/>
              <a:t>Ti</a:t>
            </a:r>
            <a:r>
              <a:rPr lang="en-US" dirty="0" smtClean="0"/>
              <a:t> , we may have to roll back several transactions. Such situations occur if transactions have read data written by </a:t>
            </a:r>
            <a:r>
              <a:rPr lang="en-US" dirty="0" err="1" smtClean="0"/>
              <a:t>Ti</a:t>
            </a:r>
            <a:r>
              <a:rPr lang="en-US" dirty="0" smtClean="0"/>
              <a:t> . As an illustration, consider the partial schedule of Figure 17.15. Transaction T8 writes a value of A that is read by transaction T9. </a:t>
            </a:r>
          </a:p>
          <a:p>
            <a:endParaRPr lang="en-US" dirty="0" smtClean="0"/>
          </a:p>
          <a:p>
            <a:r>
              <a:rPr lang="en-US" dirty="0" smtClean="0"/>
              <a:t>Transaction T9 writes a value of A that is read by transaction T10. Suppose that, at this point, T8 fails. T8 must be rolled back. Since T9 is dependent on T8, T9 must be rolled back. Since T10 is dependent on T9, T10 must be rolled back. This phenomenon, in which a single transaction failure leads to a series of transaction rollbacks, is called cascading rollback.</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Ne e </a:t>
            </a:r>
            <a:r>
              <a:rPr lang="en-US" altLang="en-US" dirty="0" err="1" smtClean="0">
                <a:latin typeface="Times New Roman" panose="02020603050405020304" pitchFamily="18" charset="0"/>
              </a:rPr>
              <a:t>ovoj</a:t>
            </a:r>
            <a:r>
              <a:rPr lang="en-US" altLang="en-US" dirty="0" smtClean="0">
                <a:latin typeface="Times New Roman" panose="02020603050405020304" pitchFamily="18" charset="0"/>
              </a:rPr>
              <a:t> </a:t>
            </a:r>
            <a:r>
              <a:rPr lang="en-US" altLang="en-US" dirty="0" err="1" smtClean="0">
                <a:latin typeface="Times New Roman" panose="02020603050405020304" pitchFamily="18" charset="0"/>
              </a:rPr>
              <a:t>tekst</a:t>
            </a:r>
            <a:endParaRPr lang="en-US" altLang="en-US" dirty="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8F6C2F6-402D-422C-BB49-ADCD5F850701}" type="slidenum">
              <a:rPr lang="en-US" altLang="en-US" sz="1300">
                <a:latin typeface="Times New Roman" panose="02020603050405020304" pitchFamily="18" charset="0"/>
              </a:rPr>
              <a:pPr/>
              <a:t>30</a:t>
            </a:fld>
            <a:endParaRPr lang="en-US" altLang="en-US" sz="13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Cascading rollback is undesirable, since it leads to the undoing of a significant amount of work. It is desirable to restrict the schedules to those where cascading rollbacks cannot occur. Such schedules are called </a:t>
            </a:r>
            <a:r>
              <a:rPr lang="en-US" b="1" dirty="0" err="1" smtClean="0"/>
              <a:t>cascadeless</a:t>
            </a:r>
            <a:r>
              <a:rPr lang="en-US" b="1" dirty="0" smtClean="0"/>
              <a:t> schedules. </a:t>
            </a:r>
          </a:p>
          <a:p>
            <a:endParaRPr lang="en-US" b="1" dirty="0" smtClean="0"/>
          </a:p>
          <a:p>
            <a:r>
              <a:rPr lang="en-US" b="1" dirty="0" smtClean="0"/>
              <a:t>Formally, a </a:t>
            </a:r>
            <a:r>
              <a:rPr lang="en-US" b="1" dirty="0" err="1" smtClean="0"/>
              <a:t>cascadeless</a:t>
            </a:r>
            <a:r>
              <a:rPr lang="en-US" b="1" dirty="0" smtClean="0"/>
              <a:t> schedule is one where, for each pair of transactions </a:t>
            </a:r>
            <a:r>
              <a:rPr lang="en-US" b="1" dirty="0" err="1" smtClean="0"/>
              <a:t>Ti</a:t>
            </a:r>
            <a:r>
              <a:rPr lang="en-US" b="1" dirty="0" smtClean="0"/>
              <a:t> and </a:t>
            </a:r>
            <a:r>
              <a:rPr lang="en-US" b="1" dirty="0" err="1" smtClean="0"/>
              <a:t>Tj</a:t>
            </a:r>
            <a:r>
              <a:rPr lang="en-US" b="1" dirty="0" smtClean="0"/>
              <a:t> such that </a:t>
            </a:r>
            <a:r>
              <a:rPr lang="en-US" b="1" dirty="0" err="1" smtClean="0"/>
              <a:t>Tj</a:t>
            </a:r>
            <a:r>
              <a:rPr lang="en-US" b="1" dirty="0" smtClean="0"/>
              <a:t> reads a data item previously written by </a:t>
            </a:r>
            <a:r>
              <a:rPr lang="en-US" b="1" dirty="0" err="1" smtClean="0"/>
              <a:t>Ti</a:t>
            </a:r>
            <a:r>
              <a:rPr lang="en-US" b="1" dirty="0" smtClean="0"/>
              <a:t> , the commit operation of </a:t>
            </a:r>
            <a:r>
              <a:rPr lang="en-US" b="1" dirty="0" err="1" smtClean="0"/>
              <a:t>Ti</a:t>
            </a:r>
            <a:r>
              <a:rPr lang="en-US" b="1" dirty="0" smtClean="0"/>
              <a:t> appears before the read operation of </a:t>
            </a:r>
            <a:r>
              <a:rPr lang="en-US" b="1" dirty="0" err="1" smtClean="0"/>
              <a:t>Tj</a:t>
            </a:r>
            <a:r>
              <a:rPr lang="en-US" b="1" dirty="0" smtClean="0"/>
              <a:t> . It is easy to verify that every </a:t>
            </a:r>
            <a:r>
              <a:rPr lang="en-US" b="1" dirty="0" err="1" smtClean="0"/>
              <a:t>cascadeless</a:t>
            </a:r>
            <a:r>
              <a:rPr lang="en-US" b="1" dirty="0" smtClean="0"/>
              <a:t> schedule is also recoverable</a:t>
            </a:r>
            <a:endParaRPr lang="en-US" altLang="en-US" b="1"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6C7905A-2CC2-4593-BC50-F4A9103CA5F9}" type="slidenum">
              <a:rPr lang="en-US" altLang="en-US" sz="1300">
                <a:latin typeface="Times New Roman" panose="02020603050405020304" pitchFamily="18" charset="0"/>
              </a:rPr>
              <a:pPr/>
              <a:t>31</a:t>
            </a:fld>
            <a:endParaRPr lang="en-US" altLang="en-US" sz="13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database system must control the interaction among the concurrent transactions to prevent them from destroying the consistency of the database. It does so through a variety of mechanisms called concurrency-control schemes.</a:t>
            </a:r>
          </a:p>
          <a:p>
            <a:endParaRPr lang="en-US" altLang="en-US" dirty="0" smtClean="0">
              <a:latin typeface="Times New Roman" panose="02020603050405020304" pitchFamily="18" charset="0"/>
            </a:endParaRPr>
          </a:p>
          <a:p>
            <a:r>
              <a:rPr lang="en-US" b="1" dirty="0" smtClean="0"/>
              <a:t>If control of concurrent execution is left entirely to the operating system, many possible schedules, including ones that leave the database in an inconsistent state, such as the one just described, are possible. It is the job of the database system to ensure that any schedule that is executed will leave the database in a consistent state. The concurrency-control component of the database system carries out this task.</a:t>
            </a:r>
          </a:p>
          <a:p>
            <a:endParaRPr lang="en-US" altLang="en-US" b="1" dirty="0" smtClean="0">
              <a:latin typeface="Times New Roman" panose="02020603050405020304" pitchFamily="18" charset="0"/>
            </a:endParaRPr>
          </a:p>
          <a:p>
            <a:r>
              <a:rPr lang="en-US" altLang="en-US" b="1" dirty="0" err="1" smtClean="0">
                <a:latin typeface="Times New Roman" panose="02020603050405020304" pitchFamily="18" charset="0"/>
              </a:rPr>
              <a:t>Moze</a:t>
            </a:r>
            <a:r>
              <a:rPr lang="en-US" altLang="en-US" b="1" dirty="0" smtClean="0">
                <a:latin typeface="Times New Roman" panose="02020603050405020304" pitchFamily="18" charset="0"/>
              </a:rPr>
              <a:t> I </a:t>
            </a:r>
            <a:r>
              <a:rPr lang="en-US" altLang="en-US" b="1" dirty="0" err="1" smtClean="0">
                <a:latin typeface="Times New Roman" panose="02020603050405020304" pitchFamily="18" charset="0"/>
              </a:rPr>
              <a:t>slajd</a:t>
            </a:r>
            <a:r>
              <a:rPr lang="en-US" altLang="en-US" b="1" dirty="0" smtClean="0">
                <a:latin typeface="Times New Roman" panose="02020603050405020304" pitchFamily="18" charset="0"/>
              </a:rPr>
              <a:t> </a:t>
            </a:r>
            <a:r>
              <a:rPr lang="en-US" altLang="en-US" b="1" dirty="0" err="1" smtClean="0">
                <a:latin typeface="Times New Roman" panose="02020603050405020304" pitchFamily="18" charset="0"/>
              </a:rPr>
              <a:t>potoa</a:t>
            </a:r>
            <a:r>
              <a:rPr lang="en-US" altLang="en-US" b="1" dirty="0" smtClean="0">
                <a:latin typeface="Times New Roman" panose="02020603050405020304" pitchFamily="18" charset="0"/>
              </a:rPr>
              <a:t> </a:t>
            </a:r>
            <a:endParaRPr lang="en-US" altLang="en-US" b="1"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47C592-32BF-47BB-9678-D5FB42722EAA}" type="slidenum">
              <a:rPr lang="en-US" altLang="en-US" sz="1300">
                <a:latin typeface="Times New Roman" panose="02020603050405020304" pitchFamily="18" charset="0"/>
              </a:rPr>
              <a:pPr/>
              <a:t>32</a:t>
            </a:fld>
            <a:endParaRPr lang="en-US" altLang="en-US" sz="13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If control of concurrent execution is left entirely to the operating system, many possible schedules, including ones that leave the database in an inconsistent state, such as the one just described, are possible. It is the job of the database system to ensure that any schedule that is executed will leave the database in a consistent state. The concurrency-control component of the database system carries out this task.</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dirty="0" err="1" smtClean="0">
                <a:latin typeface="Times New Roman" panose="02020603050405020304" pitchFamily="18" charset="0"/>
              </a:rPr>
              <a:t>Nema</a:t>
            </a:r>
            <a:r>
              <a:rPr lang="en-US" altLang="en-US" dirty="0" smtClean="0">
                <a:latin typeface="Times New Roman" panose="02020603050405020304" pitchFamily="18" charset="0"/>
              </a:rPr>
              <a:t> </a:t>
            </a:r>
            <a:r>
              <a:rPr lang="en-US" altLang="en-US" dirty="0" err="1" smtClean="0">
                <a:latin typeface="Times New Roman" panose="02020603050405020304" pitchFamily="18" charset="0"/>
              </a:rPr>
              <a:t>ili</a:t>
            </a:r>
            <a:r>
              <a:rPr lang="en-US" altLang="en-US" dirty="0" smtClean="0">
                <a:latin typeface="Times New Roman" panose="02020603050405020304" pitchFamily="18" charset="0"/>
              </a:rPr>
              <a:t> </a:t>
            </a:r>
            <a:r>
              <a:rPr lang="en-US" altLang="en-US" dirty="0" err="1" smtClean="0">
                <a:latin typeface="Times New Roman" panose="02020603050405020304" pitchFamily="18" charset="0"/>
              </a:rPr>
              <a:t>slajd</a:t>
            </a:r>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955DDF8-1267-474D-9F61-95CB06392C59}" type="slidenum">
              <a:rPr lang="en-US" altLang="en-US" sz="1300">
                <a:latin typeface="Times New Roman" panose="02020603050405020304" pitchFamily="18" charset="0"/>
              </a:rPr>
              <a:pPr/>
              <a:t>33</a:t>
            </a:fld>
            <a:endParaRPr lang="en-US" altLang="en-US" sz="130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F68DF0-6905-4D9D-ACCA-81F50CE25A46}" type="slidenum">
              <a:rPr lang="en-US" altLang="en-US" sz="1300">
                <a:latin typeface="Times New Roman" panose="02020603050405020304" pitchFamily="18" charset="0"/>
              </a:rPr>
              <a:pPr/>
              <a:t>34</a:t>
            </a:fld>
            <a:endParaRPr lang="en-US" altLang="en-US" sz="13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1" dirty="0" smtClean="0"/>
          </a:p>
          <a:p>
            <a:r>
              <a:rPr lang="en-US" b="1" dirty="0" smtClean="0"/>
              <a:t>Weak levels of consistency are used in some applications where consistency of query results is not critical, and using </a:t>
            </a:r>
            <a:r>
              <a:rPr lang="en-US" b="1" dirty="0" err="1" smtClean="0"/>
              <a:t>serializability</a:t>
            </a:r>
            <a:r>
              <a:rPr lang="en-US" b="1" dirty="0" smtClean="0"/>
              <a:t> would result in queries adversely affecting transaction processing. Degree-two consistency is one such weaker level of consistency; cursor stability is a special case of degree-two consistency and is widely used.</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14055-A8AE-4C05-AC7A-46A0B6A29489}" type="slidenum">
              <a:rPr lang="en-US" altLang="en-US" sz="1300">
                <a:latin typeface="Times New Roman" panose="02020603050405020304" pitchFamily="18" charset="0"/>
              </a:rPr>
              <a:pPr/>
              <a:t>35</a:t>
            </a:fld>
            <a:endParaRPr lang="en-US" altLang="en-US" sz="13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isolation levels specified by the SQL standard are as follows:  </a:t>
            </a:r>
          </a:p>
          <a:p>
            <a:pPr marL="171450" indent="-171450">
              <a:buFont typeface="Arial" panose="020B0604020202020204" pitchFamily="34" charset="0"/>
              <a:buChar char="•"/>
            </a:pPr>
            <a:r>
              <a:rPr lang="en-US" b="1" dirty="0" smtClean="0"/>
              <a:t>Serializable</a:t>
            </a:r>
            <a:r>
              <a:rPr lang="en-US" dirty="0" smtClean="0"/>
              <a:t> usually ensures serializable execution. However, as we shall explain shortly, some database systems implement this isolation level in a manner that may, in certain cases, allow </a:t>
            </a:r>
            <a:r>
              <a:rPr lang="en-US" dirty="0" err="1" smtClean="0"/>
              <a:t>nonserializable</a:t>
            </a:r>
            <a:r>
              <a:rPr lang="en-US" dirty="0" smtClean="0"/>
              <a:t> executions.</a:t>
            </a:r>
          </a:p>
          <a:p>
            <a:pPr marL="171450" indent="-171450">
              <a:buFont typeface="Arial" panose="020B0604020202020204" pitchFamily="34" charset="0"/>
              <a:buChar char="•"/>
            </a:pPr>
            <a:r>
              <a:rPr lang="en-US" b="1" dirty="0" smtClean="0"/>
              <a:t>Repeatable read </a:t>
            </a:r>
            <a:r>
              <a:rPr lang="en-US" dirty="0" smtClean="0"/>
              <a:t>allows only committed data to be read and further requires that, between two reads of a data item by a transaction, no other transaction is allowed to update it. However, the transaction may not be serializable with respect to other transactions. For instance, when it is searching for data satisfying some conditions, a transaction may find some of the data inserted by a committed transaction, but may not find other data inserted by the same transaction. </a:t>
            </a:r>
          </a:p>
          <a:p>
            <a:pPr marL="171450" indent="-171450">
              <a:buFont typeface="Arial" panose="020B0604020202020204" pitchFamily="34" charset="0"/>
              <a:buChar char="•"/>
            </a:pPr>
            <a:r>
              <a:rPr lang="en-US" b="1" dirty="0" smtClean="0"/>
              <a:t>Read committed </a:t>
            </a:r>
            <a:r>
              <a:rPr lang="en-US" dirty="0" smtClean="0"/>
              <a:t>allows only committed data to be read, but does not require repeatable reads. For instance, between two reads of a data item by the transaction, another transaction may have updated the data item and committed.</a:t>
            </a:r>
          </a:p>
          <a:p>
            <a:pPr marL="171450" indent="-171450">
              <a:buFont typeface="Arial" panose="020B0604020202020204" pitchFamily="34" charset="0"/>
              <a:buChar char="•"/>
            </a:pPr>
            <a:r>
              <a:rPr lang="en-US" b="1" dirty="0" smtClean="0"/>
              <a:t>Read uncommitted </a:t>
            </a:r>
            <a:r>
              <a:rPr lang="en-US" dirty="0" smtClean="0"/>
              <a:t>allows uncommitted data to be read. It is the lowest isolation level allowed by SQL.</a:t>
            </a:r>
            <a:endParaRPr lang="en-US" altLang="en-US"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D4DD0DF-53A0-4666-9689-6AAB81C4795A}" type="slidenum">
              <a:rPr lang="en-US" altLang="en-US" sz="1300">
                <a:latin typeface="Times New Roman" panose="02020603050405020304" pitchFamily="18" charset="0"/>
              </a:rPr>
              <a:pPr/>
              <a:t>36</a:t>
            </a:fld>
            <a:endParaRPr lang="en-US" altLang="en-US" sz="13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Many database systems run, by default, at the read-committed isolation level. In SQL, it is possible to set the isolation level explicitly, rather than accepting the system’s default setting. For example, the statement </a:t>
            </a:r>
          </a:p>
          <a:p>
            <a:endParaRPr lang="en-US" dirty="0" smtClean="0"/>
          </a:p>
          <a:p>
            <a:r>
              <a:rPr lang="en-US" b="1" i="1" dirty="0" smtClean="0"/>
              <a:t>set transaction isolation level serializable </a:t>
            </a:r>
          </a:p>
          <a:p>
            <a:endParaRPr lang="en-US" dirty="0" smtClean="0"/>
          </a:p>
          <a:p>
            <a:r>
              <a:rPr lang="en-US" b="1" i="1" dirty="0" smtClean="0"/>
              <a:t>sets the isolation level to serializable; any of the other isolation levels may be specified instead. The preceding syntax is supported by Oracle, PostgreSQL, and SQL Server; </a:t>
            </a:r>
          </a:p>
          <a:p>
            <a:endParaRPr lang="en-US" dirty="0" smtClean="0"/>
          </a:p>
          <a:p>
            <a:r>
              <a:rPr lang="en-US" dirty="0" smtClean="0"/>
              <a:t>Oracle uses the syntax </a:t>
            </a:r>
          </a:p>
          <a:p>
            <a:endParaRPr lang="en-US" dirty="0" smtClean="0"/>
          </a:p>
          <a:p>
            <a:r>
              <a:rPr lang="en-US" dirty="0" smtClean="0"/>
              <a:t>alter session set isolation level = serializable </a:t>
            </a:r>
          </a:p>
          <a:p>
            <a:endParaRPr lang="en-US" dirty="0" smtClean="0"/>
          </a:p>
          <a:p>
            <a:r>
              <a:rPr lang="en-US" dirty="0" smtClean="0"/>
              <a:t>while DB2 uses the syntax “change isolation level” with its own abbreviations for isolation levels. Changing of the isolation level must be done as the first statement of a transaction.</a:t>
            </a:r>
            <a:endParaRPr lang="en-US" altLang="en-US"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BBB09A6-5E06-46D1-A99F-E344CBBF67B7}" type="slidenum">
              <a:rPr lang="en-US" altLang="en-US" sz="1300">
                <a:latin typeface="Times New Roman" panose="02020603050405020304" pitchFamily="18" charset="0"/>
              </a:rPr>
              <a:pPr/>
              <a:t>37</a:t>
            </a:fld>
            <a:endParaRPr lang="en-US" altLang="en-US" sz="13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By default, most databases commit individual statements as soon as they are executed. Such automatic commit of individual statements must be turned off to allow multiple statements to run as a single transaction. The command start transaction ensures that subsequent SQL statements, until a subsequent commit or rollback, are executed as a single transaction. As expected, the commit operation commits the preceding SQL statements, while rollback rolls back the preceding SQL statements. (SQL Server uses begin transaction in place of start transaction, while Oracle and PostgreSQL treat begin as identical to start transaction.)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APIs such as JDBC and ODBC provide functions to turn off automatic commit. In JDBC the </a:t>
            </a:r>
            <a:r>
              <a:rPr lang="en-US" dirty="0" err="1" smtClean="0"/>
              <a:t>setAutoCommit</a:t>
            </a:r>
            <a:r>
              <a:rPr lang="en-US" dirty="0" smtClean="0"/>
              <a:t> method of the Connection interface (which we saw earlier in Section 5.1.1.8) can be used to turn automatic commit off by invoking </a:t>
            </a:r>
            <a:r>
              <a:rPr lang="en-US" dirty="0" err="1" smtClean="0"/>
              <a:t>setAutoCommit</a:t>
            </a:r>
            <a:r>
              <a:rPr lang="en-US" dirty="0" smtClean="0"/>
              <a:t>(false), or on by invoking </a:t>
            </a:r>
            <a:r>
              <a:rPr lang="en-US" dirty="0" err="1" smtClean="0"/>
              <a:t>setAutoCommit</a:t>
            </a:r>
            <a:r>
              <a:rPr lang="en-US" dirty="0" smtClean="0"/>
              <a:t>(true). Further, in JDBC the method </a:t>
            </a:r>
            <a:r>
              <a:rPr lang="en-US" dirty="0" err="1" smtClean="0"/>
              <a:t>setTransactionIsolation</a:t>
            </a:r>
            <a:r>
              <a:rPr lang="en-US" dirty="0" smtClean="0"/>
              <a:t>(</a:t>
            </a:r>
            <a:r>
              <a:rPr lang="en-US" dirty="0" err="1" smtClean="0"/>
              <a:t>int</a:t>
            </a:r>
            <a:r>
              <a:rPr lang="en-US" dirty="0" smtClean="0"/>
              <a:t> level) of the Connection interface can be invoked with any one of</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Locking</a:t>
            </a:r>
            <a:r>
              <a:rPr lang="en-US" dirty="0" smtClean="0"/>
              <a:t> </a:t>
            </a:r>
            <a:r>
              <a:rPr lang="en-US" b="1" i="1" dirty="0" smtClean="0"/>
              <a:t>Instead of locking the entire database, a transaction could instead lock only those data items that it accesses. Under such a policy, the transaction must hold locks long enough to ensure </a:t>
            </a:r>
            <a:r>
              <a:rPr lang="en-US" b="1" i="1" dirty="0" err="1" smtClean="0"/>
              <a:t>serializability</a:t>
            </a:r>
            <a:r>
              <a:rPr lang="en-US" b="1" i="1" dirty="0" smtClean="0"/>
              <a:t>, but for a period short enough not to harm performance excessively. </a:t>
            </a:r>
          </a:p>
          <a:p>
            <a:r>
              <a:rPr lang="en-US" dirty="0" smtClean="0"/>
              <a:t>	Further improvements to locking result if we have two kinds of locks: shared and exclusive. Shared locks are used for data that the transaction reads and exclusive locks are used for those it writes. Many transactions can hold shared locks on the same data item at the same time, but a transaction is allowed an exclusive lock on a data item only if no other transaction holds any lock (regardless of whether shared or exclusive) on the data item. This use of two modes of locks along with two-phase locking allows concurrent reading of data while still ensuring </a:t>
            </a:r>
            <a:r>
              <a:rPr lang="en-US" dirty="0" err="1" smtClean="0"/>
              <a:t>serializability</a:t>
            </a:r>
            <a:r>
              <a:rPr lang="en-US" dirty="0" smtClean="0"/>
              <a:t>.</a:t>
            </a:r>
          </a:p>
          <a:p>
            <a:endParaRPr lang="en-US" dirty="0" smtClean="0"/>
          </a:p>
          <a:p>
            <a:r>
              <a:rPr lang="en-US" b="1" dirty="0" smtClean="0"/>
              <a:t>Timestamps</a:t>
            </a:r>
            <a:r>
              <a:rPr lang="en-US" dirty="0" smtClean="0"/>
              <a:t> </a:t>
            </a:r>
            <a:r>
              <a:rPr lang="en-US" b="1" i="1" dirty="0" smtClean="0"/>
              <a:t>Another category of techniques for the implementation of isolation assigns each transaction a timestamp, typically when it begins. For each data item, the system keeps two timestamps. The read timestamp of a data item holds the largest (that is, the most recent) timestamp of those transactions that read the data item. </a:t>
            </a:r>
            <a:r>
              <a:rPr lang="en-US" dirty="0" smtClean="0"/>
              <a:t>The write timestamp of a data item holds the timestamp of the transaction that wrote the current value of the data item. Timestamps are used to ensure that transactions access each data item in order of the transactions’ timestamps if their accesses conflict. When this is not possible, offending transactions are aborted and restarted with a new timestamp. </a:t>
            </a:r>
          </a:p>
          <a:p>
            <a:endParaRPr lang="en-US" dirty="0" smtClean="0"/>
          </a:p>
          <a:p>
            <a:r>
              <a:rPr lang="en-US" b="1" dirty="0" smtClean="0"/>
              <a:t>Multiple Versions and Snapshot Isolation </a:t>
            </a:r>
            <a:r>
              <a:rPr lang="en-US" i="1" dirty="0" smtClean="0"/>
              <a:t>By maintaining more than one version of a data item, it is possible to allow a transaction to read an old version of a data item rather than a newer version written by an uncommitted transaction or by a transaction that should come later in the serialization order. </a:t>
            </a:r>
            <a:r>
              <a:rPr lang="en-US" dirty="0" smtClean="0"/>
              <a:t>There are a variety of </a:t>
            </a:r>
            <a:r>
              <a:rPr lang="en-US" dirty="0" err="1" smtClean="0"/>
              <a:t>multiversion</a:t>
            </a:r>
            <a:r>
              <a:rPr lang="en-US" dirty="0" smtClean="0"/>
              <a:t> concurrency-control techniques. One in particular, called snapshot isolation, is widely used in practice</a:t>
            </a:r>
            <a:endParaRPr lang="en-US" dirty="0"/>
          </a:p>
        </p:txBody>
      </p:sp>
      <p:sp>
        <p:nvSpPr>
          <p:cNvPr id="4" name="Slide Number Placeholder 3"/>
          <p:cNvSpPr>
            <a:spLocks noGrp="1"/>
          </p:cNvSpPr>
          <p:nvPr>
            <p:ph type="sldNum" sz="quarter" idx="10"/>
          </p:nvPr>
        </p:nvSpPr>
        <p:spPr/>
        <p:txBody>
          <a:bodyPr/>
          <a:lstStyle/>
          <a:p>
            <a:fld id="{5B7CC90F-195F-4DEF-A4DA-F5B0A181CF9F}" type="slidenum">
              <a:rPr lang="en-US" altLang="en-US" smtClean="0"/>
              <a:pPr/>
              <a:t>38</a:t>
            </a:fld>
            <a:endParaRPr lang="en-US" altLang="en-US"/>
          </a:p>
        </p:txBody>
      </p:sp>
    </p:spTree>
    <p:extLst>
      <p:ext uri="{BB962C8B-B14F-4D97-AF65-F5344CB8AC3E}">
        <p14:creationId xmlns:p14="http://schemas.microsoft.com/office/powerpoint/2010/main" val="34685308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Section 4.3, we presented the SQL syntax for specifying the beginning and end of transactions. Now that we have seen some of the issues in ensuring the ACID properties for transactions, we are ready to consider how those properties are ensured when transactions are specified as a sequence of SQL statements rather than the restricted model of simple reads and writes that we considered up to this point.</a:t>
            </a:r>
          </a:p>
          <a:p>
            <a:endParaRPr lang="en-US" dirty="0" smtClean="0"/>
          </a:p>
          <a:p>
            <a:r>
              <a:rPr lang="en-US" dirty="0" smtClean="0"/>
              <a:t>In our simple model, we assumed a set of data items exists. While our simple model allowed data-item values to be changed, it did not allow data items to be created or deleted. In SQL, however, insert statements create new data and delete statements delete data. These two statements are, in effect, write operations, since they change the database, but their interactions with the actions of other transactions are different from what we saw in our simple model. As an example, consider how insertion or deletion would conflict with the following SQL query, which finds all instructors who earn more than $90,000:</a:t>
            </a:r>
          </a:p>
          <a:p>
            <a:endParaRPr lang="en-US" dirty="0" smtClean="0"/>
          </a:p>
          <a:p>
            <a:r>
              <a:rPr lang="en-US" dirty="0" smtClean="0"/>
              <a:t>select ID, name from instructor where salary &gt; 90000;</a:t>
            </a:r>
          </a:p>
          <a:p>
            <a:endParaRPr lang="en-US" dirty="0" smtClean="0"/>
          </a:p>
          <a:p>
            <a:r>
              <a:rPr lang="en-US" dirty="0" smtClean="0"/>
              <a:t>Using our sample instructor relation (Section A.3), we find that only Einstein and Brandt satisfy the condition. Now assume that around the same time we are running our query, another user inserts a new instructor named “James” whose salary is $100,000.</a:t>
            </a:r>
          </a:p>
          <a:p>
            <a:endParaRPr lang="en-US" dirty="0" smtClean="0"/>
          </a:p>
          <a:p>
            <a:r>
              <a:rPr lang="en-US" dirty="0" smtClean="0"/>
              <a:t>insert into instructor values ('11111', 'James', 'Marketing', 100000);</a:t>
            </a:r>
          </a:p>
          <a:p>
            <a:endParaRPr lang="en-US" dirty="0" smtClean="0"/>
          </a:p>
          <a:p>
            <a:r>
              <a:rPr lang="en-US" dirty="0" smtClean="0"/>
              <a:t>The result of our query depends on whether this insert comes before or after our query is run. In a concurrent execution of these transactions, it is intuitively clear that they conflict, but this is a conflict that may not be captured by our simple model. This situation is referred to as the phantom phenomenon because a conflict may exist on “phantom” data. </a:t>
            </a:r>
            <a:endParaRPr lang="en-US" dirty="0"/>
          </a:p>
        </p:txBody>
      </p:sp>
      <p:sp>
        <p:nvSpPr>
          <p:cNvPr id="4" name="Slide Number Placeholder 3"/>
          <p:cNvSpPr>
            <a:spLocks noGrp="1"/>
          </p:cNvSpPr>
          <p:nvPr>
            <p:ph type="sldNum" sz="quarter" idx="10"/>
          </p:nvPr>
        </p:nvSpPr>
        <p:spPr/>
        <p:txBody>
          <a:bodyPr/>
          <a:lstStyle/>
          <a:p>
            <a:fld id="{5B7CC90F-195F-4DEF-A4DA-F5B0A181CF9F}" type="slidenum">
              <a:rPr lang="en-US" altLang="en-US" smtClean="0"/>
              <a:pPr/>
              <a:t>39</a:t>
            </a:fld>
            <a:endParaRPr lang="en-US" altLang="en-US"/>
          </a:p>
        </p:txBody>
      </p:sp>
    </p:spTree>
    <p:extLst>
      <p:ext uri="{BB962C8B-B14F-4D97-AF65-F5344CB8AC3E}">
        <p14:creationId xmlns:p14="http://schemas.microsoft.com/office/powerpoint/2010/main" val="5478654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2299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xfrm>
            <a:off x="6778487" y="6388691"/>
            <a:ext cx="1905000" cy="457200"/>
          </a:xfrm>
          <a:ln/>
        </p:spPr>
        <p:txBody>
          <a:bodyPr/>
          <a:lstStyle>
            <a:lvl1pPr>
              <a:defRPr/>
            </a:lvl1pPr>
          </a:lstStyle>
          <a:p>
            <a:fld id="{4AAA266F-A005-4455-9502-E3724A964F5A}" type="slidenum">
              <a:rPr lang="en-US" altLang="en-US" smtClean="0"/>
              <a:pPr/>
              <a:t>‹#›</a:t>
            </a:fld>
            <a:endParaRPr lang="en-US" altLang="en-US"/>
          </a:p>
        </p:txBody>
      </p:sp>
    </p:spTree>
    <p:extLst>
      <p:ext uri="{BB962C8B-B14F-4D97-AF65-F5344CB8AC3E}">
        <p14:creationId xmlns:p14="http://schemas.microsoft.com/office/powerpoint/2010/main" val="280999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fld id="{18E6A8F2-4A8B-4A99-BE4D-D3A869CE7587}" type="slidenum">
              <a:rPr lang="en-US" altLang="en-US" smtClean="0"/>
              <a:pPr/>
              <a:t>‹#›</a:t>
            </a:fld>
            <a:endParaRPr lang="en-US" altLang="en-US"/>
          </a:p>
        </p:txBody>
      </p:sp>
    </p:spTree>
    <p:extLst>
      <p:ext uri="{BB962C8B-B14F-4D97-AF65-F5344CB8AC3E}">
        <p14:creationId xmlns:p14="http://schemas.microsoft.com/office/powerpoint/2010/main" val="12534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3287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fld id="{7F51659C-1AF3-4FAF-8545-8F03FEBA5E08}" type="slidenum">
              <a:rPr lang="en-US" altLang="en-US" smtClean="0"/>
              <a:pPr/>
              <a:t>‹#›</a:t>
            </a:fld>
            <a:endParaRPr lang="en-US" altLang="en-US"/>
          </a:p>
        </p:txBody>
      </p:sp>
    </p:spTree>
    <p:extLst>
      <p:ext uri="{BB962C8B-B14F-4D97-AF65-F5344CB8AC3E}">
        <p14:creationId xmlns:p14="http://schemas.microsoft.com/office/powerpoint/2010/main" val="2019400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fld id="{E25CEF85-9243-4C03-980F-FEC8A6A7A10E}" type="slidenum">
              <a:rPr lang="en-US" altLang="en-US" smtClean="0"/>
              <a:pPr/>
              <a:t>‹#›</a:t>
            </a:fld>
            <a:endParaRPr lang="en-US" altLang="en-US"/>
          </a:p>
        </p:txBody>
      </p:sp>
    </p:spTree>
    <p:extLst>
      <p:ext uri="{BB962C8B-B14F-4D97-AF65-F5344CB8AC3E}">
        <p14:creationId xmlns:p14="http://schemas.microsoft.com/office/powerpoint/2010/main" val="1594279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fld id="{0E8A1303-5D2D-4597-85C3-1555E5FE4DD1}" type="slidenum">
              <a:rPr lang="en-US" altLang="en-US" smtClean="0"/>
              <a:pPr/>
              <a:t>‹#›</a:t>
            </a:fld>
            <a:endParaRPr lang="en-US" altLang="en-US"/>
          </a:p>
        </p:txBody>
      </p:sp>
    </p:spTree>
    <p:extLst>
      <p:ext uri="{BB962C8B-B14F-4D97-AF65-F5344CB8AC3E}">
        <p14:creationId xmlns:p14="http://schemas.microsoft.com/office/powerpoint/2010/main" val="1698326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fld id="{2E1EFD54-8803-427D-A9AB-631036F81CDF}" type="slidenum">
              <a:rPr lang="en-US" altLang="en-US" smtClean="0"/>
              <a:pPr/>
              <a:t>‹#›</a:t>
            </a:fld>
            <a:endParaRPr lang="en-US" altLang="en-US"/>
          </a:p>
        </p:txBody>
      </p:sp>
    </p:spTree>
    <p:extLst>
      <p:ext uri="{BB962C8B-B14F-4D97-AF65-F5344CB8AC3E}">
        <p14:creationId xmlns:p14="http://schemas.microsoft.com/office/powerpoint/2010/main" val="905527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fld id="{30068018-0522-4E2C-B8D9-E5451E9A4DAA}" type="slidenum">
              <a:rPr lang="en-US" altLang="en-US" smtClean="0"/>
              <a:pPr/>
              <a:t>‹#›</a:t>
            </a:fld>
            <a:endParaRPr lang="en-US" altLang="en-US"/>
          </a:p>
        </p:txBody>
      </p:sp>
    </p:spTree>
    <p:extLst>
      <p:ext uri="{BB962C8B-B14F-4D97-AF65-F5344CB8AC3E}">
        <p14:creationId xmlns:p14="http://schemas.microsoft.com/office/powerpoint/2010/main" val="3473103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fld id="{59BA9BFC-BC4C-47B6-8B8E-F3902B6E8A4A}" type="slidenum">
              <a:rPr lang="en-US" altLang="en-US" smtClean="0"/>
              <a:pPr/>
              <a:t>‹#›</a:t>
            </a:fld>
            <a:endParaRPr lang="en-US" altLang="en-US"/>
          </a:p>
        </p:txBody>
      </p:sp>
    </p:spTree>
    <p:extLst>
      <p:ext uri="{BB962C8B-B14F-4D97-AF65-F5344CB8AC3E}">
        <p14:creationId xmlns:p14="http://schemas.microsoft.com/office/powerpoint/2010/main" val="618782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fld id="{21C98E8D-185A-414A-A518-5C49E7B6295A}" type="slidenum">
              <a:rPr lang="en-US" altLang="en-US" smtClean="0"/>
              <a:pPr/>
              <a:t>‹#›</a:t>
            </a:fld>
            <a:endParaRPr lang="en-US" altLang="en-US"/>
          </a:p>
        </p:txBody>
      </p:sp>
    </p:spTree>
    <p:extLst>
      <p:ext uri="{BB962C8B-B14F-4D97-AF65-F5344CB8AC3E}">
        <p14:creationId xmlns:p14="http://schemas.microsoft.com/office/powerpoint/2010/main" val="820080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Tree>
    <p:extLst>
      <p:ext uri="{BB962C8B-B14F-4D97-AF65-F5344CB8AC3E}">
        <p14:creationId xmlns:p14="http://schemas.microsoft.com/office/powerpoint/2010/main" val="3409656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0745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fld id="{B11C6810-CB31-4E30-9B86-57880A05BB4E}" type="slidenum">
              <a:rPr lang="en-US" altLang="en-US" smtClean="0"/>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17.</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A69B54C0-8EB7-4834-9342-A9C86C117E2A}"/>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2473312"/>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9538"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Module 17: Transactions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p>
        </p:txBody>
      </p:sp>
      <p:sp>
        <p:nvSpPr>
          <p:cNvPr id="5123" name="Rectangle 3"/>
          <p:cNvSpPr>
            <a:spLocks noGrp="1" noChangeArrowheads="1"/>
          </p:cNvSpPr>
          <p:nvPr>
            <p:ph idx="1"/>
          </p:nvPr>
        </p:nvSpPr>
        <p:spPr>
          <a:xfrm>
            <a:off x="656948" y="1102497"/>
            <a:ext cx="7732450" cy="5367972"/>
          </a:xfrm>
        </p:spPr>
        <p:txBody>
          <a:bodyPr/>
          <a:lstStyle/>
          <a:p>
            <a:r>
              <a:rPr lang="en-US" altLang="en-US" dirty="0"/>
              <a:t>Transaction Concept</a:t>
            </a:r>
          </a:p>
          <a:p>
            <a:r>
              <a:rPr lang="en-US" altLang="en-US" dirty="0"/>
              <a:t>Transaction State</a:t>
            </a:r>
          </a:p>
          <a:p>
            <a:r>
              <a:rPr lang="en-US" altLang="en-US" dirty="0"/>
              <a:t>Concurrent Executions</a:t>
            </a:r>
          </a:p>
          <a:p>
            <a:r>
              <a:rPr lang="en-US" altLang="en-US" dirty="0"/>
              <a:t>Serializability</a:t>
            </a:r>
          </a:p>
          <a:p>
            <a:r>
              <a:rPr lang="en-US" altLang="en-US" dirty="0"/>
              <a:t>Recoverability</a:t>
            </a:r>
          </a:p>
          <a:p>
            <a:r>
              <a:rPr lang="en-US" altLang="en-US" dirty="0"/>
              <a:t>Implementation of Isolation</a:t>
            </a:r>
          </a:p>
          <a:p>
            <a:r>
              <a:rPr lang="en-US" altLang="en-US" dirty="0"/>
              <a:t>Transaction Definition in SQL</a:t>
            </a:r>
          </a:p>
          <a:p>
            <a:r>
              <a:rPr lang="en-US" altLang="en-US" dirty="0"/>
              <a:t>Testing for Serializability.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Concept</a:t>
            </a:r>
          </a:p>
        </p:txBody>
      </p:sp>
      <p:sp>
        <p:nvSpPr>
          <p:cNvPr id="6147" name="Rectangle 3"/>
          <p:cNvSpPr>
            <a:spLocks noGrp="1" noChangeArrowheads="1"/>
          </p:cNvSpPr>
          <p:nvPr>
            <p:ph idx="1"/>
          </p:nvPr>
        </p:nvSpPr>
        <p:spPr>
          <a:xfrm>
            <a:off x="701336" y="1102497"/>
            <a:ext cx="7794594" cy="5367972"/>
          </a:xfrm>
        </p:spPr>
        <p:txBody>
          <a:bodyPr/>
          <a:lstStyle/>
          <a:p>
            <a:r>
              <a:rPr lang="en-US" altLang="en-US" dirty="0"/>
              <a:t>A </a:t>
            </a:r>
            <a:r>
              <a:rPr lang="en-US" altLang="en-US" b="1" dirty="0">
                <a:solidFill>
                  <a:srgbClr val="000099"/>
                </a:solidFill>
              </a:rPr>
              <a:t>transaction</a:t>
            </a:r>
            <a:r>
              <a:rPr lang="en-US" altLang="en-US" i="1" dirty="0"/>
              <a:t> </a:t>
            </a:r>
            <a:r>
              <a:rPr lang="en-US" altLang="en-US" dirty="0"/>
              <a:t>is a </a:t>
            </a:r>
            <a:r>
              <a:rPr lang="en-US" altLang="en-US" i="1" dirty="0"/>
              <a:t>unit </a:t>
            </a:r>
            <a:r>
              <a:rPr lang="en-US" altLang="en-US" dirty="0"/>
              <a:t>of program execution that accesses and  possibly updates various data items.</a:t>
            </a:r>
          </a:p>
          <a:p>
            <a:r>
              <a:rPr lang="en-US" altLang="en-US" dirty="0"/>
              <a:t>E.g</a:t>
            </a:r>
            <a:r>
              <a:rPr lang="en-US" altLang="en-US" dirty="0" smtClean="0"/>
              <a:t>., </a:t>
            </a:r>
            <a:r>
              <a:rPr lang="en-US" altLang="en-US" dirty="0"/>
              <a:t>transaction to transfer $50 from account A to account B:</a:t>
            </a:r>
          </a:p>
          <a:p>
            <a:pPr lvl="1">
              <a:buFont typeface="Monotype Sorts" charset="2"/>
              <a:buNone/>
            </a:pPr>
            <a:r>
              <a:rPr lang="en-US" altLang="en-US" sz="1600" dirty="0"/>
              <a:t>1.	</a:t>
            </a:r>
            <a:r>
              <a:rPr lang="en-US" altLang="en-US" sz="1600" b="1" dirty="0"/>
              <a:t>read</a:t>
            </a:r>
            <a:r>
              <a:rPr lang="en-US" altLang="en-US" sz="1600" dirty="0"/>
              <a:t>(</a:t>
            </a:r>
            <a:r>
              <a:rPr lang="en-US" altLang="en-US" sz="1600" i="1" dirty="0"/>
              <a:t>A</a:t>
            </a:r>
            <a:r>
              <a:rPr lang="en-US" altLang="en-US" sz="1600" dirty="0"/>
              <a:t>)</a:t>
            </a:r>
          </a:p>
          <a:p>
            <a:pPr lvl="1">
              <a:buFont typeface="Monotype Sorts" charset="2"/>
              <a:buNone/>
            </a:pPr>
            <a:r>
              <a:rPr lang="en-US" altLang="en-US" sz="1600" dirty="0"/>
              <a:t>2.	</a:t>
            </a:r>
            <a:r>
              <a:rPr lang="en-US" altLang="en-US" sz="1600" i="1" dirty="0"/>
              <a:t>A</a:t>
            </a:r>
            <a:r>
              <a:rPr lang="en-US" altLang="en-US" sz="1600" dirty="0"/>
              <a:t> := </a:t>
            </a:r>
            <a:r>
              <a:rPr lang="en-US" altLang="en-US" sz="1600" i="1" dirty="0"/>
              <a:t>A – </a:t>
            </a:r>
            <a:r>
              <a:rPr lang="en-US" altLang="en-US" sz="1600" dirty="0"/>
              <a:t>50</a:t>
            </a:r>
          </a:p>
          <a:p>
            <a:pPr lvl="1">
              <a:buFont typeface="Monotype Sorts" charset="2"/>
              <a:buNone/>
            </a:pPr>
            <a:r>
              <a:rPr lang="en-US" altLang="en-US" sz="1600" dirty="0"/>
              <a:t>3.	</a:t>
            </a:r>
            <a:r>
              <a:rPr lang="en-US" altLang="en-US" sz="1600" b="1" dirty="0"/>
              <a:t>write</a:t>
            </a:r>
            <a:r>
              <a:rPr lang="en-US" altLang="en-US" sz="1600" dirty="0"/>
              <a:t>(</a:t>
            </a:r>
            <a:r>
              <a:rPr lang="en-US" altLang="en-US" sz="1600" i="1" dirty="0"/>
              <a:t>A</a:t>
            </a:r>
            <a:r>
              <a:rPr lang="en-US" altLang="en-US" sz="1600" dirty="0"/>
              <a:t>)</a:t>
            </a:r>
          </a:p>
          <a:p>
            <a:pPr lvl="1">
              <a:buFont typeface="Monotype Sorts" charset="2"/>
              <a:buNone/>
            </a:pPr>
            <a:r>
              <a:rPr lang="en-US" altLang="en-US" sz="1600" dirty="0"/>
              <a:t>4.	</a:t>
            </a:r>
            <a:r>
              <a:rPr lang="en-US" altLang="en-US" sz="1600" b="1" dirty="0"/>
              <a:t>read</a:t>
            </a:r>
            <a:r>
              <a:rPr lang="en-US" altLang="en-US" sz="1600" dirty="0"/>
              <a:t>(</a:t>
            </a:r>
            <a:r>
              <a:rPr lang="en-US" altLang="en-US" sz="1600" i="1" dirty="0"/>
              <a:t>B</a:t>
            </a:r>
            <a:r>
              <a:rPr lang="en-US" altLang="en-US" sz="1600" dirty="0"/>
              <a:t>)</a:t>
            </a:r>
          </a:p>
          <a:p>
            <a:pPr lvl="1">
              <a:buFont typeface="Monotype Sorts" charset="2"/>
              <a:buNone/>
            </a:pPr>
            <a:r>
              <a:rPr lang="en-US" altLang="en-US" sz="1600" dirty="0"/>
              <a:t>5.	</a:t>
            </a:r>
            <a:r>
              <a:rPr lang="en-US" altLang="en-US" sz="1600" i="1" dirty="0"/>
              <a:t>B</a:t>
            </a:r>
            <a:r>
              <a:rPr lang="en-US" altLang="en-US" sz="1600" dirty="0"/>
              <a:t> := </a:t>
            </a:r>
            <a:r>
              <a:rPr lang="en-US" altLang="en-US" sz="1600" i="1" dirty="0"/>
              <a:t>B + </a:t>
            </a:r>
            <a:r>
              <a:rPr lang="en-US" altLang="en-US" sz="1600" dirty="0"/>
              <a:t>50</a:t>
            </a:r>
          </a:p>
          <a:p>
            <a:pPr lvl="1">
              <a:buFont typeface="Monotype Sorts" charset="2"/>
              <a:buNone/>
            </a:pPr>
            <a:r>
              <a:rPr lang="en-US" altLang="en-US" sz="1600" dirty="0"/>
              <a:t>6.	</a:t>
            </a:r>
            <a:r>
              <a:rPr lang="en-US" altLang="en-US" sz="1600" b="1" dirty="0"/>
              <a:t>write</a:t>
            </a:r>
            <a:r>
              <a:rPr lang="en-US" altLang="en-US" sz="1600" dirty="0"/>
              <a:t>(</a:t>
            </a:r>
            <a:r>
              <a:rPr lang="en-US" altLang="en-US" sz="1600" i="1" dirty="0"/>
              <a:t>B)</a:t>
            </a:r>
            <a:endParaRPr lang="en-US" altLang="en-US" dirty="0"/>
          </a:p>
          <a:p>
            <a:r>
              <a:rPr lang="en-US" altLang="en-US" dirty="0"/>
              <a:t>Two main issues to deal with:</a:t>
            </a:r>
          </a:p>
          <a:p>
            <a:pPr lvl="1"/>
            <a:r>
              <a:rPr lang="en-US" altLang="en-US" dirty="0"/>
              <a:t>Failures of various kinds, such as hardware failures and system crashes</a:t>
            </a:r>
          </a:p>
          <a:p>
            <a:pPr lvl="1"/>
            <a:r>
              <a:rPr lang="en-US" altLang="en-US" dirty="0"/>
              <a:t>Concurrent execution of multiple transactions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p>
        </p:txBody>
      </p:sp>
      <p:sp>
        <p:nvSpPr>
          <p:cNvPr id="7171" name="Rectangle 3"/>
          <p:cNvSpPr>
            <a:spLocks noGrp="1" noChangeArrowheads="1"/>
          </p:cNvSpPr>
          <p:nvPr>
            <p:ph idx="1"/>
          </p:nvPr>
        </p:nvSpPr>
        <p:spPr>
          <a:xfrm>
            <a:off x="639192" y="1102497"/>
            <a:ext cx="7838983" cy="5367972"/>
          </a:xfrm>
        </p:spPr>
        <p:txBody>
          <a:bodyPr/>
          <a:lstStyle/>
          <a:p>
            <a:r>
              <a:rPr lang="en-US" altLang="en-US" sz="1600" dirty="0"/>
              <a:t>Transaction to transfer $50 from account A to account B:</a:t>
            </a:r>
          </a:p>
          <a:p>
            <a:pPr lvl="1">
              <a:buFont typeface="Monotype Sorts" charset="2"/>
              <a:buNone/>
            </a:pPr>
            <a:r>
              <a:rPr lang="en-US" altLang="en-US" sz="1400" dirty="0"/>
              <a:t>1.	</a:t>
            </a:r>
            <a:r>
              <a:rPr lang="en-US" altLang="en-US" sz="1400" b="1" dirty="0"/>
              <a:t>read</a:t>
            </a:r>
            <a:r>
              <a:rPr lang="en-US" altLang="en-US" sz="1400" dirty="0"/>
              <a:t>(</a:t>
            </a:r>
            <a:r>
              <a:rPr lang="en-US" altLang="en-US" sz="1400" i="1" dirty="0"/>
              <a:t>A</a:t>
            </a:r>
            <a:r>
              <a:rPr lang="en-US" altLang="en-US" sz="1400" dirty="0"/>
              <a:t>)</a:t>
            </a:r>
          </a:p>
          <a:p>
            <a:pPr lvl="1">
              <a:buFont typeface="Monotype Sorts" charset="2"/>
              <a:buNone/>
            </a:pPr>
            <a:r>
              <a:rPr lang="en-US" altLang="en-US" sz="1400" dirty="0"/>
              <a:t>2.	</a:t>
            </a:r>
            <a:r>
              <a:rPr lang="en-US" altLang="en-US" sz="1400" i="1" dirty="0"/>
              <a:t>A</a:t>
            </a:r>
            <a:r>
              <a:rPr lang="en-US" altLang="en-US" sz="1400" dirty="0"/>
              <a:t> := </a:t>
            </a:r>
            <a:r>
              <a:rPr lang="en-US" altLang="en-US" sz="1400" i="1" dirty="0"/>
              <a:t>A – </a:t>
            </a:r>
            <a:r>
              <a:rPr lang="en-US" altLang="en-US" sz="1400" dirty="0"/>
              <a:t>50</a:t>
            </a:r>
          </a:p>
          <a:p>
            <a:pPr lvl="1">
              <a:buFont typeface="Monotype Sorts" charset="2"/>
              <a:buNone/>
            </a:pPr>
            <a:r>
              <a:rPr lang="en-US" altLang="en-US" sz="1400" dirty="0"/>
              <a:t>3.	</a:t>
            </a:r>
            <a:r>
              <a:rPr lang="en-US" altLang="en-US" sz="1400" b="1" dirty="0"/>
              <a:t>write</a:t>
            </a:r>
            <a:r>
              <a:rPr lang="en-US" altLang="en-US" sz="1400" dirty="0"/>
              <a:t>(</a:t>
            </a:r>
            <a:r>
              <a:rPr lang="en-US" altLang="en-US" sz="1400" i="1" dirty="0"/>
              <a:t>A</a:t>
            </a:r>
            <a:r>
              <a:rPr lang="en-US" altLang="en-US" sz="1400" dirty="0"/>
              <a:t>)</a:t>
            </a:r>
          </a:p>
          <a:p>
            <a:pPr lvl="1">
              <a:buFont typeface="Monotype Sorts" charset="2"/>
              <a:buNone/>
            </a:pPr>
            <a:r>
              <a:rPr lang="en-US" altLang="en-US" sz="1400" dirty="0"/>
              <a:t>4.	</a:t>
            </a:r>
            <a:r>
              <a:rPr lang="en-US" altLang="en-US" sz="1400" b="1" dirty="0"/>
              <a:t>read</a:t>
            </a:r>
            <a:r>
              <a:rPr lang="en-US" altLang="en-US" sz="1400" dirty="0"/>
              <a:t>(</a:t>
            </a:r>
            <a:r>
              <a:rPr lang="en-US" altLang="en-US" sz="1400" i="1" dirty="0"/>
              <a:t>B</a:t>
            </a:r>
            <a:r>
              <a:rPr lang="en-US" altLang="en-US" sz="1400" dirty="0"/>
              <a:t>)</a:t>
            </a:r>
          </a:p>
          <a:p>
            <a:pPr lvl="1">
              <a:buFont typeface="Monotype Sorts" charset="2"/>
              <a:buNone/>
            </a:pPr>
            <a:r>
              <a:rPr lang="en-US" altLang="en-US" sz="1400" dirty="0"/>
              <a:t>5.	</a:t>
            </a:r>
            <a:r>
              <a:rPr lang="en-US" altLang="en-US" sz="1400" i="1" dirty="0"/>
              <a:t>B</a:t>
            </a:r>
            <a:r>
              <a:rPr lang="en-US" altLang="en-US" sz="1400" dirty="0"/>
              <a:t> := </a:t>
            </a:r>
            <a:r>
              <a:rPr lang="en-US" altLang="en-US" sz="1400" i="1" dirty="0"/>
              <a:t>B + </a:t>
            </a:r>
            <a:r>
              <a:rPr lang="en-US" altLang="en-US" sz="1400" dirty="0"/>
              <a:t>50</a:t>
            </a:r>
          </a:p>
          <a:p>
            <a:pPr lvl="1">
              <a:buFont typeface="Monotype Sorts" charset="2"/>
              <a:buNone/>
            </a:pPr>
            <a:r>
              <a:rPr lang="en-US" altLang="en-US" sz="1400" dirty="0"/>
              <a:t>6.	</a:t>
            </a:r>
            <a:r>
              <a:rPr lang="en-US" altLang="en-US" sz="1400" b="1" dirty="0"/>
              <a:t>write</a:t>
            </a:r>
            <a:r>
              <a:rPr lang="en-US" altLang="en-US" sz="1400" dirty="0"/>
              <a:t>(</a:t>
            </a:r>
            <a:r>
              <a:rPr lang="en-US" altLang="en-US" sz="1400" i="1" dirty="0"/>
              <a:t>B)</a:t>
            </a:r>
          </a:p>
          <a:p>
            <a:r>
              <a:rPr lang="en-US" altLang="en-US" sz="1600" b="1" dirty="0">
                <a:solidFill>
                  <a:srgbClr val="000099"/>
                </a:solidFill>
              </a:rPr>
              <a:t>Atomicity requirement</a:t>
            </a:r>
            <a:r>
              <a:rPr lang="en-US" altLang="en-US" sz="1600" dirty="0"/>
              <a:t> </a:t>
            </a:r>
          </a:p>
          <a:p>
            <a:pPr lvl="1"/>
            <a:r>
              <a:rPr lang="en-US" altLang="en-US" sz="1600" dirty="0"/>
              <a:t>If the transaction fails after step 3 and before step 6, money will be </a:t>
            </a:r>
            <a:r>
              <a:rPr lang="ja-JP" altLang="en-US" sz="1600" dirty="0"/>
              <a:t>“</a:t>
            </a:r>
            <a:r>
              <a:rPr lang="en-US" altLang="ja-JP" sz="1600" dirty="0"/>
              <a:t>lost</a:t>
            </a:r>
            <a:r>
              <a:rPr lang="ja-JP" altLang="en-US" sz="1600" dirty="0"/>
              <a:t>”</a:t>
            </a:r>
            <a:r>
              <a:rPr lang="en-US" altLang="ja-JP" sz="1600" dirty="0"/>
              <a:t> leading to an inconsistent database state</a:t>
            </a:r>
          </a:p>
          <a:p>
            <a:pPr lvl="2"/>
            <a:r>
              <a:rPr lang="en-US" altLang="en-US" sz="1600" dirty="0"/>
              <a:t>Failure could be due to software or hardware</a:t>
            </a:r>
          </a:p>
          <a:p>
            <a:pPr lvl="1"/>
            <a:r>
              <a:rPr lang="en-US" altLang="en-US" sz="1600" dirty="0"/>
              <a:t>The system should ensure that updates of a partially executed transaction are not reflected in the database</a:t>
            </a:r>
          </a:p>
          <a:p>
            <a:r>
              <a:rPr lang="en-US" altLang="en-US" sz="1600" b="1" dirty="0">
                <a:solidFill>
                  <a:srgbClr val="000099"/>
                </a:solidFill>
              </a:rPr>
              <a:t>Durability requirement</a:t>
            </a:r>
            <a:r>
              <a:rPr lang="en-US" altLang="en-US" sz="1600" dirty="0"/>
              <a:t> — once the user has been notified that the transaction has completed (i.e., the transfer of the $50 has taken place), the updates to the database by the transaction must persist even if there are software or hardware failures.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528387" name="Rectangle 3"/>
          <p:cNvSpPr>
            <a:spLocks noGrp="1" noChangeArrowheads="1"/>
          </p:cNvSpPr>
          <p:nvPr>
            <p:ph idx="1"/>
          </p:nvPr>
        </p:nvSpPr>
        <p:spPr>
          <a:xfrm>
            <a:off x="701336" y="1102497"/>
            <a:ext cx="7679184" cy="5367972"/>
          </a:xfrm>
        </p:spPr>
        <p:txBody>
          <a:bodyPr/>
          <a:lstStyle/>
          <a:p>
            <a:r>
              <a:rPr lang="en-US" altLang="en-US" sz="1600" b="1" dirty="0">
                <a:solidFill>
                  <a:srgbClr val="000099"/>
                </a:solidFill>
              </a:rPr>
              <a:t>Consistency requirement</a:t>
            </a:r>
            <a:r>
              <a:rPr lang="en-US" altLang="en-US" sz="1600" dirty="0"/>
              <a:t> in above example:</a:t>
            </a:r>
          </a:p>
          <a:p>
            <a:pPr lvl="1"/>
            <a:r>
              <a:rPr lang="en-US" altLang="en-US" sz="1600" dirty="0"/>
              <a:t> The sum of A and B is unchanged by the execution of the transaction</a:t>
            </a:r>
          </a:p>
          <a:p>
            <a:r>
              <a:rPr lang="en-US" altLang="en-US" sz="1600" dirty="0"/>
              <a:t>In general, consistency requirements include </a:t>
            </a:r>
          </a:p>
          <a:p>
            <a:pPr lvl="1"/>
            <a:r>
              <a:rPr lang="en-US" altLang="en-US" sz="1600" dirty="0"/>
              <a:t>Explicitly specified integrity constraints such as primary keys and foreign keys</a:t>
            </a:r>
          </a:p>
          <a:p>
            <a:pPr lvl="1"/>
            <a:r>
              <a:rPr lang="en-US" altLang="en-US" sz="1600" dirty="0"/>
              <a:t>Implicit integrity constraints</a:t>
            </a:r>
          </a:p>
          <a:p>
            <a:pPr lvl="2"/>
            <a:r>
              <a:rPr lang="en-US" altLang="en-US" sz="1600" dirty="0"/>
              <a:t>e.g., sum of balances of all accounts, minus sum of loan amounts must equal value of cash-in-hand</a:t>
            </a:r>
          </a:p>
          <a:p>
            <a:pPr lvl="1"/>
            <a:r>
              <a:rPr lang="en-US" altLang="en-US" sz="1600" dirty="0"/>
              <a:t>A transaction must see a consistent database.</a:t>
            </a:r>
          </a:p>
          <a:p>
            <a:pPr lvl="1"/>
            <a:r>
              <a:rPr lang="en-US" altLang="en-US" sz="1600" dirty="0"/>
              <a:t>During transaction execution the database may be temporarily inconsistent.</a:t>
            </a:r>
          </a:p>
          <a:p>
            <a:pPr lvl="1"/>
            <a:r>
              <a:rPr lang="en-US" altLang="en-US" sz="1600" dirty="0"/>
              <a:t>When the transaction completes successfully the database must be consistent</a:t>
            </a:r>
          </a:p>
          <a:p>
            <a:pPr lvl="2"/>
            <a:r>
              <a:rPr lang="en-US" altLang="en-US" sz="1600" dirty="0"/>
              <a:t>Erroneous transaction logic can lead to inconsistency</a:t>
            </a:r>
          </a:p>
          <a:p>
            <a:pPr>
              <a:lnSpc>
                <a:spcPct val="80000"/>
              </a:lnSpc>
              <a:buFont typeface="Monotype Sorts" charset="2"/>
              <a:buNone/>
            </a:pPr>
            <a:endParaRPr lang="en-US"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83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83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838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8387">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83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838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38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83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9219" name="Rectangle 3"/>
          <p:cNvSpPr>
            <a:spLocks noGrp="1" noChangeArrowheads="1"/>
          </p:cNvSpPr>
          <p:nvPr>
            <p:ph idx="1"/>
          </p:nvPr>
        </p:nvSpPr>
        <p:spPr>
          <a:xfrm>
            <a:off x="692458" y="1102497"/>
            <a:ext cx="7812350" cy="5367972"/>
          </a:xfrm>
        </p:spPr>
        <p:txBody>
          <a:bodyPr/>
          <a:lstStyle/>
          <a:p>
            <a:r>
              <a:rPr lang="en-US" altLang="en-US" b="1" dirty="0">
                <a:solidFill>
                  <a:srgbClr val="000099"/>
                </a:solidFill>
              </a:rPr>
              <a:t>Isolation requirement</a:t>
            </a:r>
            <a:r>
              <a:rPr lang="en-US" altLang="en-US" dirty="0"/>
              <a:t> — if between steps 3 and 6, another transaction T2 is allowed to access the partially updated database, it will see an inconsistent database (the sum  </a:t>
            </a:r>
            <a:r>
              <a:rPr lang="en-US" altLang="en-US" i="1" dirty="0"/>
              <a:t>A + B</a:t>
            </a:r>
            <a:r>
              <a:rPr lang="en-US" altLang="en-US" dirty="0"/>
              <a:t> will be less than it should be</a:t>
            </a:r>
            <a:r>
              <a:rPr lang="en-US" altLang="en-US" dirty="0" smtClean="0"/>
              <a:t>).</a:t>
            </a:r>
          </a:p>
          <a:p>
            <a:pPr marL="0" indent="0">
              <a:buNone/>
            </a:pPr>
            <a:r>
              <a:rPr lang="en-US" altLang="en-US" dirty="0"/>
              <a:t/>
            </a:r>
            <a:br>
              <a:rPr lang="en-US" altLang="en-US" dirty="0"/>
            </a:br>
            <a:r>
              <a:rPr lang="en-US" altLang="en-US" dirty="0"/>
              <a:t>        </a:t>
            </a:r>
            <a:r>
              <a:rPr lang="en-US" altLang="en-US" dirty="0" smtClean="0"/>
              <a:t>      </a:t>
            </a:r>
            <a:r>
              <a:rPr lang="en-US" altLang="en-US" b="1" dirty="0"/>
              <a:t>T1                                        T2</a:t>
            </a:r>
          </a:p>
          <a:p>
            <a:pPr lvl="1">
              <a:lnSpc>
                <a:spcPct val="90000"/>
              </a:lnSpc>
              <a:buFont typeface="Monotype Sorts" charset="2"/>
              <a:buNone/>
            </a:pPr>
            <a:r>
              <a:rPr lang="en-US" altLang="en-US" sz="1600" dirty="0"/>
              <a:t>1.	</a:t>
            </a:r>
            <a:r>
              <a:rPr lang="en-US" altLang="en-US" sz="1600" b="1" dirty="0"/>
              <a:t>read</a:t>
            </a:r>
            <a:r>
              <a:rPr lang="en-US" altLang="en-US" sz="1600" dirty="0"/>
              <a:t>(</a:t>
            </a:r>
            <a:r>
              <a:rPr lang="en-US" altLang="en-US" sz="1600" i="1" dirty="0"/>
              <a:t>A</a:t>
            </a:r>
            <a:r>
              <a:rPr lang="en-US" altLang="en-US" sz="1600" dirty="0"/>
              <a:t>)</a:t>
            </a:r>
          </a:p>
          <a:p>
            <a:pPr lvl="1">
              <a:lnSpc>
                <a:spcPct val="90000"/>
              </a:lnSpc>
              <a:buFont typeface="Monotype Sorts" charset="2"/>
              <a:buNone/>
            </a:pPr>
            <a:r>
              <a:rPr lang="en-US" altLang="en-US" sz="1600" dirty="0"/>
              <a:t>2.	</a:t>
            </a:r>
            <a:r>
              <a:rPr lang="en-US" altLang="en-US" sz="1600" i="1" dirty="0"/>
              <a:t>A</a:t>
            </a:r>
            <a:r>
              <a:rPr lang="en-US" altLang="en-US" sz="1600" dirty="0"/>
              <a:t> := </a:t>
            </a:r>
            <a:r>
              <a:rPr lang="en-US" altLang="en-US" sz="1600" i="1" dirty="0"/>
              <a:t>A – </a:t>
            </a:r>
            <a:r>
              <a:rPr lang="en-US" altLang="en-US" sz="1600" dirty="0"/>
              <a:t>50</a:t>
            </a:r>
          </a:p>
          <a:p>
            <a:pPr lvl="1">
              <a:lnSpc>
                <a:spcPct val="90000"/>
              </a:lnSpc>
              <a:buFont typeface="Monotype Sorts" charset="2"/>
              <a:buNone/>
            </a:pPr>
            <a:r>
              <a:rPr lang="en-US" altLang="en-US" sz="1600" dirty="0"/>
              <a:t>3.	</a:t>
            </a:r>
            <a:r>
              <a:rPr lang="en-US" altLang="en-US" sz="1600" b="1" dirty="0"/>
              <a:t>write</a:t>
            </a:r>
            <a:r>
              <a:rPr lang="en-US" altLang="en-US" sz="1600" dirty="0"/>
              <a:t>(</a:t>
            </a:r>
            <a:r>
              <a:rPr lang="en-US" altLang="en-US" sz="1600" i="1" dirty="0"/>
              <a:t>A</a:t>
            </a:r>
            <a:r>
              <a:rPr lang="en-US" altLang="en-US" sz="1600" dirty="0"/>
              <a:t>)</a:t>
            </a:r>
            <a:br>
              <a:rPr lang="en-US" altLang="en-US" sz="1600" dirty="0"/>
            </a:br>
            <a:r>
              <a:rPr lang="en-US" altLang="en-US" sz="1600" dirty="0"/>
              <a:t>                                      read(A), read(B), print(A+B)</a:t>
            </a:r>
          </a:p>
          <a:p>
            <a:pPr lvl="1">
              <a:lnSpc>
                <a:spcPct val="90000"/>
              </a:lnSpc>
              <a:buFont typeface="Monotype Sorts" charset="2"/>
              <a:buNone/>
            </a:pPr>
            <a:r>
              <a:rPr lang="en-US" altLang="en-US" sz="1600" dirty="0"/>
              <a:t>4.	</a:t>
            </a:r>
            <a:r>
              <a:rPr lang="en-US" altLang="en-US" sz="1600" b="1" dirty="0"/>
              <a:t>read</a:t>
            </a:r>
            <a:r>
              <a:rPr lang="en-US" altLang="en-US" sz="1600" dirty="0"/>
              <a:t>(</a:t>
            </a:r>
            <a:r>
              <a:rPr lang="en-US" altLang="en-US" sz="1600" i="1" dirty="0"/>
              <a:t>B</a:t>
            </a:r>
            <a:r>
              <a:rPr lang="en-US" altLang="en-US" sz="1600" dirty="0"/>
              <a:t>)</a:t>
            </a:r>
          </a:p>
          <a:p>
            <a:pPr lvl="1">
              <a:lnSpc>
                <a:spcPct val="90000"/>
              </a:lnSpc>
              <a:buFont typeface="Monotype Sorts" charset="2"/>
              <a:buNone/>
            </a:pPr>
            <a:r>
              <a:rPr lang="en-US" altLang="en-US" sz="1600" dirty="0"/>
              <a:t>5.	</a:t>
            </a:r>
            <a:r>
              <a:rPr lang="en-US" altLang="en-US" sz="1600" i="1" dirty="0"/>
              <a:t>B</a:t>
            </a:r>
            <a:r>
              <a:rPr lang="en-US" altLang="en-US" sz="1600" dirty="0"/>
              <a:t> := </a:t>
            </a:r>
            <a:r>
              <a:rPr lang="en-US" altLang="en-US" sz="1600" i="1" dirty="0"/>
              <a:t>B + </a:t>
            </a:r>
            <a:r>
              <a:rPr lang="en-US" altLang="en-US" sz="1600" dirty="0"/>
              <a:t>50</a:t>
            </a:r>
          </a:p>
          <a:p>
            <a:pPr lvl="1">
              <a:lnSpc>
                <a:spcPct val="90000"/>
              </a:lnSpc>
              <a:buFont typeface="Monotype Sorts" charset="2"/>
              <a:buNone/>
            </a:pPr>
            <a:r>
              <a:rPr lang="en-US" altLang="en-US" sz="1600" dirty="0"/>
              <a:t>6.	</a:t>
            </a:r>
            <a:r>
              <a:rPr lang="en-US" altLang="en-US" sz="1600" b="1" dirty="0"/>
              <a:t>write</a:t>
            </a:r>
            <a:r>
              <a:rPr lang="en-US" altLang="en-US" sz="1600" dirty="0"/>
              <a:t>(</a:t>
            </a:r>
            <a:r>
              <a:rPr lang="en-US" altLang="en-US" sz="1600" i="1" dirty="0"/>
              <a:t>B</a:t>
            </a:r>
            <a:endParaRPr lang="en-US" altLang="en-US" dirty="0"/>
          </a:p>
          <a:p>
            <a:pPr>
              <a:lnSpc>
                <a:spcPct val="90000"/>
              </a:lnSpc>
            </a:pPr>
            <a:r>
              <a:rPr lang="en-US" altLang="en-US" dirty="0"/>
              <a:t>Isolation can be ensured trivially by running transactions </a:t>
            </a:r>
            <a:r>
              <a:rPr lang="en-US" altLang="en-US" b="1" dirty="0">
                <a:solidFill>
                  <a:srgbClr val="000099"/>
                </a:solidFill>
              </a:rPr>
              <a:t>serially</a:t>
            </a:r>
          </a:p>
          <a:p>
            <a:pPr lvl="1">
              <a:lnSpc>
                <a:spcPct val="90000"/>
              </a:lnSpc>
            </a:pPr>
            <a:r>
              <a:rPr lang="en-US" altLang="en-US" dirty="0"/>
              <a:t> That is, one after the other.   </a:t>
            </a:r>
          </a:p>
          <a:p>
            <a:r>
              <a:rPr lang="en-US" altLang="en-US" dirty="0"/>
              <a:t>However, executing multiple transactions concurrently has significant benefits, as we will see later</a:t>
            </a:r>
            <a:r>
              <a:rPr lang="en-US" altLang="en-US" dirty="0" smtClean="0"/>
              <a:t>. </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ACID Properties</a:t>
            </a:r>
          </a:p>
        </p:txBody>
      </p:sp>
      <p:sp>
        <p:nvSpPr>
          <p:cNvPr id="10243" name="Rectangle 3"/>
          <p:cNvSpPr>
            <a:spLocks noGrp="1" noChangeArrowheads="1"/>
          </p:cNvSpPr>
          <p:nvPr>
            <p:ph idx="1"/>
          </p:nvPr>
        </p:nvSpPr>
        <p:spPr>
          <a:xfrm>
            <a:off x="701336" y="1901295"/>
            <a:ext cx="7856738" cy="4569174"/>
          </a:xfrm>
        </p:spPr>
        <p:txBody>
          <a:bodyPr/>
          <a:lstStyle/>
          <a:p>
            <a:r>
              <a:rPr lang="en-US" altLang="en-US" b="1" dirty="0">
                <a:solidFill>
                  <a:srgbClr val="000099"/>
                </a:solidFill>
              </a:rPr>
              <a:t>Atomicity</a:t>
            </a:r>
            <a:r>
              <a:rPr lang="en-US" altLang="en-US" b="1" dirty="0"/>
              <a:t>. </a:t>
            </a:r>
            <a:r>
              <a:rPr lang="en-US" altLang="en-US" dirty="0"/>
              <a:t> Either all operations of the transaction are properly reflected in the database or none are.</a:t>
            </a:r>
          </a:p>
          <a:p>
            <a:r>
              <a:rPr lang="en-US" altLang="en-US" b="1" dirty="0">
                <a:solidFill>
                  <a:srgbClr val="000099"/>
                </a:solidFill>
              </a:rPr>
              <a:t>Consistency</a:t>
            </a:r>
            <a:r>
              <a:rPr lang="en-US" altLang="en-US" b="1" dirty="0"/>
              <a:t>.</a:t>
            </a:r>
            <a:r>
              <a:rPr lang="en-US" altLang="en-US" dirty="0"/>
              <a:t>  Execution of a transaction in isolation preserves the consistency of the database.</a:t>
            </a:r>
          </a:p>
          <a:p>
            <a:r>
              <a:rPr lang="en-US" altLang="en-US" b="1" dirty="0">
                <a:solidFill>
                  <a:srgbClr val="000099"/>
                </a:solidFill>
              </a:rPr>
              <a:t>Isolation</a:t>
            </a:r>
            <a:r>
              <a:rPr lang="en-US" altLang="en-US" b="1" dirty="0"/>
              <a:t>.</a:t>
            </a:r>
            <a:r>
              <a:rPr lang="en-US" altLang="en-US" dirty="0"/>
              <a:t>  Although multiple transactions may execute concurrently, each transaction must be unaware of other concurrently executing transactions.  Intermediate transaction results must be hidden from other concurrently executed transactions.  </a:t>
            </a:r>
          </a:p>
          <a:p>
            <a:pPr lvl="1"/>
            <a:r>
              <a:rPr lang="en-US" altLang="en-US" dirty="0"/>
              <a:t>That is, for every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i="1" dirty="0"/>
              <a:t>, </a:t>
            </a:r>
            <a:r>
              <a:rPr lang="en-US" altLang="en-US" dirty="0"/>
              <a:t>it appears to </a:t>
            </a:r>
            <a:r>
              <a:rPr lang="en-US" altLang="en-US" i="1" dirty="0"/>
              <a:t>T</a:t>
            </a:r>
            <a:r>
              <a:rPr lang="en-US" altLang="en-US" i="1" baseline="-25000" dirty="0"/>
              <a:t>i</a:t>
            </a:r>
            <a:r>
              <a:rPr lang="en-US" altLang="en-US" i="1" dirty="0"/>
              <a:t> </a:t>
            </a:r>
            <a:r>
              <a:rPr lang="en-US" altLang="en-US" dirty="0"/>
              <a:t>that either </a:t>
            </a:r>
            <a:r>
              <a:rPr lang="en-US" altLang="en-US" i="1" dirty="0"/>
              <a:t>T</a:t>
            </a:r>
            <a:r>
              <a:rPr lang="en-US" altLang="en-US" i="1" baseline="-25000" dirty="0"/>
              <a:t>j</a:t>
            </a:r>
            <a:r>
              <a:rPr lang="en-US" altLang="en-US" i="1" dirty="0"/>
              <a:t>, </a:t>
            </a:r>
            <a:r>
              <a:rPr lang="en-US" altLang="en-US" dirty="0"/>
              <a:t>finished execution before </a:t>
            </a:r>
            <a:r>
              <a:rPr lang="en-US" altLang="en-US" i="1" dirty="0"/>
              <a:t>T</a:t>
            </a:r>
            <a:r>
              <a:rPr lang="en-US" altLang="en-US" i="1" baseline="-25000" dirty="0"/>
              <a:t>i</a:t>
            </a:r>
            <a:r>
              <a:rPr lang="en-US" altLang="en-US" dirty="0"/>
              <a:t> started, or </a:t>
            </a:r>
            <a:r>
              <a:rPr lang="en-US" altLang="en-US" i="1" dirty="0"/>
              <a:t>T</a:t>
            </a:r>
            <a:r>
              <a:rPr lang="en-US" altLang="en-US" i="1" baseline="-25000" dirty="0"/>
              <a:t>j</a:t>
            </a:r>
            <a:r>
              <a:rPr lang="en-US" altLang="en-US" dirty="0"/>
              <a:t> started execution after </a:t>
            </a:r>
            <a:r>
              <a:rPr lang="en-US" altLang="en-US" i="1" dirty="0"/>
              <a:t>T</a:t>
            </a:r>
            <a:r>
              <a:rPr lang="en-US" altLang="en-US" i="1" baseline="-25000" dirty="0"/>
              <a:t>i</a:t>
            </a:r>
            <a:r>
              <a:rPr lang="en-US" altLang="en-US" dirty="0"/>
              <a:t> finished.</a:t>
            </a:r>
          </a:p>
          <a:p>
            <a:r>
              <a:rPr lang="en-US" altLang="en-US" b="1" dirty="0">
                <a:solidFill>
                  <a:srgbClr val="000099"/>
                </a:solidFill>
              </a:rPr>
              <a:t>Durability</a:t>
            </a:r>
            <a:r>
              <a:rPr lang="en-US" altLang="en-US" b="1" dirty="0"/>
              <a:t>.  </a:t>
            </a:r>
            <a:r>
              <a:rPr lang="en-US" altLang="en-US" dirty="0"/>
              <a:t>After a transaction completes successfully, the changes it has made to the database persist, even if there are system failures. </a:t>
            </a:r>
            <a:endParaRPr lang="en-US" altLang="en-US" i="1" dirty="0"/>
          </a:p>
        </p:txBody>
      </p:sp>
      <p:sp>
        <p:nvSpPr>
          <p:cNvPr id="10244" name="Text Box 4"/>
          <p:cNvSpPr txBox="1">
            <a:spLocks noChangeArrowheads="1"/>
          </p:cNvSpPr>
          <p:nvPr/>
        </p:nvSpPr>
        <p:spPr bwMode="auto">
          <a:xfrm>
            <a:off x="701336" y="1024131"/>
            <a:ext cx="7670307"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700" dirty="0"/>
              <a:t>A  </a:t>
            </a:r>
            <a:r>
              <a:rPr kumimoji="1" lang="en-US" altLang="en-US" sz="1700" b="1" dirty="0">
                <a:solidFill>
                  <a:srgbClr val="000099"/>
                </a:solidFill>
              </a:rPr>
              <a:t>transaction</a:t>
            </a:r>
            <a:r>
              <a:rPr lang="en-US" altLang="en-US" sz="1700" dirty="0"/>
              <a:t>  is a unit of program execution that accesses and possibly updates various data </a:t>
            </a:r>
            <a:r>
              <a:rPr lang="en-US" altLang="en-US" sz="1700" dirty="0" smtClean="0"/>
              <a:t>items. To </a:t>
            </a:r>
            <a:r>
              <a:rPr lang="en-US" altLang="en-US" sz="1700" dirty="0"/>
              <a:t>preserve the integrity of data the database system must ensure: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a:t>
            </a:r>
          </a:p>
        </p:txBody>
      </p:sp>
      <p:sp>
        <p:nvSpPr>
          <p:cNvPr id="11267" name="Rectangle 3"/>
          <p:cNvSpPr>
            <a:spLocks noGrp="1" noChangeArrowheads="1"/>
          </p:cNvSpPr>
          <p:nvPr>
            <p:ph idx="1"/>
          </p:nvPr>
        </p:nvSpPr>
        <p:spPr>
          <a:xfrm>
            <a:off x="674703" y="1102497"/>
            <a:ext cx="7723574" cy="5367972"/>
          </a:xfrm>
        </p:spPr>
        <p:txBody>
          <a:bodyPr/>
          <a:lstStyle/>
          <a:p>
            <a:r>
              <a:rPr lang="en-US" altLang="en-US" b="1" dirty="0">
                <a:solidFill>
                  <a:srgbClr val="000099"/>
                </a:solidFill>
              </a:rPr>
              <a:t>Active</a:t>
            </a:r>
            <a:r>
              <a:rPr lang="en-US" altLang="en-US" b="1" dirty="0">
                <a:solidFill>
                  <a:schemeClr val="tx2"/>
                </a:solidFill>
              </a:rPr>
              <a:t> </a:t>
            </a:r>
            <a:r>
              <a:rPr lang="en-US" altLang="en-US" dirty="0"/>
              <a:t>–</a:t>
            </a:r>
            <a:r>
              <a:rPr lang="en-US" altLang="en-US" b="1" dirty="0">
                <a:solidFill>
                  <a:schemeClr val="tx2"/>
                </a:solidFill>
              </a:rPr>
              <a:t> </a:t>
            </a:r>
            <a:r>
              <a:rPr lang="en-US" altLang="en-US" dirty="0"/>
              <a:t>the initial state; the transaction stays in this state while it is executing</a:t>
            </a:r>
          </a:p>
          <a:p>
            <a:r>
              <a:rPr lang="en-US" altLang="en-US" b="1" dirty="0">
                <a:solidFill>
                  <a:srgbClr val="000099"/>
                </a:solidFill>
              </a:rPr>
              <a:t>Partially committed</a:t>
            </a:r>
            <a:r>
              <a:rPr lang="en-US" altLang="en-US" b="1" dirty="0">
                <a:solidFill>
                  <a:schemeClr val="tx2"/>
                </a:solidFill>
              </a:rPr>
              <a:t> </a:t>
            </a:r>
            <a:r>
              <a:rPr lang="en-US" altLang="en-US" dirty="0"/>
              <a:t>–</a:t>
            </a:r>
            <a:r>
              <a:rPr lang="en-US" altLang="en-US" b="1" dirty="0">
                <a:solidFill>
                  <a:schemeClr val="tx2"/>
                </a:solidFill>
              </a:rPr>
              <a:t> </a:t>
            </a:r>
            <a:r>
              <a:rPr lang="en-US" altLang="en-US" dirty="0"/>
              <a:t>after the final statement has been executed.</a:t>
            </a:r>
          </a:p>
          <a:p>
            <a:r>
              <a:rPr lang="en-US" altLang="en-US" b="1" dirty="0">
                <a:solidFill>
                  <a:srgbClr val="000099"/>
                </a:solidFill>
              </a:rPr>
              <a:t>Failed</a:t>
            </a:r>
            <a:r>
              <a:rPr lang="en-US" altLang="en-US" b="1" dirty="0">
                <a:solidFill>
                  <a:schemeClr val="tx2"/>
                </a:solidFill>
              </a:rPr>
              <a:t> </a:t>
            </a:r>
            <a:r>
              <a:rPr lang="en-US" altLang="en-US" sz="1600" b="1" dirty="0"/>
              <a:t>-- </a:t>
            </a:r>
            <a:r>
              <a:rPr lang="en-US" altLang="en-US" dirty="0"/>
              <a:t>after the discovery that normal execution can no longer proceed.</a:t>
            </a:r>
          </a:p>
          <a:p>
            <a:r>
              <a:rPr lang="en-US" altLang="en-US" b="1" dirty="0">
                <a:solidFill>
                  <a:srgbClr val="000099"/>
                </a:solidFill>
              </a:rPr>
              <a:t>Aborted</a:t>
            </a:r>
            <a:r>
              <a:rPr lang="en-US" altLang="en-US" b="1" dirty="0">
                <a:solidFill>
                  <a:schemeClr val="tx2"/>
                </a:solidFill>
              </a:rPr>
              <a:t> </a:t>
            </a:r>
            <a:r>
              <a:rPr lang="en-US" altLang="en-US" dirty="0"/>
              <a:t>– after the transaction has been rolled back and the database restored to its state prior to the start of the transaction.  Two options after it has been aborted:</a:t>
            </a:r>
          </a:p>
          <a:p>
            <a:pPr lvl="1"/>
            <a:r>
              <a:rPr lang="en-US" altLang="en-US" dirty="0"/>
              <a:t>R</a:t>
            </a:r>
            <a:r>
              <a:rPr lang="en-US" altLang="en-US" dirty="0" smtClean="0"/>
              <a:t>estart </a:t>
            </a:r>
            <a:r>
              <a:rPr lang="en-US" altLang="en-US" dirty="0"/>
              <a:t>the transaction</a:t>
            </a:r>
          </a:p>
          <a:p>
            <a:pPr lvl="2"/>
            <a:r>
              <a:rPr lang="en-US" altLang="en-US" dirty="0"/>
              <a:t> </a:t>
            </a:r>
            <a:r>
              <a:rPr lang="en-US" altLang="en-US" dirty="0" smtClean="0"/>
              <a:t>Can </a:t>
            </a:r>
            <a:r>
              <a:rPr lang="en-US" altLang="en-US" dirty="0"/>
              <a:t>be done only if no internal logical error</a:t>
            </a:r>
          </a:p>
          <a:p>
            <a:pPr lvl="1"/>
            <a:r>
              <a:rPr lang="en-US" altLang="en-US" dirty="0"/>
              <a:t>K</a:t>
            </a:r>
            <a:r>
              <a:rPr lang="en-US" altLang="en-US" dirty="0" smtClean="0"/>
              <a:t>ill </a:t>
            </a:r>
            <a:r>
              <a:rPr lang="en-US" altLang="en-US" dirty="0"/>
              <a:t>the transaction</a:t>
            </a:r>
          </a:p>
          <a:p>
            <a:r>
              <a:rPr lang="en-US" altLang="en-US" b="1" dirty="0">
                <a:solidFill>
                  <a:srgbClr val="000099"/>
                </a:solidFill>
              </a:rPr>
              <a:t>Committed</a:t>
            </a:r>
            <a:r>
              <a:rPr lang="en-US" altLang="en-US" b="1" dirty="0">
                <a:solidFill>
                  <a:schemeClr val="tx2"/>
                </a:solidFill>
              </a:rPr>
              <a:t> </a:t>
            </a:r>
            <a:r>
              <a:rPr lang="en-US" altLang="en-US" dirty="0"/>
              <a:t>– after successful completion.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 (Cont.)</a:t>
            </a:r>
          </a:p>
        </p:txBody>
      </p:sp>
      <p:pic>
        <p:nvPicPr>
          <p:cNvPr id="1229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4900" y="1503363"/>
            <a:ext cx="4619625"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Concurrent Executions</a:t>
            </a:r>
          </a:p>
        </p:txBody>
      </p:sp>
      <p:sp>
        <p:nvSpPr>
          <p:cNvPr id="13315" name="Rectangle 3"/>
          <p:cNvSpPr>
            <a:spLocks noGrp="1" noChangeArrowheads="1"/>
          </p:cNvSpPr>
          <p:nvPr>
            <p:ph idx="1"/>
          </p:nvPr>
        </p:nvSpPr>
        <p:spPr>
          <a:xfrm>
            <a:off x="674703" y="1102497"/>
            <a:ext cx="7714696" cy="5367972"/>
          </a:xfrm>
        </p:spPr>
        <p:txBody>
          <a:bodyPr/>
          <a:lstStyle/>
          <a:p>
            <a:r>
              <a:rPr lang="en-US" altLang="en-US" dirty="0"/>
              <a:t>Multiple transactions are allowed to run concurrently in the system.  Advantages are:</a:t>
            </a:r>
          </a:p>
          <a:p>
            <a:pPr lvl="1"/>
            <a:r>
              <a:rPr lang="en-US" altLang="en-US" b="1" dirty="0"/>
              <a:t>Increased processor and disk utilization</a:t>
            </a:r>
            <a:r>
              <a:rPr lang="en-US" altLang="en-US" dirty="0"/>
              <a:t>, leading to better transaction </a:t>
            </a:r>
            <a:r>
              <a:rPr lang="en-US" altLang="en-US" i="1" dirty="0"/>
              <a:t>throughput</a:t>
            </a:r>
          </a:p>
          <a:p>
            <a:pPr lvl="2"/>
            <a:r>
              <a:rPr lang="en-US" altLang="en-US" dirty="0"/>
              <a:t>E</a:t>
            </a:r>
            <a:r>
              <a:rPr lang="en-US" altLang="en-US" dirty="0" smtClean="0"/>
              <a:t>.g</a:t>
            </a:r>
            <a:r>
              <a:rPr lang="en-US" altLang="en-US" dirty="0"/>
              <a:t>., one transaction can be using the CPU while another is reading from or writing to the disk</a:t>
            </a:r>
          </a:p>
          <a:p>
            <a:pPr lvl="1"/>
            <a:r>
              <a:rPr lang="en-US" altLang="en-US" b="1" dirty="0"/>
              <a:t>Reduced average response time</a:t>
            </a:r>
            <a:r>
              <a:rPr lang="en-US" altLang="en-US" dirty="0"/>
              <a:t> for transactions: short transactions need not wait behind long ones.</a:t>
            </a:r>
          </a:p>
          <a:p>
            <a:r>
              <a:rPr lang="en-US" altLang="en-US" b="1" dirty="0">
                <a:solidFill>
                  <a:srgbClr val="000099"/>
                </a:solidFill>
              </a:rPr>
              <a:t>Concurrency control schemes</a:t>
            </a:r>
            <a:r>
              <a:rPr lang="en-US" altLang="en-US" i="1" dirty="0"/>
              <a:t> </a:t>
            </a:r>
            <a:r>
              <a:rPr lang="en-US" altLang="en-US" dirty="0"/>
              <a:t>– mechanisms  to achieve isolation</a:t>
            </a:r>
          </a:p>
          <a:p>
            <a:pPr lvl="1"/>
            <a:r>
              <a:rPr lang="en-US" altLang="en-US" dirty="0"/>
              <a:t>That is, to control the interaction among the concurrent transactions in order to prevent them from destroying the consistency of the </a:t>
            </a:r>
            <a:r>
              <a:rPr lang="en-US" altLang="en-US" dirty="0" smtClean="0"/>
              <a:t>database</a:t>
            </a:r>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Schedules</a:t>
            </a:r>
          </a:p>
        </p:txBody>
      </p:sp>
      <p:sp>
        <p:nvSpPr>
          <p:cNvPr id="14339" name="Rectangle 3"/>
          <p:cNvSpPr>
            <a:spLocks noGrp="1" noChangeArrowheads="1"/>
          </p:cNvSpPr>
          <p:nvPr>
            <p:ph idx="1"/>
          </p:nvPr>
        </p:nvSpPr>
        <p:spPr>
          <a:xfrm>
            <a:off x="665824" y="1102497"/>
            <a:ext cx="7803473" cy="5367972"/>
          </a:xfrm>
        </p:spPr>
        <p:txBody>
          <a:bodyPr/>
          <a:lstStyle/>
          <a:p>
            <a:r>
              <a:rPr lang="en-US" altLang="en-US" b="1" dirty="0">
                <a:solidFill>
                  <a:srgbClr val="000099"/>
                </a:solidFill>
              </a:rPr>
              <a:t>Schedule</a:t>
            </a:r>
            <a:r>
              <a:rPr lang="en-US" altLang="en-US" b="1" dirty="0">
                <a:solidFill>
                  <a:schemeClr val="tx2"/>
                </a:solidFill>
              </a:rPr>
              <a:t> </a:t>
            </a:r>
            <a:r>
              <a:rPr lang="en-US" altLang="en-US" dirty="0"/>
              <a:t>– a sequences of instructions that specify the chronological order in which instructions of concurrent transactions are executed</a:t>
            </a:r>
          </a:p>
          <a:p>
            <a:pPr lvl="1"/>
            <a:r>
              <a:rPr lang="en-US" altLang="en-US" dirty="0"/>
              <a:t>A schedule for a set of transactions must consist of all instructions of those transactions</a:t>
            </a:r>
          </a:p>
          <a:p>
            <a:pPr lvl="1"/>
            <a:r>
              <a:rPr lang="en-US" altLang="en-US" dirty="0"/>
              <a:t>Must preserve the order in which the instructions appear in each individual transaction.</a:t>
            </a:r>
          </a:p>
          <a:p>
            <a:r>
              <a:rPr lang="en-US" altLang="en-US" dirty="0"/>
              <a:t>A transaction that successfully completes its execution will have a commit instructions as the last statement </a:t>
            </a:r>
          </a:p>
          <a:p>
            <a:pPr lvl="1"/>
            <a:r>
              <a:rPr lang="en-US" altLang="en-US" dirty="0"/>
              <a:t>By default transaction assumed to execute commit instruction as its last step</a:t>
            </a:r>
          </a:p>
          <a:p>
            <a:r>
              <a:rPr lang="en-US" altLang="en-US" dirty="0"/>
              <a:t>A transaction that fails to successfully complete its execution will have an abort instruction as the last statement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1</a:t>
            </a:r>
          </a:p>
        </p:txBody>
      </p:sp>
      <p:sp>
        <p:nvSpPr>
          <p:cNvPr id="15363" name="Rectangle 3"/>
          <p:cNvSpPr>
            <a:spLocks noGrp="1" noChangeArrowheads="1"/>
          </p:cNvSpPr>
          <p:nvPr>
            <p:ph idx="1"/>
          </p:nvPr>
        </p:nvSpPr>
        <p:spPr>
          <a:xfrm>
            <a:off x="648070" y="1102497"/>
            <a:ext cx="7563775" cy="5367972"/>
          </a:xfrm>
        </p:spPr>
        <p:txBody>
          <a:bodyPr/>
          <a:lstStyle/>
          <a:p>
            <a:pPr>
              <a:tabLst>
                <a:tab pos="1947863" algn="l"/>
                <a:tab pos="2684463" algn="l"/>
                <a:tab pos="3594100" algn="l"/>
                <a:tab pos="4286250" algn="l"/>
              </a:tabLst>
            </a:pPr>
            <a:r>
              <a:rPr lang="en-US" altLang="en-US" dirty="0"/>
              <a:t>Let </a:t>
            </a:r>
            <a:r>
              <a:rPr lang="en-US" altLang="en-US" i="1" dirty="0"/>
              <a:t>T</a:t>
            </a:r>
            <a:r>
              <a:rPr lang="en-US" altLang="en-US" baseline="-25000" dirty="0"/>
              <a:t>1</a:t>
            </a:r>
            <a:r>
              <a:rPr lang="en-US" altLang="en-US" dirty="0"/>
              <a:t> transfer $50 from </a:t>
            </a:r>
            <a:r>
              <a:rPr lang="en-US" altLang="en-US" i="1" dirty="0"/>
              <a:t>A </a:t>
            </a:r>
            <a:r>
              <a:rPr lang="en-US" altLang="en-US" dirty="0"/>
              <a:t>to </a:t>
            </a:r>
            <a:r>
              <a:rPr lang="en-US" altLang="en-US" i="1" dirty="0"/>
              <a:t>B</a:t>
            </a:r>
            <a:r>
              <a:rPr lang="en-US" altLang="en-US" dirty="0"/>
              <a:t>, and </a:t>
            </a:r>
            <a:r>
              <a:rPr lang="en-US" altLang="en-US" i="1" dirty="0"/>
              <a:t>T</a:t>
            </a:r>
            <a:r>
              <a:rPr lang="en-US" altLang="en-US" baseline="-25000" dirty="0"/>
              <a:t>2</a:t>
            </a:r>
            <a:r>
              <a:rPr lang="en-US" altLang="en-US" dirty="0"/>
              <a:t> transfer 10% of the balance from </a:t>
            </a:r>
            <a:r>
              <a:rPr lang="en-US" altLang="en-US" i="1" dirty="0"/>
              <a:t>A </a:t>
            </a:r>
            <a:r>
              <a:rPr lang="en-US" altLang="en-US" dirty="0"/>
              <a:t>to </a:t>
            </a:r>
            <a:r>
              <a:rPr lang="en-US" altLang="en-US" i="1" dirty="0"/>
              <a:t>B.</a:t>
            </a:r>
            <a:r>
              <a:rPr lang="en-US" altLang="en-US" dirty="0"/>
              <a:t>  </a:t>
            </a:r>
          </a:p>
          <a:p>
            <a:pPr>
              <a:lnSpc>
                <a:spcPct val="80000"/>
              </a:lnSpc>
              <a:tabLst>
                <a:tab pos="1947863" algn="l"/>
                <a:tab pos="2684463" algn="l"/>
                <a:tab pos="3594100" algn="l"/>
                <a:tab pos="4286250" algn="l"/>
              </a:tabLst>
            </a:pPr>
            <a:r>
              <a:rPr lang="en-US" altLang="en-US" dirty="0"/>
              <a:t>A </a:t>
            </a:r>
            <a:r>
              <a:rPr lang="en-US" altLang="en-US" dirty="0">
                <a:solidFill>
                  <a:srgbClr val="000099"/>
                </a:solidFill>
              </a:rPr>
              <a:t>serial </a:t>
            </a:r>
            <a:r>
              <a:rPr lang="en-US" altLang="en-US" dirty="0"/>
              <a:t>schedule in which </a:t>
            </a:r>
            <a:r>
              <a:rPr lang="en-US" altLang="en-US" i="1" dirty="0"/>
              <a:t>T</a:t>
            </a:r>
            <a:r>
              <a:rPr lang="en-US" altLang="en-US" baseline="-25000" dirty="0"/>
              <a:t>1</a:t>
            </a:r>
            <a:r>
              <a:rPr lang="en-US" altLang="en-US" dirty="0"/>
              <a:t> is followed by </a:t>
            </a:r>
            <a:r>
              <a:rPr lang="en-US" altLang="en-US" i="1" dirty="0"/>
              <a:t>T</a:t>
            </a:r>
            <a:r>
              <a:rPr lang="en-US" altLang="en-US" baseline="-25000" dirty="0"/>
              <a:t>2</a:t>
            </a:r>
            <a:r>
              <a:rPr lang="en-US" altLang="en-US" dirty="0"/>
              <a:t> :</a:t>
            </a:r>
          </a:p>
          <a:p>
            <a:pPr>
              <a:lnSpc>
                <a:spcPct val="80000"/>
              </a:lnSpc>
              <a:buFont typeface="Monotype Sorts" charset="2"/>
              <a:buNone/>
              <a:tabLst>
                <a:tab pos="1947863" algn="l"/>
                <a:tab pos="2684463" algn="l"/>
                <a:tab pos="3594100" algn="l"/>
                <a:tab pos="4286250" algn="l"/>
              </a:tabLst>
            </a:pPr>
            <a:r>
              <a:rPr lang="en-US" altLang="en-US" sz="1400" dirty="0"/>
              <a:t>		</a:t>
            </a:r>
          </a:p>
        </p:txBody>
      </p:sp>
      <p:pic>
        <p:nvPicPr>
          <p:cNvPr id="1536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078" y="2324500"/>
            <a:ext cx="3016250"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Schedule 2</a:t>
            </a:r>
          </a:p>
        </p:txBody>
      </p:sp>
      <p:sp>
        <p:nvSpPr>
          <p:cNvPr id="16387" name="Rectangle 4"/>
          <p:cNvSpPr>
            <a:spLocks noGrp="1" noChangeArrowheads="1"/>
          </p:cNvSpPr>
          <p:nvPr>
            <p:ph idx="1"/>
          </p:nvPr>
        </p:nvSpPr>
        <p:spPr>
          <a:xfrm>
            <a:off x="692458" y="1102497"/>
            <a:ext cx="8153092" cy="5367972"/>
          </a:xfrm>
          <a:noFill/>
        </p:spPr>
        <p:txBody>
          <a:bodyPr/>
          <a:lstStyle/>
          <a:p>
            <a:pPr>
              <a:lnSpc>
                <a:spcPct val="90000"/>
              </a:lnSpc>
              <a:tabLst>
                <a:tab pos="1947863" algn="l"/>
                <a:tab pos="2684463" algn="l"/>
                <a:tab pos="3594100" algn="l"/>
                <a:tab pos="4286250" algn="l"/>
              </a:tabLst>
            </a:pPr>
            <a:r>
              <a:rPr lang="en-US" altLang="en-US" dirty="0"/>
              <a:t>A serial schedule where </a:t>
            </a:r>
            <a:r>
              <a:rPr lang="en-US" altLang="en-US" i="1" dirty="0"/>
              <a:t>T</a:t>
            </a:r>
            <a:r>
              <a:rPr lang="en-US" altLang="en-US" i="1" baseline="-25000" dirty="0"/>
              <a:t>2</a:t>
            </a:r>
            <a:r>
              <a:rPr lang="en-US" altLang="en-US" dirty="0"/>
              <a:t> is followed by </a:t>
            </a:r>
            <a:r>
              <a:rPr lang="en-US" altLang="en-US" i="1" dirty="0"/>
              <a:t>T</a:t>
            </a:r>
            <a:r>
              <a:rPr lang="en-US" altLang="en-US" baseline="-25000" dirty="0"/>
              <a:t>1</a:t>
            </a:r>
          </a:p>
          <a:p>
            <a:pPr>
              <a:lnSpc>
                <a:spcPct val="90000"/>
              </a:lnSpc>
              <a:tabLst>
                <a:tab pos="1947863" algn="l"/>
                <a:tab pos="2684463" algn="l"/>
                <a:tab pos="3594100" algn="l"/>
                <a:tab pos="4286250" algn="l"/>
              </a:tabLst>
            </a:pPr>
            <a:endParaRPr lang="en-US" altLang="en-US" dirty="0"/>
          </a:p>
          <a:p>
            <a:pPr>
              <a:lnSpc>
                <a:spcPct val="90000"/>
              </a:lnSpc>
              <a:buFont typeface="Monotype Sorts" charset="2"/>
              <a:buNone/>
              <a:tabLst>
                <a:tab pos="1947863" algn="l"/>
                <a:tab pos="2684463" algn="l"/>
                <a:tab pos="3594100" algn="l"/>
                <a:tab pos="4286250" algn="l"/>
              </a:tabLst>
            </a:pPr>
            <a:r>
              <a:rPr lang="en-US" altLang="en-US" dirty="0"/>
              <a:t>		</a:t>
            </a:r>
            <a:endParaRPr lang="en-US" altLang="en-US" i="1" dirty="0"/>
          </a:p>
        </p:txBody>
      </p:sp>
      <p:pic>
        <p:nvPicPr>
          <p:cNvPr id="1638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500" y="1738313"/>
            <a:ext cx="289877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3</a:t>
            </a:r>
          </a:p>
        </p:txBody>
      </p:sp>
      <p:sp>
        <p:nvSpPr>
          <p:cNvPr id="17411" name="Rectangle 4"/>
          <p:cNvSpPr>
            <a:spLocks noGrp="1" noChangeArrowheads="1"/>
          </p:cNvSpPr>
          <p:nvPr>
            <p:ph idx="1"/>
          </p:nvPr>
        </p:nvSpPr>
        <p:spPr>
          <a:xfrm>
            <a:off x="701336" y="1102497"/>
            <a:ext cx="7847860" cy="5367972"/>
          </a:xfrm>
          <a:noFill/>
        </p:spPr>
        <p:txBody>
          <a:bodyPr/>
          <a:lstStyle/>
          <a:p>
            <a:pPr>
              <a:tabLst>
                <a:tab pos="1947863" algn="l"/>
                <a:tab pos="2684463" algn="l"/>
                <a:tab pos="3594100" algn="l"/>
                <a:tab pos="4286250" algn="l"/>
              </a:tabLst>
            </a:pPr>
            <a:r>
              <a:rPr lang="en-US" altLang="en-US" dirty="0"/>
              <a:t>Let </a:t>
            </a:r>
            <a:r>
              <a:rPr lang="en-US" altLang="en-US" i="1" dirty="0"/>
              <a:t>T</a:t>
            </a:r>
            <a:r>
              <a:rPr lang="en-US" altLang="en-US" baseline="-25000" dirty="0"/>
              <a:t>1</a:t>
            </a:r>
            <a:r>
              <a:rPr lang="en-US" altLang="en-US" dirty="0"/>
              <a:t> and </a:t>
            </a:r>
            <a:r>
              <a:rPr lang="en-US" altLang="en-US" i="1" dirty="0"/>
              <a:t>T</a:t>
            </a:r>
            <a:r>
              <a:rPr lang="en-US" altLang="en-US" baseline="-25000" dirty="0"/>
              <a:t>2</a:t>
            </a:r>
            <a:r>
              <a:rPr lang="en-US" altLang="en-US" dirty="0"/>
              <a:t> be the transactions defined previously</a:t>
            </a:r>
            <a:r>
              <a:rPr lang="en-US" altLang="en-US" i="1" dirty="0"/>
              <a:t>.</a:t>
            </a:r>
            <a:r>
              <a:rPr lang="en-US" altLang="en-US" dirty="0"/>
              <a:t>  The following schedule is not a serial schedule, but it is </a:t>
            </a:r>
            <a:r>
              <a:rPr lang="en-US" altLang="en-US" i="1" dirty="0">
                <a:solidFill>
                  <a:srgbClr val="000099"/>
                </a:solidFill>
              </a:rPr>
              <a:t>equivalent</a:t>
            </a:r>
            <a:r>
              <a:rPr lang="en-US" altLang="en-US" dirty="0">
                <a:solidFill>
                  <a:srgbClr val="000099"/>
                </a:solidFill>
              </a:rPr>
              <a:t> </a:t>
            </a:r>
            <a:r>
              <a:rPr lang="en-US" altLang="en-US" dirty="0"/>
              <a:t>to Schedule </a:t>
            </a:r>
            <a:r>
              <a:rPr lang="en-US" altLang="en-US" dirty="0" smtClean="0"/>
              <a:t>1</a:t>
            </a:r>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r>
              <a:rPr lang="en-US" altLang="en-US" sz="1600" dirty="0" smtClean="0">
                <a:latin typeface="Arial" panose="020B0604020202020204" pitchFamily="34" charset="0"/>
              </a:rPr>
              <a:t>In </a:t>
            </a:r>
            <a:r>
              <a:rPr lang="en-US" altLang="en-US" sz="1600" dirty="0">
                <a:latin typeface="Arial" panose="020B0604020202020204" pitchFamily="34" charset="0"/>
              </a:rPr>
              <a:t>Schedules 1, 2 and 3, the sum A + B is preserved</a:t>
            </a:r>
            <a:r>
              <a:rPr lang="en-US" altLang="en-US" dirty="0" smtClean="0"/>
              <a:t>.</a:t>
            </a:r>
            <a:endParaRPr lang="en-US" altLang="en-US" dirty="0"/>
          </a:p>
          <a:p>
            <a:pPr>
              <a:lnSpc>
                <a:spcPct val="90000"/>
              </a:lnSpc>
              <a:buFont typeface="Monotype Sorts" charset="2"/>
              <a:buNone/>
              <a:tabLst>
                <a:tab pos="1947863" algn="l"/>
                <a:tab pos="2684463" algn="l"/>
                <a:tab pos="3594100" algn="l"/>
                <a:tab pos="4286250" algn="l"/>
              </a:tabLst>
            </a:pPr>
            <a:r>
              <a:rPr lang="en-US" altLang="en-US" dirty="0"/>
              <a:t>		</a:t>
            </a:r>
            <a:endParaRPr lang="en-US" altLang="en-US" i="1" dirty="0"/>
          </a:p>
        </p:txBody>
      </p:sp>
      <p:pic>
        <p:nvPicPr>
          <p:cNvPr id="1741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1613" y="1905000"/>
            <a:ext cx="2779712" cy="347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4</a:t>
            </a:r>
          </a:p>
        </p:txBody>
      </p:sp>
      <p:sp>
        <p:nvSpPr>
          <p:cNvPr id="18435" name="Rectangle 4"/>
          <p:cNvSpPr>
            <a:spLocks noGrp="1" noChangeArrowheads="1"/>
          </p:cNvSpPr>
          <p:nvPr>
            <p:ph idx="1"/>
          </p:nvPr>
        </p:nvSpPr>
        <p:spPr>
          <a:xfrm>
            <a:off x="683580" y="1102497"/>
            <a:ext cx="8161969" cy="5367972"/>
          </a:xfrm>
          <a:noFill/>
        </p:spPr>
        <p:txBody>
          <a:bodyPr/>
          <a:lstStyle/>
          <a:p>
            <a:pPr>
              <a:tabLst>
                <a:tab pos="1947863" algn="l"/>
                <a:tab pos="2684463" algn="l"/>
                <a:tab pos="3594100" algn="l"/>
                <a:tab pos="4286250" algn="l"/>
              </a:tabLst>
            </a:pPr>
            <a:r>
              <a:rPr lang="en-US" altLang="en-US" dirty="0"/>
              <a:t>The following concurrent schedule does not preserve the value of (</a:t>
            </a:r>
            <a:r>
              <a:rPr lang="en-US" altLang="en-US" i="1" dirty="0"/>
              <a:t>A </a:t>
            </a:r>
            <a:r>
              <a:rPr lang="en-US" altLang="en-US" dirty="0"/>
              <a:t>+ </a:t>
            </a:r>
            <a:r>
              <a:rPr lang="en-US" altLang="en-US" i="1" dirty="0"/>
              <a:t>B</a:t>
            </a:r>
            <a:r>
              <a:rPr lang="en-US" altLang="en-US" dirty="0"/>
              <a:t> </a:t>
            </a:r>
            <a:r>
              <a:rPr lang="en-US" altLang="en-US" i="1" dirty="0"/>
              <a:t>)</a:t>
            </a:r>
            <a:r>
              <a:rPr lang="en-US" altLang="en-US" dirty="0"/>
              <a:t>.			</a:t>
            </a:r>
            <a:endParaRPr lang="en-US" altLang="en-US" i="1" dirty="0"/>
          </a:p>
        </p:txBody>
      </p:sp>
      <p:pic>
        <p:nvPicPr>
          <p:cNvPr id="18436"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7100" y="1630359"/>
            <a:ext cx="2713038"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Serializability</a:t>
            </a:r>
          </a:p>
        </p:txBody>
      </p:sp>
      <p:sp>
        <p:nvSpPr>
          <p:cNvPr id="19459" name="Rectangle 3"/>
          <p:cNvSpPr>
            <a:spLocks noGrp="1" noChangeArrowheads="1"/>
          </p:cNvSpPr>
          <p:nvPr>
            <p:ph idx="1"/>
          </p:nvPr>
        </p:nvSpPr>
        <p:spPr>
          <a:xfrm>
            <a:off x="683580" y="1102497"/>
            <a:ext cx="8046083" cy="5367972"/>
          </a:xfrm>
        </p:spPr>
        <p:txBody>
          <a:bodyPr/>
          <a:lstStyle/>
          <a:p>
            <a:r>
              <a:rPr lang="en-US" altLang="en-US" b="1" dirty="0"/>
              <a:t>Basic Assumption</a:t>
            </a:r>
            <a:r>
              <a:rPr lang="en-US" altLang="en-US" dirty="0"/>
              <a:t> – Each transaction preserves database consistency.</a:t>
            </a:r>
          </a:p>
          <a:p>
            <a:r>
              <a:rPr lang="en-US" altLang="en-US" dirty="0"/>
              <a:t>Thus, serial execution of a set of transactions preserves database consistency.</a:t>
            </a:r>
          </a:p>
          <a:p>
            <a:r>
              <a:rPr lang="en-US" altLang="en-US" dirty="0"/>
              <a:t>A (possibly concurrent) schedule is serializable if it is equivalent to a serial schedule.  Different forms of schedule equivalence give rise to the notions of:</a:t>
            </a:r>
          </a:p>
          <a:p>
            <a:pPr lvl="1">
              <a:buFont typeface="Monotype Sorts" charset="2"/>
              <a:buNone/>
            </a:pPr>
            <a:r>
              <a:rPr lang="en-US" altLang="en-US" dirty="0"/>
              <a:t>1.	</a:t>
            </a:r>
            <a:r>
              <a:rPr lang="en-US" altLang="en-US" b="1" dirty="0">
                <a:solidFill>
                  <a:srgbClr val="000099"/>
                </a:solidFill>
              </a:rPr>
              <a:t>C</a:t>
            </a:r>
            <a:r>
              <a:rPr lang="en-US" altLang="en-US" b="1" dirty="0" smtClean="0">
                <a:solidFill>
                  <a:srgbClr val="000099"/>
                </a:solidFill>
              </a:rPr>
              <a:t>onflict </a:t>
            </a:r>
            <a:r>
              <a:rPr lang="en-US" altLang="en-US" b="1" dirty="0">
                <a:solidFill>
                  <a:srgbClr val="000099"/>
                </a:solidFill>
              </a:rPr>
              <a:t>serializability</a:t>
            </a:r>
          </a:p>
          <a:p>
            <a:pPr lvl="1">
              <a:buFont typeface="Monotype Sorts" charset="2"/>
              <a:buNone/>
            </a:pPr>
            <a:r>
              <a:rPr lang="en-US" altLang="en-US" dirty="0"/>
              <a:t>2.	</a:t>
            </a:r>
            <a:r>
              <a:rPr lang="en-US" altLang="en-US" b="1" dirty="0">
                <a:solidFill>
                  <a:srgbClr val="000099"/>
                </a:solidFill>
              </a:rPr>
              <a:t>V</a:t>
            </a:r>
            <a:r>
              <a:rPr lang="en-US" altLang="en-US" b="1" dirty="0" smtClean="0">
                <a:solidFill>
                  <a:srgbClr val="000099"/>
                </a:solidFill>
              </a:rPr>
              <a:t>iew </a:t>
            </a:r>
            <a:r>
              <a:rPr lang="en-US" altLang="en-US" b="1" dirty="0">
                <a:solidFill>
                  <a:srgbClr val="000099"/>
                </a:solidFill>
              </a:rPr>
              <a:t>serializability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pPr>
              <a:defRPr/>
            </a:pPr>
            <a:r>
              <a:rPr lang="en-US" i="1" dirty="0">
                <a:effectLst>
                  <a:outerShdw blurRad="38100" dist="38100" dir="2700000" algn="tl">
                    <a:srgbClr val="C0C0C0"/>
                  </a:outerShdw>
                </a:effectLst>
              </a:rPr>
              <a:t>Simplified view of transactions</a:t>
            </a:r>
          </a:p>
        </p:txBody>
      </p:sp>
      <p:sp>
        <p:nvSpPr>
          <p:cNvPr id="20483" name="Rectangle 3"/>
          <p:cNvSpPr>
            <a:spLocks noGrp="1" noChangeArrowheads="1"/>
          </p:cNvSpPr>
          <p:nvPr>
            <p:ph idx="1"/>
          </p:nvPr>
        </p:nvSpPr>
        <p:spPr>
          <a:xfrm>
            <a:off x="674703" y="1102497"/>
            <a:ext cx="7874494" cy="5367972"/>
          </a:xfrm>
        </p:spPr>
        <p:txBody>
          <a:bodyPr/>
          <a:lstStyle/>
          <a:p>
            <a:r>
              <a:rPr lang="en-US" altLang="en-US" dirty="0"/>
              <a:t>We ignore operations other than </a:t>
            </a:r>
            <a:r>
              <a:rPr lang="en-US" altLang="en-US" b="1" dirty="0"/>
              <a:t>read</a:t>
            </a:r>
            <a:r>
              <a:rPr lang="en-US" altLang="en-US" dirty="0"/>
              <a:t> and </a:t>
            </a:r>
            <a:r>
              <a:rPr lang="en-US" altLang="en-US" b="1" dirty="0"/>
              <a:t>write</a:t>
            </a:r>
            <a:r>
              <a:rPr lang="en-US" altLang="en-US" dirty="0"/>
              <a:t> instructions</a:t>
            </a:r>
          </a:p>
          <a:p>
            <a:r>
              <a:rPr lang="en-US" altLang="en-US" dirty="0"/>
              <a:t>We assume that transactions may perform arbitrary computations on data in local buffers in between reads and writes.  </a:t>
            </a:r>
          </a:p>
          <a:p>
            <a:r>
              <a:rPr lang="en-US" altLang="en-US" dirty="0"/>
              <a:t>Our simplified schedules consist of only </a:t>
            </a:r>
            <a:r>
              <a:rPr lang="en-US" altLang="en-US" b="1" dirty="0"/>
              <a:t>read</a:t>
            </a:r>
            <a:r>
              <a:rPr lang="en-US" altLang="en-US" dirty="0"/>
              <a:t> and </a:t>
            </a:r>
            <a:r>
              <a:rPr lang="en-US" altLang="en-US" b="1" dirty="0"/>
              <a:t>write </a:t>
            </a:r>
            <a:r>
              <a:rPr lang="en-US" altLang="en-US" dirty="0"/>
              <a:t>instructions.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Conflicting Instructions </a:t>
            </a:r>
          </a:p>
        </p:txBody>
      </p:sp>
      <p:sp>
        <p:nvSpPr>
          <p:cNvPr id="21507" name="Rectangle 3"/>
          <p:cNvSpPr>
            <a:spLocks noGrp="1" noChangeArrowheads="1"/>
          </p:cNvSpPr>
          <p:nvPr>
            <p:ph idx="1"/>
          </p:nvPr>
        </p:nvSpPr>
        <p:spPr>
          <a:xfrm>
            <a:off x="692458" y="1102497"/>
            <a:ext cx="7750206" cy="5367972"/>
          </a:xfrm>
        </p:spPr>
        <p:txBody>
          <a:bodyPr/>
          <a:lstStyle/>
          <a:p>
            <a:r>
              <a:rPr lang="en-US" altLang="en-US" dirty="0"/>
              <a:t>Instructions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of transactions </a:t>
            </a:r>
            <a:r>
              <a:rPr lang="en-US" altLang="en-US" i="1" dirty="0"/>
              <a:t>T</a:t>
            </a:r>
            <a:r>
              <a:rPr lang="en-US" altLang="en-US" i="1" baseline="-25000" dirty="0"/>
              <a:t>i</a:t>
            </a:r>
            <a:r>
              <a:rPr lang="en-US" altLang="en-US" dirty="0"/>
              <a:t> and </a:t>
            </a:r>
            <a:r>
              <a:rPr lang="en-US" altLang="en-US" i="1" dirty="0"/>
              <a:t>T</a:t>
            </a:r>
            <a:r>
              <a:rPr lang="en-US" altLang="en-US" i="1" baseline="-25000" dirty="0"/>
              <a:t>j</a:t>
            </a:r>
            <a:r>
              <a:rPr lang="en-US" altLang="en-US" dirty="0"/>
              <a:t> respectively, </a:t>
            </a:r>
            <a:r>
              <a:rPr lang="en-US" altLang="en-US" b="1" dirty="0">
                <a:solidFill>
                  <a:srgbClr val="000099"/>
                </a:solidFill>
              </a:rPr>
              <a:t>conflict</a:t>
            </a:r>
            <a:r>
              <a:rPr lang="en-US" altLang="en-US" dirty="0"/>
              <a:t> if and only if there exists some item </a:t>
            </a:r>
            <a:r>
              <a:rPr lang="en-US" altLang="en-US" i="1" dirty="0"/>
              <a:t>Q</a:t>
            </a:r>
            <a:r>
              <a:rPr lang="en-US" altLang="en-US" dirty="0"/>
              <a:t> accessed by both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and at least one of these instructions wrote </a:t>
            </a:r>
            <a:r>
              <a:rPr lang="en-US" altLang="en-US" i="1" dirty="0"/>
              <a:t>Q.</a:t>
            </a:r>
            <a:endParaRPr lang="en-US" altLang="en-US" dirty="0"/>
          </a:p>
          <a:p>
            <a:pPr>
              <a:buFont typeface="Monotype Sorts" charset="2"/>
              <a:buNone/>
            </a:pPr>
            <a:r>
              <a:rPr lang="en-US" altLang="en-US" dirty="0"/>
              <a:t>	   1.   </a:t>
            </a:r>
            <a:r>
              <a:rPr lang="en-US" altLang="en-US" i="1" dirty="0"/>
              <a:t>l</a:t>
            </a:r>
            <a:r>
              <a:rPr lang="en-US" altLang="en-US" i="1" baseline="-25000" dirty="0"/>
              <a:t>i</a:t>
            </a:r>
            <a:r>
              <a:rPr lang="en-US" altLang="en-US" dirty="0"/>
              <a:t> = </a:t>
            </a:r>
            <a:r>
              <a:rPr lang="en-US" altLang="en-US" b="1" dirty="0"/>
              <a:t>read</a:t>
            </a:r>
            <a:r>
              <a:rPr lang="en-US" altLang="en-US" dirty="0"/>
              <a:t>(</a:t>
            </a:r>
            <a:r>
              <a:rPr lang="en-US" altLang="en-US" i="1" dirty="0"/>
              <a:t>Q), </a:t>
            </a:r>
            <a:r>
              <a:rPr lang="en-US" altLang="en-US" i="1" dirty="0" err="1"/>
              <a:t>l</a:t>
            </a:r>
            <a:r>
              <a:rPr lang="en-US" altLang="en-US" i="1" baseline="-25000" dirty="0" err="1"/>
              <a:t>j</a:t>
            </a:r>
            <a:r>
              <a:rPr lang="en-US" altLang="en-US" i="1" dirty="0"/>
              <a:t> = </a:t>
            </a:r>
            <a:r>
              <a:rPr lang="en-US" altLang="en-US" b="1" dirty="0"/>
              <a:t>read</a:t>
            </a:r>
            <a:r>
              <a:rPr lang="en-US" altLang="en-US" dirty="0"/>
              <a:t>(</a:t>
            </a:r>
            <a:r>
              <a:rPr lang="en-US" altLang="en-US" i="1" dirty="0"/>
              <a:t>Q</a:t>
            </a:r>
            <a:r>
              <a:rPr lang="en-US" altLang="en-US" dirty="0"/>
              <a:t>).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i="1" dirty="0"/>
              <a:t> </a:t>
            </a:r>
            <a:r>
              <a:rPr lang="en-US" altLang="en-US" dirty="0"/>
              <a:t>don</a:t>
            </a:r>
            <a:r>
              <a:rPr lang="ja-JP" altLang="en-US" dirty="0"/>
              <a:t>’</a:t>
            </a:r>
            <a:r>
              <a:rPr lang="en-US" altLang="ja-JP" dirty="0"/>
              <a:t>t conflict.</a:t>
            </a:r>
            <a:br>
              <a:rPr lang="en-US" altLang="ja-JP" dirty="0"/>
            </a:br>
            <a:r>
              <a:rPr lang="en-US" altLang="ja-JP" dirty="0"/>
              <a:t>   2.   </a:t>
            </a:r>
            <a:r>
              <a:rPr lang="en-US" altLang="ja-JP" i="1" dirty="0"/>
              <a:t>l</a:t>
            </a:r>
            <a:r>
              <a:rPr lang="en-US" altLang="ja-JP" i="1" baseline="-25000" dirty="0"/>
              <a:t>i</a:t>
            </a:r>
            <a:r>
              <a:rPr lang="en-US" altLang="ja-JP" dirty="0"/>
              <a:t> = </a:t>
            </a:r>
            <a:r>
              <a:rPr lang="en-US" altLang="ja-JP" b="1" dirty="0"/>
              <a:t>read</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write</a:t>
            </a:r>
            <a:r>
              <a:rPr lang="en-US" altLang="ja-JP" dirty="0"/>
              <a:t>(</a:t>
            </a:r>
            <a:r>
              <a:rPr lang="en-US" altLang="ja-JP" i="1" dirty="0"/>
              <a:t>Q</a:t>
            </a:r>
            <a:r>
              <a:rPr lang="en-US" altLang="ja-JP" dirty="0"/>
              <a:t>).  They conflict.</a:t>
            </a:r>
            <a:br>
              <a:rPr lang="en-US" altLang="ja-JP" dirty="0"/>
            </a:br>
            <a:r>
              <a:rPr lang="en-US" altLang="ja-JP" dirty="0"/>
              <a:t>   3.   </a:t>
            </a:r>
            <a:r>
              <a:rPr lang="en-US" altLang="ja-JP" i="1" dirty="0"/>
              <a:t>l</a:t>
            </a:r>
            <a:r>
              <a:rPr lang="en-US" altLang="ja-JP" i="1" baseline="-25000" dirty="0"/>
              <a:t>i</a:t>
            </a:r>
            <a:r>
              <a:rPr lang="en-US" altLang="ja-JP" dirty="0"/>
              <a:t> = </a:t>
            </a:r>
            <a:r>
              <a:rPr lang="en-US" altLang="ja-JP" b="1" dirty="0"/>
              <a:t>write</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read</a:t>
            </a:r>
            <a:r>
              <a:rPr lang="en-US" altLang="ja-JP" dirty="0"/>
              <a:t>(</a:t>
            </a:r>
            <a:r>
              <a:rPr lang="en-US" altLang="ja-JP" i="1" dirty="0"/>
              <a:t>Q</a:t>
            </a:r>
            <a:r>
              <a:rPr lang="en-US" altLang="ja-JP" dirty="0"/>
              <a:t>).   They conflict</a:t>
            </a:r>
            <a:br>
              <a:rPr lang="en-US" altLang="ja-JP" dirty="0"/>
            </a:br>
            <a:r>
              <a:rPr lang="en-US" altLang="ja-JP" dirty="0"/>
              <a:t>   4.   </a:t>
            </a:r>
            <a:r>
              <a:rPr lang="en-US" altLang="ja-JP" i="1" dirty="0"/>
              <a:t>l</a:t>
            </a:r>
            <a:r>
              <a:rPr lang="en-US" altLang="ja-JP" i="1" baseline="-25000" dirty="0"/>
              <a:t>i</a:t>
            </a:r>
            <a:r>
              <a:rPr lang="en-US" altLang="ja-JP" dirty="0"/>
              <a:t> = </a:t>
            </a:r>
            <a:r>
              <a:rPr lang="en-US" altLang="ja-JP" b="1" dirty="0"/>
              <a:t>write</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write</a:t>
            </a:r>
            <a:r>
              <a:rPr lang="en-US" altLang="ja-JP" dirty="0"/>
              <a:t>(</a:t>
            </a:r>
            <a:r>
              <a:rPr lang="en-US" altLang="ja-JP" i="1" dirty="0"/>
              <a:t>Q</a:t>
            </a:r>
            <a:r>
              <a:rPr lang="en-US" altLang="ja-JP" dirty="0"/>
              <a:t>).  They conflict</a:t>
            </a:r>
          </a:p>
          <a:p>
            <a:r>
              <a:rPr lang="en-US" altLang="en-US" dirty="0"/>
              <a:t>Intuitively, a conflict between </a:t>
            </a:r>
            <a:r>
              <a:rPr lang="en-US" altLang="en-US" i="1" dirty="0"/>
              <a:t>l</a:t>
            </a:r>
            <a:r>
              <a:rPr lang="en-US" altLang="en-US" i="1" baseline="-25000" dirty="0"/>
              <a:t>i</a:t>
            </a:r>
            <a:r>
              <a:rPr lang="en-US" altLang="en-US" i="1" dirty="0"/>
              <a:t> </a:t>
            </a:r>
            <a:r>
              <a:rPr lang="en-US" altLang="en-US" dirty="0"/>
              <a:t>and </a:t>
            </a:r>
            <a:r>
              <a:rPr lang="en-US" altLang="en-US" i="1" dirty="0" err="1"/>
              <a:t>l</a:t>
            </a:r>
            <a:r>
              <a:rPr lang="en-US" altLang="en-US" i="1" baseline="-25000" dirty="0" err="1"/>
              <a:t>j</a:t>
            </a:r>
            <a:r>
              <a:rPr lang="en-US" altLang="en-US" dirty="0"/>
              <a:t> forces a (logical) temporal order between them.  </a:t>
            </a:r>
          </a:p>
          <a:p>
            <a:r>
              <a:rPr lang="en-US" altLang="en-US" dirty="0" smtClean="0"/>
              <a:t>If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are consecutive in a schedule and they do not conflict, their results would remain the same even if they had been interchanged in the schedule.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a:t>
            </a:r>
          </a:p>
        </p:txBody>
      </p:sp>
      <p:sp>
        <p:nvSpPr>
          <p:cNvPr id="22531" name="Rectangle 3"/>
          <p:cNvSpPr>
            <a:spLocks noGrp="1" noChangeArrowheads="1"/>
          </p:cNvSpPr>
          <p:nvPr>
            <p:ph idx="1"/>
          </p:nvPr>
        </p:nvSpPr>
        <p:spPr>
          <a:xfrm>
            <a:off x="683581" y="1102497"/>
            <a:ext cx="7750206" cy="5367972"/>
          </a:xfrm>
        </p:spPr>
        <p:txBody>
          <a:bodyPr/>
          <a:lstStyle/>
          <a:p>
            <a:pPr>
              <a:tabLst>
                <a:tab pos="2222500" algn="l"/>
                <a:tab pos="2568575" algn="l"/>
                <a:tab pos="3319463" algn="l"/>
                <a:tab pos="3594100" algn="l"/>
              </a:tabLst>
            </a:pPr>
            <a:r>
              <a:rPr lang="en-US" altLang="en-US" dirty="0"/>
              <a:t>If a schedule </a:t>
            </a:r>
            <a:r>
              <a:rPr lang="en-US" altLang="en-US" i="1" dirty="0"/>
              <a:t>S</a:t>
            </a:r>
            <a:r>
              <a:rPr lang="en-US" altLang="en-US" dirty="0"/>
              <a:t> can be transformed into a schedule </a:t>
            </a:r>
            <a:r>
              <a:rPr lang="en-US" altLang="en-US" i="1" dirty="0"/>
              <a:t>S’ </a:t>
            </a:r>
            <a:r>
              <a:rPr lang="en-US" altLang="en-US" dirty="0"/>
              <a:t>by a series of swaps of non-conflicting instructions, we say that </a:t>
            </a:r>
            <a:r>
              <a:rPr lang="en-US" altLang="en-US" i="1" dirty="0"/>
              <a:t>S</a:t>
            </a:r>
            <a:r>
              <a:rPr lang="en-US" altLang="en-US" dirty="0"/>
              <a:t> and </a:t>
            </a:r>
            <a:r>
              <a:rPr lang="en-US" altLang="en-US" i="1" dirty="0"/>
              <a:t>S’ </a:t>
            </a:r>
            <a:r>
              <a:rPr lang="en-US" altLang="en-US" dirty="0"/>
              <a:t>are </a:t>
            </a:r>
            <a:r>
              <a:rPr lang="en-US" altLang="en-US" b="1" dirty="0">
                <a:solidFill>
                  <a:srgbClr val="000099"/>
                </a:solidFill>
              </a:rPr>
              <a:t>conflict equivalent</a:t>
            </a:r>
            <a:r>
              <a:rPr lang="en-US" altLang="en-US" i="1" dirty="0"/>
              <a:t>.</a:t>
            </a:r>
            <a:endParaRPr lang="en-US" altLang="en-US" dirty="0"/>
          </a:p>
          <a:p>
            <a:pPr>
              <a:tabLst>
                <a:tab pos="2222500" algn="l"/>
                <a:tab pos="2568575" algn="l"/>
                <a:tab pos="3319463" algn="l"/>
                <a:tab pos="3594100" algn="l"/>
              </a:tabLst>
            </a:pPr>
            <a:r>
              <a:rPr lang="en-US" altLang="en-US" dirty="0"/>
              <a:t>We say that a schedule </a:t>
            </a:r>
            <a:r>
              <a:rPr lang="en-US" altLang="en-US" i="1" dirty="0"/>
              <a:t>S</a:t>
            </a:r>
            <a:r>
              <a:rPr lang="en-US" altLang="en-US" dirty="0"/>
              <a:t> is </a:t>
            </a:r>
            <a:r>
              <a:rPr lang="en-US" altLang="en-US" b="1" dirty="0">
                <a:solidFill>
                  <a:srgbClr val="000099"/>
                </a:solidFill>
              </a:rPr>
              <a:t>conflict serializable</a:t>
            </a:r>
            <a:r>
              <a:rPr lang="en-US" altLang="en-US" dirty="0"/>
              <a:t> if it is conflict equivalent to a serial schedule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3555" name="Rectangle 3"/>
          <p:cNvSpPr>
            <a:spLocks noGrp="1" noChangeArrowheads="1"/>
          </p:cNvSpPr>
          <p:nvPr>
            <p:ph idx="1"/>
          </p:nvPr>
        </p:nvSpPr>
        <p:spPr>
          <a:xfrm>
            <a:off x="683580" y="1102497"/>
            <a:ext cx="8161969" cy="5367972"/>
          </a:xfrm>
        </p:spPr>
        <p:txBody>
          <a:bodyPr/>
          <a:lstStyle/>
          <a:p>
            <a:pPr>
              <a:tabLst>
                <a:tab pos="2063750" algn="l"/>
                <a:tab pos="2511425" algn="l"/>
                <a:tab pos="3262313" algn="l"/>
                <a:tab pos="3881438" algn="l"/>
              </a:tabLst>
            </a:pPr>
            <a:r>
              <a:rPr lang="en-US" altLang="en-US" dirty="0"/>
              <a:t>Schedule 3 can be transformed into Schedule 6, a serial schedule where </a:t>
            </a:r>
            <a:r>
              <a:rPr lang="en-US" altLang="en-US" i="1" dirty="0"/>
              <a:t>T</a:t>
            </a:r>
            <a:r>
              <a:rPr lang="en-US" altLang="en-US" baseline="-25000" dirty="0"/>
              <a:t>2</a:t>
            </a:r>
            <a:r>
              <a:rPr lang="en-US" altLang="en-US" dirty="0"/>
              <a:t> follows </a:t>
            </a:r>
            <a:r>
              <a:rPr lang="en-US" altLang="en-US" i="1" dirty="0"/>
              <a:t>T</a:t>
            </a:r>
            <a:r>
              <a:rPr lang="en-US" altLang="en-US" baseline="-25000" dirty="0"/>
              <a:t>1</a:t>
            </a:r>
            <a:r>
              <a:rPr lang="en-US" altLang="en-US" dirty="0"/>
              <a:t>, by series of swaps of non-conflicting instructions.  Therefore Schedule 3 is conflict serializable.</a:t>
            </a:r>
          </a:p>
        </p:txBody>
      </p:sp>
      <p:sp>
        <p:nvSpPr>
          <p:cNvPr id="23556" name="Text Box 11"/>
          <p:cNvSpPr txBox="1">
            <a:spLocks noChangeArrowheads="1"/>
          </p:cNvSpPr>
          <p:nvPr/>
        </p:nvSpPr>
        <p:spPr bwMode="auto">
          <a:xfrm>
            <a:off x="2209808" y="4922827"/>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3</a:t>
            </a:r>
          </a:p>
        </p:txBody>
      </p:sp>
      <p:sp>
        <p:nvSpPr>
          <p:cNvPr id="23557" name="Text Box 12"/>
          <p:cNvSpPr txBox="1">
            <a:spLocks noChangeArrowheads="1"/>
          </p:cNvSpPr>
          <p:nvPr/>
        </p:nvSpPr>
        <p:spPr bwMode="auto">
          <a:xfrm>
            <a:off x="6105533" y="4926006"/>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6</a:t>
            </a:r>
          </a:p>
        </p:txBody>
      </p:sp>
      <p:pic>
        <p:nvPicPr>
          <p:cNvPr id="23558"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200" y="2217729"/>
            <a:ext cx="3040063"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6200" y="2200272"/>
            <a:ext cx="3111500"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4579" name="Rectangle 3"/>
          <p:cNvSpPr>
            <a:spLocks noGrp="1" noChangeArrowheads="1"/>
          </p:cNvSpPr>
          <p:nvPr>
            <p:ph idx="1"/>
          </p:nvPr>
        </p:nvSpPr>
        <p:spPr>
          <a:xfrm>
            <a:off x="701336" y="1102497"/>
            <a:ext cx="7688062" cy="5367972"/>
          </a:xfrm>
        </p:spPr>
        <p:txBody>
          <a:bodyPr/>
          <a:lstStyle/>
          <a:p>
            <a:pPr>
              <a:tabLst>
                <a:tab pos="2222500" algn="l"/>
                <a:tab pos="2568575" algn="l"/>
                <a:tab pos="3319463" algn="l"/>
                <a:tab pos="3594100" algn="l"/>
              </a:tabLst>
            </a:pPr>
            <a:r>
              <a:rPr lang="en-US" altLang="en-US" dirty="0"/>
              <a:t>Example of a schedule that is not conflict serializable:</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tabLst>
                <a:tab pos="2222500" algn="l"/>
                <a:tab pos="2568575" algn="l"/>
                <a:tab pos="3319463" algn="l"/>
                <a:tab pos="3594100" algn="l"/>
              </a:tabLst>
            </a:pPr>
            <a:r>
              <a:rPr lang="en-US" altLang="en-US" dirty="0"/>
              <a:t>We are unable to swap instructions in the above schedule to obtain either the serial schedule &lt; </a:t>
            </a:r>
            <a:r>
              <a:rPr lang="en-US" altLang="en-US" i="1" dirty="0"/>
              <a:t>T</a:t>
            </a:r>
            <a:r>
              <a:rPr lang="en-US" altLang="en-US" baseline="-25000" dirty="0"/>
              <a:t>3</a:t>
            </a:r>
            <a:r>
              <a:rPr lang="en-US" altLang="en-US" dirty="0"/>
              <a:t>, </a:t>
            </a:r>
            <a:r>
              <a:rPr lang="en-US" altLang="en-US" i="1" dirty="0"/>
              <a:t>T</a:t>
            </a:r>
            <a:r>
              <a:rPr lang="en-US" altLang="en-US" baseline="-25000" dirty="0"/>
              <a:t>4</a:t>
            </a:r>
            <a:r>
              <a:rPr lang="en-US" altLang="en-US" dirty="0"/>
              <a:t> &gt;, or the serial schedule &lt; </a:t>
            </a:r>
            <a:r>
              <a:rPr lang="en-US" altLang="en-US" i="1" dirty="0"/>
              <a:t>T</a:t>
            </a:r>
            <a:r>
              <a:rPr lang="en-US" altLang="en-US" baseline="-25000" dirty="0"/>
              <a:t>4</a:t>
            </a:r>
            <a:r>
              <a:rPr lang="en-US" altLang="en-US" dirty="0"/>
              <a:t>, </a:t>
            </a:r>
            <a:r>
              <a:rPr lang="en-US" altLang="en-US" i="1" dirty="0"/>
              <a:t>T</a:t>
            </a:r>
            <a:r>
              <a:rPr lang="en-US" altLang="en-US" baseline="-25000" dirty="0"/>
              <a:t>3</a:t>
            </a:r>
            <a:r>
              <a:rPr lang="en-US" altLang="en-US" dirty="0"/>
              <a:t> &gt;.</a:t>
            </a:r>
          </a:p>
        </p:txBody>
      </p:sp>
      <p:pic>
        <p:nvPicPr>
          <p:cNvPr id="245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0380" y="1557335"/>
            <a:ext cx="2840037"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a:t>
            </a:r>
          </a:p>
        </p:txBody>
      </p:sp>
      <p:sp>
        <p:nvSpPr>
          <p:cNvPr id="25603" name="Rectangle 3"/>
          <p:cNvSpPr>
            <a:spLocks noGrp="1" noChangeArrowheads="1"/>
          </p:cNvSpPr>
          <p:nvPr>
            <p:ph idx="1"/>
          </p:nvPr>
        </p:nvSpPr>
        <p:spPr>
          <a:xfrm>
            <a:off x="692458" y="1102497"/>
            <a:ext cx="7937192" cy="5367972"/>
          </a:xfrm>
        </p:spPr>
        <p:txBody>
          <a:bodyPr/>
          <a:lstStyle/>
          <a:p>
            <a:pPr>
              <a:defRPr/>
            </a:pPr>
            <a:r>
              <a:rPr lang="en-US" dirty="0"/>
              <a:t>Let </a:t>
            </a:r>
            <a:r>
              <a:rPr lang="en-US" i="1" dirty="0"/>
              <a:t>S</a:t>
            </a:r>
            <a:r>
              <a:rPr lang="en-US" dirty="0"/>
              <a:t> and </a:t>
            </a:r>
            <a:r>
              <a:rPr lang="en-US" i="1" dirty="0"/>
              <a:t>S’</a:t>
            </a:r>
            <a:r>
              <a:rPr lang="en-IN" dirty="0"/>
              <a:t> </a:t>
            </a:r>
            <a:r>
              <a:rPr lang="en-US" dirty="0"/>
              <a:t>be two schedules with the same set of transactions.  </a:t>
            </a:r>
            <a:r>
              <a:rPr lang="en-US" i="1" dirty="0"/>
              <a:t>S</a:t>
            </a:r>
            <a:r>
              <a:rPr lang="en-US" dirty="0"/>
              <a:t> and </a:t>
            </a:r>
            <a:r>
              <a:rPr lang="en-US" i="1" dirty="0"/>
              <a:t>S’ </a:t>
            </a:r>
            <a:r>
              <a:rPr lang="en-US" dirty="0"/>
              <a:t>are </a:t>
            </a:r>
            <a:r>
              <a:rPr lang="en-US" b="1" dirty="0">
                <a:solidFill>
                  <a:srgbClr val="000099"/>
                </a:solidFill>
              </a:rPr>
              <a:t>view equivalent</a:t>
            </a:r>
            <a:r>
              <a:rPr lang="en-US" i="1" dirty="0"/>
              <a:t> </a:t>
            </a:r>
            <a:r>
              <a:rPr lang="en-US" dirty="0"/>
              <a:t>if the following three conditions are met, for each data item </a:t>
            </a:r>
            <a:r>
              <a:rPr lang="en-US" i="1" dirty="0"/>
              <a:t>Q,</a:t>
            </a:r>
            <a:r>
              <a:rPr lang="en-US" dirty="0"/>
              <a:t> </a:t>
            </a:r>
          </a:p>
          <a:p>
            <a:pPr marL="457200" lvl="1" indent="0">
              <a:spcBef>
                <a:spcPts val="0"/>
              </a:spcBef>
              <a:buNone/>
              <a:defRPr/>
            </a:pPr>
            <a:r>
              <a:rPr lang="en-US" dirty="0">
                <a:solidFill>
                  <a:srgbClr val="FF9900"/>
                </a:solidFill>
              </a:rPr>
              <a:t>1.   </a:t>
            </a:r>
            <a:r>
              <a:rPr lang="en-US" dirty="0"/>
              <a:t>If in schedule S, transaction </a:t>
            </a:r>
            <a:r>
              <a:rPr lang="en-US" i="1" dirty="0"/>
              <a:t>T</a:t>
            </a:r>
            <a:r>
              <a:rPr lang="en-US" i="1" baseline="-25000" dirty="0"/>
              <a:t>i</a:t>
            </a:r>
            <a:r>
              <a:rPr lang="en-US" i="1" dirty="0"/>
              <a:t> </a:t>
            </a:r>
            <a:r>
              <a:rPr lang="en-US" dirty="0"/>
              <a:t>reads the initial value of </a:t>
            </a:r>
            <a:r>
              <a:rPr lang="en-US" i="1" dirty="0"/>
              <a:t>Q</a:t>
            </a:r>
            <a:r>
              <a:rPr lang="en-US" dirty="0"/>
              <a:t>, then in </a:t>
            </a:r>
          </a:p>
          <a:p>
            <a:pPr marL="457200" lvl="1" indent="0">
              <a:spcBef>
                <a:spcPts val="0"/>
              </a:spcBef>
              <a:buNone/>
              <a:defRPr/>
            </a:pPr>
            <a:r>
              <a:rPr lang="en-US" dirty="0"/>
              <a:t>      schedule </a:t>
            </a:r>
            <a:r>
              <a:rPr lang="en-US" i="1" dirty="0"/>
              <a:t>S</a:t>
            </a:r>
            <a:r>
              <a:rPr lang="en-IN" i="1" dirty="0"/>
              <a:t>’</a:t>
            </a:r>
            <a:r>
              <a:rPr lang="en-US" altLang="ja-JP" dirty="0"/>
              <a:t> also transaction </a:t>
            </a:r>
            <a:r>
              <a:rPr lang="en-US" altLang="ja-JP" i="1" dirty="0"/>
              <a:t>T</a:t>
            </a:r>
            <a:r>
              <a:rPr lang="en-US" altLang="ja-JP" i="1" baseline="-25000" dirty="0"/>
              <a:t>i</a:t>
            </a:r>
            <a:r>
              <a:rPr lang="en-US" altLang="ja-JP" i="1" dirty="0"/>
              <a:t> </a:t>
            </a:r>
            <a:r>
              <a:rPr lang="en-US" altLang="ja-JP" dirty="0"/>
              <a:t> must read the initial value of </a:t>
            </a:r>
            <a:r>
              <a:rPr lang="en-US" altLang="ja-JP" i="1" dirty="0"/>
              <a:t>Q.</a:t>
            </a:r>
          </a:p>
          <a:p>
            <a:pPr marL="457200" lvl="1" indent="0">
              <a:spcBef>
                <a:spcPts val="0"/>
              </a:spcBef>
              <a:buNone/>
              <a:defRPr/>
            </a:pPr>
            <a:r>
              <a:rPr lang="en-US" dirty="0">
                <a:solidFill>
                  <a:srgbClr val="FF9900"/>
                </a:solidFill>
              </a:rPr>
              <a:t>2.</a:t>
            </a:r>
            <a:r>
              <a:rPr lang="en-US" dirty="0"/>
              <a:t>   If in schedule S transaction </a:t>
            </a:r>
            <a:r>
              <a:rPr lang="en-US" i="1" dirty="0"/>
              <a:t>T</a:t>
            </a:r>
            <a:r>
              <a:rPr lang="en-US" i="1" baseline="-25000" dirty="0"/>
              <a:t>i</a:t>
            </a:r>
            <a:r>
              <a:rPr lang="en-US" i="1" dirty="0"/>
              <a:t> </a:t>
            </a:r>
            <a:r>
              <a:rPr lang="en-US" dirty="0"/>
              <a:t>executes </a:t>
            </a:r>
            <a:r>
              <a:rPr lang="en-US" b="1" dirty="0"/>
              <a:t>read</a:t>
            </a:r>
            <a:r>
              <a:rPr lang="en-US" dirty="0"/>
              <a:t>(</a:t>
            </a:r>
            <a:r>
              <a:rPr lang="en-US" i="1" dirty="0"/>
              <a:t>Q)</a:t>
            </a:r>
            <a:r>
              <a:rPr lang="en-US" dirty="0"/>
              <a:t>, and that value was </a:t>
            </a:r>
          </a:p>
          <a:p>
            <a:pPr marL="457200" lvl="1" indent="0">
              <a:spcBef>
                <a:spcPts val="0"/>
              </a:spcBef>
              <a:buNone/>
              <a:defRPr/>
            </a:pPr>
            <a:r>
              <a:rPr lang="en-US" dirty="0"/>
              <a:t>      produced by transaction </a:t>
            </a:r>
            <a:r>
              <a:rPr lang="en-US" i="1" dirty="0"/>
              <a:t>T</a:t>
            </a:r>
            <a:r>
              <a:rPr lang="en-US" i="1" baseline="-25000" dirty="0"/>
              <a:t>j</a:t>
            </a:r>
            <a:r>
              <a:rPr lang="en-US" dirty="0"/>
              <a:t> </a:t>
            </a:r>
            <a:r>
              <a:rPr lang="en-US" i="1" dirty="0"/>
              <a:t> </a:t>
            </a:r>
            <a:r>
              <a:rPr lang="en-US" dirty="0"/>
              <a:t>(if any), then in schedule </a:t>
            </a:r>
            <a:r>
              <a:rPr lang="en-US" i="1" dirty="0"/>
              <a:t>S</a:t>
            </a:r>
            <a:r>
              <a:rPr lang="en-IN" i="1" dirty="0"/>
              <a:t>’</a:t>
            </a:r>
            <a:r>
              <a:rPr lang="en-US" altLang="ja-JP" dirty="0"/>
              <a:t> also </a:t>
            </a:r>
          </a:p>
          <a:p>
            <a:pPr marL="457200" lvl="1" indent="0">
              <a:spcBef>
                <a:spcPts val="0"/>
              </a:spcBef>
              <a:buNone/>
              <a:defRPr/>
            </a:pPr>
            <a:r>
              <a:rPr lang="en-US" altLang="ja-JP" dirty="0"/>
              <a:t>      transaction </a:t>
            </a:r>
            <a:r>
              <a:rPr lang="en-US" altLang="ja-JP" i="1" dirty="0"/>
              <a:t>T</a:t>
            </a:r>
            <a:r>
              <a:rPr lang="en-US" altLang="ja-JP" i="1" baseline="-25000" dirty="0"/>
              <a:t>i</a:t>
            </a:r>
            <a:r>
              <a:rPr lang="en-US" altLang="ja-JP" dirty="0"/>
              <a:t> must read the value of </a:t>
            </a:r>
            <a:r>
              <a:rPr lang="en-US" altLang="ja-JP" i="1" dirty="0"/>
              <a:t>Q</a:t>
            </a:r>
            <a:r>
              <a:rPr lang="en-US" altLang="ja-JP" dirty="0"/>
              <a:t> that was produced by the </a:t>
            </a:r>
          </a:p>
          <a:p>
            <a:pPr marL="457200" lvl="1" indent="0">
              <a:spcBef>
                <a:spcPts val="0"/>
              </a:spcBef>
              <a:buNone/>
              <a:defRPr/>
            </a:pPr>
            <a:r>
              <a:rPr lang="en-US" altLang="ja-JP" dirty="0"/>
              <a:t>      same </a:t>
            </a:r>
            <a:r>
              <a:rPr lang="en-US" altLang="ja-JP" b="1" dirty="0"/>
              <a:t>write</a:t>
            </a:r>
            <a:r>
              <a:rPr lang="en-US" altLang="ja-JP" dirty="0"/>
              <a:t>(Q) operation of transaction </a:t>
            </a:r>
            <a:r>
              <a:rPr lang="en-US" altLang="ja-JP" i="1" dirty="0"/>
              <a:t>T</a:t>
            </a:r>
            <a:r>
              <a:rPr lang="en-US" altLang="ja-JP" i="1" baseline="-25000" dirty="0"/>
              <a:t>j</a:t>
            </a:r>
            <a:r>
              <a:rPr lang="en-US" altLang="ja-JP" dirty="0"/>
              <a:t> .</a:t>
            </a:r>
          </a:p>
          <a:p>
            <a:pPr marL="457200" lvl="1" indent="0">
              <a:spcBef>
                <a:spcPts val="0"/>
              </a:spcBef>
              <a:buNone/>
              <a:defRPr/>
            </a:pPr>
            <a:r>
              <a:rPr lang="en-US" dirty="0">
                <a:solidFill>
                  <a:srgbClr val="FF9900"/>
                </a:solidFill>
              </a:rPr>
              <a:t>3.   </a:t>
            </a:r>
            <a:r>
              <a:rPr lang="en-US" dirty="0"/>
              <a:t>The transaction (if any) that performs the final </a:t>
            </a:r>
            <a:r>
              <a:rPr lang="en-US" b="1" dirty="0"/>
              <a:t>write</a:t>
            </a:r>
            <a:r>
              <a:rPr lang="en-US" dirty="0"/>
              <a:t>(</a:t>
            </a:r>
            <a:r>
              <a:rPr lang="en-US" i="1" dirty="0"/>
              <a:t>Q</a:t>
            </a:r>
            <a:r>
              <a:rPr lang="en-US" dirty="0"/>
              <a:t>) operation in </a:t>
            </a:r>
          </a:p>
          <a:p>
            <a:pPr marL="457200" lvl="1" indent="0">
              <a:spcBef>
                <a:spcPts val="0"/>
              </a:spcBef>
              <a:buNone/>
              <a:defRPr/>
            </a:pPr>
            <a:r>
              <a:rPr lang="en-US" dirty="0"/>
              <a:t>      schedule </a:t>
            </a:r>
            <a:r>
              <a:rPr lang="en-US" i="1" dirty="0"/>
              <a:t>S </a:t>
            </a:r>
            <a:r>
              <a:rPr lang="en-US" dirty="0"/>
              <a:t>must also perform the final</a:t>
            </a:r>
            <a:r>
              <a:rPr lang="en-US" i="1" dirty="0"/>
              <a:t> </a:t>
            </a:r>
            <a:r>
              <a:rPr lang="en-US" b="1" dirty="0"/>
              <a:t>write</a:t>
            </a:r>
            <a:r>
              <a:rPr lang="en-US" dirty="0"/>
              <a:t>(</a:t>
            </a:r>
            <a:r>
              <a:rPr lang="en-US" i="1" dirty="0"/>
              <a:t>Q</a:t>
            </a:r>
            <a:r>
              <a:rPr lang="en-US" dirty="0"/>
              <a:t>) operation in schedule </a:t>
            </a:r>
            <a:r>
              <a:rPr lang="en-US" i="1" dirty="0"/>
              <a:t>S</a:t>
            </a:r>
            <a:r>
              <a:rPr lang="en-IN" altLang="ja-JP" i="1" dirty="0"/>
              <a:t>’</a:t>
            </a:r>
            <a:r>
              <a:rPr lang="en-US" altLang="ja-JP" i="1" dirty="0"/>
              <a:t>.</a:t>
            </a:r>
          </a:p>
          <a:p>
            <a:pPr marL="400050">
              <a:defRPr/>
            </a:pPr>
            <a:r>
              <a:rPr lang="en-US" dirty="0"/>
              <a:t>As can be seen, view equivalence is also based purely on </a:t>
            </a:r>
            <a:r>
              <a:rPr lang="en-US" b="1" dirty="0"/>
              <a:t>reads </a:t>
            </a:r>
            <a:r>
              <a:rPr lang="en-US" dirty="0"/>
              <a:t>and </a:t>
            </a:r>
            <a:r>
              <a:rPr lang="en-US" b="1" dirty="0"/>
              <a:t>writes</a:t>
            </a:r>
            <a:r>
              <a:rPr lang="en-US" dirty="0"/>
              <a:t> alone.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 (Cont.)</a:t>
            </a:r>
          </a:p>
        </p:txBody>
      </p:sp>
      <p:sp>
        <p:nvSpPr>
          <p:cNvPr id="26627" name="Rectangle 3"/>
          <p:cNvSpPr>
            <a:spLocks noGrp="1" noChangeArrowheads="1"/>
          </p:cNvSpPr>
          <p:nvPr>
            <p:ph idx="1"/>
          </p:nvPr>
        </p:nvSpPr>
        <p:spPr>
          <a:xfrm>
            <a:off x="683580" y="1102497"/>
            <a:ext cx="7634797" cy="5367972"/>
          </a:xfrm>
        </p:spPr>
        <p:txBody>
          <a:bodyPr/>
          <a:lstStyle/>
          <a:p>
            <a:pPr>
              <a:tabLst>
                <a:tab pos="1890713" algn="l"/>
                <a:tab pos="2338388" algn="l"/>
                <a:tab pos="2914650" algn="l"/>
                <a:tab pos="3203575" algn="l"/>
                <a:tab pos="3881438" algn="l"/>
                <a:tab pos="4286250" algn="l"/>
              </a:tabLst>
            </a:pPr>
            <a:r>
              <a:rPr lang="en-US" altLang="en-US"/>
              <a:t>A schedule </a:t>
            </a:r>
            <a:r>
              <a:rPr lang="en-US" altLang="en-US" i="1"/>
              <a:t>S</a:t>
            </a:r>
            <a:r>
              <a:rPr lang="en-US" altLang="en-US"/>
              <a:t> is </a:t>
            </a:r>
            <a:r>
              <a:rPr lang="en-US" altLang="en-US" b="1">
                <a:solidFill>
                  <a:srgbClr val="000099"/>
                </a:solidFill>
              </a:rPr>
              <a:t>view serializable</a:t>
            </a:r>
            <a:r>
              <a:rPr lang="en-US" altLang="en-US" i="1"/>
              <a:t> </a:t>
            </a:r>
            <a:r>
              <a:rPr lang="en-US" altLang="en-US"/>
              <a:t>if it is view equivalent to a serial schedule.</a:t>
            </a:r>
          </a:p>
          <a:p>
            <a:pPr>
              <a:tabLst>
                <a:tab pos="1890713" algn="l"/>
                <a:tab pos="2338388" algn="l"/>
                <a:tab pos="2914650" algn="l"/>
                <a:tab pos="3203575" algn="l"/>
                <a:tab pos="3881438" algn="l"/>
                <a:tab pos="4286250" algn="l"/>
              </a:tabLst>
            </a:pPr>
            <a:r>
              <a:rPr lang="en-US" altLang="en-US"/>
              <a:t>Every conflict serializable schedule is also view serializable.</a:t>
            </a:r>
          </a:p>
          <a:p>
            <a:pPr>
              <a:tabLst>
                <a:tab pos="1890713" algn="l"/>
                <a:tab pos="2338388" algn="l"/>
                <a:tab pos="2914650" algn="l"/>
                <a:tab pos="3203575" algn="l"/>
                <a:tab pos="3881438" algn="l"/>
                <a:tab pos="4286250" algn="l"/>
              </a:tabLst>
            </a:pPr>
            <a:r>
              <a:rPr lang="en-US" altLang="en-US"/>
              <a:t>Below is a schedule which is view-serializable but </a:t>
            </a:r>
            <a:r>
              <a:rPr lang="en-US" altLang="en-US" i="1"/>
              <a:t>not </a:t>
            </a:r>
            <a:r>
              <a:rPr lang="en-US" altLang="en-US"/>
              <a:t>conflict serializable.</a:t>
            </a:r>
            <a:br>
              <a:rPr lang="en-US" altLang="en-US"/>
            </a:br>
            <a:endParaRPr lang="en-US" altLang="en-US"/>
          </a:p>
          <a:p>
            <a:pPr>
              <a:buFont typeface="Monotype Sorts" charset="2"/>
              <a:buNone/>
              <a:tabLst>
                <a:tab pos="1890713" algn="l"/>
                <a:tab pos="2338388" algn="l"/>
                <a:tab pos="2914650" algn="l"/>
                <a:tab pos="3203575" algn="l"/>
                <a:tab pos="3881438" algn="l"/>
                <a:tab pos="4286250" algn="l"/>
              </a:tabLst>
            </a:pPr>
            <a:r>
              <a:rPr lang="en-US" altLang="en-US"/>
              <a:t>		</a:t>
            </a:r>
          </a:p>
          <a:p>
            <a:pPr>
              <a:buFont typeface="Monotype Sorts" charset="2"/>
              <a:buNone/>
              <a:tabLst>
                <a:tab pos="1890713" algn="l"/>
                <a:tab pos="2338388" algn="l"/>
                <a:tab pos="2914650" algn="l"/>
                <a:tab pos="3203575" algn="l"/>
                <a:tab pos="3881438" algn="l"/>
                <a:tab pos="4286250" algn="l"/>
              </a:tabLst>
            </a:pPr>
            <a:endParaRPr lang="en-US" altLang="en-US"/>
          </a:p>
          <a:p>
            <a:pPr>
              <a:tabLst>
                <a:tab pos="1890713" algn="l"/>
                <a:tab pos="2338388" algn="l"/>
                <a:tab pos="2914650" algn="l"/>
                <a:tab pos="3203575" algn="l"/>
                <a:tab pos="3881438" algn="l"/>
                <a:tab pos="4286250" algn="l"/>
              </a:tabLst>
            </a:pPr>
            <a:endParaRPr lang="en-US" altLang="en-US"/>
          </a:p>
          <a:p>
            <a:pPr>
              <a:buFont typeface="Monotype Sorts" charset="2"/>
              <a:buNone/>
              <a:tabLst>
                <a:tab pos="1890713" algn="l"/>
                <a:tab pos="2338388" algn="l"/>
                <a:tab pos="2914650" algn="l"/>
                <a:tab pos="3203575" algn="l"/>
                <a:tab pos="3881438" algn="l"/>
                <a:tab pos="4286250" algn="l"/>
              </a:tabLst>
            </a:pPr>
            <a:endParaRPr lang="en-US" altLang="en-US"/>
          </a:p>
          <a:p>
            <a:pPr>
              <a:tabLst>
                <a:tab pos="1890713" algn="l"/>
                <a:tab pos="2338388" algn="l"/>
                <a:tab pos="2914650" algn="l"/>
                <a:tab pos="3203575" algn="l"/>
                <a:tab pos="3881438" algn="l"/>
                <a:tab pos="4286250" algn="l"/>
              </a:tabLst>
            </a:pPr>
            <a:r>
              <a:rPr lang="en-US" altLang="en-US"/>
              <a:t>What serial schedule is above equivalent to?</a:t>
            </a:r>
          </a:p>
          <a:p>
            <a:pPr>
              <a:tabLst>
                <a:tab pos="1890713" algn="l"/>
                <a:tab pos="2338388" algn="l"/>
                <a:tab pos="2914650" algn="l"/>
                <a:tab pos="3203575" algn="l"/>
                <a:tab pos="3881438" algn="l"/>
                <a:tab pos="4286250" algn="l"/>
              </a:tabLst>
            </a:pPr>
            <a:r>
              <a:rPr lang="en-US" altLang="en-US"/>
              <a:t>Every view serializable schedule that is not conflict serializable has </a:t>
            </a:r>
            <a:r>
              <a:rPr lang="en-US" altLang="en-US" b="1">
                <a:solidFill>
                  <a:srgbClr val="000099"/>
                </a:solidFill>
              </a:rPr>
              <a:t>blind writes</a:t>
            </a:r>
            <a:r>
              <a:rPr lang="en-US" altLang="en-US" b="1"/>
              <a:t>.</a:t>
            </a:r>
          </a:p>
        </p:txBody>
      </p:sp>
      <p:pic>
        <p:nvPicPr>
          <p:cNvPr id="26628" name="Picture 4" descr="New PDF from Images Output-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7613" y="2590707"/>
            <a:ext cx="293687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Other Notions of Serializability</a:t>
            </a:r>
          </a:p>
        </p:txBody>
      </p:sp>
      <p:sp>
        <p:nvSpPr>
          <p:cNvPr id="27651" name="Rectangle 3"/>
          <p:cNvSpPr>
            <a:spLocks noGrp="1" noChangeArrowheads="1"/>
          </p:cNvSpPr>
          <p:nvPr>
            <p:ph idx="1"/>
          </p:nvPr>
        </p:nvSpPr>
        <p:spPr>
          <a:xfrm>
            <a:off x="683581" y="1102497"/>
            <a:ext cx="7066626" cy="5367972"/>
          </a:xfrm>
        </p:spPr>
        <p:txBody>
          <a:bodyPr/>
          <a:lstStyle/>
          <a:p>
            <a:pPr>
              <a:tabLst>
                <a:tab pos="2120900" algn="l"/>
                <a:tab pos="2568575" algn="l"/>
                <a:tab pos="3600450" algn="l"/>
                <a:tab pos="3940175" algn="l"/>
              </a:tabLst>
            </a:pPr>
            <a:r>
              <a:rPr lang="en-US" altLang="en-US" dirty="0"/>
              <a:t>The schedule below produces same outcome as the serial schedule &lt; </a:t>
            </a:r>
            <a:r>
              <a:rPr lang="en-US" altLang="en-US" i="1" dirty="0"/>
              <a:t>T</a:t>
            </a:r>
            <a:r>
              <a:rPr lang="en-US" altLang="en-US" baseline="-25000" dirty="0"/>
              <a:t>1</a:t>
            </a:r>
            <a:r>
              <a:rPr lang="en-US" altLang="en-US" dirty="0"/>
              <a:t>,</a:t>
            </a:r>
            <a:r>
              <a:rPr lang="en-US" altLang="en-US" baseline="-25000" dirty="0"/>
              <a:t> </a:t>
            </a:r>
            <a:r>
              <a:rPr lang="en-US" altLang="en-US" i="1" dirty="0"/>
              <a:t>T</a:t>
            </a:r>
            <a:r>
              <a:rPr lang="en-US" altLang="en-US" baseline="-25000" dirty="0"/>
              <a:t>5</a:t>
            </a:r>
            <a:r>
              <a:rPr lang="en-US" altLang="en-US" dirty="0"/>
              <a:t> &gt;, yet is not conflict equivalent or view equivalent to it.</a:t>
            </a:r>
          </a:p>
          <a:p>
            <a:pPr>
              <a:buFont typeface="Monotype Sorts" charset="2"/>
              <a:buNone/>
              <a:tabLst>
                <a:tab pos="2120900" algn="l"/>
                <a:tab pos="2568575" algn="l"/>
                <a:tab pos="3600450" algn="l"/>
                <a:tab pos="3940175" algn="l"/>
              </a:tabLst>
            </a:pPr>
            <a:r>
              <a:rPr lang="en-US" altLang="en-US" dirty="0"/>
              <a:t>		</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buFont typeface="Monotype Sorts" charset="2"/>
              <a:buNone/>
              <a:tabLst>
                <a:tab pos="2120900" algn="l"/>
                <a:tab pos="2568575" algn="l"/>
                <a:tab pos="3600450" algn="l"/>
                <a:tab pos="3940175" algn="l"/>
              </a:tabLst>
            </a:pPr>
            <a:r>
              <a:rPr lang="en-US" altLang="en-US" dirty="0"/>
              <a:t/>
            </a:r>
            <a:br>
              <a:rPr lang="en-US" altLang="en-US" dirty="0"/>
            </a:br>
            <a:r>
              <a:rPr lang="en-US" altLang="en-US" dirty="0"/>
              <a:t/>
            </a:r>
            <a:br>
              <a:rPr lang="en-US" altLang="en-US" dirty="0"/>
            </a:br>
            <a:endParaRPr lang="en-US" altLang="en-US" dirty="0"/>
          </a:p>
          <a:p>
            <a:pPr>
              <a:buFont typeface="Monotype Sorts" charset="2"/>
              <a:buNone/>
              <a:tabLst>
                <a:tab pos="2120900" algn="l"/>
                <a:tab pos="2568575" algn="l"/>
                <a:tab pos="3600450" algn="l"/>
                <a:tab pos="3940175" algn="l"/>
              </a:tabLst>
            </a:pPr>
            <a:endParaRPr lang="en-US" altLang="en-US" dirty="0"/>
          </a:p>
          <a:p>
            <a:pPr>
              <a:tabLst>
                <a:tab pos="2120900" algn="l"/>
                <a:tab pos="2568575" algn="l"/>
                <a:tab pos="3600450" algn="l"/>
                <a:tab pos="3940175" algn="l"/>
              </a:tabLst>
            </a:pPr>
            <a:r>
              <a:rPr lang="en-US" altLang="en-US" dirty="0"/>
              <a:t>Determining such equivalence requires analysis of operations other than read and write.</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p:txBody>
      </p:sp>
      <p:pic>
        <p:nvPicPr>
          <p:cNvPr id="2765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4799" y="1966118"/>
            <a:ext cx="2844800"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a:defRPr/>
            </a:pPr>
            <a:r>
              <a:rPr lang="en-US" dirty="0" smtClean="0">
                <a:effectLst>
                  <a:outerShdw blurRad="38100" dist="38100" dir="2700000" algn="tl">
                    <a:srgbClr val="C0C0C0"/>
                  </a:outerShdw>
                </a:effectLst>
              </a:rPr>
              <a:t>Testing for Serializability </a:t>
            </a:r>
            <a:endParaRPr lang="en-US" dirty="0">
              <a:effectLst>
                <a:outerShdw blurRad="38100" dist="38100" dir="2700000" algn="tl">
                  <a:srgbClr val="C0C0C0"/>
                </a:outerShdw>
              </a:effectLst>
            </a:endParaRPr>
          </a:p>
        </p:txBody>
      </p:sp>
      <p:sp>
        <p:nvSpPr>
          <p:cNvPr id="28675" name="Rectangle 3"/>
          <p:cNvSpPr>
            <a:spLocks noGrp="1" noChangeArrowheads="1"/>
          </p:cNvSpPr>
          <p:nvPr>
            <p:ph idx="1"/>
          </p:nvPr>
        </p:nvSpPr>
        <p:spPr>
          <a:xfrm>
            <a:off x="692458" y="1102497"/>
            <a:ext cx="7522855" cy="5367972"/>
          </a:xfrm>
        </p:spPr>
        <p:txBody>
          <a:bodyPr/>
          <a:lstStyle/>
          <a:p>
            <a:r>
              <a:rPr lang="en-US" altLang="en-US" dirty="0"/>
              <a:t>Consider some schedule of a set of transactions </a:t>
            </a:r>
            <a:r>
              <a:rPr lang="en-US" altLang="en-US" i="1" dirty="0"/>
              <a:t>T</a:t>
            </a:r>
            <a:r>
              <a:rPr lang="en-US" altLang="en-US" baseline="-25000" dirty="0"/>
              <a:t>1</a:t>
            </a:r>
            <a:r>
              <a:rPr lang="en-US" altLang="en-US" dirty="0"/>
              <a:t>, </a:t>
            </a:r>
            <a:r>
              <a:rPr lang="en-US" altLang="en-US" i="1" dirty="0"/>
              <a:t>T</a:t>
            </a:r>
            <a:r>
              <a:rPr lang="en-US" altLang="en-US" baseline="-25000" dirty="0"/>
              <a:t>2</a:t>
            </a:r>
            <a:r>
              <a:rPr lang="en-US" altLang="en-US" dirty="0"/>
              <a:t>, ..., </a:t>
            </a:r>
            <a:r>
              <a:rPr lang="en-US" altLang="en-US" i="1" dirty="0"/>
              <a:t>T</a:t>
            </a:r>
            <a:r>
              <a:rPr lang="en-US" altLang="en-US" i="1" baseline="-25000" dirty="0"/>
              <a:t>n</a:t>
            </a:r>
            <a:endParaRPr lang="en-US" altLang="en-US" dirty="0"/>
          </a:p>
          <a:p>
            <a:r>
              <a:rPr lang="en-US" altLang="en-US" b="1" dirty="0">
                <a:solidFill>
                  <a:srgbClr val="000099"/>
                </a:solidFill>
              </a:rPr>
              <a:t>Precedence graph</a:t>
            </a:r>
            <a:r>
              <a:rPr lang="en-US" altLang="en-US" i="1" dirty="0"/>
              <a:t> </a:t>
            </a:r>
            <a:r>
              <a:rPr lang="en-US" altLang="en-US" dirty="0"/>
              <a:t>— a direct graph where the vertices are the transactions (names).</a:t>
            </a:r>
          </a:p>
          <a:p>
            <a:r>
              <a:rPr lang="en-US" altLang="en-US" dirty="0"/>
              <a:t>We draw an arc from </a:t>
            </a:r>
            <a:r>
              <a:rPr lang="en-US" altLang="en-US" i="1" dirty="0"/>
              <a:t>T</a:t>
            </a:r>
            <a:r>
              <a:rPr lang="en-US" altLang="en-US" i="1" baseline="-25000" dirty="0"/>
              <a:t>i</a:t>
            </a:r>
            <a:r>
              <a:rPr lang="en-US" altLang="en-US" i="1" dirty="0"/>
              <a:t> </a:t>
            </a:r>
            <a:r>
              <a:rPr lang="en-US" altLang="en-US" dirty="0"/>
              <a:t>to </a:t>
            </a:r>
            <a:r>
              <a:rPr lang="en-US" altLang="en-US" i="1" dirty="0"/>
              <a:t>T</a:t>
            </a:r>
            <a:r>
              <a:rPr lang="en-US" altLang="en-US" i="1" baseline="-25000" dirty="0"/>
              <a:t>j</a:t>
            </a:r>
            <a:r>
              <a:rPr lang="en-US" altLang="en-US" i="1" dirty="0"/>
              <a:t> </a:t>
            </a:r>
            <a:r>
              <a:rPr lang="en-US" altLang="en-US" dirty="0"/>
              <a:t>if the two transaction conflict, and </a:t>
            </a:r>
            <a:r>
              <a:rPr lang="en-US" altLang="en-US" i="1" dirty="0"/>
              <a:t>T</a:t>
            </a:r>
            <a:r>
              <a:rPr lang="en-US" altLang="en-US" i="1" baseline="-25000" dirty="0"/>
              <a:t>i</a:t>
            </a:r>
            <a:r>
              <a:rPr lang="en-US" altLang="en-US" i="1" dirty="0"/>
              <a:t> </a:t>
            </a:r>
            <a:r>
              <a:rPr lang="en-US" altLang="en-US" dirty="0"/>
              <a:t>accessed the data item on which the conflict arose earlier.</a:t>
            </a:r>
          </a:p>
          <a:p>
            <a:r>
              <a:rPr lang="en-US" altLang="en-US" dirty="0"/>
              <a:t>We may label the arc by the item that was accessed.</a:t>
            </a:r>
          </a:p>
          <a:p>
            <a:r>
              <a:rPr lang="en-US" altLang="en-US" dirty="0"/>
              <a:t>Example</a:t>
            </a:r>
            <a:r>
              <a:rPr lang="en-US" altLang="en-US" b="1" dirty="0"/>
              <a:t> </a:t>
            </a:r>
            <a:r>
              <a:rPr lang="en-US" altLang="en-US" dirty="0" smtClean="0"/>
              <a:t>of a precedence graph</a:t>
            </a:r>
            <a:endParaRPr lang="en-US" altLang="en-US" dirty="0"/>
          </a:p>
        </p:txBody>
      </p:sp>
      <p:pic>
        <p:nvPicPr>
          <p:cNvPr id="2867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379" y="3471867"/>
            <a:ext cx="2174782"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p>
        </p:txBody>
      </p:sp>
      <p:sp>
        <p:nvSpPr>
          <p:cNvPr id="29699" name="Rectangle 3"/>
          <p:cNvSpPr>
            <a:spLocks noGrp="1" noChangeArrowheads="1"/>
          </p:cNvSpPr>
          <p:nvPr>
            <p:ph idx="1"/>
          </p:nvPr>
        </p:nvSpPr>
        <p:spPr>
          <a:xfrm>
            <a:off x="665825" y="1102497"/>
            <a:ext cx="4919966" cy="5367972"/>
          </a:xfrm>
        </p:spPr>
        <p:txBody>
          <a:bodyPr/>
          <a:lstStyle/>
          <a:p>
            <a:r>
              <a:rPr lang="en-US" altLang="en-US" dirty="0"/>
              <a:t>A schedule is conflict serializable if and only if its precedence graph is acyclic.</a:t>
            </a:r>
          </a:p>
          <a:p>
            <a:r>
              <a:rPr lang="en-US" altLang="en-US" dirty="0"/>
              <a:t>Cycle-detection algorithms exist which take order </a:t>
            </a:r>
            <a:r>
              <a:rPr lang="en-US" altLang="en-US" i="1" dirty="0"/>
              <a:t>n</a:t>
            </a:r>
            <a:r>
              <a:rPr lang="en-US" altLang="en-US" baseline="30000" dirty="0"/>
              <a:t>2</a:t>
            </a:r>
            <a:r>
              <a:rPr lang="en-US" altLang="en-US" dirty="0"/>
              <a:t> time, where </a:t>
            </a:r>
            <a:r>
              <a:rPr lang="en-US" altLang="en-US" i="1" dirty="0"/>
              <a:t>n </a:t>
            </a:r>
            <a:r>
              <a:rPr lang="en-US" altLang="en-US" dirty="0"/>
              <a:t>is the number of vertices in the graph.  </a:t>
            </a:r>
          </a:p>
          <a:p>
            <a:pPr lvl="1"/>
            <a:r>
              <a:rPr lang="en-US" altLang="en-US" dirty="0"/>
              <a:t>(Better algorithms take order </a:t>
            </a:r>
            <a:r>
              <a:rPr lang="en-US" altLang="en-US" i="1" dirty="0"/>
              <a:t>n</a:t>
            </a:r>
            <a:r>
              <a:rPr lang="en-US" altLang="en-US" dirty="0"/>
              <a:t> + </a:t>
            </a:r>
            <a:r>
              <a:rPr lang="en-US" altLang="en-US" i="1" dirty="0"/>
              <a:t>e</a:t>
            </a:r>
            <a:r>
              <a:rPr lang="en-US" altLang="en-US" dirty="0"/>
              <a:t> where </a:t>
            </a:r>
            <a:r>
              <a:rPr lang="en-US" altLang="en-US" i="1" dirty="0"/>
              <a:t>e</a:t>
            </a:r>
            <a:r>
              <a:rPr lang="en-US" altLang="en-US" dirty="0"/>
              <a:t> is the number of edges.)</a:t>
            </a:r>
          </a:p>
          <a:p>
            <a:r>
              <a:rPr lang="en-US" altLang="en-US" dirty="0"/>
              <a:t>If precedence graph is acyclic, the serializability order can be obtained by a </a:t>
            </a:r>
            <a:r>
              <a:rPr lang="en-US" altLang="en-US" i="1" dirty="0">
                <a:solidFill>
                  <a:srgbClr val="000099"/>
                </a:solidFill>
              </a:rPr>
              <a:t>topological sorting</a:t>
            </a:r>
            <a:r>
              <a:rPr lang="en-US" altLang="en-US" dirty="0"/>
              <a:t> of the graph. </a:t>
            </a:r>
          </a:p>
          <a:p>
            <a:pPr lvl="1"/>
            <a:r>
              <a:rPr lang="en-US" altLang="en-US" dirty="0"/>
              <a:t> This is a linear order consistent with the partial order of the graph.</a:t>
            </a:r>
          </a:p>
          <a:p>
            <a:pPr lvl="1"/>
            <a:r>
              <a:rPr lang="en-US" altLang="en-US" dirty="0"/>
              <a:t>For example, a serializability order for Schedule A would be</a:t>
            </a:r>
            <a:br>
              <a:rPr lang="en-US" altLang="en-US" dirty="0"/>
            </a:br>
            <a:r>
              <a:rPr lang="en-US" altLang="en-US" i="1" dirty="0"/>
              <a:t>T</a:t>
            </a:r>
            <a:r>
              <a:rPr lang="en-US" altLang="en-US" baseline="-25000" dirty="0"/>
              <a:t>5</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1</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3</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2</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4</a:t>
            </a:r>
            <a:endParaRPr lang="en-US" altLang="en-US" dirty="0"/>
          </a:p>
          <a:p>
            <a:pPr lvl="2"/>
            <a:r>
              <a:rPr lang="en-US" altLang="en-US" dirty="0">
                <a:sym typeface="Monotype Sorts" charset="2"/>
              </a:rPr>
              <a:t>Are there others?</a:t>
            </a:r>
          </a:p>
        </p:txBody>
      </p:sp>
      <p:pic>
        <p:nvPicPr>
          <p:cNvPr id="2970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9613" y="1055688"/>
            <a:ext cx="2954337"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View Serializability</a:t>
            </a:r>
          </a:p>
        </p:txBody>
      </p:sp>
      <p:sp>
        <p:nvSpPr>
          <p:cNvPr id="30723" name="Rectangle 3"/>
          <p:cNvSpPr>
            <a:spLocks noGrp="1" noChangeArrowheads="1"/>
          </p:cNvSpPr>
          <p:nvPr>
            <p:ph idx="1"/>
          </p:nvPr>
        </p:nvSpPr>
        <p:spPr>
          <a:xfrm>
            <a:off x="701336" y="1102497"/>
            <a:ext cx="7581530" cy="5367972"/>
          </a:xfrm>
        </p:spPr>
        <p:txBody>
          <a:bodyPr/>
          <a:lstStyle/>
          <a:p>
            <a:r>
              <a:rPr lang="en-US" altLang="en-US" dirty="0"/>
              <a:t>The precedence graph test for conflict serializability cannot be used directly to test for view serializability.</a:t>
            </a:r>
          </a:p>
          <a:p>
            <a:pPr lvl="1"/>
            <a:r>
              <a:rPr lang="en-US" altLang="en-US" dirty="0"/>
              <a:t>Extension to test for view serializability has cost exponential in the size of the precedence graph.</a:t>
            </a:r>
          </a:p>
          <a:p>
            <a:r>
              <a:rPr lang="en-US" altLang="en-US" dirty="0"/>
              <a:t>The problem of checking if a schedule is view serializable falls in the class of </a:t>
            </a:r>
            <a:r>
              <a:rPr lang="en-US" altLang="en-US" i="1" dirty="0"/>
              <a:t>NP</a:t>
            </a:r>
            <a:r>
              <a:rPr lang="en-US" altLang="en-US" dirty="0"/>
              <a:t>-complete problems. </a:t>
            </a:r>
          </a:p>
          <a:p>
            <a:pPr lvl="1"/>
            <a:r>
              <a:rPr lang="en-US" altLang="en-US" dirty="0" smtClean="0"/>
              <a:t>Thus, </a:t>
            </a:r>
            <a:r>
              <a:rPr lang="en-US" altLang="en-US" dirty="0"/>
              <a:t>existence of an efficient algorithm is </a:t>
            </a:r>
            <a:r>
              <a:rPr lang="en-US" altLang="en-US" i="1" dirty="0"/>
              <a:t>extremely</a:t>
            </a:r>
            <a:r>
              <a:rPr lang="en-US" altLang="en-US" dirty="0"/>
              <a:t> unlikely.</a:t>
            </a:r>
          </a:p>
          <a:p>
            <a:r>
              <a:rPr lang="en-US" altLang="en-US" dirty="0"/>
              <a:t>However practical algorithms that just check some </a:t>
            </a:r>
            <a:r>
              <a:rPr lang="en-US" altLang="en-US" b="1" dirty="0"/>
              <a:t>sufficient</a:t>
            </a:r>
            <a:r>
              <a:rPr lang="en-US" altLang="en-US" i="1" dirty="0"/>
              <a:t> </a:t>
            </a:r>
            <a:r>
              <a:rPr lang="en-US" altLang="en-US" b="1" dirty="0"/>
              <a:t>conditions</a:t>
            </a:r>
            <a:r>
              <a:rPr lang="en-US" altLang="en-US" dirty="0"/>
              <a:t> for view serializability can still be used.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Recoverable Schedules</a:t>
            </a:r>
          </a:p>
        </p:txBody>
      </p:sp>
      <p:sp>
        <p:nvSpPr>
          <p:cNvPr id="31747" name="Rectangle 3"/>
          <p:cNvSpPr>
            <a:spLocks noGrp="1" noChangeArrowheads="1"/>
          </p:cNvSpPr>
          <p:nvPr>
            <p:ph idx="1"/>
          </p:nvPr>
        </p:nvSpPr>
        <p:spPr>
          <a:xfrm>
            <a:off x="701336" y="1686901"/>
            <a:ext cx="7776839" cy="4783568"/>
          </a:xfrm>
        </p:spPr>
        <p:txBody>
          <a:bodyPr/>
          <a:lstStyle/>
          <a:p>
            <a:pPr>
              <a:tabLst>
                <a:tab pos="2395538" algn="l"/>
                <a:tab pos="2857500" algn="l"/>
                <a:tab pos="3549650" algn="l"/>
                <a:tab pos="3997325" algn="l"/>
              </a:tabLst>
            </a:pPr>
            <a:r>
              <a:rPr lang="en-US" altLang="en-US" b="1" dirty="0">
                <a:solidFill>
                  <a:srgbClr val="000099"/>
                </a:solidFill>
              </a:rPr>
              <a:t>Recoverable</a:t>
            </a:r>
            <a:r>
              <a:rPr lang="en-US" altLang="en-US" b="1" i="1" dirty="0">
                <a:solidFill>
                  <a:srgbClr val="000099"/>
                </a:solidFill>
              </a:rPr>
              <a:t> </a:t>
            </a:r>
            <a:r>
              <a:rPr lang="en-US" altLang="en-US" b="1" dirty="0">
                <a:solidFill>
                  <a:srgbClr val="000099"/>
                </a:solidFill>
              </a:rPr>
              <a:t>schedule</a:t>
            </a:r>
            <a:r>
              <a:rPr lang="en-US" altLang="en-US" dirty="0"/>
              <a:t> — if a transaction </a:t>
            </a:r>
            <a:r>
              <a:rPr lang="en-US" altLang="en-US" i="1" dirty="0"/>
              <a:t>T</a:t>
            </a:r>
            <a:r>
              <a:rPr lang="en-US" altLang="en-US" i="1" baseline="-25000" dirty="0"/>
              <a:t>j</a:t>
            </a:r>
            <a:r>
              <a:rPr lang="en-US" altLang="en-US" dirty="0"/>
              <a:t> reads a data item previously written by a transaction </a:t>
            </a:r>
            <a:r>
              <a:rPr lang="en-US" altLang="en-US" i="1" dirty="0"/>
              <a:t>T</a:t>
            </a:r>
            <a:r>
              <a:rPr lang="en-US" altLang="en-US" i="1" baseline="-25000" dirty="0"/>
              <a:t>i </a:t>
            </a:r>
            <a:r>
              <a:rPr lang="en-US" altLang="en-US" dirty="0"/>
              <a:t>, then the commit operation of </a:t>
            </a:r>
            <a:r>
              <a:rPr lang="en-US" altLang="en-US" i="1" dirty="0"/>
              <a:t>T</a:t>
            </a:r>
            <a:r>
              <a:rPr lang="en-US" altLang="en-US" i="1" baseline="-25000" dirty="0"/>
              <a:t>i</a:t>
            </a:r>
            <a:r>
              <a:rPr lang="en-US" altLang="en-US" i="1" dirty="0"/>
              <a:t> </a:t>
            </a:r>
            <a:r>
              <a:rPr lang="en-US" altLang="en-US" dirty="0"/>
              <a:t> appears before the commit operation of </a:t>
            </a:r>
            <a:r>
              <a:rPr lang="en-US" altLang="en-US" i="1" dirty="0"/>
              <a:t>T</a:t>
            </a:r>
            <a:r>
              <a:rPr lang="en-US" altLang="en-US" i="1" baseline="-25000" dirty="0"/>
              <a:t>j</a:t>
            </a:r>
            <a:r>
              <a:rPr lang="en-US" altLang="en-US" i="1" dirty="0"/>
              <a:t>.</a:t>
            </a:r>
            <a:endParaRPr lang="en-US" altLang="en-US" dirty="0"/>
          </a:p>
          <a:p>
            <a:pPr>
              <a:tabLst>
                <a:tab pos="2395538" algn="l"/>
                <a:tab pos="2857500" algn="l"/>
                <a:tab pos="3549650" algn="l"/>
                <a:tab pos="3997325" algn="l"/>
              </a:tabLst>
            </a:pPr>
            <a:r>
              <a:rPr lang="en-US" altLang="en-US" dirty="0"/>
              <a:t>The following schedule (Schedule 11) is not recoverable</a:t>
            </a:r>
            <a:br>
              <a:rPr lang="en-US" altLang="en-US" dirty="0"/>
            </a:br>
            <a:r>
              <a:rPr lang="en-US" altLang="en-US" dirty="0"/>
              <a:t>		</a:t>
            </a:r>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r>
              <a:rPr lang="en-US" altLang="en-US" dirty="0"/>
              <a:t>If </a:t>
            </a:r>
            <a:r>
              <a:rPr lang="en-US" altLang="en-US" i="1" dirty="0"/>
              <a:t>T</a:t>
            </a:r>
            <a:r>
              <a:rPr lang="en-US" altLang="en-US" baseline="-25000" dirty="0"/>
              <a:t>8</a:t>
            </a:r>
            <a:r>
              <a:rPr lang="en-US" altLang="en-US" sz="1600" dirty="0"/>
              <a:t> </a:t>
            </a:r>
            <a:r>
              <a:rPr lang="en-US" altLang="en-US" dirty="0"/>
              <a:t>should abort, </a:t>
            </a:r>
            <a:r>
              <a:rPr lang="en-US" altLang="en-US" i="1" dirty="0"/>
              <a:t>T</a:t>
            </a:r>
            <a:r>
              <a:rPr lang="en-US" altLang="en-US" baseline="-25000" dirty="0"/>
              <a:t>9</a:t>
            </a:r>
            <a:r>
              <a:rPr lang="en-US" altLang="en-US" dirty="0"/>
              <a:t> would have read (and possibly shown to the user) an inconsistent database state.  Hence, database must ensure that schedules are recoverable.</a:t>
            </a:r>
          </a:p>
        </p:txBody>
      </p:sp>
      <p:sp>
        <p:nvSpPr>
          <p:cNvPr id="31748" name="Text Box 6"/>
          <p:cNvSpPr txBox="1">
            <a:spLocks noChangeArrowheads="1"/>
          </p:cNvSpPr>
          <p:nvPr/>
        </p:nvSpPr>
        <p:spPr bwMode="auto">
          <a:xfrm>
            <a:off x="701336" y="1071347"/>
            <a:ext cx="768806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700" dirty="0"/>
              <a:t>Need to address the effect of transaction failures on concurrently </a:t>
            </a:r>
            <a:br>
              <a:rPr lang="en-US" altLang="en-US" sz="1700" dirty="0"/>
            </a:br>
            <a:r>
              <a:rPr lang="en-US" altLang="en-US" sz="1700" dirty="0"/>
              <a:t>running transactions.</a:t>
            </a:r>
          </a:p>
        </p:txBody>
      </p:sp>
      <p:pic>
        <p:nvPicPr>
          <p:cNvPr id="3174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814" y="2971608"/>
            <a:ext cx="2913063"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Cascading Rollbacks</a:t>
            </a:r>
          </a:p>
        </p:txBody>
      </p:sp>
      <p:sp>
        <p:nvSpPr>
          <p:cNvPr id="32771" name="Rectangle 3"/>
          <p:cNvSpPr>
            <a:spLocks noGrp="1" noChangeArrowheads="1"/>
          </p:cNvSpPr>
          <p:nvPr>
            <p:ph idx="1"/>
          </p:nvPr>
        </p:nvSpPr>
        <p:spPr>
          <a:xfrm>
            <a:off x="674703" y="1102497"/>
            <a:ext cx="7776840" cy="5367972"/>
          </a:xfrm>
        </p:spPr>
        <p:txBody>
          <a:bodyPr/>
          <a:lstStyle/>
          <a:p>
            <a:pPr>
              <a:tabLst>
                <a:tab pos="1658938" algn="l"/>
                <a:tab pos="2120900" algn="l"/>
                <a:tab pos="2684463" algn="l"/>
                <a:tab pos="3030538" algn="l"/>
                <a:tab pos="3767138" algn="l"/>
                <a:tab pos="4056063" algn="l"/>
              </a:tabLst>
            </a:pPr>
            <a:r>
              <a:rPr lang="en-US" altLang="en-US" b="1" dirty="0">
                <a:solidFill>
                  <a:srgbClr val="000099"/>
                </a:solidFill>
              </a:rPr>
              <a:t>Cascading rollback</a:t>
            </a:r>
            <a:r>
              <a:rPr lang="en-US" altLang="en-US" dirty="0"/>
              <a:t> – a single transaction failure leads to a series of transaction rollbacks.  Consider the following schedule where none of the transactions has yet committed (so the schedule is recoverable)</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If </a:t>
            </a:r>
            <a:r>
              <a:rPr lang="en-US" altLang="en-US" i="1" dirty="0"/>
              <a:t>T</a:t>
            </a:r>
            <a:r>
              <a:rPr lang="en-US" altLang="en-US" baseline="-25000" dirty="0"/>
              <a:t>10</a:t>
            </a:r>
            <a:r>
              <a:rPr lang="en-US" altLang="en-US" dirty="0"/>
              <a:t> fails, </a:t>
            </a:r>
            <a:r>
              <a:rPr lang="en-US" altLang="en-US" i="1" dirty="0"/>
              <a:t>T</a:t>
            </a:r>
            <a:r>
              <a:rPr lang="en-US" altLang="en-US" baseline="-25000" dirty="0"/>
              <a:t>11</a:t>
            </a:r>
            <a:r>
              <a:rPr lang="en-US" altLang="en-US" dirty="0"/>
              <a:t> and </a:t>
            </a:r>
            <a:r>
              <a:rPr lang="en-US" altLang="en-US" i="1" dirty="0"/>
              <a:t>T</a:t>
            </a:r>
            <a:r>
              <a:rPr lang="en-US" altLang="en-US" baseline="-25000" dirty="0"/>
              <a:t>12</a:t>
            </a:r>
            <a:r>
              <a:rPr lang="en-US" altLang="en-US" dirty="0"/>
              <a:t> must also be rolled back.</a:t>
            </a:r>
          </a:p>
          <a:p>
            <a:pPr>
              <a:tabLst>
                <a:tab pos="1658938" algn="l"/>
                <a:tab pos="2120900" algn="l"/>
                <a:tab pos="2684463" algn="l"/>
                <a:tab pos="3030538" algn="l"/>
                <a:tab pos="3767138" algn="l"/>
                <a:tab pos="4056063" algn="l"/>
              </a:tabLst>
            </a:pPr>
            <a:r>
              <a:rPr lang="en-US" altLang="en-US" dirty="0"/>
              <a:t>Can lead to the undoing of a significant amount of work</a:t>
            </a:r>
          </a:p>
        </p:txBody>
      </p:sp>
      <p:pic>
        <p:nvPicPr>
          <p:cNvPr id="3277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647" y="2122396"/>
            <a:ext cx="3429000"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Cascadeless Schedules</a:t>
            </a:r>
          </a:p>
        </p:txBody>
      </p:sp>
      <p:sp>
        <p:nvSpPr>
          <p:cNvPr id="33795" name="Rectangle 3"/>
          <p:cNvSpPr>
            <a:spLocks noGrp="1" noChangeArrowheads="1"/>
          </p:cNvSpPr>
          <p:nvPr>
            <p:ph idx="1"/>
          </p:nvPr>
        </p:nvSpPr>
        <p:spPr>
          <a:xfrm>
            <a:off x="692458" y="1102497"/>
            <a:ext cx="7776839" cy="5367972"/>
          </a:xfrm>
        </p:spPr>
        <p:txBody>
          <a:bodyPr/>
          <a:lstStyle/>
          <a:p>
            <a:r>
              <a:rPr lang="en-US" altLang="en-US" b="1" dirty="0">
                <a:solidFill>
                  <a:srgbClr val="000099"/>
                </a:solidFill>
              </a:rPr>
              <a:t>Cascadeless</a:t>
            </a:r>
            <a:r>
              <a:rPr lang="en-US" altLang="en-US" b="1" i="1" dirty="0">
                <a:solidFill>
                  <a:srgbClr val="000099"/>
                </a:solidFill>
              </a:rPr>
              <a:t> </a:t>
            </a:r>
            <a:r>
              <a:rPr lang="en-US" altLang="en-US" b="1" dirty="0">
                <a:solidFill>
                  <a:srgbClr val="000099"/>
                </a:solidFill>
              </a:rPr>
              <a:t>schedules</a:t>
            </a:r>
            <a:r>
              <a:rPr lang="en-US" altLang="en-US" dirty="0"/>
              <a:t> — cascading rollbacks cannot occur;</a:t>
            </a:r>
          </a:p>
          <a:p>
            <a:pPr lvl="1"/>
            <a:r>
              <a:rPr lang="en-US" altLang="en-US" dirty="0"/>
              <a:t>For each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dirty="0"/>
              <a:t> such that </a:t>
            </a:r>
            <a:r>
              <a:rPr lang="en-US" altLang="en-US" i="1" dirty="0"/>
              <a:t>T</a:t>
            </a:r>
            <a:r>
              <a:rPr lang="en-US" altLang="en-US" i="1" baseline="-25000" dirty="0"/>
              <a:t>j</a:t>
            </a:r>
            <a:r>
              <a:rPr lang="en-US" altLang="en-US" dirty="0"/>
              <a:t>  reads a data item previously written by </a:t>
            </a:r>
            <a:r>
              <a:rPr lang="en-US" altLang="en-US" i="1" dirty="0"/>
              <a:t>T</a:t>
            </a:r>
            <a:r>
              <a:rPr lang="en-US" altLang="en-US" i="1" baseline="-25000" dirty="0"/>
              <a:t>i</a:t>
            </a:r>
            <a:r>
              <a:rPr lang="en-US" altLang="en-US" dirty="0"/>
              <a:t>, the commit operation of </a:t>
            </a:r>
            <a:r>
              <a:rPr lang="en-US" altLang="en-US" i="1" dirty="0"/>
              <a:t>T</a:t>
            </a:r>
            <a:r>
              <a:rPr lang="en-US" altLang="en-US" i="1" baseline="-25000" dirty="0"/>
              <a:t>i</a:t>
            </a:r>
            <a:r>
              <a:rPr lang="en-US" altLang="en-US" i="1" dirty="0"/>
              <a:t> </a:t>
            </a:r>
            <a:r>
              <a:rPr lang="en-US" altLang="en-US" dirty="0"/>
              <a:t> appears before the read operation of </a:t>
            </a:r>
            <a:r>
              <a:rPr lang="en-US" altLang="en-US" i="1" dirty="0"/>
              <a:t>T</a:t>
            </a:r>
            <a:r>
              <a:rPr lang="en-US" altLang="en-US" i="1" baseline="-25000" dirty="0"/>
              <a:t>j</a:t>
            </a:r>
            <a:r>
              <a:rPr lang="en-US" altLang="en-US" dirty="0"/>
              <a:t>.</a:t>
            </a:r>
          </a:p>
          <a:p>
            <a:r>
              <a:rPr lang="en-US" altLang="en-US" dirty="0"/>
              <a:t>Every </a:t>
            </a:r>
            <a:r>
              <a:rPr lang="en-US" altLang="en-US" dirty="0" smtClean="0"/>
              <a:t>Cascadeless </a:t>
            </a:r>
            <a:r>
              <a:rPr lang="en-US" altLang="en-US" dirty="0"/>
              <a:t>schedule is also recoverable</a:t>
            </a:r>
          </a:p>
          <a:p>
            <a:r>
              <a:rPr lang="en-US" altLang="en-US" dirty="0"/>
              <a:t>It is desirable to restrict the schedules to those that are cascadeless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Concurrency Control</a:t>
            </a:r>
          </a:p>
        </p:txBody>
      </p:sp>
      <p:sp>
        <p:nvSpPr>
          <p:cNvPr id="34819" name="Rectangle 3"/>
          <p:cNvSpPr>
            <a:spLocks noGrp="1" noChangeArrowheads="1"/>
          </p:cNvSpPr>
          <p:nvPr>
            <p:ph idx="1"/>
          </p:nvPr>
        </p:nvSpPr>
        <p:spPr>
          <a:xfrm>
            <a:off x="656948" y="1102497"/>
            <a:ext cx="7812349" cy="5367972"/>
          </a:xfrm>
        </p:spPr>
        <p:txBody>
          <a:bodyPr/>
          <a:lstStyle/>
          <a:p>
            <a:r>
              <a:rPr lang="en-US" altLang="en-US" dirty="0"/>
              <a:t>A database must provide a mechanism that will ensure that all possible schedules are </a:t>
            </a:r>
          </a:p>
          <a:p>
            <a:pPr lvl="1"/>
            <a:r>
              <a:rPr lang="en-US" altLang="en-US" dirty="0"/>
              <a:t>either conflict or view serializable, and </a:t>
            </a:r>
          </a:p>
          <a:p>
            <a:pPr lvl="1"/>
            <a:r>
              <a:rPr lang="en-US" altLang="en-US" dirty="0"/>
              <a:t>are recoverable and preferably cascadeless</a:t>
            </a:r>
          </a:p>
          <a:p>
            <a:r>
              <a:rPr lang="en-US" altLang="en-US" dirty="0"/>
              <a:t>A policy in which only one transaction can execute at a time generates serial schedules, but provides a poor degree of concurrency</a:t>
            </a:r>
          </a:p>
          <a:p>
            <a:pPr lvl="1"/>
            <a:r>
              <a:rPr lang="en-US" altLang="en-US" dirty="0"/>
              <a:t>Are serial schedules recoverable/</a:t>
            </a:r>
            <a:r>
              <a:rPr lang="en-US" altLang="en-US" dirty="0" err="1"/>
              <a:t>cascadeless</a:t>
            </a:r>
            <a:r>
              <a:rPr lang="en-US" altLang="en-US" dirty="0"/>
              <a:t>?</a:t>
            </a:r>
          </a:p>
          <a:p>
            <a:r>
              <a:rPr lang="en-US" altLang="en-US" dirty="0"/>
              <a:t>Testing a schedule for serializability </a:t>
            </a:r>
            <a:r>
              <a:rPr lang="en-US" altLang="en-US" i="1" dirty="0"/>
              <a:t>after</a:t>
            </a:r>
            <a:r>
              <a:rPr lang="en-US" altLang="en-US" dirty="0"/>
              <a:t> it has executed is a little too late!</a:t>
            </a:r>
          </a:p>
          <a:p>
            <a:r>
              <a:rPr lang="en-US" altLang="en-US" b="1" dirty="0">
                <a:solidFill>
                  <a:srgbClr val="000099"/>
                </a:solidFill>
              </a:rPr>
              <a:t>Goal</a:t>
            </a:r>
            <a:r>
              <a:rPr lang="en-US" altLang="en-US" dirty="0"/>
              <a:t> – to develop concurrency control protocols that will assure serializability.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 (Cont.)</a:t>
            </a:r>
          </a:p>
        </p:txBody>
      </p:sp>
      <p:sp>
        <p:nvSpPr>
          <p:cNvPr id="35843" name="Rectangle 3"/>
          <p:cNvSpPr>
            <a:spLocks noGrp="1" noChangeArrowheads="1"/>
          </p:cNvSpPr>
          <p:nvPr>
            <p:ph idx="1"/>
          </p:nvPr>
        </p:nvSpPr>
        <p:spPr>
          <a:xfrm>
            <a:off x="656948" y="1102497"/>
            <a:ext cx="7803471" cy="5367972"/>
          </a:xfrm>
        </p:spPr>
        <p:txBody>
          <a:bodyPr/>
          <a:lstStyle/>
          <a:p>
            <a:r>
              <a:rPr lang="en-US" altLang="en-US" dirty="0"/>
              <a:t>Schedules must be conflict or view serializable, and recoverable, for the sake of database consistency, and preferably cascadeless.</a:t>
            </a:r>
          </a:p>
          <a:p>
            <a:r>
              <a:rPr lang="en-US" altLang="en-US" dirty="0"/>
              <a:t>A policy in which only one transaction can execute at a time generates serial schedules, but provides a poor degree of concurrency.</a:t>
            </a:r>
          </a:p>
          <a:p>
            <a:r>
              <a:rPr lang="en-US" altLang="en-US" dirty="0"/>
              <a:t>Concurrency-control schemes tradeoff between the amount of concurrency they allow and the amount of overhead that they incur.</a:t>
            </a:r>
          </a:p>
          <a:p>
            <a:r>
              <a:rPr lang="en-US" altLang="en-US" dirty="0"/>
              <a:t>Some schemes allow only conflict-serializable schedules to be generated, while others allow  view-serializable schedules that are not conflict-serializable.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sz="2800" dirty="0">
                <a:effectLst>
                  <a:outerShdw blurRad="38100" dist="38100" dir="2700000" algn="tl">
                    <a:srgbClr val="C0C0C0"/>
                  </a:outerShdw>
                </a:effectLst>
              </a:rPr>
              <a:t>Concurrency Control vs. Serializability Tests</a:t>
            </a:r>
          </a:p>
        </p:txBody>
      </p:sp>
      <p:sp>
        <p:nvSpPr>
          <p:cNvPr id="36867" name="Rectangle 3"/>
          <p:cNvSpPr>
            <a:spLocks noGrp="1" noChangeArrowheads="1"/>
          </p:cNvSpPr>
          <p:nvPr>
            <p:ph idx="1"/>
          </p:nvPr>
        </p:nvSpPr>
        <p:spPr>
          <a:xfrm>
            <a:off x="674702" y="1102497"/>
            <a:ext cx="7794595" cy="5367972"/>
          </a:xfrm>
        </p:spPr>
        <p:txBody>
          <a:bodyPr/>
          <a:lstStyle/>
          <a:p>
            <a:r>
              <a:rPr lang="en-US" altLang="en-US" dirty="0"/>
              <a:t>Concurrency-control protocols allow concurrent schedules, but ensure that the schedules are conflict/view serializable, and are recoverable and cascadeless .</a:t>
            </a:r>
          </a:p>
          <a:p>
            <a:r>
              <a:rPr lang="en-US" altLang="en-US" dirty="0"/>
              <a:t>Concurrency control protocols (generally) do not examine the precedence graph as it is being created</a:t>
            </a:r>
          </a:p>
          <a:p>
            <a:pPr lvl="1"/>
            <a:r>
              <a:rPr lang="en-US" altLang="en-US" dirty="0"/>
              <a:t>Instead a protocol imposes a discipline that avoids non-serializable schedules.</a:t>
            </a:r>
          </a:p>
          <a:p>
            <a:pPr lvl="1"/>
            <a:r>
              <a:rPr lang="en-US" altLang="en-US" dirty="0"/>
              <a:t>We study such protocols in Chapter 16.</a:t>
            </a:r>
          </a:p>
          <a:p>
            <a:r>
              <a:rPr lang="en-US" altLang="en-US" dirty="0"/>
              <a:t>Different concurrency control protocols provide different tradeoffs between the amount of concurrency they allow and the amount of overhead that they incur.</a:t>
            </a:r>
          </a:p>
          <a:p>
            <a:r>
              <a:rPr lang="en-US" altLang="en-US" dirty="0"/>
              <a:t>Tests for serializability help us understand why a concurrency control protocol is correct.   </a:t>
            </a:r>
          </a:p>
          <a:p>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Weak Levels of Consistency</a:t>
            </a:r>
          </a:p>
        </p:txBody>
      </p:sp>
      <p:sp>
        <p:nvSpPr>
          <p:cNvPr id="37891" name="Rectangle 3"/>
          <p:cNvSpPr>
            <a:spLocks noGrp="1" noChangeArrowheads="1"/>
          </p:cNvSpPr>
          <p:nvPr>
            <p:ph idx="1"/>
          </p:nvPr>
        </p:nvSpPr>
        <p:spPr>
          <a:xfrm>
            <a:off x="674702" y="1102497"/>
            <a:ext cx="7750207" cy="5367972"/>
          </a:xfrm>
        </p:spPr>
        <p:txBody>
          <a:bodyPr/>
          <a:lstStyle/>
          <a:p>
            <a:r>
              <a:rPr lang="en-US" altLang="en-US" dirty="0"/>
              <a:t>Some applications are willing to live with weak levels of consistency, allowing schedules that are not serializable</a:t>
            </a:r>
          </a:p>
          <a:p>
            <a:pPr lvl="1"/>
            <a:r>
              <a:rPr lang="en-US" altLang="en-US" dirty="0"/>
              <a:t>E.g., a read-only transaction that wants to get an approximate total balance of all accounts </a:t>
            </a:r>
          </a:p>
          <a:p>
            <a:pPr lvl="1"/>
            <a:r>
              <a:rPr lang="en-US" altLang="en-US" dirty="0"/>
              <a:t>E.g., database statistics computed for query optimization can be approximate (why?)</a:t>
            </a:r>
          </a:p>
          <a:p>
            <a:pPr lvl="1"/>
            <a:r>
              <a:rPr lang="en-US" altLang="en-US" dirty="0"/>
              <a:t>Such transactions need not be serializable with respect to other transactions</a:t>
            </a:r>
          </a:p>
          <a:p>
            <a:r>
              <a:rPr lang="en-US" altLang="en-US" dirty="0"/>
              <a:t>Tradeoff accuracy for performance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Levels of Consistency in SQL-92</a:t>
            </a:r>
          </a:p>
        </p:txBody>
      </p:sp>
      <p:sp>
        <p:nvSpPr>
          <p:cNvPr id="38915" name="Rectangle 3"/>
          <p:cNvSpPr>
            <a:spLocks noGrp="1" noChangeArrowheads="1"/>
          </p:cNvSpPr>
          <p:nvPr>
            <p:ph idx="1"/>
          </p:nvPr>
        </p:nvSpPr>
        <p:spPr>
          <a:xfrm>
            <a:off x="665824" y="1102497"/>
            <a:ext cx="7705819" cy="5367972"/>
          </a:xfrm>
        </p:spPr>
        <p:txBody>
          <a:bodyPr/>
          <a:lstStyle/>
          <a:p>
            <a:r>
              <a:rPr lang="en-US" altLang="en-US" b="1" dirty="0">
                <a:solidFill>
                  <a:srgbClr val="000099"/>
                </a:solidFill>
              </a:rPr>
              <a:t>Serializable</a:t>
            </a:r>
            <a:r>
              <a:rPr lang="en-US" altLang="en-US" b="1" dirty="0"/>
              <a:t> </a:t>
            </a:r>
            <a:r>
              <a:rPr lang="en-US" altLang="en-US" dirty="0"/>
              <a:t>— default</a:t>
            </a:r>
          </a:p>
          <a:p>
            <a:r>
              <a:rPr lang="en-US" altLang="en-US" b="1" dirty="0">
                <a:solidFill>
                  <a:srgbClr val="000099"/>
                </a:solidFill>
              </a:rPr>
              <a:t>Repeatable read</a:t>
            </a:r>
            <a:r>
              <a:rPr lang="en-US" altLang="en-US" b="1" dirty="0"/>
              <a:t> </a:t>
            </a:r>
            <a:r>
              <a:rPr lang="en-US" altLang="en-US" dirty="0"/>
              <a:t>—</a:t>
            </a:r>
            <a:r>
              <a:rPr lang="en-US" altLang="en-US" b="1" dirty="0"/>
              <a:t> </a:t>
            </a:r>
            <a:r>
              <a:rPr lang="en-US" altLang="en-US" dirty="0"/>
              <a:t>only committed records to be read. </a:t>
            </a:r>
          </a:p>
          <a:p>
            <a:pPr lvl="1"/>
            <a:r>
              <a:rPr lang="en-US" altLang="en-US" dirty="0"/>
              <a:t>Repeated reads of same record must return same value.</a:t>
            </a:r>
          </a:p>
          <a:p>
            <a:pPr lvl="1"/>
            <a:r>
              <a:rPr lang="en-US" altLang="en-US" dirty="0"/>
              <a:t>However, a transaction may not be serializable – it may find some records inserted by a transaction but not find others.</a:t>
            </a:r>
          </a:p>
          <a:p>
            <a:r>
              <a:rPr lang="en-US" altLang="en-US" b="1" dirty="0">
                <a:solidFill>
                  <a:srgbClr val="000099"/>
                </a:solidFill>
              </a:rPr>
              <a:t>Read committed</a:t>
            </a:r>
            <a:r>
              <a:rPr lang="en-US" altLang="en-US" b="1" dirty="0"/>
              <a:t> </a:t>
            </a:r>
            <a:r>
              <a:rPr lang="en-US" altLang="en-US" dirty="0"/>
              <a:t>—</a:t>
            </a:r>
            <a:r>
              <a:rPr lang="en-US" altLang="en-US" b="1" dirty="0"/>
              <a:t> </a:t>
            </a:r>
            <a:r>
              <a:rPr lang="en-US" altLang="en-US" dirty="0"/>
              <a:t>only committed records can be read.</a:t>
            </a:r>
          </a:p>
          <a:p>
            <a:pPr lvl="1"/>
            <a:r>
              <a:rPr lang="en-US" altLang="en-US" dirty="0"/>
              <a:t>Successive reads of record may return different (but committed) values.</a:t>
            </a:r>
          </a:p>
          <a:p>
            <a:r>
              <a:rPr lang="en-US" altLang="en-US" b="1" dirty="0">
                <a:solidFill>
                  <a:srgbClr val="000099"/>
                </a:solidFill>
              </a:rPr>
              <a:t>Read uncommitted</a:t>
            </a:r>
            <a:r>
              <a:rPr lang="en-US" altLang="en-US" dirty="0"/>
              <a:t> —</a:t>
            </a:r>
            <a:r>
              <a:rPr lang="en-US" altLang="en-US" b="1" dirty="0"/>
              <a:t> </a:t>
            </a:r>
            <a:r>
              <a:rPr lang="en-US" altLang="en-US" dirty="0"/>
              <a:t>even uncommitted records may be read. </a:t>
            </a:r>
            <a:endParaRPr lang="en-US" altLang="en-US" b="1" dirty="0"/>
          </a:p>
        </p:txBody>
      </p:sp>
      <p:sp>
        <p:nvSpPr>
          <p:cNvPr id="38916" name="Rectangle 5"/>
          <p:cNvSpPr>
            <a:spLocks noChangeArrowheads="1"/>
          </p:cNvSpPr>
          <p:nvPr/>
        </p:nvSpPr>
        <p:spPr bwMode="auto">
          <a:xfrm>
            <a:off x="538163" y="4135438"/>
            <a:ext cx="752792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Levels of Consistency</a:t>
            </a:r>
          </a:p>
        </p:txBody>
      </p:sp>
      <p:sp>
        <p:nvSpPr>
          <p:cNvPr id="2" name="Content Placeholder 1">
            <a:extLst>
              <a:ext uri="{FF2B5EF4-FFF2-40B4-BE49-F238E27FC236}">
                <a16:creationId xmlns:a16="http://schemas.microsoft.com/office/drawing/2014/main" id="{E247170A-C2C0-4F36-8AA4-43A13105431D}"/>
              </a:ext>
            </a:extLst>
          </p:cNvPr>
          <p:cNvSpPr>
            <a:spLocks noGrp="1"/>
          </p:cNvSpPr>
          <p:nvPr>
            <p:ph idx="1"/>
          </p:nvPr>
        </p:nvSpPr>
        <p:spPr>
          <a:xfrm>
            <a:off x="692458" y="1102497"/>
            <a:ext cx="7750206" cy="5367972"/>
          </a:xfrm>
        </p:spPr>
        <p:txBody>
          <a:bodyPr/>
          <a:lstStyle/>
          <a:p>
            <a:r>
              <a:rPr lang="en-US" dirty="0"/>
              <a:t>Lower degrees of consistency useful for gathering approximate</a:t>
            </a:r>
            <a:br>
              <a:rPr lang="en-US" dirty="0"/>
            </a:br>
            <a:r>
              <a:rPr lang="en-US" dirty="0"/>
              <a:t>information about the database </a:t>
            </a:r>
          </a:p>
          <a:p>
            <a:r>
              <a:rPr lang="en-US" dirty="0"/>
              <a:t>Warning: some database systems do not ensure serializable schedules by default</a:t>
            </a:r>
          </a:p>
          <a:p>
            <a:r>
              <a:rPr lang="en-US" dirty="0"/>
              <a:t>E.g., Oracle (and PostgreSQL prior to version 9) by default support a level of consistency called snapshot isolation (not part of the SQL standard)</a:t>
            </a:r>
          </a:p>
          <a:p>
            <a:endParaRPr lang="en-IN" dirty="0"/>
          </a:p>
        </p:txBody>
      </p:sp>
      <p:sp>
        <p:nvSpPr>
          <p:cNvPr id="39939" name="Rectangle 5"/>
          <p:cNvSpPr>
            <a:spLocks noChangeArrowheads="1"/>
          </p:cNvSpPr>
          <p:nvPr/>
        </p:nvSpPr>
        <p:spPr bwMode="auto">
          <a:xfrm>
            <a:off x="1147763" y="1163638"/>
            <a:ext cx="7005637"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Transaction Definition in SQL</a:t>
            </a:r>
          </a:p>
        </p:txBody>
      </p:sp>
      <p:sp>
        <p:nvSpPr>
          <p:cNvPr id="40963" name="Rectangle 3"/>
          <p:cNvSpPr>
            <a:spLocks noGrp="1" noChangeArrowheads="1"/>
          </p:cNvSpPr>
          <p:nvPr>
            <p:ph idx="1"/>
          </p:nvPr>
        </p:nvSpPr>
        <p:spPr>
          <a:xfrm>
            <a:off x="639192" y="1102497"/>
            <a:ext cx="7927759" cy="5367972"/>
          </a:xfrm>
        </p:spPr>
        <p:txBody>
          <a:bodyPr/>
          <a:lstStyle/>
          <a:p>
            <a:r>
              <a:rPr lang="en-US" altLang="en-US" dirty="0"/>
              <a:t>In SQL, a transaction begins implicitly.</a:t>
            </a:r>
          </a:p>
          <a:p>
            <a:r>
              <a:rPr lang="en-US" altLang="en-US" dirty="0"/>
              <a:t>A transaction in SQL ends by:</a:t>
            </a:r>
          </a:p>
          <a:p>
            <a:pPr lvl="1"/>
            <a:r>
              <a:rPr lang="en-US" altLang="en-US" b="1" dirty="0"/>
              <a:t>Commit work</a:t>
            </a:r>
            <a:r>
              <a:rPr lang="en-US" altLang="en-US" dirty="0"/>
              <a:t> commits current transaction and begins a new one.</a:t>
            </a:r>
          </a:p>
          <a:p>
            <a:pPr lvl="1"/>
            <a:r>
              <a:rPr lang="en-US" altLang="en-US" b="1" dirty="0"/>
              <a:t>Rollback work</a:t>
            </a:r>
            <a:r>
              <a:rPr lang="en-US" altLang="en-US" dirty="0"/>
              <a:t> causes current transaction to abort.</a:t>
            </a:r>
          </a:p>
          <a:p>
            <a:r>
              <a:rPr lang="en-US" altLang="en-US" dirty="0"/>
              <a:t>In almost all database systems, by default, every SQL statement also commits implicitly if it executes successfully</a:t>
            </a:r>
          </a:p>
          <a:p>
            <a:pPr lvl="1"/>
            <a:r>
              <a:rPr lang="en-US" altLang="en-US" dirty="0"/>
              <a:t>Implicit commit can be turned off by a database directive</a:t>
            </a:r>
          </a:p>
          <a:p>
            <a:pPr lvl="2"/>
            <a:r>
              <a:rPr lang="en-US" altLang="en-US" dirty="0"/>
              <a:t>E.g., in JDBC -- </a:t>
            </a:r>
            <a:r>
              <a:rPr lang="en-US" altLang="en-US" dirty="0" err="1"/>
              <a:t>connection.setAutoCommit</a:t>
            </a:r>
            <a:r>
              <a:rPr lang="en-US" altLang="en-US" dirty="0"/>
              <a:t>(false);</a:t>
            </a:r>
          </a:p>
          <a:p>
            <a:r>
              <a:rPr lang="en-US" altLang="en-US" dirty="0"/>
              <a:t>Isolation level can be set at database level</a:t>
            </a:r>
          </a:p>
          <a:p>
            <a:r>
              <a:rPr lang="en-US" altLang="en-US" dirty="0"/>
              <a:t>Isolation level can be changed at start of transaction</a:t>
            </a:r>
          </a:p>
          <a:p>
            <a:pPr lvl="2"/>
            <a:r>
              <a:rPr lang="en-US" altLang="en-US" dirty="0"/>
              <a:t>E.g.  In SQL </a:t>
            </a:r>
            <a:r>
              <a:rPr lang="en-US" altLang="en-US" b="1" dirty="0"/>
              <a:t>set transaction isolation level serializable</a:t>
            </a:r>
          </a:p>
          <a:p>
            <a:pPr lvl="2"/>
            <a:r>
              <a:rPr lang="en-US" altLang="en-US" dirty="0"/>
              <a:t>E.g. in JDBC --  </a:t>
            </a:r>
            <a:r>
              <a:rPr lang="en-US" altLang="en-US" dirty="0" err="1"/>
              <a:t>connection.setTransactionIsolation</a:t>
            </a:r>
            <a:r>
              <a:rPr lang="en-US" altLang="en-US" dirty="0"/>
              <a:t>(      </a:t>
            </a:r>
            <a:br>
              <a:rPr lang="en-US" altLang="en-US" dirty="0"/>
            </a:br>
            <a:r>
              <a:rPr lang="en-US" altLang="en-US" dirty="0"/>
              <a:t>                                     </a:t>
            </a:r>
            <a:r>
              <a:rPr lang="en-US" altLang="en-US" dirty="0" err="1"/>
              <a:t>Connection.TRANSACTION_SERIALIZABLE</a:t>
            </a:r>
            <a:r>
              <a:rPr lang="en-US" altLang="en-US" dirty="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ACAF-F04B-44BB-A5C2-EAE4A5FBD7DE}"/>
              </a:ext>
            </a:extLst>
          </p:cNvPr>
          <p:cNvSpPr>
            <a:spLocks noGrp="1"/>
          </p:cNvSpPr>
          <p:nvPr>
            <p:ph type="title"/>
          </p:nvPr>
        </p:nvSpPr>
        <p:spPr/>
        <p:txBody>
          <a:bodyPr/>
          <a:lstStyle/>
          <a:p>
            <a:r>
              <a:rPr lang="en-IN" dirty="0"/>
              <a:t>Implementation of Isolation Levels</a:t>
            </a:r>
          </a:p>
        </p:txBody>
      </p:sp>
      <p:sp>
        <p:nvSpPr>
          <p:cNvPr id="3" name="Content Placeholder 2">
            <a:extLst>
              <a:ext uri="{FF2B5EF4-FFF2-40B4-BE49-F238E27FC236}">
                <a16:creationId xmlns:a16="http://schemas.microsoft.com/office/drawing/2014/main" id="{96E06DFC-E228-4A51-A4C2-91BB66D41B27}"/>
              </a:ext>
            </a:extLst>
          </p:cNvPr>
          <p:cNvSpPr>
            <a:spLocks noGrp="1"/>
          </p:cNvSpPr>
          <p:nvPr>
            <p:ph idx="1"/>
          </p:nvPr>
        </p:nvSpPr>
        <p:spPr>
          <a:xfrm>
            <a:off x="674702" y="1102497"/>
            <a:ext cx="7741329" cy="5367972"/>
          </a:xfrm>
        </p:spPr>
        <p:txBody>
          <a:bodyPr/>
          <a:lstStyle/>
          <a:p>
            <a:r>
              <a:rPr lang="en-IN" dirty="0" smtClean="0"/>
              <a:t>Locking</a:t>
            </a:r>
            <a:endParaRPr lang="en-IN" dirty="0"/>
          </a:p>
          <a:p>
            <a:pPr lvl="1"/>
            <a:r>
              <a:rPr lang="en-IN" dirty="0"/>
              <a:t>Lock on whole database vs lock on items</a:t>
            </a:r>
          </a:p>
          <a:p>
            <a:pPr lvl="1"/>
            <a:r>
              <a:rPr lang="en-IN" dirty="0"/>
              <a:t>How long to hold lock?</a:t>
            </a:r>
          </a:p>
          <a:p>
            <a:pPr lvl="1"/>
            <a:r>
              <a:rPr lang="en-IN" dirty="0"/>
              <a:t>Shared vs exclusive locks</a:t>
            </a:r>
          </a:p>
          <a:p>
            <a:r>
              <a:rPr lang="en-IN" dirty="0"/>
              <a:t>Timestamps</a:t>
            </a:r>
          </a:p>
          <a:p>
            <a:pPr lvl="1"/>
            <a:r>
              <a:rPr lang="en-IN" dirty="0"/>
              <a:t>Transaction timestamp assigned e.g. when a transaction begins</a:t>
            </a:r>
          </a:p>
          <a:p>
            <a:pPr lvl="1"/>
            <a:r>
              <a:rPr lang="en-IN" dirty="0"/>
              <a:t>Data items store two timestamps</a:t>
            </a:r>
          </a:p>
          <a:p>
            <a:pPr lvl="2"/>
            <a:r>
              <a:rPr lang="en-IN" dirty="0"/>
              <a:t>Read timestamp</a:t>
            </a:r>
          </a:p>
          <a:p>
            <a:pPr lvl="2"/>
            <a:r>
              <a:rPr lang="en-IN" dirty="0"/>
              <a:t>Write timestamp</a:t>
            </a:r>
          </a:p>
          <a:p>
            <a:pPr lvl="1"/>
            <a:r>
              <a:rPr lang="en-IN" dirty="0"/>
              <a:t>Timestamps are used to detect out of order accesses</a:t>
            </a:r>
          </a:p>
          <a:p>
            <a:r>
              <a:rPr lang="en-IN" dirty="0"/>
              <a:t>Multiple versions of each data item</a:t>
            </a:r>
          </a:p>
          <a:p>
            <a:pPr lvl="1"/>
            <a:r>
              <a:rPr lang="en-IN" dirty="0"/>
              <a:t>Allow transactions to read from a “snapshot” of the database</a:t>
            </a:r>
          </a:p>
        </p:txBody>
      </p:sp>
    </p:spTree>
    <p:extLst>
      <p:ext uri="{BB962C8B-B14F-4D97-AF65-F5344CB8AC3E}">
        <p14:creationId xmlns:p14="http://schemas.microsoft.com/office/powerpoint/2010/main" val="33450825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36548-0516-4E04-B705-F7A54C9E8ABE}"/>
              </a:ext>
            </a:extLst>
          </p:cNvPr>
          <p:cNvSpPr>
            <a:spLocks noGrp="1"/>
          </p:cNvSpPr>
          <p:nvPr>
            <p:ph type="title"/>
          </p:nvPr>
        </p:nvSpPr>
        <p:spPr/>
        <p:txBody>
          <a:bodyPr/>
          <a:lstStyle/>
          <a:p>
            <a:r>
              <a:rPr lang="en-IN" dirty="0"/>
              <a:t>Transactions as SQL Statements</a:t>
            </a:r>
          </a:p>
        </p:txBody>
      </p:sp>
      <p:sp>
        <p:nvSpPr>
          <p:cNvPr id="3" name="Content Placeholder 2">
            <a:extLst>
              <a:ext uri="{FF2B5EF4-FFF2-40B4-BE49-F238E27FC236}">
                <a16:creationId xmlns:a16="http://schemas.microsoft.com/office/drawing/2014/main" id="{F275E497-18AF-475A-B6A4-049AF234E8D0}"/>
              </a:ext>
            </a:extLst>
          </p:cNvPr>
          <p:cNvSpPr>
            <a:spLocks noGrp="1"/>
          </p:cNvSpPr>
          <p:nvPr>
            <p:ph idx="1"/>
          </p:nvPr>
        </p:nvSpPr>
        <p:spPr>
          <a:xfrm>
            <a:off x="630314" y="1003107"/>
            <a:ext cx="8215235" cy="5367972"/>
          </a:xfrm>
        </p:spPr>
        <p:txBody>
          <a:bodyPr/>
          <a:lstStyle/>
          <a:p>
            <a:r>
              <a:rPr lang="en-IN" dirty="0"/>
              <a:t>E.g</a:t>
            </a:r>
            <a:r>
              <a:rPr lang="en-IN" dirty="0" smtClean="0"/>
              <a:t>., </a:t>
            </a:r>
            <a:r>
              <a:rPr lang="en-IN" dirty="0"/>
              <a:t>Transaction 1:</a:t>
            </a:r>
            <a:br>
              <a:rPr lang="en-IN" dirty="0"/>
            </a:br>
            <a:r>
              <a:rPr lang="en-IN" sz="1800" dirty="0"/>
              <a:t>   </a:t>
            </a:r>
            <a:r>
              <a:rPr lang="en-IN" b="1" dirty="0"/>
              <a:t>select</a:t>
            </a:r>
            <a:r>
              <a:rPr lang="en-IN" dirty="0"/>
              <a:t> </a:t>
            </a:r>
            <a:r>
              <a:rPr lang="en-IN" i="1" dirty="0"/>
              <a:t>ID, name  </a:t>
            </a:r>
            <a:r>
              <a:rPr lang="en-IN" dirty="0"/>
              <a:t> </a:t>
            </a:r>
            <a:r>
              <a:rPr lang="en-IN" b="1" dirty="0"/>
              <a:t>from  </a:t>
            </a:r>
            <a:r>
              <a:rPr lang="en-IN" i="1" dirty="0"/>
              <a:t>instructor   </a:t>
            </a:r>
            <a:r>
              <a:rPr lang="en-IN" b="1" dirty="0"/>
              <a:t>where</a:t>
            </a:r>
            <a:r>
              <a:rPr lang="en-IN" dirty="0"/>
              <a:t> </a:t>
            </a:r>
            <a:r>
              <a:rPr lang="en-IN" i="1" dirty="0"/>
              <a:t>salary</a:t>
            </a:r>
            <a:r>
              <a:rPr lang="en-IN" dirty="0"/>
              <a:t> &gt; 90000</a:t>
            </a:r>
            <a:endParaRPr lang="en-IN" sz="1800" dirty="0"/>
          </a:p>
          <a:p>
            <a:r>
              <a:rPr lang="en-IN" dirty="0" smtClean="0"/>
              <a:t>E.g., Transaction </a:t>
            </a:r>
            <a:r>
              <a:rPr lang="en-IN" dirty="0"/>
              <a:t>2:</a:t>
            </a:r>
            <a:br>
              <a:rPr lang="en-IN" dirty="0"/>
            </a:br>
            <a:r>
              <a:rPr lang="en-IN" dirty="0"/>
              <a:t>   </a:t>
            </a:r>
            <a:r>
              <a:rPr lang="en-IN" b="1" dirty="0"/>
              <a:t>insert into</a:t>
            </a:r>
            <a:r>
              <a:rPr lang="en-IN" dirty="0"/>
              <a:t> </a:t>
            </a:r>
            <a:r>
              <a:rPr lang="en-IN" i="1" dirty="0"/>
              <a:t>instructor</a:t>
            </a:r>
            <a:r>
              <a:rPr lang="en-IN" dirty="0"/>
              <a:t> </a:t>
            </a:r>
            <a:r>
              <a:rPr lang="en-IN" b="1" dirty="0"/>
              <a:t>values</a:t>
            </a:r>
            <a:r>
              <a:rPr lang="en-IN" dirty="0"/>
              <a:t> ('11111', 'James', 'Marketing', 100000)</a:t>
            </a:r>
          </a:p>
          <a:p>
            <a:r>
              <a:rPr lang="en-IN" dirty="0"/>
              <a:t>Suppose </a:t>
            </a:r>
          </a:p>
          <a:p>
            <a:pPr lvl="1"/>
            <a:r>
              <a:rPr lang="en-IN" dirty="0"/>
              <a:t>T1 starts, finds tuples salary &gt; 90000 using index and locks them</a:t>
            </a:r>
          </a:p>
          <a:p>
            <a:pPr lvl="1"/>
            <a:r>
              <a:rPr lang="en-IN" dirty="0"/>
              <a:t>And then T2 executes.  </a:t>
            </a:r>
          </a:p>
          <a:p>
            <a:pPr lvl="1"/>
            <a:r>
              <a:rPr lang="en-IN" dirty="0"/>
              <a:t>Do T1 and T2 conflict?  Does tuple level locking detect the conflict?</a:t>
            </a:r>
          </a:p>
          <a:p>
            <a:pPr lvl="1"/>
            <a:r>
              <a:rPr lang="en-IN" dirty="0"/>
              <a:t>Instance of the </a:t>
            </a:r>
            <a:r>
              <a:rPr lang="en-IN" b="1" dirty="0">
                <a:solidFill>
                  <a:srgbClr val="002060"/>
                </a:solidFill>
              </a:rPr>
              <a:t>phantom phenomenon</a:t>
            </a:r>
          </a:p>
          <a:p>
            <a:r>
              <a:rPr lang="en-IN" dirty="0"/>
              <a:t>Also consider T3 below, with Wu’s salary = 90000 </a:t>
            </a:r>
            <a:br>
              <a:rPr lang="en-IN" dirty="0"/>
            </a:br>
            <a:r>
              <a:rPr lang="en-IN" sz="1800" dirty="0"/>
              <a:t>    </a:t>
            </a:r>
            <a:r>
              <a:rPr lang="en-IN" sz="1800" b="1" dirty="0"/>
              <a:t>update</a:t>
            </a:r>
            <a:r>
              <a:rPr lang="en-IN" sz="1800" dirty="0"/>
              <a:t> </a:t>
            </a:r>
            <a:r>
              <a:rPr lang="en-IN" sz="1800" i="1" dirty="0"/>
              <a:t>instructor</a:t>
            </a:r>
            <a:r>
              <a:rPr lang="en-IN" sz="1800" dirty="0"/>
              <a:t/>
            </a:r>
            <a:br>
              <a:rPr lang="en-IN" sz="1800" dirty="0"/>
            </a:br>
            <a:r>
              <a:rPr lang="en-IN" sz="1800" dirty="0"/>
              <a:t>    </a:t>
            </a:r>
            <a:r>
              <a:rPr lang="en-IN" sz="1800" b="1" dirty="0"/>
              <a:t>set</a:t>
            </a:r>
            <a:r>
              <a:rPr lang="en-IN" sz="1800" dirty="0"/>
              <a:t> </a:t>
            </a:r>
            <a:r>
              <a:rPr lang="en-IN" sz="1800" i="1" dirty="0"/>
              <a:t>salary</a:t>
            </a:r>
            <a:r>
              <a:rPr lang="en-IN" sz="1800" dirty="0"/>
              <a:t> = </a:t>
            </a:r>
            <a:r>
              <a:rPr lang="en-IN" sz="1800" i="1" dirty="0"/>
              <a:t>salary</a:t>
            </a:r>
            <a:r>
              <a:rPr lang="en-IN" sz="1800" dirty="0"/>
              <a:t> * 1.1</a:t>
            </a:r>
            <a:br>
              <a:rPr lang="en-IN" sz="1800" dirty="0"/>
            </a:br>
            <a:r>
              <a:rPr lang="en-IN" sz="1800" dirty="0"/>
              <a:t>    </a:t>
            </a:r>
            <a:r>
              <a:rPr lang="en-IN" sz="1800" b="1" dirty="0"/>
              <a:t>where</a:t>
            </a:r>
            <a:r>
              <a:rPr lang="en-IN" sz="1800" dirty="0"/>
              <a:t> </a:t>
            </a:r>
            <a:r>
              <a:rPr lang="en-IN" sz="1800" i="1" dirty="0"/>
              <a:t>name</a:t>
            </a:r>
            <a:r>
              <a:rPr lang="en-IN" sz="1800" dirty="0"/>
              <a:t> = 'Wu’ </a:t>
            </a:r>
          </a:p>
          <a:p>
            <a:r>
              <a:rPr lang="en-IN" dirty="0"/>
              <a:t>Key idea:  Detect “</a:t>
            </a:r>
            <a:r>
              <a:rPr lang="en-IN" b="1" dirty="0">
                <a:solidFill>
                  <a:srgbClr val="002060"/>
                </a:solidFill>
              </a:rPr>
              <a:t>predicate</a:t>
            </a:r>
            <a:r>
              <a:rPr lang="en-IN" dirty="0"/>
              <a:t>” conflicts, and use some form of  “</a:t>
            </a:r>
            <a:r>
              <a:rPr lang="en-IN" b="1" dirty="0">
                <a:solidFill>
                  <a:srgbClr val="002060"/>
                </a:solidFill>
              </a:rPr>
              <a:t>predicate locking</a:t>
            </a:r>
            <a:r>
              <a:rPr lang="en-IN" dirty="0"/>
              <a:t>”</a:t>
            </a:r>
          </a:p>
        </p:txBody>
      </p:sp>
    </p:spTree>
    <p:extLst>
      <p:ext uri="{BB962C8B-B14F-4D97-AF65-F5344CB8AC3E}">
        <p14:creationId xmlns:p14="http://schemas.microsoft.com/office/powerpoint/2010/main" val="26274818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369F0-E989-4F4E-9740-0E12922F33DE}"/>
              </a:ext>
            </a:extLst>
          </p:cNvPr>
          <p:cNvSpPr>
            <a:spLocks noGrp="1"/>
          </p:cNvSpPr>
          <p:nvPr>
            <p:ph idx="1"/>
          </p:nvPr>
        </p:nvSpPr>
        <p:spPr>
          <a:xfrm>
            <a:off x="2643947" y="2796646"/>
            <a:ext cx="5168964" cy="815505"/>
          </a:xfrm>
        </p:spPr>
        <p:txBody>
          <a:bodyPr/>
          <a:lstStyle/>
          <a:p>
            <a:pPr marL="0" indent="0">
              <a:buNone/>
            </a:pPr>
            <a:r>
              <a:rPr lang="en-IN" sz="3200" b="1" dirty="0" smtClean="0">
                <a:solidFill>
                  <a:srgbClr val="002060"/>
                </a:solidFill>
                <a:effectLst>
                  <a:outerShdw blurRad="38100" dist="38100" dir="2700000" algn="tl">
                    <a:srgbClr val="DDDDDD"/>
                  </a:outerShdw>
                </a:effectLst>
                <a:latin typeface="+mj-lt"/>
              </a:rPr>
              <a:t>End of Chapter 17</a:t>
            </a:r>
            <a:endParaRPr lang="en-IN" sz="3200" b="1" dirty="0">
              <a:solidFill>
                <a:srgbClr val="002060"/>
              </a:solidFill>
              <a:effectLst>
                <a:outerShdw blurRad="38100" dist="38100" dir="2700000" algn="tl">
                  <a:srgbClr val="DDDDDD"/>
                </a:outerShdw>
              </a:effectLst>
              <a:latin typeface="+mj-lt"/>
            </a:endParaRPr>
          </a:p>
        </p:txBody>
      </p:sp>
    </p:spTree>
    <p:extLst>
      <p:ext uri="{BB962C8B-B14F-4D97-AF65-F5344CB8AC3E}">
        <p14:creationId xmlns:p14="http://schemas.microsoft.com/office/powerpoint/2010/main" val="2223778985"/>
      </p:ext>
    </p:extLst>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54812</TotalTime>
  <Words>7733</Words>
  <Application>Microsoft Office PowerPoint</Application>
  <PresentationFormat>On-screen Show (4:3)</PresentationFormat>
  <Paragraphs>521</Paragraphs>
  <Slides>40</Slides>
  <Notes>39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ＭＳ Ｐゴシック</vt:lpstr>
      <vt:lpstr>ＭＳ Ｐゴシック</vt:lpstr>
      <vt:lpstr>Arial</vt:lpstr>
      <vt:lpstr>Helvetica</vt:lpstr>
      <vt:lpstr>Monotype Sorts</vt:lpstr>
      <vt:lpstr>Symbol</vt:lpstr>
      <vt:lpstr>Times New Roman</vt:lpstr>
      <vt:lpstr>Webdings</vt:lpstr>
      <vt:lpstr>Wingdings</vt:lpstr>
      <vt:lpstr>db</vt:lpstr>
      <vt:lpstr>Module 17: Transactions </vt:lpstr>
      <vt:lpstr>Outline</vt:lpstr>
      <vt:lpstr>Transaction Concept</vt:lpstr>
      <vt:lpstr>Example of Fund Transfer</vt:lpstr>
      <vt:lpstr>Example of Fund Transfer (Cont.)</vt:lpstr>
      <vt:lpstr>Example of Fund Transfer (Cont.)</vt:lpstr>
      <vt:lpstr>ACID Properties</vt:lpstr>
      <vt:lpstr>Transaction State</vt:lpstr>
      <vt:lpstr>Transaction State (Cont.)</vt:lpstr>
      <vt:lpstr>Concurrent Executions</vt:lpstr>
      <vt:lpstr>Schedules</vt:lpstr>
      <vt:lpstr>Schedule 1</vt:lpstr>
      <vt:lpstr>Schedule 2</vt:lpstr>
      <vt:lpstr>Schedule 3</vt:lpstr>
      <vt:lpstr>Schedule 4</vt:lpstr>
      <vt:lpstr>Serializability</vt:lpstr>
      <vt:lpstr>Simplified view of transactions</vt:lpstr>
      <vt:lpstr>Conflicting Instructions </vt:lpstr>
      <vt:lpstr>Conflict Serializability</vt:lpstr>
      <vt:lpstr>Conflict Serializability (Cont.)</vt:lpstr>
      <vt:lpstr>Conflict Serializability (Cont.)</vt:lpstr>
      <vt:lpstr>View Serializability</vt:lpstr>
      <vt:lpstr>View Serializability (Cont.)</vt:lpstr>
      <vt:lpstr>Other Notions of Serializability</vt:lpstr>
      <vt:lpstr>Testing for Serializability </vt:lpstr>
      <vt:lpstr>Test for Conflict Serializability</vt:lpstr>
      <vt:lpstr>Test for View Serializability</vt:lpstr>
      <vt:lpstr>Recoverable Schedules</vt:lpstr>
      <vt:lpstr>Cascading Rollbacks</vt:lpstr>
      <vt:lpstr>Cascadeless Schedules</vt:lpstr>
      <vt:lpstr>Concurrency Control</vt:lpstr>
      <vt:lpstr>Concurrency Control (Cont.)</vt:lpstr>
      <vt:lpstr>Concurrency Control vs. Serializability Tests</vt:lpstr>
      <vt:lpstr>Weak Levels of Consistency</vt:lpstr>
      <vt:lpstr>Levels of Consistency in SQL-92</vt:lpstr>
      <vt:lpstr>Levels of Consistency</vt:lpstr>
      <vt:lpstr>Transaction Definition in SQL</vt:lpstr>
      <vt:lpstr>Implementation of Isolation Levels</vt:lpstr>
      <vt:lpstr>Transactions as SQL Statements</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Transactions</dc:title>
  <dc:creator>Silberschatz;Korth and Sudarshan</dc:creator>
  <cp:lastModifiedBy>Windows User</cp:lastModifiedBy>
  <cp:revision>651</cp:revision>
  <cp:lastPrinted>1999-06-28T19:27:31Z</cp:lastPrinted>
  <dcterms:created xsi:type="dcterms:W3CDTF">2009-12-21T15:40:23Z</dcterms:created>
  <dcterms:modified xsi:type="dcterms:W3CDTF">2022-03-17T10:05:56Z</dcterms:modified>
</cp:coreProperties>
</file>