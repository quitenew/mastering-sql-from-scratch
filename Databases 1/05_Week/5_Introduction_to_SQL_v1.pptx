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52"/>
  </p:notesMasterIdLst>
  <p:handoutMasterIdLst>
    <p:handoutMasterId r:id="rId53"/>
  </p:handoutMasterIdLst>
  <p:sldIdLst>
    <p:sldId id="335" r:id="rId2"/>
    <p:sldId id="336" r:id="rId3"/>
    <p:sldId id="337" r:id="rId4"/>
    <p:sldId id="338" r:id="rId5"/>
    <p:sldId id="339" r:id="rId6"/>
    <p:sldId id="340" r:id="rId7"/>
    <p:sldId id="341" r:id="rId8"/>
    <p:sldId id="342" r:id="rId9"/>
    <p:sldId id="343" r:id="rId10"/>
    <p:sldId id="344" r:id="rId11"/>
    <p:sldId id="345" r:id="rId12"/>
    <p:sldId id="346" r:id="rId13"/>
    <p:sldId id="347" r:id="rId14"/>
    <p:sldId id="348" r:id="rId15"/>
    <p:sldId id="349" r:id="rId16"/>
    <p:sldId id="350" r:id="rId17"/>
    <p:sldId id="351" r:id="rId18"/>
    <p:sldId id="352" r:id="rId19"/>
    <p:sldId id="353" r:id="rId20"/>
    <p:sldId id="354" r:id="rId21"/>
    <p:sldId id="405" r:id="rId22"/>
    <p:sldId id="406" r:id="rId23"/>
    <p:sldId id="400" r:id="rId24"/>
    <p:sldId id="356" r:id="rId25"/>
    <p:sldId id="357" r:id="rId26"/>
    <p:sldId id="358" r:id="rId27"/>
    <p:sldId id="359" r:id="rId28"/>
    <p:sldId id="403" r:id="rId29"/>
    <p:sldId id="361" r:id="rId30"/>
    <p:sldId id="362" r:id="rId31"/>
    <p:sldId id="363" r:id="rId32"/>
    <p:sldId id="364" r:id="rId33"/>
    <p:sldId id="365" r:id="rId34"/>
    <p:sldId id="366" r:id="rId35"/>
    <p:sldId id="367" r:id="rId36"/>
    <p:sldId id="404" r:id="rId37"/>
    <p:sldId id="370" r:id="rId38"/>
    <p:sldId id="371" r:id="rId39"/>
    <p:sldId id="402" r:id="rId40"/>
    <p:sldId id="373" r:id="rId41"/>
    <p:sldId id="374" r:id="rId42"/>
    <p:sldId id="375" r:id="rId43"/>
    <p:sldId id="376" r:id="rId44"/>
    <p:sldId id="377" r:id="rId45"/>
    <p:sldId id="378" r:id="rId46"/>
    <p:sldId id="379" r:id="rId47"/>
    <p:sldId id="380" r:id="rId48"/>
    <p:sldId id="381" r:id="rId49"/>
    <p:sldId id="382" r:id="rId50"/>
    <p:sldId id="397" r:id="rId51"/>
  </p:sldIdLst>
  <p:sldSz cx="9144000" cy="6858000" type="screen4x3"/>
  <p:notesSz cx="6997700" cy="9283700"/>
  <p:custShowLst>
    <p:custShow name="Custom Show 1" id="0">
      <p:sldLst>
        <p:sld r:id="rId2"/>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95" autoAdjust="0"/>
    <p:restoredTop sz="60491" autoAdjust="0"/>
  </p:normalViewPr>
  <p:slideViewPr>
    <p:cSldViewPr snapToGrid="0">
      <p:cViewPr>
        <p:scale>
          <a:sx n="40" d="100"/>
          <a:sy n="40" d="100"/>
        </p:scale>
        <p:origin x="2130" y="108"/>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6EF5354-BFFB-44DF-8FA7-1A088153BD87}"/>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id="{5BBF6CF9-ADFE-4F6E-89A0-8CB582D8FFC5}"/>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id="{8C120FC7-7BCE-4696-BB5D-C087861E4B4E}"/>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id="{6735A123-7D3E-455E-AB82-1C3749BB052A}"/>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pPr>
              <a:defRPr/>
            </a:pPr>
            <a:fld id="{A8B4C920-550B-4EA7-9CB5-2D8883A273B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8AF117-EF14-4BF3-AB7D-D75C4F934CC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id="{D7D2DA5C-BED3-45D1-AFD2-94AF29863ABC}"/>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2936E5F-4C9B-4144-9261-C3F188AA67D9}"/>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id="{D73F14C5-05F8-4300-9D01-F3633C854740}"/>
              </a:ext>
            </a:extLst>
          </p:cNvPr>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id="{BCB6CAD9-A006-4455-8054-9CACB290288C}"/>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id="{63060AD7-0C3D-477B-BD60-55C8EBDB9451}"/>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vl1pPr>
          </a:lstStyle>
          <a:p>
            <a:pPr>
              <a:defRPr/>
            </a:pPr>
            <a:fld id="{AE66C03C-4B0E-4149-8287-A3B340EB818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1DE2DCE1-2EFC-4C42-8DFC-CBA6F33233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1637794-A468-4EC6-9DD2-8F932E639220}" type="slidenum">
              <a:rPr lang="en-US" altLang="en-US" sz="1300" smtClean="0"/>
              <a:pPr/>
              <a:t>1</a:t>
            </a:fld>
            <a:endParaRPr lang="en-US" altLang="en-US" sz="1300"/>
          </a:p>
        </p:txBody>
      </p:sp>
      <p:sp>
        <p:nvSpPr>
          <p:cNvPr id="6147" name="Rectangle 2">
            <a:extLst>
              <a:ext uri="{FF2B5EF4-FFF2-40B4-BE49-F238E27FC236}">
                <a16:creationId xmlns:a16="http://schemas.microsoft.com/office/drawing/2014/main" id="{607B12F9-7FC5-42D0-9964-0865785D1C17}"/>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2BC6D4DE-B9DA-4FD2-A997-14A566E8D5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A5814F0E-33C5-4FFC-97A8-A1EDBAA0258F}" type="slidenum">
              <a:rPr lang="en-US" altLang="en-US" sz="1200"/>
              <a:pPr/>
              <a:t>2</a:t>
            </a:fld>
            <a:endParaRPr lang="en-US" altLang="en-US" sz="1200" dirty="0"/>
          </a:p>
        </p:txBody>
      </p:sp>
      <p:sp>
        <p:nvSpPr>
          <p:cNvPr id="72706"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7"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1</a:t>
            </a:r>
          </a:p>
        </p:txBody>
      </p:sp>
      <p:sp>
        <p:nvSpPr>
          <p:cNvPr id="72708"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9"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10" name="Rectangle 6"/>
          <p:cNvSpPr>
            <a:spLocks noGrp="1" noRot="1" noChangeAspect="1" noChangeArrowheads="1" noTextEdit="1"/>
          </p:cNvSpPr>
          <p:nvPr>
            <p:ph type="sldImg"/>
          </p:nvPr>
        </p:nvSpPr>
        <p:spPr>
          <a:xfrm>
            <a:off x="1187450" y="703263"/>
            <a:ext cx="4622800" cy="3467100"/>
          </a:xfrm>
          <a:ln w="12700" cap="flat"/>
        </p:spPr>
      </p:sp>
      <p:sp>
        <p:nvSpPr>
          <p:cNvPr id="72711"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r>
              <a:rPr lang="en-US" b="0" dirty="0" smtClean="0"/>
              <a:t>In this chapter, as well as in Chapter 4 and Chapter 5, </a:t>
            </a:r>
            <a:r>
              <a:rPr lang="en-US" b="1" dirty="0" smtClean="0"/>
              <a:t>we study the most widely used database query language, SQL. </a:t>
            </a:r>
          </a:p>
          <a:p>
            <a:endParaRPr lang="en-US" sz="1100" b="1" dirty="0" smtClean="0"/>
          </a:p>
          <a:p>
            <a:r>
              <a:rPr lang="en-US" sz="1100" b="1" dirty="0" smtClean="0"/>
              <a:t>Although we refer to the SQL language as a “query language,” it can do much more than just query a database. It can define the structure of the data, modify data in the database, and specify security constraints.</a:t>
            </a:r>
          </a:p>
          <a:p>
            <a:endParaRPr lang="en-US" dirty="0" smtClean="0"/>
          </a:p>
          <a:p>
            <a:r>
              <a:rPr lang="en-US" i="0" dirty="0" smtClean="0"/>
              <a:t>It is not our intention to provide a complete users’ guide for SQL. </a:t>
            </a:r>
            <a:r>
              <a:rPr lang="en-US" dirty="0" smtClean="0"/>
              <a:t>Rather, we present SQL’s fundamental constructs and concepts. Individual implementations of SQL may differ in details or may support only a subset of the full language.</a:t>
            </a:r>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E3C87EDE-116A-4691-A4DF-061EA00B6C18}" type="slidenum">
              <a:rPr lang="en-US" altLang="en-US" sz="1200"/>
              <a:pPr/>
              <a:t>3</a:t>
            </a:fld>
            <a:endParaRPr lang="en-US" altLang="en-US" sz="1200" dirty="0"/>
          </a:p>
        </p:txBody>
      </p:sp>
      <p:sp>
        <p:nvSpPr>
          <p:cNvPr id="73730" name="Rectangle 2"/>
          <p:cNvSpPr>
            <a:spLocks noGrp="1" noRot="1" noChangeAspect="1" noChangeArrowheads="1" noTextEdit="1"/>
          </p:cNvSpPr>
          <p:nvPr>
            <p:ph type="sldImg"/>
          </p:nvPr>
        </p:nvSpPr>
        <p:spPr>
          <a:xfrm>
            <a:off x="1187450" y="703263"/>
            <a:ext cx="4622800" cy="3467100"/>
          </a:xfrm>
          <a:ln/>
        </p:spPr>
      </p:sp>
      <p:sp>
        <p:nvSpPr>
          <p:cNvPr id="73731"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1" dirty="0" smtClean="0"/>
              <a:t>IBM developed the original version of SQL, originally called Sequel, as part of the System R project in the early 1970s. The Sequel language has evolved since then, and its name has changed to SQL (Structured Query Language). Many products now support the SQL language. SQL has clearly established itself as the standard relational database language. </a:t>
            </a:r>
          </a:p>
          <a:p>
            <a:endParaRPr lang="en-US" sz="1200" dirty="0" smtClean="0"/>
          </a:p>
          <a:p>
            <a:r>
              <a:rPr lang="en-US" sz="1200" b="1" dirty="0" smtClean="0"/>
              <a:t>In 1986, the American National Standards Institute (ANSI) and the International Organization for Standardization (ISO) published an SQL standard, called SQL-86. ANSI published an extended standard for SQL, SQL-89, in 1989.</a:t>
            </a:r>
          </a:p>
          <a:p>
            <a:r>
              <a:rPr lang="en-US" sz="1200" b="1" dirty="0" smtClean="0"/>
              <a:t> The next version of the standard was SQL-92 standard, followed by SQL:1999, SQL:2003, SQL:2006, SQL:2008, SQL:2011, and most recently SQL:2016.</a:t>
            </a:r>
          </a:p>
          <a:p>
            <a:endParaRPr lang="en-US" altLang="en-US" sz="1200" b="1" dirty="0" smtClean="0"/>
          </a:p>
          <a:p>
            <a:r>
              <a:rPr lang="en-US" altLang="en-US" sz="1200" b="1" dirty="0" err="1" smtClean="0"/>
              <a:t>Posleden</a:t>
            </a:r>
            <a:r>
              <a:rPr lang="en-US" altLang="en-US" sz="1200" b="1" baseline="0" dirty="0" smtClean="0"/>
              <a:t> </a:t>
            </a:r>
            <a:r>
              <a:rPr lang="en-US" altLang="en-US" sz="1200" b="1" baseline="0" dirty="0" err="1" smtClean="0"/>
              <a:t>bulet</a:t>
            </a:r>
            <a:r>
              <a:rPr lang="en-US" altLang="en-US" sz="1200" b="1" baseline="0" dirty="0" smtClean="0"/>
              <a:t> da se </a:t>
            </a:r>
            <a:r>
              <a:rPr lang="en-US" altLang="en-US" sz="1200" b="1" baseline="0" dirty="0" err="1" smtClean="0"/>
              <a:t>pomine</a:t>
            </a:r>
            <a:endParaRPr lang="en-US" altLang="en-US" sz="1200" b="1"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79A28225-7E5D-4105-AF50-B66487E7EB00}" type="slidenum">
              <a:rPr lang="en-US" altLang="en-US" sz="1200"/>
              <a:pPr/>
              <a:t>4</a:t>
            </a:fld>
            <a:endParaRPr lang="en-US" altLang="en-US" sz="1200" dirty="0"/>
          </a:p>
        </p:txBody>
      </p:sp>
      <p:sp>
        <p:nvSpPr>
          <p:cNvPr id="74754" name="Rectangle 2"/>
          <p:cNvSpPr>
            <a:spLocks noGrp="1" noRot="1" noChangeAspect="1" noChangeArrowheads="1" noTextEdit="1"/>
          </p:cNvSpPr>
          <p:nvPr>
            <p:ph type="sldImg"/>
          </p:nvPr>
        </p:nvSpPr>
        <p:spPr>
          <a:xfrm>
            <a:off x="1187450" y="703263"/>
            <a:ext cx="4622800" cy="3467100"/>
          </a:xfrm>
          <a:ln/>
        </p:spPr>
      </p:sp>
      <p:sp>
        <p:nvSpPr>
          <p:cNvPr id="74755"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u="sng" dirty="0" smtClean="0"/>
              <a:t>The SQL language has several parts:</a:t>
            </a:r>
          </a:p>
          <a:p>
            <a:endParaRPr lang="en-US" altLang="en-US" dirty="0" smtClean="0"/>
          </a:p>
          <a:p>
            <a:pPr marL="171450" indent="-171450">
              <a:buFont typeface="Arial" panose="020B0604020202020204" pitchFamily="34" charset="0"/>
              <a:buChar char="•"/>
            </a:pPr>
            <a:r>
              <a:rPr lang="en-US" b="1" dirty="0" smtClean="0"/>
              <a:t>Data-definition language (DDL). </a:t>
            </a:r>
            <a:r>
              <a:rPr lang="en-US" i="1" dirty="0" smtClean="0"/>
              <a:t>The SQL DDL provides commands for defining relation schemas, deleting relations, and modifying relation schemas.</a:t>
            </a:r>
          </a:p>
          <a:p>
            <a:pPr marL="171450" indent="-171450">
              <a:buFont typeface="Arial" panose="020B0604020202020204" pitchFamily="34" charset="0"/>
              <a:buChar char="•"/>
            </a:pPr>
            <a:r>
              <a:rPr lang="en-US" b="1" dirty="0" smtClean="0"/>
              <a:t>Data-manipulation language (DML). </a:t>
            </a:r>
            <a:r>
              <a:rPr lang="en-US" i="1" dirty="0" smtClean="0"/>
              <a:t>The SQL DML provides the ability to query information from the database and to insert tuples into, delete tuples from, and modify tuples in the database. </a:t>
            </a:r>
          </a:p>
          <a:p>
            <a:pPr marL="171450" indent="-171450">
              <a:buFont typeface="Arial" panose="020B0604020202020204" pitchFamily="34" charset="0"/>
              <a:buChar char="•"/>
            </a:pPr>
            <a:r>
              <a:rPr lang="en-US" b="1" dirty="0" smtClean="0"/>
              <a:t>Integrity. </a:t>
            </a:r>
            <a:r>
              <a:rPr lang="en-US" b="0" i="1" dirty="0" smtClean="0"/>
              <a:t>The SQL DDL includes commands for specifying integrity constraints that the data stored in the database must satisfy. Updates that violate integrity constraints are disallowed. </a:t>
            </a:r>
          </a:p>
          <a:p>
            <a:pPr marL="171450" indent="-171450">
              <a:buFont typeface="Arial" panose="020B0604020202020204" pitchFamily="34" charset="0"/>
              <a:buChar char="•"/>
            </a:pPr>
            <a:r>
              <a:rPr lang="en-US" b="1" dirty="0" smtClean="0"/>
              <a:t>View definition. </a:t>
            </a:r>
            <a:r>
              <a:rPr lang="en-US" i="1" dirty="0" smtClean="0"/>
              <a:t>The SQL DDL includes commands for defining views. </a:t>
            </a:r>
          </a:p>
          <a:p>
            <a:pPr marL="171450" indent="-171450">
              <a:buFont typeface="Arial" panose="020B0604020202020204" pitchFamily="34" charset="0"/>
              <a:buChar char="•"/>
            </a:pPr>
            <a:r>
              <a:rPr lang="en-US" b="1" i="1" dirty="0" smtClean="0"/>
              <a:t>Transaction control. </a:t>
            </a:r>
            <a:r>
              <a:rPr lang="en-US" i="1" dirty="0" smtClean="0"/>
              <a:t>SQL includes commands for specifying the beginning and end points of transactions. </a:t>
            </a:r>
          </a:p>
          <a:p>
            <a:pPr marL="171450" indent="-171450">
              <a:buFont typeface="Arial" panose="020B0604020202020204" pitchFamily="34" charset="0"/>
              <a:buChar char="•"/>
            </a:pPr>
            <a:r>
              <a:rPr lang="en-US" b="1" dirty="0" smtClean="0"/>
              <a:t>Embedded SQL and dynamic SQL. </a:t>
            </a:r>
            <a:r>
              <a:rPr lang="en-US" i="1" dirty="0" smtClean="0"/>
              <a:t>Embedded and dynamic SQL define how SQL statements can be embedded within general-purpose programming languages, such as C, C++, and Java. </a:t>
            </a:r>
          </a:p>
          <a:p>
            <a:pPr marL="171450" indent="-171450">
              <a:buFont typeface="Arial" panose="020B0604020202020204" pitchFamily="34" charset="0"/>
              <a:buChar char="•"/>
            </a:pPr>
            <a:r>
              <a:rPr lang="en-US" b="1" dirty="0" smtClean="0"/>
              <a:t>Authorization. </a:t>
            </a:r>
            <a:r>
              <a:rPr lang="en-US" i="1" dirty="0" smtClean="0"/>
              <a:t>The SQL DDL includes commands for specifying access rights to relations and views</a:t>
            </a:r>
            <a:r>
              <a:rPr lang="en-US" dirty="0" smtClean="0"/>
              <a:t>.</a:t>
            </a:r>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79A28225-7E5D-4105-AF50-B66487E7EB00}" type="slidenum">
              <a:rPr lang="en-US" altLang="en-US" sz="1200"/>
              <a:pPr/>
              <a:t>5</a:t>
            </a:fld>
            <a:endParaRPr lang="en-US" altLang="en-US" sz="1200" dirty="0"/>
          </a:p>
        </p:txBody>
      </p:sp>
      <p:sp>
        <p:nvSpPr>
          <p:cNvPr id="74754" name="Rectangle 2"/>
          <p:cNvSpPr>
            <a:spLocks noGrp="1" noRot="1" noChangeAspect="1" noChangeArrowheads="1" noTextEdit="1"/>
          </p:cNvSpPr>
          <p:nvPr>
            <p:ph type="sldImg"/>
          </p:nvPr>
        </p:nvSpPr>
        <p:spPr>
          <a:xfrm>
            <a:off x="1187450" y="703263"/>
            <a:ext cx="4622800" cy="3467100"/>
          </a:xfrm>
          <a:ln/>
        </p:spPr>
      </p:sp>
      <p:sp>
        <p:nvSpPr>
          <p:cNvPr id="74755"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set of relations in a database are specified using a data-definition language (DDL). </a:t>
            </a:r>
          </a:p>
          <a:p>
            <a:r>
              <a:rPr lang="en-US" b="1" dirty="0" smtClean="0"/>
              <a:t>The SQL DDL allows specification of not only a set of relations, but also information about each relation, including: </a:t>
            </a:r>
          </a:p>
          <a:p>
            <a:pPr marL="171450" indent="-171450">
              <a:buFont typeface="Arial" panose="020B0604020202020204" pitchFamily="34" charset="0"/>
              <a:buChar char="•"/>
            </a:pPr>
            <a:r>
              <a:rPr lang="en-US" b="1" dirty="0" smtClean="0"/>
              <a:t>The schema for each relation. </a:t>
            </a:r>
          </a:p>
          <a:p>
            <a:pPr marL="171450" indent="-171450">
              <a:buFont typeface="Arial" panose="020B0604020202020204" pitchFamily="34" charset="0"/>
              <a:buChar char="•"/>
            </a:pPr>
            <a:r>
              <a:rPr lang="en-US" b="1" dirty="0" smtClean="0"/>
              <a:t>The types of values associated with each attribute.</a:t>
            </a:r>
          </a:p>
          <a:p>
            <a:pPr marL="171450" indent="-171450">
              <a:buFont typeface="Arial" panose="020B0604020202020204" pitchFamily="34" charset="0"/>
              <a:buChar char="•"/>
            </a:pPr>
            <a:r>
              <a:rPr lang="en-US" b="1" dirty="0" smtClean="0"/>
              <a:t>The integrity constraints. </a:t>
            </a:r>
          </a:p>
          <a:p>
            <a:pPr marL="171450" indent="-171450">
              <a:buFont typeface="Arial" panose="020B0604020202020204" pitchFamily="34" charset="0"/>
              <a:buChar char="•"/>
            </a:pPr>
            <a:r>
              <a:rPr lang="en-US" b="1" dirty="0" smtClean="0"/>
              <a:t>The set of indices to be maintained for each relation. </a:t>
            </a:r>
          </a:p>
          <a:p>
            <a:pPr marL="171450" indent="-171450">
              <a:buFont typeface="Arial" panose="020B0604020202020204" pitchFamily="34" charset="0"/>
              <a:buChar char="•"/>
            </a:pPr>
            <a:r>
              <a:rPr lang="en-US" b="1" dirty="0" smtClean="0"/>
              <a:t>The security and authorization information for each relation. </a:t>
            </a:r>
          </a:p>
          <a:p>
            <a:pPr marL="171450" indent="-171450">
              <a:buFont typeface="Arial" panose="020B0604020202020204" pitchFamily="34" charset="0"/>
              <a:buChar char="•"/>
            </a:pPr>
            <a:r>
              <a:rPr lang="en-US" b="1" dirty="0" smtClean="0"/>
              <a:t>The physical storage structure of each relation on disk.</a:t>
            </a:r>
            <a:endParaRPr lang="en-US" altLang="en-US" b="1"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E20C9E32-697E-489A-B64D-FE4953CC062F}" type="slidenum">
              <a:rPr lang="en-US" altLang="en-US" sz="1200"/>
              <a:pPr/>
              <a:t>6</a:t>
            </a:fld>
            <a:endParaRPr lang="en-US" altLang="en-US" sz="1200" dirty="0"/>
          </a:p>
        </p:txBody>
      </p:sp>
      <p:sp>
        <p:nvSpPr>
          <p:cNvPr id="75778" name="Rectangle 2"/>
          <p:cNvSpPr>
            <a:spLocks noGrp="1" noRot="1" noChangeAspect="1" noChangeArrowheads="1" noTextEdit="1"/>
          </p:cNvSpPr>
          <p:nvPr>
            <p:ph type="sldImg"/>
          </p:nvPr>
        </p:nvSpPr>
        <p:spPr>
          <a:xfrm>
            <a:off x="1187450" y="703263"/>
            <a:ext cx="4622800" cy="3467100"/>
          </a:xfrm>
          <a:ln/>
        </p:spPr>
      </p:sp>
      <p:sp>
        <p:nvSpPr>
          <p:cNvPr id="75779"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SQL standard supports a variety of built-in types, including:</a:t>
            </a:r>
          </a:p>
          <a:p>
            <a:pPr marL="171450" indent="-171450">
              <a:buFont typeface="Arial" panose="020B0604020202020204" pitchFamily="34" charset="0"/>
              <a:buChar char="•"/>
            </a:pPr>
            <a:r>
              <a:rPr lang="en-US" b="1" dirty="0" smtClean="0"/>
              <a:t>char(n): A fixed-length character string with user-specified length n. The full form, character, can be used instead. </a:t>
            </a:r>
          </a:p>
          <a:p>
            <a:pPr marL="171450" indent="-171450">
              <a:buFont typeface="Arial" panose="020B0604020202020204" pitchFamily="34" charset="0"/>
              <a:buChar char="•"/>
            </a:pPr>
            <a:r>
              <a:rPr lang="en-US" b="1" dirty="0" smtClean="0"/>
              <a:t>varchar(n): A variable-length character string with user-specified maximum length n. The full form, character varying, is equivalent. </a:t>
            </a:r>
          </a:p>
          <a:p>
            <a:pPr marL="171450" indent="-171450">
              <a:buFont typeface="Arial" panose="020B0604020202020204" pitchFamily="34" charset="0"/>
              <a:buChar char="•"/>
            </a:pPr>
            <a:r>
              <a:rPr lang="en-US" b="1" dirty="0" err="1" smtClean="0"/>
              <a:t>int</a:t>
            </a:r>
            <a:r>
              <a:rPr lang="en-US" b="1" dirty="0" smtClean="0"/>
              <a:t>: An integer (a finite subset of the integers that is machine dependent). The full form, integer, is equivalent. </a:t>
            </a:r>
          </a:p>
          <a:p>
            <a:pPr marL="171450" indent="-171450">
              <a:buFont typeface="Arial" panose="020B0604020202020204" pitchFamily="34" charset="0"/>
              <a:buChar char="•"/>
            </a:pPr>
            <a:r>
              <a:rPr lang="en-US" b="1" dirty="0" err="1" smtClean="0"/>
              <a:t>smallint</a:t>
            </a:r>
            <a:r>
              <a:rPr lang="en-US" b="1" dirty="0" smtClean="0"/>
              <a:t>: A small integer (a machine-dependent subset of the integer type). </a:t>
            </a:r>
          </a:p>
          <a:p>
            <a:pPr marL="171450" indent="-171450">
              <a:buFont typeface="Arial" panose="020B0604020202020204" pitchFamily="34" charset="0"/>
              <a:buChar char="•"/>
            </a:pPr>
            <a:r>
              <a:rPr lang="en-US" b="1" dirty="0" smtClean="0"/>
              <a:t>numeric(p, d): A fixed-point number with user-specified precision. The number consists of p digits (plus a sign), and d of the p digits are to the right of the decimal point. Thus, numeric(3,1) allows 44.5 to be stored exactly, but neither 444.5 nor 0.32 can be stored exactly in a field of this type. </a:t>
            </a:r>
          </a:p>
          <a:p>
            <a:pPr marL="171450" indent="-171450">
              <a:buFont typeface="Arial" panose="020B0604020202020204" pitchFamily="34" charset="0"/>
              <a:buChar char="•"/>
            </a:pPr>
            <a:r>
              <a:rPr lang="en-US" b="1" dirty="0" smtClean="0"/>
              <a:t>real, double precision: Floating-point and double-precision floating-point numbers with machine-dependent precision. </a:t>
            </a:r>
          </a:p>
          <a:p>
            <a:pPr marL="171450" indent="-171450">
              <a:buFont typeface="Arial" panose="020B0604020202020204" pitchFamily="34" charset="0"/>
              <a:buChar char="•"/>
            </a:pPr>
            <a:r>
              <a:rPr lang="en-US" b="1" dirty="0" smtClean="0"/>
              <a:t>float(n): A floating-point number with precision of at least n digits.</a:t>
            </a:r>
          </a:p>
          <a:p>
            <a:pPr marL="171450" indent="-171450">
              <a:buFont typeface="Arial" panose="020B0604020202020204" pitchFamily="34" charset="0"/>
              <a:buChar char="•"/>
            </a:pPr>
            <a:endParaRPr lang="en-US" altLang="en-US" dirty="0" smtClean="0"/>
          </a:p>
          <a:p>
            <a:pPr marL="0" indent="0">
              <a:buFont typeface="Arial" panose="020B0604020202020204" pitchFamily="34" charset="0"/>
              <a:buNone/>
            </a:pPr>
            <a:r>
              <a:rPr lang="en-US" dirty="0" smtClean="0"/>
              <a:t>Additional types are covered in Section 4.5.</a:t>
            </a:r>
          </a:p>
          <a:p>
            <a:pPr marL="0" indent="0">
              <a:buFont typeface="Arial" panose="020B0604020202020204" pitchFamily="34" charset="0"/>
              <a:buNone/>
            </a:pPr>
            <a:endParaRPr lang="en-US" altLang="en-US" dirty="0" smtClean="0"/>
          </a:p>
          <a:p>
            <a:pPr marL="0" indent="0">
              <a:buFont typeface="Arial" panose="020B0604020202020204" pitchFamily="34" charset="0"/>
              <a:buNone/>
            </a:pPr>
            <a:r>
              <a:rPr lang="en-US" b="1" i="1" dirty="0" smtClean="0"/>
              <a:t>Each type may include a special value called the null value. A null value indicates an absent value that may exist but be unknown or that may not exist at all. In certain cases, we may wish to prohibit null values from being entered, as we shall see shortly.</a:t>
            </a:r>
            <a:endParaRPr lang="en-US" altLang="en-US" b="1" i="1"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99813B39-7E0E-475A-9EBE-5ED71E411FC7}" type="slidenum">
              <a:rPr lang="en-US" altLang="en-US" sz="1200"/>
              <a:pPr/>
              <a:t>7</a:t>
            </a:fld>
            <a:endParaRPr lang="en-US" altLang="en-US" sz="1200" dirty="0"/>
          </a:p>
        </p:txBody>
      </p:sp>
      <p:sp>
        <p:nvSpPr>
          <p:cNvPr id="76802" name="Rectangle 2"/>
          <p:cNvSpPr>
            <a:spLocks noGrp="1" noRot="1" noChangeAspect="1" noChangeArrowheads="1" noTextEdit="1"/>
          </p:cNvSpPr>
          <p:nvPr>
            <p:ph type="sldImg"/>
          </p:nvPr>
        </p:nvSpPr>
        <p:spPr>
          <a:xfrm>
            <a:off x="1187450" y="703263"/>
            <a:ext cx="4622800" cy="3467100"/>
          </a:xfrm>
          <a:ln/>
        </p:spPr>
      </p:sp>
      <p:sp>
        <p:nvSpPr>
          <p:cNvPr id="76803"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general form of the create table command is: </a:t>
            </a:r>
          </a:p>
          <a:p>
            <a:pPr>
              <a:buFont typeface="Monotype Sorts" charset="2"/>
              <a:buNone/>
              <a:tabLst>
                <a:tab pos="1489075" algn="l"/>
                <a:tab pos="1949450" algn="l"/>
                <a:tab pos="3036888" algn="l"/>
              </a:tabLst>
            </a:pPr>
            <a:r>
              <a:rPr lang="en-US" altLang="en-US" sz="1200" b="1" dirty="0" smtClean="0"/>
              <a:t>create table </a:t>
            </a:r>
            <a:r>
              <a:rPr lang="en-US" altLang="en-US" sz="1200" i="1" dirty="0" smtClean="0"/>
              <a:t>r </a:t>
            </a:r>
          </a:p>
          <a:p>
            <a:pPr>
              <a:buFont typeface="Monotype Sorts" charset="2"/>
              <a:buNone/>
              <a:tabLst>
                <a:tab pos="1489075" algn="l"/>
                <a:tab pos="1949450" algn="l"/>
                <a:tab pos="3036888" algn="l"/>
              </a:tabLst>
            </a:pPr>
            <a:r>
              <a:rPr lang="en-US" altLang="en-US" sz="1200" i="1" dirty="0" smtClean="0"/>
              <a:t>             </a:t>
            </a:r>
            <a:r>
              <a:rPr lang="en-US" altLang="en-US" sz="1200" dirty="0" smtClean="0"/>
              <a:t>(</a:t>
            </a:r>
            <a:r>
              <a:rPr lang="en-US" altLang="en-US" sz="1200" i="1" dirty="0" smtClean="0"/>
              <a:t>A</a:t>
            </a:r>
            <a:r>
              <a:rPr lang="en-US" altLang="en-US" sz="1200" baseline="-25000" dirty="0" smtClean="0"/>
              <a:t>1</a:t>
            </a:r>
            <a:r>
              <a:rPr lang="en-US" altLang="en-US" sz="1200" dirty="0" smtClean="0"/>
              <a:t> </a:t>
            </a:r>
            <a:r>
              <a:rPr lang="en-US" altLang="en-US" sz="1200" i="1" dirty="0" smtClean="0"/>
              <a:t>D</a:t>
            </a:r>
            <a:r>
              <a:rPr lang="en-US" altLang="en-US" sz="1200" baseline="-25000" dirty="0" smtClean="0"/>
              <a:t>1</a:t>
            </a:r>
            <a:r>
              <a:rPr lang="en-US" altLang="en-US" sz="1200" dirty="0" smtClean="0"/>
              <a:t>, </a:t>
            </a:r>
            <a:r>
              <a:rPr lang="en-US" altLang="en-US" sz="1200" i="1" dirty="0" smtClean="0"/>
              <a:t>A</a:t>
            </a:r>
            <a:r>
              <a:rPr lang="en-US" altLang="en-US" sz="1200" baseline="-25000" dirty="0" smtClean="0"/>
              <a:t>2</a:t>
            </a:r>
            <a:r>
              <a:rPr lang="en-US" altLang="en-US" sz="1200" dirty="0" smtClean="0"/>
              <a:t> </a:t>
            </a:r>
            <a:r>
              <a:rPr lang="en-US" altLang="en-US" sz="1200" i="1" dirty="0" smtClean="0"/>
              <a:t>D</a:t>
            </a:r>
            <a:r>
              <a:rPr lang="en-US" altLang="en-US" sz="1200" baseline="-25000" dirty="0" smtClean="0"/>
              <a:t>2</a:t>
            </a:r>
            <a:r>
              <a:rPr lang="en-US" altLang="en-US" sz="1200" dirty="0" smtClean="0"/>
              <a:t>, ..., </a:t>
            </a:r>
            <a:r>
              <a:rPr lang="en-US" altLang="en-US" sz="1200" i="1" dirty="0" smtClean="0"/>
              <a:t>A</a:t>
            </a:r>
            <a:r>
              <a:rPr lang="en-US" altLang="en-US" sz="1200" i="1" baseline="-25000" dirty="0" smtClean="0"/>
              <a:t>n</a:t>
            </a:r>
            <a:r>
              <a:rPr lang="en-US" altLang="en-US" sz="1200" i="1" dirty="0" smtClean="0"/>
              <a:t> </a:t>
            </a:r>
            <a:r>
              <a:rPr lang="en-US" altLang="en-US" sz="1200" i="1" dirty="0" err="1" smtClean="0"/>
              <a:t>D</a:t>
            </a:r>
            <a:r>
              <a:rPr lang="en-US" altLang="en-US" sz="1200" i="1" baseline="-25000" dirty="0" err="1" smtClean="0"/>
              <a:t>n</a:t>
            </a:r>
            <a:r>
              <a:rPr lang="en-US" altLang="en-US" sz="1200" i="1" dirty="0" smtClean="0"/>
              <a:t>,</a:t>
            </a:r>
          </a:p>
          <a:p>
            <a:pPr>
              <a:buFont typeface="Monotype Sorts" charset="2"/>
              <a:buNone/>
              <a:tabLst>
                <a:tab pos="1489075" algn="l"/>
                <a:tab pos="1949450" algn="l"/>
                <a:tab pos="3036888" algn="l"/>
              </a:tabLst>
            </a:pPr>
            <a:r>
              <a:rPr lang="en-US" altLang="en-US" sz="1200" i="1" baseline="0" dirty="0" smtClean="0"/>
              <a:t>                               </a:t>
            </a:r>
            <a:r>
              <a:rPr lang="en-US" altLang="en-US" sz="1200" dirty="0" smtClean="0"/>
              <a:t>(integrity-constraint</a:t>
            </a:r>
            <a:r>
              <a:rPr lang="en-US" altLang="en-US" sz="1200" baseline="-25000" dirty="0" smtClean="0"/>
              <a:t>1</a:t>
            </a:r>
            <a:r>
              <a:rPr lang="en-US" altLang="en-US" sz="1200" dirty="0" smtClean="0"/>
              <a:t>),</a:t>
            </a:r>
            <a:br>
              <a:rPr lang="en-US" altLang="en-US" sz="1200" dirty="0" smtClean="0"/>
            </a:br>
            <a:r>
              <a:rPr lang="en-US" altLang="en-US" sz="1200" dirty="0" smtClean="0"/>
              <a:t>	                 ...,</a:t>
            </a:r>
            <a:br>
              <a:rPr lang="en-US" altLang="en-US" sz="1200" dirty="0" smtClean="0"/>
            </a:br>
            <a:r>
              <a:rPr lang="en-US" altLang="en-US" sz="1200" dirty="0" smtClean="0"/>
              <a:t>                               (integrity-</a:t>
            </a:r>
            <a:r>
              <a:rPr lang="en-US" altLang="en-US" sz="1200" dirty="0" err="1" smtClean="0"/>
              <a:t>constraint</a:t>
            </a:r>
            <a:r>
              <a:rPr lang="en-US" altLang="en-US" sz="1200" baseline="-25000" dirty="0" err="1" smtClean="0"/>
              <a:t>k</a:t>
            </a:r>
            <a:r>
              <a:rPr lang="en-US" altLang="en-US" sz="1200" dirty="0" smtClean="0"/>
              <a:t>))</a:t>
            </a:r>
          </a:p>
          <a:p>
            <a:endParaRPr lang="en-US" dirty="0" smtClean="0"/>
          </a:p>
          <a:p>
            <a:endParaRPr lang="en-US" dirty="0" smtClean="0"/>
          </a:p>
          <a:p>
            <a:r>
              <a:rPr lang="en-US" b="1" dirty="0" smtClean="0"/>
              <a:t>where r is the name of the relation, each Ai is the name of an attribute in the schema of relation r, and Di is the domain of attribute Ai ; that is, Di specifies the type of attribute Ai along with optional constraints that restrict the set of allowed values for Ai.</a:t>
            </a:r>
          </a:p>
          <a:p>
            <a:endParaRPr lang="en-US" dirty="0" smtClean="0"/>
          </a:p>
          <a:p>
            <a:endParaRPr lang="en-US" dirty="0" smtClean="0"/>
          </a:p>
          <a:p>
            <a:r>
              <a:rPr lang="en-US" b="1" dirty="0" smtClean="0"/>
              <a:t>We define an SQL relation by using the create table command. The following command creates a relation department in the database: </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create table</a:t>
            </a:r>
            <a:r>
              <a:rPr lang="en-US" altLang="en-US" sz="1200" dirty="0" smtClean="0"/>
              <a:t> </a:t>
            </a:r>
            <a:r>
              <a:rPr lang="en-US" altLang="en-US" sz="1200" i="1" dirty="0" smtClean="0"/>
              <a:t>instructor</a:t>
            </a:r>
            <a:r>
              <a:rPr lang="en-US" altLang="en-US" sz="1200" dirty="0" smtClean="0"/>
              <a:t> (</a:t>
            </a:r>
            <a:br>
              <a:rPr lang="en-US" altLang="en-US" sz="1200" dirty="0" smtClean="0"/>
            </a:br>
            <a:r>
              <a:rPr lang="en-US" altLang="en-US" sz="1200" dirty="0" smtClean="0"/>
              <a:t>                             </a:t>
            </a:r>
            <a:r>
              <a:rPr lang="en-US" altLang="en-US" sz="1200" i="1" dirty="0" smtClean="0"/>
              <a:t>ID</a:t>
            </a:r>
            <a:r>
              <a:rPr lang="en-US" altLang="en-US" sz="1200" dirty="0" smtClean="0"/>
              <a:t>                </a:t>
            </a:r>
            <a:r>
              <a:rPr lang="en-US" altLang="en-US" sz="1200" b="1" dirty="0" smtClean="0"/>
              <a:t>char</a:t>
            </a:r>
            <a:r>
              <a:rPr lang="en-US" altLang="en-US" sz="1200" dirty="0" smtClean="0"/>
              <a:t>(5),</a:t>
            </a:r>
            <a:br>
              <a:rPr lang="en-US" altLang="en-US" sz="1200" dirty="0" smtClean="0"/>
            </a:br>
            <a:r>
              <a:rPr lang="en-US" altLang="en-US" sz="1200" dirty="0" smtClean="0"/>
              <a:t>                             </a:t>
            </a:r>
            <a:r>
              <a:rPr lang="en-US" altLang="en-US" sz="1200" i="1" dirty="0" smtClean="0"/>
              <a:t>name           </a:t>
            </a:r>
            <a:r>
              <a:rPr lang="en-US" altLang="en-US" sz="1200" b="1" dirty="0" smtClean="0"/>
              <a:t>varchar</a:t>
            </a:r>
            <a:r>
              <a:rPr lang="en-US" altLang="en-US" sz="1200" dirty="0" smtClean="0"/>
              <a:t>(20)</a:t>
            </a:r>
            <a:r>
              <a:rPr lang="en-US" altLang="en-US" sz="1200" b="1" dirty="0" smtClean="0"/>
              <a:t>,</a:t>
            </a:r>
            <a:r>
              <a:rPr lang="en-US" altLang="en-US" sz="1200" b="1" i="1" dirty="0" smtClean="0"/>
              <a:t/>
            </a:r>
            <a:br>
              <a:rPr lang="en-US" altLang="en-US" sz="1200" b="1" i="1" dirty="0" smtClean="0"/>
            </a:br>
            <a:r>
              <a:rPr lang="en-US" altLang="en-US" sz="1200" b="1" i="1" dirty="0" smtClean="0"/>
              <a:t>                             </a:t>
            </a:r>
            <a:r>
              <a:rPr lang="en-US" altLang="en-US" sz="1200" i="1" dirty="0" err="1" smtClean="0"/>
              <a:t>dept_name</a:t>
            </a:r>
            <a:r>
              <a:rPr lang="en-US" altLang="en-US" sz="1200" i="1" dirty="0" smtClean="0"/>
              <a:t>  </a:t>
            </a:r>
            <a:r>
              <a:rPr lang="en-US" altLang="en-US" sz="1200" b="1" dirty="0" smtClean="0"/>
              <a:t>varchar</a:t>
            </a:r>
            <a:r>
              <a:rPr lang="en-US" altLang="en-US" sz="1200" dirty="0" smtClean="0"/>
              <a:t>(20),</a:t>
            </a:r>
            <a:br>
              <a:rPr lang="en-US" altLang="en-US" sz="1200" dirty="0" smtClean="0"/>
            </a:br>
            <a:r>
              <a:rPr lang="en-US" altLang="en-US" sz="1200" dirty="0" smtClean="0"/>
              <a:t>                             </a:t>
            </a:r>
            <a:r>
              <a:rPr lang="en-US" altLang="en-US" sz="1200" i="1" dirty="0" smtClean="0"/>
              <a:t>salary</a:t>
            </a:r>
            <a:r>
              <a:rPr lang="en-US" altLang="en-US" sz="1200" dirty="0" smtClean="0"/>
              <a:t>           </a:t>
            </a:r>
            <a:r>
              <a:rPr lang="en-US" altLang="en-US" sz="1200" b="1" dirty="0" smtClean="0"/>
              <a:t>numeric</a:t>
            </a:r>
            <a:r>
              <a:rPr lang="en-US" altLang="en-US" sz="1200" dirty="0" smtClean="0"/>
              <a:t>(8,2))</a:t>
            </a:r>
          </a:p>
          <a:p>
            <a:endParaRPr lang="en-US" altLang="en-US" dirty="0" smtClean="0"/>
          </a:p>
          <a:p>
            <a:r>
              <a:rPr lang="en-US" dirty="0" smtClean="0"/>
              <a:t>The relation created above has three attributes, </a:t>
            </a:r>
            <a:r>
              <a:rPr lang="en-US" dirty="0" err="1" smtClean="0"/>
              <a:t>dept_name</a:t>
            </a:r>
            <a:r>
              <a:rPr lang="en-US" dirty="0" smtClean="0"/>
              <a:t>, which is a character string of maximum length 20, building, which is a character string of maximum length 15, and budget, which is a number with 12 digits in total, two of which are after the decimal point. The create table command also specifies that the </a:t>
            </a:r>
            <a:r>
              <a:rPr lang="en-US" dirty="0" err="1" smtClean="0"/>
              <a:t>dept</a:t>
            </a:r>
            <a:r>
              <a:rPr lang="en-US" dirty="0" smtClean="0"/>
              <a:t> name attribute is the primary key of the department relation.</a:t>
            </a:r>
          </a:p>
          <a:p>
            <a:endParaRPr lang="en-US" altLang="en-US" dirty="0" smtClean="0"/>
          </a:p>
          <a:p>
            <a:r>
              <a:rPr lang="en-US" dirty="0" smtClean="0"/>
              <a:t>The semicolon shown at the end of the create table statements, as well as at the end of other SQL statements later in this chapter, is optional in many SQL implementations.</a:t>
            </a:r>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2C57A01C-1044-4195-A3E2-2CD774BF6255}" type="slidenum">
              <a:rPr lang="en-US" altLang="en-US" sz="1200"/>
              <a:pPr/>
              <a:t>8</a:t>
            </a:fld>
            <a:endParaRPr lang="en-US" altLang="en-US" sz="1200" dirty="0"/>
          </a:p>
        </p:txBody>
      </p:sp>
      <p:sp>
        <p:nvSpPr>
          <p:cNvPr id="77826" name="Rectangle 2"/>
          <p:cNvSpPr>
            <a:spLocks noGrp="1" noRot="1" noChangeAspect="1" noChangeArrowheads="1" noTextEdit="1"/>
          </p:cNvSpPr>
          <p:nvPr>
            <p:ph type="sldImg"/>
          </p:nvPr>
        </p:nvSpPr>
        <p:spPr>
          <a:xfrm>
            <a:off x="1187450" y="703263"/>
            <a:ext cx="4622800" cy="3467100"/>
          </a:xfrm>
          <a:ln/>
        </p:spPr>
      </p:sp>
      <p:sp>
        <p:nvSpPr>
          <p:cNvPr id="77827"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SQL supports a number of different integrity constraints. In this section, we discuss only a few of them:</a:t>
            </a:r>
          </a:p>
          <a:p>
            <a:endParaRPr lang="en-US" altLang="en-US" dirty="0" smtClean="0"/>
          </a:p>
          <a:p>
            <a:pPr marL="171450" indent="-171450">
              <a:buFont typeface="Arial" panose="020B0604020202020204" pitchFamily="34" charset="0"/>
              <a:buChar char="•"/>
            </a:pPr>
            <a:r>
              <a:rPr lang="en-US" b="1" dirty="0" smtClean="0"/>
              <a:t>primary key </a:t>
            </a:r>
            <a:r>
              <a:rPr lang="en-US" dirty="0" smtClean="0"/>
              <a:t>(A</a:t>
            </a:r>
            <a:r>
              <a:rPr lang="en-US" baseline="-25000" dirty="0" smtClean="0"/>
              <a:t>j1</a:t>
            </a:r>
            <a:r>
              <a:rPr lang="en-US" dirty="0" smtClean="0"/>
              <a:t> , A</a:t>
            </a:r>
            <a:r>
              <a:rPr lang="en-US" baseline="-25000" dirty="0" smtClean="0"/>
              <a:t>j2</a:t>
            </a:r>
            <a:r>
              <a:rPr lang="en-US" dirty="0" smtClean="0"/>
              <a:t> , …, </a:t>
            </a:r>
            <a:r>
              <a:rPr lang="en-US" dirty="0" err="1" smtClean="0"/>
              <a:t>A</a:t>
            </a:r>
            <a:r>
              <a:rPr lang="en-US" baseline="-25000" dirty="0" err="1" smtClean="0"/>
              <a:t>jm</a:t>
            </a:r>
            <a:r>
              <a:rPr lang="en-US" dirty="0" smtClean="0"/>
              <a:t> ): </a:t>
            </a:r>
            <a:r>
              <a:rPr lang="en-US" b="1" i="1" dirty="0" smtClean="0"/>
              <a:t>The primary-key specification says that attributes A</a:t>
            </a:r>
            <a:r>
              <a:rPr lang="en-US" b="1" i="1" baseline="-25000" dirty="0" smtClean="0"/>
              <a:t>j1</a:t>
            </a:r>
            <a:r>
              <a:rPr lang="en-US" b="1" i="1" dirty="0" smtClean="0"/>
              <a:t> , A</a:t>
            </a:r>
            <a:r>
              <a:rPr lang="en-US" b="1" i="1" baseline="-25000" dirty="0" smtClean="0"/>
              <a:t>j2</a:t>
            </a:r>
            <a:r>
              <a:rPr lang="en-US" b="1" i="1" dirty="0" smtClean="0"/>
              <a:t> , …, </a:t>
            </a:r>
            <a:r>
              <a:rPr lang="en-US" b="1" i="1" dirty="0" err="1" smtClean="0"/>
              <a:t>A</a:t>
            </a:r>
            <a:r>
              <a:rPr lang="en-US" b="1" i="1" baseline="-25000" dirty="0" err="1" smtClean="0"/>
              <a:t>jm</a:t>
            </a:r>
            <a:r>
              <a:rPr lang="en-US" b="1" i="1" dirty="0" smtClean="0"/>
              <a:t> form the primary key for the relation. The primary-key attributes are required to be </a:t>
            </a:r>
            <a:r>
              <a:rPr lang="en-US" b="1" i="1" dirty="0" err="1" smtClean="0"/>
              <a:t>nonnull</a:t>
            </a:r>
            <a:r>
              <a:rPr lang="en-US" b="1" i="1" dirty="0" smtClean="0"/>
              <a:t> and unique; that is, no tuple can have a null value for a primary-key attribute, and no two tuples in the relation can be equal on all the primary-key attributes. Although the primary-key specification is optional, it is generally a good idea to specify a primary key for each relation.</a:t>
            </a:r>
          </a:p>
          <a:p>
            <a:pPr marL="171450" indent="-171450">
              <a:buFont typeface="Arial" panose="020B0604020202020204" pitchFamily="34" charset="0"/>
              <a:buChar char="•"/>
            </a:pPr>
            <a:endParaRPr lang="en-US" dirty="0" smtClean="0"/>
          </a:p>
          <a:p>
            <a:pPr marL="171450" indent="-171450">
              <a:buFont typeface="Arial" panose="020B0604020202020204" pitchFamily="34" charset="0"/>
              <a:buChar char="•"/>
            </a:pPr>
            <a:r>
              <a:rPr lang="en-US" b="1" dirty="0" smtClean="0"/>
              <a:t>foreign key </a:t>
            </a:r>
            <a:r>
              <a:rPr lang="en-US" dirty="0" smtClean="0"/>
              <a:t>(A</a:t>
            </a:r>
            <a:r>
              <a:rPr lang="en-US" baseline="-25000" dirty="0" smtClean="0"/>
              <a:t>k1</a:t>
            </a:r>
            <a:r>
              <a:rPr lang="en-US" dirty="0" smtClean="0"/>
              <a:t> , A</a:t>
            </a:r>
            <a:r>
              <a:rPr lang="en-US" baseline="-25000" dirty="0" smtClean="0"/>
              <a:t>k2</a:t>
            </a:r>
            <a:r>
              <a:rPr lang="en-US" dirty="0" smtClean="0"/>
              <a:t> , …, </a:t>
            </a:r>
            <a:r>
              <a:rPr lang="en-US" dirty="0" err="1" smtClean="0"/>
              <a:t>A</a:t>
            </a:r>
            <a:r>
              <a:rPr lang="en-US" baseline="-25000" dirty="0" err="1" smtClean="0"/>
              <a:t>kn</a:t>
            </a:r>
            <a:r>
              <a:rPr lang="en-US" dirty="0" smtClean="0"/>
              <a:t> ) </a:t>
            </a:r>
            <a:r>
              <a:rPr lang="en-US" b="1" dirty="0" smtClean="0"/>
              <a:t>references s: </a:t>
            </a:r>
            <a:r>
              <a:rPr lang="en-US" b="1" i="1" dirty="0" smtClean="0"/>
              <a:t>The foreign key specification says that the values of attributes (A</a:t>
            </a:r>
            <a:r>
              <a:rPr lang="en-US" b="1" i="1" baseline="-25000" dirty="0" smtClean="0"/>
              <a:t>k1</a:t>
            </a:r>
            <a:r>
              <a:rPr lang="en-US" b="1" i="1" dirty="0" smtClean="0"/>
              <a:t> , A</a:t>
            </a:r>
            <a:r>
              <a:rPr lang="en-US" b="1" i="1" baseline="-25000" dirty="0" smtClean="0"/>
              <a:t>k2</a:t>
            </a:r>
            <a:r>
              <a:rPr lang="en-US" b="1" i="1" dirty="0" smtClean="0"/>
              <a:t> , …, </a:t>
            </a:r>
            <a:r>
              <a:rPr lang="en-US" b="1" i="1" dirty="0" err="1" smtClean="0"/>
              <a:t>A</a:t>
            </a:r>
            <a:r>
              <a:rPr lang="en-US" b="1" i="1" baseline="-25000" dirty="0" err="1" smtClean="0"/>
              <a:t>kn</a:t>
            </a:r>
            <a:r>
              <a:rPr lang="en-US" b="1" i="1" dirty="0" smtClean="0"/>
              <a:t> ) for any tuple in the relation must correspond to values of the primary key attributes of some tuple in relation s. </a:t>
            </a:r>
          </a:p>
          <a:p>
            <a:pPr marL="0" indent="0">
              <a:buFont typeface="Arial" panose="020B0604020202020204" pitchFamily="34" charset="0"/>
              <a:buNone/>
            </a:pPr>
            <a:r>
              <a:rPr lang="en-US" dirty="0" smtClean="0"/>
              <a:t>Figure 3.1 presents a partial SQL DDL definition of the university database we use in the text. The definition of the course table has a declaration “foreign key (</a:t>
            </a:r>
            <a:r>
              <a:rPr lang="en-US" dirty="0" err="1" smtClean="0"/>
              <a:t>dept</a:t>
            </a:r>
            <a:r>
              <a:rPr lang="en-US" dirty="0" smtClean="0"/>
              <a:t> name) references department”. This foreign-key declaration specifies that for each course tuple, the department name specified in the tuple must exist in the primary key attribute (</a:t>
            </a:r>
            <a:r>
              <a:rPr lang="en-US" dirty="0" err="1" smtClean="0"/>
              <a:t>dept</a:t>
            </a:r>
            <a:r>
              <a:rPr lang="en-US" dirty="0" smtClean="0"/>
              <a:t> name) of the department relation. Without this constraint, it is possible for a course to specify a nonexistent department name. Figure 3.1 also shows foreign-key constraints on tables section, instructor and teaches. Some database systems, including MySQL, require an alternative syntax, “foreign key (</a:t>
            </a:r>
            <a:r>
              <a:rPr lang="en-US" dirty="0" err="1" smtClean="0"/>
              <a:t>dept</a:t>
            </a:r>
            <a:r>
              <a:rPr lang="en-US" dirty="0" smtClean="0"/>
              <a:t> name) references department(</a:t>
            </a:r>
            <a:r>
              <a:rPr lang="en-US" dirty="0" err="1" smtClean="0"/>
              <a:t>dept</a:t>
            </a:r>
            <a:r>
              <a:rPr lang="en-US" dirty="0" smtClean="0"/>
              <a:t> name)”, where the referenced attributes in the referenced table are listed explicitly.</a:t>
            </a:r>
          </a:p>
          <a:p>
            <a:pPr marL="0" indent="0">
              <a:buFont typeface="Arial" panose="020B0604020202020204" pitchFamily="34" charset="0"/>
              <a:buNone/>
            </a:pPr>
            <a:endParaRPr lang="en-US" altLang="en-US" dirty="0" smtClean="0"/>
          </a:p>
          <a:p>
            <a:pPr marL="171450" indent="-171450">
              <a:buFont typeface="Arial" panose="020B0604020202020204" pitchFamily="34" charset="0"/>
              <a:buChar char="•"/>
            </a:pPr>
            <a:r>
              <a:rPr lang="en-US" b="1" dirty="0" smtClean="0"/>
              <a:t>not null: </a:t>
            </a:r>
            <a:r>
              <a:rPr lang="en-US" b="1" i="1" dirty="0" smtClean="0"/>
              <a:t>The not null constraint on an attribute specifies that the null value is not allowed for that attribute; in other words, the constraint excludes the null value from the domain of that attribute. </a:t>
            </a:r>
            <a:r>
              <a:rPr lang="en-US" dirty="0" smtClean="0"/>
              <a:t>For example, in Figure 3.1, the not null constraint on the name attribute of the instructor relation ensures that the name of an instructor cannot be null.</a:t>
            </a:r>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66A075BA-FDA7-450B-AD36-61344A2A677E}" type="slidenum">
              <a:rPr lang="en-US" altLang="en-US" sz="1200"/>
              <a:pPr/>
              <a:t>9</a:t>
            </a:fld>
            <a:endParaRPr lang="en-US" altLang="en-US" sz="1200" dirty="0"/>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i="1" dirty="0" smtClean="0"/>
              <a:t>Figure 3.1 presents a partial SQL DDL definition of the university database we use in the text. The definition of the course (student) table has a declaration “foreign key (</a:t>
            </a:r>
            <a:r>
              <a:rPr lang="en-US" b="1" i="1" dirty="0" err="1" smtClean="0"/>
              <a:t>dept</a:t>
            </a:r>
            <a:r>
              <a:rPr lang="en-US" b="1" i="1" dirty="0" smtClean="0"/>
              <a:t> name) references department”. This foreign-key declaration specifies that for each course </a:t>
            </a:r>
            <a:r>
              <a:rPr lang="en-US" b="1" i="1" dirty="0" smtClean="0"/>
              <a:t>(student) tuple</a:t>
            </a:r>
            <a:r>
              <a:rPr lang="en-US" b="1" i="1" dirty="0" smtClean="0"/>
              <a:t>, the department name specified in the tuple must exist in the primary key attribute (</a:t>
            </a:r>
            <a:r>
              <a:rPr lang="en-US" b="1" i="1" dirty="0" err="1" smtClean="0"/>
              <a:t>dept_name</a:t>
            </a:r>
            <a:r>
              <a:rPr lang="en-US" b="1" i="1" dirty="0" smtClean="0"/>
              <a:t>) of the department relation. Without this constraint, it is possible for a course to specify a nonexistent department name. </a:t>
            </a:r>
            <a:r>
              <a:rPr lang="en-US" b="0" i="0" dirty="0" smtClean="0"/>
              <a:t>Figure 3.1 also shows foreign-key constraints on tables section, instructor and teaches. Some database systems, including MySQL, require an alternative syntax, “foreign key (</a:t>
            </a:r>
            <a:r>
              <a:rPr lang="en-US" b="0" i="0" dirty="0" err="1" smtClean="0"/>
              <a:t>dept_name</a:t>
            </a:r>
            <a:r>
              <a:rPr lang="en-US" b="0" i="0" dirty="0" smtClean="0"/>
              <a:t>) references department(</a:t>
            </a:r>
            <a:r>
              <a:rPr lang="en-US" b="0" i="0" dirty="0" err="1" smtClean="0"/>
              <a:t>dept_name</a:t>
            </a:r>
            <a:r>
              <a:rPr lang="en-US" b="0" i="0" dirty="0" smtClean="0"/>
              <a:t>)”, where the referenced attributes in the referenced table are listed explicitly.</a:t>
            </a:r>
          </a:p>
          <a:p>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CF20BED2-5EAE-4848-8443-B0063BF5F6F2}" type="slidenum">
              <a:rPr lang="en-US" altLang="en-US" sz="1200"/>
              <a:pPr/>
              <a:t>10</a:t>
            </a:fld>
            <a:endParaRPr lang="en-US" altLang="en-US" sz="1200" dirty="0"/>
          </a:p>
        </p:txBody>
      </p:sp>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i="1" dirty="0" smtClean="0"/>
              <a:t>This foreign-key declaration specifies that for each course tuple, the department name specified in the tuple must exist in the primary key attribute (</a:t>
            </a:r>
            <a:r>
              <a:rPr lang="en-US" b="1" i="1" dirty="0" err="1" smtClean="0"/>
              <a:t>dept_name</a:t>
            </a:r>
            <a:r>
              <a:rPr lang="en-US" b="1" i="1" dirty="0" smtClean="0"/>
              <a:t>) of the department relation</a:t>
            </a:r>
            <a:endParaRPr lang="en-US" altLang="en-US" dirty="0" smtClean="0"/>
          </a:p>
          <a:p>
            <a:endParaRPr lang="en-US" altLang="en-US" dirty="0" smtClean="0"/>
          </a:p>
          <a:p>
            <a:r>
              <a:rPr lang="en-US" altLang="en-US" dirty="0" smtClean="0"/>
              <a:t>Next table from university database</a:t>
            </a:r>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63B0D9D7-5294-4E39-8BC0-4C255919E226}" type="slidenum">
              <a:rPr lang="en-US" altLang="en-US" sz="1200"/>
              <a:pPr/>
              <a:t>11</a:t>
            </a:fld>
            <a:endParaRPr lang="en-US" altLang="en-US" sz="1200" dirty="0"/>
          </a:p>
        </p:txBody>
      </p:sp>
      <p:sp>
        <p:nvSpPr>
          <p:cNvPr id="80898" name="Rectangle 2"/>
          <p:cNvSpPr>
            <a:spLocks noGrp="1" noRot="1" noChangeAspect="1" noChangeArrowheads="1" noTextEdit="1"/>
          </p:cNvSpPr>
          <p:nvPr>
            <p:ph type="sldImg"/>
          </p:nvPr>
        </p:nvSpPr>
        <p:spPr>
          <a:xfrm>
            <a:off x="1187450" y="703263"/>
            <a:ext cx="4622800" cy="3467100"/>
          </a:xfrm>
          <a:ln/>
        </p:spPr>
      </p:sp>
      <p:sp>
        <p:nvSpPr>
          <p:cNvPr id="80899"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SQL prevents any update to the database that violates an integrity constraint. </a:t>
            </a:r>
            <a:r>
              <a:rPr lang="en-US" b="1" i="1" dirty="0" smtClean="0"/>
              <a:t>For example, if a newly inserted or modified tuple in a relation has null values for any primary-key attribute, or if the tuple has the same value on the primary-key attributes as does another tuple in the relation, SQL flags an error and prevents the update. Similarly, an insertion of a course tuple with a </a:t>
            </a:r>
            <a:r>
              <a:rPr lang="en-US" b="1" i="1" dirty="0" err="1" smtClean="0"/>
              <a:t>dept_name</a:t>
            </a:r>
            <a:r>
              <a:rPr lang="en-US" b="1" i="1" dirty="0" smtClean="0"/>
              <a:t> </a:t>
            </a:r>
            <a:r>
              <a:rPr lang="en-US" b="1" i="1" dirty="0" smtClean="0"/>
              <a:t>value that does not appear in the department relation would violate the foreign-key constraint on course, and SQL prevents such an insertion from taking place.</a:t>
            </a:r>
          </a:p>
          <a:p>
            <a:endParaRPr lang="en-US" altLang="en-US" dirty="0" smtClean="0"/>
          </a:p>
          <a:p>
            <a:r>
              <a:rPr lang="en-US" b="1" dirty="0" smtClean="0"/>
              <a:t>A newly created relation is empty initially. Inserting tuples into a relation, updating them, and deleting them are done by data manipulation statements insert, update, and delete, </a:t>
            </a:r>
            <a:r>
              <a:rPr lang="en-US" dirty="0" smtClean="0"/>
              <a:t>which are covered in Section 3.9.</a:t>
            </a:r>
          </a:p>
          <a:p>
            <a:endParaRPr lang="en-US" altLang="en-US" dirty="0" smtClean="0"/>
          </a:p>
          <a:p>
            <a:r>
              <a:rPr lang="en-US" b="1" dirty="0" smtClean="0"/>
              <a:t>To remove a relation from an SQL database, we use the drop table command. The drop table command deletes all information about the dropped relation from the database. The command</a:t>
            </a:r>
          </a:p>
          <a:p>
            <a:endParaRPr lang="en-US" altLang="en-US" dirty="0" smtClean="0"/>
          </a:p>
          <a:p>
            <a:r>
              <a:rPr lang="en-US" dirty="0" smtClean="0"/>
              <a:t>drop table r;</a:t>
            </a:r>
          </a:p>
          <a:p>
            <a:endParaRPr lang="en-US" altLang="en-US" dirty="0" smtClean="0"/>
          </a:p>
          <a:p>
            <a:r>
              <a:rPr lang="en-US" b="1" dirty="0" smtClean="0"/>
              <a:t>is a more drastic action than</a:t>
            </a:r>
          </a:p>
          <a:p>
            <a:endParaRPr lang="en-US" dirty="0" smtClean="0"/>
          </a:p>
          <a:p>
            <a:r>
              <a:rPr lang="en-US" dirty="0" smtClean="0"/>
              <a:t>delete from r;</a:t>
            </a:r>
          </a:p>
          <a:p>
            <a:endParaRPr lang="en-US" altLang="en-US" dirty="0" smtClean="0"/>
          </a:p>
          <a:p>
            <a:r>
              <a:rPr lang="en-US" b="1" dirty="0" smtClean="0"/>
              <a:t>The latter retains relation r, but deletes all tuples in r. The former deletes not only all tuples of r, but also the schema for r. After r is dropped, no tuples can be inserted into r unless it is re-created with the create table command.</a:t>
            </a:r>
          </a:p>
          <a:p>
            <a:endParaRPr lang="en-US" altLang="en-US" dirty="0" smtClean="0"/>
          </a:p>
          <a:p>
            <a:r>
              <a:rPr lang="en-US" b="1" dirty="0" smtClean="0"/>
              <a:t>We use the alter table command to add attributes to an existing relation. All tuples in the relation are assigned null as the value for the new attribute. The form of the alter table command is</a:t>
            </a:r>
          </a:p>
          <a:p>
            <a:endParaRPr lang="en-US" altLang="en-US" dirty="0" smtClean="0"/>
          </a:p>
          <a:p>
            <a:r>
              <a:rPr lang="en-US" dirty="0" smtClean="0"/>
              <a:t>alter table r add A D;</a:t>
            </a:r>
          </a:p>
          <a:p>
            <a:endParaRPr lang="en-US" altLang="en-US" dirty="0" smtClean="0"/>
          </a:p>
          <a:p>
            <a:r>
              <a:rPr lang="en-US" b="1" dirty="0" smtClean="0"/>
              <a:t>where r is the name of an existing relation, A is the name of the attribute to be added, and D is the type of the added attribute. We can drop attributes from a relation by the command</a:t>
            </a:r>
          </a:p>
          <a:p>
            <a:endParaRPr lang="en-US" altLang="en-US" dirty="0" smtClean="0"/>
          </a:p>
          <a:p>
            <a:r>
              <a:rPr lang="en-US" dirty="0" smtClean="0"/>
              <a:t>alter table r drop A;</a:t>
            </a:r>
          </a:p>
          <a:p>
            <a:endParaRPr lang="en-US" altLang="en-US" dirty="0" smtClean="0"/>
          </a:p>
          <a:p>
            <a:r>
              <a:rPr lang="en-US" b="1" dirty="0" smtClean="0"/>
              <a:t>where r is the name of an existing relation, and A is the name of an attribute of the relation. Many database systems do not support dropping of attributes, although they will allow an entire table to be dropped.</a:t>
            </a:r>
            <a:endParaRPr lang="en-US" altLang="en-US" b="1"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1BF508FA-5199-4AA3-8922-94158B684B67}" type="slidenum">
              <a:rPr lang="en-US" altLang="en-US" sz="1200"/>
              <a:pPr/>
              <a:t>12</a:t>
            </a:fld>
            <a:endParaRPr lang="en-US" altLang="en-US" sz="1200" dirty="0"/>
          </a:p>
        </p:txBody>
      </p:sp>
      <p:sp>
        <p:nvSpPr>
          <p:cNvPr id="81922"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1923"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2</a:t>
            </a:r>
          </a:p>
        </p:txBody>
      </p:sp>
      <p:sp>
        <p:nvSpPr>
          <p:cNvPr id="81924"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1925"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1926" name="Rectangle 6"/>
          <p:cNvSpPr>
            <a:spLocks noGrp="1" noRot="1" noChangeAspect="1" noChangeArrowheads="1" noTextEdit="1"/>
          </p:cNvSpPr>
          <p:nvPr>
            <p:ph type="sldImg"/>
          </p:nvPr>
        </p:nvSpPr>
        <p:spPr>
          <a:xfrm>
            <a:off x="1187450" y="703263"/>
            <a:ext cx="4622800" cy="3467100"/>
          </a:xfrm>
          <a:ln w="12700" cap="flat"/>
        </p:spPr>
      </p:sp>
      <p:sp>
        <p:nvSpPr>
          <p:cNvPr id="81927"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r>
              <a:rPr lang="en-US" b="1" dirty="0" smtClean="0"/>
              <a:t>The basic structure of an SQL query consists of three clauses: select, from, and where. A query takes as its input the relations listed in the from clause, operates on them as specified in the where and select clauses, and then produces a relation as the result. We introduce the SQL syntax through examples, and we describe the general structure of SQL queries later.</a:t>
            </a:r>
            <a:endParaRPr lang="en-US" altLang="en-US" b="1"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C0D8CA25-AE75-4191-8B01-FE9755FBC192}" type="slidenum">
              <a:rPr lang="en-US" altLang="en-US" sz="1200"/>
              <a:pPr/>
              <a:t>13</a:t>
            </a:fld>
            <a:endParaRPr lang="en-US" altLang="en-US" sz="1200" dirty="0"/>
          </a:p>
        </p:txBody>
      </p:sp>
      <p:sp>
        <p:nvSpPr>
          <p:cNvPr id="82946"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2947"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3</a:t>
            </a:r>
          </a:p>
        </p:txBody>
      </p:sp>
      <p:sp>
        <p:nvSpPr>
          <p:cNvPr id="82948"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2949"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2950" name="Rectangle 6"/>
          <p:cNvSpPr>
            <a:spLocks noGrp="1" noRot="1" noChangeAspect="1" noChangeArrowheads="1" noTextEdit="1"/>
          </p:cNvSpPr>
          <p:nvPr>
            <p:ph type="sldImg"/>
          </p:nvPr>
        </p:nvSpPr>
        <p:spPr>
          <a:xfrm>
            <a:off x="1187450" y="703263"/>
            <a:ext cx="4622800" cy="3467100"/>
          </a:xfrm>
          <a:ln w="12700" cap="flat"/>
        </p:spPr>
      </p:sp>
      <p:sp>
        <p:nvSpPr>
          <p:cNvPr id="82951"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r>
              <a:rPr lang="en-US" b="1" dirty="0" smtClean="0"/>
              <a:t>Let us consider a simple query using our university example, “Find the names of all instructors.” Instructor names are found in the instructor relation, so we put that relation in the from clause. The instructor’s name appears in the name attribute, so we put that in the select clause.</a:t>
            </a:r>
          </a:p>
          <a:p>
            <a:endParaRPr lang="en-US" alt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		select </a:t>
            </a:r>
            <a:r>
              <a:rPr lang="en-US" altLang="en-US" sz="1200" i="1" dirty="0" smtClean="0"/>
              <a:t>name</a:t>
            </a:r>
            <a:r>
              <a:rPr lang="en-US" altLang="en-US" sz="1200" dirty="0" smtClean="0"/>
              <a:t/>
            </a:r>
            <a:br>
              <a:rPr lang="en-US" altLang="en-US" sz="1200" dirty="0" smtClean="0"/>
            </a:br>
            <a:r>
              <a:rPr lang="en-US" altLang="en-US" sz="1200" dirty="0" smtClean="0"/>
              <a:t>		</a:t>
            </a:r>
            <a:r>
              <a:rPr lang="en-US" altLang="en-US" sz="1200" b="1" dirty="0" smtClean="0"/>
              <a:t>from </a:t>
            </a:r>
            <a:r>
              <a:rPr lang="en-US" altLang="en-US" sz="1200" i="1" dirty="0" smtClean="0"/>
              <a:t>instructor</a:t>
            </a:r>
          </a:p>
          <a:p>
            <a:r>
              <a:rPr lang="en-US" b="1" dirty="0" smtClean="0"/>
              <a:t>The result is a relation consisting of a single attribute with the heading name. If the instructor relation is as shown in Figure 2.1, then the relation that results from the preceding query is shown in Figure 3.2.</a:t>
            </a:r>
            <a:endParaRPr lang="en-US" altLang="en-US" b="1"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B41C928F-F266-4AE9-9955-5DF263458FBB}" type="slidenum">
              <a:rPr lang="en-US" altLang="en-US" sz="1200"/>
              <a:pPr/>
              <a:t>14</a:t>
            </a:fld>
            <a:endParaRPr lang="en-US" altLang="en-US" sz="1200" dirty="0"/>
          </a:p>
        </p:txBody>
      </p:sp>
      <p:sp>
        <p:nvSpPr>
          <p:cNvPr id="83970"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3971"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4</a:t>
            </a:r>
          </a:p>
        </p:txBody>
      </p:sp>
      <p:sp>
        <p:nvSpPr>
          <p:cNvPr id="83972"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3973"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3974" name="Rectangle 6"/>
          <p:cNvSpPr>
            <a:spLocks noGrp="1" noRot="1" noChangeAspect="1" noChangeArrowheads="1" noTextEdit="1"/>
          </p:cNvSpPr>
          <p:nvPr>
            <p:ph type="sldImg"/>
          </p:nvPr>
        </p:nvSpPr>
        <p:spPr>
          <a:xfrm>
            <a:off x="1187450" y="703263"/>
            <a:ext cx="4622800" cy="3467100"/>
          </a:xfrm>
          <a:ln w="12700" cap="flat"/>
        </p:spPr>
      </p:sp>
      <p:sp>
        <p:nvSpPr>
          <p:cNvPr id="83975"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r>
              <a:rPr lang="en-US" b="1" dirty="0" smtClean="0"/>
              <a:t>Now consider another query, “Find the department names of all instructors,” which can be written as:</a:t>
            </a:r>
          </a:p>
          <a:p>
            <a:endParaRPr lang="en-US" dirty="0" smtClean="0"/>
          </a:p>
          <a:p>
            <a:pPr lvl="2" algn="l"/>
            <a:r>
              <a:rPr lang="en-US" dirty="0" smtClean="0"/>
              <a:t>select </a:t>
            </a:r>
            <a:r>
              <a:rPr lang="en-US" dirty="0" err="1" smtClean="0"/>
              <a:t>dept_name</a:t>
            </a:r>
            <a:r>
              <a:rPr lang="en-US" dirty="0" smtClean="0"/>
              <a:t> </a:t>
            </a:r>
          </a:p>
          <a:p>
            <a:pPr lvl="2" algn="l"/>
            <a:r>
              <a:rPr lang="en-US" dirty="0" smtClean="0"/>
              <a:t>from instructor;</a:t>
            </a:r>
            <a:endParaRPr lang="en-US" altLang="en-US" dirty="0" smtClean="0"/>
          </a:p>
          <a:p>
            <a:r>
              <a:rPr lang="en-US" b="1" dirty="0" smtClean="0"/>
              <a:t>Since more than one instructor can belong to a department, a department name could appear more than once in the instructor relation. The result of the above query is a relation containing the department names, </a:t>
            </a:r>
            <a:r>
              <a:rPr lang="en-US" dirty="0" smtClean="0"/>
              <a:t>shown in Figure 3.3.</a:t>
            </a:r>
          </a:p>
          <a:p>
            <a:endParaRPr lang="en-US" altLang="en-US" b="1" dirty="0" smtClean="0"/>
          </a:p>
          <a:p>
            <a:r>
              <a:rPr lang="en-US" b="1" dirty="0" smtClean="0"/>
              <a:t>In the formal, mathematical definition of the relational model, a relation is a set. Thus, duplicate tuples would never appear in relations. In practice, duplicate elimination is time-consuming. Therefore, SQL allows duplicates in database relations as well as in the results of SQL expressions.1 Thus, the preceding SQL query lists each department name once for every tuple in which it appears in the instructor relation.</a:t>
            </a:r>
          </a:p>
          <a:p>
            <a:endParaRPr lang="en-US" altLang="en-US" dirty="0" smtClean="0"/>
          </a:p>
          <a:p>
            <a:r>
              <a:rPr lang="en-US" b="1" dirty="0" smtClean="0"/>
              <a:t>In those cases where we want to force the elimination of duplicates, we insert the keyword distinct after select. We can rewrite the preceding query as:</a:t>
            </a:r>
          </a:p>
          <a:p>
            <a:endParaRPr lang="en-US" altLang="en-US" dirty="0" smtClean="0"/>
          </a:p>
          <a:p>
            <a:pPr lvl="2"/>
            <a:r>
              <a:rPr lang="en-US" dirty="0" smtClean="0"/>
              <a:t>select distinct </a:t>
            </a:r>
            <a:r>
              <a:rPr lang="en-US" dirty="0" err="1" smtClean="0"/>
              <a:t>dept_name</a:t>
            </a:r>
            <a:r>
              <a:rPr lang="en-US" dirty="0" smtClean="0"/>
              <a:t> </a:t>
            </a:r>
          </a:p>
          <a:p>
            <a:pPr lvl="2"/>
            <a:r>
              <a:rPr lang="en-US" dirty="0" smtClean="0"/>
              <a:t>from instructor;</a:t>
            </a:r>
          </a:p>
          <a:p>
            <a:r>
              <a:rPr lang="en-US" b="1" dirty="0" smtClean="0"/>
              <a:t>if we want duplicates removed. The result of the above query would contain each department name at most once.</a:t>
            </a:r>
            <a:endParaRPr lang="en-US" altLang="en-US" b="1"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5FB4B8FB-1017-465D-AFBF-5BF5BCE81005}" type="slidenum">
              <a:rPr lang="en-US" altLang="en-US" sz="1200"/>
              <a:pPr/>
              <a:t>15</a:t>
            </a:fld>
            <a:endParaRPr lang="en-US" altLang="en-US" sz="1200" dirty="0"/>
          </a:p>
        </p:txBody>
      </p:sp>
      <p:sp>
        <p:nvSpPr>
          <p:cNvPr id="84994"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4995"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5</a:t>
            </a:r>
          </a:p>
        </p:txBody>
      </p:sp>
      <p:sp>
        <p:nvSpPr>
          <p:cNvPr id="84996"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4997"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4998" name="Rectangle 6"/>
          <p:cNvSpPr>
            <a:spLocks noGrp="1" noRot="1" noChangeAspect="1" noChangeArrowheads="1" noTextEdit="1"/>
          </p:cNvSpPr>
          <p:nvPr>
            <p:ph type="sldImg"/>
          </p:nvPr>
        </p:nvSpPr>
        <p:spPr>
          <a:xfrm>
            <a:off x="1187450" y="703263"/>
            <a:ext cx="4622800" cy="3467100"/>
          </a:xfrm>
          <a:ln w="12700" cap="flat"/>
        </p:spPr>
      </p:sp>
      <p:sp>
        <p:nvSpPr>
          <p:cNvPr id="84999"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r>
              <a:rPr lang="en-US" b="1" dirty="0" smtClean="0"/>
              <a:t>Since duplicate retention is the default, we shall not use all in our examples. To ensure the elimination of duplicates in the results of our example queries, we shall use distinct whenever it is necessary.</a:t>
            </a:r>
          </a:p>
          <a:p>
            <a:endParaRPr lang="en-US" altLang="en-US" b="1" dirty="0" smtClean="0"/>
          </a:p>
          <a:p>
            <a:r>
              <a:rPr lang="en-US" b="0" dirty="0" smtClean="0"/>
              <a:t>The select clause may also contain arithmetic expressions involving the operators +, −, ∗, and / operating on constants or attributes of tuples. For example, the query:</a:t>
            </a:r>
          </a:p>
          <a:p>
            <a:endParaRPr lang="en-US" altLang="en-US" b="0" dirty="0" smtClean="0"/>
          </a:p>
          <a:p>
            <a:pPr lvl="2"/>
            <a:r>
              <a:rPr lang="en-US" b="0" dirty="0" smtClean="0"/>
              <a:t>select ID, name, </a:t>
            </a:r>
            <a:r>
              <a:rPr lang="en-US" b="0" dirty="0" err="1" smtClean="0"/>
              <a:t>dept_name</a:t>
            </a:r>
            <a:r>
              <a:rPr lang="en-US" b="0" dirty="0" smtClean="0"/>
              <a:t>, salary * 1.1 </a:t>
            </a:r>
          </a:p>
          <a:p>
            <a:pPr lvl="2"/>
            <a:r>
              <a:rPr lang="en-US" b="0" dirty="0" smtClean="0"/>
              <a:t>from instructor;</a:t>
            </a:r>
          </a:p>
          <a:p>
            <a:pPr lvl="0"/>
            <a:endParaRPr lang="en-US" b="0" dirty="0" smtClean="0"/>
          </a:p>
          <a:p>
            <a:pPr lvl="0"/>
            <a:r>
              <a:rPr lang="en-US" b="0" dirty="0" smtClean="0"/>
              <a:t>returns a relation that is the same as the instructor relation, except that the attribute salary is multiplied by 1.1. This shows what would result if we gave a 10% raise to each instructor; note, however, that it does not result in any change to the instructor relation.</a:t>
            </a:r>
          </a:p>
          <a:p>
            <a:pPr lvl="0"/>
            <a:endParaRPr lang="en-US" dirty="0" smtClean="0"/>
          </a:p>
          <a:p>
            <a:pPr lvl="0"/>
            <a:endParaRPr 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EE7B9E48-CE28-477B-AF14-CB4F875872B7}" type="slidenum">
              <a:rPr lang="en-US" altLang="en-US" sz="1200"/>
              <a:pPr/>
              <a:t>16</a:t>
            </a:fld>
            <a:endParaRPr lang="en-US" altLang="en-US" sz="1200" dirty="0"/>
          </a:p>
        </p:txBody>
      </p:sp>
      <p:sp>
        <p:nvSpPr>
          <p:cNvPr id="86018"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6019"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5</a:t>
            </a:r>
          </a:p>
        </p:txBody>
      </p:sp>
      <p:sp>
        <p:nvSpPr>
          <p:cNvPr id="86020"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6021"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6022" name="Rectangle 6"/>
          <p:cNvSpPr>
            <a:spLocks noGrp="1" noRot="1" noChangeAspect="1" noChangeArrowheads="1" noTextEdit="1"/>
          </p:cNvSpPr>
          <p:nvPr>
            <p:ph type="sldImg"/>
          </p:nvPr>
        </p:nvSpPr>
        <p:spPr>
          <a:xfrm>
            <a:off x="1187450" y="703263"/>
            <a:ext cx="4622800" cy="3467100"/>
          </a:xfrm>
          <a:ln w="12700" cap="flat"/>
        </p:spPr>
      </p:sp>
      <p:sp>
        <p:nvSpPr>
          <p:cNvPr id="86023"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r>
              <a:rPr lang="en-US" b="1" dirty="0" smtClean="0"/>
              <a:t>The select clause may also contain arithmetic expressions involving the operators +, −, ∗, and / operating on constants or attributes of tuples. For example, the query:</a:t>
            </a:r>
          </a:p>
          <a:p>
            <a:endParaRPr lang="en-US" altLang="en-US" dirty="0" smtClean="0"/>
          </a:p>
          <a:p>
            <a:pPr lvl="2"/>
            <a:r>
              <a:rPr lang="en-US" dirty="0" smtClean="0"/>
              <a:t>select ID, name, </a:t>
            </a:r>
            <a:r>
              <a:rPr lang="en-US" dirty="0" err="1" smtClean="0"/>
              <a:t>dept_name</a:t>
            </a:r>
            <a:r>
              <a:rPr lang="en-US" dirty="0" smtClean="0"/>
              <a:t>, salary * 1.1 </a:t>
            </a:r>
          </a:p>
          <a:p>
            <a:pPr lvl="2"/>
            <a:r>
              <a:rPr lang="en-US" dirty="0" smtClean="0"/>
              <a:t>from instructor;</a:t>
            </a:r>
          </a:p>
          <a:p>
            <a:pPr lvl="0"/>
            <a:endParaRPr lang="en-US" dirty="0" smtClean="0"/>
          </a:p>
          <a:p>
            <a:pPr lvl="0"/>
            <a:r>
              <a:rPr lang="en-US" b="1" dirty="0" smtClean="0"/>
              <a:t>returns a relation that is the same as the instructor relation, except that the attribute salary is </a:t>
            </a:r>
            <a:r>
              <a:rPr lang="en-US" b="0" dirty="0" smtClean="0"/>
              <a:t>multiplied by 1.1 </a:t>
            </a:r>
            <a:r>
              <a:rPr lang="en-US" b="1" dirty="0" smtClean="0"/>
              <a:t>(divide by</a:t>
            </a:r>
            <a:r>
              <a:rPr lang="en-US" b="1" baseline="0" dirty="0" smtClean="0"/>
              <a:t> 12)</a:t>
            </a:r>
            <a:r>
              <a:rPr lang="en-US" b="1" dirty="0" smtClean="0"/>
              <a:t>. </a:t>
            </a:r>
            <a:r>
              <a:rPr lang="en-US" b="0" dirty="0" smtClean="0"/>
              <a:t>This shows what would result if we gave a 10% raise to each instructor; note, however, that it does not result in any change to the instructor relation.</a:t>
            </a:r>
          </a:p>
          <a:p>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9E067567-7C0E-4623-97F7-3AB1CFA84628}" type="slidenum">
              <a:rPr lang="en-US" altLang="en-US" sz="1200"/>
              <a:pPr/>
              <a:t>17</a:t>
            </a:fld>
            <a:endParaRPr lang="en-US" altLang="en-US" sz="1200" dirty="0"/>
          </a:p>
        </p:txBody>
      </p:sp>
      <p:sp>
        <p:nvSpPr>
          <p:cNvPr id="87042"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7043"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6</a:t>
            </a:r>
          </a:p>
        </p:txBody>
      </p:sp>
      <p:sp>
        <p:nvSpPr>
          <p:cNvPr id="87044"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7045"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7046" name="Rectangle 6"/>
          <p:cNvSpPr>
            <a:spLocks noGrp="1" noRot="1" noChangeAspect="1" noChangeArrowheads="1" noTextEdit="1"/>
          </p:cNvSpPr>
          <p:nvPr>
            <p:ph type="sldImg"/>
          </p:nvPr>
        </p:nvSpPr>
        <p:spPr>
          <a:xfrm>
            <a:off x="1187450" y="703263"/>
            <a:ext cx="4622800" cy="3467100"/>
          </a:xfrm>
          <a:ln w="12700" cap="flat"/>
        </p:spPr>
      </p:sp>
      <p:sp>
        <p:nvSpPr>
          <p:cNvPr id="87047"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r>
              <a:rPr lang="en-US" b="1" dirty="0" smtClean="0"/>
              <a:t>The where clause allows us to select only those rows in the result relation of the from clause that satisfy a specified predicate. Consider the query “Find the names of all instructors in the Computer Science department who have salary greater than $70,000.” This query can be written in SQL as:</a:t>
            </a:r>
          </a:p>
          <a:p>
            <a:endParaRPr lang="en-US" altLang="en-US" dirty="0" smtClean="0"/>
          </a:p>
          <a:p>
            <a:endParaRPr lang="en-US" altLang="en-US" dirty="0" smtClean="0"/>
          </a:p>
          <a:p>
            <a:pPr lvl="1"/>
            <a:r>
              <a:rPr lang="en-US" dirty="0" smtClean="0"/>
              <a:t>select name </a:t>
            </a:r>
          </a:p>
          <a:p>
            <a:pPr lvl="1"/>
            <a:r>
              <a:rPr lang="en-US" dirty="0" smtClean="0"/>
              <a:t>from instructor </a:t>
            </a:r>
          </a:p>
          <a:p>
            <a:pPr lvl="1"/>
            <a:r>
              <a:rPr lang="en-US" dirty="0" smtClean="0"/>
              <a:t>where </a:t>
            </a:r>
            <a:r>
              <a:rPr lang="en-US" dirty="0" err="1" smtClean="0"/>
              <a:t>dept_name</a:t>
            </a:r>
            <a:r>
              <a:rPr lang="en-US" dirty="0" smtClean="0"/>
              <a:t> </a:t>
            </a:r>
            <a:r>
              <a:rPr lang="en-US" dirty="0" smtClean="0"/>
              <a:t>= 'Comp. Sci.' and salary &gt; 70000;</a:t>
            </a:r>
          </a:p>
          <a:p>
            <a:pPr lvl="1"/>
            <a:endParaRPr lang="en-US" altLang="en-US" dirty="0" smtClean="0"/>
          </a:p>
          <a:p>
            <a:pPr lvl="0"/>
            <a:r>
              <a:rPr lang="en-US" b="1" dirty="0" smtClean="0"/>
              <a:t>SQL allows the use of the logical connectives and, or, and not in the where clause. The operands of the logical connectives can be expressions involving the comparison operators &lt;=, &gt;, &gt;=, =, and &lt;&gt;. SQL allows us to use the comparison operators to compare strings and arithmetic expressions, as well as special types, such as date types. </a:t>
            </a:r>
          </a:p>
          <a:p>
            <a:pPr lvl="0"/>
            <a:endParaRPr lang="en-US" dirty="0" smtClean="0"/>
          </a:p>
          <a:p>
            <a:pPr lvl="0"/>
            <a:r>
              <a:rPr lang="en-US" b="1" dirty="0" smtClean="0"/>
              <a:t>We shall explore other features of where clause predicates later </a:t>
            </a:r>
            <a:r>
              <a:rPr lang="en-US" dirty="0" smtClean="0"/>
              <a:t>in this chapter. </a:t>
            </a:r>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86D0189D-E517-438B-9693-2812E02CF692}" type="slidenum">
              <a:rPr lang="en-US" altLang="en-US" sz="1200"/>
              <a:pPr/>
              <a:t>18</a:t>
            </a:fld>
            <a:endParaRPr lang="en-US" altLang="en-US" sz="1200" dirty="0"/>
          </a:p>
        </p:txBody>
      </p:sp>
      <p:sp>
        <p:nvSpPr>
          <p:cNvPr id="88066"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8067"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8</a:t>
            </a:r>
          </a:p>
        </p:txBody>
      </p:sp>
      <p:sp>
        <p:nvSpPr>
          <p:cNvPr id="88068"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8069"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88070" name="Rectangle 6"/>
          <p:cNvSpPr>
            <a:spLocks noGrp="1" noRot="1" noChangeAspect="1" noChangeArrowheads="1" noTextEdit="1"/>
          </p:cNvSpPr>
          <p:nvPr>
            <p:ph type="sldImg"/>
          </p:nvPr>
        </p:nvSpPr>
        <p:spPr>
          <a:xfrm>
            <a:off x="1187450" y="703263"/>
            <a:ext cx="4622800" cy="3467100"/>
          </a:xfrm>
          <a:ln w="12700" cap="flat"/>
        </p:spPr>
      </p:sp>
      <p:sp>
        <p:nvSpPr>
          <p:cNvPr id="88071"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endParaRPr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B6B19D27-1D9D-4EFF-A2A6-3367138C3034}" type="slidenum">
              <a:rPr lang="en-US" altLang="en-US" sz="1200"/>
              <a:pPr/>
              <a:t>19</a:t>
            </a:fld>
            <a:endParaRPr lang="en-US" altLang="en-US" sz="1200" dirty="0"/>
          </a:p>
        </p:txBody>
      </p:sp>
      <p:sp>
        <p:nvSpPr>
          <p:cNvPr id="90114"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0115"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9</a:t>
            </a:r>
          </a:p>
        </p:txBody>
      </p:sp>
      <p:sp>
        <p:nvSpPr>
          <p:cNvPr id="90116"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0117"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0118" name="Rectangle 6"/>
          <p:cNvSpPr>
            <a:spLocks noGrp="1" noRot="1" noChangeAspect="1" noChangeArrowheads="1" noTextEdit="1"/>
          </p:cNvSpPr>
          <p:nvPr>
            <p:ph type="sldImg"/>
          </p:nvPr>
        </p:nvSpPr>
        <p:spPr>
          <a:xfrm>
            <a:off x="1187450" y="703263"/>
            <a:ext cx="4622800" cy="3467100"/>
          </a:xfrm>
          <a:ln w="12700" cap="flat"/>
        </p:spPr>
      </p:sp>
      <p:sp>
        <p:nvSpPr>
          <p:cNvPr id="90119"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r>
              <a:rPr lang="en-US" b="1" dirty="0" smtClean="0"/>
              <a:t>Instead, the predicate in the where clause is used to restrict the combinations created by the Cartesian product to those that are meaningful for the desired answer. We would likely want a query involving instructor and teaches to combine a particular tuple t in instructor with only those tuples in teaches that refer to the same instructor to which t refers. That is, we wish only to match teaches tuples with instructor tuples that have the same ID value. The following SQL query ensures this condition and outputs the instructor name and course identifiers from such matching tuples.</a:t>
            </a:r>
          </a:p>
          <a:p>
            <a:endParaRPr lang="en-US" altLang="en-US" dirty="0" smtClean="0"/>
          </a:p>
          <a:p>
            <a:r>
              <a:rPr lang="en-US" altLang="en-US" dirty="0" smtClean="0"/>
              <a:t>	</a:t>
            </a:r>
            <a:r>
              <a:rPr lang="en-US" dirty="0" smtClean="0"/>
              <a:t>select name, course id </a:t>
            </a:r>
          </a:p>
          <a:p>
            <a:r>
              <a:rPr lang="en-US" dirty="0" smtClean="0"/>
              <a:t>	from instructor, teaches </a:t>
            </a:r>
          </a:p>
          <a:p>
            <a:r>
              <a:rPr lang="en-US" dirty="0" smtClean="0"/>
              <a:t>	where instructor.ID= teaches.ID;</a:t>
            </a:r>
          </a:p>
          <a:p>
            <a:endParaRPr lang="en-US" altLang="en-US" dirty="0" smtClean="0"/>
          </a:p>
          <a:p>
            <a:r>
              <a:rPr lang="en-US" b="1" dirty="0" smtClean="0"/>
              <a:t>Note that the preceding query outputs only instructors who have taught some course. Instructors who have not taught any course are not output; if we wish to output such tuples, we could use an operation called the outer join, </a:t>
            </a:r>
            <a:r>
              <a:rPr lang="en-US" dirty="0" smtClean="0"/>
              <a:t>which is described in Section 4.1.3. </a:t>
            </a:r>
          </a:p>
          <a:p>
            <a:endParaRPr lang="en-US" dirty="0" smtClean="0"/>
          </a:p>
          <a:p>
            <a:r>
              <a:rPr lang="en-US" dirty="0" smtClean="0"/>
              <a:t>If the instructor relation is as shown in Figure 2.1 and the teaches relation is as shown in Figure 2.7, then the relation that results from the preceding query is shown in Figure 3.7. Observe that instructors Gold, </a:t>
            </a:r>
            <a:r>
              <a:rPr lang="en-US" dirty="0" err="1" smtClean="0"/>
              <a:t>Califieri</a:t>
            </a:r>
            <a:r>
              <a:rPr lang="en-US" dirty="0" smtClean="0"/>
              <a:t>, and Singh, who have not taught any course, do not appear in Figure 3.7. </a:t>
            </a:r>
          </a:p>
          <a:p>
            <a:endParaRPr lang="en-US" dirty="0" smtClean="0"/>
          </a:p>
          <a:p>
            <a:r>
              <a:rPr lang="en-US" b="1" dirty="0" smtClean="0"/>
              <a:t>If we wished to find only instructor names and course identifiers for instructors in the Computer Science department, we could add an extra predicate to the where clause, as shown below.</a:t>
            </a:r>
          </a:p>
          <a:p>
            <a:endParaRPr lang="en-US" altLang="en-US" dirty="0" smtClean="0"/>
          </a:p>
          <a:p>
            <a:pPr lvl="1"/>
            <a:r>
              <a:rPr lang="en-US" dirty="0" smtClean="0"/>
              <a:t>select name, course id </a:t>
            </a:r>
          </a:p>
          <a:p>
            <a:pPr lvl="1"/>
            <a:r>
              <a:rPr lang="en-US" dirty="0" smtClean="0"/>
              <a:t>from instructor, teaches </a:t>
            </a:r>
          </a:p>
          <a:p>
            <a:pPr lvl="1"/>
            <a:r>
              <a:rPr lang="en-US" dirty="0" smtClean="0"/>
              <a:t>where instructor.ID= teaches.ID and </a:t>
            </a:r>
            <a:r>
              <a:rPr lang="en-US" dirty="0" err="1" smtClean="0"/>
              <a:t>instructor.dept_name</a:t>
            </a:r>
            <a:r>
              <a:rPr lang="en-US" dirty="0" smtClean="0"/>
              <a:t> = 'Comp. Sci.';</a:t>
            </a:r>
          </a:p>
          <a:p>
            <a:pPr lvl="0"/>
            <a:endParaRPr lang="en-US" altLang="en-US" dirty="0" smtClean="0"/>
          </a:p>
          <a:p>
            <a:r>
              <a:rPr lang="en-US" b="1" dirty="0" smtClean="0"/>
              <a:t>Note that since the </a:t>
            </a:r>
            <a:r>
              <a:rPr lang="en-US" b="1" dirty="0" err="1" smtClean="0"/>
              <a:t>dept_name</a:t>
            </a:r>
            <a:r>
              <a:rPr lang="en-US" b="1" dirty="0" smtClean="0"/>
              <a:t> </a:t>
            </a:r>
            <a:r>
              <a:rPr lang="en-US" b="1" dirty="0" smtClean="0"/>
              <a:t>attribute occurs only in the instructor relation, we could have used just </a:t>
            </a:r>
            <a:r>
              <a:rPr lang="en-US" b="1" dirty="0" err="1" smtClean="0"/>
              <a:t>dept_name</a:t>
            </a:r>
            <a:r>
              <a:rPr lang="en-US" b="1" dirty="0" smtClean="0"/>
              <a:t>, instead of </a:t>
            </a:r>
            <a:r>
              <a:rPr lang="en-US" b="1" dirty="0" err="1" smtClean="0"/>
              <a:t>instructor.dept_name</a:t>
            </a:r>
            <a:r>
              <a:rPr lang="en-US" b="1" dirty="0" smtClean="0"/>
              <a:t> </a:t>
            </a:r>
            <a:r>
              <a:rPr lang="en-US" b="1" dirty="0" smtClean="0"/>
              <a:t>in the above query. In general, the meaning of an SQL query can be understood as follows:</a:t>
            </a:r>
          </a:p>
          <a:p>
            <a:pPr marL="228600" indent="-228600">
              <a:buAutoNum type="arabicPeriod"/>
            </a:pPr>
            <a:r>
              <a:rPr lang="en-US" b="1" dirty="0" smtClean="0"/>
              <a:t>Generate a Cartesian product of the relations listed in the from clause. </a:t>
            </a:r>
          </a:p>
          <a:p>
            <a:pPr marL="228600" indent="-228600">
              <a:buAutoNum type="arabicPeriod"/>
            </a:pPr>
            <a:r>
              <a:rPr lang="en-US" b="1" dirty="0" smtClean="0"/>
              <a:t>Apply the predicates specified in the where clause on the result of Step 1.</a:t>
            </a:r>
          </a:p>
          <a:p>
            <a:pPr marL="228600" indent="-228600">
              <a:buAutoNum type="arabicPeriod"/>
            </a:pPr>
            <a:r>
              <a:rPr lang="en-US" b="1" dirty="0" smtClean="0"/>
              <a:t>For each tuple in the result of Step 2, output the attributes (or results of expressions) specified in the select clause.</a:t>
            </a:r>
          </a:p>
          <a:p>
            <a:pPr lvl="0"/>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90F971D5-882D-4233-A30D-FAEDE4CA6E84}" type="slidenum">
              <a:rPr lang="en-US" altLang="en-US" sz="1200"/>
              <a:pPr/>
              <a:t>20</a:t>
            </a:fld>
            <a:endParaRPr lang="en-US" altLang="en-US" sz="1200" dirty="0"/>
          </a:p>
        </p:txBody>
      </p:sp>
      <p:sp>
        <p:nvSpPr>
          <p:cNvPr id="91138"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1139"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9</a:t>
            </a:r>
          </a:p>
        </p:txBody>
      </p:sp>
      <p:sp>
        <p:nvSpPr>
          <p:cNvPr id="91140"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1141"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1142" name="Rectangle 6"/>
          <p:cNvSpPr>
            <a:spLocks noGrp="1" noRot="1" noChangeAspect="1" noChangeArrowheads="1" noTextEdit="1"/>
          </p:cNvSpPr>
          <p:nvPr>
            <p:ph type="sldImg"/>
          </p:nvPr>
        </p:nvSpPr>
        <p:spPr>
          <a:xfrm>
            <a:off x="1187450" y="703263"/>
            <a:ext cx="4622800" cy="3467100"/>
          </a:xfrm>
          <a:ln w="12700" cap="flat"/>
        </p:spPr>
      </p:sp>
      <p:sp>
        <p:nvSpPr>
          <p:cNvPr id="91143"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r>
              <a:rPr lang="en-US" b="0" u="sng" dirty="0" smtClean="0"/>
              <a:t>Da se </a:t>
            </a:r>
            <a:r>
              <a:rPr lang="en-US" b="0" u="sng" dirty="0" err="1" smtClean="0"/>
              <a:t>dodade</a:t>
            </a:r>
            <a:r>
              <a:rPr lang="en-US" b="0" u="sng" dirty="0" smtClean="0"/>
              <a:t> </a:t>
            </a:r>
            <a:r>
              <a:rPr lang="en-US" b="0" u="sng" dirty="0" err="1" smtClean="0"/>
              <a:t>uste</a:t>
            </a:r>
            <a:r>
              <a:rPr lang="en-US" b="0" u="sng" dirty="0" smtClean="0"/>
              <a:t> -1-2</a:t>
            </a:r>
            <a:r>
              <a:rPr lang="en-US" b="0" u="sng" baseline="0" dirty="0" smtClean="0"/>
              <a:t> </a:t>
            </a:r>
            <a:r>
              <a:rPr lang="en-US" b="0" u="sng" dirty="0" smtClean="0"/>
              <a:t> </a:t>
            </a:r>
            <a:r>
              <a:rPr lang="en-US" b="0" u="sng" dirty="0" err="1" smtClean="0"/>
              <a:t>slajda</a:t>
            </a:r>
            <a:r>
              <a:rPr lang="en-US" b="0" u="sng" dirty="0" smtClean="0"/>
              <a:t> so </a:t>
            </a:r>
            <a:r>
              <a:rPr lang="en-US" b="0" u="sng" dirty="0" err="1" smtClean="0"/>
              <a:t>tekstot</a:t>
            </a:r>
            <a:r>
              <a:rPr lang="en-US" b="0" u="sng" dirty="0" smtClean="0"/>
              <a:t> </a:t>
            </a:r>
            <a:r>
              <a:rPr lang="en-US" b="0" u="sng" dirty="0" err="1" smtClean="0"/>
              <a:t>podolu</a:t>
            </a:r>
            <a:r>
              <a:rPr lang="en-US" b="0" u="sng" dirty="0" smtClean="0"/>
              <a:t> </a:t>
            </a:r>
            <a:r>
              <a:rPr lang="en-US" b="0" u="sng" dirty="0" err="1" smtClean="0"/>
              <a:t>pred</a:t>
            </a:r>
            <a:r>
              <a:rPr lang="en-US" b="0" u="sng" baseline="0" dirty="0" smtClean="0"/>
              <a:t> </a:t>
            </a:r>
            <a:r>
              <a:rPr lang="en-US" b="0" u="sng" baseline="0" dirty="0" err="1" smtClean="0"/>
              <a:t>sljadot</a:t>
            </a:r>
            <a:endParaRPr lang="en-US" b="0" u="sng" baseline="0" dirty="0" smtClean="0"/>
          </a:p>
          <a:p>
            <a:endParaRPr lang="en-US" b="1" dirty="0" smtClean="0"/>
          </a:p>
          <a:p>
            <a:r>
              <a:rPr lang="en-US" b="1" dirty="0" smtClean="0"/>
              <a:t>Consider again the query that we used earlier: </a:t>
            </a:r>
          </a:p>
          <a:p>
            <a:endParaRPr lang="en-US" altLang="en-US" dirty="0" smtClean="0"/>
          </a:p>
          <a:p>
            <a:pPr lvl="1"/>
            <a:r>
              <a:rPr lang="en-US" dirty="0" smtClean="0"/>
              <a:t>select name, course id </a:t>
            </a:r>
          </a:p>
          <a:p>
            <a:pPr lvl="1"/>
            <a:r>
              <a:rPr lang="en-US" dirty="0" smtClean="0"/>
              <a:t>from instructor, teaches </a:t>
            </a:r>
          </a:p>
          <a:p>
            <a:pPr lvl="1"/>
            <a:r>
              <a:rPr lang="en-US" dirty="0" smtClean="0"/>
              <a:t>where instructor.ID= teaches.ID;</a:t>
            </a:r>
          </a:p>
          <a:p>
            <a:pPr lvl="1"/>
            <a:endParaRPr lang="en-US" altLang="en-US" dirty="0" smtClean="0"/>
          </a:p>
          <a:p>
            <a:pPr lvl="0"/>
            <a:r>
              <a:rPr lang="en-US" b="1" dirty="0" smtClean="0"/>
              <a:t>The result of this query is a relation with the following attributes:</a:t>
            </a:r>
          </a:p>
          <a:p>
            <a:pPr lvl="0"/>
            <a:r>
              <a:rPr lang="en-US" b="1" dirty="0" smtClean="0"/>
              <a:t>name, course id</a:t>
            </a:r>
          </a:p>
          <a:p>
            <a:pPr lvl="0"/>
            <a:endParaRPr lang="en-US" altLang="en-US" dirty="0" smtClean="0"/>
          </a:p>
          <a:p>
            <a:pPr lvl="0"/>
            <a:r>
              <a:rPr lang="en-US" b="1" dirty="0" smtClean="0"/>
              <a:t>The names of the attributes in the result are derived from the names of the attributes in the relations in the from clause.</a:t>
            </a:r>
          </a:p>
          <a:p>
            <a:pPr lvl="0"/>
            <a:endParaRPr lang="en-US" altLang="en-US" dirty="0" smtClean="0"/>
          </a:p>
          <a:p>
            <a:pPr lvl="0"/>
            <a:r>
              <a:rPr lang="en-US" b="1" i="1" dirty="0" smtClean="0"/>
              <a:t>We cannot, however, always derive names in this way, for several reasons: First, two relations in the from clause may have attributes with the same name, in which case an attribute name is duplicated in the result. Second, if we use an arithmetic expression in the select clause, the resultant attribute does not have a name. Third, even if an attribute name can be derived from the base relations as in the preceding example, we may want to change the attribute name in the result. </a:t>
            </a:r>
            <a:endParaRPr lang="en-US" altLang="en-US" b="1"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90F971D5-882D-4233-A30D-FAEDE4CA6E84}" type="slidenum">
              <a:rPr lang="en-US" altLang="en-US" sz="1200"/>
              <a:pPr/>
              <a:t>21</a:t>
            </a:fld>
            <a:endParaRPr lang="en-US" altLang="en-US" sz="1200" dirty="0"/>
          </a:p>
        </p:txBody>
      </p:sp>
      <p:sp>
        <p:nvSpPr>
          <p:cNvPr id="91138"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1139"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9</a:t>
            </a:r>
          </a:p>
        </p:txBody>
      </p:sp>
      <p:sp>
        <p:nvSpPr>
          <p:cNvPr id="91140"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1141"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1142" name="Rectangle 6"/>
          <p:cNvSpPr>
            <a:spLocks noGrp="1" noRot="1" noChangeAspect="1" noChangeArrowheads="1" noTextEdit="1"/>
          </p:cNvSpPr>
          <p:nvPr>
            <p:ph type="sldImg"/>
          </p:nvPr>
        </p:nvSpPr>
        <p:spPr>
          <a:xfrm>
            <a:off x="1187450" y="703263"/>
            <a:ext cx="4622800" cy="3467100"/>
          </a:xfrm>
          <a:ln w="12700" cap="flat"/>
        </p:spPr>
      </p:sp>
      <p:sp>
        <p:nvSpPr>
          <p:cNvPr id="91143"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pPr lvl="0"/>
            <a:r>
              <a:rPr lang="en-US" b="1" i="1" dirty="0" smtClean="0"/>
              <a:t>Hence, SQL provides a way of renaming the attributes of a result relation. It uses the as clause, taking the form:</a:t>
            </a:r>
          </a:p>
          <a:p>
            <a:pPr lvl="0"/>
            <a:endParaRPr lang="en-US" altLang="en-US" dirty="0" smtClean="0"/>
          </a:p>
          <a:p>
            <a:pPr lvl="1"/>
            <a:r>
              <a:rPr lang="en-US" b="1" dirty="0" smtClean="0"/>
              <a:t>old-name as new-name</a:t>
            </a:r>
          </a:p>
          <a:p>
            <a:pPr lvl="0"/>
            <a:endParaRPr lang="en-US" altLang="en-US" dirty="0" smtClean="0"/>
          </a:p>
          <a:p>
            <a:pPr lvl="0"/>
            <a:r>
              <a:rPr lang="en-US" b="1" dirty="0" smtClean="0"/>
              <a:t>The as clause can appear in both the select and from clauses.3 For example, if we want the attribute name: name to be replaced with the name instructor name, we can rewrite the preceding query as:</a:t>
            </a:r>
          </a:p>
          <a:p>
            <a:pPr lvl="0"/>
            <a:endParaRPr lang="en-US" altLang="en-US" dirty="0" smtClean="0"/>
          </a:p>
          <a:p>
            <a:pPr lvl="1"/>
            <a:r>
              <a:rPr lang="en-US" dirty="0" smtClean="0"/>
              <a:t>select name as instructor name, </a:t>
            </a:r>
            <a:r>
              <a:rPr lang="en-US" dirty="0" err="1" smtClean="0"/>
              <a:t>course_id</a:t>
            </a:r>
            <a:r>
              <a:rPr lang="en-US" dirty="0" smtClean="0"/>
              <a:t> </a:t>
            </a:r>
            <a:endParaRPr lang="en-US" dirty="0" smtClean="0"/>
          </a:p>
          <a:p>
            <a:pPr lvl="1"/>
            <a:r>
              <a:rPr lang="en-US" dirty="0" smtClean="0"/>
              <a:t>from instructor, teaches </a:t>
            </a:r>
          </a:p>
          <a:p>
            <a:pPr lvl="1"/>
            <a:r>
              <a:rPr lang="en-US" dirty="0" smtClean="0"/>
              <a:t>where instructor.ID= teaches.ID;</a:t>
            </a:r>
          </a:p>
          <a:p>
            <a:pPr lvl="1"/>
            <a:endParaRPr lang="en-US" altLang="en-US" dirty="0" smtClean="0"/>
          </a:p>
          <a:p>
            <a:pPr lvl="0"/>
            <a:r>
              <a:rPr lang="en-US" b="1" dirty="0" smtClean="0"/>
              <a:t>The as clause is particularly useful in renaming relations. One reason to rename a relation is to replace a long relation name with a shortened version that is more convenient to use elsewhere in the query. To illustrate, we rewrite the query “For all instructors in the university who have taught some course, find their names and the course ID of all courses they taught.”</a:t>
            </a:r>
          </a:p>
          <a:p>
            <a:pPr lvl="0"/>
            <a:endParaRPr lang="en-US" altLang="en-US" dirty="0" smtClean="0"/>
          </a:p>
          <a:p>
            <a:pPr lvl="1"/>
            <a:r>
              <a:rPr lang="en-US" dirty="0" smtClean="0"/>
              <a:t>select T.name, </a:t>
            </a:r>
            <a:r>
              <a:rPr lang="en-US" dirty="0" err="1" smtClean="0"/>
              <a:t>S.course</a:t>
            </a:r>
            <a:r>
              <a:rPr lang="en-US" dirty="0" smtClean="0"/>
              <a:t> id </a:t>
            </a:r>
          </a:p>
          <a:p>
            <a:pPr lvl="1"/>
            <a:r>
              <a:rPr lang="en-US" dirty="0" smtClean="0"/>
              <a:t>from instructor as T, teaches as S </a:t>
            </a:r>
          </a:p>
          <a:p>
            <a:pPr lvl="1"/>
            <a:r>
              <a:rPr lang="en-US" dirty="0" smtClean="0"/>
              <a:t>where T.ID= S.ID;</a:t>
            </a:r>
          </a:p>
          <a:p>
            <a:pPr lvl="1"/>
            <a:endParaRPr lang="en-US" altLang="en-US" dirty="0" smtClean="0"/>
          </a:p>
        </p:txBody>
      </p:sp>
    </p:spTree>
    <p:extLst>
      <p:ext uri="{BB962C8B-B14F-4D97-AF65-F5344CB8AC3E}">
        <p14:creationId xmlns:p14="http://schemas.microsoft.com/office/powerpoint/2010/main" val="16923484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90F971D5-882D-4233-A30D-FAEDE4CA6E84}" type="slidenum">
              <a:rPr lang="en-US" altLang="en-US" sz="1200"/>
              <a:pPr/>
              <a:t>22</a:t>
            </a:fld>
            <a:endParaRPr lang="en-US" altLang="en-US" sz="1200" dirty="0"/>
          </a:p>
        </p:txBody>
      </p:sp>
      <p:sp>
        <p:nvSpPr>
          <p:cNvPr id="91138"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1139"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9</a:t>
            </a:r>
          </a:p>
        </p:txBody>
      </p:sp>
      <p:sp>
        <p:nvSpPr>
          <p:cNvPr id="91140"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1141"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1142" name="Rectangle 6"/>
          <p:cNvSpPr>
            <a:spLocks noGrp="1" noRot="1" noChangeAspect="1" noChangeArrowheads="1" noTextEdit="1"/>
          </p:cNvSpPr>
          <p:nvPr>
            <p:ph type="sldImg"/>
          </p:nvPr>
        </p:nvSpPr>
        <p:spPr>
          <a:xfrm>
            <a:off x="1187450" y="703263"/>
            <a:ext cx="4622800" cy="3467100"/>
          </a:xfrm>
          <a:ln w="12700" cap="flat"/>
        </p:spPr>
      </p:sp>
      <p:sp>
        <p:nvSpPr>
          <p:cNvPr id="91143"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pPr lvl="0"/>
            <a:endParaRPr lang="en-US" altLang="en-US" b="0" dirty="0" smtClean="0"/>
          </a:p>
          <a:p>
            <a:pPr lvl="0"/>
            <a:r>
              <a:rPr lang="en-US" b="0" i="0" dirty="0" smtClean="0"/>
              <a:t>We cannot, however, always derive names in this way, for several reasons: First, two relations in the from clause may have attributes with the same name, in which case an attribute name is duplicated in the result. Second, if we use an arithmetic expression in the select clause, the resultant attribute does not have a name. Third, even if an attribute name can be derived from the base relations as in the preceding example, we may want to change the attribute name in the result. </a:t>
            </a:r>
          </a:p>
          <a:p>
            <a:pPr lvl="0"/>
            <a:r>
              <a:rPr lang="en-US" b="1" i="1" dirty="0" smtClean="0"/>
              <a:t>Hence, SQL provides a way of renaming the attributes of a result relation. It uses the as clause, taking the form:</a:t>
            </a:r>
          </a:p>
          <a:p>
            <a:pPr lvl="0"/>
            <a:endParaRPr lang="en-US" altLang="en-US" b="0" dirty="0" smtClean="0"/>
          </a:p>
          <a:p>
            <a:pPr lvl="1"/>
            <a:r>
              <a:rPr lang="en-US" b="0" dirty="0" smtClean="0"/>
              <a:t>old-name as new-name</a:t>
            </a:r>
          </a:p>
          <a:p>
            <a:pPr lvl="0"/>
            <a:endParaRPr lang="en-US" altLang="en-US" b="0" dirty="0" smtClean="0"/>
          </a:p>
          <a:p>
            <a:pPr lvl="0"/>
            <a:r>
              <a:rPr lang="en-US" b="0" dirty="0" smtClean="0"/>
              <a:t>The as clause can appear in both the select and from clauses.3 For example, if we want the attribute name: name to be replaced with the name instructor name, we can rewrite the preceding query as:</a:t>
            </a:r>
          </a:p>
          <a:p>
            <a:pPr lvl="0"/>
            <a:endParaRPr lang="en-US" altLang="en-US" b="0" dirty="0" smtClean="0"/>
          </a:p>
          <a:p>
            <a:pPr lvl="1"/>
            <a:r>
              <a:rPr lang="en-US" b="0" dirty="0" smtClean="0"/>
              <a:t>select name as instructor name, course id </a:t>
            </a:r>
          </a:p>
          <a:p>
            <a:pPr lvl="1"/>
            <a:r>
              <a:rPr lang="en-US" b="0" dirty="0" smtClean="0"/>
              <a:t>from instructor, teaches </a:t>
            </a:r>
          </a:p>
          <a:p>
            <a:pPr lvl="1"/>
            <a:r>
              <a:rPr lang="en-US" b="0" dirty="0" smtClean="0"/>
              <a:t>where instructor.ID= teaches.ID;</a:t>
            </a:r>
          </a:p>
          <a:p>
            <a:pPr lvl="1"/>
            <a:endParaRPr lang="en-US" altLang="en-US" b="0" dirty="0" smtClean="0"/>
          </a:p>
          <a:p>
            <a:pPr lvl="0"/>
            <a:r>
              <a:rPr lang="en-US" b="0" dirty="0" smtClean="0"/>
              <a:t>The as clause is particularly useful in renaming relations. One reason to rename a relation is to replace a long relation name with a shortened version that is more convenient to use elsewhere in the query. To illustrate, we rewrite the query “For all instructors in the university who have taught some course, find their names and the course ID of all courses they taught.”</a:t>
            </a:r>
          </a:p>
          <a:p>
            <a:pPr lvl="0"/>
            <a:endParaRPr lang="en-US" altLang="en-US" b="0" dirty="0" smtClean="0"/>
          </a:p>
          <a:p>
            <a:pPr lvl="1"/>
            <a:r>
              <a:rPr lang="en-US" b="0" dirty="0" smtClean="0"/>
              <a:t>select T.name, </a:t>
            </a:r>
            <a:r>
              <a:rPr lang="en-US" b="0" dirty="0" err="1" smtClean="0"/>
              <a:t>S.course</a:t>
            </a:r>
            <a:r>
              <a:rPr lang="en-US" b="0" dirty="0" smtClean="0"/>
              <a:t> id </a:t>
            </a:r>
          </a:p>
          <a:p>
            <a:pPr lvl="1"/>
            <a:r>
              <a:rPr lang="en-US" b="0" dirty="0" smtClean="0"/>
              <a:t>from instructor as T, teaches as S </a:t>
            </a:r>
          </a:p>
          <a:p>
            <a:pPr lvl="1"/>
            <a:r>
              <a:rPr lang="en-US" b="0" dirty="0" smtClean="0"/>
              <a:t>where T.ID= S.ID;</a:t>
            </a:r>
          </a:p>
          <a:p>
            <a:pPr lvl="1"/>
            <a:endParaRPr lang="en-US" altLang="en-US" dirty="0" smtClean="0"/>
          </a:p>
          <a:p>
            <a:pPr lvl="0"/>
            <a:r>
              <a:rPr lang="en-US" b="1" dirty="0" smtClean="0"/>
              <a:t>Another reason to rename a relation is a case where we wish to compare tuples in the same relation. We then need to take the Cartesian product of a relation with itself and, without renaming, it becomes impossible to distinguish one tuple from the other. Suppose that we want to write the query “Find the names of all instructors whose salary is greater than at least one instructor in the Biology department.” We can write the SQL expression:</a:t>
            </a:r>
          </a:p>
          <a:p>
            <a:pPr lvl="1"/>
            <a:endParaRPr lang="en-US" altLang="en-US" dirty="0" smtClean="0"/>
          </a:p>
          <a:p>
            <a:pPr lvl="1"/>
            <a:r>
              <a:rPr lang="en-US" dirty="0" smtClean="0"/>
              <a:t>select distinct T.name </a:t>
            </a:r>
          </a:p>
          <a:p>
            <a:pPr lvl="1"/>
            <a:r>
              <a:rPr lang="en-US" dirty="0" smtClean="0"/>
              <a:t>from instructor as T, instructor as S</a:t>
            </a:r>
          </a:p>
          <a:p>
            <a:pPr lvl="1"/>
            <a:r>
              <a:rPr lang="en-US" dirty="0" smtClean="0"/>
              <a:t>where </a:t>
            </a:r>
            <a:r>
              <a:rPr lang="en-US" dirty="0" err="1" smtClean="0"/>
              <a:t>T.salary</a:t>
            </a:r>
            <a:r>
              <a:rPr lang="en-US" dirty="0" smtClean="0"/>
              <a:t> &gt; </a:t>
            </a:r>
            <a:r>
              <a:rPr lang="en-US" dirty="0" err="1" smtClean="0"/>
              <a:t>S.salary</a:t>
            </a:r>
            <a:r>
              <a:rPr lang="en-US" dirty="0" smtClean="0"/>
              <a:t> and </a:t>
            </a:r>
            <a:r>
              <a:rPr lang="en-US" dirty="0" err="1" smtClean="0"/>
              <a:t>S.dept</a:t>
            </a:r>
            <a:r>
              <a:rPr lang="en-US" dirty="0" smtClean="0"/>
              <a:t> name = 'Biology';</a:t>
            </a:r>
          </a:p>
          <a:p>
            <a:pPr lvl="1"/>
            <a:endParaRPr lang="en-US" altLang="en-US" dirty="0" smtClean="0"/>
          </a:p>
          <a:p>
            <a:pPr lvl="0"/>
            <a:r>
              <a:rPr lang="en-US" b="1" dirty="0" smtClean="0"/>
              <a:t>In the above query, T and S can be thought of as copies of the relation instructor, but more precisely, they are declared as aliases, that is, as alternative names, for the relation instructor. An identifier, such as T and S, that is used to rename a relation is referred to as a correlation name in the SQL standard, but it is also commonly referred to as a table alias, or a correlation variable, or a tuple variable.</a:t>
            </a:r>
            <a:endParaRPr lang="en-US" altLang="en-US" b="1" dirty="0"/>
          </a:p>
        </p:txBody>
      </p:sp>
    </p:spTree>
    <p:extLst>
      <p:ext uri="{BB962C8B-B14F-4D97-AF65-F5344CB8AC3E}">
        <p14:creationId xmlns:p14="http://schemas.microsoft.com/office/powerpoint/2010/main" val="25133238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90F971D5-882D-4233-A30D-FAEDE4CA6E84}" type="slidenum">
              <a:rPr lang="en-US" altLang="en-US" sz="1200"/>
              <a:pPr/>
              <a:t>23</a:t>
            </a:fld>
            <a:endParaRPr lang="en-US" altLang="en-US" sz="1200" dirty="0"/>
          </a:p>
        </p:txBody>
      </p:sp>
      <p:sp>
        <p:nvSpPr>
          <p:cNvPr id="91138"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1139"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9</a:t>
            </a:r>
          </a:p>
        </p:txBody>
      </p:sp>
      <p:sp>
        <p:nvSpPr>
          <p:cNvPr id="91140"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1141"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1142" name="Rectangle 6"/>
          <p:cNvSpPr>
            <a:spLocks noGrp="1" noRot="1" noChangeAspect="1" noChangeArrowheads="1" noTextEdit="1"/>
          </p:cNvSpPr>
          <p:nvPr>
            <p:ph type="sldImg"/>
          </p:nvPr>
        </p:nvSpPr>
        <p:spPr>
          <a:xfrm>
            <a:off x="1187450" y="703263"/>
            <a:ext cx="4622800" cy="3467100"/>
          </a:xfrm>
          <a:ln w="12700" cap="flat"/>
        </p:spPr>
      </p:sp>
      <p:sp>
        <p:nvSpPr>
          <p:cNvPr id="91143"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endParaRPr lang="en-US"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75B1299F-03B5-4909-AEBA-DE9BE8116957}" type="slidenum">
              <a:rPr lang="en-US" altLang="en-US" sz="1200"/>
              <a:pPr/>
              <a:t>24</a:t>
            </a:fld>
            <a:endParaRPr lang="en-US" altLang="en-US" sz="1200" dirty="0"/>
          </a:p>
        </p:txBody>
      </p:sp>
      <p:sp>
        <p:nvSpPr>
          <p:cNvPr id="93186" name="Rectangle 2"/>
          <p:cNvSpPr>
            <a:spLocks noGrp="1" noRot="1" noChangeAspect="1" noChangeArrowheads="1" noTextEdit="1"/>
          </p:cNvSpPr>
          <p:nvPr>
            <p:ph type="sldImg"/>
          </p:nvPr>
        </p:nvSpPr>
        <p:spPr>
          <a:xfrm>
            <a:off x="1187450" y="703263"/>
            <a:ext cx="4622800" cy="3467100"/>
          </a:xfrm>
          <a:ln/>
        </p:spPr>
      </p:sp>
      <p:sp>
        <p:nvSpPr>
          <p:cNvPr id="93187"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SQL specifies strings by enclosing them in single quotes, for example, 'Computer'. A single quote character that is part of a string can be specified by using two single quote characters; for example, the string “It’s right” can be specified by '</a:t>
            </a:r>
            <a:r>
              <a:rPr lang="en-US" b="1" dirty="0" err="1" smtClean="0"/>
              <a:t>It''s</a:t>
            </a:r>
            <a:r>
              <a:rPr lang="en-US" b="1" dirty="0" smtClean="0"/>
              <a:t> right'.</a:t>
            </a:r>
          </a:p>
          <a:p>
            <a:endParaRPr lang="en-US" altLang="en-US" dirty="0" smtClean="0"/>
          </a:p>
          <a:p>
            <a:r>
              <a:rPr lang="en-US" b="0" i="0" dirty="0" smtClean="0"/>
              <a:t>SQL also permits a variety of functions on character strings, such as concatenating (using “∥”), extracting substrings, finding the length of strings, converting strings to uppercase (using the function upper(s) where s is a string) and lowercase (using the function lower(s)), removing spaces at the end of the string (using trim(s)), and so on. There are variations on the exact set of string functions supported by different database systems. See your database system’s manual for more details on exactly what string functions it supports.</a:t>
            </a:r>
          </a:p>
          <a:p>
            <a:endParaRPr lang="en-US" altLang="en-US" dirty="0" smtClean="0"/>
          </a:p>
          <a:p>
            <a:r>
              <a:rPr lang="en-US" b="1" dirty="0" smtClean="0"/>
              <a:t>Pattern matching can be performed on strings using the operator like. We describe patterns by using two special characters: </a:t>
            </a:r>
          </a:p>
          <a:p>
            <a:endParaRPr lang="en-US" b="1" dirty="0" smtClean="0"/>
          </a:p>
          <a:p>
            <a:pPr lvl="1"/>
            <a:r>
              <a:rPr lang="en-US" b="1" dirty="0" smtClean="0"/>
              <a:t>• Percent (%): The % character matches any substring. </a:t>
            </a:r>
          </a:p>
          <a:p>
            <a:pPr lvl="1"/>
            <a:r>
              <a:rPr lang="en-US" b="1" dirty="0" smtClean="0"/>
              <a:t>• Underscore (_): The character matches any character. </a:t>
            </a:r>
          </a:p>
          <a:p>
            <a:pPr lvl="1"/>
            <a:endParaRPr lang="en-US" altLang="en-US" dirty="0" smtClean="0"/>
          </a:p>
          <a:p>
            <a:pPr lvl="1"/>
            <a:endParaRPr lang="en-US"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127041A6-355E-4FC9-8067-194DB47AE9FB}" type="slidenum">
              <a:rPr lang="en-US" altLang="en-US" sz="1200"/>
              <a:pPr/>
              <a:t>25</a:t>
            </a:fld>
            <a:endParaRPr lang="en-US" altLang="en-US" sz="1200" dirty="0"/>
          </a:p>
        </p:txBody>
      </p:sp>
      <p:sp>
        <p:nvSpPr>
          <p:cNvPr id="94210" name="Rectangle 2"/>
          <p:cNvSpPr>
            <a:spLocks noGrp="1" noRot="1" noChangeAspect="1" noChangeArrowheads="1" noTextEdit="1"/>
          </p:cNvSpPr>
          <p:nvPr>
            <p:ph type="sldImg"/>
          </p:nvPr>
        </p:nvSpPr>
        <p:spPr>
          <a:xfrm>
            <a:off x="1187450" y="703263"/>
            <a:ext cx="4622800" cy="3467100"/>
          </a:xfrm>
          <a:ln/>
        </p:spPr>
      </p:sp>
      <p:sp>
        <p:nvSpPr>
          <p:cNvPr id="94211"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Patterns are case sensitive; that is, uppercase characters do not match lowercase characters, or vice versa. To illustrate pattern matching, we consider the following examples: </a:t>
            </a:r>
          </a:p>
          <a:p>
            <a:pPr lvl="1"/>
            <a:r>
              <a:rPr lang="en-US" b="1" i="1" dirty="0" smtClean="0"/>
              <a:t>• 'Intro%' matches any string beginning with “Intro”. </a:t>
            </a:r>
          </a:p>
          <a:p>
            <a:pPr lvl="1"/>
            <a:r>
              <a:rPr lang="en-US" b="1" i="1" dirty="0" smtClean="0"/>
              <a:t>• '%Comp%' matches any string containing “Comp” as a substring, for example, 'Intro. to Computer Science', and 'Computational Biology'. </a:t>
            </a:r>
          </a:p>
          <a:p>
            <a:pPr lvl="1"/>
            <a:r>
              <a:rPr lang="en-US" b="1" i="1" dirty="0" smtClean="0"/>
              <a:t>• ' _ _ _' matches any string of exactly three characters. </a:t>
            </a:r>
          </a:p>
          <a:p>
            <a:pPr lvl="1"/>
            <a:r>
              <a:rPr lang="en-US" b="1" i="1" dirty="0" smtClean="0"/>
              <a:t>• ‘_ _ _ %' matches any string of at least three characters.</a:t>
            </a:r>
          </a:p>
          <a:p>
            <a:endParaRPr lang="en-US" altLang="en-US" dirty="0" smtClean="0"/>
          </a:p>
          <a:p>
            <a:r>
              <a:rPr lang="en-US" b="1" dirty="0" smtClean="0"/>
              <a:t>SQL also permits a variety of functions on character strings, such as concatenating (using “∥”), extracting substrings, finding the length of strings, converting strings to uppercase (using the function upper(s) where s is a string) and lowercase (using the function lower(s)), removing spaces at the end of the string (using trim(s)), and so on. There are variations on the exact set of string functions supported by different database systems. See your database system’s manual for more details on exactly what string functions it supports.</a:t>
            </a:r>
            <a:endParaRPr lang="en-US" altLang="en-US" b="1" dirty="0" smtClean="0"/>
          </a:p>
          <a:p>
            <a:endParaRPr lang="en-US"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C364CC0D-9515-4095-81D0-8024523D9047}" type="slidenum">
              <a:rPr lang="en-US" altLang="en-US" sz="1200"/>
              <a:pPr/>
              <a:t>26</a:t>
            </a:fld>
            <a:endParaRPr lang="en-US" altLang="en-US" sz="1200" dirty="0"/>
          </a:p>
        </p:txBody>
      </p:sp>
      <p:sp>
        <p:nvSpPr>
          <p:cNvPr id="95234" name="Rectangle 2"/>
          <p:cNvSpPr>
            <a:spLocks noGrp="1" noRot="1" noChangeAspect="1" noChangeArrowheads="1" noTextEdit="1"/>
          </p:cNvSpPr>
          <p:nvPr>
            <p:ph type="sldImg"/>
          </p:nvPr>
        </p:nvSpPr>
        <p:spPr>
          <a:xfrm>
            <a:off x="1187450" y="703263"/>
            <a:ext cx="4622800" cy="3467100"/>
          </a:xfrm>
          <a:ln/>
        </p:spPr>
      </p:sp>
      <p:sp>
        <p:nvSpPr>
          <p:cNvPr id="95235"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SQL offers the user some control over the order in which tuples in a relation are displayed. The order by clause causes the tuples in the result of a query to appear in sorted order. To list in alphabetic order all instructors in the Physics department, we write:</a:t>
            </a:r>
          </a:p>
          <a:p>
            <a:endParaRPr lang="en-US" altLang="en-US" dirty="0" smtClean="0"/>
          </a:p>
          <a:p>
            <a:pPr lvl="1"/>
            <a:r>
              <a:rPr lang="en-US" dirty="0" smtClean="0"/>
              <a:t>select name from instructor </a:t>
            </a:r>
          </a:p>
          <a:p>
            <a:pPr lvl="1"/>
            <a:r>
              <a:rPr lang="en-US" dirty="0" smtClean="0"/>
              <a:t>where </a:t>
            </a:r>
            <a:r>
              <a:rPr lang="en-US" dirty="0" err="1" smtClean="0"/>
              <a:t>dept_name</a:t>
            </a:r>
            <a:r>
              <a:rPr lang="en-US" dirty="0" smtClean="0"/>
              <a:t> </a:t>
            </a:r>
            <a:r>
              <a:rPr lang="en-US" dirty="0" smtClean="0"/>
              <a:t>= 'Physics' </a:t>
            </a:r>
          </a:p>
          <a:p>
            <a:pPr lvl="1"/>
            <a:r>
              <a:rPr lang="en-US" dirty="0" smtClean="0"/>
              <a:t>order by name;</a:t>
            </a:r>
          </a:p>
          <a:p>
            <a:pPr lvl="1"/>
            <a:endParaRPr lang="en-US" altLang="en-US" b="1" dirty="0" smtClean="0"/>
          </a:p>
          <a:p>
            <a:pPr lvl="0"/>
            <a:r>
              <a:rPr lang="en-US" b="1" dirty="0" smtClean="0"/>
              <a:t>By default, the order by clause lists items in ascending order. To specify the sort order, we may specify </a:t>
            </a:r>
            <a:r>
              <a:rPr lang="en-US" b="1" dirty="0" err="1" smtClean="0"/>
              <a:t>desc</a:t>
            </a:r>
            <a:r>
              <a:rPr lang="en-US" b="1" dirty="0" smtClean="0"/>
              <a:t> for descending order or </a:t>
            </a:r>
            <a:r>
              <a:rPr lang="en-US" b="1" dirty="0" err="1" smtClean="0"/>
              <a:t>asc</a:t>
            </a:r>
            <a:r>
              <a:rPr lang="en-US" b="1" dirty="0" smtClean="0"/>
              <a:t> for ascending order. Furthermore, ordering can be performed on multiple attributes. Suppose that we wish to list the entire instructor relation in descending order of salary. If several instructors have the same salary, we order them in ascending order by name. We express this query in SQL as follows:</a:t>
            </a:r>
          </a:p>
          <a:p>
            <a:pPr lvl="0"/>
            <a:endParaRPr lang="en-US" altLang="en-US" dirty="0" smtClean="0"/>
          </a:p>
          <a:p>
            <a:pPr lvl="1"/>
            <a:r>
              <a:rPr lang="en-US" dirty="0" smtClean="0"/>
              <a:t>select * </a:t>
            </a:r>
          </a:p>
          <a:p>
            <a:pPr lvl="1"/>
            <a:r>
              <a:rPr lang="en-US" dirty="0" smtClean="0"/>
              <a:t>from instructor </a:t>
            </a:r>
          </a:p>
          <a:p>
            <a:pPr lvl="1"/>
            <a:r>
              <a:rPr lang="en-US" dirty="0" smtClean="0"/>
              <a:t>order by salary </a:t>
            </a:r>
            <a:r>
              <a:rPr lang="en-US" dirty="0" err="1" smtClean="0"/>
              <a:t>desc</a:t>
            </a:r>
            <a:r>
              <a:rPr lang="en-US" dirty="0" smtClean="0"/>
              <a:t>, name </a:t>
            </a:r>
            <a:r>
              <a:rPr lang="en-US" dirty="0" err="1" smtClean="0"/>
              <a:t>asc</a:t>
            </a:r>
            <a:r>
              <a:rPr lang="en-US" dirty="0" smtClean="0"/>
              <a:t>;</a:t>
            </a:r>
            <a:endParaRPr lang="en-US"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78E32C01-92A2-42F0-A723-C22E35C9436D}" type="slidenum">
              <a:rPr lang="en-US" altLang="en-US" sz="1200"/>
              <a:pPr/>
              <a:t>27</a:t>
            </a:fld>
            <a:endParaRPr lang="en-US" altLang="en-US" sz="1200" dirty="0"/>
          </a:p>
        </p:txBody>
      </p:sp>
      <p:sp>
        <p:nvSpPr>
          <p:cNvPr id="96258"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6259"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7</a:t>
            </a:r>
          </a:p>
        </p:txBody>
      </p:sp>
      <p:sp>
        <p:nvSpPr>
          <p:cNvPr id="96260"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6261"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96262" name="Rectangle 6"/>
          <p:cNvSpPr>
            <a:spLocks noGrp="1" noRot="1" noChangeAspect="1" noChangeArrowheads="1" noTextEdit="1"/>
          </p:cNvSpPr>
          <p:nvPr>
            <p:ph type="sldImg"/>
          </p:nvPr>
        </p:nvSpPr>
        <p:spPr>
          <a:xfrm>
            <a:off x="1187450" y="703263"/>
            <a:ext cx="4622800" cy="3467100"/>
          </a:xfrm>
          <a:ln w="12700" cap="flat"/>
        </p:spPr>
      </p:sp>
      <p:sp>
        <p:nvSpPr>
          <p:cNvPr id="96263"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pPr algn="l"/>
            <a:r>
              <a:rPr lang="en-US" sz="1400" b="1" baseline="-25000" dirty="0" smtClean="0"/>
              <a:t>SQL includes a between comparison operator to simplify where clauses that specify that a value be less than or equal to some value and greater than or equal to some other value. If we wish to find the names of instructors with salary amounts between $90,000 and $100,000, we can use the between comparison to write:</a:t>
            </a:r>
          </a:p>
          <a:p>
            <a:endParaRPr lang="en-US" altLang="en-US" sz="1400" dirty="0" smtClean="0"/>
          </a:p>
          <a:p>
            <a:endParaRPr lang="en-US" altLang="en-US" sz="1400" dirty="0" smtClean="0"/>
          </a:p>
          <a:p>
            <a:r>
              <a:rPr lang="en-US" sz="1400" dirty="0" smtClean="0"/>
              <a:t>instead of:</a:t>
            </a:r>
          </a:p>
          <a:p>
            <a:endParaRPr lang="en-US" altLang="en-US" dirty="0" smtClean="0"/>
          </a:p>
          <a:p>
            <a:pPr lvl="1"/>
            <a:r>
              <a:rPr lang="en-US" dirty="0" smtClean="0"/>
              <a:t>select name </a:t>
            </a:r>
          </a:p>
          <a:p>
            <a:pPr lvl="1"/>
            <a:r>
              <a:rPr lang="en-US" dirty="0" smtClean="0"/>
              <a:t>from instructor </a:t>
            </a:r>
          </a:p>
          <a:p>
            <a:pPr lvl="1"/>
            <a:r>
              <a:rPr lang="en-US" dirty="0" smtClean="0"/>
              <a:t>where salary &lt;= 100000 and salary &gt;= 90000;</a:t>
            </a:r>
          </a:p>
          <a:p>
            <a:pPr lvl="1"/>
            <a:endParaRPr lang="en-US" altLang="en-US" dirty="0" smtClean="0"/>
          </a:p>
          <a:p>
            <a:pPr lvl="0"/>
            <a:r>
              <a:rPr lang="en-US" b="1" dirty="0" smtClean="0"/>
              <a:t>Similarly, we can use the not between comparison operator. </a:t>
            </a:r>
            <a:endParaRPr lang="en-US" b="1" dirty="0" smtClean="0"/>
          </a:p>
          <a:p>
            <a:pPr lvl="0"/>
            <a:endParaRPr lang="en-US" b="1" dirty="0" smtClean="0"/>
          </a:p>
          <a:p>
            <a:pPr lvl="0"/>
            <a:r>
              <a:rPr lang="en-US" b="1" dirty="0" smtClean="0"/>
              <a:t>SQL permits us to use the notation (v</a:t>
            </a:r>
            <a:r>
              <a:rPr lang="en-US" b="1" baseline="-25000" dirty="0" smtClean="0"/>
              <a:t>1</a:t>
            </a:r>
            <a:r>
              <a:rPr lang="en-US" b="1" dirty="0" smtClean="0"/>
              <a:t>,v</a:t>
            </a:r>
            <a:r>
              <a:rPr lang="en-US" b="1" baseline="-25000" dirty="0" smtClean="0"/>
              <a:t>2</a:t>
            </a:r>
            <a:r>
              <a:rPr lang="en-US" b="1" dirty="0" smtClean="0"/>
              <a:t>, …,</a:t>
            </a:r>
            <a:r>
              <a:rPr lang="en-US" b="1" dirty="0" err="1" smtClean="0"/>
              <a:t>v</a:t>
            </a:r>
            <a:r>
              <a:rPr lang="en-US" b="1" baseline="-25000" dirty="0" err="1" smtClean="0"/>
              <a:t>n</a:t>
            </a:r>
            <a:r>
              <a:rPr lang="en-US" b="1" dirty="0" smtClean="0"/>
              <a:t>) to denote a tuple of arity n containing values v</a:t>
            </a:r>
            <a:r>
              <a:rPr lang="en-US" b="1" baseline="-25000" dirty="0" smtClean="0"/>
              <a:t>1</a:t>
            </a:r>
            <a:r>
              <a:rPr lang="en-US" b="1" dirty="0" smtClean="0"/>
              <a:t>,v</a:t>
            </a:r>
            <a:r>
              <a:rPr lang="en-US" b="1" baseline="-25000" dirty="0" smtClean="0"/>
              <a:t>2</a:t>
            </a:r>
            <a:r>
              <a:rPr lang="en-US" b="1" dirty="0" smtClean="0"/>
              <a:t>, …,</a:t>
            </a:r>
            <a:r>
              <a:rPr lang="en-US" b="1" dirty="0" err="1" smtClean="0"/>
              <a:t>v</a:t>
            </a:r>
            <a:r>
              <a:rPr lang="en-US" b="1" baseline="-25000" dirty="0" err="1" smtClean="0"/>
              <a:t>n</a:t>
            </a:r>
            <a:r>
              <a:rPr lang="en-US" b="1" dirty="0" smtClean="0"/>
              <a:t>; the notation is called a row constructor. The comparison operators can be used on tuples, and the ordering is defined lexicographically. For example, (a</a:t>
            </a:r>
            <a:r>
              <a:rPr lang="en-US" b="1" baseline="-25000" dirty="0" smtClean="0"/>
              <a:t>1</a:t>
            </a:r>
            <a:r>
              <a:rPr lang="en-US" b="1" dirty="0" smtClean="0"/>
              <a:t>, a</a:t>
            </a:r>
            <a:r>
              <a:rPr lang="en-US" b="1" baseline="-25000" dirty="0" smtClean="0"/>
              <a:t>2</a:t>
            </a:r>
            <a:r>
              <a:rPr lang="en-US" b="1" dirty="0" smtClean="0"/>
              <a:t>) &lt;= (b</a:t>
            </a:r>
            <a:r>
              <a:rPr lang="en-US" b="1" baseline="-25000" dirty="0" smtClean="0"/>
              <a:t>1</a:t>
            </a:r>
            <a:r>
              <a:rPr lang="en-US" b="1" dirty="0" smtClean="0"/>
              <a:t>, b</a:t>
            </a:r>
            <a:r>
              <a:rPr lang="en-US" b="1" baseline="-25000" dirty="0" smtClean="0"/>
              <a:t>2</a:t>
            </a:r>
            <a:r>
              <a:rPr lang="en-US" b="1" dirty="0" smtClean="0"/>
              <a:t>) is true if a</a:t>
            </a:r>
            <a:r>
              <a:rPr lang="en-US" b="1" baseline="-25000" dirty="0" smtClean="0"/>
              <a:t>1</a:t>
            </a:r>
            <a:r>
              <a:rPr lang="en-US" b="1" dirty="0" smtClean="0"/>
              <a:t> &lt;= b</a:t>
            </a:r>
            <a:r>
              <a:rPr lang="en-US" b="1" baseline="-25000" dirty="0" smtClean="0"/>
              <a:t>1</a:t>
            </a:r>
            <a:r>
              <a:rPr lang="en-US" b="1" dirty="0" smtClean="0"/>
              <a:t> and a</a:t>
            </a:r>
            <a:r>
              <a:rPr lang="en-US" b="1" baseline="-25000" dirty="0" smtClean="0"/>
              <a:t>2</a:t>
            </a:r>
            <a:r>
              <a:rPr lang="en-US" b="1" dirty="0" smtClean="0"/>
              <a:t> &lt;= b</a:t>
            </a:r>
            <a:r>
              <a:rPr lang="en-US" b="1" baseline="-25000" dirty="0" smtClean="0"/>
              <a:t>2</a:t>
            </a:r>
            <a:r>
              <a:rPr lang="en-US" b="1" dirty="0" smtClean="0"/>
              <a:t>; similarly, the two tuples are equal if all their attributes are equal. Thus, the SQL query:</a:t>
            </a:r>
          </a:p>
          <a:p>
            <a:pPr lvl="0"/>
            <a:endParaRPr lang="en-US" altLang="en-US" dirty="0" smtClean="0"/>
          </a:p>
          <a:p>
            <a:pPr lvl="1"/>
            <a:r>
              <a:rPr lang="en-US" dirty="0" smtClean="0"/>
              <a:t>select name, </a:t>
            </a:r>
            <a:r>
              <a:rPr lang="en-US" dirty="0" err="1" smtClean="0"/>
              <a:t>course_id</a:t>
            </a:r>
            <a:r>
              <a:rPr lang="en-US" dirty="0" smtClean="0"/>
              <a:t> </a:t>
            </a:r>
            <a:endParaRPr lang="en-US" dirty="0" smtClean="0"/>
          </a:p>
          <a:p>
            <a:pPr lvl="1"/>
            <a:r>
              <a:rPr lang="en-US" dirty="0" smtClean="0"/>
              <a:t>from instructor, teaches </a:t>
            </a:r>
          </a:p>
          <a:p>
            <a:pPr lvl="1"/>
            <a:r>
              <a:rPr lang="en-US" dirty="0" smtClean="0"/>
              <a:t>where instructor.ID= teaches.ID and </a:t>
            </a:r>
            <a:r>
              <a:rPr lang="en-US" dirty="0" err="1" smtClean="0"/>
              <a:t>dept_name</a:t>
            </a:r>
            <a:r>
              <a:rPr lang="en-US" dirty="0" smtClean="0"/>
              <a:t> = 'Biology';</a:t>
            </a:r>
          </a:p>
          <a:p>
            <a:pPr lvl="1"/>
            <a:endParaRPr lang="en-US" altLang="en-US" dirty="0" smtClean="0"/>
          </a:p>
          <a:p>
            <a:pPr lvl="0"/>
            <a:r>
              <a:rPr lang="en-US" b="1" dirty="0" smtClean="0"/>
              <a:t>can be rewritten as follows:</a:t>
            </a:r>
          </a:p>
          <a:p>
            <a:pPr lvl="0"/>
            <a:endParaRPr lang="en-US" altLang="en-US" dirty="0" smtClean="0"/>
          </a:p>
          <a:p>
            <a:pPr lvl="0"/>
            <a:endParaRPr lang="en-US"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D7AE236B-D748-4441-B842-77E0AEB2470B}" type="slidenum">
              <a:rPr lang="en-US" altLang="en-US" sz="1200"/>
              <a:pPr/>
              <a:t>28</a:t>
            </a:fld>
            <a:endParaRPr lang="en-US" altLang="en-US" sz="1200" dirty="0"/>
          </a:p>
        </p:txBody>
      </p:sp>
      <p:sp>
        <p:nvSpPr>
          <p:cNvPr id="101378" name="Rectangle 2"/>
          <p:cNvSpPr>
            <a:spLocks noGrp="1" noRot="1" noChangeAspect="1" noChangeArrowheads="1" noTextEdit="1"/>
          </p:cNvSpPr>
          <p:nvPr>
            <p:ph type="sldImg"/>
          </p:nvPr>
        </p:nvSpPr>
        <p:spPr>
          <a:xfrm>
            <a:off x="1187450" y="703263"/>
            <a:ext cx="4622800" cy="3467100"/>
          </a:xfrm>
          <a:ln/>
        </p:spPr>
      </p:sp>
      <p:sp>
        <p:nvSpPr>
          <p:cNvPr id="101379"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SQL operations union, intersect, and except operate on relations and correspond to the mathematical set operations ∪, ∩, and −. We shall now construct queries involving the union, intersect, and except operations over two sets.</a:t>
            </a:r>
          </a:p>
          <a:p>
            <a:endParaRPr lang="en-US" altLang="en-US" dirty="0" smtClean="0"/>
          </a:p>
          <a:p>
            <a:pPr marL="171450" indent="-171450">
              <a:buFont typeface="Arial" panose="020B0604020202020204" pitchFamily="34" charset="0"/>
              <a:buChar char="•"/>
            </a:pPr>
            <a:r>
              <a:rPr lang="en-US" b="1" dirty="0" smtClean="0"/>
              <a:t>The set of all courses taught in the Fall 2017 semester:</a:t>
            </a:r>
          </a:p>
          <a:p>
            <a:pPr marL="0" indent="0">
              <a:buFont typeface="Arial" panose="020B0604020202020204" pitchFamily="34" charset="0"/>
              <a:buNone/>
            </a:pPr>
            <a:r>
              <a:rPr lang="en-US" dirty="0" smtClean="0"/>
              <a:t>	select </a:t>
            </a:r>
            <a:r>
              <a:rPr lang="en-US" dirty="0" err="1" smtClean="0"/>
              <a:t>course_id</a:t>
            </a:r>
            <a:r>
              <a:rPr lang="en-US" dirty="0" smtClean="0"/>
              <a:t> </a:t>
            </a:r>
            <a:endParaRPr lang="en-US" dirty="0" smtClean="0"/>
          </a:p>
          <a:p>
            <a:pPr marL="0" indent="0">
              <a:buFont typeface="Arial" panose="020B0604020202020204" pitchFamily="34" charset="0"/>
              <a:buNone/>
            </a:pPr>
            <a:r>
              <a:rPr lang="en-US" dirty="0" smtClean="0"/>
              <a:t>	from section </a:t>
            </a:r>
          </a:p>
          <a:p>
            <a:pPr marL="0" indent="0">
              <a:buFont typeface="Arial" panose="020B0604020202020204" pitchFamily="34" charset="0"/>
              <a:buNone/>
            </a:pPr>
            <a:r>
              <a:rPr lang="en-US" dirty="0" smtClean="0"/>
              <a:t>	where semester = 'Fall' and year= 2017;</a:t>
            </a:r>
            <a:endParaRPr lang="en-US" altLang="en-US" dirty="0" smtClean="0"/>
          </a:p>
          <a:p>
            <a:pPr marL="171450" indent="-171450">
              <a:buFont typeface="Arial" panose="020B0604020202020204" pitchFamily="34" charset="0"/>
              <a:buChar char="•"/>
            </a:pPr>
            <a:endParaRPr lang="en-US" altLang="en-US" dirty="0" smtClean="0"/>
          </a:p>
          <a:p>
            <a:pPr marL="171450" indent="-171450">
              <a:buFont typeface="Arial" panose="020B0604020202020204" pitchFamily="34" charset="0"/>
              <a:buChar char="•"/>
            </a:pPr>
            <a:r>
              <a:rPr lang="en-US" b="1" dirty="0" smtClean="0"/>
              <a:t>The set of all courses taught in the Spring 2018 semester:</a:t>
            </a:r>
          </a:p>
          <a:p>
            <a:pPr marL="0" indent="0">
              <a:buFont typeface="Arial" panose="020B0604020202020204" pitchFamily="34" charset="0"/>
              <a:buNone/>
            </a:pPr>
            <a:endParaRPr lang="en-US" altLang="en-US" dirty="0" smtClean="0"/>
          </a:p>
          <a:p>
            <a:pPr marL="914400" lvl="2" indent="0">
              <a:buFont typeface="Arial" panose="020B0604020202020204" pitchFamily="34" charset="0"/>
              <a:buNone/>
            </a:pPr>
            <a:r>
              <a:rPr lang="en-US" dirty="0" smtClean="0"/>
              <a:t>select </a:t>
            </a:r>
            <a:r>
              <a:rPr lang="en-US" dirty="0" err="1" smtClean="0"/>
              <a:t>course_id</a:t>
            </a:r>
            <a:r>
              <a:rPr lang="en-US" dirty="0" smtClean="0"/>
              <a:t> </a:t>
            </a:r>
            <a:endParaRPr lang="en-US" dirty="0" smtClean="0"/>
          </a:p>
          <a:p>
            <a:pPr marL="914400" lvl="2" indent="0">
              <a:buFont typeface="Arial" panose="020B0604020202020204" pitchFamily="34" charset="0"/>
              <a:buNone/>
            </a:pPr>
            <a:r>
              <a:rPr lang="en-US" dirty="0" smtClean="0"/>
              <a:t>from section </a:t>
            </a:r>
          </a:p>
          <a:p>
            <a:pPr marL="914400" lvl="2" indent="0">
              <a:buFont typeface="Arial" panose="020B0604020202020204" pitchFamily="34" charset="0"/>
              <a:buNone/>
            </a:pPr>
            <a:r>
              <a:rPr lang="en-US" dirty="0" smtClean="0"/>
              <a:t>where semester = 'Spring' and year= 2018;</a:t>
            </a:r>
          </a:p>
          <a:p>
            <a:pPr marL="914400" lvl="2" indent="0">
              <a:buFont typeface="Arial" panose="020B0604020202020204" pitchFamily="34" charset="0"/>
              <a:buNone/>
            </a:pPr>
            <a:endParaRPr lang="en-US" altLang="en-US" dirty="0" smtClean="0"/>
          </a:p>
          <a:p>
            <a:pPr marL="0" lvl="0" indent="0">
              <a:buFont typeface="Arial" panose="020B0604020202020204" pitchFamily="34" charset="0"/>
              <a:buNone/>
            </a:pPr>
            <a:r>
              <a:rPr lang="en-US" b="1" i="1" dirty="0" smtClean="0"/>
              <a:t>To find the set of all courses taught either in Fall 2017 or in Spring 2018, or both, we write the following query. Note that the parentheses we include around each select from-where statement below are optional but useful for ease of reading; some databases do not allow the use of the parentheses, in which case they may be dropped.</a:t>
            </a:r>
          </a:p>
          <a:p>
            <a:pPr marL="0" lvl="0" indent="0">
              <a:buFont typeface="Arial" panose="020B0604020202020204" pitchFamily="34" charset="0"/>
              <a:buNone/>
            </a:pPr>
            <a:endParaRPr lang="en-US" altLang="en-US" dirty="0" smtClean="0"/>
          </a:p>
          <a:p>
            <a:pPr marL="0" lvl="0" indent="0">
              <a:buFont typeface="Arial" panose="020B0604020202020204" pitchFamily="34" charset="0"/>
              <a:buNone/>
            </a:pPr>
            <a:r>
              <a:rPr lang="en-US" b="1" dirty="0" smtClean="0"/>
              <a:t>The union operation automatically eliminates duplicates, unlike the select clause.</a:t>
            </a:r>
          </a:p>
          <a:p>
            <a:pPr marL="0" lvl="0" indent="0">
              <a:buFont typeface="Arial" panose="020B0604020202020204" pitchFamily="34" charset="0"/>
              <a:buNone/>
            </a:pPr>
            <a:endParaRPr lang="en-US" altLang="en-US" b="1" dirty="0" smtClean="0"/>
          </a:p>
          <a:p>
            <a:pPr marL="0" lvl="0" indent="0">
              <a:buFont typeface="Arial" panose="020B0604020202020204" pitchFamily="34" charset="0"/>
              <a:buNone/>
            </a:pPr>
            <a:r>
              <a:rPr lang="en-US" b="1" dirty="0" smtClean="0"/>
              <a:t>If we want to retain all duplicates, we must write </a:t>
            </a:r>
            <a:r>
              <a:rPr lang="en-US" b="1" dirty="0" smtClean="0"/>
              <a:t>“union all” </a:t>
            </a:r>
            <a:r>
              <a:rPr lang="en-US" b="1" dirty="0" smtClean="0"/>
              <a:t>in place of union:</a:t>
            </a:r>
          </a:p>
          <a:p>
            <a:pPr marL="0" lvl="0" indent="0">
              <a:buFont typeface="Arial" panose="020B0604020202020204" pitchFamily="34" charset="0"/>
              <a:buNone/>
            </a:pPr>
            <a:endParaRPr lang="en-US" altLang="en-US" dirty="0" smtClean="0"/>
          </a:p>
          <a:p>
            <a:pPr marL="0" lvl="0" indent="0">
              <a:buFont typeface="Arial" panose="020B0604020202020204" pitchFamily="34" charset="0"/>
              <a:buNone/>
            </a:pPr>
            <a:endParaRPr lang="en-US" altLang="en-US" dirty="0" smtClean="0"/>
          </a:p>
          <a:p>
            <a:pPr marL="0" lvl="0" indent="0">
              <a:buFont typeface="Arial" panose="020B0604020202020204" pitchFamily="34" charset="0"/>
              <a:buNone/>
            </a:pPr>
            <a:r>
              <a:rPr lang="en-US" b="1" dirty="0" smtClean="0"/>
              <a:t>To find the set of all courses taught in both the Fall 2017 and Spring 2018, we write</a:t>
            </a:r>
            <a:r>
              <a:rPr lang="en-US" b="1" dirty="0" smtClean="0"/>
              <a:t>:</a:t>
            </a:r>
          </a:p>
          <a:p>
            <a:pPr marL="0" lvl="0" indent="0">
              <a:buFont typeface="Arial" panose="020B0604020202020204" pitchFamily="34" charset="0"/>
              <a:buNone/>
            </a:pPr>
            <a:endParaRPr lang="en-US" b="1" dirty="0" smtClean="0"/>
          </a:p>
          <a:p>
            <a:pPr marL="0" lvl="0" indent="0">
              <a:buFont typeface="Arial" panose="020B0604020202020204" pitchFamily="34" charset="0"/>
              <a:buNone/>
            </a:pPr>
            <a:endParaRPr lang="en-US" altLang="en-US" b="1" dirty="0" smtClean="0"/>
          </a:p>
          <a:p>
            <a:pPr marL="0" lvl="0" indent="0">
              <a:buFont typeface="Arial" panose="020B0604020202020204" pitchFamily="34" charset="0"/>
              <a:buNone/>
            </a:pPr>
            <a:r>
              <a:rPr lang="en-US" b="1" dirty="0" smtClean="0"/>
              <a:t>The intersect operation automatically eliminates duplicates. If we want to retain all duplicates, we must write </a:t>
            </a:r>
            <a:r>
              <a:rPr lang="en-US" b="1" dirty="0" smtClean="0"/>
              <a:t>“intersect all” </a:t>
            </a:r>
            <a:r>
              <a:rPr lang="en-US" b="1" dirty="0" smtClean="0"/>
              <a:t>in place of intersect:</a:t>
            </a:r>
          </a:p>
          <a:p>
            <a:pPr marL="0" lvl="0" indent="0">
              <a:buFont typeface="Arial" panose="020B0604020202020204" pitchFamily="34" charset="0"/>
              <a:buNone/>
            </a:pPr>
            <a:endParaRPr lang="en-US" b="1" dirty="0" smtClean="0"/>
          </a:p>
          <a:p>
            <a:pPr marL="0" lvl="0" indent="0">
              <a:buFont typeface="Arial" panose="020B0604020202020204" pitchFamily="34" charset="0"/>
              <a:buNone/>
            </a:pPr>
            <a:endParaRPr lang="en-US" b="1" dirty="0" smtClean="0"/>
          </a:p>
          <a:p>
            <a:pPr marL="0" lvl="0" indent="0">
              <a:buFont typeface="Arial" panose="020B0604020202020204" pitchFamily="34" charset="0"/>
              <a:buNone/>
            </a:pPr>
            <a:r>
              <a:rPr lang="en-US" b="1" u="sng" dirty="0" smtClean="0"/>
              <a:t>To find all courses taught in the Fall 2017 semester but not in the Spring 2018 semester, we write:</a:t>
            </a:r>
          </a:p>
          <a:p>
            <a:pPr marL="0" lvl="0" indent="0">
              <a:buFont typeface="Arial" panose="020B0604020202020204" pitchFamily="34" charset="0"/>
              <a:buNone/>
            </a:pPr>
            <a:endParaRPr lang="en-US" b="1" dirty="0" smtClean="0"/>
          </a:p>
          <a:p>
            <a:pPr marL="0" lvl="0" indent="0">
              <a:buFont typeface="Arial" panose="020B0604020202020204" pitchFamily="34" charset="0"/>
              <a:buNone/>
            </a:pPr>
            <a:r>
              <a:rPr lang="en-US" dirty="0" smtClean="0"/>
              <a:t>The except operation outputs all tuples from its first input that do not occur in the second input; that is, it performs set difference. The operation automatically eliminates duplicates in the inputs before performing set difference.</a:t>
            </a:r>
          </a:p>
          <a:p>
            <a:pPr marL="0" lvl="0" indent="0">
              <a:buFont typeface="Arial" panose="020B0604020202020204" pitchFamily="34" charset="0"/>
              <a:buNone/>
            </a:pPr>
            <a:endParaRPr lang="en-US" b="1" dirty="0" smtClean="0"/>
          </a:p>
          <a:p>
            <a:pPr marL="0" lvl="0" indent="0">
              <a:buFont typeface="Arial" panose="020B0604020202020204" pitchFamily="34" charset="0"/>
              <a:buNone/>
            </a:pPr>
            <a:r>
              <a:rPr lang="en-US" b="1" u="sng" dirty="0" smtClean="0"/>
              <a:t>If we want to retain duplicates, we must write </a:t>
            </a:r>
            <a:r>
              <a:rPr lang="en-US" b="1" u="sng" dirty="0" smtClean="0"/>
              <a:t>“except all” </a:t>
            </a:r>
            <a:r>
              <a:rPr lang="en-US" b="1" u="sng" dirty="0" smtClean="0"/>
              <a:t>in place of except:</a:t>
            </a:r>
          </a:p>
          <a:p>
            <a:pPr marL="0" lvl="0" indent="0">
              <a:buFont typeface="Arial" panose="020B0604020202020204" pitchFamily="34" charset="0"/>
              <a:buNone/>
            </a:pPr>
            <a:endParaRPr lang="en-US" altLang="en-US" b="1" dirty="0" smtClean="0"/>
          </a:p>
          <a:p>
            <a:pPr marL="0" lvl="0" indent="0">
              <a:buFont typeface="Arial" panose="020B0604020202020204" pitchFamily="34" charset="0"/>
              <a:buNone/>
            </a:pPr>
            <a:endParaRPr lang="en-US" altLang="en-US" b="1" dirty="0" smtClean="0"/>
          </a:p>
          <a:p>
            <a:pPr marL="0" lvl="0" indent="0">
              <a:buFont typeface="Arial" panose="020B0604020202020204" pitchFamily="34" charset="0"/>
              <a:buNone/>
            </a:pPr>
            <a:endParaRPr lang="en-US" altLang="en-US" dirty="0"/>
          </a:p>
        </p:txBody>
      </p:sp>
    </p:spTree>
    <p:extLst>
      <p:ext uri="{BB962C8B-B14F-4D97-AF65-F5344CB8AC3E}">
        <p14:creationId xmlns:p14="http://schemas.microsoft.com/office/powerpoint/2010/main" val="10223455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D7AE236B-D748-4441-B842-77E0AEB2470B}" type="slidenum">
              <a:rPr lang="en-US" altLang="en-US" sz="1200"/>
              <a:pPr/>
              <a:t>29</a:t>
            </a:fld>
            <a:endParaRPr lang="en-US" altLang="en-US" sz="1200" dirty="0"/>
          </a:p>
        </p:txBody>
      </p:sp>
      <p:sp>
        <p:nvSpPr>
          <p:cNvPr id="101378" name="Rectangle 2"/>
          <p:cNvSpPr>
            <a:spLocks noGrp="1" noRot="1" noChangeAspect="1" noChangeArrowheads="1" noTextEdit="1"/>
          </p:cNvSpPr>
          <p:nvPr>
            <p:ph type="sldImg"/>
          </p:nvPr>
        </p:nvSpPr>
        <p:spPr>
          <a:xfrm>
            <a:off x="1187450" y="703263"/>
            <a:ext cx="4622800" cy="3467100"/>
          </a:xfrm>
          <a:ln/>
        </p:spPr>
      </p:sp>
      <p:sp>
        <p:nvSpPr>
          <p:cNvPr id="101379"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C6591C42-4AD5-4528-9EC3-61D5E9BDFCDD}" type="slidenum">
              <a:rPr lang="en-US" altLang="en-US" sz="1200"/>
              <a:pPr/>
              <a:t>30</a:t>
            </a:fld>
            <a:endParaRPr lang="en-US" altLang="en-US" sz="1200" dirty="0"/>
          </a:p>
        </p:txBody>
      </p:sp>
      <p:sp>
        <p:nvSpPr>
          <p:cNvPr id="102402" name="Rectangle 2"/>
          <p:cNvSpPr>
            <a:spLocks noGrp="1" noRot="1" noChangeAspect="1" noChangeArrowheads="1" noTextEdit="1"/>
          </p:cNvSpPr>
          <p:nvPr>
            <p:ph type="sldImg"/>
          </p:nvPr>
        </p:nvSpPr>
        <p:spPr>
          <a:xfrm>
            <a:off x="1187450" y="703263"/>
            <a:ext cx="4622800" cy="3467100"/>
          </a:xfrm>
          <a:ln/>
        </p:spPr>
      </p:sp>
      <p:sp>
        <p:nvSpPr>
          <p:cNvPr id="102403"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Null values present special problems in relational operations, including arithmetic operations, comparison operations, and set operations.</a:t>
            </a:r>
            <a:endParaRPr lang="mk-MK" b="1" dirty="0" smtClean="0"/>
          </a:p>
          <a:p>
            <a:r>
              <a:rPr lang="en-US" b="1" dirty="0" smtClean="0"/>
              <a:t>For example, if a query has an expression </a:t>
            </a:r>
            <a:r>
              <a:rPr lang="en-US" b="1" dirty="0" err="1" smtClean="0"/>
              <a:t>r.A</a:t>
            </a:r>
            <a:r>
              <a:rPr lang="en-US" b="1" dirty="0" smtClean="0"/>
              <a:t>+ 5, and </a:t>
            </a:r>
            <a:r>
              <a:rPr lang="en-US" b="1" dirty="0" err="1" smtClean="0"/>
              <a:t>r.A</a:t>
            </a:r>
            <a:r>
              <a:rPr lang="en-US" b="1" dirty="0" smtClean="0"/>
              <a:t> is null for a particular tuple, then the expression result must also be null for that tuple.</a:t>
            </a:r>
            <a:endParaRPr lang="mk-MK" b="1" dirty="0" smtClean="0"/>
          </a:p>
          <a:p>
            <a:endParaRPr lang="mk-MK" dirty="0" smtClean="0"/>
          </a:p>
          <a:p>
            <a:r>
              <a:rPr lang="en-US" b="1" dirty="0" smtClean="0"/>
              <a:t>The result of an arithmetic expression (involving, for example, +, −, ∗, or ∕) is null if any of the input values is null.</a:t>
            </a:r>
            <a:endParaRPr lang="mk-MK" b="1" dirty="0" smtClean="0"/>
          </a:p>
          <a:p>
            <a:endParaRPr lang="mk-MK" dirty="0" smtClean="0"/>
          </a:p>
          <a:p>
            <a:r>
              <a:rPr lang="en-US" b="1" dirty="0" smtClean="0"/>
              <a:t>Comparisons involving nulls are more of a problem. For example, consider the comparison “1 &lt; null”. It would be wrong to say this is true since we do not know what the null value represents. But it would likewise be wrong to claim this expression is false; if we did, “not (1 &lt; null)” would evaluate to true, which does not make sense.</a:t>
            </a:r>
            <a:endParaRPr lang="mk-MK" b="1" dirty="0" smtClean="0"/>
          </a:p>
          <a:p>
            <a:endParaRPr lang="mk-MK" dirty="0" smtClean="0"/>
          </a:p>
          <a:p>
            <a:endParaRPr lang="en-US"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E9DCB16A-F829-4527-A43B-C46817CDE356}" type="slidenum">
              <a:rPr lang="en-US" altLang="en-US" sz="1200"/>
              <a:pPr/>
              <a:t>31</a:t>
            </a:fld>
            <a:endParaRPr lang="en-US" altLang="en-US" sz="1200" dirty="0"/>
          </a:p>
        </p:txBody>
      </p:sp>
      <p:sp>
        <p:nvSpPr>
          <p:cNvPr id="103426" name="Rectangle 2"/>
          <p:cNvSpPr>
            <a:spLocks noGrp="1" noRot="1" noChangeAspect="1" noChangeArrowheads="1" noTextEdit="1"/>
          </p:cNvSpPr>
          <p:nvPr>
            <p:ph type="sldImg"/>
          </p:nvPr>
        </p:nvSpPr>
        <p:spPr>
          <a:xfrm>
            <a:off x="1187450" y="703263"/>
            <a:ext cx="4622800" cy="3467100"/>
          </a:xfrm>
          <a:ln/>
        </p:spPr>
      </p:sp>
      <p:sp>
        <p:nvSpPr>
          <p:cNvPr id="103427"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smtClean="0"/>
              <a:t>SQL therefore treats as unknown the result of any comparison involving a null value (other than predicates is null and is not null, which are described later in this section). This creates a third logical value in addition to true and false.</a:t>
            </a:r>
            <a:endParaRPr lang="mk-MK" b="1"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mk-MK" b="1"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smtClean="0"/>
              <a:t>Since the predicate in a where clause can involve Boolean operations such as and, or, and not on the results of comparisons, the definitions of the Boolean operations are extended to deal with the value unknown.</a:t>
            </a:r>
            <a:endParaRPr lang="mk-MK" b="1"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mk-MK" dirty="0" smtClean="0"/>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b="1" dirty="0" smtClean="0"/>
              <a:t>• and: The result of true and unknown is unknown, false and unknown is false, while unknown and unknown is unknown. </a:t>
            </a:r>
            <a:endParaRPr lang="mk-MK" b="1" dirty="0" smtClean="0"/>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b="1" dirty="0" smtClean="0"/>
              <a:t>• or: The result of true or unknown is true, false or unknown is unknown, while unknown or unknown is unknown. </a:t>
            </a:r>
            <a:endParaRPr lang="mk-MK" b="1" dirty="0" smtClean="0"/>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b="1" dirty="0" smtClean="0"/>
              <a:t>• not: The result of not unknown is unknown.</a:t>
            </a:r>
            <a:endParaRPr lang="mk-MK" b="1" dirty="0" smtClean="0"/>
          </a:p>
          <a:p>
            <a:endParaRPr lang="en-US"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6A527C20-D984-443D-9364-8D80E7D14902}" type="slidenum">
              <a:rPr lang="en-US" altLang="en-US" sz="1200"/>
              <a:pPr/>
              <a:t>32</a:t>
            </a:fld>
            <a:endParaRPr lang="en-US" altLang="en-US" sz="1200" dirty="0"/>
          </a:p>
        </p:txBody>
      </p:sp>
      <p:sp>
        <p:nvSpPr>
          <p:cNvPr id="104450" name="Rectangle 2"/>
          <p:cNvSpPr>
            <a:spLocks noGrp="1" noRot="1" noChangeAspect="1" noChangeArrowheads="1" noTextEdit="1"/>
          </p:cNvSpPr>
          <p:nvPr>
            <p:ph type="sldImg"/>
          </p:nvPr>
        </p:nvSpPr>
        <p:spPr>
          <a:xfrm>
            <a:off x="1187450" y="703263"/>
            <a:ext cx="4622800" cy="3467100"/>
          </a:xfrm>
          <a:ln/>
        </p:spPr>
      </p:sp>
      <p:sp>
        <p:nvSpPr>
          <p:cNvPr id="104451"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Aggregate functions are functions that take a collection (a set or multiset) of values as input and return a single value. SQL offers five standard built-in aggregate functions:</a:t>
            </a:r>
            <a:endParaRPr lang="mk-MK" b="1" dirty="0" smtClean="0"/>
          </a:p>
          <a:p>
            <a:endParaRPr lang="mk-MK" altLang="en-US" b="1" dirty="0" smtClean="0"/>
          </a:p>
          <a:p>
            <a:r>
              <a:rPr lang="en-US" b="1" dirty="0" smtClean="0"/>
              <a:t>The input to sum and </a:t>
            </a:r>
            <a:r>
              <a:rPr lang="en-US" b="1" dirty="0" err="1" smtClean="0"/>
              <a:t>avg</a:t>
            </a:r>
            <a:r>
              <a:rPr lang="en-US" b="1" dirty="0" smtClean="0"/>
              <a:t> must be a collection of numbers, but the other operators can operate on collections of nonnumeric data types, such as strings, as well.</a:t>
            </a:r>
            <a:endParaRPr lang="en-US" altLang="en-US" b="1"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643D6E09-C3BD-4C9F-8640-BDE33C2397BD}" type="slidenum">
              <a:rPr lang="en-US" altLang="en-US" sz="1200"/>
              <a:pPr/>
              <a:t>33</a:t>
            </a:fld>
            <a:endParaRPr lang="en-US" altLang="en-US" sz="1200" dirty="0"/>
          </a:p>
        </p:txBody>
      </p:sp>
      <p:sp>
        <p:nvSpPr>
          <p:cNvPr id="105474" name="Rectangle 2"/>
          <p:cNvSpPr>
            <a:spLocks noGrp="1" noRot="1" noChangeAspect="1" noChangeArrowheads="1" noTextEdit="1"/>
          </p:cNvSpPr>
          <p:nvPr>
            <p:ph type="sldImg"/>
          </p:nvPr>
        </p:nvSpPr>
        <p:spPr>
          <a:xfrm>
            <a:off x="1187450" y="703263"/>
            <a:ext cx="4622800" cy="3467100"/>
          </a:xfrm>
          <a:ln/>
        </p:spPr>
      </p:sp>
      <p:sp>
        <p:nvSpPr>
          <p:cNvPr id="105475"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mk-MK" altLang="en-US" dirty="0" smtClean="0"/>
              <a:t>Прв булет</a:t>
            </a:r>
          </a:p>
          <a:p>
            <a:endParaRPr lang="mk-MK" altLang="en-US" dirty="0" smtClean="0"/>
          </a:p>
          <a:p>
            <a:r>
              <a:rPr lang="en-US" b="1" dirty="0" smtClean="0"/>
              <a:t>The result of this query is a relation with a single attribute containing a single tuple with a numerical value corresponding to the average salary of instructors in the Computer Science department. The database system may give an awkward name to the result relation attribute that is generated by aggregation, consisting of the text of the expression; however, we can give a meaningful name to the attribute by using the as clause as follows:</a:t>
            </a:r>
            <a:endParaRPr lang="mk-MK" b="1" dirty="0" smtClean="0"/>
          </a:p>
          <a:p>
            <a:endParaRPr lang="mk-MK" altLang="en-US" dirty="0" smtClean="0"/>
          </a:p>
          <a:p>
            <a:r>
              <a:rPr lang="mk-MK" dirty="0" smtClean="0"/>
              <a:t>	</a:t>
            </a:r>
            <a:r>
              <a:rPr lang="en-US" dirty="0" smtClean="0"/>
              <a:t>select </a:t>
            </a:r>
            <a:r>
              <a:rPr lang="en-US" dirty="0" err="1" smtClean="0"/>
              <a:t>avg</a:t>
            </a:r>
            <a:r>
              <a:rPr lang="en-US" dirty="0" smtClean="0"/>
              <a:t> (salary) as </a:t>
            </a:r>
            <a:r>
              <a:rPr lang="en-US" dirty="0" err="1" smtClean="0"/>
              <a:t>avg</a:t>
            </a:r>
            <a:r>
              <a:rPr lang="en-US" dirty="0" smtClean="0"/>
              <a:t> salary </a:t>
            </a:r>
            <a:endParaRPr lang="mk-MK" dirty="0" smtClean="0"/>
          </a:p>
          <a:p>
            <a:r>
              <a:rPr lang="mk-MK" dirty="0" smtClean="0"/>
              <a:t>	</a:t>
            </a:r>
            <a:r>
              <a:rPr lang="en-US" dirty="0" smtClean="0"/>
              <a:t>from instructor </a:t>
            </a:r>
            <a:endParaRPr lang="mk-MK" dirty="0" smtClean="0"/>
          </a:p>
          <a:p>
            <a:r>
              <a:rPr lang="mk-MK" dirty="0" smtClean="0"/>
              <a:t>	</a:t>
            </a:r>
            <a:r>
              <a:rPr lang="en-US" dirty="0" smtClean="0"/>
              <a:t>where </a:t>
            </a:r>
            <a:r>
              <a:rPr lang="en-US" dirty="0" err="1" smtClean="0"/>
              <a:t>dept</a:t>
            </a:r>
            <a:r>
              <a:rPr lang="en-US" dirty="0" smtClean="0"/>
              <a:t> name = 'Comp. Sci.';</a:t>
            </a:r>
            <a:endParaRPr lang="mk-MK" dirty="0" smtClean="0"/>
          </a:p>
          <a:p>
            <a:endParaRPr lang="mk-MK" dirty="0" smtClean="0"/>
          </a:p>
          <a:p>
            <a:r>
              <a:rPr lang="en-US" b="1" dirty="0" smtClean="0"/>
              <a:t>There are cases where we must eliminate duplicates before computing an aggregate function. If we do want to eliminate duplicates, we use the keyword distinct in the aggregate expression. An example arises in the query “Find the total number of instructors who teach a course in the Spring 2018 semester.” In this case, an instructor counts only once, regardless of the number of course sections that the instructor teaches. The required information is contained in the relation teaches, and we write this query as follows:</a:t>
            </a:r>
            <a:endParaRPr lang="mk-MK" b="1" dirty="0" smtClean="0"/>
          </a:p>
          <a:p>
            <a:endParaRPr lang="mk-MK" altLang="en-US" dirty="0" smtClean="0"/>
          </a:p>
          <a:p>
            <a:endParaRPr lang="mk-MK" altLang="en-US" dirty="0" smtClean="0"/>
          </a:p>
          <a:p>
            <a:r>
              <a:rPr lang="en-US" b="1" i="1" dirty="0" smtClean="0"/>
              <a:t>Because of the keyword distinct preceding ID, even if an instructor teaches more than one course, she is counted only once in the result. </a:t>
            </a:r>
            <a:endParaRPr lang="mk-MK" b="1" i="1" dirty="0" smtClean="0"/>
          </a:p>
          <a:p>
            <a:endParaRPr lang="mk-MK" dirty="0" smtClean="0"/>
          </a:p>
          <a:p>
            <a:r>
              <a:rPr lang="en-US" b="1" i="1" dirty="0" smtClean="0"/>
              <a:t>We use the aggregate function count frequently to count the number of tuples in a relation. The notation for this function in SQL is count (*). Thus, to find the number of tuples in the course relation, we </a:t>
            </a:r>
            <a:r>
              <a:rPr lang="en-US" b="1" i="1" dirty="0" smtClean="0"/>
              <a:t>write:</a:t>
            </a:r>
          </a:p>
          <a:p>
            <a:endParaRPr lang="en-US" altLang="en-US" b="1" i="1"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E8E38463-D7D2-48E0-9845-AEDC12745945}" type="slidenum">
              <a:rPr lang="en-US" altLang="en-US" sz="1200"/>
              <a:pPr/>
              <a:t>34</a:t>
            </a:fld>
            <a:endParaRPr lang="en-US" altLang="en-US" sz="1200" dirty="0"/>
          </a:p>
        </p:txBody>
      </p:sp>
      <p:sp>
        <p:nvSpPr>
          <p:cNvPr id="106498" name="Rectangle 2"/>
          <p:cNvSpPr>
            <a:spLocks noGrp="1" noRot="1" noChangeAspect="1" noChangeArrowheads="1" noTextEdit="1"/>
          </p:cNvSpPr>
          <p:nvPr>
            <p:ph type="sldImg"/>
          </p:nvPr>
        </p:nvSpPr>
        <p:spPr>
          <a:xfrm>
            <a:off x="1187450" y="703263"/>
            <a:ext cx="4622800" cy="3467100"/>
          </a:xfrm>
          <a:ln/>
        </p:spPr>
      </p:sp>
      <p:sp>
        <p:nvSpPr>
          <p:cNvPr id="106499"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i="1" dirty="0" smtClean="0"/>
              <a:t>There are circumstances where we would like to apply the aggregate function not only to a single set of tuples, but also to a group of sets of tuples; we specify this in SQL using the group by clause. The attribute or attributes given in the group by clause are used to form groups. Tuples with the same value on all attributes in the group by clause are placed in one group.</a:t>
            </a:r>
            <a:endParaRPr lang="mk-MK" b="1" i="1" dirty="0" smtClean="0"/>
          </a:p>
          <a:p>
            <a:r>
              <a:rPr lang="en-US" b="1" i="1" dirty="0" smtClean="0"/>
              <a:t>As an illustration, consider the query “Find the average salary in each department.” We write this query as follows:</a:t>
            </a:r>
            <a:endParaRPr lang="mk-MK" b="1" i="1" dirty="0" smtClean="0"/>
          </a:p>
          <a:p>
            <a:endParaRPr lang="mk-MK" altLang="en-US" dirty="0" smtClean="0"/>
          </a:p>
          <a:p>
            <a:endParaRPr lang="en-US"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6E36DD89-DA79-48DA-B783-0C850F9C3712}" type="slidenum">
              <a:rPr lang="en-US" altLang="en-US" sz="1200"/>
              <a:pPr/>
              <a:t>35</a:t>
            </a:fld>
            <a:endParaRPr lang="en-US" altLang="en-US" sz="1200" dirty="0"/>
          </a:p>
        </p:txBody>
      </p:sp>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i="1" dirty="0" smtClean="0"/>
              <a:t>As another example of aggregation on groups of tuples, consider the query “Find the number of instructors in each department who teach a course in the Spring 2018 semester.” Information about which instructors teach which course sections in which semester is available in the teaches relation. However, this information has to be joined with information from the instructor relation to get the department name of each instructor. Thus, we write this query as follows:</a:t>
            </a:r>
            <a:r>
              <a:rPr lang="mk-MK" b="1" i="1" dirty="0" smtClean="0"/>
              <a:t>  </a:t>
            </a:r>
          </a:p>
          <a:p>
            <a:endParaRPr lang="mk-MK" altLang="en-US" dirty="0" smtClean="0"/>
          </a:p>
          <a:p>
            <a:pPr lvl="1"/>
            <a:r>
              <a:rPr lang="en-US" dirty="0" smtClean="0"/>
              <a:t>select </a:t>
            </a:r>
            <a:r>
              <a:rPr lang="en-US" dirty="0" err="1" smtClean="0"/>
              <a:t>dept_name</a:t>
            </a:r>
            <a:r>
              <a:rPr lang="en-US" dirty="0" smtClean="0"/>
              <a:t>, count (distinct ID) as </a:t>
            </a:r>
            <a:r>
              <a:rPr lang="en-US" dirty="0" err="1" smtClean="0"/>
              <a:t>instr</a:t>
            </a:r>
            <a:r>
              <a:rPr lang="en-US" dirty="0" smtClean="0"/>
              <a:t> count </a:t>
            </a:r>
            <a:endParaRPr lang="mk-MK" dirty="0" smtClean="0"/>
          </a:p>
          <a:p>
            <a:pPr lvl="1"/>
            <a:r>
              <a:rPr lang="en-US" dirty="0" smtClean="0"/>
              <a:t>from instructor, teaches </a:t>
            </a:r>
            <a:endParaRPr lang="mk-MK" dirty="0" smtClean="0"/>
          </a:p>
          <a:p>
            <a:pPr lvl="1"/>
            <a:r>
              <a:rPr lang="en-US" dirty="0" smtClean="0"/>
              <a:t>where instructor.ID= teaches.ID and semester = 'Spring' and year = 2018 </a:t>
            </a:r>
            <a:endParaRPr lang="mk-MK" dirty="0" smtClean="0"/>
          </a:p>
          <a:p>
            <a:pPr lvl="1"/>
            <a:r>
              <a:rPr lang="en-US" dirty="0" smtClean="0"/>
              <a:t>group by </a:t>
            </a:r>
            <a:r>
              <a:rPr lang="en-US" dirty="0" err="1" smtClean="0"/>
              <a:t>dept_name</a:t>
            </a:r>
            <a:r>
              <a:rPr lang="en-US" dirty="0" smtClean="0"/>
              <a:t>;</a:t>
            </a:r>
            <a:endParaRPr lang="mk-MK" dirty="0" smtClean="0"/>
          </a:p>
          <a:p>
            <a:pPr lvl="1"/>
            <a:endParaRPr lang="mk-MK" altLang="en-US" dirty="0"/>
          </a:p>
          <a:p>
            <a:pPr lvl="0"/>
            <a:r>
              <a:rPr lang="en-US" b="1" dirty="0" smtClean="0"/>
              <a:t>When an SQL query uses grouping, it is important to ensure that the only attributes that appear in the select statement without being aggregated are those that are present in the group by clause. In other words, any attribute that is not present in the group by clause may appear in the select clause only as an argument to an aggregate function, otherwise the query is treated as erroneous. For example, the following query is erroneous since ID does not appear in the group by clause, and yet it appears in the select clause without being aggregated:</a:t>
            </a:r>
            <a:endParaRPr lang="mk-MK" b="1" dirty="0" smtClean="0"/>
          </a:p>
          <a:p>
            <a:pPr lvl="0"/>
            <a:endParaRPr lang="mk-MK" altLang="en-US" dirty="0" smtClean="0"/>
          </a:p>
          <a:p>
            <a:pPr lvl="0"/>
            <a:r>
              <a:rPr lang="en-US" altLang="en-US" dirty="0" smtClean="0"/>
              <a:t>Query-to </a:t>
            </a:r>
            <a:r>
              <a:rPr lang="en-US" altLang="en-US" dirty="0" err="1" smtClean="0"/>
              <a:t>na</a:t>
            </a:r>
            <a:r>
              <a:rPr lang="en-US" altLang="en-US" dirty="0" smtClean="0"/>
              <a:t> </a:t>
            </a:r>
            <a:r>
              <a:rPr lang="en-US" altLang="en-US" dirty="0" err="1" smtClean="0"/>
              <a:t>slajd</a:t>
            </a:r>
            <a:r>
              <a:rPr lang="en-US" altLang="en-US" dirty="0" smtClean="0"/>
              <a:t> </a:t>
            </a:r>
            <a:r>
              <a:rPr lang="en-US" altLang="en-US" dirty="0" err="1" smtClean="0"/>
              <a:t>vtoroto</a:t>
            </a:r>
            <a:endParaRPr lang="mk-MK" altLang="en-US" dirty="0"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179FF149-63CC-4DDD-8621-E03FD326541C}" type="slidenum">
              <a:rPr lang="en-US" altLang="en-US" sz="1200"/>
              <a:pPr/>
              <a:t>36</a:t>
            </a:fld>
            <a:endParaRPr lang="en-US" altLang="en-US" sz="1200" dirty="0"/>
          </a:p>
        </p:txBody>
      </p:sp>
      <p:sp>
        <p:nvSpPr>
          <p:cNvPr id="108546" name="Rectangle 2"/>
          <p:cNvSpPr>
            <a:spLocks noGrp="1" noRot="1" noChangeAspect="1" noChangeArrowheads="1" noTextEdit="1"/>
          </p:cNvSpPr>
          <p:nvPr>
            <p:ph type="sldImg"/>
          </p:nvPr>
        </p:nvSpPr>
        <p:spPr>
          <a:xfrm>
            <a:off x="1187450" y="703263"/>
            <a:ext cx="4622800" cy="3467100"/>
          </a:xfrm>
          <a:ln/>
        </p:spPr>
      </p:sp>
      <p:sp>
        <p:nvSpPr>
          <p:cNvPr id="108547"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i="1" dirty="0" smtClean="0"/>
              <a:t>At times, it is useful to state a condition that applies to groups rather than to tuples. For example, we might be interested in only those departments where the average salary of the instructors is more than $42,000. This condition does not apply to a single tuple; rather, it applies to each group constructed by the group by clause. To express such a query, we use the having clause of SQL. SQL applies predicates in the having clause after groups have been formed, so aggregate functions may be used in the having clause. We express this query in SQL as follows:</a:t>
            </a:r>
          </a:p>
          <a:p>
            <a:endParaRPr lang="en-US" altLang="en-US" dirty="0" smtClean="0"/>
          </a:p>
          <a:p>
            <a:endParaRPr lang="en-US" altLang="en-US" dirty="0" smtClean="0"/>
          </a:p>
          <a:p>
            <a:endParaRPr lang="en-US" altLang="en-US" dirty="0" smtClean="0"/>
          </a:p>
          <a:p>
            <a:r>
              <a:rPr lang="en-US" b="1" dirty="0" smtClean="0"/>
              <a:t>The meaning of a query containing aggregation, group by, or having clauses is defined by the following sequence of operations: </a:t>
            </a:r>
          </a:p>
          <a:p>
            <a:pPr marL="228600" indent="-228600">
              <a:buAutoNum type="arabicPeriod"/>
            </a:pPr>
            <a:r>
              <a:rPr lang="en-US" i="1" dirty="0" smtClean="0"/>
              <a:t>As was the case for queries without aggregation, the from clause is first evaluated to get a relation. </a:t>
            </a:r>
          </a:p>
          <a:p>
            <a:pPr marL="228600" indent="-228600">
              <a:buAutoNum type="arabicPeriod"/>
            </a:pPr>
            <a:r>
              <a:rPr lang="en-US" i="1" dirty="0" smtClean="0"/>
              <a:t>If a where clause is present, the predicate in the where clause is applied on the result relation of the from clause. </a:t>
            </a:r>
          </a:p>
          <a:p>
            <a:pPr marL="228600" indent="-228600">
              <a:buAutoNum type="arabicPeriod"/>
            </a:pPr>
            <a:r>
              <a:rPr lang="en-US" i="1" dirty="0" smtClean="0"/>
              <a:t>Tuples satisfying the where predicate are then placed into groups by the group by clause if it is present. If the group by clause is absent, the entire set of tuples satisfying the where predicate is treated as being in one group. </a:t>
            </a:r>
          </a:p>
          <a:p>
            <a:r>
              <a:rPr lang="en-US" i="1" dirty="0" smtClean="0"/>
              <a:t>4. The having clause, if it is present, is applied to each group; the groups that do not satisfy the having clause predicate are removed. </a:t>
            </a:r>
          </a:p>
          <a:p>
            <a:r>
              <a:rPr lang="en-US" i="1" dirty="0" smtClean="0"/>
              <a:t>5. The select clause uses the remaining groups to generate tuples of the result of the query, applying the aggregate functions to get a single result tuple for each group.</a:t>
            </a:r>
            <a:endParaRPr lang="en-US" altLang="en-US" i="1" dirty="0"/>
          </a:p>
        </p:txBody>
      </p:sp>
    </p:spTree>
    <p:extLst>
      <p:ext uri="{BB962C8B-B14F-4D97-AF65-F5344CB8AC3E}">
        <p14:creationId xmlns:p14="http://schemas.microsoft.com/office/powerpoint/2010/main" val="18217988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8619AA53-6FBE-47B1-A5A9-D4F7E2EB9003}" type="slidenum">
              <a:rPr lang="en-US" altLang="en-US" sz="1200"/>
              <a:pPr/>
              <a:t>37</a:t>
            </a:fld>
            <a:endParaRPr lang="en-US" altLang="en-US" sz="1200" dirty="0"/>
          </a:p>
        </p:txBody>
      </p:sp>
      <p:sp>
        <p:nvSpPr>
          <p:cNvPr id="110594" name="Rectangle 2"/>
          <p:cNvSpPr>
            <a:spLocks noGrp="1" noRot="1" noChangeAspect="1" noChangeArrowheads="1" noTextEdit="1"/>
          </p:cNvSpPr>
          <p:nvPr>
            <p:ph type="sldImg"/>
          </p:nvPr>
        </p:nvSpPr>
        <p:spPr>
          <a:xfrm>
            <a:off x="1187450" y="703263"/>
            <a:ext cx="4622800" cy="3467100"/>
          </a:xfrm>
          <a:ln/>
        </p:spPr>
      </p:sp>
      <p:sp>
        <p:nvSpPr>
          <p:cNvPr id="110595"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i="1" dirty="0" smtClean="0"/>
              <a:t>SQL provides a mechanism for nesting subqueries. A subquery is a select-from-where expression that is nested within another query. A common use of subqueries is to perform tests for set membership, make set comparisons, and determine set cardinality by nesting subqueries in the where clause</a:t>
            </a:r>
            <a:r>
              <a:rPr lang="en-US" dirty="0" smtClean="0"/>
              <a:t>.</a:t>
            </a:r>
          </a:p>
          <a:p>
            <a:endParaRPr lang="en-US"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0DD8DAD5-EFE6-4531-83B5-A1D07989AD0D}" type="slidenum">
              <a:rPr lang="en-US" altLang="en-US" sz="1200"/>
              <a:pPr/>
              <a:t>38</a:t>
            </a:fld>
            <a:endParaRPr lang="en-US" altLang="en-US" sz="1200" dirty="0"/>
          </a:p>
        </p:txBody>
      </p:sp>
      <p:sp>
        <p:nvSpPr>
          <p:cNvPr id="111618" name="Rectangle 2"/>
          <p:cNvSpPr>
            <a:spLocks noGrp="1" noRot="1" noChangeAspect="1" noChangeArrowheads="1" noTextEdit="1"/>
          </p:cNvSpPr>
          <p:nvPr>
            <p:ph type="sldImg"/>
          </p:nvPr>
        </p:nvSpPr>
        <p:spPr>
          <a:xfrm>
            <a:off x="1187450" y="703263"/>
            <a:ext cx="4622800" cy="3467100"/>
          </a:xfrm>
          <a:ln/>
        </p:spPr>
      </p:sp>
      <p:sp>
        <p:nvSpPr>
          <p:cNvPr id="111619"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502F3513-D1FE-453A-9D62-AB228D88B68A}" type="slidenum">
              <a:rPr lang="en-US" altLang="en-US" sz="1200"/>
              <a:pPr/>
              <a:t>39</a:t>
            </a:fld>
            <a:endParaRPr lang="en-US" altLang="en-US" sz="1200" dirty="0"/>
          </a:p>
        </p:txBody>
      </p:sp>
      <p:sp>
        <p:nvSpPr>
          <p:cNvPr id="117762" name="Rectangle 2"/>
          <p:cNvSpPr>
            <a:spLocks noGrp="1" noRot="1" noChangeAspect="1" noChangeArrowheads="1" noTextEdit="1"/>
          </p:cNvSpPr>
          <p:nvPr>
            <p:ph type="sldImg"/>
          </p:nvPr>
        </p:nvSpPr>
        <p:spPr>
          <a:xfrm>
            <a:off x="1187450" y="703263"/>
            <a:ext cx="4622800" cy="3467100"/>
          </a:xfrm>
          <a:ln/>
        </p:spPr>
      </p:sp>
      <p:sp>
        <p:nvSpPr>
          <p:cNvPr id="117763"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err="1" smtClean="0"/>
              <a:t>Uste</a:t>
            </a:r>
            <a:r>
              <a:rPr lang="en-US" b="1" dirty="0" smtClean="0"/>
              <a:t> </a:t>
            </a:r>
            <a:r>
              <a:rPr lang="en-US" b="1" dirty="0" err="1" smtClean="0"/>
              <a:t>eeden</a:t>
            </a:r>
            <a:r>
              <a:rPr lang="en-US" b="1" dirty="0" smtClean="0"/>
              <a:t> </a:t>
            </a:r>
            <a:r>
              <a:rPr lang="en-US" b="1" dirty="0" err="1" smtClean="0"/>
              <a:t>slajd</a:t>
            </a:r>
            <a:r>
              <a:rPr lang="en-US" b="1" dirty="0" smtClean="0"/>
              <a:t> da se </a:t>
            </a:r>
            <a:r>
              <a:rPr lang="en-US" b="1" dirty="0" err="1" smtClean="0"/>
              <a:t>stavi</a:t>
            </a:r>
            <a:r>
              <a:rPr lang="en-US" b="1" dirty="0" smtClean="0"/>
              <a:t> </a:t>
            </a:r>
            <a:r>
              <a:rPr lang="en-US" b="1" dirty="0" err="1" smtClean="0"/>
              <a:t>prethodno</a:t>
            </a:r>
            <a:endParaRPr lang="en-US" b="1" dirty="0" smtClean="0"/>
          </a:p>
          <a:p>
            <a:endParaRPr lang="en-US" b="1" dirty="0" smtClean="0"/>
          </a:p>
          <a:p>
            <a:r>
              <a:rPr lang="en-US" b="1" dirty="0" smtClean="0"/>
              <a:t>SQL allows testing tuples for membership in a relation. The in connective tests for set membership, where the set is a collection of values produced by a select clause. The not in connective tests for the absence of set membership. </a:t>
            </a:r>
          </a:p>
          <a:p>
            <a:endParaRPr lang="en-US" b="1" i="1" dirty="0" smtClean="0"/>
          </a:p>
          <a:p>
            <a:r>
              <a:rPr lang="en-US" b="1" i="1" dirty="0" smtClean="0"/>
              <a:t>As an illustration, reconsider the query “Find all the courses taught in the both the Fall 2017 and Spring 2018 semesters.” Earlier, we wrote such a query by intersecting two sets: the set of courses taught in Fall 2017 and the set of courses taught in Spring 2018. We can take the alternative approach of finding all courses that were taught in Fall 2017 and that are also members of the set of courses taught in Spring 2018. This formulation generates the same results as the previous one did, but it leads us to write our query using the in </a:t>
            </a:r>
            <a:r>
              <a:rPr lang="en-US" b="1" i="1" dirty="0" err="1" smtClean="0"/>
              <a:t>conective</a:t>
            </a:r>
            <a:r>
              <a:rPr lang="en-US" b="1" i="1" dirty="0" smtClean="0"/>
              <a:t> of SQL. We begin by finding all courses taught in Spring 2018, and we write the subquery:</a:t>
            </a:r>
          </a:p>
          <a:p>
            <a:endParaRPr lang="en-US" altLang="en-US" dirty="0" smtClean="0"/>
          </a:p>
          <a:p>
            <a:r>
              <a:rPr lang="en-US" dirty="0" smtClean="0"/>
              <a:t>	(select course id </a:t>
            </a:r>
          </a:p>
          <a:p>
            <a:r>
              <a:rPr lang="en-US" dirty="0" smtClean="0"/>
              <a:t>	from section </a:t>
            </a:r>
          </a:p>
          <a:p>
            <a:r>
              <a:rPr lang="en-US" dirty="0" smtClean="0"/>
              <a:t>	where semester = 'Spring' and year= 2018)</a:t>
            </a:r>
          </a:p>
          <a:p>
            <a:endParaRPr lang="en-US" altLang="en-US" dirty="0" smtClean="0"/>
          </a:p>
          <a:p>
            <a:r>
              <a:rPr lang="en-US" b="1" dirty="0" smtClean="0"/>
              <a:t>We then need to find those courses that were taught in the Fall 2017 and that appear in the set of courses obtained in the subquery. We do so by nesting the subquery in the where clause of an outer query. The resulting query is:</a:t>
            </a:r>
          </a:p>
          <a:p>
            <a:endParaRPr lang="en-US" dirty="0" smtClean="0"/>
          </a:p>
          <a:p>
            <a:r>
              <a:rPr lang="en-US" altLang="en-US" sz="1200" b="1" dirty="0" smtClean="0"/>
              <a:t>select distinct </a:t>
            </a:r>
            <a:r>
              <a:rPr lang="en-US" altLang="en-US" sz="1200" i="1" dirty="0" err="1" smtClean="0"/>
              <a:t>course_id</a:t>
            </a:r>
            <a:endParaRPr lang="en-US" altLang="en-US" sz="1200" i="1" dirty="0" smtClean="0"/>
          </a:p>
          <a:p>
            <a:r>
              <a:rPr lang="en-US" altLang="en-US" sz="1200" b="1" dirty="0" smtClean="0"/>
              <a:t>from </a:t>
            </a:r>
            <a:r>
              <a:rPr lang="en-US" altLang="en-US" sz="1200" i="1" dirty="0" smtClean="0"/>
              <a:t>section</a:t>
            </a:r>
          </a:p>
          <a:p>
            <a:r>
              <a:rPr lang="en-US" altLang="en-US" sz="1200" b="1" dirty="0" smtClean="0"/>
              <a:t>where </a:t>
            </a:r>
            <a:r>
              <a:rPr lang="en-US" altLang="en-US" sz="1200" i="1" dirty="0" smtClean="0"/>
              <a:t>semester </a:t>
            </a:r>
            <a:r>
              <a:rPr lang="en-US" altLang="en-US" sz="1200" dirty="0" smtClean="0"/>
              <a:t>= 'Fall' </a:t>
            </a:r>
            <a:r>
              <a:rPr lang="en-US" altLang="en-US" sz="1200" b="1" dirty="0" smtClean="0"/>
              <a:t>and </a:t>
            </a:r>
            <a:r>
              <a:rPr lang="en-US" altLang="en-US" sz="1200" i="1" dirty="0" smtClean="0"/>
              <a:t>year</a:t>
            </a:r>
            <a:r>
              <a:rPr lang="en-US" altLang="en-US" sz="1200" dirty="0" smtClean="0"/>
              <a:t>= 2017 </a:t>
            </a:r>
            <a:r>
              <a:rPr lang="en-US" altLang="en-US" sz="1200" b="1" dirty="0" smtClean="0"/>
              <a:t>and </a:t>
            </a:r>
            <a:br>
              <a:rPr lang="en-US" altLang="en-US" sz="1200" b="1" dirty="0" smtClean="0"/>
            </a:br>
            <a:r>
              <a:rPr lang="en-US" altLang="en-US" sz="1200" b="1" dirty="0" smtClean="0"/>
              <a:t>           </a:t>
            </a:r>
            <a:r>
              <a:rPr lang="en-US" altLang="en-US" sz="1200" i="1" dirty="0" err="1" smtClean="0"/>
              <a:t>course_id</a:t>
            </a:r>
            <a:r>
              <a:rPr lang="en-US" altLang="en-US" sz="1200" i="1" dirty="0" smtClean="0"/>
              <a:t> </a:t>
            </a:r>
            <a:r>
              <a:rPr lang="en-US" altLang="en-US" sz="1200" b="1" dirty="0" smtClean="0"/>
              <a:t>in </a:t>
            </a:r>
            <a:r>
              <a:rPr lang="en-US" altLang="en-US" sz="1200" dirty="0" smtClean="0"/>
              <a:t>(</a:t>
            </a:r>
            <a:r>
              <a:rPr lang="en-US" altLang="en-US" sz="1200" b="1" dirty="0" smtClean="0"/>
              <a:t>select </a:t>
            </a:r>
            <a:r>
              <a:rPr lang="en-US" altLang="en-US" sz="1200" i="1" dirty="0" err="1" smtClean="0"/>
              <a:t>course_id</a:t>
            </a:r>
            <a:endParaRPr lang="en-US" altLang="en-US" sz="1200" i="1" dirty="0" smtClean="0"/>
          </a:p>
          <a:p>
            <a:r>
              <a:rPr lang="en-US" altLang="en-US" sz="1200" b="1" dirty="0" smtClean="0"/>
              <a:t>                                 from </a:t>
            </a:r>
            <a:r>
              <a:rPr lang="en-US" altLang="en-US" sz="1200" i="1" dirty="0" smtClean="0"/>
              <a:t>section</a:t>
            </a:r>
          </a:p>
          <a:p>
            <a:r>
              <a:rPr lang="en-US" altLang="en-US" sz="1200" b="1" dirty="0" smtClean="0"/>
              <a:t>                                 where </a:t>
            </a:r>
            <a:r>
              <a:rPr lang="en-US" altLang="en-US" sz="1200" i="1" dirty="0" smtClean="0"/>
              <a:t>semester </a:t>
            </a:r>
            <a:r>
              <a:rPr lang="en-US" altLang="en-US" sz="1200" dirty="0" smtClean="0"/>
              <a:t>= 'Spring' </a:t>
            </a:r>
            <a:r>
              <a:rPr lang="en-US" altLang="en-US" sz="1200" b="1" dirty="0" smtClean="0"/>
              <a:t>and </a:t>
            </a:r>
            <a:r>
              <a:rPr lang="en-US" altLang="en-US" sz="1200" i="1" dirty="0" smtClean="0"/>
              <a:t>year</a:t>
            </a:r>
            <a:r>
              <a:rPr lang="en-US" altLang="en-US" sz="1200" dirty="0" smtClean="0"/>
              <a:t>= 2018);</a:t>
            </a:r>
          </a:p>
          <a:p>
            <a:endParaRPr lang="en-US" dirty="0" smtClean="0"/>
          </a:p>
          <a:p>
            <a:endParaRPr lang="en-US" altLang="en-US" dirty="0" smtClean="0"/>
          </a:p>
          <a:p>
            <a:r>
              <a:rPr lang="en-US" i="1" dirty="0" smtClean="0"/>
              <a:t>Note that we need to use distinct here because the intersect operation removes duplicates by default. This example shows that it is possible to write the same query several ways in SQL. </a:t>
            </a:r>
          </a:p>
          <a:p>
            <a:r>
              <a:rPr lang="en-US" i="1" dirty="0" smtClean="0"/>
              <a:t>This flexibility is beneficial, since it allows a user to think about the query in the way that seems most natural. We shall see that there is a substantial amount of redundancy in SQL. We use the not in construct in a way similar to the in construct. </a:t>
            </a:r>
          </a:p>
          <a:p>
            <a:endParaRPr lang="en-US" dirty="0" smtClean="0"/>
          </a:p>
          <a:p>
            <a:r>
              <a:rPr lang="en-US" b="1" dirty="0" smtClean="0"/>
              <a:t>For example, to find all the courses taught in the Fall 2017 semester but not in the Spring 2018 semester, which we expressed earlier using the except operation, we can write:</a:t>
            </a:r>
          </a:p>
          <a:p>
            <a:endParaRPr lang="en-US" altLang="en-US" sz="1200" b="1" dirty="0" smtClean="0"/>
          </a:p>
          <a:p>
            <a:r>
              <a:rPr lang="en-US" altLang="en-US" sz="1200" b="1" dirty="0" smtClean="0"/>
              <a:t>select distinct </a:t>
            </a:r>
            <a:r>
              <a:rPr lang="en-US" altLang="en-US" sz="1200" i="1" dirty="0" err="1" smtClean="0"/>
              <a:t>course_id</a:t>
            </a:r>
            <a:endParaRPr lang="en-US" altLang="en-US" sz="1200" i="1" dirty="0" smtClean="0"/>
          </a:p>
          <a:p>
            <a:r>
              <a:rPr lang="en-US" altLang="en-US" sz="1200" b="1" dirty="0" smtClean="0"/>
              <a:t>from </a:t>
            </a:r>
            <a:r>
              <a:rPr lang="en-US" altLang="en-US" sz="1200" i="1" dirty="0" smtClean="0"/>
              <a:t>section</a:t>
            </a:r>
          </a:p>
          <a:p>
            <a:r>
              <a:rPr lang="en-US" altLang="en-US" sz="1200" b="1" dirty="0" smtClean="0"/>
              <a:t>where </a:t>
            </a:r>
            <a:r>
              <a:rPr lang="en-US" altLang="en-US" sz="1200" i="1" dirty="0" smtClean="0"/>
              <a:t>semester </a:t>
            </a:r>
            <a:r>
              <a:rPr lang="en-US" altLang="en-US" sz="1200" dirty="0" smtClean="0"/>
              <a:t>= 'Fall' </a:t>
            </a:r>
            <a:r>
              <a:rPr lang="en-US" altLang="en-US" sz="1200" b="1" dirty="0" smtClean="0"/>
              <a:t>and </a:t>
            </a:r>
            <a:r>
              <a:rPr lang="en-US" altLang="en-US" sz="1200" i="1" dirty="0" smtClean="0"/>
              <a:t>year</a:t>
            </a:r>
            <a:r>
              <a:rPr lang="en-US" altLang="en-US" sz="1200" dirty="0" smtClean="0"/>
              <a:t>= 2017 </a:t>
            </a:r>
            <a:r>
              <a:rPr lang="en-US" altLang="en-US" sz="1200" b="1" dirty="0" smtClean="0"/>
              <a:t>and </a:t>
            </a:r>
            <a:br>
              <a:rPr lang="en-US" altLang="en-US" sz="1200" b="1" dirty="0" smtClean="0"/>
            </a:br>
            <a:r>
              <a:rPr lang="en-US" altLang="en-US" sz="1200" b="1" dirty="0" smtClean="0"/>
              <a:t>           </a:t>
            </a:r>
            <a:r>
              <a:rPr lang="en-US" altLang="en-US" sz="1200" i="1" dirty="0" err="1" smtClean="0"/>
              <a:t>course_id</a:t>
            </a:r>
            <a:r>
              <a:rPr lang="en-US" altLang="en-US" sz="1200" i="1" dirty="0" smtClean="0"/>
              <a:t>  </a:t>
            </a:r>
            <a:r>
              <a:rPr lang="en-US" altLang="en-US" sz="1200" b="1" dirty="0" smtClean="0"/>
              <a:t>not in </a:t>
            </a:r>
            <a:r>
              <a:rPr lang="en-US" altLang="en-US" sz="1200" dirty="0" smtClean="0"/>
              <a:t>(</a:t>
            </a:r>
            <a:r>
              <a:rPr lang="en-US" altLang="en-US" sz="1200" b="1" dirty="0" smtClean="0"/>
              <a:t>select </a:t>
            </a:r>
            <a:r>
              <a:rPr lang="en-US" altLang="en-US" sz="1200" i="1" dirty="0" err="1" smtClean="0"/>
              <a:t>course_id</a:t>
            </a:r>
            <a:endParaRPr lang="en-US" altLang="en-US" sz="1200" i="1" dirty="0" smtClean="0"/>
          </a:p>
          <a:p>
            <a:r>
              <a:rPr lang="en-US" altLang="en-US" sz="1200" b="1" dirty="0" smtClean="0"/>
              <a:t>                                        from </a:t>
            </a:r>
            <a:r>
              <a:rPr lang="en-US" altLang="en-US" sz="1200" i="1" dirty="0" smtClean="0"/>
              <a:t>section</a:t>
            </a:r>
          </a:p>
          <a:p>
            <a:r>
              <a:rPr lang="en-US" altLang="en-US" sz="1200" b="1" dirty="0" smtClean="0"/>
              <a:t>                                        where </a:t>
            </a:r>
            <a:r>
              <a:rPr lang="en-US" altLang="en-US" sz="1200" i="1" dirty="0" smtClean="0"/>
              <a:t>semester </a:t>
            </a:r>
            <a:r>
              <a:rPr lang="en-US" altLang="en-US" sz="1200" dirty="0" smtClean="0"/>
              <a:t>= 'Spring' </a:t>
            </a:r>
            <a:r>
              <a:rPr lang="en-US" altLang="en-US" sz="1200" b="1" dirty="0" smtClean="0"/>
              <a:t>and </a:t>
            </a:r>
            <a:r>
              <a:rPr lang="en-US" altLang="en-US" sz="1200" i="1" dirty="0" smtClean="0"/>
              <a:t>year</a:t>
            </a:r>
            <a:r>
              <a:rPr lang="en-US" altLang="en-US" sz="1200" dirty="0" smtClean="0"/>
              <a:t>= 2018);</a:t>
            </a:r>
          </a:p>
          <a:p>
            <a:endParaRPr lang="en-US"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DFB0A469-9660-4019-8347-528B1BA28310}" type="slidenum">
              <a:rPr lang="en-US" altLang="en-US" sz="1200"/>
              <a:pPr/>
              <a:t>40</a:t>
            </a:fld>
            <a:endParaRPr lang="en-US" altLang="en-US" sz="1200" dirty="0"/>
          </a:p>
        </p:txBody>
      </p:sp>
      <p:sp>
        <p:nvSpPr>
          <p:cNvPr id="118786" name="Rectangle 2"/>
          <p:cNvSpPr>
            <a:spLocks noGrp="1" noRot="1" noChangeAspect="1" noChangeArrowheads="1" noTextEdit="1"/>
          </p:cNvSpPr>
          <p:nvPr>
            <p:ph type="sldImg"/>
          </p:nvPr>
        </p:nvSpPr>
        <p:spPr>
          <a:xfrm>
            <a:off x="1187450" y="703263"/>
            <a:ext cx="4622800" cy="3467100"/>
          </a:xfrm>
          <a:ln/>
        </p:spPr>
      </p:sp>
      <p:sp>
        <p:nvSpPr>
          <p:cNvPr id="118787"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in and not in operators can also be used on enumerated sets. The following query selects the names of instructors whose names are neither “Mozart” nor “Einstein”.</a:t>
            </a:r>
          </a:p>
          <a:p>
            <a:endParaRPr lang="en-US" altLang="en-US" dirty="0" smtClean="0"/>
          </a:p>
          <a:p>
            <a:endParaRPr lang="en-US" altLang="en-US" dirty="0" smtClean="0"/>
          </a:p>
          <a:p>
            <a:r>
              <a:rPr lang="en-US" b="1" dirty="0" smtClean="0"/>
              <a:t>In the preceding examples, we tested membership in a one-attribute relation. It is also possible to test for membership in an arbitrary relation in SQL. For example, we can write the query “find the total number of (distinct) students who have taken course sections taught by the instructor with ID 110011” as follows:</a:t>
            </a:r>
          </a:p>
          <a:p>
            <a:endParaRPr lang="en-US" dirty="0" smtClean="0"/>
          </a:p>
          <a:p>
            <a:endParaRPr lang="en-US" altLang="en-US" dirty="0" smtClean="0"/>
          </a:p>
          <a:p>
            <a:r>
              <a:rPr lang="en-US" b="1" dirty="0" smtClean="0"/>
              <a:t>Note, however, that some SQL implementations do not support the row construction syntax “(</a:t>
            </a:r>
            <a:r>
              <a:rPr lang="en-US" b="1" dirty="0" err="1" smtClean="0"/>
              <a:t>course_id</a:t>
            </a:r>
            <a:r>
              <a:rPr lang="en-US" b="1" dirty="0" smtClean="0"/>
              <a:t>, </a:t>
            </a:r>
            <a:r>
              <a:rPr lang="en-US" b="1" dirty="0" err="1" smtClean="0"/>
              <a:t>sec_id</a:t>
            </a:r>
            <a:r>
              <a:rPr lang="en-US" b="1" dirty="0" smtClean="0"/>
              <a:t>, semester, year)” used above. We will see alternative ways of writing this query in Section </a:t>
            </a:r>
            <a:r>
              <a:rPr lang="en-US" dirty="0" smtClean="0"/>
              <a:t>3.8.3.</a:t>
            </a:r>
            <a:endParaRPr lang="en-US"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0DD8DAD5-EFE6-4531-83B5-A1D07989AD0D}" type="slidenum">
              <a:rPr lang="en-US" altLang="en-US" sz="1200"/>
              <a:pPr/>
              <a:t>41</a:t>
            </a:fld>
            <a:endParaRPr lang="en-US" altLang="en-US" sz="1200" dirty="0"/>
          </a:p>
        </p:txBody>
      </p:sp>
      <p:sp>
        <p:nvSpPr>
          <p:cNvPr id="111618" name="Rectangle 2"/>
          <p:cNvSpPr>
            <a:spLocks noGrp="1" noRot="1" noChangeAspect="1" noChangeArrowheads="1" noTextEdit="1"/>
          </p:cNvSpPr>
          <p:nvPr>
            <p:ph type="sldImg"/>
          </p:nvPr>
        </p:nvSpPr>
        <p:spPr>
          <a:xfrm>
            <a:off x="1187450" y="703263"/>
            <a:ext cx="4622800" cy="3467100"/>
          </a:xfrm>
          <a:ln/>
        </p:spPr>
      </p:sp>
      <p:sp>
        <p:nvSpPr>
          <p:cNvPr id="111619"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E1EC66B5-496A-4DFA-A4FD-C9C9DB749726}" type="slidenum">
              <a:rPr lang="en-US" altLang="en-US" sz="1200"/>
              <a:pPr/>
              <a:t>42</a:t>
            </a:fld>
            <a:endParaRPr lang="en-US" altLang="en-US" sz="1200" dirty="0"/>
          </a:p>
        </p:txBody>
      </p:sp>
      <p:sp>
        <p:nvSpPr>
          <p:cNvPr id="119810" name="Rectangle 2"/>
          <p:cNvSpPr>
            <a:spLocks noGrp="1" noRot="1" noChangeAspect="1" noChangeArrowheads="1" noTextEdit="1"/>
          </p:cNvSpPr>
          <p:nvPr>
            <p:ph type="sldImg"/>
          </p:nvPr>
        </p:nvSpPr>
        <p:spPr>
          <a:xfrm>
            <a:off x="1187450" y="703263"/>
            <a:ext cx="4622800" cy="3467100"/>
          </a:xfrm>
          <a:ln/>
        </p:spPr>
      </p:sp>
      <p:sp>
        <p:nvSpPr>
          <p:cNvPr id="119811"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As an example of the ability of a nested subquery to compare sets, consider the query “Find the names of all instructors whose salary is greater than at least one instructor in the Biology department.” In Section 3.4.1, we wrote this query as follows:</a:t>
            </a:r>
          </a:p>
          <a:p>
            <a:endParaRPr lang="en-US" altLang="en-US" b="1" dirty="0" smtClean="0"/>
          </a:p>
          <a:p>
            <a:endParaRPr lang="en-US" altLang="en-US" b="1" dirty="0" smtClean="0"/>
          </a:p>
          <a:p>
            <a:r>
              <a:rPr lang="en-US" b="1" dirty="0" smtClean="0"/>
              <a:t>SQL does, however, offer an alternative style for writing the preceding query. The phrase “greater than at least one” is represented in SQL by &gt; some. This construct allows us to rewrite the query in a form that resembles closely our formulation of the query in English.</a:t>
            </a:r>
          </a:p>
          <a:p>
            <a:endParaRPr lang="en-US" altLang="en-US" dirty="0" smtClean="0"/>
          </a:p>
          <a:p>
            <a:endParaRPr lang="en-US"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CC28A594-5C4C-4CC5-9AFF-729E174611A7}" type="slidenum">
              <a:rPr lang="en-US" altLang="en-US" sz="1200"/>
              <a:pPr/>
              <a:t>43</a:t>
            </a:fld>
            <a:endParaRPr lang="en-US" altLang="en-US" sz="1200" dirty="0"/>
          </a:p>
        </p:txBody>
      </p:sp>
      <p:sp>
        <p:nvSpPr>
          <p:cNvPr id="120834" name="Rectangle 2"/>
          <p:cNvSpPr>
            <a:spLocks noGrp="1" noRot="1" noChangeAspect="1" noChangeArrowheads="1" noTextEdit="1"/>
          </p:cNvSpPr>
          <p:nvPr>
            <p:ph type="sldImg"/>
          </p:nvPr>
        </p:nvSpPr>
        <p:spPr>
          <a:xfrm>
            <a:off x="1187450" y="703263"/>
            <a:ext cx="4622800" cy="3467100"/>
          </a:xfrm>
          <a:ln/>
        </p:spPr>
      </p:sp>
      <p:sp>
        <p:nvSpPr>
          <p:cNvPr id="120835"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subquery: </a:t>
            </a:r>
          </a:p>
          <a:p>
            <a:endParaRPr lang="en-US" dirty="0" smtClean="0"/>
          </a:p>
          <a:p>
            <a:pPr lvl="1"/>
            <a:r>
              <a:rPr lang="en-US" dirty="0" smtClean="0"/>
              <a:t>(select salary </a:t>
            </a:r>
          </a:p>
          <a:p>
            <a:pPr lvl="1"/>
            <a:r>
              <a:rPr lang="en-US" dirty="0" smtClean="0"/>
              <a:t>from instructor </a:t>
            </a:r>
          </a:p>
          <a:p>
            <a:pPr lvl="1"/>
            <a:r>
              <a:rPr lang="en-US" dirty="0" smtClean="0"/>
              <a:t>where </a:t>
            </a:r>
            <a:r>
              <a:rPr lang="en-US" dirty="0" err="1" smtClean="0"/>
              <a:t>dept_name</a:t>
            </a:r>
            <a:r>
              <a:rPr lang="en-US" dirty="0" smtClean="0"/>
              <a:t> = 'Biology') </a:t>
            </a:r>
          </a:p>
          <a:p>
            <a:endParaRPr lang="en-US" dirty="0" smtClean="0"/>
          </a:p>
          <a:p>
            <a:r>
              <a:rPr lang="en-US" b="1" dirty="0" smtClean="0"/>
              <a:t>generates the set of all salary values of all instructors in the Biology department. The &gt; some comparison in the where clause of the outer select is true if the salary value of the tuple is greater than at least one member of the set of all salary values for instructors in Biology.</a:t>
            </a:r>
          </a:p>
          <a:p>
            <a:endParaRPr lang="en-US" altLang="en-US" dirty="0" smtClean="0"/>
          </a:p>
          <a:p>
            <a:r>
              <a:rPr lang="en-US" b="1" dirty="0" smtClean="0"/>
              <a:t>SQL also allows &lt; some, &lt;= some, &gt;= some, = some, and &lt;&gt; some comparisons. As an exercise, verify that = some is identical to in, whereas &lt;&gt; some is not the same as not in.</a:t>
            </a:r>
          </a:p>
          <a:p>
            <a:endParaRPr lang="en-US" altLang="en-US" dirty="0" smtClean="0"/>
          </a:p>
          <a:p>
            <a:endParaRPr lang="en-US"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1587C772-E716-48B1-8B14-2B8B491527E1}" type="slidenum">
              <a:rPr lang="en-US" altLang="en-US" sz="1200"/>
              <a:pPr/>
              <a:t>44</a:t>
            </a:fld>
            <a:endParaRPr lang="en-US" altLang="en-US" sz="1200" dirty="0"/>
          </a:p>
        </p:txBody>
      </p:sp>
      <p:sp>
        <p:nvSpPr>
          <p:cNvPr id="121858" name="Rectangle 2"/>
          <p:cNvSpPr>
            <a:spLocks noGrp="1" noRot="1" noChangeAspect="1" noChangeArrowheads="1" noTextEdit="1"/>
          </p:cNvSpPr>
          <p:nvPr>
            <p:ph type="sldImg"/>
          </p:nvPr>
        </p:nvSpPr>
        <p:spPr>
          <a:xfrm>
            <a:off x="1187450" y="703263"/>
            <a:ext cx="4622800" cy="3467100"/>
          </a:xfrm>
          <a:ln/>
        </p:spPr>
      </p:sp>
      <p:sp>
        <p:nvSpPr>
          <p:cNvPr id="121859"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Now we modify our query slightly. Let us find the names of all instructors that have a salary value greater than that of each instructor in the Biology department. The construct &gt; all corresponds to the phrase “greater than all.” Using this construct, we write the query as follows:</a:t>
            </a:r>
            <a:endParaRPr lang="en-US" altLang="en-US" b="1"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DB73D505-32CE-4342-9FBB-4D733E4A306A}" type="slidenum">
              <a:rPr lang="en-US" altLang="en-US" sz="1200"/>
              <a:pPr/>
              <a:t>45</a:t>
            </a:fld>
            <a:endParaRPr lang="en-US" altLang="en-US" sz="1200" dirty="0"/>
          </a:p>
        </p:txBody>
      </p:sp>
      <p:sp>
        <p:nvSpPr>
          <p:cNvPr id="122882" name="Rectangle 2"/>
          <p:cNvSpPr>
            <a:spLocks noGrp="1" noRot="1" noChangeAspect="1" noChangeArrowheads="1" noTextEdit="1"/>
          </p:cNvSpPr>
          <p:nvPr>
            <p:ph type="sldImg"/>
          </p:nvPr>
        </p:nvSpPr>
        <p:spPr>
          <a:xfrm>
            <a:off x="1187450" y="703263"/>
            <a:ext cx="4622800" cy="3467100"/>
          </a:xfrm>
          <a:ln/>
        </p:spPr>
      </p:sp>
      <p:sp>
        <p:nvSpPr>
          <p:cNvPr id="122883"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As it does for some, SQL also allows &lt; all, &lt;= all, &gt;= all, = all, and &lt;&gt; all comparisons. As an exercise, verify that &lt;&gt; all is identical to not in, whereas = all is not the same as in.</a:t>
            </a:r>
          </a:p>
          <a:p>
            <a:endParaRPr lang="en-US"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09F72C28-435E-48F3-8A89-FA84DE6D50F0}" type="slidenum">
              <a:rPr lang="en-US" altLang="en-US" sz="1200"/>
              <a:pPr/>
              <a:t>46</a:t>
            </a:fld>
            <a:endParaRPr lang="en-US" altLang="en-US" sz="1200" dirty="0"/>
          </a:p>
        </p:txBody>
      </p:sp>
      <p:sp>
        <p:nvSpPr>
          <p:cNvPr id="123906" name="Rectangle 2"/>
          <p:cNvSpPr>
            <a:spLocks noGrp="1" noRot="1" noChangeAspect="1" noChangeArrowheads="1" noTextEdit="1"/>
          </p:cNvSpPr>
          <p:nvPr>
            <p:ph type="sldImg"/>
          </p:nvPr>
        </p:nvSpPr>
        <p:spPr>
          <a:xfrm>
            <a:off x="1187450" y="703263"/>
            <a:ext cx="4622800" cy="3467100"/>
          </a:xfrm>
          <a:ln/>
        </p:spPr>
      </p:sp>
      <p:sp>
        <p:nvSpPr>
          <p:cNvPr id="123907"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00277F58-77E1-4C2D-AA8D-E0F71D072D2F}" type="slidenum">
              <a:rPr lang="en-US" altLang="en-US" sz="1200"/>
              <a:pPr/>
              <a:t>47</a:t>
            </a:fld>
            <a:endParaRPr lang="en-US" altLang="en-US" sz="1200" dirty="0"/>
          </a:p>
        </p:txBody>
      </p:sp>
      <p:sp>
        <p:nvSpPr>
          <p:cNvPr id="124930" name="Rectangle 2"/>
          <p:cNvSpPr>
            <a:spLocks noGrp="1" noRot="1" noChangeAspect="1" noChangeArrowheads="1" noTextEdit="1"/>
          </p:cNvSpPr>
          <p:nvPr>
            <p:ph type="sldImg"/>
          </p:nvPr>
        </p:nvSpPr>
        <p:spPr>
          <a:ln/>
        </p:spPr>
      </p:sp>
      <p:sp>
        <p:nvSpPr>
          <p:cNvPr id="1249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SQL includes a feature for testing whether a subquery has any tuples in its result. The exists construct returns the value true if the argument subquery is nonempty. Using the exists construct, we can write the query “Find all courses taught in both the Fall 2017 semester and in the Spring 2018 semester” in still another way:</a:t>
            </a:r>
          </a:p>
          <a:p>
            <a:endParaRPr lang="en-US" altLang="en-US" b="1" dirty="0" smtClean="0"/>
          </a:p>
          <a:p>
            <a:endParaRPr lang="en-US" altLang="en-US" b="1" dirty="0" smtClean="0"/>
          </a:p>
          <a:p>
            <a:r>
              <a:rPr lang="en-US" b="1" dirty="0" smtClean="0"/>
              <a:t>The above query also illustrates a feature of SQL where a correlation name from an outer query (S in the above query), can be used in a subquery in the where clause. A subquery that uses a correlation name from an outer query is called a correlated subquery.</a:t>
            </a:r>
            <a:endParaRPr lang="en-US" altLang="en-US" b="1"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D410D3E1-634F-440C-A0CF-65534204DEA9}" type="slidenum">
              <a:rPr lang="en-US" altLang="en-US" sz="1200"/>
              <a:pPr/>
              <a:t>48</a:t>
            </a:fld>
            <a:endParaRPr lang="en-US" altLang="en-US" sz="1200" dirty="0"/>
          </a:p>
        </p:txBody>
      </p:sp>
      <p:sp>
        <p:nvSpPr>
          <p:cNvPr id="125954" name="Rectangle 2"/>
          <p:cNvSpPr>
            <a:spLocks noGrp="1" noRot="1" noChangeAspect="1" noChangeArrowheads="1" noTextEdit="1"/>
          </p:cNvSpPr>
          <p:nvPr>
            <p:ph type="sldImg"/>
          </p:nvPr>
        </p:nvSpPr>
        <p:spPr>
          <a:xfrm>
            <a:off x="1187450" y="703263"/>
            <a:ext cx="4622800" cy="3467100"/>
          </a:xfrm>
          <a:ln/>
        </p:spPr>
      </p:sp>
      <p:sp>
        <p:nvSpPr>
          <p:cNvPr id="125955"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We can test for the nonexistence of tuples in a subquery by using the not exists construct. We can use the not exists construct to simulate the set containment (that is, superset) operation: We can write “relation A contains relation B” as “not exists (B except A).” (Although it is not part of the current SQL standards, the contains operator was present in some early relational systems.) To illustrate the not exists operator, consider the query “Find all students who have taken all courses offered in the Biology department.” Using the except construct, we can write the query as follows:</a:t>
            </a:r>
          </a:p>
          <a:p>
            <a:endParaRPr lang="en-US" altLang="en-US" dirty="0" smtClean="0"/>
          </a:p>
          <a:p>
            <a:r>
              <a:rPr lang="en-US" b="1" dirty="0" smtClean="0"/>
              <a:t>Here, the subquery: </a:t>
            </a:r>
          </a:p>
          <a:p>
            <a:r>
              <a:rPr lang="en-US" dirty="0" smtClean="0"/>
              <a:t>(select course id from course where </a:t>
            </a:r>
            <a:r>
              <a:rPr lang="en-US" dirty="0" err="1" smtClean="0"/>
              <a:t>dept_name</a:t>
            </a:r>
            <a:r>
              <a:rPr lang="en-US" dirty="0" smtClean="0"/>
              <a:t> = 'Biology') </a:t>
            </a:r>
          </a:p>
          <a:p>
            <a:endParaRPr lang="en-US" dirty="0" smtClean="0"/>
          </a:p>
          <a:p>
            <a:r>
              <a:rPr lang="en-US" b="1" dirty="0" smtClean="0"/>
              <a:t>finds the set of all courses offered in the Biology department. </a:t>
            </a:r>
          </a:p>
          <a:p>
            <a:endParaRPr lang="en-US" dirty="0" smtClean="0"/>
          </a:p>
          <a:p>
            <a:r>
              <a:rPr lang="en-US" b="1" dirty="0" smtClean="0"/>
              <a:t>The subquery: </a:t>
            </a:r>
          </a:p>
          <a:p>
            <a:r>
              <a:rPr lang="en-US" dirty="0" smtClean="0"/>
              <a:t>(select </a:t>
            </a:r>
            <a:r>
              <a:rPr lang="en-US" dirty="0" err="1" smtClean="0"/>
              <a:t>T.course</a:t>
            </a:r>
            <a:r>
              <a:rPr lang="en-US" dirty="0" smtClean="0"/>
              <a:t> id from takes as T where S.ID = T.ID) </a:t>
            </a:r>
          </a:p>
          <a:p>
            <a:r>
              <a:rPr lang="en-US" b="1" dirty="0" smtClean="0"/>
              <a:t>finds all the courses that student S.ID has taken. </a:t>
            </a:r>
          </a:p>
          <a:p>
            <a:endParaRPr lang="en-US" dirty="0" smtClean="0"/>
          </a:p>
          <a:p>
            <a:r>
              <a:rPr lang="en-US" b="1" dirty="0" smtClean="0"/>
              <a:t>Thus, the outer select takes each student and tests whether the set of all courses that the student has taken contains the set of all courses offered in the Biology department.</a:t>
            </a:r>
            <a:endParaRPr lang="en-US" altLang="en-US" b="1"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444FBF46-7A78-4FD0-B340-062C348F6B65}" type="slidenum">
              <a:rPr lang="en-US" altLang="en-US" sz="1200"/>
              <a:pPr/>
              <a:t>49</a:t>
            </a:fld>
            <a:endParaRPr lang="en-US" altLang="en-US" sz="1200" dirty="0"/>
          </a:p>
        </p:txBody>
      </p:sp>
      <p:sp>
        <p:nvSpPr>
          <p:cNvPr id="126978" name="Rectangle 2"/>
          <p:cNvSpPr>
            <a:spLocks noGrp="1" noRot="1" noChangeAspect="1" noChangeArrowheads="1" noTextEdit="1"/>
          </p:cNvSpPr>
          <p:nvPr>
            <p:ph type="sldImg"/>
          </p:nvPr>
        </p:nvSpPr>
        <p:spPr>
          <a:xfrm>
            <a:off x="1187450" y="703263"/>
            <a:ext cx="4622800" cy="3467100"/>
          </a:xfrm>
          <a:ln/>
        </p:spPr>
      </p:sp>
      <p:sp>
        <p:nvSpPr>
          <p:cNvPr id="126979"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SQL includes a Boolean function for testing whether a subquery has duplicate tuples in its result. The unique construct returns the value true if the argument subquery contains no duplicate tuples. Using the unique construct, we can write the query “Find all courses that were offered at most once in 2017” as follows:</a:t>
            </a:r>
          </a:p>
          <a:p>
            <a:endParaRPr lang="en-US" altLang="en-US" dirty="0" smtClean="0"/>
          </a:p>
          <a:p>
            <a:endParaRPr lang="en-US"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8FCFA389-9B55-41A5-BB85-9B9E03821269}" type="slidenum">
              <a:rPr lang="en-US" altLang="en-US" sz="1200"/>
              <a:pPr/>
              <a:t>50</a:t>
            </a:fld>
            <a:endParaRPr lang="en-US" altLang="en-US" sz="1200" dirty="0"/>
          </a:p>
        </p:txBody>
      </p:sp>
      <p:sp>
        <p:nvSpPr>
          <p:cNvPr id="137218" name="Rectangle 2"/>
          <p:cNvSpPr>
            <a:spLocks noGrp="1" noRot="1" noChangeAspect="1" noChangeArrowheads="1" noTextEdit="1"/>
          </p:cNvSpPr>
          <p:nvPr>
            <p:ph type="sldImg"/>
          </p:nvPr>
        </p:nvSpPr>
        <p:spPr>
          <a:xfrm>
            <a:off x="1187450" y="703263"/>
            <a:ext cx="4622800" cy="3467100"/>
          </a:xfrm>
          <a:ln/>
        </p:spPr>
      </p:sp>
      <p:sp>
        <p:nvSpPr>
          <p:cNvPr id="137219"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A25BB261-D773-4836-B381-7A051175F570}"/>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B4760F52-45E1-4E1D-A744-2F2290DE90CC}"/>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0487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768350" y="1093788"/>
            <a:ext cx="7707313" cy="4903787"/>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24371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336F2EBE-FF5F-4F9D-A3C2-A59A92D7809D}"/>
              </a:ext>
            </a:extLst>
          </p:cNvPr>
          <p:cNvSpPr>
            <a:spLocks noGrp="1" noChangeArrowheads="1"/>
          </p:cNvSpPr>
          <p:nvPr>
            <p:ph type="sldNum" sz="quarter" idx="10"/>
          </p:nvPr>
        </p:nvSpPr>
        <p:spPr>
          <a:ln/>
        </p:spPr>
        <p:txBody>
          <a:bodyPr/>
          <a:lstStyle>
            <a:lvl1pPr>
              <a:defRPr/>
            </a:lvl1pPr>
          </a:lstStyle>
          <a:p>
            <a:pPr>
              <a:defRPr/>
            </a:pPr>
            <a:fld id="{547F3CAF-32BF-49A6-93F1-59C9E4B7C957}" type="slidenum">
              <a:rPr lang="en-US" altLang="en-US"/>
              <a:pPr>
                <a:defRPr/>
              </a:pPr>
              <a:t>‹#›</a:t>
            </a:fld>
            <a:endParaRPr lang="en-US" altLang="en-US"/>
          </a:p>
        </p:txBody>
      </p:sp>
    </p:spTree>
    <p:extLst>
      <p:ext uri="{BB962C8B-B14F-4D97-AF65-F5344CB8AC3E}">
        <p14:creationId xmlns:p14="http://schemas.microsoft.com/office/powerpoint/2010/main" val="296070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A6D4A7F0-1138-4608-80AA-D0A6F5D41187}"/>
              </a:ext>
            </a:extLst>
          </p:cNvPr>
          <p:cNvSpPr>
            <a:spLocks noGrp="1" noChangeArrowheads="1"/>
          </p:cNvSpPr>
          <p:nvPr>
            <p:ph type="sldNum" sz="quarter" idx="10"/>
          </p:nvPr>
        </p:nvSpPr>
        <p:spPr>
          <a:ln/>
        </p:spPr>
        <p:txBody>
          <a:bodyPr/>
          <a:lstStyle>
            <a:lvl1pPr>
              <a:defRPr/>
            </a:lvl1pPr>
          </a:lstStyle>
          <a:p>
            <a:pPr>
              <a:defRPr/>
            </a:pPr>
            <a:fld id="{00852D5F-D37B-4E9D-98AD-511A1ABBD6A9}" type="slidenum">
              <a:rPr lang="en-US" altLang="en-US"/>
              <a:pPr>
                <a:defRPr/>
              </a:pPr>
              <a:t>‹#›</a:t>
            </a:fld>
            <a:endParaRPr lang="en-US" altLang="en-US"/>
          </a:p>
        </p:txBody>
      </p:sp>
    </p:spTree>
    <p:extLst>
      <p:ext uri="{BB962C8B-B14F-4D97-AF65-F5344CB8AC3E}">
        <p14:creationId xmlns:p14="http://schemas.microsoft.com/office/powerpoint/2010/main" val="411080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56DFCFB3-6710-4DD2-8404-7E55A930F352}"/>
              </a:ext>
            </a:extLst>
          </p:cNvPr>
          <p:cNvSpPr>
            <a:spLocks noGrp="1" noChangeArrowheads="1"/>
          </p:cNvSpPr>
          <p:nvPr>
            <p:ph type="sldNum" sz="quarter" idx="10"/>
          </p:nvPr>
        </p:nvSpPr>
        <p:spPr>
          <a:ln/>
        </p:spPr>
        <p:txBody>
          <a:bodyPr/>
          <a:lstStyle>
            <a:lvl1pPr>
              <a:defRPr/>
            </a:lvl1pPr>
          </a:lstStyle>
          <a:p>
            <a:pPr>
              <a:defRPr/>
            </a:pPr>
            <a:fld id="{C0191CCC-CC48-429B-87C9-7123B48E52D4}" type="slidenum">
              <a:rPr lang="en-US" altLang="en-US"/>
              <a:pPr>
                <a:defRPr/>
              </a:pPr>
              <a:t>‹#›</a:t>
            </a:fld>
            <a:endParaRPr lang="en-US" altLang="en-US"/>
          </a:p>
        </p:txBody>
      </p:sp>
    </p:spTree>
    <p:extLst>
      <p:ext uri="{BB962C8B-B14F-4D97-AF65-F5344CB8AC3E}">
        <p14:creationId xmlns:p14="http://schemas.microsoft.com/office/powerpoint/2010/main" val="251904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BB431453-8F56-47C4-89BA-3EDF3CD092BA}"/>
              </a:ext>
            </a:extLst>
          </p:cNvPr>
          <p:cNvSpPr>
            <a:spLocks noGrp="1" noChangeArrowheads="1"/>
          </p:cNvSpPr>
          <p:nvPr>
            <p:ph type="sldNum" sz="quarter" idx="10"/>
          </p:nvPr>
        </p:nvSpPr>
        <p:spPr>
          <a:ln/>
        </p:spPr>
        <p:txBody>
          <a:bodyPr/>
          <a:lstStyle>
            <a:lvl1pPr>
              <a:defRPr/>
            </a:lvl1pPr>
          </a:lstStyle>
          <a:p>
            <a:pPr>
              <a:defRPr/>
            </a:pPr>
            <a:fld id="{5E9D92F0-DB25-4E6B-A10D-A7937AC7A365}" type="slidenum">
              <a:rPr lang="en-US" altLang="en-US"/>
              <a:pPr>
                <a:defRPr/>
              </a:pPr>
              <a:t>‹#›</a:t>
            </a:fld>
            <a:endParaRPr lang="en-US" altLang="en-US"/>
          </a:p>
        </p:txBody>
      </p:sp>
    </p:spTree>
    <p:extLst>
      <p:ext uri="{BB962C8B-B14F-4D97-AF65-F5344CB8AC3E}">
        <p14:creationId xmlns:p14="http://schemas.microsoft.com/office/powerpoint/2010/main" val="383600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BE8099E-18A5-481A-9697-216087BE0676}"/>
              </a:ext>
            </a:extLst>
          </p:cNvPr>
          <p:cNvSpPr>
            <a:spLocks noGrp="1" noChangeArrowheads="1"/>
          </p:cNvSpPr>
          <p:nvPr>
            <p:ph type="sldNum" sz="quarter" idx="10"/>
          </p:nvPr>
        </p:nvSpPr>
        <p:spPr>
          <a:ln/>
        </p:spPr>
        <p:txBody>
          <a:bodyPr/>
          <a:lstStyle>
            <a:lvl1pPr>
              <a:defRPr/>
            </a:lvl1pPr>
          </a:lstStyle>
          <a:p>
            <a:pPr>
              <a:defRPr/>
            </a:pPr>
            <a:fld id="{0E555C8E-F740-4D28-8DA3-D7B8E0F6F578}" type="slidenum">
              <a:rPr lang="en-US" altLang="en-US"/>
              <a:pPr>
                <a:defRPr/>
              </a:pPr>
              <a:t>‹#›</a:t>
            </a:fld>
            <a:endParaRPr lang="en-US" altLang="en-US"/>
          </a:p>
        </p:txBody>
      </p:sp>
    </p:spTree>
    <p:extLst>
      <p:ext uri="{BB962C8B-B14F-4D97-AF65-F5344CB8AC3E}">
        <p14:creationId xmlns:p14="http://schemas.microsoft.com/office/powerpoint/2010/main" val="2432147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7E2C57D-1205-411A-BA90-DF60A810F6DB}"/>
              </a:ext>
            </a:extLst>
          </p:cNvPr>
          <p:cNvSpPr>
            <a:spLocks noGrp="1" noChangeArrowheads="1"/>
          </p:cNvSpPr>
          <p:nvPr>
            <p:ph type="sldNum" sz="quarter" idx="10"/>
          </p:nvPr>
        </p:nvSpPr>
        <p:spPr>
          <a:ln/>
        </p:spPr>
        <p:txBody>
          <a:bodyPr/>
          <a:lstStyle>
            <a:lvl1pPr>
              <a:defRPr/>
            </a:lvl1pPr>
          </a:lstStyle>
          <a:p>
            <a:pPr>
              <a:defRPr/>
            </a:pPr>
            <a:fld id="{2BBBE5B0-1186-4DAB-9E97-511F15F5C63C}" type="slidenum">
              <a:rPr lang="en-US" altLang="en-US"/>
              <a:pPr>
                <a:defRPr/>
              </a:pPr>
              <a:t>‹#›</a:t>
            </a:fld>
            <a:endParaRPr lang="en-US" altLang="en-US"/>
          </a:p>
        </p:txBody>
      </p:sp>
    </p:spTree>
    <p:extLst>
      <p:ext uri="{BB962C8B-B14F-4D97-AF65-F5344CB8AC3E}">
        <p14:creationId xmlns:p14="http://schemas.microsoft.com/office/powerpoint/2010/main" val="134880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9EB6957-06EE-46F8-A450-3DB417A1F8A6}"/>
              </a:ext>
            </a:extLst>
          </p:cNvPr>
          <p:cNvSpPr>
            <a:spLocks noGrp="1" noChangeArrowheads="1"/>
          </p:cNvSpPr>
          <p:nvPr>
            <p:ph type="sldNum" sz="quarter" idx="10"/>
          </p:nvPr>
        </p:nvSpPr>
        <p:spPr>
          <a:ln/>
        </p:spPr>
        <p:txBody>
          <a:bodyPr/>
          <a:lstStyle>
            <a:lvl1pPr>
              <a:defRPr/>
            </a:lvl1pPr>
          </a:lstStyle>
          <a:p>
            <a:pPr>
              <a:defRPr/>
            </a:pPr>
            <a:fld id="{F291DB2E-7BC4-4C22-ACAE-0B8B3F0C5147}" type="slidenum">
              <a:rPr lang="en-US" altLang="en-US"/>
              <a:pPr>
                <a:defRPr/>
              </a:pPr>
              <a:t>‹#›</a:t>
            </a:fld>
            <a:endParaRPr lang="en-US" altLang="en-US"/>
          </a:p>
        </p:txBody>
      </p:sp>
    </p:spTree>
    <p:extLst>
      <p:ext uri="{BB962C8B-B14F-4D97-AF65-F5344CB8AC3E}">
        <p14:creationId xmlns:p14="http://schemas.microsoft.com/office/powerpoint/2010/main" val="2481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5C950AD-734E-45C7-8042-5795FFAD6750}"/>
              </a:ext>
            </a:extLst>
          </p:cNvPr>
          <p:cNvSpPr>
            <a:spLocks noGrp="1" noChangeArrowheads="1"/>
          </p:cNvSpPr>
          <p:nvPr>
            <p:ph type="sldNum" sz="quarter" idx="10"/>
          </p:nvPr>
        </p:nvSpPr>
        <p:spPr>
          <a:ln/>
        </p:spPr>
        <p:txBody>
          <a:bodyPr/>
          <a:lstStyle>
            <a:lvl1pPr>
              <a:defRPr/>
            </a:lvl1pPr>
          </a:lstStyle>
          <a:p>
            <a:pPr>
              <a:defRPr/>
            </a:pPr>
            <a:fld id="{D7E5E31B-1343-4510-8DCD-65E7B6544692}" type="slidenum">
              <a:rPr lang="en-US" altLang="en-US"/>
              <a:pPr>
                <a:defRPr/>
              </a:pPr>
              <a:t>‹#›</a:t>
            </a:fld>
            <a:endParaRPr lang="en-US" altLang="en-US"/>
          </a:p>
        </p:txBody>
      </p:sp>
    </p:spTree>
    <p:extLst>
      <p:ext uri="{BB962C8B-B14F-4D97-AF65-F5344CB8AC3E}">
        <p14:creationId xmlns:p14="http://schemas.microsoft.com/office/powerpoint/2010/main" val="17630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C7A7A2CD-B5B0-4CF6-8038-339B0E99E366}"/>
              </a:ext>
            </a:extLst>
          </p:cNvPr>
          <p:cNvSpPr>
            <a:spLocks noGrp="1" noChangeArrowheads="1"/>
          </p:cNvSpPr>
          <p:nvPr>
            <p:ph type="sldNum" sz="quarter" idx="10"/>
          </p:nvPr>
        </p:nvSpPr>
        <p:spPr>
          <a:ln/>
        </p:spPr>
        <p:txBody>
          <a:bodyPr/>
          <a:lstStyle>
            <a:lvl1pPr>
              <a:defRPr/>
            </a:lvl1pPr>
          </a:lstStyle>
          <a:p>
            <a:pPr>
              <a:defRPr/>
            </a:pPr>
            <a:fld id="{833574B0-C055-4E38-82A9-667A1DF1F8D0}" type="slidenum">
              <a:rPr lang="en-US" altLang="en-US"/>
              <a:pPr>
                <a:defRPr/>
              </a:pPr>
              <a:t>‹#›</a:t>
            </a:fld>
            <a:endParaRPr lang="en-US" altLang="en-US"/>
          </a:p>
        </p:txBody>
      </p:sp>
    </p:spTree>
    <p:extLst>
      <p:ext uri="{BB962C8B-B14F-4D97-AF65-F5344CB8AC3E}">
        <p14:creationId xmlns:p14="http://schemas.microsoft.com/office/powerpoint/2010/main" val="2894649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A9796C49-4A73-449B-A170-DFFCD45313DF}"/>
              </a:ext>
            </a:extLst>
          </p:cNvPr>
          <p:cNvSpPr>
            <a:spLocks noGrp="1" noChangeArrowheads="1"/>
          </p:cNvSpPr>
          <p:nvPr>
            <p:ph type="sldNum" sz="quarter" idx="10"/>
          </p:nvPr>
        </p:nvSpPr>
        <p:spPr>
          <a:ln/>
        </p:spPr>
        <p:txBody>
          <a:bodyPr/>
          <a:lstStyle>
            <a:lvl1pPr>
              <a:defRPr/>
            </a:lvl1pPr>
          </a:lstStyle>
          <a:p>
            <a:pPr>
              <a:defRPr/>
            </a:pPr>
            <a:fld id="{300D9E99-A0D8-4F2F-B04A-331DF655FEAB}" type="slidenum">
              <a:rPr lang="en-US" altLang="en-US"/>
              <a:pPr>
                <a:defRPr/>
              </a:pPr>
              <a:t>‹#›</a:t>
            </a:fld>
            <a:endParaRPr lang="en-US" altLang="en-US"/>
          </a:p>
        </p:txBody>
      </p:sp>
    </p:spTree>
    <p:extLst>
      <p:ext uri="{BB962C8B-B14F-4D97-AF65-F5344CB8AC3E}">
        <p14:creationId xmlns:p14="http://schemas.microsoft.com/office/powerpoint/2010/main" val="242282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6112478-D9B7-4D0D-ADE5-62D5EFAAFBBF}"/>
              </a:ext>
            </a:extLst>
          </p:cNvPr>
          <p:cNvSpPr>
            <a:spLocks noGrp="1" noChangeArrowheads="1"/>
          </p:cNvSpPr>
          <p:nvPr>
            <p:ph type="body" idx="1"/>
          </p:nvPr>
        </p:nvSpPr>
        <p:spPr bwMode="auto">
          <a:xfrm>
            <a:off x="768350" y="1093788"/>
            <a:ext cx="7707313"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pPr>
                <a:defRPr/>
              </a:pPr>
              <a:t>‹#›</a:t>
            </a:fld>
            <a:endParaRPr lang="en-US" altLang="en-US" dirty="0"/>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userDrawn="1"/>
        </p:nvSpPr>
        <p:spPr bwMode="auto">
          <a:xfrm>
            <a:off x="4479983" y="6613525"/>
            <a:ext cx="447559"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3.</a:t>
            </a:r>
            <a:fld id="{669DE52E-05EC-4487-BE79-3F9A6A9F8797}"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362D880-06BD-4D02-876C-3226AC8E6F10}"/>
              </a:ext>
            </a:extLst>
          </p:cNvPr>
          <p:cNvSpPr>
            <a:spLocks/>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8" descr="Cover-6Ed"/>
          <p:cNvPicPr>
            <a:picLocks noChangeAspect="1" noChangeArrowheads="1"/>
          </p:cNvPicPr>
          <p:nvPr userDrawn="1"/>
        </p:nvPicPr>
        <p:blipFill>
          <a:blip r:embed="rId14"/>
          <a:stretch>
            <a:fillRect/>
          </a:stretch>
        </p:blipFill>
        <p:spPr bwMode="auto">
          <a:xfrm>
            <a:off x="5546" y="0"/>
            <a:ext cx="742012" cy="9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61"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7.png"/><Relationship Id="rId4" Type="http://schemas.openxmlformats.org/officeDocument/2006/relationships/image" Target="../media/image10.sv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id="{1CB68582-BBE2-4F64-8E5F-7C76410784FB}"/>
              </a:ext>
            </a:extLst>
          </p:cNvPr>
          <p:cNvSpPr>
            <a:spLocks noGrp="1" noChangeArrowheads="1"/>
          </p:cNvSpPr>
          <p:nvPr>
            <p:ph type="ctrTitle"/>
          </p:nvPr>
        </p:nvSpPr>
        <p:spPr/>
        <p:txBody>
          <a:bodyPr/>
          <a:lstStyle/>
          <a:p>
            <a:pPr>
              <a:defRPr/>
            </a:pPr>
            <a:r>
              <a:rPr lang="en-US" altLang="en-US" dirty="0" smtClean="0">
                <a:effectLst>
                  <a:outerShdw blurRad="38100" dist="38100" dir="2700000" algn="tl">
                    <a:srgbClr val="C0C0C0"/>
                  </a:outerShdw>
                </a:effectLst>
              </a:rPr>
              <a:t>Introduction </a:t>
            </a:r>
            <a:r>
              <a:rPr lang="en-US" altLang="en-US" dirty="0">
                <a:effectLst>
                  <a:outerShdw blurRad="38100" dist="38100" dir="2700000" algn="tl">
                    <a:srgbClr val="C0C0C0"/>
                  </a:outerShdw>
                </a:effectLst>
              </a:rPr>
              <a:t>to SQL</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accent1"/>
        </a:solidFill>
        <a:effectLst/>
      </p:bgPr>
    </p:bg>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p:txBody>
          <a:bodyPr lIns="90488" tIns="44450" rIns="90488" bIns="44450" anchor="ctr"/>
          <a:lstStyle/>
          <a:p>
            <a:r>
              <a:rPr lang="en-US" altLang="en-US" sz="2800" dirty="0"/>
              <a:t>Outline</a:t>
            </a:r>
          </a:p>
        </p:txBody>
      </p:sp>
      <p:sp>
        <p:nvSpPr>
          <p:cNvPr id="5122" name="Rectangle 3"/>
          <p:cNvSpPr>
            <a:spLocks noGrp="1" noChangeArrowheads="1"/>
          </p:cNvSpPr>
          <p:nvPr>
            <p:ph type="body" idx="1"/>
          </p:nvPr>
        </p:nvSpPr>
        <p:spPr>
          <a:xfrm>
            <a:off x="768351" y="1127464"/>
            <a:ext cx="7205218" cy="3542072"/>
          </a:xfrm>
        </p:spPr>
        <p:txBody>
          <a:bodyPr lIns="90488" tIns="44450" rIns="90488" bIns="44450"/>
          <a:lstStyle/>
          <a:p>
            <a:r>
              <a:rPr lang="en-US" altLang="en-US" sz="1700" dirty="0"/>
              <a:t>Overview of The SQL Query Language</a:t>
            </a:r>
          </a:p>
          <a:p>
            <a:r>
              <a:rPr lang="en-US" altLang="en-US" sz="1700" dirty="0"/>
              <a:t>SQL Data Definition</a:t>
            </a:r>
          </a:p>
          <a:p>
            <a:r>
              <a:rPr lang="en-US" altLang="en-US" sz="1700" dirty="0" smtClean="0"/>
              <a:t>Basic Query Structure of SQL Queries</a:t>
            </a:r>
          </a:p>
          <a:p>
            <a:r>
              <a:rPr lang="en-US" altLang="en-US" sz="1700" dirty="0" smtClean="0"/>
              <a:t>Additional Basic Operations</a:t>
            </a:r>
          </a:p>
          <a:p>
            <a:r>
              <a:rPr lang="en-US" altLang="en-US" sz="1700" dirty="0" smtClean="0"/>
              <a:t>Set </a:t>
            </a:r>
            <a:r>
              <a:rPr lang="en-US" altLang="en-US" sz="1700" dirty="0"/>
              <a:t>Operations</a:t>
            </a:r>
          </a:p>
          <a:p>
            <a:r>
              <a:rPr lang="en-US" altLang="en-US" sz="1700" dirty="0"/>
              <a:t>Null Values</a:t>
            </a:r>
          </a:p>
          <a:p>
            <a:r>
              <a:rPr lang="en-US" altLang="en-US" sz="1700" dirty="0"/>
              <a:t>Aggregate Functions</a:t>
            </a:r>
          </a:p>
          <a:p>
            <a:r>
              <a:rPr lang="en-US" altLang="en-US" sz="1700" dirty="0"/>
              <a:t>Nested Subqueries</a:t>
            </a:r>
          </a:p>
          <a:p>
            <a:r>
              <a:rPr lang="en-US" altLang="en-US" sz="1700" dirty="0"/>
              <a:t>Modification of the Database</a:t>
            </a: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p:txBody>
          <a:bodyPr/>
          <a:lstStyle/>
          <a:p>
            <a:r>
              <a:rPr lang="en-US" altLang="en-US" sz="2800" smtClean="0"/>
              <a:t>History</a:t>
            </a:r>
            <a:endParaRPr lang="en-US" altLang="en-US" sz="2800" dirty="0"/>
          </a:p>
        </p:txBody>
      </p:sp>
      <p:sp>
        <p:nvSpPr>
          <p:cNvPr id="6146" name="Rectangle 3"/>
          <p:cNvSpPr>
            <a:spLocks noGrp="1" noChangeArrowheads="1"/>
          </p:cNvSpPr>
          <p:nvPr>
            <p:ph type="body" idx="1"/>
          </p:nvPr>
        </p:nvSpPr>
        <p:spPr>
          <a:xfrm>
            <a:off x="768350" y="1142556"/>
            <a:ext cx="7656323" cy="4903787"/>
          </a:xfrm>
        </p:spPr>
        <p:txBody>
          <a:bodyPr/>
          <a:lstStyle/>
          <a:p>
            <a:r>
              <a:rPr lang="en-US" altLang="en-US" sz="1700" smtClean="0"/>
              <a:t>IBM Sequel language developed as part of System R project at the IBM San Jose Research Laboratory</a:t>
            </a:r>
          </a:p>
          <a:p>
            <a:r>
              <a:rPr lang="en-US" altLang="en-US" sz="1700" smtClean="0"/>
              <a:t>Renamed Structured Query Language (SQL)</a:t>
            </a:r>
          </a:p>
          <a:p>
            <a:r>
              <a:rPr lang="en-US" altLang="en-US" sz="1700" smtClean="0"/>
              <a:t>ANSI and ISO standard SQL:</a:t>
            </a:r>
          </a:p>
          <a:p>
            <a:pPr lvl="1"/>
            <a:r>
              <a:rPr lang="en-US" altLang="en-US" sz="1700" smtClean="0"/>
              <a:t>SQL-86</a:t>
            </a:r>
          </a:p>
          <a:p>
            <a:pPr lvl="1"/>
            <a:r>
              <a:rPr lang="en-US" altLang="en-US" sz="1700" smtClean="0"/>
              <a:t>SQL-89</a:t>
            </a:r>
          </a:p>
          <a:p>
            <a:pPr lvl="1"/>
            <a:r>
              <a:rPr lang="en-US" altLang="en-US" sz="1700" smtClean="0"/>
              <a:t>SQL-92 </a:t>
            </a:r>
          </a:p>
          <a:p>
            <a:pPr lvl="1"/>
            <a:r>
              <a:rPr lang="en-US" altLang="en-US" sz="1700" smtClean="0"/>
              <a:t>SQL:1999 (language name became Y2K compliant!)</a:t>
            </a:r>
          </a:p>
          <a:p>
            <a:pPr lvl="1"/>
            <a:r>
              <a:rPr lang="en-US" altLang="en-US" sz="1700" smtClean="0"/>
              <a:t>SQL:2003</a:t>
            </a:r>
          </a:p>
          <a:p>
            <a:pPr lvl="1"/>
            <a:r>
              <a:rPr lang="en-US" b="1" smtClean="0"/>
              <a:t>SQL:2006, SQL:2008, SQL:2011, and most recently SQL:2016</a:t>
            </a:r>
            <a:endParaRPr lang="en-US" altLang="en-US" sz="1700" smtClean="0"/>
          </a:p>
          <a:p>
            <a:r>
              <a:rPr lang="en-US" altLang="en-US" sz="1700" smtClean="0"/>
              <a:t>Commercial systems offer most, if not all, SQL-92 features, plus varying feature sets from later standards and special proprietary features.  </a:t>
            </a:r>
          </a:p>
          <a:p>
            <a:pPr lvl="1"/>
            <a:r>
              <a:rPr lang="en-US" altLang="en-US" sz="1700" smtClean="0"/>
              <a:t>Not all examples here may work on your particular system.</a:t>
            </a:r>
            <a:endParaRPr lang="en-US" altLang="en-US" sz="17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p:txBody>
          <a:bodyPr/>
          <a:lstStyle/>
          <a:p>
            <a:r>
              <a:rPr lang="en-US" altLang="en-US" sz="2800" dirty="0"/>
              <a:t>SQL Parts</a:t>
            </a:r>
          </a:p>
        </p:txBody>
      </p:sp>
      <p:sp>
        <p:nvSpPr>
          <p:cNvPr id="7170" name="Rectangle 3"/>
          <p:cNvSpPr>
            <a:spLocks noGrp="1" noChangeArrowheads="1"/>
          </p:cNvSpPr>
          <p:nvPr>
            <p:ph type="body" idx="1"/>
          </p:nvPr>
        </p:nvSpPr>
        <p:spPr>
          <a:xfrm>
            <a:off x="768350" y="1127933"/>
            <a:ext cx="7584043" cy="4920168"/>
          </a:xfrm>
        </p:spPr>
        <p:txBody>
          <a:bodyPr/>
          <a:lstStyle/>
          <a:p>
            <a:r>
              <a:rPr lang="en-US" altLang="en-US" sz="1700" dirty="0"/>
              <a:t>DML -- provides the ability to query information from the database and to insert tuples into, delete tuples from, and modify tuples in the database.</a:t>
            </a:r>
          </a:p>
          <a:p>
            <a:r>
              <a:rPr lang="en-US" altLang="en-US" sz="1700" dirty="0"/>
              <a:t>integrity – the  DDL includes commands for specifying integrity constraints.</a:t>
            </a:r>
          </a:p>
          <a:p>
            <a:r>
              <a:rPr lang="en-US" altLang="en-US" sz="1700" dirty="0"/>
              <a:t>View definition -- The DDL  includes commands for defining views.</a:t>
            </a:r>
          </a:p>
          <a:p>
            <a:r>
              <a:rPr lang="en-US" altLang="en-US" sz="1700" dirty="0"/>
              <a:t>Transaction control –includes commands for specifying the beginning and ending of transactions.</a:t>
            </a:r>
          </a:p>
          <a:p>
            <a:r>
              <a:rPr lang="en-US" altLang="en-US" sz="1700" dirty="0"/>
              <a:t>Embedded  SQL  and dynamic SQL -- define how SQL statements can be embedded within general-purpose programming languages.</a:t>
            </a:r>
          </a:p>
          <a:p>
            <a:r>
              <a:rPr lang="en-US" altLang="en-US" sz="1700" dirty="0"/>
              <a:t>Authorization – includes commands for specifying access rights to relations and views.</a:t>
            </a:r>
          </a:p>
          <a:p>
            <a:pPr>
              <a:buNone/>
            </a:pPr>
            <a:endParaRPr lang="en-US" altLang="en-US" dirty="0"/>
          </a:p>
          <a:p>
            <a:endParaRPr lang="en-US"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p:txBody>
          <a:bodyPr/>
          <a:lstStyle/>
          <a:p>
            <a:r>
              <a:rPr lang="en-US" altLang="en-US" sz="2800" dirty="0"/>
              <a:t>Data Definition Language</a:t>
            </a:r>
          </a:p>
        </p:txBody>
      </p:sp>
      <p:sp>
        <p:nvSpPr>
          <p:cNvPr id="7170" name="Rectangle 3"/>
          <p:cNvSpPr>
            <a:spLocks noGrp="1" noChangeArrowheads="1"/>
          </p:cNvSpPr>
          <p:nvPr>
            <p:ph type="body" idx="1"/>
          </p:nvPr>
        </p:nvSpPr>
        <p:spPr>
          <a:xfrm>
            <a:off x="1065320" y="1801115"/>
            <a:ext cx="7042361" cy="2563622"/>
          </a:xfrm>
        </p:spPr>
        <p:txBody>
          <a:bodyPr/>
          <a:lstStyle/>
          <a:p>
            <a:r>
              <a:rPr lang="en-US" altLang="en-US" sz="1700" dirty="0"/>
              <a:t>The schema for each relation.</a:t>
            </a:r>
          </a:p>
          <a:p>
            <a:r>
              <a:rPr lang="en-US" altLang="en-US" sz="1700" dirty="0"/>
              <a:t>The type of values associated with each attribute.</a:t>
            </a:r>
          </a:p>
          <a:p>
            <a:r>
              <a:rPr lang="en-US" altLang="en-US" sz="1700" dirty="0"/>
              <a:t>The Integrity constraints</a:t>
            </a:r>
          </a:p>
          <a:p>
            <a:r>
              <a:rPr lang="en-US" altLang="en-US" sz="1700" dirty="0"/>
              <a:t>The set of indices to be maintained for each relation.</a:t>
            </a:r>
          </a:p>
          <a:p>
            <a:r>
              <a:rPr lang="en-US" altLang="en-US" sz="1700" dirty="0"/>
              <a:t>Security and authorization information for each relation.</a:t>
            </a:r>
          </a:p>
          <a:p>
            <a:r>
              <a:rPr lang="en-US" altLang="en-US" sz="1700" dirty="0"/>
              <a:t>The physical storage structure of each relation on disk.</a:t>
            </a:r>
          </a:p>
        </p:txBody>
      </p:sp>
      <p:sp>
        <p:nvSpPr>
          <p:cNvPr id="7171" name="Text Box 4"/>
          <p:cNvSpPr txBox="1">
            <a:spLocks noChangeArrowheads="1"/>
          </p:cNvSpPr>
          <p:nvPr/>
        </p:nvSpPr>
        <p:spPr bwMode="auto">
          <a:xfrm>
            <a:off x="768350" y="1115365"/>
            <a:ext cx="7612170"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kumimoji="1" lang="en-US" altLang="en-US" sz="1700" dirty="0"/>
              <a:t>The SQL data-definition language (DDL) allows the specification of information about relations, including:</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p:txBody>
          <a:bodyPr/>
          <a:lstStyle/>
          <a:p>
            <a:r>
              <a:rPr lang="en-US" altLang="en-US" sz="2800" dirty="0"/>
              <a:t>Domain Types in SQL</a:t>
            </a:r>
          </a:p>
        </p:txBody>
      </p:sp>
      <p:sp>
        <p:nvSpPr>
          <p:cNvPr id="8194" name="Rectangle 3"/>
          <p:cNvSpPr>
            <a:spLocks noGrp="1" noChangeArrowheads="1"/>
          </p:cNvSpPr>
          <p:nvPr>
            <p:ph type="body" idx="1"/>
          </p:nvPr>
        </p:nvSpPr>
        <p:spPr>
          <a:xfrm>
            <a:off x="768351" y="1155256"/>
            <a:ext cx="7692898" cy="4635944"/>
          </a:xfrm>
        </p:spPr>
        <p:txBody>
          <a:bodyPr/>
          <a:lstStyle/>
          <a:p>
            <a:pPr>
              <a:lnSpc>
                <a:spcPct val="90000"/>
              </a:lnSpc>
            </a:pPr>
            <a:r>
              <a:rPr lang="en-US" altLang="en-US" sz="1700" b="1" dirty="0">
                <a:solidFill>
                  <a:srgbClr val="002060"/>
                </a:solidFill>
              </a:rPr>
              <a:t>char(n).</a:t>
            </a:r>
            <a:r>
              <a:rPr lang="en-US" altLang="en-US" sz="1700" dirty="0">
                <a:solidFill>
                  <a:srgbClr val="002060"/>
                </a:solidFill>
              </a:rPr>
              <a:t>  </a:t>
            </a:r>
            <a:r>
              <a:rPr lang="en-US" altLang="en-US" sz="1700" dirty="0"/>
              <a:t>Fixed length character string, with user-specified length </a:t>
            </a:r>
            <a:r>
              <a:rPr lang="en-US" altLang="en-US" sz="1700" i="1" dirty="0"/>
              <a:t>n.</a:t>
            </a:r>
            <a:endParaRPr lang="en-US" altLang="en-US" sz="1700" dirty="0"/>
          </a:p>
          <a:p>
            <a:pPr>
              <a:lnSpc>
                <a:spcPct val="90000"/>
              </a:lnSpc>
            </a:pPr>
            <a:r>
              <a:rPr lang="en-US" altLang="en-US" sz="1700" b="1" dirty="0">
                <a:solidFill>
                  <a:srgbClr val="002060"/>
                </a:solidFill>
              </a:rPr>
              <a:t>varchar(n). </a:t>
            </a:r>
            <a:r>
              <a:rPr lang="en-US" altLang="en-US" sz="1700" dirty="0">
                <a:solidFill>
                  <a:srgbClr val="002060"/>
                </a:solidFill>
              </a:rPr>
              <a:t> </a:t>
            </a:r>
            <a:r>
              <a:rPr lang="en-US" altLang="en-US" sz="1700" dirty="0"/>
              <a:t>Variable length character strings, with user-specified maximum length </a:t>
            </a:r>
            <a:r>
              <a:rPr lang="en-US" altLang="en-US" sz="1700" i="1" dirty="0"/>
              <a:t>n.</a:t>
            </a:r>
          </a:p>
          <a:p>
            <a:pPr>
              <a:lnSpc>
                <a:spcPct val="90000"/>
              </a:lnSpc>
            </a:pPr>
            <a:r>
              <a:rPr lang="en-US" altLang="en-US" sz="1700" b="1" dirty="0">
                <a:solidFill>
                  <a:srgbClr val="002060"/>
                </a:solidFill>
              </a:rPr>
              <a:t>int.</a:t>
            </a:r>
            <a:r>
              <a:rPr lang="en-US" altLang="en-US" sz="1700" b="1" dirty="0"/>
              <a:t>  </a:t>
            </a:r>
            <a:r>
              <a:rPr lang="en-US" altLang="en-US" sz="1700" dirty="0"/>
              <a:t>Integer (a finite subset of the integers that is machine-dependent).</a:t>
            </a:r>
          </a:p>
          <a:p>
            <a:pPr>
              <a:lnSpc>
                <a:spcPct val="90000"/>
              </a:lnSpc>
            </a:pPr>
            <a:r>
              <a:rPr lang="en-US" altLang="en-US" sz="1700" b="1" dirty="0" err="1">
                <a:solidFill>
                  <a:srgbClr val="002060"/>
                </a:solidFill>
              </a:rPr>
              <a:t>smallint</a:t>
            </a:r>
            <a:r>
              <a:rPr lang="en-US" altLang="en-US" sz="1700" b="1" dirty="0">
                <a:solidFill>
                  <a:srgbClr val="002060"/>
                </a:solidFill>
              </a:rPr>
              <a:t>.</a:t>
            </a:r>
            <a:r>
              <a:rPr lang="en-US" altLang="en-US" sz="1700" dirty="0">
                <a:solidFill>
                  <a:srgbClr val="002060"/>
                </a:solidFill>
              </a:rPr>
              <a:t>  </a:t>
            </a:r>
            <a:r>
              <a:rPr lang="en-US" altLang="en-US" sz="1700" dirty="0"/>
              <a:t>Small integer (a machine-dependent subset of the integer domain type).</a:t>
            </a:r>
          </a:p>
          <a:p>
            <a:pPr>
              <a:lnSpc>
                <a:spcPct val="90000"/>
              </a:lnSpc>
            </a:pPr>
            <a:r>
              <a:rPr lang="en-US" altLang="en-US" sz="1700" b="1" dirty="0">
                <a:solidFill>
                  <a:srgbClr val="002060"/>
                </a:solidFill>
              </a:rPr>
              <a:t>numeric(</a:t>
            </a:r>
            <a:r>
              <a:rPr lang="en-US" altLang="en-US" sz="1700" b="1" dirty="0" err="1">
                <a:solidFill>
                  <a:srgbClr val="002060"/>
                </a:solidFill>
              </a:rPr>
              <a:t>p,d</a:t>
            </a:r>
            <a:r>
              <a:rPr lang="en-US" altLang="en-US" sz="1700" b="1" dirty="0">
                <a:solidFill>
                  <a:srgbClr val="002060"/>
                </a:solidFill>
              </a:rPr>
              <a:t>).</a:t>
            </a:r>
            <a:r>
              <a:rPr lang="en-US" altLang="en-US" sz="1700" dirty="0">
                <a:solidFill>
                  <a:srgbClr val="002060"/>
                </a:solidFill>
              </a:rPr>
              <a:t>  </a:t>
            </a:r>
            <a:r>
              <a:rPr lang="en-US" altLang="en-US" sz="1700" dirty="0"/>
              <a:t>Fixed point number, with user-specified precision of </a:t>
            </a:r>
            <a:r>
              <a:rPr lang="en-US" altLang="en-US" sz="1700" i="1" dirty="0"/>
              <a:t>p</a:t>
            </a:r>
            <a:r>
              <a:rPr lang="en-US" altLang="en-US" sz="1700" dirty="0"/>
              <a:t> digits, with </a:t>
            </a:r>
            <a:r>
              <a:rPr lang="en-US" altLang="en-US" sz="1700" i="1" dirty="0"/>
              <a:t>d</a:t>
            </a:r>
            <a:r>
              <a:rPr lang="en-US" altLang="en-US" sz="1700" dirty="0"/>
              <a:t> digits to the right of decimal point.  (ex., </a:t>
            </a:r>
            <a:r>
              <a:rPr lang="en-US" altLang="en-US" sz="1700" b="1" dirty="0"/>
              <a:t>numeric</a:t>
            </a:r>
            <a:r>
              <a:rPr lang="en-US" altLang="en-US" sz="1700" dirty="0"/>
              <a:t>(3,1), allows 44.5 to be stores exactly, but not 444.5 or 0.32)</a:t>
            </a:r>
          </a:p>
          <a:p>
            <a:pPr>
              <a:lnSpc>
                <a:spcPct val="90000"/>
              </a:lnSpc>
            </a:pPr>
            <a:r>
              <a:rPr lang="en-US" altLang="en-US" sz="1700" b="1" dirty="0">
                <a:solidFill>
                  <a:srgbClr val="002060"/>
                </a:solidFill>
              </a:rPr>
              <a:t>real, double precision.</a:t>
            </a:r>
            <a:r>
              <a:rPr lang="en-US" altLang="en-US" sz="1700" dirty="0">
                <a:solidFill>
                  <a:srgbClr val="002060"/>
                </a:solidFill>
              </a:rPr>
              <a:t>  </a:t>
            </a:r>
            <a:r>
              <a:rPr lang="en-US" altLang="en-US" sz="1700" dirty="0"/>
              <a:t>Floating point and double-precision floating point numbers, with machine-dependent precision.</a:t>
            </a:r>
          </a:p>
          <a:p>
            <a:pPr>
              <a:lnSpc>
                <a:spcPct val="90000"/>
              </a:lnSpc>
            </a:pPr>
            <a:r>
              <a:rPr lang="en-US" altLang="en-US" sz="1700" b="1" dirty="0">
                <a:solidFill>
                  <a:srgbClr val="002060"/>
                </a:solidFill>
              </a:rPr>
              <a:t>float(n).</a:t>
            </a:r>
            <a:r>
              <a:rPr lang="en-US" altLang="en-US" sz="1700" dirty="0">
                <a:solidFill>
                  <a:srgbClr val="002060"/>
                </a:solidFill>
              </a:rPr>
              <a:t>  </a:t>
            </a:r>
            <a:r>
              <a:rPr lang="en-US" altLang="en-US" sz="1700" dirty="0"/>
              <a:t>Floating point number, with user-specified precision of at least </a:t>
            </a:r>
            <a:r>
              <a:rPr lang="en-US" altLang="en-US" sz="1700" i="1" dirty="0"/>
              <a:t>n</a:t>
            </a:r>
            <a:r>
              <a:rPr lang="en-US" altLang="en-US" sz="1700" dirty="0"/>
              <a:t> digits.</a:t>
            </a:r>
          </a:p>
          <a:p>
            <a:pPr>
              <a:lnSpc>
                <a:spcPct val="90000"/>
              </a:lnSpc>
            </a:pPr>
            <a:r>
              <a:rPr lang="en-US" altLang="en-US" sz="1700" dirty="0"/>
              <a:t>More are covered in Chapter 4.</a:t>
            </a:r>
          </a:p>
          <a:p>
            <a:pPr>
              <a:lnSpc>
                <a:spcPct val="90000"/>
              </a:lnSpc>
              <a:buFont typeface="Monotype Sorts" charset="2"/>
              <a:buNone/>
            </a:pPr>
            <a:endParaRPr lang="en-US" altLang="en-US" dirty="0"/>
          </a:p>
          <a:p>
            <a:pPr>
              <a:lnSpc>
                <a:spcPct val="90000"/>
              </a:lnSpc>
              <a:buFont typeface="Monotype Sorts" charset="2"/>
              <a:buNone/>
            </a:pPr>
            <a:endParaRPr lang="en-US" altLang="en-US" b="1"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p:txBody>
          <a:bodyPr/>
          <a:lstStyle/>
          <a:p>
            <a:r>
              <a:rPr lang="en-US" altLang="en-US" sz="2800" dirty="0"/>
              <a:t>Create Table Construct</a:t>
            </a:r>
          </a:p>
        </p:txBody>
      </p:sp>
      <p:sp>
        <p:nvSpPr>
          <p:cNvPr id="9218" name="Rectangle 3"/>
          <p:cNvSpPr>
            <a:spLocks noGrp="1" noChangeArrowheads="1"/>
          </p:cNvSpPr>
          <p:nvPr>
            <p:ph type="body" idx="1"/>
          </p:nvPr>
        </p:nvSpPr>
        <p:spPr>
          <a:xfrm>
            <a:off x="768351" y="1127125"/>
            <a:ext cx="7375906" cy="5054219"/>
          </a:xfrm>
        </p:spPr>
        <p:txBody>
          <a:bodyPr/>
          <a:lstStyle/>
          <a:p>
            <a:pPr>
              <a:tabLst>
                <a:tab pos="1489075" algn="l"/>
                <a:tab pos="1949450" algn="l"/>
                <a:tab pos="3036888" algn="l"/>
              </a:tabLst>
            </a:pPr>
            <a:r>
              <a:rPr kumimoji="0" lang="en-US" altLang="en-US" sz="1700" dirty="0"/>
              <a:t>An SQL relation is defined using the</a:t>
            </a:r>
            <a:r>
              <a:rPr lang="en-US" altLang="en-US" sz="1700" dirty="0"/>
              <a:t> </a:t>
            </a:r>
            <a:r>
              <a:rPr lang="en-US" altLang="en-US" sz="1700" b="1" dirty="0">
                <a:solidFill>
                  <a:srgbClr val="002060"/>
                </a:solidFill>
              </a:rPr>
              <a:t>create table </a:t>
            </a:r>
            <a:r>
              <a:rPr kumimoji="0" lang="en-US" altLang="en-US" sz="1700" dirty="0"/>
              <a:t>command</a:t>
            </a:r>
            <a:r>
              <a:rPr lang="en-US" altLang="en-US" sz="1700" dirty="0"/>
              <a:t>:</a:t>
            </a:r>
          </a:p>
          <a:p>
            <a:pPr>
              <a:buFont typeface="Monotype Sorts" charset="2"/>
              <a:buNone/>
              <a:tabLst>
                <a:tab pos="1489075" algn="l"/>
                <a:tab pos="1949450" algn="l"/>
                <a:tab pos="3036888" algn="l"/>
              </a:tabLst>
            </a:pPr>
            <a:r>
              <a:rPr lang="en-US" altLang="en-US" sz="1700" dirty="0"/>
              <a:t>		</a:t>
            </a:r>
            <a:r>
              <a:rPr lang="en-US" altLang="en-US" sz="1700" b="1" dirty="0"/>
              <a:t>create table </a:t>
            </a:r>
            <a:r>
              <a:rPr lang="en-US" altLang="en-US" sz="1700" i="1" dirty="0"/>
              <a:t>r </a:t>
            </a:r>
          </a:p>
          <a:p>
            <a:pPr>
              <a:buFont typeface="Monotype Sorts" charset="2"/>
              <a:buNone/>
              <a:tabLst>
                <a:tab pos="1489075" algn="l"/>
                <a:tab pos="1949450" algn="l"/>
                <a:tab pos="3036888" algn="l"/>
              </a:tabLst>
            </a:pPr>
            <a:r>
              <a:rPr lang="en-US" altLang="en-US" sz="1700" i="1" dirty="0"/>
              <a:t>                                   </a:t>
            </a:r>
            <a:r>
              <a:rPr lang="en-US" altLang="en-US" sz="1700" dirty="0"/>
              <a:t>(</a:t>
            </a:r>
            <a:r>
              <a:rPr lang="en-US" altLang="en-US" sz="1700" i="1" dirty="0"/>
              <a:t>A</a:t>
            </a:r>
            <a:r>
              <a:rPr lang="en-US" altLang="en-US" sz="1700" baseline="-25000" dirty="0"/>
              <a:t>1</a:t>
            </a:r>
            <a:r>
              <a:rPr lang="en-US" altLang="en-US" sz="1700" dirty="0"/>
              <a:t> </a:t>
            </a:r>
            <a:r>
              <a:rPr lang="en-US" altLang="en-US" sz="1700" i="1" dirty="0"/>
              <a:t>D</a:t>
            </a:r>
            <a:r>
              <a:rPr lang="en-US" altLang="en-US" sz="1700" baseline="-25000" dirty="0"/>
              <a:t>1</a:t>
            </a:r>
            <a:r>
              <a:rPr lang="en-US" altLang="en-US" sz="1700" dirty="0"/>
              <a:t>, </a:t>
            </a:r>
            <a:r>
              <a:rPr lang="en-US" altLang="en-US" sz="1700" i="1" dirty="0"/>
              <a:t>A</a:t>
            </a:r>
            <a:r>
              <a:rPr lang="en-US" altLang="en-US" sz="1700" baseline="-25000" dirty="0"/>
              <a:t>2</a:t>
            </a:r>
            <a:r>
              <a:rPr lang="en-US" altLang="en-US" sz="1700" dirty="0"/>
              <a:t> </a:t>
            </a:r>
            <a:r>
              <a:rPr lang="en-US" altLang="en-US" sz="1700" i="1" dirty="0"/>
              <a:t>D</a:t>
            </a:r>
            <a:r>
              <a:rPr lang="en-US" altLang="en-US" sz="1700" baseline="-25000" dirty="0"/>
              <a:t>2</a:t>
            </a:r>
            <a:r>
              <a:rPr lang="en-US" altLang="en-US" sz="1700" dirty="0"/>
              <a:t>, ..., </a:t>
            </a:r>
            <a:r>
              <a:rPr lang="en-US" altLang="en-US" sz="1700" i="1" dirty="0"/>
              <a:t>A</a:t>
            </a:r>
            <a:r>
              <a:rPr lang="en-US" altLang="en-US" sz="1700" i="1" baseline="-25000" dirty="0"/>
              <a:t>n</a:t>
            </a:r>
            <a:r>
              <a:rPr lang="en-US" altLang="en-US" sz="1700" i="1" dirty="0"/>
              <a:t> </a:t>
            </a:r>
            <a:r>
              <a:rPr lang="en-US" altLang="en-US" sz="1700" i="1" dirty="0" err="1"/>
              <a:t>D</a:t>
            </a:r>
            <a:r>
              <a:rPr lang="en-US" altLang="en-US" sz="1700" i="1" baseline="-25000" dirty="0" err="1"/>
              <a:t>n</a:t>
            </a:r>
            <a:r>
              <a:rPr lang="en-US" altLang="en-US" sz="1700" i="1" dirty="0"/>
              <a:t>,</a:t>
            </a:r>
            <a:br>
              <a:rPr lang="en-US" altLang="en-US" sz="1700" i="1" dirty="0"/>
            </a:br>
            <a:r>
              <a:rPr lang="en-US" altLang="en-US" sz="1700" i="1" dirty="0"/>
              <a:t>	             </a:t>
            </a:r>
            <a:r>
              <a:rPr lang="en-US" altLang="en-US" sz="1700" dirty="0"/>
              <a:t>(integrity-constraint</a:t>
            </a:r>
            <a:r>
              <a:rPr lang="en-US" altLang="en-US" sz="1700" baseline="-25000" dirty="0"/>
              <a:t>1</a:t>
            </a:r>
            <a:r>
              <a:rPr lang="en-US" altLang="en-US" sz="1700" dirty="0"/>
              <a:t>),</a:t>
            </a:r>
            <a:br>
              <a:rPr lang="en-US" altLang="en-US" sz="1700" dirty="0"/>
            </a:br>
            <a:r>
              <a:rPr lang="en-US" altLang="en-US" sz="1700" dirty="0"/>
              <a:t>	                 ...,</a:t>
            </a:r>
            <a:br>
              <a:rPr lang="en-US" altLang="en-US" sz="1700" dirty="0"/>
            </a:br>
            <a:r>
              <a:rPr lang="en-US" altLang="en-US" sz="1700" dirty="0"/>
              <a:t>                               (integrity-</a:t>
            </a:r>
            <a:r>
              <a:rPr lang="en-US" altLang="en-US" sz="1700" dirty="0" err="1"/>
              <a:t>constraint</a:t>
            </a:r>
            <a:r>
              <a:rPr lang="en-US" altLang="en-US" sz="1700" baseline="-25000" dirty="0" err="1"/>
              <a:t>k</a:t>
            </a:r>
            <a:r>
              <a:rPr lang="en-US" altLang="en-US" sz="1700" dirty="0"/>
              <a:t>))</a:t>
            </a:r>
          </a:p>
          <a:p>
            <a:pPr lvl="1">
              <a:tabLst>
                <a:tab pos="1489075" algn="l"/>
                <a:tab pos="1949450" algn="l"/>
                <a:tab pos="3036888" algn="l"/>
              </a:tabLst>
            </a:pPr>
            <a:r>
              <a:rPr lang="en-US" altLang="en-US" sz="1700" i="1" dirty="0"/>
              <a:t>r</a:t>
            </a:r>
            <a:r>
              <a:rPr lang="en-US" altLang="en-US" sz="1700" dirty="0"/>
              <a:t> is the name of the relation</a:t>
            </a:r>
          </a:p>
          <a:p>
            <a:pPr lvl="1">
              <a:tabLst>
                <a:tab pos="1489075" algn="l"/>
                <a:tab pos="1949450" algn="l"/>
                <a:tab pos="3036888" algn="l"/>
              </a:tabLst>
            </a:pPr>
            <a:r>
              <a:rPr lang="en-US" altLang="en-US" sz="1700" dirty="0"/>
              <a:t>each </a:t>
            </a:r>
            <a:r>
              <a:rPr lang="en-US" altLang="en-US" sz="1700" i="1" dirty="0"/>
              <a:t>A</a:t>
            </a:r>
            <a:r>
              <a:rPr lang="en-US" altLang="en-US" sz="1700" i="1" baseline="-25000" dirty="0"/>
              <a:t>i</a:t>
            </a:r>
            <a:r>
              <a:rPr lang="en-US" altLang="en-US" sz="1700" dirty="0"/>
              <a:t> is an attribute name in the schema of relation </a:t>
            </a:r>
            <a:r>
              <a:rPr lang="en-US" altLang="en-US" sz="1700" i="1" dirty="0"/>
              <a:t>r</a:t>
            </a:r>
          </a:p>
          <a:p>
            <a:pPr lvl="1">
              <a:tabLst>
                <a:tab pos="1489075" algn="l"/>
                <a:tab pos="1949450" algn="l"/>
                <a:tab pos="3036888" algn="l"/>
              </a:tabLst>
            </a:pPr>
            <a:r>
              <a:rPr lang="en-US" altLang="en-US" sz="1700" i="1" dirty="0"/>
              <a:t>D</a:t>
            </a:r>
            <a:r>
              <a:rPr lang="en-US" altLang="en-US" sz="1700" i="1" baseline="-25000" dirty="0"/>
              <a:t>i</a:t>
            </a:r>
            <a:r>
              <a:rPr lang="en-US" altLang="en-US" sz="1700" dirty="0"/>
              <a:t> is the data type of values in the domain of attribute </a:t>
            </a:r>
            <a:r>
              <a:rPr lang="en-US" altLang="en-US" sz="1700" i="1" dirty="0"/>
              <a:t>A</a:t>
            </a:r>
            <a:r>
              <a:rPr lang="en-US" altLang="en-US" sz="1700" i="1" baseline="-25000" dirty="0"/>
              <a:t>i</a:t>
            </a:r>
            <a:endParaRPr lang="en-US" altLang="en-US" sz="1700" dirty="0"/>
          </a:p>
          <a:p>
            <a:pPr>
              <a:tabLst>
                <a:tab pos="1489075" algn="l"/>
                <a:tab pos="1949450" algn="l"/>
                <a:tab pos="3036888" algn="l"/>
              </a:tabLst>
            </a:pPr>
            <a:r>
              <a:rPr kumimoji="0" lang="en-US" altLang="en-US" sz="1700" dirty="0"/>
              <a:t>Example</a:t>
            </a:r>
            <a:r>
              <a:rPr lang="en-US" altLang="en-US" sz="1700" dirty="0"/>
              <a:t>:</a:t>
            </a:r>
          </a:p>
          <a:p>
            <a:pPr>
              <a:buFont typeface="Monotype Sorts" charset="2"/>
              <a:buNone/>
              <a:tabLst>
                <a:tab pos="1489075" algn="l"/>
                <a:tab pos="1949450" algn="l"/>
                <a:tab pos="3036888" algn="l"/>
              </a:tabLst>
            </a:pPr>
            <a:r>
              <a:rPr lang="en-US" altLang="en-US" sz="1700" dirty="0"/>
              <a:t>		 </a:t>
            </a:r>
            <a:r>
              <a:rPr lang="en-US" altLang="en-US" sz="1700" b="1" dirty="0"/>
              <a:t>create table</a:t>
            </a:r>
            <a:r>
              <a:rPr lang="en-US" altLang="en-US" sz="1700" dirty="0"/>
              <a:t> </a:t>
            </a:r>
            <a:r>
              <a:rPr lang="en-US" altLang="en-US" sz="1700" i="1" dirty="0"/>
              <a:t>instructor</a:t>
            </a:r>
            <a:r>
              <a:rPr lang="en-US" altLang="en-US" sz="1700" dirty="0"/>
              <a:t> (</a:t>
            </a:r>
            <a:br>
              <a:rPr lang="en-US" altLang="en-US" sz="1700" dirty="0"/>
            </a:br>
            <a:r>
              <a:rPr lang="en-US" altLang="en-US" sz="1700" dirty="0"/>
              <a:t>                             </a:t>
            </a:r>
            <a:r>
              <a:rPr lang="en-US" altLang="en-US" sz="1700" i="1" dirty="0"/>
              <a:t>ID</a:t>
            </a:r>
            <a:r>
              <a:rPr lang="en-US" altLang="en-US" sz="1700" dirty="0"/>
              <a:t>                </a:t>
            </a:r>
            <a:r>
              <a:rPr lang="en-US" altLang="en-US" sz="1700" b="1" dirty="0"/>
              <a:t>char</a:t>
            </a:r>
            <a:r>
              <a:rPr lang="en-US" altLang="en-US" sz="1700" dirty="0"/>
              <a:t>(5),</a:t>
            </a:r>
            <a:br>
              <a:rPr lang="en-US" altLang="en-US" sz="1700" dirty="0"/>
            </a:br>
            <a:r>
              <a:rPr lang="en-US" altLang="en-US" sz="1700" dirty="0"/>
              <a:t>                             </a:t>
            </a:r>
            <a:r>
              <a:rPr lang="en-US" altLang="en-US" sz="1700" i="1" dirty="0"/>
              <a:t>name           </a:t>
            </a:r>
            <a:r>
              <a:rPr lang="en-US" altLang="en-US" sz="1700" b="1" dirty="0" err="1"/>
              <a:t>varchar</a:t>
            </a:r>
            <a:r>
              <a:rPr lang="en-US" altLang="en-US" sz="1700" dirty="0"/>
              <a:t>(20)</a:t>
            </a:r>
            <a:r>
              <a:rPr lang="en-US" altLang="en-US" sz="1700" b="1" dirty="0"/>
              <a:t>,</a:t>
            </a:r>
            <a:r>
              <a:rPr lang="en-US" altLang="en-US" sz="1700" b="1" i="1" dirty="0"/>
              <a:t/>
            </a:r>
            <a:br>
              <a:rPr lang="en-US" altLang="en-US" sz="1700" b="1" i="1" dirty="0"/>
            </a:br>
            <a:r>
              <a:rPr lang="en-US" altLang="en-US" sz="1700" b="1" i="1" dirty="0"/>
              <a:t>                             </a:t>
            </a:r>
            <a:r>
              <a:rPr lang="en-US" altLang="en-US" sz="1700" i="1" dirty="0"/>
              <a:t>dept_name  </a:t>
            </a:r>
            <a:r>
              <a:rPr lang="en-US" altLang="en-US" sz="1700" b="1" dirty="0" err="1"/>
              <a:t>varchar</a:t>
            </a:r>
            <a:r>
              <a:rPr lang="en-US" altLang="en-US" sz="1700" dirty="0"/>
              <a:t>(20),</a:t>
            </a:r>
            <a:br>
              <a:rPr lang="en-US" altLang="en-US" sz="1700" dirty="0"/>
            </a:br>
            <a:r>
              <a:rPr lang="en-US" altLang="en-US" sz="1700" dirty="0"/>
              <a:t>                             </a:t>
            </a:r>
            <a:r>
              <a:rPr lang="en-US" altLang="en-US" sz="1700" i="1" dirty="0"/>
              <a:t>salary</a:t>
            </a:r>
            <a:r>
              <a:rPr lang="en-US" altLang="en-US" sz="1700" dirty="0"/>
              <a:t>           </a:t>
            </a:r>
            <a:r>
              <a:rPr lang="en-US" altLang="en-US" sz="1700" b="1" dirty="0"/>
              <a:t>numeric</a:t>
            </a:r>
            <a:r>
              <a:rPr lang="en-US" altLang="en-US" sz="1700" dirty="0"/>
              <a:t>(8,2))</a:t>
            </a:r>
          </a:p>
          <a:p>
            <a:pPr>
              <a:buFont typeface="Monotype Sorts" charset="2"/>
              <a:buNone/>
              <a:tabLst>
                <a:tab pos="1489075" algn="l"/>
                <a:tab pos="1949450" algn="l"/>
                <a:tab pos="3036888" algn="l"/>
              </a:tabLst>
            </a:pPr>
            <a:endParaRPr lang="en-US"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738188" y="129845"/>
            <a:ext cx="8077200" cy="609600"/>
          </a:xfrm>
        </p:spPr>
        <p:txBody>
          <a:bodyPr/>
          <a:lstStyle/>
          <a:p>
            <a:r>
              <a:rPr lang="en-US" altLang="en-US" sz="2800" dirty="0"/>
              <a:t>Integrity Constraints in Create Table</a:t>
            </a:r>
          </a:p>
        </p:txBody>
      </p:sp>
      <p:sp>
        <p:nvSpPr>
          <p:cNvPr id="10242" name="Rectangle 3"/>
          <p:cNvSpPr>
            <a:spLocks noGrp="1" noChangeArrowheads="1"/>
          </p:cNvSpPr>
          <p:nvPr>
            <p:ph type="body" idx="1"/>
          </p:nvPr>
        </p:nvSpPr>
        <p:spPr>
          <a:xfrm>
            <a:off x="738188" y="1109709"/>
            <a:ext cx="7515796" cy="4781004"/>
          </a:xfrm>
        </p:spPr>
        <p:txBody>
          <a:bodyPr/>
          <a:lstStyle/>
          <a:p>
            <a:r>
              <a:rPr lang="en-US" altLang="en-US" sz="1700" dirty="0"/>
              <a:t>Types of integrity constraints</a:t>
            </a:r>
          </a:p>
          <a:p>
            <a:pPr lvl="1"/>
            <a:r>
              <a:rPr lang="en-US" altLang="en-US" sz="1700" b="1" dirty="0"/>
              <a:t>primary key</a:t>
            </a:r>
            <a:r>
              <a:rPr lang="en-US" altLang="en-US" sz="1700" dirty="0"/>
              <a:t> (</a:t>
            </a:r>
            <a:r>
              <a:rPr lang="en-US" altLang="en-US" sz="1700" i="1" dirty="0"/>
              <a:t>A</a:t>
            </a:r>
            <a:r>
              <a:rPr lang="en-US" altLang="en-US" sz="1700" baseline="-25000" dirty="0"/>
              <a:t>1</a:t>
            </a:r>
            <a:r>
              <a:rPr lang="en-US" altLang="en-US" sz="1700" dirty="0"/>
              <a:t>, ..., </a:t>
            </a:r>
            <a:r>
              <a:rPr lang="en-US" altLang="en-US" sz="1700" i="1" dirty="0"/>
              <a:t>A</a:t>
            </a:r>
            <a:r>
              <a:rPr lang="en-US" altLang="en-US" sz="1700" i="1" baseline="-25000" dirty="0"/>
              <a:t>n </a:t>
            </a:r>
            <a:r>
              <a:rPr lang="en-US" altLang="en-US" sz="1700" dirty="0"/>
              <a:t>)</a:t>
            </a:r>
          </a:p>
          <a:p>
            <a:pPr lvl="1"/>
            <a:r>
              <a:rPr lang="en-US" altLang="en-US" sz="1700" b="1" dirty="0"/>
              <a:t>foreign key </a:t>
            </a:r>
            <a:r>
              <a:rPr lang="en-US" altLang="en-US" sz="1700" dirty="0"/>
              <a:t>(</a:t>
            </a:r>
            <a:r>
              <a:rPr lang="en-US" altLang="en-US" sz="1700" i="1" dirty="0"/>
              <a:t>A</a:t>
            </a:r>
            <a:r>
              <a:rPr lang="en-US" altLang="en-US" sz="1700" baseline="-25000" dirty="0"/>
              <a:t>m</a:t>
            </a:r>
            <a:r>
              <a:rPr lang="en-US" altLang="en-US" sz="1700" dirty="0"/>
              <a:t>, ..., </a:t>
            </a:r>
            <a:r>
              <a:rPr lang="en-US" altLang="en-US" sz="1700" i="1" dirty="0"/>
              <a:t>A</a:t>
            </a:r>
            <a:r>
              <a:rPr lang="en-US" altLang="en-US" sz="1700" i="1" baseline="-25000" dirty="0"/>
              <a:t>n </a:t>
            </a:r>
            <a:r>
              <a:rPr lang="en-US" altLang="en-US" sz="1700" dirty="0"/>
              <a:t>) </a:t>
            </a:r>
            <a:r>
              <a:rPr lang="en-US" altLang="en-US" sz="1700" b="1" dirty="0"/>
              <a:t>references </a:t>
            </a:r>
            <a:r>
              <a:rPr lang="en-US" altLang="en-US" sz="1700" i="1" dirty="0"/>
              <a:t>r</a:t>
            </a:r>
            <a:endParaRPr lang="en-US" altLang="en-US" sz="1700" b="1" dirty="0"/>
          </a:p>
          <a:p>
            <a:pPr lvl="1"/>
            <a:r>
              <a:rPr lang="en-US" altLang="en-US" sz="1700" b="1" dirty="0"/>
              <a:t>not null</a:t>
            </a:r>
          </a:p>
          <a:p>
            <a:r>
              <a:rPr lang="en-US" altLang="en-US" sz="1700" dirty="0"/>
              <a:t>SQL prevents any update to the database that violates an integrity constraint.</a:t>
            </a:r>
          </a:p>
          <a:p>
            <a:r>
              <a:rPr lang="en-US" altLang="en-US" sz="1700" dirty="0"/>
              <a:t>Example:</a:t>
            </a:r>
          </a:p>
          <a:p>
            <a:pPr>
              <a:buNone/>
            </a:pPr>
            <a:r>
              <a:rPr lang="en-US" altLang="en-US" sz="1700" b="1" dirty="0"/>
              <a:t>         create table</a:t>
            </a:r>
            <a:r>
              <a:rPr lang="en-US" altLang="en-US" sz="1700" dirty="0"/>
              <a:t> </a:t>
            </a:r>
            <a:r>
              <a:rPr lang="en-US" altLang="en-US" sz="1700" i="1" dirty="0"/>
              <a:t>instructor</a:t>
            </a:r>
            <a:r>
              <a:rPr lang="en-US" altLang="en-US" sz="1700" dirty="0"/>
              <a:t> (</a:t>
            </a:r>
            <a:br>
              <a:rPr lang="en-US" altLang="en-US" sz="1700" dirty="0"/>
            </a:br>
            <a:r>
              <a:rPr lang="en-US" altLang="en-US" sz="1700" dirty="0"/>
              <a:t>               </a:t>
            </a:r>
            <a:r>
              <a:rPr lang="en-US" altLang="en-US" sz="1700" i="1" dirty="0"/>
              <a:t>ID</a:t>
            </a:r>
            <a:r>
              <a:rPr lang="en-US" altLang="en-US" sz="1700" dirty="0"/>
              <a:t>                </a:t>
            </a:r>
            <a:r>
              <a:rPr lang="en-US" altLang="en-US" sz="1700" b="1" dirty="0"/>
              <a:t>char</a:t>
            </a:r>
            <a:r>
              <a:rPr lang="en-US" altLang="en-US" sz="1700" dirty="0"/>
              <a:t>(5),</a:t>
            </a:r>
            <a:br>
              <a:rPr lang="en-US" altLang="en-US" sz="1700" dirty="0"/>
            </a:br>
            <a:r>
              <a:rPr lang="en-US" altLang="en-US" sz="1700" dirty="0"/>
              <a:t>               </a:t>
            </a:r>
            <a:r>
              <a:rPr lang="en-US" altLang="en-US" sz="1700" i="1" dirty="0"/>
              <a:t>name           </a:t>
            </a:r>
            <a:r>
              <a:rPr lang="en-US" altLang="en-US" sz="1700" b="1" dirty="0"/>
              <a:t>varchar</a:t>
            </a:r>
            <a:r>
              <a:rPr lang="en-US" altLang="en-US" sz="1700" dirty="0"/>
              <a:t>(20) </a:t>
            </a:r>
            <a:r>
              <a:rPr lang="en-US" altLang="en-US" sz="1700" b="1" dirty="0"/>
              <a:t>not null,</a:t>
            </a:r>
            <a:r>
              <a:rPr lang="en-US" altLang="en-US" sz="1700" b="1" i="1" dirty="0"/>
              <a:t/>
            </a:r>
            <a:br>
              <a:rPr lang="en-US" altLang="en-US" sz="1700" b="1" i="1" dirty="0"/>
            </a:br>
            <a:r>
              <a:rPr lang="en-US" altLang="en-US" sz="1700" b="1" i="1" dirty="0"/>
              <a:t>               </a:t>
            </a:r>
            <a:r>
              <a:rPr lang="en-US" altLang="en-US" sz="1700" i="1" dirty="0"/>
              <a:t>dept_name  </a:t>
            </a:r>
            <a:r>
              <a:rPr lang="en-US" altLang="en-US" sz="1700" b="1" dirty="0"/>
              <a:t>varchar</a:t>
            </a:r>
            <a:r>
              <a:rPr lang="en-US" altLang="en-US" sz="1700" dirty="0"/>
              <a:t>(20),</a:t>
            </a:r>
            <a:br>
              <a:rPr lang="en-US" altLang="en-US" sz="1700" dirty="0"/>
            </a:br>
            <a:r>
              <a:rPr lang="en-US" altLang="en-US" sz="1700" dirty="0"/>
              <a:t>               </a:t>
            </a:r>
            <a:r>
              <a:rPr lang="en-US" altLang="en-US" sz="1700" i="1" dirty="0"/>
              <a:t>salary</a:t>
            </a:r>
            <a:r>
              <a:rPr lang="en-US" altLang="en-US" sz="1700" dirty="0"/>
              <a:t>           </a:t>
            </a:r>
            <a:r>
              <a:rPr lang="en-US" altLang="en-US" sz="1700" b="1" dirty="0"/>
              <a:t>numeric</a:t>
            </a:r>
            <a:r>
              <a:rPr lang="en-US" altLang="en-US" sz="1700" dirty="0"/>
              <a:t>(8,2),</a:t>
            </a:r>
            <a:br>
              <a:rPr lang="en-US" altLang="en-US" sz="1700" dirty="0"/>
            </a:br>
            <a:r>
              <a:rPr lang="en-US" altLang="en-US" sz="1700" dirty="0"/>
              <a:t>               </a:t>
            </a:r>
            <a:r>
              <a:rPr lang="en-US" altLang="en-US" sz="1700" b="1" dirty="0"/>
              <a:t>primary key </a:t>
            </a:r>
            <a:r>
              <a:rPr lang="en-US" altLang="en-US" sz="1700" dirty="0"/>
              <a:t>(</a:t>
            </a:r>
            <a:r>
              <a:rPr lang="en-US" altLang="en-US" sz="1700" i="1" dirty="0"/>
              <a:t>ID</a:t>
            </a:r>
            <a:r>
              <a:rPr lang="en-US" altLang="en-US" sz="1700" dirty="0"/>
              <a:t>),</a:t>
            </a:r>
            <a:br>
              <a:rPr lang="en-US" altLang="en-US" sz="1700" dirty="0"/>
            </a:br>
            <a:r>
              <a:rPr lang="en-US" altLang="en-US" sz="1700" dirty="0"/>
              <a:t>               </a:t>
            </a:r>
            <a:r>
              <a:rPr lang="en-US" altLang="en-US" sz="1700" b="1" dirty="0"/>
              <a:t>foreign key </a:t>
            </a:r>
            <a:r>
              <a:rPr lang="en-US" altLang="en-US" sz="1700" i="1" dirty="0"/>
              <a:t>(dept_name</a:t>
            </a:r>
            <a:r>
              <a:rPr lang="en-US" altLang="en-US" sz="1700" dirty="0"/>
              <a:t>) </a:t>
            </a:r>
            <a:r>
              <a:rPr lang="en-US" altLang="en-US" sz="1700" b="1" dirty="0"/>
              <a:t>references </a:t>
            </a:r>
            <a:r>
              <a:rPr lang="en-US" altLang="en-US" sz="1700" i="1" dirty="0"/>
              <a:t>department);</a:t>
            </a:r>
          </a:p>
          <a:p>
            <a:pPr>
              <a:buNone/>
            </a:pPr>
            <a:endParaRPr lang="en-US" altLang="en-US" b="1"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r>
              <a:rPr lang="en-US" altLang="en-US" sz="2800" dirty="0"/>
              <a:t>And a Few More Relation Definitions</a:t>
            </a:r>
          </a:p>
        </p:txBody>
      </p:sp>
      <p:sp>
        <p:nvSpPr>
          <p:cNvPr id="11266" name="AutoShape 3"/>
          <p:cNvSpPr>
            <a:spLocks noGrp="1" noChangeAspect="1" noChangeArrowheads="1"/>
          </p:cNvSpPr>
          <p:nvPr>
            <p:ph type="body" idx="1"/>
          </p:nvPr>
        </p:nvSpPr>
        <p:spPr>
          <a:xfrm>
            <a:off x="768350" y="1083076"/>
            <a:ext cx="7754213" cy="4643021"/>
          </a:xfrm>
        </p:spPr>
        <p:txBody>
          <a:bodyPr/>
          <a:lstStyle/>
          <a:p>
            <a:pPr>
              <a:lnSpc>
                <a:spcPct val="90000"/>
              </a:lnSpc>
              <a:spcBef>
                <a:spcPct val="0"/>
              </a:spcBef>
            </a:pPr>
            <a:r>
              <a:rPr lang="en-US" altLang="en-US" sz="1700" b="1" dirty="0"/>
              <a:t>create table</a:t>
            </a:r>
            <a:r>
              <a:rPr lang="en-US" altLang="en-US" sz="1700" dirty="0"/>
              <a:t> </a:t>
            </a:r>
            <a:r>
              <a:rPr lang="en-US" altLang="en-US" sz="1700" i="1" dirty="0"/>
              <a:t>student</a:t>
            </a:r>
            <a:r>
              <a:rPr lang="en-US" altLang="en-US" sz="1700" dirty="0"/>
              <a:t> (</a:t>
            </a:r>
            <a:br>
              <a:rPr lang="en-US" altLang="en-US" sz="1700" dirty="0"/>
            </a:br>
            <a:r>
              <a:rPr lang="en-US" altLang="en-US" sz="1700" dirty="0"/>
              <a:t>        </a:t>
            </a:r>
            <a:r>
              <a:rPr lang="en-US" altLang="en-US" sz="1700" i="1" dirty="0"/>
              <a:t>ID</a:t>
            </a:r>
            <a:r>
              <a:rPr lang="en-US" altLang="en-US" sz="1700" dirty="0"/>
              <a:t>                    </a:t>
            </a:r>
            <a:r>
              <a:rPr lang="en-US" altLang="en-US" sz="1700" b="1" dirty="0" err="1"/>
              <a:t>varchar</a:t>
            </a:r>
            <a:r>
              <a:rPr lang="en-US" altLang="en-US" sz="1700" dirty="0"/>
              <a:t>(5),</a:t>
            </a:r>
            <a:br>
              <a:rPr lang="en-US" altLang="en-US" sz="1700" dirty="0"/>
            </a:br>
            <a:r>
              <a:rPr lang="en-US" altLang="en-US" sz="1700" dirty="0"/>
              <a:t>        </a:t>
            </a:r>
            <a:r>
              <a:rPr lang="en-US" altLang="en-US" sz="1700" i="1" dirty="0"/>
              <a:t>name</a:t>
            </a:r>
            <a:r>
              <a:rPr lang="en-US" altLang="en-US" sz="1700" dirty="0"/>
              <a:t>               </a:t>
            </a:r>
            <a:r>
              <a:rPr lang="en-US" altLang="en-US" sz="1700" b="1" dirty="0" err="1"/>
              <a:t>varchar</a:t>
            </a:r>
            <a:r>
              <a:rPr lang="en-US" altLang="en-US" sz="1700" dirty="0"/>
              <a:t>(20) not null,</a:t>
            </a:r>
            <a:br>
              <a:rPr lang="en-US" altLang="en-US" sz="1700" dirty="0"/>
            </a:br>
            <a:r>
              <a:rPr lang="en-US" altLang="en-US" sz="1700" dirty="0"/>
              <a:t>        </a:t>
            </a:r>
            <a:r>
              <a:rPr lang="en-US" altLang="en-US" sz="1700" i="1" dirty="0"/>
              <a:t>dept_name</a:t>
            </a:r>
            <a:r>
              <a:rPr lang="en-US" altLang="en-US" sz="1700" dirty="0"/>
              <a:t>      </a:t>
            </a:r>
            <a:r>
              <a:rPr lang="en-US" altLang="en-US" sz="1700" b="1" dirty="0" err="1"/>
              <a:t>varchar</a:t>
            </a:r>
            <a:r>
              <a:rPr lang="en-US" altLang="en-US" sz="1700" dirty="0"/>
              <a:t>(20),</a:t>
            </a:r>
            <a:br>
              <a:rPr lang="en-US" altLang="en-US" sz="1700" dirty="0"/>
            </a:br>
            <a:r>
              <a:rPr lang="en-US" altLang="en-US" sz="1700" dirty="0"/>
              <a:t>        </a:t>
            </a:r>
            <a:r>
              <a:rPr lang="en-US" altLang="en-US" sz="1700" i="1" dirty="0" err="1"/>
              <a:t>tot_cred</a:t>
            </a:r>
            <a:r>
              <a:rPr lang="en-US" altLang="en-US" sz="1700" dirty="0"/>
              <a:t>           </a:t>
            </a:r>
            <a:r>
              <a:rPr lang="en-US" altLang="en-US" sz="1700" b="1" dirty="0"/>
              <a:t>numeric</a:t>
            </a:r>
            <a:r>
              <a:rPr lang="en-US" altLang="en-US" sz="1700" dirty="0"/>
              <a:t>(3,0),</a:t>
            </a:r>
            <a:br>
              <a:rPr lang="en-US" altLang="en-US" sz="1700" dirty="0"/>
            </a:br>
            <a:r>
              <a:rPr lang="en-US" altLang="en-US" sz="1700" dirty="0"/>
              <a:t>        </a:t>
            </a:r>
            <a:r>
              <a:rPr lang="en-US" altLang="en-US" sz="1700" b="1" dirty="0"/>
              <a:t>primary key </a:t>
            </a:r>
            <a:r>
              <a:rPr lang="en-US" altLang="en-US" sz="1700" i="1" dirty="0"/>
              <a:t>(ID),</a:t>
            </a:r>
          </a:p>
          <a:p>
            <a:pPr>
              <a:lnSpc>
                <a:spcPct val="90000"/>
              </a:lnSpc>
              <a:spcBef>
                <a:spcPct val="0"/>
              </a:spcBef>
              <a:buFont typeface="Monotype Sorts" charset="2"/>
              <a:buNone/>
            </a:pPr>
            <a:r>
              <a:rPr lang="en-US" altLang="en-US" sz="1700" b="1" dirty="0"/>
              <a:t>             foreign key </a:t>
            </a:r>
            <a:r>
              <a:rPr lang="en-US" altLang="en-US" sz="1700" i="1" dirty="0"/>
              <a:t>(dept_name</a:t>
            </a:r>
            <a:r>
              <a:rPr lang="en-US" altLang="en-US" sz="1700" dirty="0"/>
              <a:t>) </a:t>
            </a:r>
            <a:r>
              <a:rPr lang="en-US" altLang="en-US" sz="1700" b="1" dirty="0"/>
              <a:t>references </a:t>
            </a:r>
            <a:r>
              <a:rPr lang="en-US" altLang="en-US" sz="1700" i="1" dirty="0"/>
              <a:t>department</a:t>
            </a:r>
            <a:r>
              <a:rPr lang="en-US" altLang="en-US" sz="1700" dirty="0"/>
              <a:t>);</a:t>
            </a:r>
          </a:p>
          <a:p>
            <a:pPr>
              <a:lnSpc>
                <a:spcPct val="90000"/>
              </a:lnSpc>
              <a:buFont typeface="Monotype Sorts" charset="2"/>
              <a:buNone/>
            </a:pPr>
            <a:endParaRPr lang="en-US" altLang="en-US" sz="1700" dirty="0"/>
          </a:p>
          <a:p>
            <a:pPr>
              <a:lnSpc>
                <a:spcPct val="90000"/>
              </a:lnSpc>
              <a:spcBef>
                <a:spcPct val="0"/>
              </a:spcBef>
            </a:pPr>
            <a:r>
              <a:rPr lang="en-US" altLang="en-US" sz="1700" b="1" dirty="0"/>
              <a:t>create table</a:t>
            </a:r>
            <a:r>
              <a:rPr lang="en-US" altLang="en-US" sz="1700" dirty="0"/>
              <a:t> </a:t>
            </a:r>
            <a:r>
              <a:rPr lang="en-US" altLang="en-US" sz="1700" i="1" dirty="0"/>
              <a:t>takes</a:t>
            </a:r>
            <a:r>
              <a:rPr lang="en-US" altLang="en-US" sz="1700" dirty="0"/>
              <a:t> (</a:t>
            </a:r>
            <a:br>
              <a:rPr lang="en-US" altLang="en-US" sz="1700" dirty="0"/>
            </a:br>
            <a:r>
              <a:rPr lang="en-US" altLang="en-US" sz="1700" dirty="0"/>
              <a:t>        </a:t>
            </a:r>
            <a:r>
              <a:rPr lang="en-US" altLang="en-US" sz="1700" i="1" dirty="0"/>
              <a:t>ID</a:t>
            </a:r>
            <a:r>
              <a:rPr lang="en-US" altLang="en-US" sz="1700" dirty="0"/>
              <a:t>                   </a:t>
            </a:r>
            <a:r>
              <a:rPr lang="en-US" altLang="en-US" sz="1700" b="1" dirty="0" err="1"/>
              <a:t>varchar</a:t>
            </a:r>
            <a:r>
              <a:rPr lang="en-US" altLang="en-US" sz="1700" dirty="0"/>
              <a:t>(5),</a:t>
            </a:r>
            <a:br>
              <a:rPr lang="en-US" altLang="en-US" sz="1700" dirty="0"/>
            </a:br>
            <a:r>
              <a:rPr lang="en-US" altLang="en-US" sz="1700" dirty="0"/>
              <a:t>        </a:t>
            </a:r>
            <a:r>
              <a:rPr lang="en-US" altLang="en-US" sz="1700" i="1" dirty="0" err="1"/>
              <a:t>course_id</a:t>
            </a:r>
            <a:r>
              <a:rPr lang="en-US" altLang="en-US" sz="1700" dirty="0"/>
              <a:t>       </a:t>
            </a:r>
            <a:r>
              <a:rPr lang="en-US" altLang="en-US" sz="1700" b="1" dirty="0" err="1"/>
              <a:t>varchar</a:t>
            </a:r>
            <a:r>
              <a:rPr lang="en-US" altLang="en-US" sz="1700" dirty="0"/>
              <a:t>(8),</a:t>
            </a:r>
            <a:br>
              <a:rPr lang="en-US" altLang="en-US" sz="1700" dirty="0"/>
            </a:br>
            <a:r>
              <a:rPr lang="en-US" altLang="en-US" sz="1700" dirty="0"/>
              <a:t>        </a:t>
            </a:r>
            <a:r>
              <a:rPr lang="en-US" altLang="en-US" sz="1700" i="1" dirty="0" err="1"/>
              <a:t>sec_id</a:t>
            </a:r>
            <a:r>
              <a:rPr lang="en-US" altLang="en-US" sz="1700" dirty="0"/>
              <a:t>            </a:t>
            </a:r>
            <a:r>
              <a:rPr lang="en-US" altLang="en-US" sz="1700" b="1" dirty="0" err="1"/>
              <a:t>varchar</a:t>
            </a:r>
            <a:r>
              <a:rPr lang="en-US" altLang="en-US" sz="1700" dirty="0"/>
              <a:t>(8),</a:t>
            </a:r>
            <a:br>
              <a:rPr lang="en-US" altLang="en-US" sz="1700" dirty="0"/>
            </a:br>
            <a:r>
              <a:rPr lang="en-US" altLang="en-US" sz="1700" dirty="0"/>
              <a:t>        </a:t>
            </a:r>
            <a:r>
              <a:rPr lang="en-US" altLang="en-US" sz="1700" i="1" dirty="0"/>
              <a:t>semester</a:t>
            </a:r>
            <a:r>
              <a:rPr lang="en-US" altLang="en-US" sz="1700" dirty="0"/>
              <a:t>        </a:t>
            </a:r>
            <a:r>
              <a:rPr lang="en-US" altLang="en-US" sz="1700" b="1" dirty="0" err="1"/>
              <a:t>varchar</a:t>
            </a:r>
            <a:r>
              <a:rPr lang="en-US" altLang="en-US" sz="1700" dirty="0"/>
              <a:t>(6),</a:t>
            </a:r>
            <a:br>
              <a:rPr lang="en-US" altLang="en-US" sz="1700" dirty="0"/>
            </a:br>
            <a:r>
              <a:rPr lang="en-US" altLang="en-US" sz="1700" dirty="0"/>
              <a:t>        </a:t>
            </a:r>
            <a:r>
              <a:rPr lang="en-US" altLang="en-US" sz="1700" i="1" dirty="0"/>
              <a:t>year</a:t>
            </a:r>
            <a:r>
              <a:rPr lang="en-US" altLang="en-US" sz="1700" dirty="0"/>
              <a:t>                </a:t>
            </a:r>
            <a:r>
              <a:rPr lang="en-US" altLang="en-US" sz="1700" b="1" dirty="0"/>
              <a:t>numeric</a:t>
            </a:r>
            <a:r>
              <a:rPr lang="en-US" altLang="en-US" sz="1700" dirty="0"/>
              <a:t>(4,0),</a:t>
            </a:r>
            <a:br>
              <a:rPr lang="en-US" altLang="en-US" sz="1700" dirty="0"/>
            </a:br>
            <a:r>
              <a:rPr lang="en-US" altLang="en-US" sz="1700" dirty="0"/>
              <a:t>        </a:t>
            </a:r>
            <a:r>
              <a:rPr lang="en-US" altLang="en-US" sz="1700" i="1" dirty="0"/>
              <a:t>grade</a:t>
            </a:r>
            <a:r>
              <a:rPr lang="en-US" altLang="en-US" sz="1700" dirty="0"/>
              <a:t>              </a:t>
            </a:r>
            <a:r>
              <a:rPr lang="en-US" altLang="en-US" sz="1700" b="1" dirty="0" err="1"/>
              <a:t>varchar</a:t>
            </a:r>
            <a:r>
              <a:rPr lang="en-US" altLang="en-US" sz="1700" dirty="0"/>
              <a:t>(2), </a:t>
            </a:r>
          </a:p>
          <a:p>
            <a:pPr>
              <a:lnSpc>
                <a:spcPct val="90000"/>
              </a:lnSpc>
              <a:spcBef>
                <a:spcPct val="0"/>
              </a:spcBef>
              <a:buFont typeface="Monotype Sorts" charset="2"/>
              <a:buNone/>
            </a:pPr>
            <a:r>
              <a:rPr lang="en-US" altLang="en-US" sz="1700" b="1" dirty="0"/>
              <a:t>              primary key </a:t>
            </a:r>
            <a:r>
              <a:rPr lang="en-US" altLang="en-US" sz="1700" i="1" dirty="0"/>
              <a:t>(ID, </a:t>
            </a:r>
            <a:r>
              <a:rPr lang="en-US" altLang="en-US" sz="1700" i="1" dirty="0" err="1"/>
              <a:t>course_id</a:t>
            </a:r>
            <a:r>
              <a:rPr lang="en-US" altLang="en-US" sz="1700" i="1" dirty="0"/>
              <a:t>, </a:t>
            </a:r>
            <a:r>
              <a:rPr lang="en-US" altLang="en-US" sz="1700" i="1" dirty="0" err="1"/>
              <a:t>sec_id</a:t>
            </a:r>
            <a:r>
              <a:rPr lang="en-US" altLang="en-US" sz="1700" i="1" dirty="0"/>
              <a:t>, semester, year)</a:t>
            </a:r>
            <a:r>
              <a:rPr lang="en-US" altLang="en-US" sz="1700" dirty="0"/>
              <a:t> ,</a:t>
            </a:r>
          </a:p>
          <a:p>
            <a:pPr>
              <a:lnSpc>
                <a:spcPct val="90000"/>
              </a:lnSpc>
              <a:spcBef>
                <a:spcPct val="0"/>
              </a:spcBef>
              <a:buFont typeface="Monotype Sorts" charset="2"/>
              <a:buNone/>
            </a:pPr>
            <a:r>
              <a:rPr lang="en-US" altLang="en-US" sz="1700" b="1" dirty="0"/>
              <a:t>              foreign key </a:t>
            </a:r>
            <a:r>
              <a:rPr lang="en-US" altLang="en-US" sz="1700" dirty="0"/>
              <a:t>(</a:t>
            </a:r>
            <a:r>
              <a:rPr lang="en-US" altLang="en-US" sz="1700" i="1" dirty="0"/>
              <a:t>ID</a:t>
            </a:r>
            <a:r>
              <a:rPr lang="en-US" altLang="en-US" sz="1700" dirty="0"/>
              <a:t>) </a:t>
            </a:r>
            <a:r>
              <a:rPr lang="en-US" altLang="en-US" sz="1700" b="1" dirty="0"/>
              <a:t>references </a:t>
            </a:r>
            <a:r>
              <a:rPr lang="en-US" altLang="en-US" sz="1700" b="1" i="1" dirty="0"/>
              <a:t> </a:t>
            </a:r>
            <a:r>
              <a:rPr lang="en-US" altLang="en-US" sz="1700" i="1" dirty="0"/>
              <a:t>student,</a:t>
            </a:r>
            <a:r>
              <a:rPr lang="en-US" altLang="en-US" sz="1700" dirty="0"/>
              <a:t/>
            </a:r>
            <a:br>
              <a:rPr lang="en-US" altLang="en-US" sz="1700" dirty="0"/>
            </a:br>
            <a:r>
              <a:rPr lang="en-US" altLang="en-US" sz="1700" dirty="0"/>
              <a:t>        </a:t>
            </a:r>
            <a:r>
              <a:rPr lang="en-US" altLang="en-US" sz="1700" b="1" dirty="0"/>
              <a:t>foreign key </a:t>
            </a:r>
            <a:r>
              <a:rPr lang="en-US" altLang="en-US" sz="1700" dirty="0"/>
              <a:t>(</a:t>
            </a:r>
            <a:r>
              <a:rPr lang="en-US" altLang="en-US" sz="1700" i="1" dirty="0" err="1"/>
              <a:t>course_id</a:t>
            </a:r>
            <a:r>
              <a:rPr lang="en-US" altLang="en-US" sz="1700" i="1" dirty="0"/>
              <a:t>, </a:t>
            </a:r>
            <a:r>
              <a:rPr lang="en-US" altLang="en-US" sz="1700" i="1" dirty="0" err="1"/>
              <a:t>sec_id</a:t>
            </a:r>
            <a:r>
              <a:rPr lang="en-US" altLang="en-US" sz="1700" i="1" dirty="0"/>
              <a:t>, semester, year</a:t>
            </a:r>
            <a:r>
              <a:rPr lang="en-US" altLang="en-US" sz="1700" dirty="0"/>
              <a:t>) </a:t>
            </a:r>
            <a:r>
              <a:rPr lang="en-US" altLang="en-US" sz="1700" b="1" dirty="0"/>
              <a:t>references </a:t>
            </a:r>
            <a:r>
              <a:rPr lang="en-US" altLang="en-US" sz="1700" i="1" dirty="0"/>
              <a:t>section</a:t>
            </a:r>
            <a:r>
              <a:rPr lang="en-US" altLang="en-US" sz="1700" dirty="0"/>
              <a:t>);</a:t>
            </a:r>
          </a:p>
          <a:p>
            <a:pPr>
              <a:lnSpc>
                <a:spcPct val="90000"/>
              </a:lnSpc>
              <a:buNone/>
            </a:pPr>
            <a:endParaRPr lang="en-US"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p:txBody>
          <a:bodyPr/>
          <a:lstStyle/>
          <a:p>
            <a:r>
              <a:rPr lang="en-US" altLang="en-US" sz="2800" dirty="0"/>
              <a:t>And more still</a:t>
            </a:r>
          </a:p>
        </p:txBody>
      </p:sp>
      <p:sp>
        <p:nvSpPr>
          <p:cNvPr id="12290" name="Rectangle 3"/>
          <p:cNvSpPr>
            <a:spLocks noGrp="1" noChangeArrowheads="1"/>
          </p:cNvSpPr>
          <p:nvPr>
            <p:ph type="body" idx="1"/>
          </p:nvPr>
        </p:nvSpPr>
        <p:spPr>
          <a:xfrm>
            <a:off x="768350" y="1118173"/>
            <a:ext cx="7107682" cy="3709860"/>
          </a:xfrm>
        </p:spPr>
        <p:txBody>
          <a:bodyPr/>
          <a:lstStyle/>
          <a:p>
            <a:r>
              <a:rPr lang="en-US" altLang="en-US" sz="1700" b="1" dirty="0"/>
              <a:t>create table</a:t>
            </a:r>
            <a:r>
              <a:rPr lang="en-US" altLang="en-US" sz="1700" dirty="0"/>
              <a:t> </a:t>
            </a:r>
            <a:r>
              <a:rPr lang="en-US" altLang="en-US" sz="1700" i="1" dirty="0"/>
              <a:t>course</a:t>
            </a:r>
            <a:r>
              <a:rPr lang="en-US" altLang="en-US" sz="1700" dirty="0"/>
              <a:t> (</a:t>
            </a:r>
            <a:br>
              <a:rPr lang="en-US" altLang="en-US" sz="1700" dirty="0"/>
            </a:br>
            <a:r>
              <a:rPr lang="en-US" altLang="en-US" sz="1700" dirty="0"/>
              <a:t>        </a:t>
            </a:r>
            <a:r>
              <a:rPr lang="en-US" altLang="en-US" sz="1700" i="1" dirty="0" err="1"/>
              <a:t>course_id</a:t>
            </a:r>
            <a:r>
              <a:rPr lang="en-US" altLang="en-US" sz="1700" dirty="0"/>
              <a:t>        </a:t>
            </a:r>
            <a:r>
              <a:rPr lang="en-US" altLang="en-US" sz="1700" b="1" dirty="0" err="1"/>
              <a:t>varchar</a:t>
            </a:r>
            <a:r>
              <a:rPr lang="en-US" altLang="en-US" sz="1700" dirty="0"/>
              <a:t>(8),</a:t>
            </a:r>
            <a:br>
              <a:rPr lang="en-US" altLang="en-US" sz="1700" dirty="0"/>
            </a:br>
            <a:r>
              <a:rPr lang="en-US" altLang="en-US" sz="1700" dirty="0"/>
              <a:t>        </a:t>
            </a:r>
            <a:r>
              <a:rPr lang="en-US" altLang="en-US" sz="1700" i="1" dirty="0"/>
              <a:t>title</a:t>
            </a:r>
            <a:r>
              <a:rPr lang="en-US" altLang="en-US" sz="1700" dirty="0"/>
              <a:t>                  </a:t>
            </a:r>
            <a:r>
              <a:rPr lang="en-US" altLang="en-US" sz="1700" b="1" dirty="0" err="1"/>
              <a:t>varchar</a:t>
            </a:r>
            <a:r>
              <a:rPr lang="en-US" altLang="en-US" sz="1700" b="1" dirty="0"/>
              <a:t>(</a:t>
            </a:r>
            <a:r>
              <a:rPr lang="en-US" altLang="en-US" sz="1700" dirty="0"/>
              <a:t>50),</a:t>
            </a:r>
            <a:br>
              <a:rPr lang="en-US" altLang="en-US" sz="1700" dirty="0"/>
            </a:br>
            <a:r>
              <a:rPr lang="en-US" altLang="en-US" sz="1700" dirty="0"/>
              <a:t>        </a:t>
            </a:r>
            <a:r>
              <a:rPr lang="en-US" altLang="en-US" sz="1700" i="1" dirty="0"/>
              <a:t>dept_name</a:t>
            </a:r>
            <a:r>
              <a:rPr lang="en-US" altLang="en-US" sz="1700" dirty="0"/>
              <a:t>      </a:t>
            </a:r>
            <a:r>
              <a:rPr lang="en-US" altLang="en-US" sz="1700" b="1" dirty="0" err="1"/>
              <a:t>varchar</a:t>
            </a:r>
            <a:r>
              <a:rPr lang="en-US" altLang="en-US" sz="1700" dirty="0"/>
              <a:t>(20),</a:t>
            </a:r>
            <a:br>
              <a:rPr lang="en-US" altLang="en-US" sz="1700" dirty="0"/>
            </a:br>
            <a:r>
              <a:rPr lang="en-US" altLang="en-US" sz="1700" dirty="0"/>
              <a:t>        </a:t>
            </a:r>
            <a:r>
              <a:rPr lang="en-US" altLang="en-US" sz="1700" i="1" dirty="0"/>
              <a:t>credits</a:t>
            </a:r>
            <a:r>
              <a:rPr lang="en-US" altLang="en-US" sz="1700" dirty="0"/>
              <a:t>             </a:t>
            </a:r>
            <a:r>
              <a:rPr lang="en-US" altLang="en-US" sz="1700" b="1" dirty="0"/>
              <a:t>numeric</a:t>
            </a:r>
            <a:r>
              <a:rPr lang="en-US" altLang="en-US" sz="1700" dirty="0"/>
              <a:t>(2,0),</a:t>
            </a:r>
          </a:p>
          <a:p>
            <a:pPr>
              <a:spcBef>
                <a:spcPct val="0"/>
              </a:spcBef>
              <a:buFont typeface="Monotype Sorts" charset="2"/>
              <a:buNone/>
            </a:pPr>
            <a:r>
              <a:rPr lang="en-US" altLang="en-US" sz="1700" dirty="0"/>
              <a:t>             </a:t>
            </a:r>
            <a:r>
              <a:rPr lang="en-US" altLang="en-US" sz="1700" b="1" dirty="0"/>
              <a:t>primary key </a:t>
            </a:r>
            <a:r>
              <a:rPr lang="en-US" altLang="en-US" sz="1700" i="1" dirty="0"/>
              <a:t>(</a:t>
            </a:r>
            <a:r>
              <a:rPr lang="en-US" altLang="en-US" sz="1700" i="1" dirty="0" err="1"/>
              <a:t>course_id</a:t>
            </a:r>
            <a:r>
              <a:rPr lang="en-US" altLang="en-US" sz="1700" i="1" dirty="0"/>
              <a:t>),</a:t>
            </a:r>
          </a:p>
          <a:p>
            <a:pPr>
              <a:spcBef>
                <a:spcPct val="0"/>
              </a:spcBef>
              <a:buFont typeface="Monotype Sorts" charset="2"/>
              <a:buNone/>
            </a:pPr>
            <a:r>
              <a:rPr lang="en-US" altLang="en-US" sz="1700" b="1" dirty="0"/>
              <a:t>     </a:t>
            </a:r>
            <a:r>
              <a:rPr lang="en-US" altLang="en-US" sz="1700" dirty="0"/>
              <a:t>        </a:t>
            </a:r>
            <a:r>
              <a:rPr lang="en-US" altLang="en-US" sz="1700" b="1" dirty="0"/>
              <a:t>foreign key </a:t>
            </a:r>
            <a:r>
              <a:rPr lang="en-US" altLang="en-US" sz="1700" i="1" dirty="0"/>
              <a:t>(dept_name</a:t>
            </a:r>
            <a:r>
              <a:rPr lang="en-US" altLang="en-US" sz="1700" dirty="0"/>
              <a:t>) </a:t>
            </a:r>
            <a:r>
              <a:rPr lang="en-US" altLang="en-US" sz="1700" b="1" dirty="0"/>
              <a:t>references </a:t>
            </a:r>
            <a:r>
              <a:rPr lang="en-US" altLang="en-US" sz="1700" i="1" dirty="0"/>
              <a:t>department</a:t>
            </a:r>
            <a:r>
              <a:rPr lang="en-US" altLang="en-US" sz="1700" dirty="0"/>
              <a:t>);</a:t>
            </a:r>
          </a:p>
          <a:p>
            <a:endParaRPr lang="en-US" altLang="en-US" sz="17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8626" name="Rectangle 2"/>
          <p:cNvSpPr>
            <a:spLocks noGrp="1" noChangeArrowheads="1"/>
          </p:cNvSpPr>
          <p:nvPr>
            <p:ph type="title"/>
          </p:nvPr>
        </p:nvSpPr>
        <p:spPr/>
        <p:txBody>
          <a:bodyPr/>
          <a:lstStyle/>
          <a:p>
            <a:r>
              <a:rPr lang="en-US" altLang="en-US" sz="2800" dirty="0"/>
              <a:t>Updates to tables</a:t>
            </a:r>
          </a:p>
        </p:txBody>
      </p:sp>
      <p:sp>
        <p:nvSpPr>
          <p:cNvPr id="13314" name="Rectangle 3"/>
          <p:cNvSpPr>
            <a:spLocks noGrp="1" noChangeArrowheads="1"/>
          </p:cNvSpPr>
          <p:nvPr>
            <p:ph type="body" idx="1"/>
          </p:nvPr>
        </p:nvSpPr>
        <p:spPr>
          <a:xfrm>
            <a:off x="768350" y="1083310"/>
            <a:ext cx="7709825" cy="5159375"/>
          </a:xfrm>
        </p:spPr>
        <p:txBody>
          <a:bodyPr/>
          <a:lstStyle/>
          <a:p>
            <a:pPr>
              <a:lnSpc>
                <a:spcPct val="90000"/>
              </a:lnSpc>
              <a:tabLst>
                <a:tab pos="2232025" algn="l"/>
              </a:tabLst>
            </a:pPr>
            <a:r>
              <a:rPr lang="en-US" altLang="en-US" sz="1700" b="1" dirty="0">
                <a:solidFill>
                  <a:srgbClr val="002060"/>
                </a:solidFill>
              </a:rPr>
              <a:t>Insert </a:t>
            </a:r>
            <a:r>
              <a:rPr lang="en-US" altLang="en-US" sz="1700" b="1" dirty="0">
                <a:solidFill>
                  <a:srgbClr val="000099"/>
                </a:solidFill>
              </a:rPr>
              <a:t> </a:t>
            </a:r>
            <a:endParaRPr lang="en-US" altLang="en-US" sz="1700" dirty="0"/>
          </a:p>
          <a:p>
            <a:pPr lvl="1">
              <a:lnSpc>
                <a:spcPct val="90000"/>
              </a:lnSpc>
              <a:tabLst>
                <a:tab pos="2232025" algn="l"/>
              </a:tabLst>
            </a:pPr>
            <a:r>
              <a:rPr lang="en-US" altLang="en-US" sz="1700" b="1" dirty="0"/>
              <a:t>insert into </a:t>
            </a:r>
            <a:r>
              <a:rPr lang="en-US" altLang="en-US" sz="1700" i="1" dirty="0"/>
              <a:t>instructor </a:t>
            </a:r>
            <a:r>
              <a:rPr lang="en-US" altLang="en-US" sz="1700" b="1" dirty="0"/>
              <a:t>values </a:t>
            </a:r>
            <a:r>
              <a:rPr lang="en-US" altLang="en-US" sz="1700" dirty="0"/>
              <a:t>(</a:t>
            </a:r>
            <a:r>
              <a:rPr lang="en-US" altLang="ja-JP" sz="1700" dirty="0"/>
              <a:t>'</a:t>
            </a:r>
            <a:r>
              <a:rPr lang="en-US" altLang="en-US" sz="1700" dirty="0"/>
              <a:t>10211</a:t>
            </a:r>
            <a:r>
              <a:rPr lang="en-US" altLang="ja-JP" sz="1700" dirty="0"/>
              <a:t>'</a:t>
            </a:r>
            <a:r>
              <a:rPr lang="en-US" altLang="en-US" sz="1700" dirty="0"/>
              <a:t>, </a:t>
            </a:r>
            <a:r>
              <a:rPr lang="en-US" altLang="ja-JP" sz="1700" dirty="0"/>
              <a:t>'</a:t>
            </a:r>
            <a:r>
              <a:rPr lang="en-US" altLang="en-US" sz="1700" dirty="0"/>
              <a:t>Smith</a:t>
            </a:r>
            <a:r>
              <a:rPr lang="en-US" altLang="ja-JP" sz="1700" dirty="0"/>
              <a:t>'</a:t>
            </a:r>
            <a:r>
              <a:rPr lang="en-US" altLang="en-US" sz="1700" dirty="0"/>
              <a:t>, </a:t>
            </a:r>
            <a:r>
              <a:rPr lang="en-US" altLang="ja-JP" sz="1700" dirty="0"/>
              <a:t>'</a:t>
            </a:r>
            <a:r>
              <a:rPr lang="en-US" altLang="en-US" sz="1700" dirty="0"/>
              <a:t>Biology</a:t>
            </a:r>
            <a:r>
              <a:rPr lang="en-US" altLang="ja-JP" sz="1700" dirty="0"/>
              <a:t>'</a:t>
            </a:r>
            <a:r>
              <a:rPr lang="en-US" altLang="en-US" sz="1700" dirty="0"/>
              <a:t>, 66000);</a:t>
            </a:r>
          </a:p>
          <a:p>
            <a:pPr>
              <a:lnSpc>
                <a:spcPct val="90000"/>
              </a:lnSpc>
              <a:tabLst>
                <a:tab pos="2232025" algn="l"/>
              </a:tabLst>
            </a:pPr>
            <a:r>
              <a:rPr lang="en-US" altLang="en-US" sz="1700" b="1" dirty="0">
                <a:solidFill>
                  <a:srgbClr val="002060"/>
                </a:solidFill>
              </a:rPr>
              <a:t>Delete</a:t>
            </a:r>
            <a:r>
              <a:rPr lang="en-US" altLang="en-US" sz="1700" b="1" dirty="0">
                <a:solidFill>
                  <a:srgbClr val="000099"/>
                </a:solidFill>
              </a:rPr>
              <a:t> </a:t>
            </a:r>
          </a:p>
          <a:p>
            <a:pPr lvl="1">
              <a:lnSpc>
                <a:spcPct val="90000"/>
              </a:lnSpc>
              <a:tabLst>
                <a:tab pos="2232025" algn="l"/>
              </a:tabLst>
            </a:pPr>
            <a:r>
              <a:rPr lang="en-US" altLang="en-US" sz="1700" b="1" dirty="0">
                <a:solidFill>
                  <a:srgbClr val="000099"/>
                </a:solidFill>
              </a:rPr>
              <a:t> </a:t>
            </a:r>
            <a:r>
              <a:rPr lang="en-US" altLang="en-US" sz="1700" dirty="0"/>
              <a:t>Remove all tuples from the </a:t>
            </a:r>
            <a:r>
              <a:rPr lang="en-US" altLang="en-US" sz="1700" i="1" dirty="0"/>
              <a:t>student</a:t>
            </a:r>
            <a:r>
              <a:rPr lang="en-US" altLang="en-US" sz="1700" dirty="0"/>
              <a:t> relation</a:t>
            </a:r>
          </a:p>
          <a:p>
            <a:pPr lvl="2">
              <a:lnSpc>
                <a:spcPct val="90000"/>
              </a:lnSpc>
              <a:tabLst>
                <a:tab pos="2232025" algn="l"/>
              </a:tabLst>
            </a:pPr>
            <a:r>
              <a:rPr lang="en-US" altLang="en-US" sz="1700" b="1" dirty="0"/>
              <a:t>delete from </a:t>
            </a:r>
            <a:r>
              <a:rPr lang="en-US" altLang="en-US" sz="1700" i="1" dirty="0"/>
              <a:t>student  </a:t>
            </a:r>
          </a:p>
          <a:p>
            <a:pPr>
              <a:lnSpc>
                <a:spcPct val="90000"/>
              </a:lnSpc>
              <a:tabLst>
                <a:tab pos="2232025" algn="l"/>
              </a:tabLst>
            </a:pPr>
            <a:r>
              <a:rPr lang="en-US" altLang="en-US" sz="1700" b="1" dirty="0">
                <a:solidFill>
                  <a:srgbClr val="002060"/>
                </a:solidFill>
              </a:rPr>
              <a:t>Drop Table</a:t>
            </a:r>
          </a:p>
          <a:p>
            <a:pPr lvl="1">
              <a:lnSpc>
                <a:spcPct val="90000"/>
              </a:lnSpc>
              <a:tabLst>
                <a:tab pos="2232025" algn="l"/>
              </a:tabLst>
            </a:pPr>
            <a:r>
              <a:rPr lang="en-US" altLang="en-US" sz="1700" b="1" dirty="0"/>
              <a:t>drop table </a:t>
            </a:r>
            <a:r>
              <a:rPr lang="en-US" altLang="en-US" sz="1700" i="1" dirty="0"/>
              <a:t>r</a:t>
            </a:r>
          </a:p>
          <a:p>
            <a:pPr>
              <a:lnSpc>
                <a:spcPct val="90000"/>
              </a:lnSpc>
              <a:tabLst>
                <a:tab pos="2232025" algn="l"/>
              </a:tabLst>
            </a:pPr>
            <a:r>
              <a:rPr lang="en-US" altLang="en-US" sz="1700" b="1" dirty="0">
                <a:solidFill>
                  <a:srgbClr val="002060"/>
                </a:solidFill>
              </a:rPr>
              <a:t>Alter</a:t>
            </a:r>
            <a:r>
              <a:rPr lang="en-US" altLang="en-US" sz="1700" b="1" dirty="0">
                <a:solidFill>
                  <a:srgbClr val="000099"/>
                </a:solidFill>
              </a:rPr>
              <a:t> </a:t>
            </a:r>
            <a:r>
              <a:rPr lang="en-US" altLang="en-US" sz="1700" dirty="0"/>
              <a:t> </a:t>
            </a:r>
          </a:p>
          <a:p>
            <a:pPr lvl="1">
              <a:lnSpc>
                <a:spcPct val="90000"/>
              </a:lnSpc>
              <a:tabLst>
                <a:tab pos="2232025" algn="l"/>
              </a:tabLst>
            </a:pPr>
            <a:r>
              <a:rPr lang="en-US" altLang="en-US" sz="1700" b="1" dirty="0"/>
              <a:t>alter table </a:t>
            </a:r>
            <a:r>
              <a:rPr lang="en-US" altLang="en-US" sz="1700" i="1" dirty="0"/>
              <a:t>r </a:t>
            </a:r>
            <a:r>
              <a:rPr lang="en-US" altLang="en-US" sz="1700" b="1" dirty="0"/>
              <a:t>add </a:t>
            </a:r>
            <a:r>
              <a:rPr lang="en-US" altLang="en-US" sz="1700" i="1" dirty="0"/>
              <a:t>A D</a:t>
            </a:r>
          </a:p>
          <a:p>
            <a:pPr lvl="2">
              <a:lnSpc>
                <a:spcPct val="90000"/>
              </a:lnSpc>
              <a:tabLst>
                <a:tab pos="2232025" algn="l"/>
              </a:tabLst>
            </a:pPr>
            <a:r>
              <a:rPr lang="en-US" altLang="en-US" sz="1700" i="1" dirty="0"/>
              <a:t> </a:t>
            </a:r>
            <a:r>
              <a:rPr lang="en-US" altLang="en-US" sz="1700" dirty="0"/>
              <a:t>where </a:t>
            </a:r>
            <a:r>
              <a:rPr lang="en-US" altLang="en-US" sz="1700" i="1" dirty="0"/>
              <a:t>A</a:t>
            </a:r>
            <a:r>
              <a:rPr lang="en-US" altLang="en-US" sz="1700" dirty="0"/>
              <a:t> is the name of the attribute to be added to relation </a:t>
            </a:r>
            <a:r>
              <a:rPr lang="en-US" altLang="en-US" sz="1700" i="1" dirty="0"/>
              <a:t>r </a:t>
            </a:r>
            <a:r>
              <a:rPr lang="en-US" altLang="en-US" sz="1700" dirty="0"/>
              <a:t> and </a:t>
            </a:r>
            <a:r>
              <a:rPr lang="en-US" altLang="en-US" sz="1700" i="1" dirty="0"/>
              <a:t>D</a:t>
            </a:r>
            <a:r>
              <a:rPr lang="en-US" altLang="en-US" sz="1700" dirty="0"/>
              <a:t> is the domain of </a:t>
            </a:r>
            <a:r>
              <a:rPr lang="en-US" altLang="en-US" sz="1700" i="1" dirty="0"/>
              <a:t>A.</a:t>
            </a:r>
            <a:endParaRPr lang="en-US" altLang="en-US" sz="1700" dirty="0"/>
          </a:p>
          <a:p>
            <a:pPr lvl="2">
              <a:lnSpc>
                <a:spcPct val="90000"/>
              </a:lnSpc>
              <a:tabLst>
                <a:tab pos="2232025" algn="l"/>
              </a:tabLst>
            </a:pPr>
            <a:r>
              <a:rPr lang="en-US" altLang="en-US" sz="1700" dirty="0"/>
              <a:t>All exiting tuples in the relation are assigned </a:t>
            </a:r>
            <a:r>
              <a:rPr lang="en-US" altLang="en-US" sz="1700" i="1" dirty="0"/>
              <a:t>null</a:t>
            </a:r>
            <a:r>
              <a:rPr lang="en-US" altLang="en-US" sz="1700" dirty="0"/>
              <a:t> as the value for the new attribute.  </a:t>
            </a:r>
          </a:p>
          <a:p>
            <a:pPr lvl="1">
              <a:lnSpc>
                <a:spcPct val="110000"/>
              </a:lnSpc>
              <a:tabLst>
                <a:tab pos="2232025" algn="l"/>
              </a:tabLst>
            </a:pPr>
            <a:r>
              <a:rPr lang="en-US" altLang="en-US" sz="1700" b="1" dirty="0"/>
              <a:t>alter table </a:t>
            </a:r>
            <a:r>
              <a:rPr lang="en-US" altLang="en-US" sz="1700" i="1" dirty="0"/>
              <a:t>r</a:t>
            </a:r>
            <a:r>
              <a:rPr lang="en-US" altLang="en-US" sz="1700" b="1" dirty="0"/>
              <a:t> drop</a:t>
            </a:r>
            <a:r>
              <a:rPr lang="en-US" altLang="en-US" sz="1700" i="1" dirty="0"/>
              <a:t> A     </a:t>
            </a:r>
          </a:p>
          <a:p>
            <a:pPr lvl="2">
              <a:lnSpc>
                <a:spcPct val="110000"/>
              </a:lnSpc>
              <a:tabLst>
                <a:tab pos="2232025" algn="l"/>
              </a:tabLst>
            </a:pPr>
            <a:r>
              <a:rPr lang="en-US" altLang="en-US" sz="1700" dirty="0"/>
              <a:t>where </a:t>
            </a:r>
            <a:r>
              <a:rPr lang="en-US" altLang="en-US" sz="1700" i="1" dirty="0"/>
              <a:t>A</a:t>
            </a:r>
            <a:r>
              <a:rPr lang="en-US" altLang="en-US" sz="1700" dirty="0"/>
              <a:t> is the name of an attribute of relation</a:t>
            </a:r>
            <a:r>
              <a:rPr lang="en-US" altLang="en-US" sz="1700" i="1" dirty="0"/>
              <a:t> r</a:t>
            </a:r>
          </a:p>
          <a:p>
            <a:pPr lvl="2">
              <a:lnSpc>
                <a:spcPct val="90000"/>
              </a:lnSpc>
              <a:tabLst>
                <a:tab pos="2232025" algn="l"/>
              </a:tabLst>
            </a:pPr>
            <a:r>
              <a:rPr lang="en-US" altLang="en-US" sz="1700" dirty="0"/>
              <a:t>Dropping of attributes not supported by many databases.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p:txBody>
          <a:bodyPr lIns="90488" tIns="44450" rIns="90488" bIns="44450" anchor="ctr"/>
          <a:lstStyle/>
          <a:p>
            <a:r>
              <a:rPr lang="en-US" altLang="en-US" sz="2800" dirty="0"/>
              <a:t>Basic Query Structure </a:t>
            </a:r>
          </a:p>
        </p:txBody>
      </p:sp>
      <p:sp>
        <p:nvSpPr>
          <p:cNvPr id="14338" name="Rectangle 3"/>
          <p:cNvSpPr>
            <a:spLocks noGrp="1" noChangeArrowheads="1"/>
          </p:cNvSpPr>
          <p:nvPr>
            <p:ph type="body" idx="1"/>
          </p:nvPr>
        </p:nvSpPr>
        <p:spPr>
          <a:xfrm>
            <a:off x="768351" y="1106488"/>
            <a:ext cx="7133810" cy="4628106"/>
          </a:xfrm>
        </p:spPr>
        <p:txBody>
          <a:bodyPr lIns="90488" tIns="44450" rIns="90488" bIns="44450"/>
          <a:lstStyle/>
          <a:p>
            <a:pPr>
              <a:tabLst>
                <a:tab pos="2055813" algn="l"/>
              </a:tabLst>
            </a:pPr>
            <a:r>
              <a:rPr lang="en-US" altLang="en-US" sz="1700" dirty="0"/>
              <a:t>A typical SQL query has the form:</a:t>
            </a:r>
            <a:br>
              <a:rPr lang="en-US" altLang="en-US" sz="1700" dirty="0"/>
            </a:br>
            <a:r>
              <a:rPr lang="en-US" altLang="en-US" sz="1700" dirty="0"/>
              <a:t/>
            </a:r>
            <a:br>
              <a:rPr lang="en-US" altLang="en-US" sz="1700" dirty="0"/>
            </a:br>
            <a:r>
              <a:rPr lang="en-US" altLang="en-US" sz="1700" dirty="0"/>
              <a:t>	</a:t>
            </a:r>
            <a:r>
              <a:rPr lang="en-US" altLang="en-US" sz="1700" b="1" dirty="0"/>
              <a:t>select </a:t>
            </a:r>
            <a:r>
              <a:rPr lang="en-US" altLang="en-US" sz="1700" i="1" dirty="0"/>
              <a:t>A</a:t>
            </a:r>
            <a:r>
              <a:rPr lang="en-US" altLang="en-US" sz="1700" baseline="-25000" dirty="0"/>
              <a:t>1</a:t>
            </a:r>
            <a:r>
              <a:rPr lang="en-US" altLang="en-US" sz="1700" dirty="0"/>
              <a:t>, </a:t>
            </a:r>
            <a:r>
              <a:rPr lang="en-US" altLang="en-US" sz="1700" i="1" dirty="0"/>
              <a:t>A</a:t>
            </a:r>
            <a:r>
              <a:rPr lang="en-US" altLang="en-US" sz="1700" baseline="-25000" dirty="0"/>
              <a:t>2</a:t>
            </a:r>
            <a:r>
              <a:rPr lang="en-US" altLang="en-US" sz="1700" dirty="0"/>
              <a:t>, ..., </a:t>
            </a:r>
            <a:r>
              <a:rPr lang="en-US" altLang="en-US" sz="1700" i="1" dirty="0"/>
              <a:t>A</a:t>
            </a:r>
            <a:r>
              <a:rPr lang="en-US" altLang="en-US" sz="1700" i="1" baseline="-25000" dirty="0"/>
              <a:t>n</a:t>
            </a:r>
            <a:r>
              <a:rPr lang="en-US" altLang="en-US" sz="1700" dirty="0"/>
              <a:t/>
            </a:r>
            <a:br>
              <a:rPr lang="en-US" altLang="en-US" sz="1700" dirty="0"/>
            </a:br>
            <a:r>
              <a:rPr lang="en-US" altLang="en-US" sz="1700" dirty="0"/>
              <a:t>	</a:t>
            </a:r>
            <a:r>
              <a:rPr lang="en-US" altLang="en-US" sz="1700" b="1" dirty="0"/>
              <a:t>from</a:t>
            </a:r>
            <a:r>
              <a:rPr lang="en-US" altLang="en-US" sz="1700" dirty="0"/>
              <a:t> </a:t>
            </a:r>
            <a:r>
              <a:rPr lang="en-US" altLang="en-US" sz="1700" i="1" dirty="0"/>
              <a:t>r</a:t>
            </a:r>
            <a:r>
              <a:rPr lang="en-US" altLang="en-US" sz="1700" baseline="-25000" dirty="0"/>
              <a:t>1</a:t>
            </a:r>
            <a:r>
              <a:rPr lang="en-US" altLang="en-US" sz="1700" dirty="0"/>
              <a:t>, </a:t>
            </a:r>
            <a:r>
              <a:rPr lang="en-US" altLang="en-US" sz="1700" i="1" dirty="0"/>
              <a:t>r</a:t>
            </a:r>
            <a:r>
              <a:rPr lang="en-US" altLang="en-US" sz="1700" baseline="-25000" dirty="0"/>
              <a:t>2</a:t>
            </a:r>
            <a:r>
              <a:rPr lang="en-US" altLang="en-US" sz="1700" dirty="0"/>
              <a:t>, ..., </a:t>
            </a:r>
            <a:r>
              <a:rPr lang="en-US" altLang="en-US" sz="1700" i="1" dirty="0" err="1"/>
              <a:t>r</a:t>
            </a:r>
            <a:r>
              <a:rPr lang="en-US" altLang="en-US" sz="1700" i="1" baseline="-25000" dirty="0" err="1"/>
              <a:t>m</a:t>
            </a:r>
            <a:r>
              <a:rPr lang="en-US" altLang="en-US" sz="1700" dirty="0"/>
              <a:t/>
            </a:r>
            <a:br>
              <a:rPr lang="en-US" altLang="en-US" sz="1700" dirty="0"/>
            </a:br>
            <a:r>
              <a:rPr lang="en-US" altLang="en-US" sz="1700" dirty="0"/>
              <a:t>	</a:t>
            </a:r>
            <a:r>
              <a:rPr lang="en-US" altLang="en-US" sz="1700" b="1" dirty="0"/>
              <a:t>where </a:t>
            </a:r>
            <a:r>
              <a:rPr lang="en-US" altLang="en-US" sz="1700" i="1" dirty="0"/>
              <a:t>P</a:t>
            </a:r>
            <a:br>
              <a:rPr lang="en-US" altLang="en-US" sz="1700" i="1" dirty="0"/>
            </a:br>
            <a:endParaRPr lang="en-US" altLang="en-US" sz="1700" dirty="0"/>
          </a:p>
          <a:p>
            <a:pPr lvl="1">
              <a:tabLst>
                <a:tab pos="2055813" algn="l"/>
              </a:tabLst>
            </a:pPr>
            <a:r>
              <a:rPr lang="en-US" altLang="en-US" sz="1700" i="1" dirty="0"/>
              <a:t>A</a:t>
            </a:r>
            <a:r>
              <a:rPr lang="en-US" altLang="en-US" sz="1700" i="1" baseline="-25000" dirty="0"/>
              <a:t>i </a:t>
            </a:r>
            <a:r>
              <a:rPr lang="en-US" altLang="en-US" sz="1700" dirty="0"/>
              <a:t>represents an attribute</a:t>
            </a:r>
          </a:p>
          <a:p>
            <a:pPr lvl="1">
              <a:tabLst>
                <a:tab pos="2055813" algn="l"/>
              </a:tabLst>
            </a:pPr>
            <a:r>
              <a:rPr lang="en-US" altLang="en-US" sz="1700" i="1" dirty="0" err="1"/>
              <a:t>R</a:t>
            </a:r>
            <a:r>
              <a:rPr lang="en-US" altLang="en-US" sz="1700" i="1" baseline="-25000" dirty="0" err="1"/>
              <a:t>i</a:t>
            </a:r>
            <a:r>
              <a:rPr lang="en-US" altLang="en-US" sz="1700" i="1" baseline="-25000" dirty="0"/>
              <a:t> </a:t>
            </a:r>
            <a:r>
              <a:rPr lang="en-US" altLang="en-US" sz="1700" dirty="0"/>
              <a:t>represents a relation</a:t>
            </a:r>
          </a:p>
          <a:p>
            <a:pPr lvl="1">
              <a:tabLst>
                <a:tab pos="2055813" algn="l"/>
              </a:tabLst>
            </a:pPr>
            <a:r>
              <a:rPr lang="en-US" altLang="en-US" sz="1700" i="1" dirty="0"/>
              <a:t>P</a:t>
            </a:r>
            <a:r>
              <a:rPr lang="en-US" altLang="en-US" sz="1700" dirty="0"/>
              <a:t> is a predicate.</a:t>
            </a:r>
          </a:p>
          <a:p>
            <a:pPr>
              <a:tabLst>
                <a:tab pos="2055813" algn="l"/>
              </a:tabLst>
            </a:pPr>
            <a:r>
              <a:rPr lang="en-US" altLang="en-US" sz="1700" dirty="0"/>
              <a:t>The result of an SQL query is a relation.</a:t>
            </a:r>
          </a:p>
        </p:txBody>
      </p:sp>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lIns="90488" tIns="44450" rIns="90488" bIns="44450" anchor="ctr"/>
          <a:lstStyle/>
          <a:p>
            <a:r>
              <a:rPr lang="en-US" altLang="en-US" sz="2800" dirty="0"/>
              <a:t>The select Clause</a:t>
            </a:r>
          </a:p>
        </p:txBody>
      </p:sp>
      <p:sp>
        <p:nvSpPr>
          <p:cNvPr id="15362" name="Rectangle 3"/>
          <p:cNvSpPr>
            <a:spLocks noGrp="1" noChangeArrowheads="1"/>
          </p:cNvSpPr>
          <p:nvPr>
            <p:ph type="body" idx="1"/>
          </p:nvPr>
        </p:nvSpPr>
        <p:spPr>
          <a:xfrm>
            <a:off x="768351" y="1106489"/>
            <a:ext cx="7594414" cy="4526216"/>
          </a:xfrm>
        </p:spPr>
        <p:txBody>
          <a:bodyPr lIns="90488" tIns="44450" rIns="90488" bIns="44450"/>
          <a:lstStyle/>
          <a:p>
            <a:pPr>
              <a:tabLst>
                <a:tab pos="2055813" algn="l"/>
              </a:tabLst>
            </a:pPr>
            <a:r>
              <a:rPr lang="en-US" altLang="en-US" sz="1700" dirty="0"/>
              <a:t>The </a:t>
            </a:r>
            <a:r>
              <a:rPr lang="en-US" altLang="en-US" sz="1700" b="1" dirty="0"/>
              <a:t>select</a:t>
            </a:r>
            <a:r>
              <a:rPr lang="en-US" altLang="en-US" sz="1700" dirty="0"/>
              <a:t> clause lists the attributes desired in the result of a query</a:t>
            </a:r>
          </a:p>
          <a:p>
            <a:pPr lvl="1">
              <a:tabLst>
                <a:tab pos="2055813" algn="l"/>
              </a:tabLst>
            </a:pPr>
            <a:r>
              <a:rPr lang="en-US" altLang="en-US" sz="1700" dirty="0"/>
              <a:t>corresponds to the projection operation of the relational algebra</a:t>
            </a:r>
          </a:p>
          <a:p>
            <a:pPr>
              <a:lnSpc>
                <a:spcPct val="110000"/>
              </a:lnSpc>
              <a:tabLst>
                <a:tab pos="2055813" algn="l"/>
              </a:tabLst>
            </a:pPr>
            <a:r>
              <a:rPr lang="en-US" altLang="en-US" sz="1700" dirty="0"/>
              <a:t>Example: find the names of all instructors:</a:t>
            </a:r>
            <a:br>
              <a:rPr lang="en-US" altLang="en-US" sz="1700" dirty="0"/>
            </a:br>
            <a:r>
              <a:rPr lang="en-US" altLang="en-US" sz="1700" dirty="0"/>
              <a:t>		</a:t>
            </a:r>
            <a:r>
              <a:rPr lang="en-US" altLang="en-US" sz="1700" b="1" dirty="0"/>
              <a:t>select </a:t>
            </a:r>
            <a:r>
              <a:rPr lang="en-US" altLang="en-US" sz="1700" i="1" dirty="0"/>
              <a:t>name</a:t>
            </a:r>
            <a:r>
              <a:rPr lang="en-US" altLang="en-US" sz="1700" dirty="0"/>
              <a:t/>
            </a:r>
            <a:br>
              <a:rPr lang="en-US" altLang="en-US" sz="1700" dirty="0"/>
            </a:br>
            <a:r>
              <a:rPr lang="en-US" altLang="en-US" sz="1700" dirty="0"/>
              <a:t>		</a:t>
            </a:r>
            <a:r>
              <a:rPr lang="en-US" altLang="en-US" sz="1700" b="1" dirty="0"/>
              <a:t>from </a:t>
            </a:r>
            <a:r>
              <a:rPr lang="en-US" altLang="en-US" sz="1700" i="1" dirty="0"/>
              <a:t>instructor</a:t>
            </a:r>
          </a:p>
          <a:p>
            <a:pPr>
              <a:tabLst>
                <a:tab pos="2055813" algn="l"/>
              </a:tabLst>
            </a:pPr>
            <a:r>
              <a:rPr lang="en-US" altLang="en-US" sz="1700" dirty="0"/>
              <a:t>NOTE:  SQL names are case insensitive (i.e., you may use upper- or lower-case letters.)  </a:t>
            </a:r>
          </a:p>
          <a:p>
            <a:pPr lvl="1">
              <a:tabLst>
                <a:tab pos="2055813" algn="l"/>
              </a:tabLst>
            </a:pPr>
            <a:r>
              <a:rPr lang="en-US" altLang="en-US" sz="1700" dirty="0"/>
              <a:t>E.g.,  </a:t>
            </a:r>
            <a:r>
              <a:rPr lang="en-US" altLang="en-US" sz="1700" i="1" dirty="0"/>
              <a:t>Name</a:t>
            </a:r>
            <a:r>
              <a:rPr lang="en-US" altLang="en-US" sz="1700" dirty="0"/>
              <a:t> ≡ </a:t>
            </a:r>
            <a:r>
              <a:rPr lang="en-US" altLang="en-US" sz="1700" i="1" dirty="0"/>
              <a:t>NAME</a:t>
            </a:r>
            <a:r>
              <a:rPr lang="en-US" altLang="en-US" sz="1700" dirty="0"/>
              <a:t> ≡ </a:t>
            </a:r>
            <a:r>
              <a:rPr lang="en-US" altLang="en-US" sz="1700" i="1" dirty="0"/>
              <a:t>name</a:t>
            </a:r>
          </a:p>
          <a:p>
            <a:pPr lvl="1">
              <a:tabLst>
                <a:tab pos="2055813" algn="l"/>
              </a:tabLst>
            </a:pPr>
            <a:r>
              <a:rPr lang="en-US" altLang="en-US" sz="1700" dirty="0"/>
              <a:t>Some people use upper case wherever we use bold font.</a:t>
            </a:r>
          </a:p>
        </p:txBody>
      </p:sp>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lIns="90488" tIns="44450" rIns="90488" bIns="44450" anchor="ctr"/>
          <a:lstStyle/>
          <a:p>
            <a:r>
              <a:rPr lang="en-US" altLang="en-US" sz="2800" dirty="0"/>
              <a:t>The select Clause (Cont.)</a:t>
            </a:r>
          </a:p>
        </p:txBody>
      </p:sp>
      <p:sp>
        <p:nvSpPr>
          <p:cNvPr id="16386" name="Rectangle 3"/>
          <p:cNvSpPr>
            <a:spLocks noGrp="1" noChangeArrowheads="1"/>
          </p:cNvSpPr>
          <p:nvPr>
            <p:ph type="body" idx="1"/>
          </p:nvPr>
        </p:nvSpPr>
        <p:spPr>
          <a:xfrm>
            <a:off x="768349" y="1106488"/>
            <a:ext cx="7585537" cy="4876800"/>
          </a:xfrm>
        </p:spPr>
        <p:txBody>
          <a:bodyPr lIns="90488" tIns="44450" rIns="90488" bIns="44450"/>
          <a:lstStyle/>
          <a:p>
            <a:pPr>
              <a:tabLst>
                <a:tab pos="2055813" algn="l"/>
              </a:tabLst>
            </a:pPr>
            <a:r>
              <a:rPr lang="en-US" altLang="en-US" sz="1700" dirty="0"/>
              <a:t>SQL allows duplicates in relations as well as in query results.</a:t>
            </a:r>
          </a:p>
          <a:p>
            <a:pPr>
              <a:tabLst>
                <a:tab pos="2055813" algn="l"/>
              </a:tabLst>
            </a:pPr>
            <a:r>
              <a:rPr lang="en-US" altLang="en-US" sz="1700" dirty="0"/>
              <a:t>To force the elimination of duplicates, insert the keyword </a:t>
            </a:r>
            <a:r>
              <a:rPr lang="en-US" altLang="en-US" sz="1700" b="1" dirty="0">
                <a:solidFill>
                  <a:srgbClr val="002060"/>
                </a:solidFill>
              </a:rPr>
              <a:t>distinct</a:t>
            </a:r>
            <a:r>
              <a:rPr lang="en-US" altLang="en-US" sz="1700" b="1" dirty="0">
                <a:solidFill>
                  <a:schemeClr val="tx2"/>
                </a:solidFill>
              </a:rPr>
              <a:t> </a:t>
            </a:r>
            <a:r>
              <a:rPr lang="en-US" altLang="en-US" sz="1700" dirty="0"/>
              <a:t>after select</a:t>
            </a:r>
            <a:r>
              <a:rPr lang="en-US" altLang="en-US" sz="1700" b="1" dirty="0"/>
              <a:t>.</a:t>
            </a:r>
          </a:p>
          <a:p>
            <a:pPr>
              <a:tabLst>
                <a:tab pos="2055813" algn="l"/>
              </a:tabLst>
            </a:pPr>
            <a:r>
              <a:rPr lang="en-US" altLang="en-US" sz="1700" dirty="0"/>
              <a:t>Find the department names of all instructors, and remove duplicates</a:t>
            </a:r>
          </a:p>
          <a:p>
            <a:pPr>
              <a:buFont typeface="Monotype Sorts" charset="2"/>
              <a:buNone/>
              <a:tabLst>
                <a:tab pos="2055813" algn="l"/>
              </a:tabLst>
            </a:pPr>
            <a:r>
              <a:rPr lang="en-US" altLang="en-US" sz="1700" dirty="0"/>
              <a:t>		</a:t>
            </a:r>
            <a:r>
              <a:rPr lang="en-US" altLang="en-US" sz="1700" b="1" dirty="0"/>
              <a:t>select distinct </a:t>
            </a:r>
            <a:r>
              <a:rPr lang="en-US" altLang="en-US" sz="1700" i="1" dirty="0"/>
              <a:t>dept_name</a:t>
            </a:r>
            <a:r>
              <a:rPr lang="en-US" altLang="en-US" sz="1700" dirty="0"/>
              <a:t/>
            </a:r>
            <a:br>
              <a:rPr lang="en-US" altLang="en-US" sz="1700" dirty="0"/>
            </a:br>
            <a:r>
              <a:rPr lang="en-US" altLang="en-US" sz="1700" dirty="0"/>
              <a:t>	</a:t>
            </a:r>
            <a:r>
              <a:rPr lang="en-US" altLang="en-US" sz="1700" b="1" dirty="0"/>
              <a:t>from </a:t>
            </a:r>
            <a:r>
              <a:rPr lang="en-US" altLang="en-US" sz="1700" i="1" dirty="0"/>
              <a:t>instructor</a:t>
            </a:r>
          </a:p>
          <a:p>
            <a:pPr>
              <a:tabLst>
                <a:tab pos="2055813" algn="l"/>
              </a:tabLst>
            </a:pPr>
            <a:r>
              <a:rPr lang="en-US" altLang="en-US" sz="1700" dirty="0"/>
              <a:t>The keyword </a:t>
            </a:r>
            <a:r>
              <a:rPr lang="en-US" altLang="en-US" sz="1700" b="1" dirty="0"/>
              <a:t>all </a:t>
            </a:r>
            <a:r>
              <a:rPr lang="en-US" altLang="en-US" sz="1700" dirty="0"/>
              <a:t>specifies that duplicates should not be removed.</a:t>
            </a:r>
            <a:br>
              <a:rPr lang="en-US" altLang="en-US" sz="1700" dirty="0"/>
            </a:br>
            <a:r>
              <a:rPr lang="en-US" altLang="en-US" sz="800" dirty="0"/>
              <a:t> </a:t>
            </a:r>
          </a:p>
          <a:p>
            <a:pPr>
              <a:buFont typeface="Monotype Sorts" charset="2"/>
              <a:buNone/>
              <a:tabLst>
                <a:tab pos="2055813" algn="l"/>
              </a:tabLst>
            </a:pPr>
            <a:r>
              <a:rPr lang="en-US" altLang="en-US" sz="1700" dirty="0"/>
              <a:t>		</a:t>
            </a:r>
            <a:r>
              <a:rPr lang="en-US" altLang="en-US" sz="1700" b="1" dirty="0"/>
              <a:t>select all</a:t>
            </a:r>
            <a:r>
              <a:rPr lang="en-US" altLang="en-US" sz="1700" dirty="0"/>
              <a:t> </a:t>
            </a:r>
            <a:r>
              <a:rPr lang="en-US" altLang="en-US" sz="1700" i="1" dirty="0"/>
              <a:t>dept_name</a:t>
            </a:r>
            <a:br>
              <a:rPr lang="en-US" altLang="en-US" sz="1700" i="1" dirty="0"/>
            </a:br>
            <a:r>
              <a:rPr lang="en-US" altLang="en-US" sz="1700" i="1" dirty="0"/>
              <a:t>	</a:t>
            </a:r>
            <a:r>
              <a:rPr lang="en-US" altLang="en-US" sz="1700" b="1" dirty="0"/>
              <a:t>from </a:t>
            </a:r>
            <a:r>
              <a:rPr lang="en-US" altLang="en-US" sz="1700" i="1" dirty="0"/>
              <a:t>instructor</a:t>
            </a:r>
          </a:p>
        </p:txBody>
      </p:sp>
      <p:pic>
        <p:nvPicPr>
          <p:cNvPr id="3" name="Graphic 2">
            <a:extLst>
              <a:ext uri="{FF2B5EF4-FFF2-40B4-BE49-F238E27FC236}">
                <a16:creationId xmlns:a16="http://schemas.microsoft.com/office/drawing/2014/main" id="{BD9960E4-FF8C-45DD-9C24-C644DF7941AC}"/>
              </a:ext>
            </a:extLst>
          </p:cNvPr>
          <p:cNvPicPr>
            <a:picLocks noChangeAspect="1"/>
          </p:cNvPicPr>
          <p:nvPr/>
        </p:nvPicPr>
        <p:blipFill rotWithShape="1">
          <a:blip r:embed="rId3">
            <a:extLst>
              <a:ext uri="{96DAC541-7B7A-43D3-8B79-37D633B846F1}">
                <asvg:svgBlip xmlns:asvg="http://schemas.microsoft.com/office/drawing/2016/SVG/main" xmlns="" r:embed="rId4"/>
              </a:ext>
            </a:extLst>
          </a:blip>
          <a:srcRect l="34967" r="32712" b="12784"/>
          <a:stretch/>
        </p:blipFill>
        <p:spPr>
          <a:xfrm>
            <a:off x="6216445" y="3429000"/>
            <a:ext cx="1143000" cy="2844764"/>
          </a:xfrm>
          <a:prstGeom prst="rect">
            <a:avLst/>
          </a:prstGeom>
        </p:spPr>
      </p:pic>
    </p:spTree>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lIns="90488" tIns="44450" rIns="90488" bIns="44450" anchor="ctr"/>
          <a:lstStyle/>
          <a:p>
            <a:r>
              <a:rPr lang="en-US" altLang="en-US" sz="2800" dirty="0"/>
              <a:t>The select Clause (Cont.)</a:t>
            </a:r>
          </a:p>
        </p:txBody>
      </p:sp>
      <p:sp>
        <p:nvSpPr>
          <p:cNvPr id="17410" name="Rectangle 3"/>
          <p:cNvSpPr>
            <a:spLocks noGrp="1" noChangeArrowheads="1"/>
          </p:cNvSpPr>
          <p:nvPr>
            <p:ph type="body" idx="1"/>
          </p:nvPr>
        </p:nvSpPr>
        <p:spPr>
          <a:xfrm>
            <a:off x="768350" y="1106489"/>
            <a:ext cx="7523393" cy="5001704"/>
          </a:xfrm>
        </p:spPr>
        <p:txBody>
          <a:bodyPr lIns="90488" tIns="44450" rIns="90488" bIns="44450"/>
          <a:lstStyle/>
          <a:p>
            <a:pPr>
              <a:tabLst>
                <a:tab pos="2055813" algn="l"/>
              </a:tabLst>
            </a:pPr>
            <a:r>
              <a:rPr lang="en-US" altLang="en-US" sz="1700" dirty="0"/>
              <a:t>An asterisk in the select clause denotes “all attributes”</a:t>
            </a:r>
          </a:p>
          <a:p>
            <a:pPr>
              <a:buFont typeface="Monotype Sorts" charset="2"/>
              <a:buNone/>
              <a:tabLst>
                <a:tab pos="2055813" algn="l"/>
              </a:tabLst>
            </a:pPr>
            <a:r>
              <a:rPr lang="en-US" altLang="en-US" sz="1700" b="1" dirty="0"/>
              <a:t>			select </a:t>
            </a:r>
            <a:r>
              <a:rPr lang="en-US" altLang="en-US" sz="1700" dirty="0"/>
              <a:t>*</a:t>
            </a:r>
            <a:br>
              <a:rPr lang="en-US" altLang="en-US" sz="1700" dirty="0"/>
            </a:br>
            <a:r>
              <a:rPr lang="en-US" altLang="en-US" sz="1700" dirty="0"/>
              <a:t>		</a:t>
            </a:r>
            <a:r>
              <a:rPr lang="en-US" altLang="en-US" sz="1700" b="1" dirty="0"/>
              <a:t>from </a:t>
            </a:r>
            <a:r>
              <a:rPr lang="en-US" altLang="en-US" sz="1700" i="1" dirty="0"/>
              <a:t>instructor</a:t>
            </a:r>
          </a:p>
          <a:p>
            <a:pPr>
              <a:tabLst>
                <a:tab pos="2055813" algn="l"/>
              </a:tabLst>
            </a:pPr>
            <a:r>
              <a:rPr lang="en-US" altLang="en-US" sz="1700" dirty="0"/>
              <a:t>An attribute can be a literal  with  no </a:t>
            </a:r>
            <a:r>
              <a:rPr lang="en-US" altLang="en-US" sz="1700" b="1" dirty="0"/>
              <a:t>from  </a:t>
            </a:r>
            <a:r>
              <a:rPr lang="en-US" altLang="en-US" sz="1700" dirty="0"/>
              <a:t>clause</a:t>
            </a:r>
          </a:p>
          <a:p>
            <a:pPr>
              <a:buNone/>
              <a:tabLst>
                <a:tab pos="2055813" algn="l"/>
              </a:tabLst>
            </a:pPr>
            <a:r>
              <a:rPr lang="en-US" altLang="en-US" sz="1700" b="1" dirty="0"/>
              <a:t>			select  </a:t>
            </a:r>
            <a:r>
              <a:rPr lang="en-US" altLang="ja-JP" sz="1700" dirty="0"/>
              <a:t>'</a:t>
            </a:r>
            <a:r>
              <a:rPr lang="en-US" altLang="en-US" sz="1700" dirty="0"/>
              <a:t>437</a:t>
            </a:r>
            <a:r>
              <a:rPr lang="en-US" altLang="ja-JP" sz="1700" dirty="0"/>
              <a:t>'</a:t>
            </a:r>
            <a:endParaRPr lang="en-US" altLang="en-US" sz="1700" dirty="0"/>
          </a:p>
          <a:p>
            <a:pPr lvl="1">
              <a:tabLst>
                <a:tab pos="2055813" algn="l"/>
              </a:tabLst>
            </a:pPr>
            <a:r>
              <a:rPr lang="en-US" altLang="en-US" sz="1700" dirty="0"/>
              <a:t>Results is a table with one column and a single row with value “437”</a:t>
            </a:r>
          </a:p>
          <a:p>
            <a:pPr lvl="1">
              <a:tabLst>
                <a:tab pos="2055813" algn="l"/>
              </a:tabLst>
            </a:pPr>
            <a:r>
              <a:rPr lang="en-US" altLang="en-US" sz="1700" dirty="0"/>
              <a:t>Can give the column a name using:</a:t>
            </a:r>
          </a:p>
          <a:p>
            <a:pPr lvl="1">
              <a:buFont typeface="Monotype Sorts" charset="2"/>
              <a:buNone/>
              <a:tabLst>
                <a:tab pos="2055813" algn="l"/>
              </a:tabLst>
            </a:pPr>
            <a:r>
              <a:rPr lang="en-US" altLang="en-US" sz="1700" dirty="0"/>
              <a:t>                    </a:t>
            </a:r>
            <a:r>
              <a:rPr lang="en-US" altLang="en-US" sz="1700" b="1" dirty="0"/>
              <a:t>select </a:t>
            </a:r>
            <a:r>
              <a:rPr lang="en-US" altLang="en-US" sz="1700" dirty="0"/>
              <a:t>'437' </a:t>
            </a:r>
            <a:r>
              <a:rPr lang="en-US" altLang="en-US" sz="1700" b="1" dirty="0"/>
              <a:t>as </a:t>
            </a:r>
            <a:r>
              <a:rPr lang="en-US" altLang="en-US" sz="1700" i="1" dirty="0"/>
              <a:t>FOO</a:t>
            </a:r>
            <a:r>
              <a:rPr lang="en-US" altLang="en-US" sz="1700" dirty="0"/>
              <a:t>	</a:t>
            </a:r>
            <a:endParaRPr lang="en-US" altLang="en-US" sz="1700" i="1" dirty="0"/>
          </a:p>
          <a:p>
            <a:pPr>
              <a:tabLst>
                <a:tab pos="2055813" algn="l"/>
              </a:tabLst>
            </a:pPr>
            <a:r>
              <a:rPr lang="en-US" altLang="en-US" sz="1700" dirty="0"/>
              <a:t>An attribute can be a literal with </a:t>
            </a:r>
            <a:r>
              <a:rPr lang="en-US" altLang="en-US" sz="1700" b="1" dirty="0"/>
              <a:t>from  </a:t>
            </a:r>
            <a:r>
              <a:rPr lang="en-US" altLang="en-US" sz="1700" dirty="0"/>
              <a:t>clause</a:t>
            </a:r>
          </a:p>
          <a:p>
            <a:pPr>
              <a:buFont typeface="Monotype Sorts" charset="2"/>
              <a:buNone/>
              <a:tabLst>
                <a:tab pos="2055813" algn="l"/>
              </a:tabLst>
            </a:pPr>
            <a:r>
              <a:rPr lang="en-US" altLang="en-US" sz="1700" b="1" dirty="0"/>
              <a:t>			select  </a:t>
            </a:r>
            <a:r>
              <a:rPr lang="en-US" altLang="en-US" sz="1700" dirty="0"/>
              <a:t>'A'</a:t>
            </a:r>
            <a:br>
              <a:rPr lang="en-US" altLang="en-US" sz="1700" dirty="0"/>
            </a:br>
            <a:r>
              <a:rPr lang="en-US" altLang="en-US" sz="1700" dirty="0"/>
              <a:t>		</a:t>
            </a:r>
            <a:r>
              <a:rPr lang="en-US" altLang="en-US" sz="1700" b="1" dirty="0"/>
              <a:t>from </a:t>
            </a:r>
            <a:r>
              <a:rPr lang="en-US" altLang="en-US" sz="1700" i="1" dirty="0"/>
              <a:t>instructor</a:t>
            </a:r>
          </a:p>
          <a:p>
            <a:pPr lvl="1">
              <a:tabLst>
                <a:tab pos="2055813" algn="l"/>
              </a:tabLst>
            </a:pPr>
            <a:r>
              <a:rPr lang="en-US" altLang="en-US" sz="1700" dirty="0"/>
              <a:t>Result is a table with one column and </a:t>
            </a:r>
            <a:r>
              <a:rPr lang="en-US" altLang="en-US" sz="1700" i="1" dirty="0"/>
              <a:t>N</a:t>
            </a:r>
            <a:r>
              <a:rPr lang="en-US" altLang="en-US" sz="1700" dirty="0"/>
              <a:t> rows (number of tuples in the </a:t>
            </a:r>
            <a:r>
              <a:rPr lang="en-US" altLang="en-US" sz="1700" i="1" dirty="0"/>
              <a:t>instructors</a:t>
            </a:r>
            <a:r>
              <a:rPr lang="en-US" altLang="en-US" sz="1700" dirty="0"/>
              <a:t> table), each row with value “A”</a:t>
            </a:r>
          </a:p>
        </p:txBody>
      </p:sp>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a:xfrm>
            <a:off x="768350" y="201699"/>
            <a:ext cx="8077200" cy="609600"/>
          </a:xfrm>
        </p:spPr>
        <p:txBody>
          <a:bodyPr lIns="90488" tIns="44450" rIns="90488" bIns="44450" anchor="ctr"/>
          <a:lstStyle/>
          <a:p>
            <a:r>
              <a:rPr lang="en-US" altLang="en-US" sz="2800" dirty="0"/>
              <a:t>The select Clause (Cont.)</a:t>
            </a:r>
          </a:p>
        </p:txBody>
      </p:sp>
      <p:sp>
        <p:nvSpPr>
          <p:cNvPr id="18434" name="Rectangle 3"/>
          <p:cNvSpPr>
            <a:spLocks noGrp="1" noChangeArrowheads="1"/>
          </p:cNvSpPr>
          <p:nvPr>
            <p:ph type="body" idx="1"/>
          </p:nvPr>
        </p:nvSpPr>
        <p:spPr>
          <a:xfrm>
            <a:off x="768351" y="1106489"/>
            <a:ext cx="7585536" cy="4514024"/>
          </a:xfrm>
        </p:spPr>
        <p:txBody>
          <a:bodyPr lIns="90488" tIns="44450" rIns="90488" bIns="44450"/>
          <a:lstStyle/>
          <a:p>
            <a:pPr>
              <a:tabLst>
                <a:tab pos="2055813" algn="l"/>
              </a:tabLst>
            </a:pPr>
            <a:r>
              <a:rPr lang="en-US" altLang="en-US" sz="1700" dirty="0"/>
              <a:t>The </a:t>
            </a:r>
            <a:r>
              <a:rPr lang="en-US" altLang="en-US" sz="1700" b="1" dirty="0">
                <a:solidFill>
                  <a:srgbClr val="002060"/>
                </a:solidFill>
              </a:rPr>
              <a:t>select</a:t>
            </a:r>
            <a:r>
              <a:rPr lang="en-US" altLang="en-US" sz="1700" dirty="0">
                <a:solidFill>
                  <a:srgbClr val="002060"/>
                </a:solidFill>
              </a:rPr>
              <a:t> </a:t>
            </a:r>
            <a:r>
              <a:rPr lang="en-US" altLang="en-US" sz="1700" dirty="0"/>
              <a:t>clause can contain arithmetic expressions involving the operation, +, –, </a:t>
            </a:r>
            <a:r>
              <a:rPr lang="en-US" altLang="en-US" sz="1700" dirty="0">
                <a:latin typeface="Symbol" panose="05050102010706020507" pitchFamily="18" charset="2"/>
              </a:rPr>
              <a:t></a:t>
            </a:r>
            <a:r>
              <a:rPr lang="en-US" altLang="en-US" sz="1700" dirty="0"/>
              <a:t>, and /, and operating on constants or attributes of tuples.</a:t>
            </a:r>
          </a:p>
          <a:p>
            <a:pPr lvl="1">
              <a:tabLst>
                <a:tab pos="2055813" algn="l"/>
              </a:tabLst>
            </a:pPr>
            <a:r>
              <a:rPr lang="en-US" altLang="en-US" sz="1700" dirty="0"/>
              <a:t>The query: </a:t>
            </a:r>
          </a:p>
          <a:p>
            <a:pPr lvl="1">
              <a:buFont typeface="Monotype Sorts" charset="2"/>
              <a:buNone/>
              <a:tabLst>
                <a:tab pos="2055813" algn="l"/>
              </a:tabLst>
            </a:pPr>
            <a:r>
              <a:rPr lang="en-US" altLang="en-US" sz="1700" b="1" dirty="0"/>
              <a:t>	                  select</a:t>
            </a:r>
            <a:r>
              <a:rPr lang="en-US" altLang="en-US" sz="1700" dirty="0"/>
              <a:t> </a:t>
            </a:r>
            <a:r>
              <a:rPr lang="en-US" altLang="en-US" sz="1700" i="1" dirty="0"/>
              <a:t>ID, name, salary/12</a:t>
            </a:r>
            <a:r>
              <a:rPr lang="en-US" altLang="en-US" sz="1700" dirty="0"/>
              <a:t/>
            </a:r>
            <a:br>
              <a:rPr lang="en-US" altLang="en-US" sz="1700" dirty="0"/>
            </a:br>
            <a:r>
              <a:rPr lang="en-US" altLang="en-US" sz="1700" dirty="0"/>
              <a:t>                  </a:t>
            </a:r>
            <a:r>
              <a:rPr lang="en-US" altLang="en-US" sz="1700" b="1" dirty="0"/>
              <a:t>from </a:t>
            </a:r>
            <a:r>
              <a:rPr lang="en-US" altLang="en-US" sz="1700" i="1" dirty="0"/>
              <a:t>instructor</a:t>
            </a:r>
          </a:p>
          <a:p>
            <a:pPr lvl="1">
              <a:buFont typeface="Monotype Sorts" charset="2"/>
              <a:buNone/>
              <a:tabLst>
                <a:tab pos="2055813" algn="l"/>
              </a:tabLst>
            </a:pPr>
            <a:r>
              <a:rPr lang="en-US" altLang="en-US" sz="1700" i="1" dirty="0"/>
              <a:t>	</a:t>
            </a:r>
            <a:r>
              <a:rPr lang="en-US" altLang="en-US" sz="1700" dirty="0"/>
              <a:t>would return a relation that is the same as the </a:t>
            </a:r>
            <a:r>
              <a:rPr lang="en-US" altLang="en-US" sz="1700" i="1" dirty="0"/>
              <a:t>instructor </a:t>
            </a:r>
            <a:r>
              <a:rPr lang="en-US" altLang="en-US" sz="1700" dirty="0"/>
              <a:t>relation, except that the value of the attribute </a:t>
            </a:r>
            <a:r>
              <a:rPr lang="en-US" altLang="en-US" sz="1700" i="1" dirty="0"/>
              <a:t>salary </a:t>
            </a:r>
            <a:r>
              <a:rPr lang="en-US" altLang="en-US" sz="1700" dirty="0"/>
              <a:t>is divided by 12.</a:t>
            </a:r>
          </a:p>
          <a:p>
            <a:pPr lvl="1">
              <a:tabLst>
                <a:tab pos="2055813" algn="l"/>
              </a:tabLst>
            </a:pPr>
            <a:r>
              <a:rPr lang="en-US" altLang="en-US" sz="1700" dirty="0"/>
              <a:t>Can rename “s</a:t>
            </a:r>
            <a:r>
              <a:rPr lang="en-US" altLang="en-US" sz="1700" i="1" dirty="0"/>
              <a:t>alary/12” </a:t>
            </a:r>
            <a:r>
              <a:rPr lang="en-US" altLang="en-US" sz="1700" dirty="0"/>
              <a:t>using the </a:t>
            </a:r>
            <a:r>
              <a:rPr lang="en-US" altLang="en-US" sz="1700" b="1" dirty="0"/>
              <a:t>as </a:t>
            </a:r>
            <a:r>
              <a:rPr lang="en-US" altLang="en-US" sz="1700" dirty="0"/>
              <a:t>clause:</a:t>
            </a:r>
          </a:p>
          <a:p>
            <a:pPr lvl="1">
              <a:buFont typeface="Monotype Sorts" charset="2"/>
              <a:buNone/>
              <a:tabLst>
                <a:tab pos="2055813" algn="l"/>
              </a:tabLst>
            </a:pPr>
            <a:r>
              <a:rPr lang="en-US" altLang="en-US" sz="1700" i="1" dirty="0"/>
              <a:t>	        </a:t>
            </a:r>
            <a:r>
              <a:rPr lang="en-US" altLang="en-US" sz="1700" b="1" dirty="0"/>
              <a:t>select </a:t>
            </a:r>
            <a:r>
              <a:rPr lang="en-US" altLang="en-US" sz="1700" i="1" dirty="0"/>
              <a:t>ID, name, salary/12  </a:t>
            </a:r>
            <a:r>
              <a:rPr lang="en-US" altLang="en-US" sz="1700" b="1" dirty="0"/>
              <a:t>as </a:t>
            </a:r>
            <a:r>
              <a:rPr lang="en-US" altLang="en-US" sz="1700" i="1" dirty="0" err="1"/>
              <a:t>monthly_salary</a:t>
            </a:r>
            <a:r>
              <a:rPr lang="en-US" altLang="en-US" sz="1700" i="1" dirty="0"/>
              <a:t/>
            </a:r>
            <a:br>
              <a:rPr lang="en-US" altLang="en-US" sz="1700" i="1" dirty="0"/>
            </a:br>
            <a:endParaRPr lang="en-US" altLang="en-US" sz="1700" dirty="0"/>
          </a:p>
          <a:p>
            <a:pPr lvl="1">
              <a:tabLst>
                <a:tab pos="2055813" algn="l"/>
              </a:tabLst>
            </a:pPr>
            <a:endParaRPr lang="en-US" altLang="en-US" dirty="0"/>
          </a:p>
          <a:p>
            <a:pPr lvl="1">
              <a:buFont typeface="Monotype Sorts" charset="2"/>
              <a:buNone/>
              <a:tabLst>
                <a:tab pos="2055813" algn="l"/>
              </a:tabLst>
            </a:pPr>
            <a:endParaRPr lang="en-US" altLang="en-US" dirty="0"/>
          </a:p>
          <a:p>
            <a:pPr>
              <a:buFont typeface="Monotype Sorts" charset="2"/>
              <a:buNone/>
              <a:tabLst>
                <a:tab pos="2055813" algn="l"/>
              </a:tabLst>
            </a:pPr>
            <a:endParaRPr lang="en-US" altLang="en-US" dirty="0"/>
          </a:p>
        </p:txBody>
      </p:sp>
    </p:spTree>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lIns="90488" tIns="44450" rIns="90488" bIns="44450" anchor="ctr"/>
          <a:lstStyle/>
          <a:p>
            <a:r>
              <a:rPr lang="en-US" altLang="en-US" sz="2800" dirty="0"/>
              <a:t>The where Clause</a:t>
            </a:r>
          </a:p>
        </p:txBody>
      </p:sp>
      <p:sp>
        <p:nvSpPr>
          <p:cNvPr id="19458" name="Rectangle 3"/>
          <p:cNvSpPr>
            <a:spLocks noGrp="1" noChangeArrowheads="1"/>
          </p:cNvSpPr>
          <p:nvPr>
            <p:ph type="body" idx="1"/>
          </p:nvPr>
        </p:nvSpPr>
        <p:spPr>
          <a:xfrm>
            <a:off x="768350" y="1106488"/>
            <a:ext cx="7692898" cy="4876800"/>
          </a:xfrm>
        </p:spPr>
        <p:txBody>
          <a:bodyPr lIns="90488" tIns="44450" rIns="90488" bIns="44450"/>
          <a:lstStyle/>
          <a:p>
            <a:pPr>
              <a:tabLst>
                <a:tab pos="1311275" algn="l"/>
              </a:tabLst>
            </a:pPr>
            <a:r>
              <a:rPr lang="en-US" altLang="en-US" sz="1700" dirty="0"/>
              <a:t>The </a:t>
            </a:r>
            <a:r>
              <a:rPr lang="en-US" altLang="en-US" sz="1700" b="1" dirty="0">
                <a:solidFill>
                  <a:srgbClr val="002060"/>
                </a:solidFill>
              </a:rPr>
              <a:t>where</a:t>
            </a:r>
            <a:r>
              <a:rPr lang="en-US" altLang="en-US" sz="1700" b="1" dirty="0"/>
              <a:t> </a:t>
            </a:r>
            <a:r>
              <a:rPr lang="en-US" altLang="en-US" sz="1700" dirty="0"/>
              <a:t>clause specifies conditions that the result must satisfy</a:t>
            </a:r>
          </a:p>
          <a:p>
            <a:pPr lvl="1">
              <a:tabLst>
                <a:tab pos="1311275" algn="l"/>
              </a:tabLst>
            </a:pPr>
            <a:r>
              <a:rPr lang="en-US" altLang="en-US" sz="1700" dirty="0"/>
              <a:t>Corresponds to the selection predicate of the relational algebra.  </a:t>
            </a:r>
          </a:p>
          <a:p>
            <a:pPr>
              <a:tabLst>
                <a:tab pos="1311275" algn="l"/>
              </a:tabLst>
            </a:pPr>
            <a:r>
              <a:rPr lang="en-US" altLang="en-US" sz="1700" dirty="0"/>
              <a:t>To find all instructors in Comp. Sci. dept</a:t>
            </a:r>
          </a:p>
          <a:p>
            <a:pPr>
              <a:buFont typeface="Monotype Sorts" charset="2"/>
              <a:buNone/>
              <a:tabLst>
                <a:tab pos="1311275" algn="l"/>
              </a:tabLst>
            </a:pPr>
            <a:r>
              <a:rPr lang="en-US" altLang="en-US" sz="1700" b="1" dirty="0"/>
              <a:t>		select </a:t>
            </a:r>
            <a:r>
              <a:rPr lang="en-US" altLang="en-US" sz="1700" i="1" dirty="0"/>
              <a:t>name</a:t>
            </a:r>
            <a:br>
              <a:rPr lang="en-US" altLang="en-US" sz="1700" i="1" dirty="0"/>
            </a:br>
            <a:r>
              <a:rPr lang="en-US" altLang="en-US" sz="1700" i="1" dirty="0"/>
              <a:t>	</a:t>
            </a:r>
            <a:r>
              <a:rPr lang="en-US" altLang="en-US" sz="1700" b="1" dirty="0"/>
              <a:t>from </a:t>
            </a:r>
            <a:r>
              <a:rPr lang="en-US" altLang="en-US" sz="1700" i="1" dirty="0"/>
              <a:t>instructor</a:t>
            </a:r>
            <a:br>
              <a:rPr lang="en-US" altLang="en-US" sz="1700" i="1" dirty="0"/>
            </a:br>
            <a:r>
              <a:rPr lang="en-US" altLang="en-US" sz="1700" i="1" dirty="0"/>
              <a:t>	</a:t>
            </a:r>
            <a:r>
              <a:rPr lang="en-US" altLang="en-US" sz="1700" b="1" dirty="0"/>
              <a:t>where </a:t>
            </a:r>
            <a:r>
              <a:rPr lang="en-US" altLang="en-US" sz="1700" i="1" dirty="0"/>
              <a:t>dept_name =</a:t>
            </a:r>
            <a:r>
              <a:rPr lang="en-US" altLang="en-US" sz="1700" dirty="0"/>
              <a:t> </a:t>
            </a:r>
            <a:r>
              <a:rPr lang="en-US" altLang="en-US" sz="1700" i="1" dirty="0"/>
              <a:t>'</a:t>
            </a:r>
            <a:r>
              <a:rPr lang="en-US" altLang="ja-JP" sz="1700" dirty="0"/>
              <a:t>Comp. Sci.'</a:t>
            </a:r>
          </a:p>
          <a:p>
            <a:pPr>
              <a:tabLst>
                <a:tab pos="1311275" algn="l"/>
              </a:tabLst>
            </a:pPr>
            <a:r>
              <a:rPr lang="en-US" altLang="en-US" sz="1700" dirty="0"/>
              <a:t>SQL allows the use of the logical connectives </a:t>
            </a:r>
            <a:r>
              <a:rPr lang="en-US" altLang="en-US" sz="1700" b="1" dirty="0"/>
              <a:t> and, or, </a:t>
            </a:r>
            <a:r>
              <a:rPr lang="en-US" altLang="en-US" sz="1700" dirty="0"/>
              <a:t>and </a:t>
            </a:r>
            <a:r>
              <a:rPr lang="en-US" altLang="en-US" sz="1700" b="1" dirty="0"/>
              <a:t>not </a:t>
            </a:r>
            <a:endParaRPr lang="en-US" altLang="en-US" sz="1700" dirty="0"/>
          </a:p>
          <a:p>
            <a:pPr>
              <a:tabLst>
                <a:tab pos="1311275" algn="l"/>
              </a:tabLst>
            </a:pPr>
            <a:r>
              <a:rPr lang="en-US" altLang="en-US" sz="1700" dirty="0"/>
              <a:t>The operands of the logical connectives can be expressions involving the comparison operators &lt;, &lt;=, &gt;, &gt;=, =, and &lt;&gt;.</a:t>
            </a:r>
          </a:p>
          <a:p>
            <a:pPr>
              <a:tabLst>
                <a:tab pos="1311275" algn="l"/>
              </a:tabLst>
            </a:pPr>
            <a:r>
              <a:rPr lang="en-US" altLang="en-US" sz="1700" dirty="0"/>
              <a:t>Comparisons can be applied to results of arithmetic expressions</a:t>
            </a:r>
          </a:p>
          <a:p>
            <a:pPr>
              <a:tabLst>
                <a:tab pos="1311275" algn="l"/>
              </a:tabLst>
            </a:pPr>
            <a:r>
              <a:rPr lang="en-US" altLang="en-US" sz="1700" dirty="0"/>
              <a:t>To find all instructors in Comp. Sci. dept with salary &gt; 70000</a:t>
            </a:r>
          </a:p>
          <a:p>
            <a:pPr lvl="1">
              <a:buFont typeface="Monotype Sorts" charset="2"/>
              <a:buNone/>
              <a:tabLst>
                <a:tab pos="1311275" algn="l"/>
              </a:tabLst>
            </a:pPr>
            <a:r>
              <a:rPr lang="en-US" altLang="en-US" sz="1700" b="1" dirty="0"/>
              <a:t>	select </a:t>
            </a:r>
            <a:r>
              <a:rPr lang="en-US" altLang="en-US" sz="1700" i="1" dirty="0"/>
              <a:t>name</a:t>
            </a:r>
            <a:br>
              <a:rPr lang="en-US" altLang="en-US" sz="1700" i="1" dirty="0"/>
            </a:br>
            <a:r>
              <a:rPr lang="en-US" altLang="en-US" sz="1700" b="1" dirty="0"/>
              <a:t>from </a:t>
            </a:r>
            <a:r>
              <a:rPr lang="en-US" altLang="en-US" sz="1700" i="1" dirty="0"/>
              <a:t>instructor</a:t>
            </a:r>
            <a:br>
              <a:rPr lang="en-US" altLang="en-US" sz="1700" i="1" dirty="0"/>
            </a:br>
            <a:r>
              <a:rPr lang="en-US" altLang="en-US" sz="1700" b="1" dirty="0"/>
              <a:t>where </a:t>
            </a:r>
            <a:r>
              <a:rPr lang="en-US" altLang="en-US" sz="1700" i="1" dirty="0"/>
              <a:t>dept_name =</a:t>
            </a:r>
            <a:r>
              <a:rPr lang="en-US" altLang="en-US" sz="1700" dirty="0"/>
              <a:t> </a:t>
            </a:r>
            <a:r>
              <a:rPr lang="en-US" altLang="en-US" sz="1700" i="1" dirty="0"/>
              <a:t>'</a:t>
            </a:r>
            <a:r>
              <a:rPr lang="en-US" altLang="ja-JP" sz="1700" dirty="0"/>
              <a:t>Comp. Sci.'</a:t>
            </a:r>
            <a:r>
              <a:rPr lang="en-US" altLang="ja-JP" sz="1700" i="1" dirty="0"/>
              <a:t>  </a:t>
            </a:r>
            <a:r>
              <a:rPr lang="en-US" altLang="ja-JP" sz="1700" b="1" dirty="0"/>
              <a:t>and </a:t>
            </a:r>
            <a:r>
              <a:rPr lang="en-US" altLang="ja-JP" sz="1700" i="1" dirty="0"/>
              <a:t>salary </a:t>
            </a:r>
            <a:r>
              <a:rPr lang="en-US" altLang="ja-JP" sz="1700" dirty="0"/>
              <a:t>&gt; 70000</a:t>
            </a:r>
          </a:p>
          <a:p>
            <a:pPr>
              <a:buFont typeface="Monotype Sorts" charset="2"/>
              <a:buNone/>
              <a:tabLst>
                <a:tab pos="1311275" algn="l"/>
              </a:tabLst>
            </a:pPr>
            <a:endParaRPr lang="en-US" altLang="en-US" sz="1700" dirty="0"/>
          </a:p>
        </p:txBody>
      </p:sp>
      <p:pic>
        <p:nvPicPr>
          <p:cNvPr id="3" name="Graphic 2">
            <a:extLst>
              <a:ext uri="{FF2B5EF4-FFF2-40B4-BE49-F238E27FC236}">
                <a16:creationId xmlns:a16="http://schemas.microsoft.com/office/drawing/2014/main" id="{51B4B9C5-28CB-44C6-BCAD-BA8A2C191646}"/>
              </a:ext>
            </a:extLst>
          </p:cNvPr>
          <p:cNvPicPr>
            <a:picLocks noChangeAspect="1"/>
          </p:cNvPicPr>
          <p:nvPr/>
        </p:nvPicPr>
        <p:blipFill rotWithShape="1">
          <a:blip r:embed="rId3">
            <a:extLst>
              <a:ext uri="{96DAC541-7B7A-43D3-8B79-37D633B846F1}">
                <asvg:svgBlip xmlns:asvg="http://schemas.microsoft.com/office/drawing/2016/SVG/main" xmlns="" r:embed="rId4"/>
              </a:ext>
            </a:extLst>
          </a:blip>
          <a:srcRect l="42307" t="787" r="41816" b="37397"/>
          <a:stretch/>
        </p:blipFill>
        <p:spPr>
          <a:xfrm>
            <a:off x="7109157" y="4682613"/>
            <a:ext cx="1090307" cy="1157748"/>
          </a:xfrm>
          <a:prstGeom prst="rect">
            <a:avLst/>
          </a:prstGeom>
        </p:spPr>
      </p:pic>
    </p:spTree>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lIns="90488" tIns="44450" rIns="90488" bIns="44450" anchor="ctr"/>
          <a:lstStyle/>
          <a:p>
            <a:r>
              <a:rPr lang="en-US" altLang="en-US"/>
              <a:t>The from Clause</a:t>
            </a:r>
          </a:p>
        </p:txBody>
      </p:sp>
      <p:sp>
        <p:nvSpPr>
          <p:cNvPr id="20482" name="Rectangle 3"/>
          <p:cNvSpPr>
            <a:spLocks noGrp="1" noChangeArrowheads="1"/>
          </p:cNvSpPr>
          <p:nvPr>
            <p:ph type="body" idx="1"/>
          </p:nvPr>
        </p:nvSpPr>
        <p:spPr>
          <a:xfrm>
            <a:off x="768351" y="1106489"/>
            <a:ext cx="7603292" cy="4867592"/>
          </a:xfrm>
        </p:spPr>
        <p:txBody>
          <a:bodyPr lIns="90488" tIns="44450" rIns="90488" bIns="44450"/>
          <a:lstStyle/>
          <a:p>
            <a:pPr>
              <a:tabLst>
                <a:tab pos="635000" algn="l"/>
                <a:tab pos="2403475" algn="l"/>
              </a:tabLst>
            </a:pPr>
            <a:r>
              <a:rPr lang="en-US" altLang="en-US" sz="1700" dirty="0"/>
              <a:t>The </a:t>
            </a:r>
            <a:r>
              <a:rPr lang="en-US" altLang="en-US" sz="1700" b="1" dirty="0">
                <a:solidFill>
                  <a:srgbClr val="002060"/>
                </a:solidFill>
              </a:rPr>
              <a:t>from</a:t>
            </a:r>
            <a:r>
              <a:rPr lang="en-US" altLang="en-US" sz="1700" b="1" dirty="0"/>
              <a:t> </a:t>
            </a:r>
            <a:r>
              <a:rPr lang="en-US" altLang="en-US" sz="1700" dirty="0"/>
              <a:t>clause lists the relations involved in the query</a:t>
            </a:r>
          </a:p>
          <a:p>
            <a:pPr lvl="1">
              <a:tabLst>
                <a:tab pos="635000" algn="l"/>
                <a:tab pos="2403475" algn="l"/>
              </a:tabLst>
            </a:pPr>
            <a:r>
              <a:rPr lang="en-US" altLang="en-US" sz="1700" dirty="0"/>
              <a:t>Corresponds to the Cartesian product operation of the relational algebra.</a:t>
            </a:r>
          </a:p>
          <a:p>
            <a:pPr>
              <a:tabLst>
                <a:tab pos="635000" algn="l"/>
                <a:tab pos="2403475" algn="l"/>
              </a:tabLst>
            </a:pPr>
            <a:r>
              <a:rPr lang="en-US" altLang="en-US" sz="1700" dirty="0"/>
              <a:t>Find the Cartesian product </a:t>
            </a:r>
            <a:r>
              <a:rPr lang="en-US" altLang="en-US" sz="1700" i="1" dirty="0"/>
              <a:t>instructor X teaches</a:t>
            </a:r>
            <a:endParaRPr lang="en-US" altLang="en-US" sz="1700" dirty="0"/>
          </a:p>
          <a:p>
            <a:pPr>
              <a:buFont typeface="Monotype Sorts" charset="2"/>
              <a:buNone/>
              <a:tabLst>
                <a:tab pos="635000" algn="l"/>
                <a:tab pos="2403475" algn="l"/>
              </a:tabLst>
            </a:pPr>
            <a:r>
              <a:rPr lang="en-US" altLang="en-US" sz="1700" b="1" dirty="0"/>
              <a:t>			select </a:t>
            </a:r>
            <a:r>
              <a:rPr lang="en-US" altLang="en-US" sz="1700" dirty="0">
                <a:latin typeface="Symbol" panose="05050102010706020507" pitchFamily="18" charset="2"/>
              </a:rPr>
              <a:t></a:t>
            </a:r>
            <a:r>
              <a:rPr lang="en-US" altLang="en-US" sz="1700" dirty="0"/>
              <a:t/>
            </a:r>
            <a:br>
              <a:rPr lang="en-US" altLang="en-US" sz="1700" dirty="0"/>
            </a:br>
            <a:r>
              <a:rPr lang="en-US" altLang="en-US" sz="1700" dirty="0"/>
              <a:t>		</a:t>
            </a:r>
            <a:r>
              <a:rPr lang="en-US" altLang="en-US" sz="1700" b="1" dirty="0"/>
              <a:t>from </a:t>
            </a:r>
            <a:r>
              <a:rPr lang="en-US" altLang="en-US" sz="1700" i="1" dirty="0"/>
              <a:t>instructor, teaches</a:t>
            </a:r>
          </a:p>
          <a:p>
            <a:pPr lvl="1">
              <a:tabLst>
                <a:tab pos="635000" algn="l"/>
                <a:tab pos="2403475" algn="l"/>
              </a:tabLst>
            </a:pPr>
            <a:r>
              <a:rPr lang="en-US" altLang="en-US" sz="1700" dirty="0"/>
              <a:t>generates every possible instructor – teaches pair, with all attributes from both relations.</a:t>
            </a:r>
          </a:p>
          <a:p>
            <a:pPr lvl="1">
              <a:tabLst>
                <a:tab pos="635000" algn="l"/>
                <a:tab pos="2403475" algn="l"/>
              </a:tabLst>
            </a:pPr>
            <a:r>
              <a:rPr lang="en-US" altLang="en-US" sz="1700" dirty="0"/>
              <a:t>For common attributes (e.g., </a:t>
            </a:r>
            <a:r>
              <a:rPr lang="en-US" altLang="en-US" sz="1700" i="1" dirty="0"/>
              <a:t>ID</a:t>
            </a:r>
            <a:r>
              <a:rPr lang="en-US" altLang="en-US" sz="1700" dirty="0"/>
              <a:t>), the attributes  in the resulting table are renamed using the  relation name (e.g., </a:t>
            </a:r>
            <a:r>
              <a:rPr lang="en-US" altLang="en-US" sz="1700" i="1" dirty="0"/>
              <a:t>instructor.ID</a:t>
            </a:r>
            <a:r>
              <a:rPr lang="en-US" altLang="en-US" sz="1700" dirty="0"/>
              <a:t>)</a:t>
            </a:r>
          </a:p>
          <a:p>
            <a:pPr>
              <a:tabLst>
                <a:tab pos="635000" algn="l"/>
                <a:tab pos="2403475" algn="l"/>
              </a:tabLst>
            </a:pPr>
            <a:r>
              <a:rPr lang="en-US" altLang="en-US" sz="1700" dirty="0"/>
              <a:t>Cartesian product not very useful directly, but useful combined with where-clause condition (selection operation in relational algebra).</a:t>
            </a:r>
          </a:p>
          <a:p>
            <a:pPr>
              <a:buFont typeface="Monotype Sorts" charset="2"/>
              <a:buNone/>
              <a:tabLst>
                <a:tab pos="635000" algn="l"/>
                <a:tab pos="2403475" algn="l"/>
              </a:tabLst>
            </a:pPr>
            <a:r>
              <a:rPr lang="en-US" altLang="en-US" i="1" dirty="0"/>
              <a:t>	</a:t>
            </a:r>
          </a:p>
        </p:txBody>
      </p:sp>
    </p:spTree>
  </p:cSld>
  <p:clrMapOvr>
    <a:masterClrMapping/>
  </p:clrMapOvr>
  <p:transition spd="slow"/>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lIns="90488" tIns="44450" rIns="90488" bIns="44450" anchor="ctr"/>
          <a:lstStyle/>
          <a:p>
            <a:r>
              <a:rPr lang="en-US" altLang="en-US" sz="2800" dirty="0"/>
              <a:t>Examples</a:t>
            </a:r>
          </a:p>
        </p:txBody>
      </p:sp>
      <p:sp>
        <p:nvSpPr>
          <p:cNvPr id="22530" name="Rectangle 3"/>
          <p:cNvSpPr>
            <a:spLocks noGrp="1" noChangeArrowheads="1"/>
          </p:cNvSpPr>
          <p:nvPr>
            <p:ph type="body" idx="1"/>
          </p:nvPr>
        </p:nvSpPr>
        <p:spPr>
          <a:xfrm>
            <a:off x="768352" y="1106489"/>
            <a:ext cx="4821288" cy="4526216"/>
          </a:xfrm>
        </p:spPr>
        <p:txBody>
          <a:bodyPr lIns="90488" tIns="44450" rIns="90488" bIns="44450"/>
          <a:lstStyle/>
          <a:p>
            <a:pPr>
              <a:tabLst>
                <a:tab pos="2055813" algn="l"/>
              </a:tabLst>
            </a:pPr>
            <a:r>
              <a:rPr lang="en-US" altLang="en-US" sz="1700" dirty="0"/>
              <a:t>Find the names of all instructors who have taught some course and the </a:t>
            </a:r>
            <a:r>
              <a:rPr lang="en-US" altLang="en-US" sz="1700" dirty="0" err="1"/>
              <a:t>course_id</a:t>
            </a:r>
            <a:endParaRPr lang="en-US" altLang="en-US" sz="1700" dirty="0"/>
          </a:p>
          <a:p>
            <a:pPr lvl="1">
              <a:tabLst>
                <a:tab pos="2055813" algn="l"/>
              </a:tabLst>
            </a:pPr>
            <a:r>
              <a:rPr lang="en-US" altLang="en-US" sz="1700" b="1" dirty="0"/>
              <a:t>select </a:t>
            </a:r>
            <a:r>
              <a:rPr lang="en-US" altLang="en-US" sz="1700" i="1" dirty="0"/>
              <a:t>name, </a:t>
            </a:r>
            <a:r>
              <a:rPr lang="en-US" altLang="en-US" sz="1700" i="1" dirty="0" err="1"/>
              <a:t>course_id</a:t>
            </a:r>
            <a:r>
              <a:rPr lang="en-US" altLang="en-US" sz="1700" i="1" dirty="0"/>
              <a:t/>
            </a:r>
            <a:br>
              <a:rPr lang="en-US" altLang="en-US" sz="1700" i="1" dirty="0"/>
            </a:br>
            <a:r>
              <a:rPr lang="en-US" altLang="en-US" sz="1700" b="1" dirty="0"/>
              <a:t>from </a:t>
            </a:r>
            <a:r>
              <a:rPr lang="en-US" altLang="en-US" sz="1700" i="1" dirty="0"/>
              <a:t>instructor , teaches</a:t>
            </a:r>
            <a:br>
              <a:rPr lang="en-US" altLang="en-US" sz="1700" i="1" dirty="0"/>
            </a:br>
            <a:r>
              <a:rPr lang="en-US" altLang="en-US" sz="1700" b="1" dirty="0"/>
              <a:t>where </a:t>
            </a:r>
            <a:r>
              <a:rPr lang="en-US" altLang="en-US" sz="1700" i="1" dirty="0"/>
              <a:t>instructor.ID = teaches.ID </a:t>
            </a:r>
          </a:p>
          <a:p>
            <a:pPr lvl="1">
              <a:buFont typeface="Monotype Sorts" charset="2"/>
              <a:buNone/>
              <a:tabLst>
                <a:tab pos="2055813" algn="l"/>
              </a:tabLst>
            </a:pPr>
            <a:r>
              <a:rPr lang="en-US" altLang="en-US" sz="800" dirty="0"/>
              <a:t> </a:t>
            </a:r>
          </a:p>
          <a:p>
            <a:pPr>
              <a:tabLst>
                <a:tab pos="2055813" algn="l"/>
              </a:tabLst>
            </a:pPr>
            <a:r>
              <a:rPr lang="en-US" altLang="en-US" sz="1700" dirty="0"/>
              <a:t>Find the names of all instructors in the Art  department who have taught some course and the </a:t>
            </a:r>
            <a:r>
              <a:rPr lang="en-US" altLang="en-US" sz="1700" dirty="0" err="1"/>
              <a:t>course_id</a:t>
            </a:r>
            <a:endParaRPr lang="en-US" altLang="en-US" sz="1700" dirty="0"/>
          </a:p>
          <a:p>
            <a:pPr lvl="1">
              <a:tabLst>
                <a:tab pos="2055813" algn="l"/>
              </a:tabLst>
            </a:pPr>
            <a:r>
              <a:rPr lang="en-US" altLang="en-US" sz="1700" b="1" dirty="0"/>
              <a:t>select </a:t>
            </a:r>
            <a:r>
              <a:rPr lang="en-US" altLang="en-US" sz="1700" i="1" dirty="0"/>
              <a:t>name, </a:t>
            </a:r>
            <a:r>
              <a:rPr lang="en-US" altLang="en-US" sz="1700" i="1" dirty="0" err="1"/>
              <a:t>course_id</a:t>
            </a:r>
            <a:r>
              <a:rPr lang="en-US" altLang="en-US" sz="1700" i="1" dirty="0"/>
              <a:t/>
            </a:r>
            <a:br>
              <a:rPr lang="en-US" altLang="en-US" sz="1700" i="1" dirty="0"/>
            </a:br>
            <a:r>
              <a:rPr lang="en-US" altLang="en-US" sz="1700" b="1" dirty="0"/>
              <a:t>from </a:t>
            </a:r>
            <a:r>
              <a:rPr lang="en-US" altLang="en-US" sz="1700" i="1" dirty="0"/>
              <a:t>instructor , teaches</a:t>
            </a:r>
            <a:br>
              <a:rPr lang="en-US" altLang="en-US" sz="1700" i="1" dirty="0"/>
            </a:br>
            <a:r>
              <a:rPr lang="en-US" altLang="en-US" sz="1700" b="1" dirty="0"/>
              <a:t>where </a:t>
            </a:r>
            <a:r>
              <a:rPr lang="en-US" altLang="en-US" sz="1700" i="1" dirty="0"/>
              <a:t>instructor.ID = teaches.ID  </a:t>
            </a:r>
            <a:br>
              <a:rPr lang="en-US" altLang="en-US" sz="1700" i="1" dirty="0"/>
            </a:br>
            <a:r>
              <a:rPr lang="en-US" altLang="en-US" sz="1700" i="1" dirty="0"/>
              <a:t>          </a:t>
            </a:r>
            <a:r>
              <a:rPr lang="en-US" altLang="en-US" sz="1700" b="1" i="1" dirty="0"/>
              <a:t>and</a:t>
            </a:r>
            <a:r>
              <a:rPr lang="en-US" altLang="en-US" sz="1700" i="1" dirty="0"/>
              <a:t>  instructor. dept_name = </a:t>
            </a:r>
            <a:r>
              <a:rPr lang="en-US" altLang="en-US" sz="1700" dirty="0"/>
              <a:t>'Art'</a:t>
            </a:r>
          </a:p>
          <a:p>
            <a:pPr lvl="1">
              <a:buFont typeface="Monotype Sorts" charset="2"/>
              <a:buNone/>
              <a:tabLst>
                <a:tab pos="2055813" algn="l"/>
              </a:tabLst>
            </a:pPr>
            <a:endParaRPr lang="en-US" altLang="en-US" sz="1700" dirty="0"/>
          </a:p>
        </p:txBody>
      </p:sp>
      <p:pic>
        <p:nvPicPr>
          <p:cNvPr id="3" name="Graphic 2">
            <a:extLst>
              <a:ext uri="{FF2B5EF4-FFF2-40B4-BE49-F238E27FC236}">
                <a16:creationId xmlns:a16="http://schemas.microsoft.com/office/drawing/2014/main" id="{E75A09EE-C151-4256-9EE2-5AAE5DB9B982}"/>
              </a:ext>
            </a:extLst>
          </p:cNvPr>
          <p:cNvPicPr>
            <a:picLocks noChangeAspect="1"/>
          </p:cNvPicPr>
          <p:nvPr/>
        </p:nvPicPr>
        <p:blipFill rotWithShape="1">
          <a:blip r:embed="rId3">
            <a:extLst>
              <a:ext uri="{96DAC541-7B7A-43D3-8B79-37D633B846F1}">
                <asvg:svgBlip xmlns:asvg="http://schemas.microsoft.com/office/drawing/2016/SVG/main" xmlns="" r:embed="rId4"/>
              </a:ext>
            </a:extLst>
          </a:blip>
          <a:srcRect l="32705" t="875" r="32623" b="14122"/>
          <a:stretch/>
        </p:blipFill>
        <p:spPr>
          <a:xfrm>
            <a:off x="6113206" y="1106489"/>
            <a:ext cx="2322871" cy="4262249"/>
          </a:xfrm>
          <a:prstGeom prst="rect">
            <a:avLst/>
          </a:prstGeom>
        </p:spPr>
      </p:pic>
    </p:spTree>
  </p:cSld>
  <p:clrMapOvr>
    <a:masterClrMapping/>
  </p:clrMapOvr>
  <p:transition spd="slow"/>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a:xfrm>
            <a:off x="768350" y="189667"/>
            <a:ext cx="8077200" cy="609600"/>
          </a:xfrm>
        </p:spPr>
        <p:txBody>
          <a:bodyPr lIns="90488" tIns="44450" rIns="90488" bIns="44450" anchor="ctr"/>
          <a:lstStyle/>
          <a:p>
            <a:r>
              <a:rPr lang="en-US" altLang="en-US" sz="2800" dirty="0"/>
              <a:t>The Rename Operation</a:t>
            </a:r>
          </a:p>
        </p:txBody>
      </p:sp>
      <p:sp>
        <p:nvSpPr>
          <p:cNvPr id="23554" name="Rectangle 3"/>
          <p:cNvSpPr>
            <a:spLocks noGrp="1" noChangeArrowheads="1"/>
          </p:cNvSpPr>
          <p:nvPr>
            <p:ph type="body" idx="1"/>
          </p:nvPr>
        </p:nvSpPr>
        <p:spPr>
          <a:xfrm>
            <a:off x="768350" y="1155257"/>
            <a:ext cx="7760830" cy="3407866"/>
          </a:xfrm>
        </p:spPr>
        <p:txBody>
          <a:bodyPr lIns="90488" tIns="44450" rIns="90488" bIns="44450"/>
          <a:lstStyle/>
          <a:p>
            <a:r>
              <a:rPr lang="en-US" b="1" dirty="0"/>
              <a:t>Consider again the query that we used earlier: </a:t>
            </a:r>
          </a:p>
          <a:p>
            <a:endParaRPr lang="en-US" altLang="en-US" dirty="0"/>
          </a:p>
          <a:p>
            <a:pPr marL="457200" lvl="1" indent="0">
              <a:buNone/>
            </a:pPr>
            <a:r>
              <a:rPr lang="en-US" dirty="0"/>
              <a:t>select name, course id </a:t>
            </a:r>
          </a:p>
          <a:p>
            <a:pPr marL="457200" lvl="1" indent="0">
              <a:buNone/>
            </a:pPr>
            <a:r>
              <a:rPr lang="en-US" dirty="0"/>
              <a:t>from instructor, teaches </a:t>
            </a:r>
          </a:p>
          <a:p>
            <a:pPr marL="457200" lvl="1" indent="0">
              <a:buNone/>
            </a:pPr>
            <a:r>
              <a:rPr lang="en-US" dirty="0"/>
              <a:t>where instructor.ID= teaches.ID</a:t>
            </a:r>
            <a:r>
              <a:rPr lang="en-US" dirty="0" smtClean="0"/>
              <a:t>;</a:t>
            </a:r>
          </a:p>
          <a:p>
            <a:pPr marL="457200" lvl="1" indent="0">
              <a:buNone/>
            </a:pPr>
            <a:endParaRPr lang="en-US" dirty="0"/>
          </a:p>
          <a:p>
            <a:pPr lvl="0">
              <a:tabLst>
                <a:tab pos="2055813" algn="l"/>
              </a:tabLst>
            </a:pPr>
            <a:r>
              <a:rPr lang="en-US" b="1" dirty="0"/>
              <a:t>name, </a:t>
            </a:r>
            <a:r>
              <a:rPr lang="en-US" b="1" dirty="0" err="1" smtClean="0"/>
              <a:t>course_id</a:t>
            </a:r>
            <a:r>
              <a:rPr lang="en-US" b="1" dirty="0" smtClean="0"/>
              <a:t> – result of the query</a:t>
            </a:r>
          </a:p>
          <a:p>
            <a:pPr lvl="0">
              <a:tabLst>
                <a:tab pos="2055813" algn="l"/>
              </a:tabLst>
            </a:pPr>
            <a:r>
              <a:rPr lang="en-US" b="1" dirty="0"/>
              <a:t>names of the attributes in the result are derived from the names of the attributes in the relations </a:t>
            </a:r>
          </a:p>
          <a:p>
            <a:pPr>
              <a:tabLst>
                <a:tab pos="2055813" algn="l"/>
              </a:tabLst>
            </a:pPr>
            <a:endParaRPr lang="en-US" altLang="en-US" sz="1700" dirty="0"/>
          </a:p>
        </p:txBody>
      </p:sp>
    </p:spTree>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a:xfrm>
            <a:off x="768350" y="189667"/>
            <a:ext cx="8077200" cy="609600"/>
          </a:xfrm>
        </p:spPr>
        <p:txBody>
          <a:bodyPr lIns="90488" tIns="44450" rIns="90488" bIns="44450" anchor="ctr"/>
          <a:lstStyle/>
          <a:p>
            <a:r>
              <a:rPr lang="en-US" altLang="en-US" sz="2800" dirty="0"/>
              <a:t>The Rename </a:t>
            </a:r>
            <a:r>
              <a:rPr lang="en-US" altLang="en-US" sz="2800" dirty="0" smtClean="0"/>
              <a:t>Operation (</a:t>
            </a:r>
            <a:r>
              <a:rPr lang="en-US" altLang="en-US" sz="2800" dirty="0" err="1" smtClean="0"/>
              <a:t>cont</a:t>
            </a:r>
            <a:r>
              <a:rPr lang="en-US" altLang="en-US" sz="2800" dirty="0" smtClean="0"/>
              <a:t>…)</a:t>
            </a:r>
            <a:endParaRPr lang="en-US" altLang="en-US" sz="2800" dirty="0"/>
          </a:p>
        </p:txBody>
      </p:sp>
      <p:sp>
        <p:nvSpPr>
          <p:cNvPr id="23554" name="Rectangle 3"/>
          <p:cNvSpPr>
            <a:spLocks noGrp="1" noChangeArrowheads="1"/>
          </p:cNvSpPr>
          <p:nvPr>
            <p:ph type="body" idx="1"/>
          </p:nvPr>
        </p:nvSpPr>
        <p:spPr>
          <a:xfrm>
            <a:off x="768350" y="1155256"/>
            <a:ext cx="7760830" cy="4686743"/>
          </a:xfrm>
        </p:spPr>
        <p:txBody>
          <a:bodyPr lIns="90488" tIns="44450" rIns="90488" bIns="44450"/>
          <a:lstStyle/>
          <a:p>
            <a:pPr>
              <a:tabLst>
                <a:tab pos="2055813" algn="l"/>
              </a:tabLst>
            </a:pPr>
            <a:r>
              <a:rPr lang="en-US" altLang="en-US" sz="1700" dirty="0"/>
              <a:t>The SQL allows renaming relations and attributes using the </a:t>
            </a:r>
            <a:r>
              <a:rPr lang="en-US" altLang="en-US" sz="1700" b="1" dirty="0"/>
              <a:t>as </a:t>
            </a:r>
            <a:r>
              <a:rPr lang="en-US" altLang="en-US" sz="1700" dirty="0"/>
              <a:t>clause:</a:t>
            </a:r>
          </a:p>
          <a:p>
            <a:pPr>
              <a:buFont typeface="Monotype Sorts" charset="2"/>
              <a:buNone/>
              <a:tabLst>
                <a:tab pos="2055813" algn="l"/>
              </a:tabLst>
            </a:pPr>
            <a:r>
              <a:rPr lang="en-US" altLang="en-US" sz="1700" i="1" dirty="0"/>
              <a:t>		old-name </a:t>
            </a:r>
            <a:r>
              <a:rPr lang="en-US" altLang="en-US" sz="1700" b="1" dirty="0"/>
              <a:t>as</a:t>
            </a:r>
            <a:r>
              <a:rPr lang="en-US" altLang="en-US" sz="1700" i="1" dirty="0"/>
              <a:t> new-name</a:t>
            </a:r>
            <a:r>
              <a:rPr lang="en-US" altLang="en-US" sz="1700" dirty="0"/>
              <a:t/>
            </a:r>
            <a:br>
              <a:rPr lang="en-US" altLang="en-US" sz="1700" dirty="0"/>
            </a:br>
            <a:r>
              <a:rPr lang="en-US" altLang="en-US" sz="800" dirty="0"/>
              <a:t> </a:t>
            </a:r>
          </a:p>
          <a:p>
            <a:pPr>
              <a:tabLst>
                <a:tab pos="2055813" algn="l"/>
              </a:tabLst>
            </a:pPr>
            <a:r>
              <a:rPr lang="en-US" dirty="0"/>
              <a:t>if we want the attribute name: name to be replaced with the name instructor name, we can rewrite the preceding query </a:t>
            </a:r>
            <a:r>
              <a:rPr lang="en-US" dirty="0" smtClean="0"/>
              <a:t>as</a:t>
            </a:r>
          </a:p>
          <a:p>
            <a:pPr>
              <a:tabLst>
                <a:tab pos="2055813" algn="l"/>
              </a:tabLst>
            </a:pPr>
            <a:r>
              <a:rPr lang="en-US" dirty="0" smtClean="0"/>
              <a:t>select </a:t>
            </a:r>
            <a:r>
              <a:rPr lang="en-US" dirty="0"/>
              <a:t>name as instructor name, </a:t>
            </a:r>
            <a:r>
              <a:rPr lang="en-US" dirty="0" err="1"/>
              <a:t>course_id</a:t>
            </a:r>
            <a:r>
              <a:rPr lang="en-US" dirty="0"/>
              <a:t> </a:t>
            </a:r>
          </a:p>
          <a:p>
            <a:pPr marL="457200" lvl="1" indent="0">
              <a:buNone/>
            </a:pPr>
            <a:r>
              <a:rPr lang="en-US" dirty="0"/>
              <a:t>from instructor, teaches </a:t>
            </a:r>
          </a:p>
          <a:p>
            <a:pPr marL="457200" lvl="1" indent="0">
              <a:buNone/>
            </a:pPr>
            <a:r>
              <a:rPr lang="en-US" dirty="0"/>
              <a:t>where instructor.ID= teaches.ID</a:t>
            </a:r>
            <a:r>
              <a:rPr lang="en-US" dirty="0" smtClean="0"/>
              <a:t>;</a:t>
            </a:r>
          </a:p>
          <a:p>
            <a:pPr marL="457200" lvl="1" indent="0">
              <a:buNone/>
            </a:pPr>
            <a:endParaRPr lang="en-US" dirty="0"/>
          </a:p>
          <a:p>
            <a:r>
              <a:rPr lang="en-US" dirty="0"/>
              <a:t>For all instructors in the university who have taught some course, find their names and the course ID of all courses they taught</a:t>
            </a:r>
            <a:r>
              <a:rPr lang="en-US" dirty="0" smtClean="0"/>
              <a:t>.”</a:t>
            </a:r>
          </a:p>
          <a:p>
            <a:pPr marL="457200" lvl="1" indent="0">
              <a:buNone/>
            </a:pPr>
            <a:r>
              <a:rPr lang="en-US" dirty="0"/>
              <a:t>select T.name, </a:t>
            </a:r>
            <a:r>
              <a:rPr lang="en-US" dirty="0" err="1"/>
              <a:t>S.course</a:t>
            </a:r>
            <a:r>
              <a:rPr lang="en-US" dirty="0"/>
              <a:t> id </a:t>
            </a:r>
          </a:p>
          <a:p>
            <a:pPr marL="457200" lvl="1" indent="0">
              <a:buNone/>
            </a:pPr>
            <a:r>
              <a:rPr lang="en-US" dirty="0"/>
              <a:t>from instructor as T, teaches as S </a:t>
            </a:r>
          </a:p>
          <a:p>
            <a:pPr marL="457200" lvl="1" indent="0">
              <a:buNone/>
            </a:pPr>
            <a:r>
              <a:rPr lang="en-US" dirty="0"/>
              <a:t>where T.ID= S.ID;</a:t>
            </a:r>
          </a:p>
          <a:p>
            <a:endParaRPr lang="en-US" b="1" dirty="0"/>
          </a:p>
          <a:p>
            <a:endParaRPr lang="en-US" dirty="0"/>
          </a:p>
          <a:p>
            <a:pPr lvl="1">
              <a:buFont typeface="Monotype Sorts" charset="2"/>
              <a:buNone/>
              <a:tabLst>
                <a:tab pos="2055813" algn="l"/>
              </a:tabLst>
            </a:pPr>
            <a:r>
              <a:rPr lang="en-US" altLang="en-US" sz="800" dirty="0" smtClean="0"/>
              <a:t> </a:t>
            </a:r>
            <a:endParaRPr lang="en-US" altLang="en-US" sz="800" dirty="0"/>
          </a:p>
        </p:txBody>
      </p:sp>
    </p:spTree>
    <p:extLst>
      <p:ext uri="{BB962C8B-B14F-4D97-AF65-F5344CB8AC3E}">
        <p14:creationId xmlns:p14="http://schemas.microsoft.com/office/powerpoint/2010/main" val="1210488336"/>
      </p:ext>
    </p:extLst>
  </p:cSld>
  <p:clrMapOvr>
    <a:masterClrMapping/>
  </p:clrMapOvr>
  <p:transition spd="slow"/>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a:xfrm>
            <a:off x="768350" y="189667"/>
            <a:ext cx="8077200" cy="609600"/>
          </a:xfrm>
        </p:spPr>
        <p:txBody>
          <a:bodyPr lIns="90488" tIns="44450" rIns="90488" bIns="44450" anchor="ctr"/>
          <a:lstStyle/>
          <a:p>
            <a:r>
              <a:rPr lang="en-US" altLang="en-US" sz="2800" dirty="0"/>
              <a:t>The Rename </a:t>
            </a:r>
            <a:r>
              <a:rPr lang="en-US" altLang="en-US" sz="2800" dirty="0" smtClean="0"/>
              <a:t>Operation (</a:t>
            </a:r>
            <a:r>
              <a:rPr lang="en-US" altLang="en-US" sz="2800" dirty="0" err="1" smtClean="0"/>
              <a:t>cont</a:t>
            </a:r>
            <a:r>
              <a:rPr lang="en-US" altLang="en-US" sz="2800" dirty="0" smtClean="0"/>
              <a:t>…)</a:t>
            </a:r>
            <a:endParaRPr lang="en-US" altLang="en-US" sz="2800" dirty="0"/>
          </a:p>
        </p:txBody>
      </p:sp>
      <p:sp>
        <p:nvSpPr>
          <p:cNvPr id="23554" name="Rectangle 3"/>
          <p:cNvSpPr>
            <a:spLocks noGrp="1" noChangeArrowheads="1"/>
          </p:cNvSpPr>
          <p:nvPr>
            <p:ph type="body" idx="1"/>
          </p:nvPr>
        </p:nvSpPr>
        <p:spPr>
          <a:xfrm>
            <a:off x="768350" y="1155257"/>
            <a:ext cx="7760830" cy="3407866"/>
          </a:xfrm>
        </p:spPr>
        <p:txBody>
          <a:bodyPr lIns="90488" tIns="44450" rIns="90488" bIns="44450"/>
          <a:lstStyle/>
          <a:p>
            <a:pPr>
              <a:tabLst>
                <a:tab pos="2055813" algn="l"/>
              </a:tabLst>
            </a:pPr>
            <a:r>
              <a:rPr lang="en-US" altLang="en-US" sz="1700" dirty="0"/>
              <a:t>The SQL allows renaming relations and attributes using the </a:t>
            </a:r>
            <a:r>
              <a:rPr lang="en-US" altLang="en-US" sz="1700" b="1" dirty="0"/>
              <a:t>as </a:t>
            </a:r>
            <a:r>
              <a:rPr lang="en-US" altLang="en-US" sz="1700" dirty="0"/>
              <a:t>clause:</a:t>
            </a:r>
          </a:p>
          <a:p>
            <a:pPr>
              <a:buFont typeface="Monotype Sorts" charset="2"/>
              <a:buNone/>
              <a:tabLst>
                <a:tab pos="2055813" algn="l"/>
              </a:tabLst>
            </a:pPr>
            <a:r>
              <a:rPr lang="en-US" altLang="en-US" sz="1700" i="1" dirty="0"/>
              <a:t>		old-name </a:t>
            </a:r>
            <a:r>
              <a:rPr lang="en-US" altLang="en-US" sz="1700" b="1" dirty="0"/>
              <a:t>as</a:t>
            </a:r>
            <a:r>
              <a:rPr lang="en-US" altLang="en-US" sz="1700" i="1" dirty="0"/>
              <a:t> new-name</a:t>
            </a:r>
            <a:r>
              <a:rPr lang="en-US" altLang="en-US" sz="1700" dirty="0"/>
              <a:t/>
            </a:r>
            <a:br>
              <a:rPr lang="en-US" altLang="en-US" sz="1700" dirty="0"/>
            </a:br>
            <a:r>
              <a:rPr lang="en-US" altLang="en-US" sz="800" dirty="0"/>
              <a:t> </a:t>
            </a:r>
          </a:p>
          <a:p>
            <a:pPr>
              <a:tabLst>
                <a:tab pos="2055813" algn="l"/>
              </a:tabLst>
            </a:pPr>
            <a:r>
              <a:rPr lang="en-US" altLang="en-US" sz="1700" dirty="0"/>
              <a:t>Find the names of all instructors who have a higher salary than </a:t>
            </a:r>
            <a:br>
              <a:rPr lang="en-US" altLang="en-US" sz="1700" dirty="0"/>
            </a:br>
            <a:r>
              <a:rPr lang="en-US" altLang="en-US" sz="1700" dirty="0"/>
              <a:t>some instructor in 'Comp. Sci'.</a:t>
            </a:r>
          </a:p>
          <a:p>
            <a:pPr lvl="1">
              <a:tabLst>
                <a:tab pos="2055813" algn="l"/>
              </a:tabLst>
            </a:pPr>
            <a:r>
              <a:rPr lang="en-US" altLang="en-US" sz="1700" b="1" dirty="0"/>
              <a:t>select distinct </a:t>
            </a:r>
            <a:r>
              <a:rPr lang="en-US" altLang="en-US" sz="1700" i="1" dirty="0"/>
              <a:t>T.name</a:t>
            </a:r>
            <a:br>
              <a:rPr lang="en-US" altLang="en-US" sz="1700" i="1" dirty="0"/>
            </a:br>
            <a:r>
              <a:rPr lang="en-US" altLang="en-US" sz="1700" b="1" dirty="0"/>
              <a:t>from </a:t>
            </a:r>
            <a:r>
              <a:rPr lang="en-US" altLang="en-US" sz="1700" i="1" dirty="0"/>
              <a:t>instructor </a:t>
            </a:r>
            <a:r>
              <a:rPr lang="en-US" altLang="en-US" sz="1700" b="1" dirty="0"/>
              <a:t>as </a:t>
            </a:r>
            <a:r>
              <a:rPr lang="en-US" altLang="en-US" sz="1700" i="1" dirty="0"/>
              <a:t>T, instructor </a:t>
            </a:r>
            <a:r>
              <a:rPr lang="en-US" altLang="en-US" sz="1700" b="1" dirty="0"/>
              <a:t>as </a:t>
            </a:r>
            <a:r>
              <a:rPr lang="en-US" altLang="en-US" sz="1700" i="1" dirty="0"/>
              <a:t>S</a:t>
            </a:r>
            <a:br>
              <a:rPr lang="en-US" altLang="en-US" sz="1700" i="1" dirty="0"/>
            </a:br>
            <a:r>
              <a:rPr lang="en-US" altLang="en-US" sz="1700" b="1" dirty="0"/>
              <a:t>where </a:t>
            </a:r>
            <a:r>
              <a:rPr lang="en-US" altLang="en-US" sz="1700" i="1" dirty="0" err="1"/>
              <a:t>T.salary</a:t>
            </a:r>
            <a:r>
              <a:rPr lang="en-US" altLang="en-US" sz="1700" i="1" dirty="0"/>
              <a:t> &gt; </a:t>
            </a:r>
            <a:r>
              <a:rPr lang="en-US" altLang="en-US" sz="1700" i="1" dirty="0" err="1"/>
              <a:t>S.salary</a:t>
            </a:r>
            <a:r>
              <a:rPr lang="en-US" altLang="en-US" sz="1700" i="1" dirty="0"/>
              <a:t> </a:t>
            </a:r>
            <a:r>
              <a:rPr lang="en-US" altLang="en-US" sz="1700" b="1" dirty="0"/>
              <a:t>and </a:t>
            </a:r>
            <a:r>
              <a:rPr lang="en-US" altLang="en-US" sz="1700" i="1" dirty="0" err="1"/>
              <a:t>S.dept_name</a:t>
            </a:r>
            <a:r>
              <a:rPr lang="en-US" altLang="en-US" sz="1700" i="1" dirty="0"/>
              <a:t> = 'Comp. Sci.’</a:t>
            </a:r>
          </a:p>
          <a:p>
            <a:pPr lvl="1">
              <a:buFont typeface="Monotype Sorts" charset="2"/>
              <a:buNone/>
              <a:tabLst>
                <a:tab pos="2055813" algn="l"/>
              </a:tabLst>
            </a:pPr>
            <a:r>
              <a:rPr lang="en-US" altLang="en-US" sz="800" dirty="0"/>
              <a:t> </a:t>
            </a:r>
          </a:p>
          <a:p>
            <a:pPr>
              <a:tabLst>
                <a:tab pos="2055813" algn="l"/>
              </a:tabLst>
            </a:pPr>
            <a:r>
              <a:rPr lang="en-US" altLang="en-US" sz="1700" dirty="0"/>
              <a:t>Keyword </a:t>
            </a:r>
            <a:r>
              <a:rPr lang="en-US" altLang="en-US" sz="1700" b="1" dirty="0"/>
              <a:t>as</a:t>
            </a:r>
            <a:r>
              <a:rPr lang="en-US" altLang="en-US" sz="1700" dirty="0"/>
              <a:t> is optional and may be omitted</a:t>
            </a:r>
            <a:br>
              <a:rPr lang="en-US" altLang="en-US" sz="1700" dirty="0"/>
            </a:br>
            <a:r>
              <a:rPr lang="en-US" altLang="en-US" sz="1700" dirty="0"/>
              <a:t>              </a:t>
            </a:r>
            <a:r>
              <a:rPr lang="en-US" altLang="en-US" sz="1700" i="1" dirty="0"/>
              <a:t>instructor </a:t>
            </a:r>
            <a:r>
              <a:rPr lang="en-US" altLang="en-US" sz="1700" b="1" dirty="0"/>
              <a:t>as </a:t>
            </a:r>
            <a:r>
              <a:rPr lang="en-US" altLang="en-US" sz="1700" i="1" dirty="0"/>
              <a:t>T ≡ instructor</a:t>
            </a:r>
            <a:r>
              <a:rPr lang="en-US" altLang="en-US" sz="1700" b="1" dirty="0"/>
              <a:t> </a:t>
            </a:r>
            <a:r>
              <a:rPr lang="en-US" altLang="en-US" sz="1700" i="1" dirty="0"/>
              <a:t>T</a:t>
            </a:r>
            <a:endParaRPr lang="en-US" altLang="en-US" sz="1700" dirty="0"/>
          </a:p>
        </p:txBody>
      </p:sp>
    </p:spTree>
    <p:extLst>
      <p:ext uri="{BB962C8B-B14F-4D97-AF65-F5344CB8AC3E}">
        <p14:creationId xmlns:p14="http://schemas.microsoft.com/office/powerpoint/2010/main" val="4080126462"/>
      </p:ext>
    </p:extLst>
  </p:cSld>
  <p:clrMapOvr>
    <a:masterClrMapping/>
  </p:clrMapOvr>
  <p:transition spd="slow"/>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lIns="90488" tIns="44450" rIns="90488" bIns="44450" anchor="ctr"/>
          <a:lstStyle/>
          <a:p>
            <a:r>
              <a:rPr lang="en-US" altLang="en-US" sz="2800" dirty="0"/>
              <a:t>Self Join Example</a:t>
            </a:r>
          </a:p>
        </p:txBody>
      </p:sp>
      <p:sp>
        <p:nvSpPr>
          <p:cNvPr id="23554" name="Rectangle 3"/>
          <p:cNvSpPr>
            <a:spLocks noGrp="1" noChangeArrowheads="1"/>
          </p:cNvSpPr>
          <p:nvPr>
            <p:ph type="body" idx="1"/>
          </p:nvPr>
        </p:nvSpPr>
        <p:spPr>
          <a:xfrm>
            <a:off x="768350" y="1106488"/>
            <a:ext cx="7692898" cy="3575240"/>
          </a:xfrm>
        </p:spPr>
        <p:txBody>
          <a:bodyPr lIns="90488" tIns="44450" rIns="90488" bIns="44450"/>
          <a:lstStyle/>
          <a:p>
            <a:pPr>
              <a:tabLst>
                <a:tab pos="2055813" algn="l"/>
              </a:tabLst>
            </a:pPr>
            <a:r>
              <a:rPr lang="en-US" altLang="en-US" sz="1700" dirty="0"/>
              <a:t>Relation </a:t>
            </a:r>
            <a:r>
              <a:rPr lang="en-US" altLang="en-US" sz="1700" i="1" dirty="0" err="1"/>
              <a:t>emp</a:t>
            </a:r>
            <a:r>
              <a:rPr lang="en-US" altLang="en-US" sz="1700" i="1" dirty="0"/>
              <a:t>-super</a:t>
            </a:r>
          </a:p>
          <a:p>
            <a:pPr>
              <a:tabLst>
                <a:tab pos="2055813" algn="l"/>
              </a:tabLst>
            </a:pPr>
            <a:endParaRPr lang="en-US" altLang="en-US" sz="1700" i="1" dirty="0"/>
          </a:p>
          <a:p>
            <a:pPr>
              <a:tabLst>
                <a:tab pos="2055813" algn="l"/>
              </a:tabLst>
            </a:pPr>
            <a:endParaRPr lang="en-US" altLang="en-US" sz="1700" i="1" dirty="0"/>
          </a:p>
          <a:p>
            <a:pPr>
              <a:tabLst>
                <a:tab pos="2055813" algn="l"/>
              </a:tabLst>
            </a:pPr>
            <a:endParaRPr lang="en-US" altLang="en-US" sz="1700" i="1" dirty="0"/>
          </a:p>
          <a:p>
            <a:pPr>
              <a:tabLst>
                <a:tab pos="2055813" algn="l"/>
              </a:tabLst>
            </a:pPr>
            <a:endParaRPr lang="en-US" altLang="en-US" sz="1700" i="1" dirty="0"/>
          </a:p>
          <a:p>
            <a:pPr>
              <a:buNone/>
              <a:tabLst>
                <a:tab pos="2055813" algn="l"/>
              </a:tabLst>
            </a:pPr>
            <a:endParaRPr lang="en-US" altLang="en-US" sz="1700" i="1" dirty="0"/>
          </a:p>
          <a:p>
            <a:pPr>
              <a:tabLst>
                <a:tab pos="2055813" algn="l"/>
              </a:tabLst>
            </a:pPr>
            <a:r>
              <a:rPr lang="en-US" altLang="en-US" sz="1700" dirty="0"/>
              <a:t>Find the supervisor of “Bob”</a:t>
            </a:r>
          </a:p>
          <a:p>
            <a:pPr>
              <a:tabLst>
                <a:tab pos="2055813" algn="l"/>
              </a:tabLst>
            </a:pPr>
            <a:r>
              <a:rPr lang="en-US" altLang="en-US" sz="1700" dirty="0"/>
              <a:t>Find the supervisor of the supervisor of “Bob”</a:t>
            </a:r>
          </a:p>
          <a:p>
            <a:pPr>
              <a:tabLst>
                <a:tab pos="2055813" algn="l"/>
              </a:tabLst>
            </a:pPr>
            <a:r>
              <a:rPr lang="en-US" altLang="en-US" sz="1700" dirty="0"/>
              <a:t>Can you find  ALL the supervisors (direct and indirect) of “Bob”?</a:t>
            </a:r>
          </a:p>
          <a:p>
            <a:pPr>
              <a:tabLst>
                <a:tab pos="2055813" algn="l"/>
              </a:tabLst>
            </a:pPr>
            <a:endParaRPr lang="en-US" altLang="en-US" sz="1700" dirty="0"/>
          </a:p>
          <a:p>
            <a:pPr>
              <a:tabLst>
                <a:tab pos="2055813" algn="l"/>
              </a:tabLst>
            </a:pPr>
            <a:endParaRPr lang="en-US" altLang="en-US" sz="1700" dirty="0"/>
          </a:p>
        </p:txBody>
      </p:sp>
      <p:pic>
        <p:nvPicPr>
          <p:cNvPr id="4" name="Picture 1" descr="C:\Users\as668\Desktop\Judi\3_100.jpg"/>
          <p:cNvPicPr>
            <a:picLocks noChangeAspect="1" noChangeArrowheads="1"/>
          </p:cNvPicPr>
          <p:nvPr/>
        </p:nvPicPr>
        <p:blipFill>
          <a:blip r:embed="rId3"/>
          <a:srcRect/>
          <a:stretch>
            <a:fillRect/>
          </a:stretch>
        </p:blipFill>
        <p:spPr bwMode="auto">
          <a:xfrm>
            <a:off x="3462528" y="1658092"/>
            <a:ext cx="1784870" cy="1261759"/>
          </a:xfrm>
          <a:prstGeom prst="rect">
            <a:avLst/>
          </a:prstGeom>
          <a:noFill/>
        </p:spPr>
      </p:pic>
    </p:spTree>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r>
              <a:rPr lang="en-US" altLang="en-US" sz="2800" dirty="0"/>
              <a:t>String Operations</a:t>
            </a:r>
          </a:p>
        </p:txBody>
      </p:sp>
      <p:sp>
        <p:nvSpPr>
          <p:cNvPr id="25602" name="Rectangle 3"/>
          <p:cNvSpPr>
            <a:spLocks noGrp="1" noChangeArrowheads="1"/>
          </p:cNvSpPr>
          <p:nvPr>
            <p:ph type="body" idx="1"/>
          </p:nvPr>
        </p:nvSpPr>
        <p:spPr>
          <a:xfrm>
            <a:off x="768351" y="1204024"/>
            <a:ext cx="7638802" cy="4648136"/>
          </a:xfrm>
        </p:spPr>
        <p:txBody>
          <a:bodyPr/>
          <a:lstStyle/>
          <a:p>
            <a:pPr>
              <a:tabLst>
                <a:tab pos="1889125" algn="l"/>
                <a:tab pos="2403475" algn="l"/>
              </a:tabLst>
            </a:pPr>
            <a:r>
              <a:rPr lang="en-US" altLang="en-US" sz="1700" dirty="0"/>
              <a:t>SQL includes a string-matching operator for comparisons on character strings.  The operator </a:t>
            </a:r>
            <a:r>
              <a:rPr lang="en-US" altLang="en-US" sz="1700" b="1" dirty="0"/>
              <a:t>like</a:t>
            </a:r>
            <a:r>
              <a:rPr lang="en-US" altLang="en-US" sz="1700" dirty="0"/>
              <a:t> uses patterns that are described using two special characters:</a:t>
            </a:r>
          </a:p>
          <a:p>
            <a:pPr lvl="1">
              <a:tabLst>
                <a:tab pos="1889125" algn="l"/>
                <a:tab pos="2403475" algn="l"/>
              </a:tabLst>
            </a:pPr>
            <a:r>
              <a:rPr lang="en-US" altLang="en-US" sz="1700" dirty="0"/>
              <a:t>percent ( % ).  The % character matches any substring.</a:t>
            </a:r>
          </a:p>
          <a:p>
            <a:pPr lvl="1">
              <a:tabLst>
                <a:tab pos="1889125" algn="l"/>
                <a:tab pos="2403475" algn="l"/>
              </a:tabLst>
            </a:pPr>
            <a:r>
              <a:rPr lang="en-US" altLang="en-US" sz="1700" dirty="0"/>
              <a:t>underscore ( _ ).  The _ character matches any character.</a:t>
            </a:r>
          </a:p>
          <a:p>
            <a:pPr>
              <a:tabLst>
                <a:tab pos="1889125" algn="l"/>
                <a:tab pos="2403475" algn="l"/>
              </a:tabLst>
            </a:pPr>
            <a:r>
              <a:rPr lang="en-US" altLang="en-US" sz="1700" dirty="0"/>
              <a:t>Find the names of all instructors whose name includes the substring “</a:t>
            </a:r>
            <a:r>
              <a:rPr lang="en-US" altLang="en-US" sz="1700" dirty="0" err="1"/>
              <a:t>dar</a:t>
            </a:r>
            <a:r>
              <a:rPr lang="en-US" altLang="en-US" sz="1700" dirty="0"/>
              <a:t>”.</a:t>
            </a:r>
          </a:p>
          <a:p>
            <a:pPr>
              <a:buFont typeface="Monotype Sorts" charset="2"/>
              <a:buNone/>
              <a:tabLst>
                <a:tab pos="1889125" algn="l"/>
                <a:tab pos="2403475" algn="l"/>
              </a:tabLst>
            </a:pPr>
            <a:r>
              <a:rPr lang="en-US" altLang="en-US" sz="1700" b="1" dirty="0"/>
              <a:t>		se</a:t>
            </a:r>
            <a:r>
              <a:rPr lang="en-US" altLang="en-US" sz="1700" dirty="0"/>
              <a:t>le</a:t>
            </a:r>
            <a:r>
              <a:rPr lang="en-US" altLang="en-US" sz="1700" b="1" dirty="0"/>
              <a:t>ct </a:t>
            </a:r>
            <a:r>
              <a:rPr lang="en-US" altLang="en-US" sz="1700" i="1" dirty="0"/>
              <a:t>name</a:t>
            </a:r>
            <a:br>
              <a:rPr lang="en-US" altLang="en-US" sz="1700" i="1" dirty="0"/>
            </a:br>
            <a:r>
              <a:rPr lang="en-US" altLang="en-US" sz="1700" i="1" dirty="0"/>
              <a:t>	</a:t>
            </a:r>
            <a:r>
              <a:rPr lang="en-US" altLang="en-US" sz="1700" b="1" dirty="0"/>
              <a:t>from </a:t>
            </a:r>
            <a:r>
              <a:rPr lang="en-US" altLang="en-US" sz="1700" i="1" dirty="0"/>
              <a:t>instructor</a:t>
            </a:r>
            <a:br>
              <a:rPr lang="en-US" altLang="en-US" sz="1700" i="1" dirty="0"/>
            </a:br>
            <a:r>
              <a:rPr lang="en-US" altLang="en-US" sz="1700" i="1" dirty="0"/>
              <a:t>	</a:t>
            </a:r>
            <a:r>
              <a:rPr lang="en-US" altLang="en-US" sz="1700" b="1" dirty="0"/>
              <a:t>where</a:t>
            </a:r>
            <a:r>
              <a:rPr lang="en-US" altLang="en-US" sz="1700" b="1" i="1" dirty="0"/>
              <a:t> </a:t>
            </a:r>
            <a:r>
              <a:rPr lang="en-US" altLang="en-US" sz="1700" i="1" dirty="0"/>
              <a:t>name </a:t>
            </a:r>
            <a:r>
              <a:rPr lang="en-US" altLang="en-US" sz="1700" b="1" dirty="0"/>
              <a:t>like </a:t>
            </a:r>
            <a:r>
              <a:rPr lang="en-US" altLang="en-US" sz="1700" b="1" dirty="0">
                <a:latin typeface="Century Gothic" panose="020B0502020202020204" pitchFamily="34" charset="0"/>
              </a:rPr>
              <a:t>'</a:t>
            </a:r>
            <a:r>
              <a:rPr lang="en-US" altLang="en-US" sz="1700" dirty="0"/>
              <a:t>%</a:t>
            </a:r>
            <a:r>
              <a:rPr lang="en-US" altLang="en-US" sz="1700" dirty="0" err="1"/>
              <a:t>dar</a:t>
            </a:r>
            <a:r>
              <a:rPr lang="en-US" altLang="en-US" sz="1700" dirty="0"/>
              <a:t>%</a:t>
            </a:r>
            <a:r>
              <a:rPr lang="en-US" altLang="en-US" sz="1700" dirty="0">
                <a:latin typeface="Century Gothic" panose="020B0502020202020204" pitchFamily="34" charset="0"/>
              </a:rPr>
              <a:t>' </a:t>
            </a:r>
          </a:p>
          <a:p>
            <a:pPr>
              <a:tabLst>
                <a:tab pos="1889125" algn="l"/>
                <a:tab pos="2403475" algn="l"/>
              </a:tabLst>
            </a:pPr>
            <a:r>
              <a:rPr lang="en-US" altLang="en-US" sz="1700" dirty="0"/>
              <a:t>Match the string “100%”</a:t>
            </a:r>
          </a:p>
          <a:p>
            <a:pPr>
              <a:buFont typeface="Monotype Sorts" charset="2"/>
              <a:buNone/>
              <a:tabLst>
                <a:tab pos="1889125" algn="l"/>
                <a:tab pos="2403475" algn="l"/>
              </a:tabLst>
            </a:pPr>
            <a:r>
              <a:rPr lang="en-US" altLang="en-US" sz="1700" dirty="0"/>
              <a:t>			</a:t>
            </a:r>
            <a:r>
              <a:rPr lang="en-US" altLang="en-US" sz="1700" b="1" dirty="0"/>
              <a:t>like </a:t>
            </a:r>
            <a:r>
              <a:rPr lang="en-US" altLang="en-US" sz="1700" b="1" dirty="0">
                <a:latin typeface="Century Gothic" panose="020B0502020202020204" pitchFamily="34" charset="0"/>
              </a:rPr>
              <a:t>'</a:t>
            </a:r>
            <a:r>
              <a:rPr lang="en-US" altLang="ja-JP" sz="1700" dirty="0"/>
              <a:t>100 \%</a:t>
            </a:r>
            <a:r>
              <a:rPr lang="en-US" altLang="ja-JP" sz="1700" dirty="0">
                <a:latin typeface="Century Gothic" panose="020B0502020202020204" pitchFamily="34" charset="0"/>
              </a:rPr>
              <a:t>' </a:t>
            </a:r>
            <a:r>
              <a:rPr lang="en-US" altLang="ja-JP" sz="1700" dirty="0"/>
              <a:t> </a:t>
            </a:r>
            <a:r>
              <a:rPr lang="en-US" altLang="ja-JP" sz="1700" b="1" dirty="0"/>
              <a:t>escape  </a:t>
            </a:r>
            <a:r>
              <a:rPr lang="en-US" altLang="ja-JP" sz="1700" b="1" dirty="0">
                <a:latin typeface="Century Gothic" panose="020B0502020202020204" pitchFamily="34" charset="0"/>
              </a:rPr>
              <a:t>'</a:t>
            </a:r>
            <a:r>
              <a:rPr lang="en-US" altLang="ja-JP" sz="1700" dirty="0"/>
              <a:t>\</a:t>
            </a:r>
            <a:r>
              <a:rPr lang="en-US" altLang="ja-JP" sz="1700" dirty="0">
                <a:latin typeface="Century Gothic" panose="020B0502020202020204" pitchFamily="34" charset="0"/>
              </a:rPr>
              <a:t>' </a:t>
            </a:r>
            <a:endParaRPr lang="en-US" altLang="ja-JP" sz="1700" dirty="0"/>
          </a:p>
          <a:p>
            <a:pPr>
              <a:buFont typeface="Monotype Sorts" charset="2"/>
              <a:buNone/>
              <a:tabLst>
                <a:tab pos="1889125" algn="l"/>
                <a:tab pos="2403475" algn="l"/>
              </a:tabLst>
            </a:pPr>
            <a:r>
              <a:rPr lang="en-US" altLang="en-US" sz="1700" dirty="0"/>
              <a:t>      in that above we use backslash (\) as the escape character.</a:t>
            </a:r>
          </a:p>
          <a:p>
            <a:pPr>
              <a:buFont typeface="Monotype Sorts" charset="2"/>
              <a:buNone/>
              <a:tabLst>
                <a:tab pos="1889125" algn="l"/>
                <a:tab pos="2403475" algn="l"/>
              </a:tabLst>
            </a:pPr>
            <a:endParaRPr lang="en-US" altLang="en-US" sz="17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6818" name="Rectangle 2"/>
          <p:cNvSpPr>
            <a:spLocks noGrp="1" noChangeArrowheads="1"/>
          </p:cNvSpPr>
          <p:nvPr>
            <p:ph type="title"/>
          </p:nvPr>
        </p:nvSpPr>
        <p:spPr/>
        <p:txBody>
          <a:bodyPr/>
          <a:lstStyle/>
          <a:p>
            <a:r>
              <a:rPr lang="en-US" altLang="en-US" sz="2800" dirty="0"/>
              <a:t>String Operations (Cont.)</a:t>
            </a:r>
          </a:p>
        </p:txBody>
      </p:sp>
      <p:sp>
        <p:nvSpPr>
          <p:cNvPr id="26626" name="Rectangle 3"/>
          <p:cNvSpPr>
            <a:spLocks noGrp="1" noChangeArrowheads="1"/>
          </p:cNvSpPr>
          <p:nvPr>
            <p:ph type="body" idx="1"/>
          </p:nvPr>
        </p:nvSpPr>
        <p:spPr>
          <a:xfrm>
            <a:off x="768351" y="1106488"/>
            <a:ext cx="7434616" cy="4379912"/>
          </a:xfrm>
        </p:spPr>
        <p:txBody>
          <a:bodyPr/>
          <a:lstStyle/>
          <a:p>
            <a:pPr>
              <a:tabLst>
                <a:tab pos="1889125" algn="l"/>
                <a:tab pos="2403475" algn="l"/>
              </a:tabLst>
            </a:pPr>
            <a:r>
              <a:rPr lang="en-US" altLang="en-US" sz="1700" dirty="0"/>
              <a:t>Patterns are case sensitive. </a:t>
            </a:r>
          </a:p>
          <a:p>
            <a:pPr>
              <a:tabLst>
                <a:tab pos="1889125" algn="l"/>
                <a:tab pos="2403475" algn="l"/>
              </a:tabLst>
            </a:pPr>
            <a:r>
              <a:rPr lang="en-US" altLang="en-US" sz="1700" dirty="0"/>
              <a:t>Pattern matching examples:</a:t>
            </a:r>
          </a:p>
          <a:p>
            <a:pPr lvl="1">
              <a:tabLst>
                <a:tab pos="1889125" algn="l"/>
                <a:tab pos="2403475" algn="l"/>
              </a:tabLst>
            </a:pPr>
            <a:r>
              <a:rPr lang="en-US" altLang="en-US" sz="1700" dirty="0"/>
              <a:t>'Intro%' matches any string beginning with “Intro”.</a:t>
            </a:r>
          </a:p>
          <a:p>
            <a:pPr lvl="1">
              <a:tabLst>
                <a:tab pos="1889125" algn="l"/>
                <a:tab pos="2403475" algn="l"/>
              </a:tabLst>
            </a:pPr>
            <a:r>
              <a:rPr lang="en-US" altLang="en-US" sz="1700" dirty="0"/>
              <a:t>'%Comp%' matches any string containing “Comp” as a substring.</a:t>
            </a:r>
          </a:p>
          <a:p>
            <a:pPr lvl="1">
              <a:tabLst>
                <a:tab pos="1889125" algn="l"/>
                <a:tab pos="2403475" algn="l"/>
              </a:tabLst>
            </a:pPr>
            <a:r>
              <a:rPr lang="en-US" altLang="en-US" sz="1700" dirty="0"/>
              <a:t>'_ _ _' matches any string of exactly three characters.</a:t>
            </a:r>
          </a:p>
          <a:p>
            <a:pPr lvl="1">
              <a:tabLst>
                <a:tab pos="1889125" algn="l"/>
                <a:tab pos="2403475" algn="l"/>
              </a:tabLst>
            </a:pPr>
            <a:r>
              <a:rPr lang="en-US" altLang="en-US" sz="1700" dirty="0"/>
              <a:t>'_ _ _ %' matches any string of at least three characters.</a:t>
            </a:r>
          </a:p>
          <a:p>
            <a:pPr lvl="1">
              <a:buFont typeface="Monotype Sorts" charset="2"/>
              <a:buNone/>
              <a:tabLst>
                <a:tab pos="1889125" algn="l"/>
                <a:tab pos="2403475" algn="l"/>
              </a:tabLst>
            </a:pPr>
            <a:r>
              <a:rPr lang="en-US" altLang="en-US" sz="800" dirty="0"/>
              <a:t> </a:t>
            </a:r>
          </a:p>
          <a:p>
            <a:pPr>
              <a:tabLst>
                <a:tab pos="1889125" algn="l"/>
                <a:tab pos="2403475" algn="l"/>
              </a:tabLst>
            </a:pPr>
            <a:r>
              <a:rPr lang="en-US" altLang="en-US" sz="1700" dirty="0"/>
              <a:t>SQL supports a variety of string operations such as</a:t>
            </a:r>
          </a:p>
          <a:p>
            <a:pPr lvl="1">
              <a:tabLst>
                <a:tab pos="1889125" algn="l"/>
                <a:tab pos="2403475" algn="l"/>
              </a:tabLst>
            </a:pPr>
            <a:r>
              <a:rPr lang="en-US" altLang="en-US" sz="1700" dirty="0"/>
              <a:t>concatenation (using “||”)</a:t>
            </a:r>
          </a:p>
          <a:p>
            <a:pPr lvl="1">
              <a:tabLst>
                <a:tab pos="1889125" algn="l"/>
                <a:tab pos="2403475" algn="l"/>
              </a:tabLst>
            </a:pPr>
            <a:r>
              <a:rPr lang="en-US" altLang="en-US" sz="1700" dirty="0"/>
              <a:t>converting from upper to lower case (and vice versa)</a:t>
            </a:r>
          </a:p>
          <a:p>
            <a:pPr lvl="1">
              <a:tabLst>
                <a:tab pos="1889125" algn="l"/>
                <a:tab pos="2403475" algn="l"/>
              </a:tabLst>
            </a:pPr>
            <a:r>
              <a:rPr lang="en-US" altLang="en-US" sz="1700" dirty="0"/>
              <a:t>finding string length, extracting substrings, etc.</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p:txBody>
          <a:bodyPr/>
          <a:lstStyle/>
          <a:p>
            <a:r>
              <a:rPr lang="en-US" altLang="en-US" sz="2800" dirty="0"/>
              <a:t>Ordering the Display of Tuples</a:t>
            </a:r>
          </a:p>
        </p:txBody>
      </p:sp>
      <p:sp>
        <p:nvSpPr>
          <p:cNvPr id="27650" name="Rectangle 3"/>
          <p:cNvSpPr>
            <a:spLocks noGrp="1" noChangeArrowheads="1"/>
          </p:cNvSpPr>
          <p:nvPr>
            <p:ph type="body" idx="1"/>
          </p:nvPr>
        </p:nvSpPr>
        <p:spPr>
          <a:xfrm>
            <a:off x="768350" y="1108075"/>
            <a:ext cx="7522211" cy="4561205"/>
          </a:xfrm>
        </p:spPr>
        <p:txBody>
          <a:bodyPr/>
          <a:lstStyle/>
          <a:p>
            <a:pPr>
              <a:tabLst>
                <a:tab pos="906463" algn="l"/>
              </a:tabLst>
            </a:pPr>
            <a:r>
              <a:rPr lang="en-US" altLang="en-US" sz="1700" dirty="0"/>
              <a:t>List in alphabetic order the names of all instructors </a:t>
            </a:r>
          </a:p>
          <a:p>
            <a:pPr>
              <a:buFont typeface="Monotype Sorts" charset="2"/>
              <a:buNone/>
              <a:tabLst>
                <a:tab pos="906463" algn="l"/>
              </a:tabLst>
            </a:pPr>
            <a:r>
              <a:rPr lang="en-US" altLang="en-US" sz="1700" dirty="0"/>
              <a:t>              </a:t>
            </a:r>
            <a:r>
              <a:rPr lang="en-US" altLang="en-US" sz="1700" b="1" dirty="0"/>
              <a:t>select distinct </a:t>
            </a:r>
            <a:r>
              <a:rPr lang="en-US" altLang="en-US" sz="1700" i="1" dirty="0"/>
              <a:t>name</a:t>
            </a:r>
            <a:br>
              <a:rPr lang="en-US" altLang="en-US" sz="1700" i="1" dirty="0"/>
            </a:br>
            <a:r>
              <a:rPr lang="en-US" altLang="en-US" sz="1700" i="1" dirty="0"/>
              <a:t>	</a:t>
            </a:r>
            <a:r>
              <a:rPr lang="en-US" altLang="en-US" sz="1700" b="1" dirty="0"/>
              <a:t>from    </a:t>
            </a:r>
            <a:r>
              <a:rPr lang="en-US" altLang="en-US" sz="1700" i="1" dirty="0"/>
              <a:t>instructor</a:t>
            </a:r>
            <a:br>
              <a:rPr lang="en-US" altLang="en-US" sz="1700" i="1" dirty="0"/>
            </a:br>
            <a:r>
              <a:rPr lang="en-US" altLang="en-US" sz="1700" i="1" dirty="0"/>
              <a:t>	</a:t>
            </a:r>
            <a:r>
              <a:rPr lang="en-US" altLang="en-US" sz="1700" dirty="0"/>
              <a:t>	</a:t>
            </a:r>
            <a:r>
              <a:rPr lang="en-US" altLang="en-US" sz="1700" b="1" dirty="0"/>
              <a:t>order by </a:t>
            </a:r>
            <a:r>
              <a:rPr lang="en-US" altLang="en-US" sz="1700" i="1" dirty="0"/>
              <a:t>name</a:t>
            </a:r>
            <a:endParaRPr lang="en-US" altLang="en-US" sz="1700" dirty="0"/>
          </a:p>
          <a:p>
            <a:pPr>
              <a:tabLst>
                <a:tab pos="906463" algn="l"/>
              </a:tabLst>
            </a:pPr>
            <a:r>
              <a:rPr lang="en-US" altLang="en-US" sz="1700" dirty="0"/>
              <a:t>We may specify </a:t>
            </a:r>
            <a:r>
              <a:rPr lang="en-US" altLang="en-US" sz="1700" b="1" dirty="0" err="1">
                <a:solidFill>
                  <a:srgbClr val="002060"/>
                </a:solidFill>
              </a:rPr>
              <a:t>desc</a:t>
            </a:r>
            <a:r>
              <a:rPr lang="en-US" altLang="en-US" sz="1700" dirty="0">
                <a:solidFill>
                  <a:srgbClr val="002060"/>
                </a:solidFill>
              </a:rPr>
              <a:t> </a:t>
            </a:r>
            <a:r>
              <a:rPr lang="en-US" altLang="en-US" sz="1700" dirty="0"/>
              <a:t>for descending order or </a:t>
            </a:r>
            <a:r>
              <a:rPr lang="en-US" altLang="en-US" sz="1700" b="1" dirty="0" err="1">
                <a:solidFill>
                  <a:srgbClr val="002060"/>
                </a:solidFill>
              </a:rPr>
              <a:t>asc</a:t>
            </a:r>
            <a:r>
              <a:rPr lang="en-US" altLang="en-US" sz="1700" dirty="0"/>
              <a:t> for ascending order, for each attribute; ascending order is the default.</a:t>
            </a:r>
          </a:p>
          <a:p>
            <a:pPr lvl="1">
              <a:tabLst>
                <a:tab pos="906463" algn="l"/>
              </a:tabLst>
            </a:pPr>
            <a:r>
              <a:rPr lang="en-US" altLang="en-US" sz="1700" dirty="0"/>
              <a:t>Example:  </a:t>
            </a:r>
            <a:r>
              <a:rPr lang="en-US" altLang="en-US" sz="1700" b="1" dirty="0"/>
              <a:t>order by</a:t>
            </a:r>
            <a:r>
              <a:rPr lang="en-US" altLang="en-US" sz="1700" dirty="0"/>
              <a:t> </a:t>
            </a:r>
            <a:r>
              <a:rPr lang="en-US" altLang="en-US" sz="1700" i="1" dirty="0"/>
              <a:t>name</a:t>
            </a:r>
            <a:r>
              <a:rPr lang="en-US" altLang="en-US" sz="1700" dirty="0"/>
              <a:t> </a:t>
            </a:r>
            <a:r>
              <a:rPr lang="en-US" altLang="en-US" sz="1700" b="1" dirty="0" err="1"/>
              <a:t>desc</a:t>
            </a:r>
            <a:endParaRPr lang="en-US" altLang="en-US" sz="1700" b="1" dirty="0"/>
          </a:p>
          <a:p>
            <a:pPr>
              <a:tabLst>
                <a:tab pos="906463" algn="l"/>
              </a:tabLst>
            </a:pPr>
            <a:r>
              <a:rPr lang="en-US" altLang="en-US" sz="1700" dirty="0"/>
              <a:t>Can sort on multiple attributes</a:t>
            </a:r>
          </a:p>
          <a:p>
            <a:pPr lvl="1">
              <a:tabLst>
                <a:tab pos="906463" algn="l"/>
              </a:tabLst>
            </a:pPr>
            <a:r>
              <a:rPr lang="en-US" altLang="en-US" sz="1700" dirty="0"/>
              <a:t>Example: </a:t>
            </a:r>
            <a:r>
              <a:rPr lang="en-US" altLang="en-US" sz="1700" b="1" dirty="0"/>
              <a:t>order by </a:t>
            </a:r>
            <a:r>
              <a:rPr lang="en-US" altLang="en-US" sz="1700" dirty="0"/>
              <a:t> </a:t>
            </a:r>
            <a:r>
              <a:rPr lang="en-US" altLang="en-US" sz="1700" i="1" dirty="0" err="1"/>
              <a:t>dept_name</a:t>
            </a:r>
            <a:r>
              <a:rPr lang="en-US" altLang="en-US" sz="1700" i="1" dirty="0"/>
              <a:t>, </a:t>
            </a:r>
            <a:r>
              <a:rPr lang="en-US" altLang="en-US" sz="1700" i="1" dirty="0" smtClean="0"/>
              <a:t>name</a:t>
            </a:r>
          </a:p>
          <a:p>
            <a:pPr marL="1143000" lvl="3" indent="0">
              <a:buNone/>
            </a:pPr>
            <a:r>
              <a:rPr lang="en-US" dirty="0"/>
              <a:t>select * </a:t>
            </a:r>
          </a:p>
          <a:p>
            <a:pPr marL="1143000" lvl="3" indent="0">
              <a:buNone/>
            </a:pPr>
            <a:r>
              <a:rPr lang="en-US" dirty="0"/>
              <a:t>from instructor </a:t>
            </a:r>
          </a:p>
          <a:p>
            <a:pPr marL="1143000" lvl="3" indent="0">
              <a:buNone/>
            </a:pPr>
            <a:r>
              <a:rPr lang="en-US" dirty="0"/>
              <a:t>order by salary </a:t>
            </a:r>
            <a:r>
              <a:rPr lang="en-US" dirty="0" err="1"/>
              <a:t>desc</a:t>
            </a:r>
            <a:r>
              <a:rPr lang="en-US" dirty="0"/>
              <a:t>, name </a:t>
            </a:r>
            <a:r>
              <a:rPr lang="en-US" dirty="0" err="1"/>
              <a:t>asc</a:t>
            </a:r>
            <a:r>
              <a:rPr lang="en-US" dirty="0"/>
              <a:t>;</a:t>
            </a:r>
            <a:endParaRPr lang="en-US" altLang="en-US" dirty="0"/>
          </a:p>
          <a:p>
            <a:pPr lvl="1">
              <a:tabLst>
                <a:tab pos="906463" algn="l"/>
              </a:tabLst>
            </a:pPr>
            <a:endParaRPr lang="en-US" altLang="en-US" sz="17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lIns="90488" tIns="44450" rIns="90488" bIns="44450" anchor="ctr"/>
          <a:lstStyle/>
          <a:p>
            <a:r>
              <a:rPr lang="en-US" altLang="en-US" sz="2800" dirty="0"/>
              <a:t>Where Clause Predicates</a:t>
            </a:r>
          </a:p>
        </p:txBody>
      </p:sp>
      <p:sp>
        <p:nvSpPr>
          <p:cNvPr id="28674" name="Rectangle 3"/>
          <p:cNvSpPr>
            <a:spLocks noGrp="1" noChangeArrowheads="1"/>
          </p:cNvSpPr>
          <p:nvPr>
            <p:ph type="body" idx="1"/>
          </p:nvPr>
        </p:nvSpPr>
        <p:spPr>
          <a:xfrm>
            <a:off x="768351" y="1106489"/>
            <a:ext cx="7436866" cy="3624007"/>
          </a:xfrm>
        </p:spPr>
        <p:txBody>
          <a:bodyPr lIns="90488" tIns="44450" rIns="90488" bIns="44450"/>
          <a:lstStyle/>
          <a:p>
            <a:r>
              <a:rPr lang="en-US" altLang="en-US" sz="1700" dirty="0"/>
              <a:t>SQL includes a </a:t>
            </a:r>
            <a:r>
              <a:rPr lang="en-US" altLang="en-US" sz="1700" b="1" dirty="0">
                <a:solidFill>
                  <a:srgbClr val="002060"/>
                </a:solidFill>
              </a:rPr>
              <a:t>between</a:t>
            </a:r>
            <a:r>
              <a:rPr lang="en-US" altLang="en-US" sz="1700" dirty="0"/>
              <a:t> comparison operator</a:t>
            </a:r>
          </a:p>
          <a:p>
            <a:r>
              <a:rPr lang="en-US" altLang="en-US" sz="1700" dirty="0"/>
              <a:t>Example:  Find the names of all instructors with salary between $90,000 and $100,000 (that is, </a:t>
            </a:r>
            <a:r>
              <a:rPr lang="en-US" altLang="en-US" sz="1700" dirty="0">
                <a:latin typeface="Symbol" panose="05050102010706020507" pitchFamily="18" charset="2"/>
              </a:rPr>
              <a:t> </a:t>
            </a:r>
            <a:r>
              <a:rPr lang="en-US" altLang="en-US" sz="1700" dirty="0"/>
              <a:t>$90,000 and </a:t>
            </a:r>
            <a:r>
              <a:rPr lang="en-US" altLang="en-US" sz="1700" dirty="0">
                <a:latin typeface="Symbol" panose="05050102010706020507" pitchFamily="18" charset="2"/>
              </a:rPr>
              <a:t> </a:t>
            </a:r>
            <a:r>
              <a:rPr lang="en-US" altLang="en-US" sz="1700" dirty="0"/>
              <a:t>$100,000)</a:t>
            </a:r>
          </a:p>
          <a:p>
            <a:pPr lvl="1"/>
            <a:r>
              <a:rPr lang="en-US" altLang="en-US" sz="1700" b="1" dirty="0"/>
              <a:t>select</a:t>
            </a:r>
            <a:r>
              <a:rPr lang="en-US" altLang="en-US" sz="1700" i="1" dirty="0"/>
              <a:t> name</a:t>
            </a:r>
            <a:br>
              <a:rPr lang="en-US" altLang="en-US" sz="1700" i="1" dirty="0"/>
            </a:br>
            <a:r>
              <a:rPr lang="en-US" altLang="en-US" sz="1700" b="1" dirty="0"/>
              <a:t>from </a:t>
            </a:r>
            <a:r>
              <a:rPr lang="en-US" altLang="en-US" sz="1700" i="1" dirty="0"/>
              <a:t>instructor</a:t>
            </a:r>
            <a:r>
              <a:rPr lang="en-US" altLang="en-US" sz="1700" dirty="0"/>
              <a:t/>
            </a:r>
            <a:br>
              <a:rPr lang="en-US" altLang="en-US" sz="1700" dirty="0"/>
            </a:br>
            <a:r>
              <a:rPr lang="en-US" altLang="en-US" sz="1700" b="1" dirty="0"/>
              <a:t>where </a:t>
            </a:r>
            <a:r>
              <a:rPr lang="en-US" altLang="en-US" sz="1700" i="1" dirty="0"/>
              <a:t>salary </a:t>
            </a:r>
            <a:r>
              <a:rPr lang="en-US" altLang="en-US" sz="1700" b="1" dirty="0"/>
              <a:t>between </a:t>
            </a:r>
            <a:r>
              <a:rPr lang="en-US" altLang="en-US" sz="1700" dirty="0"/>
              <a:t>90000 </a:t>
            </a:r>
            <a:r>
              <a:rPr lang="en-US" altLang="en-US" sz="1700" b="1" dirty="0"/>
              <a:t>and </a:t>
            </a:r>
            <a:r>
              <a:rPr lang="en-US" altLang="en-US" sz="1700" dirty="0"/>
              <a:t>100000</a:t>
            </a:r>
          </a:p>
          <a:p>
            <a:r>
              <a:rPr lang="en-US" altLang="en-US" sz="1700" dirty="0"/>
              <a:t>Tuple comparison</a:t>
            </a:r>
          </a:p>
          <a:p>
            <a:pPr lvl="1"/>
            <a:r>
              <a:rPr kumimoji="0" lang="en-US" altLang="en-US" sz="1700" b="1" dirty="0"/>
              <a:t>select </a:t>
            </a:r>
            <a:r>
              <a:rPr kumimoji="0" lang="en-US" altLang="en-US" sz="1700" i="1" dirty="0"/>
              <a:t>name</a:t>
            </a:r>
            <a:r>
              <a:rPr kumimoji="0" lang="en-US" altLang="en-US" sz="1700" dirty="0"/>
              <a:t>, </a:t>
            </a:r>
            <a:r>
              <a:rPr kumimoji="0" lang="en-US" altLang="en-US" sz="1700" i="1" dirty="0" err="1"/>
              <a:t>course_id</a:t>
            </a:r>
            <a:r>
              <a:rPr kumimoji="0" lang="en-US" altLang="en-US" sz="1700" i="1" dirty="0"/>
              <a:t/>
            </a:r>
            <a:br>
              <a:rPr kumimoji="0" lang="en-US" altLang="en-US" sz="1700" i="1" dirty="0"/>
            </a:br>
            <a:r>
              <a:rPr kumimoji="0" lang="en-US" altLang="en-US" sz="1700" b="1" dirty="0"/>
              <a:t>from </a:t>
            </a:r>
            <a:r>
              <a:rPr kumimoji="0" lang="en-US" altLang="en-US" sz="1700" i="1" dirty="0"/>
              <a:t>instructor</a:t>
            </a:r>
            <a:r>
              <a:rPr kumimoji="0" lang="en-US" altLang="en-US" sz="1700" dirty="0"/>
              <a:t>, </a:t>
            </a:r>
            <a:r>
              <a:rPr kumimoji="0" lang="en-US" altLang="en-US" sz="1700" i="1" dirty="0"/>
              <a:t>teaches</a:t>
            </a:r>
            <a:br>
              <a:rPr kumimoji="0" lang="en-US" altLang="en-US" sz="1700" i="1" dirty="0"/>
            </a:br>
            <a:r>
              <a:rPr kumimoji="0" lang="en-US" altLang="en-US" sz="1700" b="1" dirty="0"/>
              <a:t>where </a:t>
            </a:r>
            <a:r>
              <a:rPr kumimoji="0" lang="en-US" altLang="en-US" sz="1700" dirty="0"/>
              <a:t>(</a:t>
            </a:r>
            <a:r>
              <a:rPr kumimoji="0" lang="en-US" altLang="en-US" sz="1700" i="1" dirty="0"/>
              <a:t>instructor</a:t>
            </a:r>
            <a:r>
              <a:rPr kumimoji="0" lang="en-US" altLang="en-US" sz="1700" dirty="0"/>
              <a:t>.</a:t>
            </a:r>
            <a:r>
              <a:rPr kumimoji="0" lang="en-US" altLang="en-US" sz="1700" i="1" dirty="0"/>
              <a:t>ID</a:t>
            </a:r>
            <a:r>
              <a:rPr kumimoji="0" lang="en-US" altLang="en-US" sz="1700" dirty="0"/>
              <a:t>, </a:t>
            </a:r>
            <a:r>
              <a:rPr kumimoji="0" lang="en-US" altLang="en-US" sz="1700" i="1" dirty="0"/>
              <a:t>dept_name</a:t>
            </a:r>
            <a:r>
              <a:rPr kumimoji="0" lang="en-US" altLang="en-US" sz="1700" dirty="0"/>
              <a:t>) = (</a:t>
            </a:r>
            <a:r>
              <a:rPr kumimoji="0" lang="en-US" altLang="en-US" sz="1700" i="1" dirty="0"/>
              <a:t>teaches</a:t>
            </a:r>
            <a:r>
              <a:rPr kumimoji="0" lang="en-US" altLang="en-US" sz="1700" dirty="0"/>
              <a:t>.</a:t>
            </a:r>
            <a:r>
              <a:rPr kumimoji="0" lang="en-US" altLang="en-US" sz="1700" i="1" dirty="0"/>
              <a:t>ID</a:t>
            </a:r>
            <a:r>
              <a:rPr kumimoji="0" lang="en-US" altLang="en-US" sz="1700" dirty="0"/>
              <a:t>, 'Biology');</a:t>
            </a:r>
          </a:p>
          <a:p>
            <a:pPr lvl="1"/>
            <a:endParaRPr kumimoji="0" lang="en-US" altLang="en-US" sz="1700" dirty="0">
              <a:latin typeface="Times New Roman" panose="02020603050405020304" pitchFamily="18" charset="0"/>
            </a:endParaRPr>
          </a:p>
          <a:p>
            <a:endParaRPr lang="en-US" altLang="en-US" dirty="0"/>
          </a:p>
        </p:txBody>
      </p:sp>
      <p:sp>
        <p:nvSpPr>
          <p:cNvPr id="2" name="Rectangle 1"/>
          <p:cNvSpPr/>
          <p:nvPr/>
        </p:nvSpPr>
        <p:spPr>
          <a:xfrm>
            <a:off x="3633217" y="5302415"/>
            <a:ext cx="4572000" cy="1077218"/>
          </a:xfrm>
          <a:prstGeom prst="rect">
            <a:avLst/>
          </a:prstGeom>
        </p:spPr>
        <p:txBody>
          <a:bodyPr>
            <a:spAutoFit/>
          </a:bodyPr>
          <a:lstStyle/>
          <a:p>
            <a:pPr lvl="1"/>
            <a:r>
              <a:rPr lang="en-US" dirty="0"/>
              <a:t>select name, </a:t>
            </a:r>
            <a:r>
              <a:rPr lang="en-US" dirty="0" err="1" smtClean="0"/>
              <a:t>course_id</a:t>
            </a:r>
            <a:r>
              <a:rPr lang="en-US" dirty="0" smtClean="0"/>
              <a:t> </a:t>
            </a:r>
            <a:endParaRPr lang="en-US" dirty="0"/>
          </a:p>
          <a:p>
            <a:pPr lvl="1"/>
            <a:r>
              <a:rPr lang="en-US" dirty="0"/>
              <a:t>from instructor, teaches </a:t>
            </a:r>
          </a:p>
          <a:p>
            <a:pPr lvl="1"/>
            <a:r>
              <a:rPr lang="en-US" dirty="0"/>
              <a:t>where instructor.ID= teaches.ID and </a:t>
            </a:r>
            <a:r>
              <a:rPr lang="en-US" dirty="0" err="1" smtClean="0"/>
              <a:t>dept_name</a:t>
            </a:r>
            <a:r>
              <a:rPr lang="en-US" dirty="0" smtClean="0"/>
              <a:t> </a:t>
            </a:r>
            <a:r>
              <a:rPr lang="en-US" dirty="0"/>
              <a:t>= 'Biology';</a:t>
            </a:r>
          </a:p>
        </p:txBody>
      </p:sp>
    </p:spTree>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r>
              <a:rPr lang="en-US" altLang="en-US" sz="2800" dirty="0"/>
              <a:t>Set Operations</a:t>
            </a:r>
          </a:p>
        </p:txBody>
      </p:sp>
      <p:sp>
        <p:nvSpPr>
          <p:cNvPr id="32770" name="Rectangle 3"/>
          <p:cNvSpPr>
            <a:spLocks noGrp="1" noChangeArrowheads="1"/>
          </p:cNvSpPr>
          <p:nvPr>
            <p:ph type="body" idx="1"/>
          </p:nvPr>
        </p:nvSpPr>
        <p:spPr>
          <a:xfrm>
            <a:off x="768351" y="1095375"/>
            <a:ext cx="7668514" cy="4903788"/>
          </a:xfrm>
        </p:spPr>
        <p:txBody>
          <a:bodyPr/>
          <a:lstStyle/>
          <a:p>
            <a:r>
              <a:rPr lang="en-US" altLang="en-US" sz="1700" dirty="0"/>
              <a:t>Find courses that ran in Fall 2017 or in Spring 2018</a:t>
            </a:r>
          </a:p>
          <a:p>
            <a:pPr marL="0" indent="0">
              <a:buNone/>
            </a:pPr>
            <a:r>
              <a:rPr lang="en-US" altLang="en-US" sz="1700" dirty="0"/>
              <a:t>          </a:t>
            </a:r>
            <a:r>
              <a:rPr lang="en-US" altLang="en-US" sz="1600" dirty="0"/>
              <a:t>(</a:t>
            </a:r>
            <a:r>
              <a:rPr lang="en-US" altLang="en-US" sz="1600" b="1" dirty="0"/>
              <a:t>select</a:t>
            </a:r>
            <a:r>
              <a:rPr lang="en-US" altLang="en-US" sz="1600" dirty="0"/>
              <a:t> </a:t>
            </a:r>
            <a:r>
              <a:rPr lang="en-US" altLang="en-US" sz="1600" i="1" dirty="0" err="1"/>
              <a:t>course_id</a:t>
            </a:r>
            <a:r>
              <a:rPr lang="en-US" altLang="en-US" sz="1600" i="1" dirty="0"/>
              <a:t>  </a:t>
            </a:r>
            <a:r>
              <a:rPr lang="en-US" altLang="en-US" sz="1600" b="1" dirty="0"/>
              <a:t>from </a:t>
            </a:r>
            <a:r>
              <a:rPr lang="en-US" altLang="en-US" sz="1600" i="1" dirty="0"/>
              <a:t>section </a:t>
            </a:r>
            <a:r>
              <a:rPr lang="en-US" altLang="en-US" sz="1600" b="1" dirty="0"/>
              <a:t>where </a:t>
            </a:r>
            <a:r>
              <a:rPr lang="en-US" altLang="en-US" sz="1600" i="1" dirty="0" err="1"/>
              <a:t>sem</a:t>
            </a:r>
            <a:r>
              <a:rPr lang="en-US" altLang="en-US" sz="1600" i="1" dirty="0"/>
              <a:t> = </a:t>
            </a:r>
            <a:r>
              <a:rPr lang="en-US" altLang="en-US" sz="1600" dirty="0"/>
              <a:t>'Fall' </a:t>
            </a:r>
            <a:r>
              <a:rPr lang="en-US" altLang="en-US" sz="1600" b="1" dirty="0"/>
              <a:t>and </a:t>
            </a:r>
            <a:r>
              <a:rPr lang="en-US" altLang="en-US" sz="1600" i="1" dirty="0"/>
              <a:t>year = </a:t>
            </a:r>
            <a:r>
              <a:rPr lang="en-US" altLang="en-US" sz="1600" dirty="0"/>
              <a:t>2017)</a:t>
            </a:r>
            <a:br>
              <a:rPr lang="en-US" altLang="en-US" sz="1600" dirty="0"/>
            </a:br>
            <a:r>
              <a:rPr lang="en-US" altLang="en-US" sz="1600" dirty="0"/>
              <a:t>           </a:t>
            </a:r>
            <a:r>
              <a:rPr lang="en-US" altLang="en-US" sz="1600" b="1" dirty="0"/>
              <a:t>union</a:t>
            </a:r>
            <a:br>
              <a:rPr lang="en-US" altLang="en-US" sz="1600" b="1" dirty="0"/>
            </a:br>
            <a:r>
              <a:rPr lang="en-US" altLang="en-US" sz="1600" b="1" dirty="0"/>
              <a:t>           </a:t>
            </a:r>
            <a:r>
              <a:rPr lang="en-US" altLang="en-US" sz="1600" dirty="0"/>
              <a:t>(</a:t>
            </a:r>
            <a:r>
              <a:rPr lang="en-US" altLang="en-US" sz="1600" b="1" dirty="0"/>
              <a:t>select</a:t>
            </a:r>
            <a:r>
              <a:rPr lang="en-US" altLang="en-US" sz="1600" dirty="0"/>
              <a:t> </a:t>
            </a:r>
            <a:r>
              <a:rPr lang="en-US" altLang="en-US" sz="1600" i="1" dirty="0" err="1"/>
              <a:t>course_id</a:t>
            </a:r>
            <a:r>
              <a:rPr lang="en-US" altLang="en-US" sz="1600" i="1" dirty="0"/>
              <a:t>  </a:t>
            </a:r>
            <a:r>
              <a:rPr lang="en-US" altLang="en-US" sz="1600" b="1" dirty="0"/>
              <a:t>from </a:t>
            </a:r>
            <a:r>
              <a:rPr lang="en-US" altLang="en-US" sz="1600" i="1" dirty="0"/>
              <a:t>section </a:t>
            </a:r>
            <a:r>
              <a:rPr lang="en-US" altLang="en-US" sz="1600" b="1" dirty="0"/>
              <a:t>where </a:t>
            </a:r>
            <a:r>
              <a:rPr lang="en-US" altLang="en-US" sz="1600" i="1" dirty="0" err="1"/>
              <a:t>sem</a:t>
            </a:r>
            <a:r>
              <a:rPr lang="en-US" altLang="en-US" sz="1600" i="1" dirty="0"/>
              <a:t> = </a:t>
            </a:r>
            <a:r>
              <a:rPr lang="en-US" altLang="en-US" sz="1600" dirty="0"/>
              <a:t>'Spring' </a:t>
            </a:r>
            <a:r>
              <a:rPr lang="en-US" altLang="en-US" sz="1600" b="1" dirty="0"/>
              <a:t>and </a:t>
            </a:r>
            <a:r>
              <a:rPr lang="en-US" altLang="en-US" sz="1600" i="1" dirty="0"/>
              <a:t>year = </a:t>
            </a:r>
            <a:r>
              <a:rPr lang="en-US" altLang="en-US" sz="1600" dirty="0"/>
              <a:t>2018)</a:t>
            </a:r>
            <a:endParaRPr lang="en-US" altLang="en-US" sz="1700" dirty="0"/>
          </a:p>
          <a:p>
            <a:r>
              <a:rPr lang="en-US" altLang="en-US" sz="1700" dirty="0"/>
              <a:t>Find courses that ran in Fall 2017 and in Spring 2018</a:t>
            </a:r>
          </a:p>
          <a:p>
            <a:pPr marL="0" indent="0">
              <a:buNone/>
            </a:pPr>
            <a:r>
              <a:rPr lang="en-US" altLang="en-US" sz="1700" dirty="0"/>
              <a:t>         </a:t>
            </a:r>
            <a:r>
              <a:rPr lang="en-US" altLang="en-US" sz="2000" dirty="0"/>
              <a:t> </a:t>
            </a:r>
            <a:r>
              <a:rPr lang="en-US" altLang="en-US" sz="1600" dirty="0"/>
              <a:t>(</a:t>
            </a:r>
            <a:r>
              <a:rPr lang="en-US" altLang="en-US" sz="1600" b="1" dirty="0"/>
              <a:t>select</a:t>
            </a:r>
            <a:r>
              <a:rPr lang="en-US" altLang="en-US" sz="1600" dirty="0"/>
              <a:t> </a:t>
            </a:r>
            <a:r>
              <a:rPr lang="en-US" altLang="en-US" sz="1600" i="1" dirty="0" err="1"/>
              <a:t>course_id</a:t>
            </a:r>
            <a:r>
              <a:rPr lang="en-US" altLang="en-US" sz="1600" i="1" dirty="0"/>
              <a:t>  </a:t>
            </a:r>
            <a:r>
              <a:rPr lang="en-US" altLang="en-US" sz="1600" b="1" dirty="0"/>
              <a:t>from </a:t>
            </a:r>
            <a:r>
              <a:rPr lang="en-US" altLang="en-US" sz="1600" i="1" dirty="0"/>
              <a:t>section </a:t>
            </a:r>
            <a:r>
              <a:rPr lang="en-US" altLang="en-US" sz="1600" b="1" dirty="0"/>
              <a:t>where </a:t>
            </a:r>
            <a:r>
              <a:rPr lang="en-US" altLang="en-US" sz="1600" i="1" dirty="0" err="1"/>
              <a:t>sem</a:t>
            </a:r>
            <a:r>
              <a:rPr lang="en-US" altLang="en-US" sz="1600" i="1" dirty="0"/>
              <a:t> = </a:t>
            </a:r>
            <a:r>
              <a:rPr lang="en-US" altLang="en-US" sz="1600" dirty="0"/>
              <a:t>'Fall' </a:t>
            </a:r>
            <a:r>
              <a:rPr lang="en-US" altLang="en-US" sz="1600" b="1" dirty="0"/>
              <a:t>and </a:t>
            </a:r>
            <a:r>
              <a:rPr lang="en-US" altLang="en-US" sz="1600" i="1" dirty="0"/>
              <a:t>year = </a:t>
            </a:r>
            <a:r>
              <a:rPr lang="en-US" altLang="en-US" sz="1600" dirty="0"/>
              <a:t>2017)</a:t>
            </a:r>
            <a:br>
              <a:rPr lang="en-US" altLang="en-US" sz="1600" dirty="0"/>
            </a:br>
            <a:r>
              <a:rPr lang="en-US" altLang="en-US" sz="1600" dirty="0"/>
              <a:t>           </a:t>
            </a:r>
            <a:r>
              <a:rPr lang="en-US" altLang="en-US" sz="1600" b="1" dirty="0"/>
              <a:t>intersect</a:t>
            </a:r>
            <a:br>
              <a:rPr lang="en-US" altLang="en-US" sz="1600" b="1" dirty="0"/>
            </a:br>
            <a:r>
              <a:rPr lang="en-US" altLang="en-US" sz="1600" b="1" dirty="0"/>
              <a:t>           </a:t>
            </a:r>
            <a:r>
              <a:rPr lang="en-US" altLang="en-US" sz="1600" dirty="0"/>
              <a:t>(</a:t>
            </a:r>
            <a:r>
              <a:rPr lang="en-US" altLang="en-US" sz="1600" b="1" dirty="0"/>
              <a:t>select</a:t>
            </a:r>
            <a:r>
              <a:rPr lang="en-US" altLang="en-US" sz="1600" dirty="0"/>
              <a:t> </a:t>
            </a:r>
            <a:r>
              <a:rPr lang="en-US" altLang="en-US" sz="1600" i="1" dirty="0" err="1"/>
              <a:t>course_id</a:t>
            </a:r>
            <a:r>
              <a:rPr lang="en-US" altLang="en-US" sz="1600" i="1" dirty="0"/>
              <a:t>  </a:t>
            </a:r>
            <a:r>
              <a:rPr lang="en-US" altLang="en-US" sz="1600" b="1" dirty="0"/>
              <a:t>from </a:t>
            </a:r>
            <a:r>
              <a:rPr lang="en-US" altLang="en-US" sz="1600" i="1" dirty="0"/>
              <a:t>section </a:t>
            </a:r>
            <a:r>
              <a:rPr lang="en-US" altLang="en-US" sz="1600" b="1" dirty="0"/>
              <a:t>where </a:t>
            </a:r>
            <a:r>
              <a:rPr lang="en-US" altLang="en-US" sz="1600" i="1" dirty="0" err="1"/>
              <a:t>sem</a:t>
            </a:r>
            <a:r>
              <a:rPr lang="en-US" altLang="en-US" sz="1600" i="1" dirty="0"/>
              <a:t> = </a:t>
            </a:r>
            <a:r>
              <a:rPr lang="en-US" altLang="en-US" sz="1600" dirty="0"/>
              <a:t>'Spring' </a:t>
            </a:r>
            <a:r>
              <a:rPr lang="en-US" altLang="en-US" sz="1600" b="1" dirty="0"/>
              <a:t>and </a:t>
            </a:r>
            <a:r>
              <a:rPr lang="en-US" altLang="en-US" sz="1600" i="1" dirty="0"/>
              <a:t>year = </a:t>
            </a:r>
            <a:r>
              <a:rPr lang="en-US" altLang="en-US" sz="1600" dirty="0"/>
              <a:t>2018)</a:t>
            </a:r>
            <a:endParaRPr lang="en-US" altLang="en-US" sz="1700" dirty="0"/>
          </a:p>
          <a:p>
            <a:r>
              <a:rPr lang="en-US" altLang="en-US" sz="1700" dirty="0"/>
              <a:t>Find courses that ran in Fall 2017 but not in Spring 2018</a:t>
            </a:r>
          </a:p>
          <a:p>
            <a:pPr marL="0" indent="0">
              <a:buNone/>
            </a:pPr>
            <a:r>
              <a:rPr lang="en-US" altLang="en-US" sz="2000" dirty="0"/>
              <a:t>         </a:t>
            </a:r>
            <a:r>
              <a:rPr lang="en-US" altLang="en-US" sz="1600" dirty="0"/>
              <a:t>(</a:t>
            </a:r>
            <a:r>
              <a:rPr lang="en-US" altLang="en-US" sz="1600" b="1" dirty="0"/>
              <a:t>select</a:t>
            </a:r>
            <a:r>
              <a:rPr lang="en-US" altLang="en-US" sz="1600" dirty="0"/>
              <a:t> </a:t>
            </a:r>
            <a:r>
              <a:rPr lang="en-US" altLang="en-US" sz="1600" i="1" dirty="0" err="1"/>
              <a:t>course_id</a:t>
            </a:r>
            <a:r>
              <a:rPr lang="en-US" altLang="en-US" sz="1600" i="1" dirty="0"/>
              <a:t>  </a:t>
            </a:r>
            <a:r>
              <a:rPr lang="en-US" altLang="en-US" sz="1600" b="1" dirty="0"/>
              <a:t>from </a:t>
            </a:r>
            <a:r>
              <a:rPr lang="en-US" altLang="en-US" sz="1600" i="1" dirty="0"/>
              <a:t>section </a:t>
            </a:r>
            <a:r>
              <a:rPr lang="en-US" altLang="en-US" sz="1600" b="1" dirty="0"/>
              <a:t>where </a:t>
            </a:r>
            <a:r>
              <a:rPr lang="en-US" altLang="en-US" sz="1600" i="1" dirty="0" err="1"/>
              <a:t>sem</a:t>
            </a:r>
            <a:r>
              <a:rPr lang="en-US" altLang="en-US" sz="1600" i="1" dirty="0"/>
              <a:t> = </a:t>
            </a:r>
            <a:r>
              <a:rPr lang="en-US" altLang="en-US" sz="1600" dirty="0"/>
              <a:t>'Fall' </a:t>
            </a:r>
            <a:r>
              <a:rPr lang="en-US" altLang="en-US" sz="1600" b="1" dirty="0"/>
              <a:t>and </a:t>
            </a:r>
            <a:r>
              <a:rPr lang="en-US" altLang="en-US" sz="1600" i="1" dirty="0"/>
              <a:t>year = </a:t>
            </a:r>
            <a:r>
              <a:rPr lang="en-US" altLang="en-US" sz="1600" dirty="0"/>
              <a:t>2017)</a:t>
            </a:r>
            <a:br>
              <a:rPr lang="en-US" altLang="en-US" sz="1600" dirty="0"/>
            </a:br>
            <a:r>
              <a:rPr lang="en-US" altLang="en-US" sz="1600" dirty="0"/>
              <a:t>           </a:t>
            </a:r>
            <a:r>
              <a:rPr lang="en-US" altLang="en-US" sz="1600" b="1" dirty="0"/>
              <a:t>except</a:t>
            </a:r>
            <a:br>
              <a:rPr lang="en-US" altLang="en-US" sz="1600" b="1" dirty="0"/>
            </a:br>
            <a:r>
              <a:rPr lang="en-US" altLang="en-US" sz="1600" b="1" dirty="0"/>
              <a:t>           </a:t>
            </a:r>
            <a:r>
              <a:rPr lang="en-US" altLang="en-US" sz="1600" dirty="0"/>
              <a:t>(</a:t>
            </a:r>
            <a:r>
              <a:rPr lang="en-US" altLang="en-US" sz="1600" b="1" dirty="0"/>
              <a:t>select</a:t>
            </a:r>
            <a:r>
              <a:rPr lang="en-US" altLang="en-US" sz="1600" dirty="0"/>
              <a:t> </a:t>
            </a:r>
            <a:r>
              <a:rPr lang="en-US" altLang="en-US" sz="1600" i="1" dirty="0" err="1"/>
              <a:t>course_id</a:t>
            </a:r>
            <a:r>
              <a:rPr lang="en-US" altLang="en-US" sz="1600" i="1" dirty="0"/>
              <a:t>  </a:t>
            </a:r>
            <a:r>
              <a:rPr lang="en-US" altLang="en-US" sz="1600" b="1" dirty="0"/>
              <a:t>from </a:t>
            </a:r>
            <a:r>
              <a:rPr lang="en-US" altLang="en-US" sz="1600" i="1" dirty="0"/>
              <a:t>section </a:t>
            </a:r>
            <a:r>
              <a:rPr lang="en-US" altLang="en-US" sz="1600" b="1" dirty="0"/>
              <a:t>where </a:t>
            </a:r>
            <a:r>
              <a:rPr lang="en-US" altLang="en-US" sz="1600" i="1" dirty="0" err="1"/>
              <a:t>sem</a:t>
            </a:r>
            <a:r>
              <a:rPr lang="en-US" altLang="en-US" sz="1600" i="1" dirty="0"/>
              <a:t> = </a:t>
            </a:r>
            <a:r>
              <a:rPr lang="en-US" altLang="en-US" sz="1600" dirty="0"/>
              <a:t>'Spring' </a:t>
            </a:r>
            <a:r>
              <a:rPr lang="en-US" altLang="en-US" sz="1600" b="1" dirty="0"/>
              <a:t>and </a:t>
            </a:r>
            <a:r>
              <a:rPr lang="en-US" altLang="en-US" sz="1600" i="1" dirty="0"/>
              <a:t>year = </a:t>
            </a:r>
            <a:r>
              <a:rPr lang="en-US" altLang="en-US" sz="1600" dirty="0"/>
              <a:t>2018)</a:t>
            </a:r>
          </a:p>
          <a:p>
            <a:endParaRPr lang="en-US" altLang="en-US" dirty="0"/>
          </a:p>
          <a:p>
            <a:endParaRPr lang="en-US" altLang="en-US" dirty="0"/>
          </a:p>
          <a:p>
            <a:endParaRPr lang="en-US" altLang="en-US" dirty="0"/>
          </a:p>
          <a:p>
            <a:endParaRPr lang="en-US" altLang="en-US" dirty="0"/>
          </a:p>
          <a:p>
            <a:endParaRPr lang="en-US" altLang="en-US" dirty="0"/>
          </a:p>
          <a:p>
            <a:endParaRPr lang="en-US" altLang="en-US" b="1" dirty="0">
              <a:solidFill>
                <a:srgbClr val="002060"/>
              </a:solidFill>
            </a:endParaRPr>
          </a:p>
        </p:txBody>
      </p:sp>
    </p:spTree>
    <p:extLst>
      <p:ext uri="{BB962C8B-B14F-4D97-AF65-F5344CB8AC3E}">
        <p14:creationId xmlns:p14="http://schemas.microsoft.com/office/powerpoint/2010/main" val="204430458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r>
              <a:rPr lang="en-US" altLang="en-US" sz="2800" dirty="0"/>
              <a:t>Set Operations (Cont.)</a:t>
            </a:r>
          </a:p>
        </p:txBody>
      </p:sp>
      <p:sp>
        <p:nvSpPr>
          <p:cNvPr id="32770" name="Rectangle 3"/>
          <p:cNvSpPr>
            <a:spLocks noGrp="1" noChangeArrowheads="1"/>
          </p:cNvSpPr>
          <p:nvPr>
            <p:ph type="body" idx="1"/>
          </p:nvPr>
        </p:nvSpPr>
        <p:spPr>
          <a:xfrm>
            <a:off x="768351" y="1119759"/>
            <a:ext cx="7647680" cy="3647313"/>
          </a:xfrm>
        </p:spPr>
        <p:txBody>
          <a:bodyPr/>
          <a:lstStyle/>
          <a:p>
            <a:r>
              <a:rPr lang="en-US" altLang="en-US" sz="1700" dirty="0"/>
              <a:t>Set operations </a:t>
            </a:r>
            <a:r>
              <a:rPr lang="en-US" altLang="en-US" sz="1700" b="1" dirty="0">
                <a:solidFill>
                  <a:srgbClr val="002060"/>
                </a:solidFill>
              </a:rPr>
              <a:t>union</a:t>
            </a:r>
            <a:r>
              <a:rPr lang="en-US" altLang="en-US" sz="1700" b="1" dirty="0"/>
              <a:t>, </a:t>
            </a:r>
            <a:r>
              <a:rPr lang="en-US" altLang="en-US" sz="1700" b="1" dirty="0">
                <a:solidFill>
                  <a:srgbClr val="002060"/>
                </a:solidFill>
              </a:rPr>
              <a:t>intersect</a:t>
            </a:r>
            <a:r>
              <a:rPr lang="en-US" altLang="en-US" sz="1700" b="1" dirty="0"/>
              <a:t>, </a:t>
            </a:r>
            <a:r>
              <a:rPr lang="en-US" altLang="en-US" sz="1700" dirty="0"/>
              <a:t>and </a:t>
            </a:r>
            <a:r>
              <a:rPr lang="en-US" altLang="en-US" sz="1700" b="1" dirty="0">
                <a:solidFill>
                  <a:srgbClr val="002060"/>
                </a:solidFill>
              </a:rPr>
              <a:t>except </a:t>
            </a:r>
          </a:p>
          <a:p>
            <a:pPr lvl="1"/>
            <a:r>
              <a:rPr lang="en-US" altLang="en-US" sz="1700" dirty="0">
                <a:sym typeface="Symbol" panose="05050102010706020507" pitchFamily="18" charset="2"/>
              </a:rPr>
              <a:t>Each of the above operations automatically eliminates duplicates</a:t>
            </a:r>
          </a:p>
          <a:p>
            <a:r>
              <a:rPr lang="en-US" altLang="en-US" sz="1700" dirty="0">
                <a:sym typeface="Symbol" panose="05050102010706020507" pitchFamily="18" charset="2"/>
              </a:rPr>
              <a:t>To retain all duplicates use the</a:t>
            </a:r>
          </a:p>
          <a:p>
            <a:pPr lvl="1"/>
            <a:r>
              <a:rPr lang="en-US" altLang="en-US" sz="1700" b="1" dirty="0">
                <a:solidFill>
                  <a:srgbClr val="002060"/>
                </a:solidFill>
                <a:sym typeface="Symbol" panose="05050102010706020507" pitchFamily="18" charset="2"/>
              </a:rPr>
              <a:t>union all</a:t>
            </a:r>
            <a:r>
              <a:rPr lang="en-US" altLang="en-US" sz="1700" dirty="0">
                <a:solidFill>
                  <a:srgbClr val="002060"/>
                </a:solidFill>
                <a:sym typeface="Symbol" panose="05050102010706020507" pitchFamily="18" charset="2"/>
              </a:rPr>
              <a:t>,</a:t>
            </a:r>
          </a:p>
          <a:p>
            <a:pPr lvl="1"/>
            <a:r>
              <a:rPr lang="en-US" altLang="en-US" sz="1700" b="1" dirty="0">
                <a:solidFill>
                  <a:srgbClr val="002060"/>
                </a:solidFill>
                <a:sym typeface="Symbol" panose="05050102010706020507" pitchFamily="18" charset="2"/>
              </a:rPr>
              <a:t>intersect all</a:t>
            </a:r>
          </a:p>
          <a:p>
            <a:pPr lvl="1"/>
            <a:r>
              <a:rPr lang="en-US" altLang="en-US" sz="1700" b="1" dirty="0">
                <a:solidFill>
                  <a:srgbClr val="002060"/>
                </a:solidFill>
                <a:sym typeface="Symbol" panose="05050102010706020507" pitchFamily="18" charset="2"/>
              </a:rPr>
              <a:t>except all</a:t>
            </a:r>
            <a:r>
              <a:rPr lang="en-US" altLang="en-US" sz="1700" dirty="0">
                <a:solidFill>
                  <a:srgbClr val="002060"/>
                </a:solidFill>
                <a:sym typeface="Symbol" panose="05050102010706020507" pitchFamily="18" charset="2"/>
              </a:rPr>
              <a:t>.</a:t>
            </a:r>
            <a:r>
              <a:rPr lang="en-US" altLang="en-US" sz="1700" b="1" dirty="0">
                <a:solidFill>
                  <a:srgbClr val="002060"/>
                </a:solidFill>
                <a:sym typeface="Symbol" panose="05050102010706020507" pitchFamily="18" charset="2"/>
              </a:rPr>
              <a:t/>
            </a:r>
            <a:br>
              <a:rPr lang="en-US" altLang="en-US" sz="1700" b="1" dirty="0">
                <a:solidFill>
                  <a:srgbClr val="002060"/>
                </a:solidFill>
                <a:sym typeface="Symbol" panose="05050102010706020507" pitchFamily="18" charset="2"/>
              </a:rPr>
            </a:br>
            <a:endParaRPr lang="en-US" altLang="en-US" sz="1700" dirty="0">
              <a:solidFill>
                <a:srgbClr val="002060"/>
              </a:solidFill>
              <a:sym typeface="Symbol" panose="05050102010706020507" pitchFamily="18" charset="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1890" name="Rectangle 2"/>
          <p:cNvSpPr>
            <a:spLocks noGrp="1" noChangeArrowheads="1"/>
          </p:cNvSpPr>
          <p:nvPr>
            <p:ph type="title"/>
          </p:nvPr>
        </p:nvSpPr>
        <p:spPr/>
        <p:txBody>
          <a:bodyPr/>
          <a:lstStyle/>
          <a:p>
            <a:r>
              <a:rPr lang="en-US" altLang="en-US" sz="2800" dirty="0"/>
              <a:t>Null Values</a:t>
            </a:r>
          </a:p>
        </p:txBody>
      </p:sp>
      <p:sp>
        <p:nvSpPr>
          <p:cNvPr id="33794" name="Rectangle 3"/>
          <p:cNvSpPr>
            <a:spLocks noGrp="1" noChangeArrowheads="1"/>
          </p:cNvSpPr>
          <p:nvPr>
            <p:ph type="body" idx="1"/>
          </p:nvPr>
        </p:nvSpPr>
        <p:spPr>
          <a:xfrm>
            <a:off x="768350" y="1106488"/>
            <a:ext cx="7612169" cy="4648136"/>
          </a:xfrm>
        </p:spPr>
        <p:txBody>
          <a:bodyPr/>
          <a:lstStyle/>
          <a:p>
            <a:r>
              <a:rPr lang="en-US" altLang="en-US" sz="1700" dirty="0"/>
              <a:t>It is possible for tuples to have a null value, denoted by </a:t>
            </a:r>
            <a:r>
              <a:rPr lang="en-US" altLang="en-US" sz="1700" b="1" dirty="0"/>
              <a:t>null</a:t>
            </a:r>
            <a:r>
              <a:rPr lang="en-US" altLang="en-US" sz="1700" dirty="0"/>
              <a:t>, for some of their attributes</a:t>
            </a:r>
          </a:p>
          <a:p>
            <a:r>
              <a:rPr lang="en-US" altLang="en-US" sz="1700" b="1" dirty="0"/>
              <a:t>null</a:t>
            </a:r>
            <a:r>
              <a:rPr lang="en-US" altLang="en-US" sz="1700" dirty="0"/>
              <a:t> signifies an unknown value or that a value does not exist.</a:t>
            </a:r>
          </a:p>
          <a:p>
            <a:r>
              <a:rPr lang="en-US" altLang="en-US" sz="1700" dirty="0"/>
              <a:t>The result of any arithmetic expression involving </a:t>
            </a:r>
            <a:r>
              <a:rPr lang="en-US" altLang="en-US" sz="1700" b="1" dirty="0"/>
              <a:t>null</a:t>
            </a:r>
            <a:r>
              <a:rPr lang="en-US" altLang="en-US" sz="1700" dirty="0"/>
              <a:t> is </a:t>
            </a:r>
            <a:r>
              <a:rPr lang="en-US" altLang="en-US" sz="1700" b="1" dirty="0"/>
              <a:t>null</a:t>
            </a:r>
          </a:p>
          <a:p>
            <a:pPr lvl="1"/>
            <a:r>
              <a:rPr lang="en-US" altLang="en-US" sz="1700" dirty="0"/>
              <a:t>Example:  5 + </a:t>
            </a:r>
            <a:r>
              <a:rPr lang="en-US" altLang="en-US" sz="1700" b="1" dirty="0"/>
              <a:t>null</a:t>
            </a:r>
            <a:r>
              <a:rPr lang="en-US" altLang="en-US" sz="1700" dirty="0"/>
              <a:t>  returns </a:t>
            </a:r>
            <a:r>
              <a:rPr lang="en-US" altLang="en-US" sz="1700" b="1" dirty="0"/>
              <a:t>null</a:t>
            </a:r>
          </a:p>
          <a:p>
            <a:r>
              <a:rPr lang="en-US" altLang="en-US" sz="1700" dirty="0"/>
              <a:t>The predicate  </a:t>
            </a:r>
            <a:r>
              <a:rPr lang="en-US" altLang="en-US" sz="1700" b="1" dirty="0"/>
              <a:t>is null</a:t>
            </a:r>
            <a:r>
              <a:rPr lang="en-US" altLang="en-US" sz="1700" dirty="0"/>
              <a:t> can be used to check for null values.</a:t>
            </a:r>
          </a:p>
          <a:p>
            <a:pPr lvl="1"/>
            <a:r>
              <a:rPr lang="en-US" altLang="en-US" sz="1700" dirty="0"/>
              <a:t>Example: Find all instructors whose salary is null</a:t>
            </a:r>
            <a:r>
              <a:rPr lang="en-US" altLang="en-US" sz="1700" i="1" dirty="0"/>
              <a:t>.</a:t>
            </a:r>
          </a:p>
          <a:p>
            <a:pPr>
              <a:buFont typeface="Monotype Sorts" charset="2"/>
              <a:buNone/>
            </a:pPr>
            <a:r>
              <a:rPr lang="en-US" altLang="en-US" sz="1700" b="1" dirty="0"/>
              <a:t>		select</a:t>
            </a:r>
            <a:r>
              <a:rPr lang="en-US" altLang="en-US" sz="1700" i="1" dirty="0"/>
              <a:t> name</a:t>
            </a:r>
            <a:br>
              <a:rPr lang="en-US" altLang="en-US" sz="1700" i="1" dirty="0"/>
            </a:br>
            <a:r>
              <a:rPr lang="en-US" altLang="en-US" sz="1700" i="1" dirty="0"/>
              <a:t>	</a:t>
            </a:r>
            <a:r>
              <a:rPr lang="en-US" altLang="en-US" sz="1700" b="1" dirty="0"/>
              <a:t>from</a:t>
            </a:r>
            <a:r>
              <a:rPr lang="en-US" altLang="en-US" sz="1700" i="1" dirty="0"/>
              <a:t> instructor</a:t>
            </a:r>
            <a:br>
              <a:rPr lang="en-US" altLang="en-US" sz="1700" i="1" dirty="0"/>
            </a:br>
            <a:r>
              <a:rPr lang="en-US" altLang="en-US" sz="1700" i="1" dirty="0"/>
              <a:t>	</a:t>
            </a:r>
            <a:r>
              <a:rPr lang="en-US" altLang="en-US" sz="1700" b="1" dirty="0"/>
              <a:t>where </a:t>
            </a:r>
            <a:r>
              <a:rPr lang="en-US" altLang="en-US" sz="1700" i="1" dirty="0"/>
              <a:t>salary </a:t>
            </a:r>
            <a:r>
              <a:rPr lang="en-US" altLang="en-US" sz="1700" b="1" dirty="0"/>
              <a:t>is null</a:t>
            </a:r>
            <a:endParaRPr lang="en-US" altLang="en-US" sz="1700" dirty="0"/>
          </a:p>
          <a:p>
            <a:r>
              <a:rPr lang="en-US" altLang="en-US" sz="1700" dirty="0"/>
              <a:t>The predicate </a:t>
            </a:r>
            <a:r>
              <a:rPr lang="en-US" altLang="en-US" sz="1700" b="1" dirty="0"/>
              <a:t>is not null </a:t>
            </a:r>
            <a:r>
              <a:rPr lang="en-US" altLang="en-US" sz="1700" dirty="0"/>
              <a:t>succeeds if the value on which it is applied is not null.</a:t>
            </a:r>
          </a:p>
          <a:p>
            <a:endParaRPr lang="en-US" alt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3938" name="Rectangle 2"/>
          <p:cNvSpPr>
            <a:spLocks noGrp="1" noChangeArrowheads="1"/>
          </p:cNvSpPr>
          <p:nvPr>
            <p:ph type="title"/>
          </p:nvPr>
        </p:nvSpPr>
        <p:spPr>
          <a:xfrm>
            <a:off x="871538" y="120650"/>
            <a:ext cx="8077200" cy="609600"/>
          </a:xfrm>
        </p:spPr>
        <p:txBody>
          <a:bodyPr/>
          <a:lstStyle/>
          <a:p>
            <a:r>
              <a:rPr lang="en-US" altLang="en-US" sz="2800" dirty="0"/>
              <a:t>Null Values (Cont.)</a:t>
            </a:r>
          </a:p>
        </p:txBody>
      </p:sp>
      <p:sp>
        <p:nvSpPr>
          <p:cNvPr id="34818" name="Rectangle 3"/>
          <p:cNvSpPr>
            <a:spLocks noGrp="1" noChangeArrowheads="1"/>
          </p:cNvSpPr>
          <p:nvPr>
            <p:ph type="body" idx="1"/>
          </p:nvPr>
        </p:nvSpPr>
        <p:spPr>
          <a:xfrm>
            <a:off x="772357" y="1106489"/>
            <a:ext cx="7563776" cy="4818824"/>
          </a:xfrm>
        </p:spPr>
        <p:txBody>
          <a:bodyPr/>
          <a:lstStyle/>
          <a:p>
            <a:r>
              <a:rPr lang="en-US" altLang="en-US" sz="1700" dirty="0"/>
              <a:t>SQL treats as </a:t>
            </a:r>
            <a:r>
              <a:rPr lang="en-US" altLang="en-US" sz="1700" b="1" dirty="0"/>
              <a:t>unknown</a:t>
            </a:r>
            <a:r>
              <a:rPr lang="en-US" altLang="en-US" sz="1700" dirty="0"/>
              <a:t> the result of any comparison involving a null value (other than predicates </a:t>
            </a:r>
            <a:r>
              <a:rPr lang="en-US" altLang="en-US" sz="1700" b="1" dirty="0"/>
              <a:t>is null </a:t>
            </a:r>
            <a:r>
              <a:rPr lang="en-US" altLang="en-US" sz="1700" dirty="0"/>
              <a:t>and  </a:t>
            </a:r>
            <a:r>
              <a:rPr lang="en-US" altLang="en-US" sz="1700" b="1" dirty="0"/>
              <a:t>is not null</a:t>
            </a:r>
            <a:r>
              <a:rPr lang="en-US" altLang="en-US" sz="1700" dirty="0"/>
              <a:t>).</a:t>
            </a:r>
          </a:p>
          <a:p>
            <a:pPr lvl="1"/>
            <a:r>
              <a:rPr lang="en-US" altLang="en-US" sz="1700" dirty="0"/>
              <a:t>Example</a:t>
            </a:r>
            <a:r>
              <a:rPr lang="en-US" altLang="en-US" sz="1700" i="1" dirty="0"/>
              <a:t>: 5 &lt; </a:t>
            </a:r>
            <a:r>
              <a:rPr lang="en-US" altLang="en-US" sz="1700" b="1" dirty="0"/>
              <a:t>null</a:t>
            </a:r>
            <a:r>
              <a:rPr lang="en-US" altLang="en-US" sz="1700" i="1" dirty="0"/>
              <a:t>   </a:t>
            </a:r>
            <a:r>
              <a:rPr lang="en-US" altLang="en-US" sz="1700" dirty="0"/>
              <a:t>or</a:t>
            </a:r>
            <a:r>
              <a:rPr lang="en-US" altLang="en-US" sz="1700" i="1" dirty="0"/>
              <a:t>   </a:t>
            </a:r>
            <a:r>
              <a:rPr lang="en-US" altLang="en-US" sz="1700" b="1" dirty="0"/>
              <a:t>null</a:t>
            </a:r>
            <a:r>
              <a:rPr lang="en-US" altLang="en-US" sz="1700" i="1" dirty="0"/>
              <a:t> &lt;&gt; </a:t>
            </a:r>
            <a:r>
              <a:rPr lang="en-US" altLang="en-US" sz="1700" b="1" dirty="0"/>
              <a:t>null</a:t>
            </a:r>
            <a:r>
              <a:rPr lang="en-US" altLang="en-US" sz="1700" i="1" dirty="0"/>
              <a:t>    </a:t>
            </a:r>
            <a:r>
              <a:rPr lang="en-US" altLang="en-US" sz="1700" dirty="0"/>
              <a:t>or</a:t>
            </a:r>
            <a:r>
              <a:rPr lang="en-US" altLang="en-US" sz="1700" i="1" dirty="0"/>
              <a:t>    </a:t>
            </a:r>
            <a:r>
              <a:rPr lang="en-US" altLang="en-US" sz="1700" b="1" dirty="0"/>
              <a:t>null</a:t>
            </a:r>
            <a:r>
              <a:rPr lang="en-US" altLang="en-US" sz="1700" i="1" dirty="0"/>
              <a:t> = </a:t>
            </a:r>
            <a:r>
              <a:rPr lang="en-US" altLang="en-US" sz="1700" b="1" dirty="0"/>
              <a:t>null</a:t>
            </a:r>
            <a:endParaRPr lang="en-US" altLang="en-US" sz="1700" dirty="0"/>
          </a:p>
          <a:p>
            <a:r>
              <a:rPr lang="en-US" altLang="en-US" sz="1700" dirty="0"/>
              <a:t>The predicate in a </a:t>
            </a:r>
            <a:r>
              <a:rPr lang="en-US" altLang="en-US" sz="1700" b="1" dirty="0"/>
              <a:t>where</a:t>
            </a:r>
            <a:r>
              <a:rPr lang="en-US" altLang="en-US" sz="1700" dirty="0"/>
              <a:t> clause can involve Boolean operations (</a:t>
            </a:r>
            <a:r>
              <a:rPr lang="en-US" altLang="en-US" sz="1700" b="1" dirty="0"/>
              <a:t>and</a:t>
            </a:r>
            <a:r>
              <a:rPr lang="en-US" altLang="en-US" sz="1700" dirty="0"/>
              <a:t>, </a:t>
            </a:r>
            <a:r>
              <a:rPr lang="en-US" altLang="en-US" sz="1700" b="1" dirty="0"/>
              <a:t>or</a:t>
            </a:r>
            <a:r>
              <a:rPr lang="en-US" altLang="en-US" sz="1700" dirty="0"/>
              <a:t>, </a:t>
            </a:r>
            <a:r>
              <a:rPr lang="en-US" altLang="en-US" sz="1700" b="1" dirty="0"/>
              <a:t>not</a:t>
            </a:r>
            <a:r>
              <a:rPr lang="en-US" altLang="en-US" sz="1700" dirty="0"/>
              <a:t>); thus the definitions of the Boolean operations need to be  extended to deal with the value </a:t>
            </a:r>
            <a:r>
              <a:rPr lang="en-US" altLang="en-US" sz="1700" b="1" dirty="0"/>
              <a:t>unknown</a:t>
            </a:r>
            <a:r>
              <a:rPr lang="en-US" altLang="en-US" sz="1700" dirty="0"/>
              <a:t>.</a:t>
            </a:r>
          </a:p>
          <a:p>
            <a:pPr lvl="1"/>
            <a:r>
              <a:rPr lang="en-US" altLang="en-US" sz="1700" b="1" dirty="0"/>
              <a:t>and </a:t>
            </a:r>
            <a:r>
              <a:rPr lang="en-US" altLang="en-US" sz="1700" dirty="0"/>
              <a:t>:</a:t>
            </a:r>
            <a:r>
              <a:rPr lang="en-US" altLang="en-US" sz="1700" i="1" dirty="0"/>
              <a:t> (true</a:t>
            </a:r>
            <a:r>
              <a:rPr lang="en-US" altLang="en-US" sz="1700" b="1" dirty="0"/>
              <a:t> and </a:t>
            </a:r>
            <a:r>
              <a:rPr lang="en-US" altLang="en-US" sz="1700" i="1" dirty="0"/>
              <a:t>unknown)  = unknown,    </a:t>
            </a:r>
            <a:br>
              <a:rPr lang="en-US" altLang="en-US" sz="1700" i="1" dirty="0"/>
            </a:br>
            <a:r>
              <a:rPr lang="en-US" altLang="en-US" sz="1700" i="1" dirty="0"/>
              <a:t>          (false</a:t>
            </a:r>
            <a:r>
              <a:rPr lang="en-US" altLang="en-US" sz="1700" b="1" dirty="0"/>
              <a:t> and </a:t>
            </a:r>
            <a:r>
              <a:rPr lang="en-US" altLang="en-US" sz="1700" i="1" dirty="0"/>
              <a:t>unknown) = false,</a:t>
            </a:r>
            <a:br>
              <a:rPr lang="en-US" altLang="en-US" sz="1700" i="1" dirty="0"/>
            </a:br>
            <a:r>
              <a:rPr lang="en-US" altLang="en-US" sz="1700" i="1" dirty="0"/>
              <a:t>          (unknown </a:t>
            </a:r>
            <a:r>
              <a:rPr lang="en-US" altLang="en-US" sz="1700" b="1" dirty="0"/>
              <a:t>and</a:t>
            </a:r>
            <a:r>
              <a:rPr lang="en-US" altLang="en-US" sz="1700" i="1" dirty="0"/>
              <a:t> unknown) = unknown</a:t>
            </a:r>
            <a:endParaRPr lang="en-US" altLang="en-US" sz="1700" dirty="0"/>
          </a:p>
          <a:p>
            <a:pPr lvl="1"/>
            <a:r>
              <a:rPr lang="en-US" altLang="en-US" sz="1700" b="1" dirty="0"/>
              <a:t>or:    </a:t>
            </a:r>
            <a:r>
              <a:rPr lang="en-US" altLang="en-US" sz="1700" dirty="0"/>
              <a:t> (</a:t>
            </a:r>
            <a:r>
              <a:rPr lang="en-US" altLang="en-US" sz="1700" i="1" dirty="0"/>
              <a:t>unknown</a:t>
            </a:r>
            <a:r>
              <a:rPr lang="en-US" altLang="en-US" sz="1700" dirty="0"/>
              <a:t> </a:t>
            </a:r>
            <a:r>
              <a:rPr lang="en-US" altLang="en-US" sz="1700" b="1" dirty="0"/>
              <a:t>or</a:t>
            </a:r>
            <a:r>
              <a:rPr lang="en-US" altLang="en-US" sz="1700" dirty="0"/>
              <a:t> </a:t>
            </a:r>
            <a:r>
              <a:rPr lang="en-US" altLang="en-US" sz="1700" i="1" dirty="0"/>
              <a:t>true</a:t>
            </a:r>
            <a:r>
              <a:rPr lang="en-US" altLang="en-US" sz="1700" dirty="0"/>
              <a:t>)   = </a:t>
            </a:r>
            <a:r>
              <a:rPr lang="en-US" altLang="en-US" sz="1700" i="1" dirty="0"/>
              <a:t>true</a:t>
            </a:r>
            <a:r>
              <a:rPr lang="en-US" altLang="en-US" sz="1700" dirty="0"/>
              <a:t>,</a:t>
            </a:r>
            <a:br>
              <a:rPr lang="en-US" altLang="en-US" sz="1700" dirty="0"/>
            </a:br>
            <a:r>
              <a:rPr lang="en-US" altLang="en-US" sz="1700" dirty="0"/>
              <a:t>          (</a:t>
            </a:r>
            <a:r>
              <a:rPr lang="en-US" altLang="en-US" sz="1700" i="1" dirty="0"/>
              <a:t>unknown</a:t>
            </a:r>
            <a:r>
              <a:rPr lang="en-US" altLang="en-US" sz="1700" dirty="0"/>
              <a:t> </a:t>
            </a:r>
            <a:r>
              <a:rPr lang="en-US" altLang="en-US" sz="1700" b="1" dirty="0"/>
              <a:t>or</a:t>
            </a:r>
            <a:r>
              <a:rPr lang="en-US" altLang="en-US" sz="1700" dirty="0"/>
              <a:t> </a:t>
            </a:r>
            <a:r>
              <a:rPr lang="en-US" altLang="en-US" sz="1700" i="1" dirty="0"/>
              <a:t>false</a:t>
            </a:r>
            <a:r>
              <a:rPr lang="en-US" altLang="en-US" sz="1700" dirty="0"/>
              <a:t>)  = </a:t>
            </a:r>
            <a:r>
              <a:rPr lang="en-US" altLang="en-US" sz="1700" i="1" dirty="0"/>
              <a:t>unknown</a:t>
            </a:r>
            <a:r>
              <a:rPr lang="en-US" altLang="en-US" sz="1700" dirty="0"/>
              <a:t/>
            </a:r>
            <a:br>
              <a:rPr lang="en-US" altLang="en-US" sz="1700" dirty="0"/>
            </a:br>
            <a:r>
              <a:rPr lang="en-US" altLang="en-US" sz="1700" dirty="0"/>
              <a:t>          (</a:t>
            </a:r>
            <a:r>
              <a:rPr lang="en-US" altLang="en-US" sz="1700" i="1" dirty="0"/>
              <a:t>unknown </a:t>
            </a:r>
            <a:r>
              <a:rPr lang="en-US" altLang="en-US" sz="1700" b="1" dirty="0"/>
              <a:t>or</a:t>
            </a:r>
            <a:r>
              <a:rPr lang="en-US" altLang="en-US" sz="1700" i="1" dirty="0"/>
              <a:t> unknown) = unknown</a:t>
            </a:r>
          </a:p>
          <a:p>
            <a:r>
              <a:rPr lang="en-US" altLang="en-US" sz="1700" dirty="0"/>
              <a:t>Result of </a:t>
            </a:r>
            <a:r>
              <a:rPr lang="en-US" altLang="en-US" sz="1700" b="1" dirty="0"/>
              <a:t>where </a:t>
            </a:r>
            <a:r>
              <a:rPr lang="en-US" altLang="en-US" sz="1700" dirty="0"/>
              <a:t>clause predicate is treated as </a:t>
            </a:r>
            <a:r>
              <a:rPr lang="en-US" altLang="en-US" sz="1700" i="1" dirty="0"/>
              <a:t>false </a:t>
            </a:r>
            <a:r>
              <a:rPr lang="en-US" altLang="en-US" sz="1700" dirty="0"/>
              <a:t>if it evaluates to </a:t>
            </a:r>
            <a:r>
              <a:rPr lang="en-US" altLang="en-US" sz="1700" i="1" dirty="0"/>
              <a:t>unknown</a:t>
            </a:r>
            <a:endParaRPr lang="en-US" altLang="en-US" sz="17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r>
              <a:rPr lang="en-US" altLang="en-US" sz="2800" dirty="0"/>
              <a:t>Aggregate Functions</a:t>
            </a:r>
          </a:p>
        </p:txBody>
      </p:sp>
      <p:sp>
        <p:nvSpPr>
          <p:cNvPr id="35842" name="Rectangle 3"/>
          <p:cNvSpPr>
            <a:spLocks noGrp="1" noChangeArrowheads="1"/>
          </p:cNvSpPr>
          <p:nvPr>
            <p:ph type="body" idx="1"/>
          </p:nvPr>
        </p:nvSpPr>
        <p:spPr>
          <a:xfrm>
            <a:off x="768350" y="1093788"/>
            <a:ext cx="7253986" cy="3795204"/>
          </a:xfrm>
        </p:spPr>
        <p:txBody>
          <a:bodyPr/>
          <a:lstStyle/>
          <a:p>
            <a:pPr>
              <a:tabLst>
                <a:tab pos="2222500" algn="l"/>
              </a:tabLst>
            </a:pPr>
            <a:r>
              <a:rPr lang="en-US" altLang="en-US" sz="1700" dirty="0"/>
              <a:t>These functions operate on the multiset of values of a column of a relation, and return a value</a:t>
            </a:r>
          </a:p>
          <a:p>
            <a:pPr>
              <a:buFont typeface="Monotype Sorts" charset="2"/>
              <a:buNone/>
              <a:tabLst>
                <a:tab pos="2222500" algn="l"/>
              </a:tabLst>
            </a:pPr>
            <a:r>
              <a:rPr lang="en-US" altLang="en-US" sz="1700" dirty="0"/>
              <a:t>		</a:t>
            </a:r>
            <a:r>
              <a:rPr lang="en-US" altLang="en-US" sz="1700" b="1" dirty="0" err="1"/>
              <a:t>avg</a:t>
            </a:r>
            <a:r>
              <a:rPr lang="en-US" altLang="en-US" sz="1700" b="1" dirty="0"/>
              <a:t>: </a:t>
            </a:r>
            <a:r>
              <a:rPr lang="en-US" altLang="en-US" sz="1700" dirty="0"/>
              <a:t>average value</a:t>
            </a:r>
            <a:br>
              <a:rPr lang="en-US" altLang="en-US" sz="1700" dirty="0"/>
            </a:br>
            <a:r>
              <a:rPr lang="en-US" altLang="en-US" sz="1700" dirty="0"/>
              <a:t>	</a:t>
            </a:r>
            <a:r>
              <a:rPr lang="en-US" altLang="en-US" sz="1700" b="1" dirty="0"/>
              <a:t>min:  </a:t>
            </a:r>
            <a:r>
              <a:rPr lang="en-US" altLang="en-US" sz="1700" dirty="0"/>
              <a:t>minimum value</a:t>
            </a:r>
            <a:br>
              <a:rPr lang="en-US" altLang="en-US" sz="1700" dirty="0"/>
            </a:br>
            <a:r>
              <a:rPr lang="en-US" altLang="en-US" sz="1700" dirty="0"/>
              <a:t>	</a:t>
            </a:r>
            <a:r>
              <a:rPr lang="en-US" altLang="en-US" sz="1700" b="1" dirty="0"/>
              <a:t>max:  </a:t>
            </a:r>
            <a:r>
              <a:rPr lang="en-US" altLang="en-US" sz="1700" dirty="0"/>
              <a:t>maximum value</a:t>
            </a:r>
            <a:br>
              <a:rPr lang="en-US" altLang="en-US" sz="1700" dirty="0"/>
            </a:br>
            <a:r>
              <a:rPr lang="en-US" altLang="en-US" sz="1700" dirty="0"/>
              <a:t>	</a:t>
            </a:r>
            <a:r>
              <a:rPr lang="en-US" altLang="en-US" sz="1700" b="1" dirty="0"/>
              <a:t>sum:  </a:t>
            </a:r>
            <a:r>
              <a:rPr lang="en-US" altLang="en-US" sz="1700" dirty="0"/>
              <a:t>sum of values</a:t>
            </a:r>
            <a:br>
              <a:rPr lang="en-US" altLang="en-US" sz="1700" dirty="0"/>
            </a:br>
            <a:r>
              <a:rPr lang="en-US" altLang="en-US" sz="1700" dirty="0"/>
              <a:t>	</a:t>
            </a:r>
            <a:r>
              <a:rPr lang="en-US" altLang="en-US" sz="1700" b="1" dirty="0"/>
              <a:t>count:  </a:t>
            </a:r>
            <a:r>
              <a:rPr lang="en-US" altLang="en-US" sz="1700" dirty="0"/>
              <a:t>number of values</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p:txBody>
          <a:bodyPr/>
          <a:lstStyle/>
          <a:p>
            <a:r>
              <a:rPr lang="en-US" altLang="en-US" sz="2800" dirty="0"/>
              <a:t>Aggregate Functions Examples</a:t>
            </a:r>
          </a:p>
        </p:txBody>
      </p:sp>
      <p:sp>
        <p:nvSpPr>
          <p:cNvPr id="36866" name="Rectangle 3"/>
          <p:cNvSpPr>
            <a:spLocks noGrp="1" noChangeArrowheads="1"/>
          </p:cNvSpPr>
          <p:nvPr>
            <p:ph type="body" idx="1"/>
          </p:nvPr>
        </p:nvSpPr>
        <p:spPr>
          <a:xfrm>
            <a:off x="768350" y="1108075"/>
            <a:ext cx="7681913" cy="4805045"/>
          </a:xfrm>
        </p:spPr>
        <p:txBody>
          <a:bodyPr/>
          <a:lstStyle/>
          <a:p>
            <a:pPr>
              <a:tabLst>
                <a:tab pos="1711325" algn="l"/>
              </a:tabLst>
            </a:pPr>
            <a:r>
              <a:rPr lang="en-US" altLang="en-US" sz="1700" dirty="0"/>
              <a:t>Find the average salary of instructors in the Computer Science department </a:t>
            </a:r>
          </a:p>
          <a:p>
            <a:pPr lvl="1">
              <a:tabLst>
                <a:tab pos="1711325" algn="l"/>
              </a:tabLst>
            </a:pPr>
            <a:r>
              <a:rPr lang="en-US" altLang="en-US" sz="1700" b="1" dirty="0"/>
              <a:t>select </a:t>
            </a:r>
            <a:r>
              <a:rPr lang="en-US" altLang="en-US" sz="1700" b="1" dirty="0" err="1"/>
              <a:t>avg</a:t>
            </a:r>
            <a:r>
              <a:rPr lang="en-US" altLang="en-US" sz="1700" b="1" dirty="0"/>
              <a:t> </a:t>
            </a:r>
            <a:r>
              <a:rPr lang="en-US" altLang="en-US" sz="1700" dirty="0"/>
              <a:t>(</a:t>
            </a:r>
            <a:r>
              <a:rPr lang="en-US" altLang="en-US" sz="1700" i="1" dirty="0"/>
              <a:t>salary</a:t>
            </a:r>
            <a:r>
              <a:rPr lang="en-US" altLang="en-US" sz="1700" dirty="0"/>
              <a:t>)</a:t>
            </a:r>
            <a:br>
              <a:rPr lang="en-US" altLang="en-US" sz="1700" dirty="0"/>
            </a:br>
            <a:r>
              <a:rPr lang="en-US" altLang="en-US" sz="1700" b="1" dirty="0"/>
              <a:t>from </a:t>
            </a:r>
            <a:r>
              <a:rPr lang="en-US" altLang="en-US" sz="1700" i="1" dirty="0"/>
              <a:t>instructor</a:t>
            </a:r>
            <a:br>
              <a:rPr lang="en-US" altLang="en-US" sz="1700" i="1" dirty="0"/>
            </a:br>
            <a:r>
              <a:rPr lang="en-US" altLang="en-US" sz="1700" b="1" dirty="0"/>
              <a:t>where </a:t>
            </a:r>
            <a:r>
              <a:rPr lang="en-US" altLang="en-US" sz="1700" i="1" dirty="0" err="1"/>
              <a:t>dept_name</a:t>
            </a:r>
            <a:r>
              <a:rPr lang="en-US" altLang="en-US" sz="1700" dirty="0"/>
              <a:t>= 'Comp. Sci.';</a:t>
            </a:r>
          </a:p>
          <a:p>
            <a:pPr>
              <a:tabLst>
                <a:tab pos="1711325" algn="l"/>
              </a:tabLst>
            </a:pPr>
            <a:r>
              <a:rPr kumimoji="0" lang="en-US" altLang="en-US" sz="1700" dirty="0"/>
              <a:t>Find the total number of instructors who teach a course in the Spring 2018 semester</a:t>
            </a:r>
          </a:p>
          <a:p>
            <a:pPr lvl="1">
              <a:tabLst>
                <a:tab pos="1711325" algn="l"/>
              </a:tabLst>
            </a:pPr>
            <a:r>
              <a:rPr kumimoji="0" lang="en-US" altLang="en-US" sz="1700" b="1" dirty="0"/>
              <a:t>select count </a:t>
            </a:r>
            <a:r>
              <a:rPr kumimoji="0" lang="en-US" altLang="en-US" sz="1700" dirty="0"/>
              <a:t>(</a:t>
            </a:r>
            <a:r>
              <a:rPr kumimoji="0" lang="en-US" altLang="en-US" sz="1700" b="1" dirty="0"/>
              <a:t>distinct </a:t>
            </a:r>
            <a:r>
              <a:rPr kumimoji="0" lang="en-US" altLang="en-US" sz="1700" i="1" dirty="0"/>
              <a:t>ID</a:t>
            </a:r>
            <a:r>
              <a:rPr kumimoji="0" lang="en-US" altLang="en-US" sz="1700" dirty="0"/>
              <a:t>)</a:t>
            </a:r>
            <a:br>
              <a:rPr kumimoji="0" lang="en-US" altLang="en-US" sz="1700" dirty="0"/>
            </a:br>
            <a:r>
              <a:rPr kumimoji="0" lang="en-US" altLang="en-US" sz="1700" b="1" dirty="0"/>
              <a:t>from </a:t>
            </a:r>
            <a:r>
              <a:rPr kumimoji="0" lang="en-US" altLang="en-US" sz="1700" i="1" dirty="0"/>
              <a:t>teaches</a:t>
            </a:r>
            <a:br>
              <a:rPr kumimoji="0" lang="en-US" altLang="en-US" sz="1700" i="1" dirty="0"/>
            </a:br>
            <a:r>
              <a:rPr kumimoji="0" lang="en-US" altLang="en-US" sz="1700" b="1" dirty="0"/>
              <a:t>where </a:t>
            </a:r>
            <a:r>
              <a:rPr kumimoji="0" lang="en-US" altLang="en-US" sz="1700" i="1" dirty="0"/>
              <a:t>semester </a:t>
            </a:r>
            <a:r>
              <a:rPr kumimoji="0" lang="en-US" altLang="en-US" sz="1700" dirty="0"/>
              <a:t>= 'Spring' </a:t>
            </a:r>
            <a:r>
              <a:rPr kumimoji="0" lang="en-US" altLang="en-US" sz="1700" b="1" dirty="0"/>
              <a:t>and </a:t>
            </a:r>
            <a:r>
              <a:rPr kumimoji="0" lang="en-US" altLang="en-US" sz="1700" i="1" dirty="0"/>
              <a:t>year </a:t>
            </a:r>
            <a:r>
              <a:rPr kumimoji="0" lang="en-US" altLang="en-US" sz="1700" dirty="0"/>
              <a:t>= 2018;</a:t>
            </a:r>
          </a:p>
          <a:p>
            <a:pPr>
              <a:tabLst>
                <a:tab pos="1711325" algn="l"/>
              </a:tabLst>
            </a:pPr>
            <a:r>
              <a:rPr kumimoji="0" lang="en-US" altLang="en-US" sz="1700" dirty="0"/>
              <a:t>Find the number of tuples in the </a:t>
            </a:r>
            <a:r>
              <a:rPr kumimoji="0" lang="en-US" altLang="en-US" sz="1700" i="1" dirty="0"/>
              <a:t>course </a:t>
            </a:r>
            <a:r>
              <a:rPr kumimoji="0" lang="en-US" altLang="en-US" sz="1700" dirty="0"/>
              <a:t>relation</a:t>
            </a:r>
          </a:p>
          <a:p>
            <a:pPr lvl="1">
              <a:tabLst>
                <a:tab pos="1711325" algn="l"/>
              </a:tabLst>
            </a:pPr>
            <a:r>
              <a:rPr kumimoji="0" lang="en-US" altLang="en-US" sz="1700" b="1" dirty="0"/>
              <a:t>select count </a:t>
            </a:r>
            <a:r>
              <a:rPr kumimoji="0" lang="en-US" altLang="en-US" sz="1700" dirty="0"/>
              <a:t>(*)</a:t>
            </a:r>
            <a:br>
              <a:rPr kumimoji="0" lang="en-US" altLang="en-US" sz="1700" dirty="0"/>
            </a:br>
            <a:r>
              <a:rPr kumimoji="0" lang="en-US" altLang="en-US" sz="1700" b="1" dirty="0"/>
              <a:t>from </a:t>
            </a:r>
            <a:r>
              <a:rPr kumimoji="0" lang="en-US" altLang="en-US" sz="1700" i="1" dirty="0"/>
              <a:t>course</a:t>
            </a:r>
            <a:r>
              <a:rPr kumimoji="0" lang="en-US" altLang="en-US" sz="1700" dirty="0"/>
              <a:t>;</a:t>
            </a:r>
          </a:p>
          <a:p>
            <a:pPr lvl="1">
              <a:buNone/>
              <a:tabLst>
                <a:tab pos="1711325" algn="l"/>
              </a:tabLst>
            </a:pPr>
            <a:endParaRPr kumimoji="0" lang="en-US" altLang="en-US" dirty="0"/>
          </a:p>
          <a:p>
            <a:pPr>
              <a:tabLst>
                <a:tab pos="1711325" algn="l"/>
              </a:tabLst>
            </a:pPr>
            <a:endParaRPr lang="en-US" altLang="en-US" dirty="0"/>
          </a:p>
        </p:txBody>
      </p:sp>
      <p:sp>
        <p:nvSpPr>
          <p:cNvPr id="36867" name="Text Box 4"/>
          <p:cNvSpPr txBox="1">
            <a:spLocks noChangeArrowheads="1"/>
          </p:cNvSpPr>
          <p:nvPr/>
        </p:nvSpPr>
        <p:spPr bwMode="auto">
          <a:xfrm>
            <a:off x="758825" y="2813050"/>
            <a:ext cx="76819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r>
              <a:rPr kumimoji="1" lang="en-US" altLang="en-US" sz="1800"/>
              <a:t>   </a:t>
            </a:r>
            <a:endParaRPr lang="en-US" altLang="en-US" sz="160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r>
              <a:rPr lang="en-US" altLang="en-US" sz="2800" dirty="0"/>
              <a:t>Aggregate Functions – Group By</a:t>
            </a:r>
          </a:p>
        </p:txBody>
      </p:sp>
      <p:sp>
        <p:nvSpPr>
          <p:cNvPr id="37890" name="Rectangle 3"/>
          <p:cNvSpPr>
            <a:spLocks noGrp="1" noChangeArrowheads="1"/>
          </p:cNvSpPr>
          <p:nvPr>
            <p:ph type="body" idx="1"/>
          </p:nvPr>
        </p:nvSpPr>
        <p:spPr>
          <a:xfrm>
            <a:off x="768351" y="1023939"/>
            <a:ext cx="7900162" cy="1292542"/>
          </a:xfrm>
        </p:spPr>
        <p:txBody>
          <a:bodyPr/>
          <a:lstStyle/>
          <a:p>
            <a:pPr>
              <a:tabLst>
                <a:tab pos="625475" algn="l"/>
              </a:tabLst>
            </a:pPr>
            <a:r>
              <a:rPr lang="en-US" altLang="en-US" sz="1700" dirty="0"/>
              <a:t>Find the average salary of instructors in each department</a:t>
            </a:r>
          </a:p>
          <a:p>
            <a:pPr lvl="1">
              <a:tabLst>
                <a:tab pos="625475" algn="l"/>
              </a:tabLst>
            </a:pPr>
            <a:r>
              <a:rPr lang="en-US" altLang="en-US" sz="1700" b="1" dirty="0"/>
              <a:t>select </a:t>
            </a:r>
            <a:r>
              <a:rPr lang="en-US" altLang="en-US" sz="1700" i="1" dirty="0"/>
              <a:t>dept_name</a:t>
            </a:r>
            <a:r>
              <a:rPr lang="en-US" altLang="en-US" sz="1700" dirty="0"/>
              <a:t>, </a:t>
            </a:r>
            <a:r>
              <a:rPr lang="en-US" altLang="en-US" sz="1700" b="1" dirty="0" err="1"/>
              <a:t>avg</a:t>
            </a:r>
            <a:r>
              <a:rPr lang="en-US" altLang="en-US" sz="1700" b="1" dirty="0"/>
              <a:t> </a:t>
            </a:r>
            <a:r>
              <a:rPr lang="en-US" altLang="en-US" sz="1700" dirty="0"/>
              <a:t>(</a:t>
            </a:r>
            <a:r>
              <a:rPr lang="en-US" altLang="en-US" sz="1700" i="1" dirty="0"/>
              <a:t>salary</a:t>
            </a:r>
            <a:r>
              <a:rPr lang="en-US" altLang="en-US" sz="1700" dirty="0"/>
              <a:t>) </a:t>
            </a:r>
            <a:r>
              <a:rPr lang="en-US" altLang="en-US" sz="1700" b="1" dirty="0"/>
              <a:t>as</a:t>
            </a:r>
            <a:r>
              <a:rPr lang="en-US" altLang="en-US" sz="1700" dirty="0"/>
              <a:t> </a:t>
            </a:r>
            <a:r>
              <a:rPr lang="en-US" altLang="en-US" sz="1700" i="1" dirty="0" err="1"/>
              <a:t>avg_salary</a:t>
            </a:r>
            <a:r>
              <a:rPr lang="en-US" altLang="en-US" sz="1700" dirty="0"/>
              <a:t/>
            </a:r>
            <a:br>
              <a:rPr lang="en-US" altLang="en-US" sz="1700" dirty="0"/>
            </a:br>
            <a:r>
              <a:rPr lang="en-US" altLang="en-US" sz="1700" b="1" dirty="0"/>
              <a:t>from </a:t>
            </a:r>
            <a:r>
              <a:rPr lang="en-US" altLang="en-US" sz="1700" i="1" dirty="0"/>
              <a:t>instructor</a:t>
            </a:r>
            <a:br>
              <a:rPr lang="en-US" altLang="en-US" sz="1700" i="1" dirty="0"/>
            </a:br>
            <a:r>
              <a:rPr lang="en-US" altLang="en-US" sz="1700" b="1" dirty="0"/>
              <a:t>group by </a:t>
            </a:r>
            <a:r>
              <a:rPr lang="en-US" altLang="en-US" sz="1700" i="1" dirty="0"/>
              <a:t>dept_name</a:t>
            </a:r>
            <a:r>
              <a:rPr lang="en-US" altLang="en-US" sz="1700" dirty="0"/>
              <a:t>;</a:t>
            </a:r>
          </a:p>
          <a:p>
            <a:pPr lvl="1">
              <a:buNone/>
              <a:tabLst>
                <a:tab pos="625475" algn="l"/>
              </a:tabLst>
            </a:pPr>
            <a:endParaRPr lang="en-US" altLang="en-US" sz="1700" dirty="0"/>
          </a:p>
          <a:p>
            <a:pPr lvl="1">
              <a:tabLst>
                <a:tab pos="625475" algn="l"/>
              </a:tabLst>
            </a:pPr>
            <a:endParaRPr lang="en-US" altLang="en-US" dirty="0"/>
          </a:p>
          <a:p>
            <a:pPr lvl="1">
              <a:tabLst>
                <a:tab pos="625475" algn="l"/>
              </a:tabLst>
            </a:pPr>
            <a:endParaRPr lang="en-US" altLang="en-US" dirty="0"/>
          </a:p>
        </p:txBody>
      </p:sp>
      <p:pic>
        <p:nvPicPr>
          <p:cNvPr id="3" name="Graphic 2">
            <a:extLst>
              <a:ext uri="{FF2B5EF4-FFF2-40B4-BE49-F238E27FC236}">
                <a16:creationId xmlns:a16="http://schemas.microsoft.com/office/drawing/2014/main" id="{A696F0C8-535A-4899-86A4-1FC72B33C244}"/>
              </a:ext>
            </a:extLst>
          </p:cNvPr>
          <p:cNvPicPr>
            <a:picLocks noChangeAspect="1"/>
          </p:cNvPicPr>
          <p:nvPr/>
        </p:nvPicPr>
        <p:blipFill rotWithShape="1">
          <a:blip r:embed="rId3">
            <a:extLst>
              <a:ext uri="{96DAC541-7B7A-43D3-8B79-37D633B846F1}">
                <asvg:svgBlip xmlns:asvg="http://schemas.microsoft.com/office/drawing/2016/SVG/main" xmlns="" r:embed="rId4"/>
              </a:ext>
            </a:extLst>
          </a:blip>
          <a:srcRect l="19771" t="2012" r="19587" b="13353"/>
          <a:stretch/>
        </p:blipFill>
        <p:spPr>
          <a:xfrm>
            <a:off x="641556" y="2528706"/>
            <a:ext cx="3930444" cy="3415539"/>
          </a:xfrm>
          <a:prstGeom prst="rect">
            <a:avLst/>
          </a:prstGeom>
        </p:spPr>
      </p:pic>
      <p:pic>
        <p:nvPicPr>
          <p:cNvPr id="5" name="Graphic 4">
            <a:extLst>
              <a:ext uri="{FF2B5EF4-FFF2-40B4-BE49-F238E27FC236}">
                <a16:creationId xmlns:a16="http://schemas.microsoft.com/office/drawing/2014/main" id="{C1B06BB8-D7A3-4C3D-838A-568EB83A706D}"/>
              </a:ext>
            </a:extLst>
          </p:cNvPr>
          <p:cNvPicPr>
            <a:picLocks noChangeAspect="1"/>
          </p:cNvPicPr>
          <p:nvPr/>
        </p:nvPicPr>
        <p:blipFill rotWithShape="1">
          <a:blip r:embed="rId5">
            <a:extLst>
              <a:ext uri="{96DAC541-7B7A-43D3-8B79-37D633B846F1}">
                <asvg:svgBlip xmlns:asvg="http://schemas.microsoft.com/office/drawing/2016/SVG/main" xmlns="" r:embed="rId6"/>
              </a:ext>
            </a:extLst>
          </a:blip>
          <a:srcRect l="31384" t="3188" r="31718" b="23128"/>
          <a:stretch/>
        </p:blipFill>
        <p:spPr>
          <a:xfrm>
            <a:off x="5346097" y="2528706"/>
            <a:ext cx="2426304" cy="2231491"/>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2130" name="Rectangle 2"/>
          <p:cNvSpPr>
            <a:spLocks noGrp="1" noChangeArrowheads="1"/>
          </p:cNvSpPr>
          <p:nvPr>
            <p:ph type="title"/>
          </p:nvPr>
        </p:nvSpPr>
        <p:spPr/>
        <p:txBody>
          <a:bodyPr/>
          <a:lstStyle/>
          <a:p>
            <a:r>
              <a:rPr lang="en-US" altLang="en-US" sz="2800" dirty="0"/>
              <a:t>Aggregation (Cont.)</a:t>
            </a:r>
          </a:p>
        </p:txBody>
      </p:sp>
      <p:sp>
        <p:nvSpPr>
          <p:cNvPr id="38914" name="Text Box 3"/>
          <p:cNvSpPr>
            <a:spLocks noGrp="1" noChangeArrowheads="1"/>
          </p:cNvSpPr>
          <p:nvPr>
            <p:ph type="body" idx="1"/>
          </p:nvPr>
        </p:nvSpPr>
        <p:spPr>
          <a:xfrm>
            <a:off x="768350" y="1093789"/>
            <a:ext cx="7656321" cy="4849811"/>
          </a:xfrm>
        </p:spPr>
        <p:txBody>
          <a:bodyPr/>
          <a:lstStyle/>
          <a:p>
            <a:r>
              <a:rPr lang="en-US" b="1" i="1" dirty="0"/>
              <a:t>Find the number of instructors in each department who teach a course in the Spring 2018 semester.</a:t>
            </a:r>
            <a:endParaRPr lang="en-US" altLang="en-US" sz="1700" dirty="0" smtClean="0"/>
          </a:p>
          <a:p>
            <a:pPr marL="457200" lvl="1" indent="0">
              <a:buNone/>
            </a:pPr>
            <a:endParaRPr lang="en-US" dirty="0" smtClean="0"/>
          </a:p>
          <a:p>
            <a:pPr marL="457200" lvl="1" indent="0">
              <a:buNone/>
            </a:pPr>
            <a:r>
              <a:rPr lang="en-US" dirty="0" smtClean="0"/>
              <a:t>select </a:t>
            </a:r>
            <a:r>
              <a:rPr lang="en-US" dirty="0" err="1"/>
              <a:t>dept_name</a:t>
            </a:r>
            <a:r>
              <a:rPr lang="en-US" dirty="0"/>
              <a:t>, count (distinct ID) as </a:t>
            </a:r>
            <a:r>
              <a:rPr lang="en-US" dirty="0" err="1"/>
              <a:t>instr</a:t>
            </a:r>
            <a:r>
              <a:rPr lang="en-US" dirty="0"/>
              <a:t> count </a:t>
            </a:r>
            <a:endParaRPr lang="mk-MK" dirty="0"/>
          </a:p>
          <a:p>
            <a:pPr marL="457200" lvl="1" indent="0">
              <a:buNone/>
            </a:pPr>
            <a:r>
              <a:rPr lang="en-US" dirty="0"/>
              <a:t>from instructor, teaches </a:t>
            </a:r>
            <a:endParaRPr lang="mk-MK" dirty="0"/>
          </a:p>
          <a:p>
            <a:pPr marL="457200" lvl="1" indent="0">
              <a:buNone/>
            </a:pPr>
            <a:r>
              <a:rPr lang="en-US" dirty="0"/>
              <a:t>where instructor.ID= teaches.ID and semester = 'Spring' and year = 2018 </a:t>
            </a:r>
            <a:endParaRPr lang="mk-MK" dirty="0"/>
          </a:p>
          <a:p>
            <a:pPr marL="457200" lvl="1" indent="0">
              <a:buNone/>
            </a:pPr>
            <a:r>
              <a:rPr lang="en-US" dirty="0"/>
              <a:t>group by </a:t>
            </a:r>
            <a:r>
              <a:rPr lang="en-US" dirty="0" err="1"/>
              <a:t>dept_name</a:t>
            </a:r>
            <a:r>
              <a:rPr lang="en-US" dirty="0"/>
              <a:t>;</a:t>
            </a:r>
            <a:endParaRPr lang="mk-MK" dirty="0"/>
          </a:p>
          <a:p>
            <a:pPr marL="0" indent="0">
              <a:buNone/>
            </a:pPr>
            <a:endParaRPr lang="en-US" altLang="en-US" dirty="0" smtClean="0"/>
          </a:p>
          <a:p>
            <a:r>
              <a:rPr lang="en-US" altLang="en-US" sz="1700" dirty="0" smtClean="0"/>
              <a:t>Attributes </a:t>
            </a:r>
            <a:r>
              <a:rPr lang="en-US" altLang="en-US" sz="1700" dirty="0"/>
              <a:t>in </a:t>
            </a:r>
            <a:r>
              <a:rPr lang="en-US" altLang="en-US" sz="1700" b="1" dirty="0"/>
              <a:t>select </a:t>
            </a:r>
            <a:r>
              <a:rPr lang="en-US" altLang="en-US" sz="1700" dirty="0"/>
              <a:t>clause outside of aggregate functions must appear in </a:t>
            </a:r>
            <a:r>
              <a:rPr lang="en-US" altLang="en-US" sz="1700" b="1" dirty="0"/>
              <a:t>group by</a:t>
            </a:r>
            <a:r>
              <a:rPr lang="en-US" altLang="en-US" sz="1700" dirty="0"/>
              <a:t> list</a:t>
            </a:r>
          </a:p>
          <a:p>
            <a:pPr lvl="1"/>
            <a:r>
              <a:rPr lang="en-US" altLang="en-US" sz="1700" dirty="0"/>
              <a:t>/* erroneous query */</a:t>
            </a:r>
            <a:br>
              <a:rPr lang="en-US" altLang="en-US" sz="1700" dirty="0"/>
            </a:br>
            <a:r>
              <a:rPr lang="en-US" altLang="en-US" sz="1700" b="1" dirty="0"/>
              <a:t>select </a:t>
            </a:r>
            <a:r>
              <a:rPr lang="en-US" altLang="en-US" sz="1700" i="1" dirty="0"/>
              <a:t>dept_name</a:t>
            </a:r>
            <a:r>
              <a:rPr lang="en-US" altLang="en-US" sz="1700" dirty="0"/>
              <a:t>, </a:t>
            </a:r>
            <a:r>
              <a:rPr lang="en-US" altLang="en-US" sz="1700" i="1" dirty="0"/>
              <a:t>ID</a:t>
            </a:r>
            <a:r>
              <a:rPr lang="en-US" altLang="en-US" sz="1700" dirty="0"/>
              <a:t>, </a:t>
            </a:r>
            <a:r>
              <a:rPr lang="en-US" altLang="en-US" sz="1700" b="1" dirty="0" err="1"/>
              <a:t>avg</a:t>
            </a:r>
            <a:r>
              <a:rPr lang="en-US" altLang="en-US" sz="1700" b="1" dirty="0"/>
              <a:t> </a:t>
            </a:r>
            <a:r>
              <a:rPr lang="en-US" altLang="en-US" sz="1700" dirty="0"/>
              <a:t>(</a:t>
            </a:r>
            <a:r>
              <a:rPr lang="en-US" altLang="en-US" sz="1700" i="1" dirty="0"/>
              <a:t>salary</a:t>
            </a:r>
            <a:r>
              <a:rPr lang="en-US" altLang="en-US" sz="1700" dirty="0"/>
              <a:t>)</a:t>
            </a:r>
            <a:br>
              <a:rPr lang="en-US" altLang="en-US" sz="1700" dirty="0"/>
            </a:br>
            <a:r>
              <a:rPr lang="en-US" altLang="en-US" sz="1700" b="1" dirty="0"/>
              <a:t>from </a:t>
            </a:r>
            <a:r>
              <a:rPr lang="en-US" altLang="en-US" sz="1700" i="1" dirty="0"/>
              <a:t>instructor</a:t>
            </a:r>
            <a:br>
              <a:rPr lang="en-US" altLang="en-US" sz="1700" i="1" dirty="0"/>
            </a:br>
            <a:r>
              <a:rPr lang="en-US" altLang="en-US" sz="1700" b="1" dirty="0"/>
              <a:t>group by </a:t>
            </a:r>
            <a:r>
              <a:rPr lang="en-US" altLang="en-US" sz="1700" i="1" dirty="0" err="1"/>
              <a:t>dept_name</a:t>
            </a:r>
            <a:r>
              <a:rPr lang="en-US" altLang="en-US" sz="1700" dirty="0" smtClean="0"/>
              <a:t>;</a:t>
            </a:r>
          </a:p>
          <a:p>
            <a:pPr lvl="1"/>
            <a:endParaRPr lang="en-US" altLang="en-US" dirty="0"/>
          </a:p>
          <a:p>
            <a:pPr lvl="1"/>
            <a:endParaRPr lang="en-US" altLang="en-US" sz="1700" dirty="0" smtClean="0"/>
          </a:p>
          <a:p>
            <a:pPr lvl="1"/>
            <a:endParaRPr lang="en-US" altLang="en-US" dirty="0"/>
          </a:p>
          <a:p>
            <a:pPr lvl="1"/>
            <a:endParaRPr lang="en-US" altLang="en-US" sz="1700" dirty="0"/>
          </a:p>
          <a:p>
            <a:pPr lvl="1"/>
            <a:endParaRPr lang="en-US" alt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33154" name="Rectangle 2"/>
          <p:cNvSpPr>
            <a:spLocks noGrp="1" noChangeArrowheads="1"/>
          </p:cNvSpPr>
          <p:nvPr>
            <p:ph type="title"/>
          </p:nvPr>
        </p:nvSpPr>
        <p:spPr>
          <a:xfrm>
            <a:off x="923925" y="96838"/>
            <a:ext cx="8077200" cy="609600"/>
          </a:xfrm>
        </p:spPr>
        <p:txBody>
          <a:bodyPr/>
          <a:lstStyle/>
          <a:p>
            <a:r>
              <a:rPr lang="en-US" altLang="en-US" sz="2800" dirty="0"/>
              <a:t>Aggregate Functions – Having Clause</a:t>
            </a:r>
          </a:p>
        </p:txBody>
      </p:sp>
      <p:sp>
        <p:nvSpPr>
          <p:cNvPr id="39938" name="Rectangle 3"/>
          <p:cNvSpPr>
            <a:spLocks noGrp="1" noChangeArrowheads="1"/>
          </p:cNvSpPr>
          <p:nvPr>
            <p:ph type="body" idx="1"/>
          </p:nvPr>
        </p:nvSpPr>
        <p:spPr>
          <a:xfrm>
            <a:off x="790113" y="1193800"/>
            <a:ext cx="7829631" cy="3231895"/>
          </a:xfrm>
        </p:spPr>
        <p:txBody>
          <a:bodyPr/>
          <a:lstStyle/>
          <a:p>
            <a:pPr>
              <a:tabLst>
                <a:tab pos="1489075" algn="l"/>
              </a:tabLst>
            </a:pPr>
            <a:r>
              <a:rPr lang="en-US" altLang="en-US" sz="1700" dirty="0"/>
              <a:t>Find the names and average salaries of all departments whose average salary is greater than 42000</a:t>
            </a:r>
          </a:p>
          <a:p>
            <a:pPr>
              <a:tabLst>
                <a:tab pos="1489075" algn="l"/>
              </a:tabLst>
            </a:pPr>
            <a:endParaRPr lang="en-US" altLang="en-US" sz="1700" dirty="0"/>
          </a:p>
          <a:p>
            <a:pPr>
              <a:tabLst>
                <a:tab pos="1489075" algn="l"/>
              </a:tabLst>
            </a:pPr>
            <a:endParaRPr lang="en-US" altLang="en-US" sz="1700" dirty="0"/>
          </a:p>
          <a:p>
            <a:pPr>
              <a:tabLst>
                <a:tab pos="1489075" algn="l"/>
              </a:tabLst>
            </a:pPr>
            <a:endParaRPr lang="en-US" altLang="en-US" sz="1700" dirty="0"/>
          </a:p>
          <a:p>
            <a:pPr>
              <a:tabLst>
                <a:tab pos="1489075" algn="l"/>
              </a:tabLst>
            </a:pPr>
            <a:endParaRPr lang="en-US" altLang="en-US" sz="800" dirty="0"/>
          </a:p>
          <a:p>
            <a:pPr>
              <a:tabLst>
                <a:tab pos="1489075" algn="l"/>
              </a:tabLst>
            </a:pPr>
            <a:r>
              <a:rPr lang="en-US" altLang="en-US" sz="1700" dirty="0"/>
              <a:t>Note: predicates in the </a:t>
            </a:r>
            <a:r>
              <a:rPr lang="en-US" altLang="en-US" sz="1700" b="1" dirty="0"/>
              <a:t>having</a:t>
            </a:r>
            <a:r>
              <a:rPr lang="en-US" altLang="en-US" sz="1700" dirty="0"/>
              <a:t> clause are applied after the formation of groups whereas predicates in the </a:t>
            </a:r>
            <a:r>
              <a:rPr lang="en-US" altLang="en-US" sz="1700" b="1" dirty="0"/>
              <a:t>where</a:t>
            </a:r>
            <a:r>
              <a:rPr lang="en-US" altLang="en-US" sz="1700" dirty="0"/>
              <a:t> clause are applied before forming groups</a:t>
            </a:r>
          </a:p>
        </p:txBody>
      </p:sp>
      <p:sp>
        <p:nvSpPr>
          <p:cNvPr id="39940" name="Text Box 5"/>
          <p:cNvSpPr txBox="1">
            <a:spLocks noChangeArrowheads="1"/>
          </p:cNvSpPr>
          <p:nvPr/>
        </p:nvSpPr>
        <p:spPr bwMode="auto">
          <a:xfrm>
            <a:off x="1677988" y="1870710"/>
            <a:ext cx="5861050"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r>
              <a:rPr lang="en-US" altLang="en-US" sz="1700" b="1" dirty="0"/>
              <a:t>select </a:t>
            </a:r>
            <a:r>
              <a:rPr lang="en-US" altLang="en-US" sz="1700" i="1" dirty="0"/>
              <a:t>dept_name</a:t>
            </a:r>
            <a:r>
              <a:rPr lang="en-US" altLang="en-US" sz="1700" dirty="0"/>
              <a:t>, </a:t>
            </a:r>
            <a:r>
              <a:rPr lang="en-US" altLang="en-US" sz="1700" b="1" dirty="0" err="1"/>
              <a:t>avg</a:t>
            </a:r>
            <a:r>
              <a:rPr lang="en-US" altLang="en-US" sz="1700" b="1" dirty="0"/>
              <a:t> </a:t>
            </a:r>
            <a:r>
              <a:rPr lang="en-US" altLang="en-US" sz="1700" dirty="0"/>
              <a:t>(</a:t>
            </a:r>
            <a:r>
              <a:rPr lang="en-US" altLang="en-US" sz="1700" i="1" dirty="0"/>
              <a:t>salary</a:t>
            </a:r>
            <a:r>
              <a:rPr lang="en-US" altLang="en-US" sz="1700" dirty="0"/>
              <a:t>) </a:t>
            </a:r>
            <a:r>
              <a:rPr lang="en-US" altLang="en-US" sz="1700" b="1" dirty="0"/>
              <a:t>as</a:t>
            </a:r>
            <a:r>
              <a:rPr lang="en-US" altLang="en-US" sz="1700" dirty="0"/>
              <a:t> </a:t>
            </a:r>
            <a:r>
              <a:rPr lang="en-US" altLang="en-US" sz="1700" i="1" dirty="0" err="1"/>
              <a:t>avg_salary</a:t>
            </a:r>
            <a:endParaRPr lang="en-US" altLang="en-US" sz="1700" i="1" dirty="0"/>
          </a:p>
          <a:p>
            <a:r>
              <a:rPr lang="en-US" altLang="en-US" sz="1700" b="1" dirty="0"/>
              <a:t>from </a:t>
            </a:r>
            <a:r>
              <a:rPr lang="en-US" altLang="en-US" sz="1700" i="1" dirty="0"/>
              <a:t>instructor</a:t>
            </a:r>
          </a:p>
          <a:p>
            <a:r>
              <a:rPr lang="en-US" altLang="en-US" sz="1700" b="1" dirty="0"/>
              <a:t>group by </a:t>
            </a:r>
            <a:r>
              <a:rPr lang="en-US" altLang="en-US" sz="1700" i="1" dirty="0"/>
              <a:t>dept_name</a:t>
            </a:r>
          </a:p>
          <a:p>
            <a:r>
              <a:rPr lang="en-US" altLang="en-US" sz="1700" b="1" dirty="0"/>
              <a:t>having </a:t>
            </a:r>
            <a:r>
              <a:rPr lang="en-US" altLang="en-US" sz="1700" b="1" dirty="0" err="1"/>
              <a:t>avg</a:t>
            </a:r>
            <a:r>
              <a:rPr lang="en-US" altLang="en-US" sz="1700" b="1" dirty="0"/>
              <a:t> </a:t>
            </a:r>
            <a:r>
              <a:rPr lang="en-US" altLang="en-US" sz="1700" dirty="0"/>
              <a:t>(</a:t>
            </a:r>
            <a:r>
              <a:rPr lang="en-US" altLang="en-US" sz="1700" i="1" dirty="0"/>
              <a:t>salary</a:t>
            </a:r>
            <a:r>
              <a:rPr lang="en-US" altLang="en-US" sz="1700" dirty="0"/>
              <a:t>) &gt; 42000;</a:t>
            </a:r>
          </a:p>
        </p:txBody>
      </p:sp>
    </p:spTree>
    <p:extLst>
      <p:ext uri="{BB962C8B-B14F-4D97-AF65-F5344CB8AC3E}">
        <p14:creationId xmlns:p14="http://schemas.microsoft.com/office/powerpoint/2010/main" val="125665800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p:txBody>
          <a:bodyPr/>
          <a:lstStyle/>
          <a:p>
            <a:r>
              <a:rPr lang="en-US" altLang="en-US" sz="2800" dirty="0"/>
              <a:t>Nested Subqueries</a:t>
            </a:r>
          </a:p>
        </p:txBody>
      </p:sp>
      <p:sp>
        <p:nvSpPr>
          <p:cNvPr id="41986" name="Rectangle 3"/>
          <p:cNvSpPr>
            <a:spLocks noGrp="1" noChangeArrowheads="1"/>
          </p:cNvSpPr>
          <p:nvPr>
            <p:ph type="body" idx="1"/>
          </p:nvPr>
        </p:nvSpPr>
        <p:spPr>
          <a:xfrm>
            <a:off x="768350" y="1039813"/>
            <a:ext cx="7656559" cy="4922075"/>
          </a:xfrm>
        </p:spPr>
        <p:txBody>
          <a:bodyPr/>
          <a:lstStyle/>
          <a:p>
            <a:r>
              <a:rPr lang="en-US" altLang="en-US" sz="1700" dirty="0"/>
              <a:t>SQL provides a mechanism for the nesting of subqueries. A </a:t>
            </a:r>
            <a:r>
              <a:rPr lang="en-US" altLang="en-US" sz="1700" b="1" dirty="0">
                <a:solidFill>
                  <a:srgbClr val="002060"/>
                </a:solidFill>
              </a:rPr>
              <a:t>subquery</a:t>
            </a:r>
            <a:r>
              <a:rPr lang="en-US" altLang="en-US" sz="1700" dirty="0"/>
              <a:t> is a </a:t>
            </a:r>
            <a:r>
              <a:rPr lang="en-US" altLang="en-US" sz="1700" b="1" dirty="0"/>
              <a:t>select-from-where</a:t>
            </a:r>
            <a:r>
              <a:rPr lang="en-US" altLang="en-US" sz="1700" dirty="0"/>
              <a:t> expression that is nested within another query.</a:t>
            </a:r>
          </a:p>
          <a:p>
            <a:r>
              <a:rPr lang="en-US" altLang="en-US" sz="1700" dirty="0"/>
              <a:t>The nesting can be done in the following SQL query</a:t>
            </a:r>
            <a:br>
              <a:rPr lang="en-US" altLang="en-US" sz="1700" dirty="0"/>
            </a:br>
            <a:r>
              <a:rPr lang="en-US" altLang="en-US" sz="1700" dirty="0"/>
              <a:t/>
            </a:r>
            <a:br>
              <a:rPr lang="en-US" altLang="en-US" sz="1700" dirty="0"/>
            </a:br>
            <a:r>
              <a:rPr lang="en-US" altLang="en-US" sz="1700" dirty="0"/>
              <a:t>	</a:t>
            </a:r>
            <a:r>
              <a:rPr lang="en-US" altLang="en-US" sz="1700" b="1" dirty="0"/>
              <a:t>select </a:t>
            </a:r>
            <a:r>
              <a:rPr lang="en-US" altLang="en-US" sz="1700" i="1" dirty="0"/>
              <a:t>A</a:t>
            </a:r>
            <a:r>
              <a:rPr lang="en-US" altLang="en-US" sz="1700" baseline="-25000" dirty="0"/>
              <a:t>1</a:t>
            </a:r>
            <a:r>
              <a:rPr lang="en-US" altLang="en-US" sz="1700" dirty="0"/>
              <a:t>, </a:t>
            </a:r>
            <a:r>
              <a:rPr lang="en-US" altLang="en-US" sz="1700" i="1" dirty="0"/>
              <a:t>A</a:t>
            </a:r>
            <a:r>
              <a:rPr lang="en-US" altLang="en-US" sz="1700" baseline="-25000" dirty="0"/>
              <a:t>2</a:t>
            </a:r>
            <a:r>
              <a:rPr lang="en-US" altLang="en-US" sz="1700" dirty="0"/>
              <a:t>, ..., </a:t>
            </a:r>
            <a:r>
              <a:rPr lang="en-US" altLang="en-US" sz="1700" i="1" dirty="0"/>
              <a:t>A</a:t>
            </a:r>
            <a:r>
              <a:rPr lang="en-US" altLang="en-US" sz="1700" i="1" baseline="-25000" dirty="0"/>
              <a:t>n</a:t>
            </a:r>
            <a:r>
              <a:rPr lang="en-US" altLang="en-US" sz="1700" dirty="0"/>
              <a:t/>
            </a:r>
            <a:br>
              <a:rPr lang="en-US" altLang="en-US" sz="1700" dirty="0"/>
            </a:br>
            <a:r>
              <a:rPr lang="en-US" altLang="en-US" sz="1700" dirty="0"/>
              <a:t>	</a:t>
            </a:r>
            <a:r>
              <a:rPr lang="en-US" altLang="en-US" sz="1700" b="1" dirty="0"/>
              <a:t>from</a:t>
            </a:r>
            <a:r>
              <a:rPr lang="en-US" altLang="en-US" sz="1700" dirty="0"/>
              <a:t> </a:t>
            </a:r>
            <a:r>
              <a:rPr lang="en-US" altLang="en-US" sz="1700" i="1" dirty="0"/>
              <a:t>r</a:t>
            </a:r>
            <a:r>
              <a:rPr lang="en-US" altLang="en-US" sz="1700" baseline="-25000" dirty="0"/>
              <a:t>1</a:t>
            </a:r>
            <a:r>
              <a:rPr lang="en-US" altLang="en-US" sz="1700" dirty="0"/>
              <a:t>, </a:t>
            </a:r>
            <a:r>
              <a:rPr lang="en-US" altLang="en-US" sz="1700" i="1" dirty="0"/>
              <a:t>r</a:t>
            </a:r>
            <a:r>
              <a:rPr lang="en-US" altLang="en-US" sz="1700" baseline="-25000" dirty="0"/>
              <a:t>2</a:t>
            </a:r>
            <a:r>
              <a:rPr lang="en-US" altLang="en-US" sz="1700" dirty="0"/>
              <a:t>, ..., </a:t>
            </a:r>
            <a:r>
              <a:rPr lang="en-US" altLang="en-US" sz="1700" i="1" dirty="0" err="1"/>
              <a:t>r</a:t>
            </a:r>
            <a:r>
              <a:rPr lang="en-US" altLang="en-US" sz="1700" i="1" baseline="-25000" dirty="0" err="1"/>
              <a:t>m</a:t>
            </a:r>
            <a:r>
              <a:rPr lang="en-US" altLang="en-US" sz="1700" dirty="0"/>
              <a:t/>
            </a:r>
            <a:br>
              <a:rPr lang="en-US" altLang="en-US" sz="1700" dirty="0"/>
            </a:br>
            <a:r>
              <a:rPr lang="en-US" altLang="en-US" sz="1700" dirty="0"/>
              <a:t>	</a:t>
            </a:r>
            <a:r>
              <a:rPr lang="en-US" altLang="en-US" sz="1700" b="1" dirty="0"/>
              <a:t>where </a:t>
            </a:r>
            <a:r>
              <a:rPr lang="en-US" altLang="en-US" sz="1700" i="1" dirty="0"/>
              <a:t>P</a:t>
            </a:r>
          </a:p>
          <a:p>
            <a:pPr>
              <a:buFont typeface="Monotype Sorts" charset="2"/>
              <a:buNone/>
            </a:pPr>
            <a:r>
              <a:rPr lang="en-US" altLang="en-US" sz="800" i="1" dirty="0"/>
              <a:t> </a:t>
            </a:r>
            <a:r>
              <a:rPr lang="en-US" altLang="en-US" sz="1700" i="1" dirty="0"/>
              <a:t/>
            </a:r>
            <a:br>
              <a:rPr lang="en-US" altLang="en-US" sz="1700" i="1" dirty="0"/>
            </a:br>
            <a:r>
              <a:rPr lang="en-US" altLang="en-US" sz="1700" dirty="0"/>
              <a:t>as follows:</a:t>
            </a:r>
          </a:p>
          <a:p>
            <a:pPr lvl="1"/>
            <a:r>
              <a:rPr lang="en-US" altLang="en-US" sz="1700" b="1" dirty="0"/>
              <a:t>From clause: </a:t>
            </a:r>
            <a:r>
              <a:rPr lang="en-US" altLang="en-US" sz="1700" i="1" dirty="0" err="1"/>
              <a:t>r</a:t>
            </a:r>
            <a:r>
              <a:rPr lang="en-US" altLang="en-US" sz="1700" i="1" baseline="-25000" dirty="0" err="1"/>
              <a:t>i</a:t>
            </a:r>
            <a:r>
              <a:rPr lang="en-US" altLang="en-US" sz="1700" i="1" baseline="-25000" dirty="0"/>
              <a:t> </a:t>
            </a:r>
            <a:r>
              <a:rPr lang="en-US" altLang="en-US" sz="1700" dirty="0"/>
              <a:t> can be replaced by any valid subquery</a:t>
            </a:r>
          </a:p>
          <a:p>
            <a:pPr lvl="1"/>
            <a:r>
              <a:rPr lang="en-US" altLang="en-US" sz="1700" b="1" dirty="0"/>
              <a:t>Where clause: </a:t>
            </a:r>
            <a:r>
              <a:rPr lang="en-US" altLang="en-US" sz="1700" i="1" dirty="0"/>
              <a:t>P</a:t>
            </a:r>
            <a:r>
              <a:rPr lang="en-US" altLang="en-US" sz="1700" dirty="0"/>
              <a:t> can be replaced with an expression of the form:</a:t>
            </a:r>
          </a:p>
          <a:p>
            <a:pPr lvl="1">
              <a:buFont typeface="Monotype Sorts" charset="2"/>
              <a:buNone/>
            </a:pPr>
            <a:r>
              <a:rPr lang="en-US" altLang="en-US" sz="1700" dirty="0"/>
              <a:t>                </a:t>
            </a:r>
            <a:r>
              <a:rPr lang="en-US" altLang="en-US" sz="1700" i="1" dirty="0"/>
              <a:t>B</a:t>
            </a:r>
            <a:r>
              <a:rPr lang="en-US" altLang="en-US" sz="1700" dirty="0"/>
              <a:t> &lt;operation&gt; (subquery)</a:t>
            </a:r>
          </a:p>
          <a:p>
            <a:pPr lvl="1">
              <a:buFont typeface="Monotype Sorts" charset="2"/>
              <a:buNone/>
            </a:pPr>
            <a:r>
              <a:rPr lang="en-US" altLang="en-US" sz="1700" dirty="0"/>
              <a:t>     </a:t>
            </a:r>
            <a:r>
              <a:rPr lang="en-US" altLang="en-US" sz="1700" i="1" dirty="0"/>
              <a:t>B</a:t>
            </a:r>
            <a:r>
              <a:rPr lang="en-US" altLang="en-US" sz="1700" dirty="0"/>
              <a:t> is an attribute and &lt;operation&gt; to be defined later.</a:t>
            </a:r>
          </a:p>
          <a:p>
            <a:pPr lvl="1"/>
            <a:r>
              <a:rPr lang="en-US" altLang="en-US" sz="1700" b="1" dirty="0"/>
              <a:t>Select clause: </a:t>
            </a:r>
          </a:p>
          <a:p>
            <a:pPr marL="857250" lvl="2" indent="0">
              <a:buFont typeface="Webdings" panose="05030102010509060703" pitchFamily="18" charset="2"/>
              <a:buNone/>
            </a:pPr>
            <a:r>
              <a:rPr lang="en-US" altLang="en-US" sz="1700" i="1" dirty="0"/>
              <a:t>A</a:t>
            </a:r>
            <a:r>
              <a:rPr lang="en-US" altLang="en-US" sz="1700" i="1" baseline="-25000" dirty="0"/>
              <a:t>i   </a:t>
            </a:r>
            <a:r>
              <a:rPr lang="en-US" altLang="en-US" sz="1700" dirty="0"/>
              <a:t>can be replaced be a subquery that generates a single value</a:t>
            </a:r>
            <a:r>
              <a:rPr lang="en-US" altLang="en-US" dirty="0"/>
              <a:t>.</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a:xfrm>
            <a:off x="768350" y="2470150"/>
            <a:ext cx="8077200" cy="609600"/>
          </a:xfrm>
        </p:spPr>
        <p:txBody>
          <a:bodyPr/>
          <a:lstStyle/>
          <a:p>
            <a:r>
              <a:rPr lang="en-US" altLang="en-US" dirty="0"/>
              <a:t>Set Membership</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39298" name="Rectangle 2"/>
          <p:cNvSpPr>
            <a:spLocks noGrp="1" noChangeArrowheads="1"/>
          </p:cNvSpPr>
          <p:nvPr>
            <p:ph type="title"/>
          </p:nvPr>
        </p:nvSpPr>
        <p:spPr/>
        <p:txBody>
          <a:bodyPr/>
          <a:lstStyle/>
          <a:p>
            <a:r>
              <a:rPr lang="en-US" altLang="en-US" sz="2800" dirty="0"/>
              <a:t>Set Membership </a:t>
            </a:r>
          </a:p>
        </p:txBody>
      </p:sp>
      <p:sp>
        <p:nvSpPr>
          <p:cNvPr id="49154" name="Rectangle 3"/>
          <p:cNvSpPr>
            <a:spLocks noGrp="1" noChangeArrowheads="1"/>
          </p:cNvSpPr>
          <p:nvPr>
            <p:ph type="body" idx="1"/>
          </p:nvPr>
        </p:nvSpPr>
        <p:spPr>
          <a:xfrm>
            <a:off x="772357" y="1109663"/>
            <a:ext cx="7648313" cy="5181955"/>
          </a:xfrm>
        </p:spPr>
        <p:txBody>
          <a:bodyPr/>
          <a:lstStyle/>
          <a:p>
            <a:pPr>
              <a:tabLst>
                <a:tab pos="1027113" algn="l"/>
              </a:tabLst>
            </a:pPr>
            <a:r>
              <a:rPr lang="en-US" altLang="en-US" sz="1700" dirty="0"/>
              <a:t>Find courses offered in Fall 2017 and in Spring 2018</a:t>
            </a:r>
          </a:p>
          <a:p>
            <a:pPr>
              <a:tabLst>
                <a:tab pos="1027113" algn="l"/>
              </a:tabLst>
            </a:pPr>
            <a:endParaRPr lang="en-US" altLang="en-US" sz="1700" dirty="0"/>
          </a:p>
          <a:p>
            <a:pPr>
              <a:tabLst>
                <a:tab pos="1027113" algn="l"/>
              </a:tabLst>
            </a:pPr>
            <a:endParaRPr lang="en-US" altLang="en-US" sz="1700" dirty="0"/>
          </a:p>
          <a:p>
            <a:pPr>
              <a:tabLst>
                <a:tab pos="1027113" algn="l"/>
              </a:tabLst>
            </a:pPr>
            <a:endParaRPr lang="en-US" altLang="en-US" dirty="0"/>
          </a:p>
          <a:p>
            <a:pPr>
              <a:tabLst>
                <a:tab pos="1027113" algn="l"/>
              </a:tabLst>
            </a:pPr>
            <a:endParaRPr lang="en-US" altLang="en-US" dirty="0"/>
          </a:p>
          <a:p>
            <a:pPr>
              <a:tabLst>
                <a:tab pos="1027113" algn="l"/>
              </a:tabLst>
            </a:pPr>
            <a:endParaRPr lang="en-US" altLang="en-US" dirty="0"/>
          </a:p>
          <a:p>
            <a:pPr>
              <a:tabLst>
                <a:tab pos="1027113" algn="l"/>
              </a:tabLst>
            </a:pPr>
            <a:r>
              <a:rPr lang="en-US" altLang="en-US" sz="1700" dirty="0"/>
              <a:t>Find courses offered in Fall 2017 but not in Spring 2018</a:t>
            </a:r>
            <a:endParaRPr lang="en-US" altLang="en-US" dirty="0"/>
          </a:p>
          <a:p>
            <a:pPr>
              <a:tabLst>
                <a:tab pos="1027113" algn="l"/>
              </a:tabLst>
            </a:pPr>
            <a:endParaRPr lang="en-US" altLang="en-US" dirty="0"/>
          </a:p>
          <a:p>
            <a:pPr>
              <a:tabLst>
                <a:tab pos="1027113" algn="l"/>
              </a:tabLst>
            </a:pPr>
            <a:endParaRPr lang="en-US" altLang="en-US" dirty="0"/>
          </a:p>
        </p:txBody>
      </p:sp>
      <p:sp>
        <p:nvSpPr>
          <p:cNvPr id="49156" name="Text Box 5"/>
          <p:cNvSpPr txBox="1">
            <a:spLocks noChangeArrowheads="1"/>
          </p:cNvSpPr>
          <p:nvPr/>
        </p:nvSpPr>
        <p:spPr bwMode="auto">
          <a:xfrm>
            <a:off x="1625600" y="1565460"/>
            <a:ext cx="6216650"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r>
              <a:rPr lang="en-US" altLang="en-US" sz="1600" b="1" dirty="0"/>
              <a:t>select distinct </a:t>
            </a:r>
            <a:r>
              <a:rPr lang="en-US" altLang="en-US" sz="1600" i="1" dirty="0" err="1"/>
              <a:t>course_id</a:t>
            </a:r>
            <a:endParaRPr lang="en-US" altLang="en-US" sz="1600" i="1" dirty="0"/>
          </a:p>
          <a:p>
            <a:r>
              <a:rPr lang="en-US" altLang="en-US" sz="1600" b="1" dirty="0"/>
              <a:t>from </a:t>
            </a:r>
            <a:r>
              <a:rPr lang="en-US" altLang="en-US" sz="1600" i="1" dirty="0"/>
              <a:t>section</a:t>
            </a:r>
          </a:p>
          <a:p>
            <a:r>
              <a:rPr lang="en-US" altLang="en-US" sz="1600" b="1" dirty="0"/>
              <a:t>where </a:t>
            </a:r>
            <a:r>
              <a:rPr lang="en-US" altLang="en-US" sz="1600" i="1" dirty="0"/>
              <a:t>semester </a:t>
            </a:r>
            <a:r>
              <a:rPr lang="en-US" altLang="en-US" sz="1600" dirty="0"/>
              <a:t>= 'Fall' </a:t>
            </a:r>
            <a:r>
              <a:rPr lang="en-US" altLang="en-US" sz="1600" b="1" dirty="0"/>
              <a:t>and </a:t>
            </a:r>
            <a:r>
              <a:rPr lang="en-US" altLang="en-US" sz="1600" i="1" dirty="0"/>
              <a:t>year</a:t>
            </a:r>
            <a:r>
              <a:rPr lang="en-US" altLang="en-US" sz="1600" dirty="0"/>
              <a:t>= 2017 </a:t>
            </a:r>
            <a:r>
              <a:rPr lang="en-US" altLang="en-US" sz="1600" b="1" dirty="0"/>
              <a:t>and </a:t>
            </a:r>
            <a:br>
              <a:rPr lang="en-US" altLang="en-US" sz="1600" b="1" dirty="0"/>
            </a:br>
            <a:r>
              <a:rPr lang="en-US" altLang="en-US" sz="1600" b="1" dirty="0"/>
              <a:t>           </a:t>
            </a:r>
            <a:r>
              <a:rPr lang="en-US" altLang="en-US" sz="1600" i="1" dirty="0" err="1"/>
              <a:t>course_id</a:t>
            </a:r>
            <a:r>
              <a:rPr lang="en-US" altLang="en-US" sz="1600" i="1" dirty="0"/>
              <a:t> </a:t>
            </a:r>
            <a:r>
              <a:rPr lang="en-US" altLang="en-US" sz="1600" b="1" dirty="0"/>
              <a:t>in </a:t>
            </a:r>
            <a:r>
              <a:rPr lang="en-US" altLang="en-US" sz="1600" dirty="0"/>
              <a:t>(</a:t>
            </a:r>
            <a:r>
              <a:rPr lang="en-US" altLang="en-US" sz="1600" b="1" dirty="0"/>
              <a:t>select </a:t>
            </a:r>
            <a:r>
              <a:rPr lang="en-US" altLang="en-US" sz="1600" i="1" dirty="0" err="1"/>
              <a:t>course_id</a:t>
            </a:r>
            <a:endParaRPr lang="en-US" altLang="en-US" sz="1600" i="1" dirty="0"/>
          </a:p>
          <a:p>
            <a:r>
              <a:rPr lang="en-US" altLang="en-US" sz="1600" b="1" dirty="0"/>
              <a:t>                                 from </a:t>
            </a:r>
            <a:r>
              <a:rPr lang="en-US" altLang="en-US" sz="1600" i="1" dirty="0"/>
              <a:t>section</a:t>
            </a:r>
          </a:p>
          <a:p>
            <a:r>
              <a:rPr lang="en-US" altLang="en-US" sz="1600" b="1" dirty="0"/>
              <a:t>                                 where </a:t>
            </a:r>
            <a:r>
              <a:rPr lang="en-US" altLang="en-US" sz="1600" i="1" dirty="0"/>
              <a:t>semester </a:t>
            </a:r>
            <a:r>
              <a:rPr lang="en-US" altLang="en-US" sz="1600" dirty="0"/>
              <a:t>= 'Spring' </a:t>
            </a:r>
            <a:r>
              <a:rPr lang="en-US" altLang="en-US" sz="1600" b="1" dirty="0"/>
              <a:t>and </a:t>
            </a:r>
            <a:r>
              <a:rPr lang="en-US" altLang="en-US" sz="1600" i="1" dirty="0"/>
              <a:t>year</a:t>
            </a:r>
            <a:r>
              <a:rPr lang="en-US" altLang="en-US" sz="1600" dirty="0"/>
              <a:t>= 2018);</a:t>
            </a:r>
          </a:p>
        </p:txBody>
      </p:sp>
      <p:sp>
        <p:nvSpPr>
          <p:cNvPr id="49157" name="Text Box 6"/>
          <p:cNvSpPr txBox="1">
            <a:spLocks noChangeArrowheads="1"/>
          </p:cNvSpPr>
          <p:nvPr/>
        </p:nvSpPr>
        <p:spPr bwMode="auto">
          <a:xfrm>
            <a:off x="1625600" y="3693385"/>
            <a:ext cx="6586538"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r>
              <a:rPr lang="en-US" altLang="en-US" sz="1600" b="1" dirty="0"/>
              <a:t>select distinct </a:t>
            </a:r>
            <a:r>
              <a:rPr lang="en-US" altLang="en-US" sz="1600" i="1" dirty="0" err="1"/>
              <a:t>course_id</a:t>
            </a:r>
            <a:endParaRPr lang="en-US" altLang="en-US" sz="1600" i="1" dirty="0"/>
          </a:p>
          <a:p>
            <a:r>
              <a:rPr lang="en-US" altLang="en-US" sz="1600" b="1" dirty="0"/>
              <a:t>from </a:t>
            </a:r>
            <a:r>
              <a:rPr lang="en-US" altLang="en-US" sz="1600" i="1" dirty="0"/>
              <a:t>section</a:t>
            </a:r>
          </a:p>
          <a:p>
            <a:r>
              <a:rPr lang="en-US" altLang="en-US" sz="1600" b="1" dirty="0"/>
              <a:t>where </a:t>
            </a:r>
            <a:r>
              <a:rPr lang="en-US" altLang="en-US" sz="1600" i="1" dirty="0"/>
              <a:t>semester </a:t>
            </a:r>
            <a:r>
              <a:rPr lang="en-US" altLang="en-US" sz="1600" dirty="0"/>
              <a:t>= 'Fall' </a:t>
            </a:r>
            <a:r>
              <a:rPr lang="en-US" altLang="en-US" sz="1600" b="1" dirty="0"/>
              <a:t>and </a:t>
            </a:r>
            <a:r>
              <a:rPr lang="en-US" altLang="en-US" sz="1600" i="1" dirty="0"/>
              <a:t>year</a:t>
            </a:r>
            <a:r>
              <a:rPr lang="en-US" altLang="en-US" sz="1600" dirty="0"/>
              <a:t>= 2017 </a:t>
            </a:r>
            <a:r>
              <a:rPr lang="en-US" altLang="en-US" sz="1600" b="1" dirty="0"/>
              <a:t>and </a:t>
            </a:r>
            <a:br>
              <a:rPr lang="en-US" altLang="en-US" sz="1600" b="1" dirty="0"/>
            </a:br>
            <a:r>
              <a:rPr lang="en-US" altLang="en-US" sz="1600" b="1" dirty="0"/>
              <a:t>           </a:t>
            </a:r>
            <a:r>
              <a:rPr lang="en-US" altLang="en-US" sz="1600" i="1" dirty="0" err="1"/>
              <a:t>course_id</a:t>
            </a:r>
            <a:r>
              <a:rPr lang="en-US" altLang="en-US" sz="1600" i="1" dirty="0"/>
              <a:t>  </a:t>
            </a:r>
            <a:r>
              <a:rPr lang="en-US" altLang="en-US" sz="1600" b="1" dirty="0"/>
              <a:t>not in </a:t>
            </a:r>
            <a:r>
              <a:rPr lang="en-US" altLang="en-US" sz="1600" dirty="0"/>
              <a:t>(</a:t>
            </a:r>
            <a:r>
              <a:rPr lang="en-US" altLang="en-US" sz="1600" b="1" dirty="0"/>
              <a:t>select </a:t>
            </a:r>
            <a:r>
              <a:rPr lang="en-US" altLang="en-US" sz="1600" i="1" dirty="0" err="1"/>
              <a:t>course_id</a:t>
            </a:r>
            <a:endParaRPr lang="en-US" altLang="en-US" sz="1600" i="1" dirty="0"/>
          </a:p>
          <a:p>
            <a:r>
              <a:rPr lang="en-US" altLang="en-US" sz="1600" b="1" dirty="0"/>
              <a:t>                                        from </a:t>
            </a:r>
            <a:r>
              <a:rPr lang="en-US" altLang="en-US" sz="1600" i="1" dirty="0"/>
              <a:t>section</a:t>
            </a:r>
          </a:p>
          <a:p>
            <a:r>
              <a:rPr lang="en-US" altLang="en-US" sz="1600" b="1" dirty="0"/>
              <a:t>                                        where </a:t>
            </a:r>
            <a:r>
              <a:rPr lang="en-US" altLang="en-US" sz="1600" i="1" dirty="0"/>
              <a:t>semester </a:t>
            </a:r>
            <a:r>
              <a:rPr lang="en-US" altLang="en-US" sz="1600" dirty="0"/>
              <a:t>= 'Spring' </a:t>
            </a:r>
            <a:r>
              <a:rPr lang="en-US" altLang="en-US" sz="1600" b="1" dirty="0"/>
              <a:t>and </a:t>
            </a:r>
            <a:r>
              <a:rPr lang="en-US" altLang="en-US" sz="1600" i="1" dirty="0"/>
              <a:t>year</a:t>
            </a:r>
            <a:r>
              <a:rPr lang="en-US" altLang="en-US" sz="1600" dirty="0"/>
              <a:t>= 2018);</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p:txBody>
          <a:bodyPr/>
          <a:lstStyle/>
          <a:p>
            <a:r>
              <a:rPr lang="en-US" altLang="en-US" sz="2800" dirty="0"/>
              <a:t>Set Membership (Cont.)</a:t>
            </a:r>
          </a:p>
        </p:txBody>
      </p:sp>
      <p:sp>
        <p:nvSpPr>
          <p:cNvPr id="50178" name="Rectangle 3"/>
          <p:cNvSpPr>
            <a:spLocks noGrp="1" noChangeArrowheads="1"/>
          </p:cNvSpPr>
          <p:nvPr>
            <p:ph type="body" idx="1"/>
          </p:nvPr>
        </p:nvSpPr>
        <p:spPr>
          <a:xfrm>
            <a:off x="768351" y="1123753"/>
            <a:ext cx="7665436" cy="5069783"/>
          </a:xfrm>
        </p:spPr>
        <p:txBody>
          <a:bodyPr/>
          <a:lstStyle/>
          <a:p>
            <a:pPr defTabSz="915988">
              <a:tabLst>
                <a:tab pos="684213" algn="l"/>
                <a:tab pos="1250950" algn="l"/>
              </a:tabLst>
            </a:pPr>
            <a:r>
              <a:rPr lang="en-US" altLang="en-US" sz="1700" dirty="0"/>
              <a:t>Name all instructors whose name is neither “Mozart” nor Einstein”</a:t>
            </a:r>
          </a:p>
          <a:p>
            <a:pPr marL="0" indent="0" defTabSz="915988">
              <a:buNone/>
              <a:tabLst>
                <a:tab pos="684213" algn="l"/>
                <a:tab pos="1250950" algn="l"/>
              </a:tabLst>
            </a:pPr>
            <a:endParaRPr lang="en-US" altLang="en-US" sz="800" dirty="0"/>
          </a:p>
          <a:p>
            <a:pPr>
              <a:spcBef>
                <a:spcPts val="0"/>
              </a:spcBef>
              <a:buNone/>
            </a:pPr>
            <a:r>
              <a:rPr lang="en-US" altLang="en-US" sz="1700" dirty="0"/>
              <a:t>                 </a:t>
            </a:r>
            <a:r>
              <a:rPr lang="en-US" altLang="en-US" sz="1700" b="1" dirty="0"/>
              <a:t>select distinct </a:t>
            </a:r>
            <a:r>
              <a:rPr lang="en-US" altLang="en-US" sz="1700" i="1" dirty="0"/>
              <a:t>name</a:t>
            </a:r>
            <a:endParaRPr lang="en-US" altLang="en-US" sz="1700" dirty="0"/>
          </a:p>
          <a:p>
            <a:pPr>
              <a:spcBef>
                <a:spcPts val="0"/>
              </a:spcBef>
              <a:buNone/>
            </a:pPr>
            <a:r>
              <a:rPr lang="en-US" altLang="en-US" sz="1700" b="1" dirty="0"/>
              <a:t>                 from </a:t>
            </a:r>
            <a:r>
              <a:rPr lang="en-US" altLang="en-US" sz="1700" i="1" dirty="0"/>
              <a:t>instructor</a:t>
            </a:r>
          </a:p>
          <a:p>
            <a:pPr>
              <a:spcBef>
                <a:spcPts val="0"/>
              </a:spcBef>
              <a:buNone/>
            </a:pPr>
            <a:r>
              <a:rPr lang="en-US" altLang="en-US" sz="1700" b="1" dirty="0"/>
              <a:t>                 where </a:t>
            </a:r>
            <a:r>
              <a:rPr lang="en-US" altLang="en-US" sz="1700" dirty="0"/>
              <a:t> </a:t>
            </a:r>
            <a:r>
              <a:rPr lang="en-US" altLang="en-US" sz="1700" i="1" dirty="0"/>
              <a:t>name </a:t>
            </a:r>
            <a:r>
              <a:rPr lang="en-US" altLang="en-US" sz="1700" b="1" dirty="0"/>
              <a:t>not in </a:t>
            </a:r>
            <a:r>
              <a:rPr lang="en-US" altLang="en-US" sz="1700" dirty="0"/>
              <a:t>('Mozart', 'Einstein') </a:t>
            </a:r>
          </a:p>
          <a:p>
            <a:pPr>
              <a:buNone/>
            </a:pPr>
            <a:endParaRPr lang="en-US" altLang="en-US" sz="800" dirty="0"/>
          </a:p>
          <a:p>
            <a:pPr defTabSz="915988">
              <a:tabLst>
                <a:tab pos="684213" algn="l"/>
                <a:tab pos="1250950" algn="l"/>
              </a:tabLst>
            </a:pPr>
            <a:r>
              <a:rPr lang="en-US" altLang="en-US" sz="1700" dirty="0"/>
              <a:t>Find the total number of (distinct) students who have taken course sections taught by the instructor with </a:t>
            </a:r>
            <a:r>
              <a:rPr lang="en-US" altLang="en-US" sz="1700" i="1" dirty="0"/>
              <a:t>ID </a:t>
            </a:r>
            <a:r>
              <a:rPr lang="en-US" altLang="en-US" sz="1700" dirty="0"/>
              <a:t>10101</a:t>
            </a:r>
          </a:p>
          <a:p>
            <a:pPr defTabSz="915988">
              <a:tabLst>
                <a:tab pos="684213" algn="l"/>
                <a:tab pos="1250950" algn="l"/>
              </a:tabLst>
            </a:pPr>
            <a:endParaRPr lang="en-US" altLang="en-US" sz="1700" dirty="0"/>
          </a:p>
          <a:p>
            <a:pPr defTabSz="915988">
              <a:tabLst>
                <a:tab pos="684213" algn="l"/>
                <a:tab pos="1250950" algn="l"/>
              </a:tabLst>
            </a:pPr>
            <a:endParaRPr lang="en-US" altLang="en-US" sz="1700" dirty="0"/>
          </a:p>
          <a:p>
            <a:pPr defTabSz="915988">
              <a:tabLst>
                <a:tab pos="684213" algn="l"/>
                <a:tab pos="1250950" algn="l"/>
              </a:tabLst>
            </a:pPr>
            <a:endParaRPr lang="en-US" altLang="en-US" sz="1700" dirty="0"/>
          </a:p>
          <a:p>
            <a:pPr defTabSz="915988">
              <a:tabLst>
                <a:tab pos="684213" algn="l"/>
                <a:tab pos="1250950" algn="l"/>
              </a:tabLst>
            </a:pPr>
            <a:endParaRPr lang="en-US" altLang="en-US" sz="1700" dirty="0"/>
          </a:p>
          <a:p>
            <a:pPr defTabSz="915988">
              <a:tabLst>
                <a:tab pos="684213" algn="l"/>
                <a:tab pos="1250950" algn="l"/>
              </a:tabLst>
            </a:pPr>
            <a:endParaRPr lang="en-US" altLang="en-US" sz="1700" dirty="0"/>
          </a:p>
          <a:p>
            <a:pPr defTabSz="915988">
              <a:tabLst>
                <a:tab pos="684213" algn="l"/>
                <a:tab pos="1250950" algn="l"/>
              </a:tabLst>
            </a:pPr>
            <a:endParaRPr lang="en-US" altLang="en-US" sz="800" dirty="0"/>
          </a:p>
          <a:p>
            <a:pPr defTabSz="915988">
              <a:tabLst>
                <a:tab pos="684213" algn="l"/>
                <a:tab pos="1250950" algn="l"/>
              </a:tabLst>
            </a:pPr>
            <a:r>
              <a:rPr lang="en-US" altLang="en-US" sz="1700" dirty="0"/>
              <a:t>Note: Above query can be written in a much simpler manner.  </a:t>
            </a:r>
            <a:br>
              <a:rPr lang="en-US" altLang="en-US" sz="1700" dirty="0"/>
            </a:br>
            <a:r>
              <a:rPr lang="en-US" altLang="en-US" sz="1700" dirty="0"/>
              <a:t>The formulation above is simply to illustrate SQL features</a:t>
            </a:r>
          </a:p>
          <a:p>
            <a:pPr defTabSz="915988">
              <a:tabLst>
                <a:tab pos="684213" algn="l"/>
                <a:tab pos="1250950" algn="l"/>
              </a:tabLst>
            </a:pPr>
            <a:endParaRPr lang="en-US" altLang="en-US" sz="1700" i="1" dirty="0"/>
          </a:p>
        </p:txBody>
      </p:sp>
      <p:sp>
        <p:nvSpPr>
          <p:cNvPr id="50180" name="Text Box 5"/>
          <p:cNvSpPr txBox="1">
            <a:spLocks noChangeArrowheads="1"/>
          </p:cNvSpPr>
          <p:nvPr/>
        </p:nvSpPr>
        <p:spPr bwMode="auto">
          <a:xfrm>
            <a:off x="1803745" y="3311288"/>
            <a:ext cx="6434733"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r>
              <a:rPr lang="en-US" altLang="en-US" sz="1700" b="1" dirty="0"/>
              <a:t>select count </a:t>
            </a:r>
            <a:r>
              <a:rPr lang="en-US" altLang="en-US" sz="1700" dirty="0"/>
              <a:t>(</a:t>
            </a:r>
            <a:r>
              <a:rPr lang="en-US" altLang="en-US" sz="1700" b="1" dirty="0"/>
              <a:t>distinct </a:t>
            </a:r>
            <a:r>
              <a:rPr lang="en-US" altLang="en-US" sz="1700" i="1" dirty="0"/>
              <a:t>ID</a:t>
            </a:r>
            <a:r>
              <a:rPr lang="en-US" altLang="en-US" sz="1700" dirty="0"/>
              <a:t>)</a:t>
            </a:r>
          </a:p>
          <a:p>
            <a:r>
              <a:rPr lang="en-US" altLang="en-US" sz="1700" b="1" dirty="0"/>
              <a:t>from </a:t>
            </a:r>
            <a:r>
              <a:rPr lang="en-US" altLang="en-US" sz="1700" i="1" dirty="0"/>
              <a:t>takes</a:t>
            </a:r>
          </a:p>
          <a:p>
            <a:r>
              <a:rPr lang="en-US" altLang="en-US" sz="1700" b="1" dirty="0"/>
              <a:t>where </a:t>
            </a:r>
            <a:r>
              <a:rPr lang="en-US" altLang="en-US" sz="1700" dirty="0"/>
              <a:t>(</a:t>
            </a:r>
            <a:r>
              <a:rPr lang="en-US" altLang="en-US" sz="1700" i="1" dirty="0" err="1"/>
              <a:t>course_id</a:t>
            </a:r>
            <a:r>
              <a:rPr lang="en-US" altLang="en-US" sz="1700" dirty="0"/>
              <a:t>, </a:t>
            </a:r>
            <a:r>
              <a:rPr lang="en-US" altLang="en-US" sz="1700" i="1" dirty="0" err="1"/>
              <a:t>sec_id</a:t>
            </a:r>
            <a:r>
              <a:rPr lang="en-US" altLang="en-US" sz="1700" dirty="0"/>
              <a:t>, </a:t>
            </a:r>
            <a:r>
              <a:rPr lang="en-US" altLang="en-US" sz="1700" i="1" dirty="0"/>
              <a:t>semester</a:t>
            </a:r>
            <a:r>
              <a:rPr lang="en-US" altLang="en-US" sz="1700" dirty="0"/>
              <a:t>, </a:t>
            </a:r>
            <a:r>
              <a:rPr lang="en-US" altLang="en-US" sz="1700" i="1" dirty="0"/>
              <a:t>year</a:t>
            </a:r>
            <a:r>
              <a:rPr lang="en-US" altLang="en-US" sz="1700" dirty="0"/>
              <a:t>) </a:t>
            </a:r>
            <a:r>
              <a:rPr lang="en-US" altLang="en-US" sz="1700" b="1" dirty="0"/>
              <a:t>in </a:t>
            </a:r>
            <a:br>
              <a:rPr lang="en-US" altLang="en-US" sz="1700" b="1" dirty="0"/>
            </a:br>
            <a:r>
              <a:rPr lang="en-US" altLang="en-US" sz="1700" b="1" dirty="0"/>
              <a:t>                                </a:t>
            </a:r>
            <a:r>
              <a:rPr lang="en-US" altLang="en-US" sz="1700" dirty="0"/>
              <a:t>(</a:t>
            </a:r>
            <a:r>
              <a:rPr lang="en-US" altLang="en-US" sz="1700" b="1" dirty="0"/>
              <a:t>select </a:t>
            </a:r>
            <a:r>
              <a:rPr lang="en-US" altLang="en-US" sz="1700" i="1" dirty="0" err="1"/>
              <a:t>course_id</a:t>
            </a:r>
            <a:r>
              <a:rPr lang="en-US" altLang="en-US" sz="1700" dirty="0"/>
              <a:t>, </a:t>
            </a:r>
            <a:r>
              <a:rPr lang="en-US" altLang="en-US" sz="1700" i="1" dirty="0" err="1"/>
              <a:t>sec_id</a:t>
            </a:r>
            <a:r>
              <a:rPr lang="en-US" altLang="en-US" sz="1700" dirty="0"/>
              <a:t>, </a:t>
            </a:r>
            <a:r>
              <a:rPr lang="en-US" altLang="en-US" sz="1700" i="1" dirty="0"/>
              <a:t>semester</a:t>
            </a:r>
            <a:r>
              <a:rPr lang="en-US" altLang="en-US" sz="1700" dirty="0"/>
              <a:t>, </a:t>
            </a:r>
            <a:r>
              <a:rPr lang="en-US" altLang="en-US" sz="1700" i="1" dirty="0"/>
              <a:t>year</a:t>
            </a:r>
          </a:p>
          <a:p>
            <a:r>
              <a:rPr lang="en-US" altLang="en-US" sz="1700" b="1" dirty="0"/>
              <a:t>                                 from </a:t>
            </a:r>
            <a:r>
              <a:rPr lang="en-US" altLang="en-US" sz="1700" i="1" dirty="0"/>
              <a:t>teaches</a:t>
            </a:r>
          </a:p>
          <a:p>
            <a:r>
              <a:rPr lang="en-US" altLang="en-US" sz="1700" b="1" dirty="0"/>
              <a:t>                                 where </a:t>
            </a:r>
            <a:r>
              <a:rPr lang="en-US" altLang="en-US" sz="1700" i="1" dirty="0"/>
              <a:t>teaches</a:t>
            </a:r>
            <a:r>
              <a:rPr lang="en-US" altLang="en-US" sz="1700" dirty="0"/>
              <a:t>.</a:t>
            </a:r>
            <a:r>
              <a:rPr lang="en-US" altLang="en-US" sz="1700" i="1" dirty="0"/>
              <a:t>ID</a:t>
            </a:r>
            <a:r>
              <a:rPr lang="en-US" altLang="en-US" sz="1700" dirty="0"/>
              <a:t>= 10101);</a:t>
            </a:r>
          </a:p>
          <a:p>
            <a:endParaRPr lang="en-US" altLang="en-US" sz="1600" dirty="0"/>
          </a:p>
          <a:p>
            <a:endParaRPr lang="en-US" altLang="en-US" sz="1600" dirty="0"/>
          </a:p>
          <a:p>
            <a:endParaRPr lang="en-US" altLang="en-US" sz="16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a:xfrm>
            <a:off x="768350" y="2470150"/>
            <a:ext cx="8077200" cy="609600"/>
          </a:xfrm>
        </p:spPr>
        <p:txBody>
          <a:bodyPr/>
          <a:lstStyle/>
          <a:p>
            <a:r>
              <a:rPr lang="en-US" altLang="en-US" dirty="0"/>
              <a:t>Set Comparison</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43394" name="Rectangle 2"/>
          <p:cNvSpPr>
            <a:spLocks noGrp="1" noChangeArrowheads="1"/>
          </p:cNvSpPr>
          <p:nvPr>
            <p:ph type="title"/>
          </p:nvPr>
        </p:nvSpPr>
        <p:spPr>
          <a:xfrm>
            <a:off x="552450" y="142875"/>
            <a:ext cx="8077200" cy="609600"/>
          </a:xfrm>
        </p:spPr>
        <p:txBody>
          <a:bodyPr/>
          <a:lstStyle/>
          <a:p>
            <a:r>
              <a:rPr lang="en-US" altLang="en-US" sz="2800" dirty="0"/>
              <a:t>Set Comparison – </a:t>
            </a:r>
            <a:r>
              <a:rPr lang="ja-JP" altLang="en-US" sz="2800" dirty="0"/>
              <a:t>“</a:t>
            </a:r>
            <a:r>
              <a:rPr lang="en-US" altLang="ja-JP" sz="2800" dirty="0"/>
              <a:t>some</a:t>
            </a:r>
            <a:r>
              <a:rPr lang="ja-JP" altLang="en-US" sz="2800" dirty="0"/>
              <a:t>”</a:t>
            </a:r>
            <a:r>
              <a:rPr lang="en-US" altLang="ja-JP" sz="2800" dirty="0"/>
              <a:t> Clause</a:t>
            </a:r>
            <a:endParaRPr lang="en-US" altLang="en-US" sz="2800" dirty="0"/>
          </a:p>
        </p:txBody>
      </p:sp>
      <p:sp>
        <p:nvSpPr>
          <p:cNvPr id="51202" name="Rectangle 3"/>
          <p:cNvSpPr>
            <a:spLocks noGrp="1" noChangeArrowheads="1"/>
          </p:cNvSpPr>
          <p:nvPr>
            <p:ph type="body" idx="1"/>
          </p:nvPr>
        </p:nvSpPr>
        <p:spPr>
          <a:xfrm>
            <a:off x="763480" y="1106487"/>
            <a:ext cx="7384238" cy="4202492"/>
          </a:xfrm>
        </p:spPr>
        <p:txBody>
          <a:bodyPr/>
          <a:lstStyle/>
          <a:p>
            <a:pPr defTabSz="915988">
              <a:tabLst>
                <a:tab pos="1830388" algn="l"/>
              </a:tabLst>
            </a:pPr>
            <a:r>
              <a:rPr lang="en-US" altLang="en-US" dirty="0"/>
              <a:t>Find names of instructors with salary greater than that of some (at least one) instructor in the Biology department.</a:t>
            </a:r>
          </a:p>
          <a:p>
            <a:pPr defTabSz="915988">
              <a:tabLst>
                <a:tab pos="1830388" algn="l"/>
              </a:tabLst>
            </a:pPr>
            <a:endParaRPr lang="en-US" altLang="en-US" dirty="0"/>
          </a:p>
          <a:p>
            <a:pPr defTabSz="915988">
              <a:tabLst>
                <a:tab pos="1830388" algn="l"/>
              </a:tabLst>
            </a:pPr>
            <a:endParaRPr lang="en-US" altLang="en-US" dirty="0"/>
          </a:p>
          <a:p>
            <a:pPr defTabSz="915988">
              <a:tabLst>
                <a:tab pos="1830388" algn="l"/>
              </a:tabLst>
            </a:pPr>
            <a:endParaRPr lang="en-US" altLang="en-US" dirty="0"/>
          </a:p>
          <a:p>
            <a:pPr defTabSz="915988">
              <a:tabLst>
                <a:tab pos="1830388" algn="l"/>
              </a:tabLst>
            </a:pPr>
            <a:r>
              <a:rPr lang="en-US" altLang="en-US" dirty="0"/>
              <a:t>Same query using &gt; </a:t>
            </a:r>
            <a:r>
              <a:rPr lang="en-US" altLang="en-US" b="1" dirty="0"/>
              <a:t>some</a:t>
            </a:r>
            <a:r>
              <a:rPr lang="en-US" altLang="en-US" dirty="0"/>
              <a:t> clause</a:t>
            </a:r>
          </a:p>
        </p:txBody>
      </p:sp>
      <p:sp>
        <p:nvSpPr>
          <p:cNvPr id="51204" name="Text Box 5"/>
          <p:cNvSpPr txBox="1">
            <a:spLocks noChangeArrowheads="1"/>
          </p:cNvSpPr>
          <p:nvPr/>
        </p:nvSpPr>
        <p:spPr bwMode="auto">
          <a:xfrm>
            <a:off x="1957388" y="3285892"/>
            <a:ext cx="565785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r>
              <a:rPr lang="en-US" altLang="en-US" sz="1600" b="1" dirty="0"/>
              <a:t>select </a:t>
            </a:r>
            <a:r>
              <a:rPr lang="en-US" altLang="en-US" sz="1600" i="1" dirty="0"/>
              <a:t>name</a:t>
            </a:r>
          </a:p>
          <a:p>
            <a:r>
              <a:rPr lang="en-US" altLang="en-US" sz="1600" b="1" dirty="0"/>
              <a:t>from </a:t>
            </a:r>
            <a:r>
              <a:rPr lang="en-US" altLang="en-US" sz="1600" i="1" dirty="0"/>
              <a:t>instructor</a:t>
            </a:r>
          </a:p>
          <a:p>
            <a:r>
              <a:rPr lang="en-US" altLang="en-US" sz="1600" b="1" dirty="0"/>
              <a:t>where </a:t>
            </a:r>
            <a:r>
              <a:rPr lang="en-US" altLang="en-US" sz="1600" i="1" dirty="0"/>
              <a:t>salary </a:t>
            </a:r>
            <a:r>
              <a:rPr lang="en-US" altLang="en-US" sz="1600" dirty="0"/>
              <a:t>&gt; </a:t>
            </a:r>
            <a:r>
              <a:rPr lang="en-US" altLang="en-US" sz="1600" b="1" dirty="0"/>
              <a:t>some </a:t>
            </a:r>
            <a:r>
              <a:rPr lang="en-US" altLang="en-US" sz="1600" dirty="0"/>
              <a:t>(</a:t>
            </a:r>
            <a:r>
              <a:rPr lang="en-US" altLang="en-US" sz="1600" b="1" dirty="0"/>
              <a:t>select </a:t>
            </a:r>
            <a:r>
              <a:rPr lang="en-US" altLang="en-US" sz="1600" i="1" dirty="0"/>
              <a:t>salary</a:t>
            </a:r>
          </a:p>
          <a:p>
            <a:r>
              <a:rPr lang="en-US" altLang="en-US" sz="1600" b="1" dirty="0"/>
              <a:t>                                     from </a:t>
            </a:r>
            <a:r>
              <a:rPr lang="en-US" altLang="en-US" sz="1600" i="1" dirty="0"/>
              <a:t>instructor</a:t>
            </a:r>
          </a:p>
          <a:p>
            <a:r>
              <a:rPr lang="en-US" altLang="en-US" sz="1600" b="1" dirty="0"/>
              <a:t>                                     where </a:t>
            </a:r>
            <a:r>
              <a:rPr lang="en-US" altLang="en-US" sz="1600" i="1" dirty="0"/>
              <a:t>dept name </a:t>
            </a:r>
            <a:r>
              <a:rPr lang="en-US" altLang="en-US" sz="1600" dirty="0"/>
              <a:t>= 'Biology');</a:t>
            </a:r>
          </a:p>
        </p:txBody>
      </p:sp>
      <p:sp>
        <p:nvSpPr>
          <p:cNvPr id="51205" name="Text Box 6"/>
          <p:cNvSpPr txBox="1">
            <a:spLocks noChangeArrowheads="1"/>
          </p:cNvSpPr>
          <p:nvPr/>
        </p:nvSpPr>
        <p:spPr bwMode="auto">
          <a:xfrm>
            <a:off x="1952625" y="1806466"/>
            <a:ext cx="527526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r>
              <a:rPr lang="en-US" altLang="en-US" sz="1600" b="1" dirty="0"/>
              <a:t>select distinct </a:t>
            </a:r>
            <a:r>
              <a:rPr lang="en-US" altLang="en-US" sz="1600" i="1" dirty="0"/>
              <a:t>T</a:t>
            </a:r>
            <a:r>
              <a:rPr lang="en-US" altLang="en-US" sz="1600" dirty="0"/>
              <a:t>.</a:t>
            </a:r>
            <a:r>
              <a:rPr lang="en-US" altLang="en-US" sz="1600" i="1" dirty="0"/>
              <a:t>name</a:t>
            </a:r>
          </a:p>
          <a:p>
            <a:r>
              <a:rPr lang="en-US" altLang="en-US" sz="1600" b="1" dirty="0"/>
              <a:t>from </a:t>
            </a:r>
            <a:r>
              <a:rPr lang="en-US" altLang="en-US" sz="1600" i="1" dirty="0"/>
              <a:t>instructor </a:t>
            </a:r>
            <a:r>
              <a:rPr lang="en-US" altLang="en-US" sz="1600" b="1" dirty="0"/>
              <a:t>as </a:t>
            </a:r>
            <a:r>
              <a:rPr lang="en-US" altLang="en-US" sz="1600" i="1" dirty="0"/>
              <a:t>T</a:t>
            </a:r>
            <a:r>
              <a:rPr lang="en-US" altLang="en-US" sz="1600" dirty="0"/>
              <a:t>, </a:t>
            </a:r>
            <a:r>
              <a:rPr lang="en-US" altLang="en-US" sz="1600" i="1" dirty="0"/>
              <a:t>instructor </a:t>
            </a:r>
            <a:r>
              <a:rPr lang="en-US" altLang="en-US" sz="1600" b="1" dirty="0"/>
              <a:t>as </a:t>
            </a:r>
            <a:r>
              <a:rPr lang="en-US" altLang="en-US" sz="1600" i="1" dirty="0"/>
              <a:t>S</a:t>
            </a:r>
          </a:p>
          <a:p>
            <a:r>
              <a:rPr lang="en-US" altLang="en-US" sz="1600" b="1" dirty="0"/>
              <a:t>where </a:t>
            </a:r>
            <a:r>
              <a:rPr lang="en-US" altLang="en-US" sz="1600" i="1" dirty="0" err="1"/>
              <a:t>T.salary</a:t>
            </a:r>
            <a:r>
              <a:rPr lang="en-US" altLang="en-US" sz="1600" i="1" dirty="0"/>
              <a:t> </a:t>
            </a:r>
            <a:r>
              <a:rPr lang="en-US" altLang="en-US" sz="1600" dirty="0"/>
              <a:t>&gt; </a:t>
            </a:r>
            <a:r>
              <a:rPr lang="en-US" altLang="en-US" sz="1600" i="1" dirty="0" err="1"/>
              <a:t>S.salary</a:t>
            </a:r>
            <a:r>
              <a:rPr lang="en-US" altLang="en-US" sz="1600" i="1" dirty="0"/>
              <a:t> </a:t>
            </a:r>
            <a:r>
              <a:rPr lang="en-US" altLang="en-US" sz="1600" b="1" dirty="0"/>
              <a:t>and </a:t>
            </a:r>
            <a:r>
              <a:rPr lang="en-US" altLang="en-US" sz="1600" i="1" dirty="0" err="1"/>
              <a:t>S.dept</a:t>
            </a:r>
            <a:r>
              <a:rPr lang="en-US" altLang="en-US" sz="1600" i="1" dirty="0"/>
              <a:t> name </a:t>
            </a:r>
            <a:r>
              <a:rPr lang="en-US" altLang="en-US" sz="1600" dirty="0"/>
              <a:t>= 'Biology';</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a:xfrm>
            <a:off x="623888" y="146388"/>
            <a:ext cx="8077200" cy="609600"/>
          </a:xfrm>
        </p:spPr>
        <p:txBody>
          <a:bodyPr/>
          <a:lstStyle/>
          <a:p>
            <a:r>
              <a:rPr lang="en-US" altLang="en-US" sz="2800" dirty="0"/>
              <a:t>Definition of  </a:t>
            </a:r>
            <a:r>
              <a:rPr lang="ja-JP" altLang="en-US" sz="2800" dirty="0"/>
              <a:t>“</a:t>
            </a:r>
            <a:r>
              <a:rPr lang="en-US" altLang="ja-JP" sz="2800" dirty="0"/>
              <a:t>some</a:t>
            </a:r>
            <a:r>
              <a:rPr lang="ja-JP" altLang="en-US" sz="2800" dirty="0"/>
              <a:t>”</a:t>
            </a:r>
            <a:r>
              <a:rPr lang="en-US" altLang="ja-JP" sz="2800" dirty="0"/>
              <a:t> Clause</a:t>
            </a:r>
            <a:endParaRPr lang="en-US" altLang="en-US" sz="2800" dirty="0"/>
          </a:p>
        </p:txBody>
      </p:sp>
      <p:sp>
        <p:nvSpPr>
          <p:cNvPr id="52226" name="Rectangle 3"/>
          <p:cNvSpPr>
            <a:spLocks noGrp="1" noChangeArrowheads="1"/>
          </p:cNvSpPr>
          <p:nvPr>
            <p:ph type="body" idx="1"/>
          </p:nvPr>
        </p:nvSpPr>
        <p:spPr>
          <a:xfrm>
            <a:off x="757531" y="1106488"/>
            <a:ext cx="6800849" cy="714375"/>
          </a:xfrm>
        </p:spPr>
        <p:txBody>
          <a:bodyPr/>
          <a:lstStyle/>
          <a:p>
            <a:r>
              <a:rPr lang="en-US" altLang="en-US" dirty="0"/>
              <a:t>F &lt;comp&gt; </a:t>
            </a:r>
            <a:r>
              <a:rPr lang="en-US" altLang="en-US" b="1" dirty="0"/>
              <a:t>some </a:t>
            </a:r>
            <a:r>
              <a:rPr lang="en-US" altLang="en-US" i="1" dirty="0"/>
              <a:t>r </a:t>
            </a:r>
            <a:r>
              <a:rPr lang="en-US" altLang="en-US" dirty="0">
                <a:sym typeface="Symbol" panose="05050102010706020507" pitchFamily="18" charset="2"/>
              </a:rPr>
              <a:t></a:t>
            </a:r>
            <a:r>
              <a:rPr lang="en-US" altLang="en-US" i="1" dirty="0">
                <a:sym typeface="Symbol" panose="05050102010706020507" pitchFamily="18" charset="2"/>
              </a:rPr>
              <a:t>t </a:t>
            </a:r>
            <a:r>
              <a:rPr lang="en-US" altLang="en-US" dirty="0">
                <a:sym typeface="Symbol" panose="05050102010706020507" pitchFamily="18" charset="2"/>
              </a:rPr>
              <a:t></a:t>
            </a:r>
            <a:r>
              <a:rPr lang="en-US" altLang="en-US" i="1" dirty="0">
                <a:sym typeface="Symbol" panose="05050102010706020507" pitchFamily="18" charset="2"/>
              </a:rPr>
              <a:t>r </a:t>
            </a:r>
            <a:r>
              <a:rPr lang="en-US" altLang="en-US" dirty="0">
                <a:sym typeface="Symbol" panose="05050102010706020507" pitchFamily="18" charset="2"/>
              </a:rPr>
              <a:t>such that (F &lt;comp&gt; </a:t>
            </a:r>
            <a:r>
              <a:rPr lang="en-US" altLang="en-US" i="1" dirty="0">
                <a:sym typeface="Symbol" panose="05050102010706020507" pitchFamily="18" charset="2"/>
              </a:rPr>
              <a:t>t </a:t>
            </a:r>
            <a:r>
              <a:rPr lang="en-US" altLang="en-US" dirty="0">
                <a:sym typeface="Symbol" panose="05050102010706020507" pitchFamily="18" charset="2"/>
              </a:rPr>
              <a:t>)</a:t>
            </a:r>
            <a:r>
              <a:rPr lang="en-US" altLang="en-US" i="1" dirty="0">
                <a:sym typeface="Symbol" panose="05050102010706020507" pitchFamily="18" charset="2"/>
              </a:rPr>
              <a:t/>
            </a:r>
            <a:br>
              <a:rPr lang="en-US" altLang="en-US" i="1" dirty="0">
                <a:sym typeface="Symbol" panose="05050102010706020507" pitchFamily="18" charset="2"/>
              </a:rPr>
            </a:br>
            <a:r>
              <a:rPr lang="en-US" altLang="en-US" dirty="0">
                <a:sym typeface="Symbol" panose="05050102010706020507" pitchFamily="18" charset="2"/>
              </a:rPr>
              <a:t>Where &lt;comp&gt; can be:      </a:t>
            </a:r>
            <a:endParaRPr lang="en-US" altLang="en-US" dirty="0"/>
          </a:p>
        </p:txBody>
      </p:sp>
      <p:grpSp>
        <p:nvGrpSpPr>
          <p:cNvPr id="2" name="Group 1"/>
          <p:cNvGrpSpPr>
            <a:grpSpLocks/>
          </p:cNvGrpSpPr>
          <p:nvPr/>
        </p:nvGrpSpPr>
        <p:grpSpPr bwMode="auto">
          <a:xfrm>
            <a:off x="1512888" y="1952625"/>
            <a:ext cx="7805737" cy="4233863"/>
            <a:chOff x="809625" y="1952625"/>
            <a:chExt cx="7805738" cy="4233863"/>
          </a:xfrm>
        </p:grpSpPr>
        <p:grpSp>
          <p:nvGrpSpPr>
            <p:cNvPr id="3" name="Group 4"/>
            <p:cNvGrpSpPr>
              <a:grpSpLocks/>
            </p:cNvGrpSpPr>
            <p:nvPr/>
          </p:nvGrpSpPr>
          <p:grpSpPr bwMode="auto">
            <a:xfrm>
              <a:off x="2105025" y="1952625"/>
              <a:ext cx="457200" cy="1066800"/>
              <a:chOff x="2448" y="1296"/>
              <a:chExt cx="288" cy="960"/>
            </a:xfrm>
          </p:grpSpPr>
          <p:sp>
            <p:nvSpPr>
              <p:cNvPr id="52246" name="Rectangle 5"/>
              <p:cNvSpPr>
                <a:spLocks noChangeArrowheads="1"/>
              </p:cNvSpPr>
              <p:nvPr/>
            </p:nvSpPr>
            <p:spPr bwMode="auto">
              <a:xfrm>
                <a:off x="2448" y="1296"/>
                <a:ext cx="288" cy="336"/>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0</a:t>
                </a:r>
              </a:p>
            </p:txBody>
          </p:sp>
          <p:sp>
            <p:nvSpPr>
              <p:cNvPr id="52247" name="Rectangle 6"/>
              <p:cNvSpPr>
                <a:spLocks noChangeArrowheads="1"/>
              </p:cNvSpPr>
              <p:nvPr/>
            </p:nvSpPr>
            <p:spPr bwMode="auto">
              <a:xfrm>
                <a:off x="2448" y="1584"/>
                <a:ext cx="288" cy="336"/>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5</a:t>
                </a:r>
              </a:p>
            </p:txBody>
          </p:sp>
          <p:sp>
            <p:nvSpPr>
              <p:cNvPr id="52248" name="Rectangle 7"/>
              <p:cNvSpPr>
                <a:spLocks noChangeArrowheads="1"/>
              </p:cNvSpPr>
              <p:nvPr/>
            </p:nvSpPr>
            <p:spPr bwMode="auto">
              <a:xfrm>
                <a:off x="2448" y="1920"/>
                <a:ext cx="288" cy="336"/>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6</a:t>
                </a:r>
              </a:p>
            </p:txBody>
          </p:sp>
        </p:grpSp>
        <p:sp>
          <p:nvSpPr>
            <p:cNvPr id="52229" name="Text Box 8"/>
            <p:cNvSpPr txBox="1">
              <a:spLocks noChangeArrowheads="1"/>
            </p:cNvSpPr>
            <p:nvPr/>
          </p:nvSpPr>
          <p:spPr bwMode="auto">
            <a:xfrm>
              <a:off x="830263" y="2257425"/>
              <a:ext cx="13509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800"/>
                <a:t>(5 &lt; </a:t>
              </a:r>
              <a:r>
                <a:rPr lang="en-US" altLang="en-US" sz="1800" b="1"/>
                <a:t>some</a:t>
              </a:r>
              <a:endParaRPr lang="en-US" altLang="en-US" sz="1800"/>
            </a:p>
          </p:txBody>
        </p:sp>
        <p:sp>
          <p:nvSpPr>
            <p:cNvPr id="52230" name="Text Box 9"/>
            <p:cNvSpPr txBox="1">
              <a:spLocks noChangeArrowheads="1"/>
            </p:cNvSpPr>
            <p:nvPr/>
          </p:nvSpPr>
          <p:spPr bwMode="auto">
            <a:xfrm>
              <a:off x="2638425" y="2257425"/>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800"/>
                <a:t>) = true</a:t>
              </a:r>
            </a:p>
          </p:txBody>
        </p:sp>
        <p:sp>
          <p:nvSpPr>
            <p:cNvPr id="52231" name="Rectangle 10"/>
            <p:cNvSpPr>
              <a:spLocks noChangeArrowheads="1"/>
            </p:cNvSpPr>
            <p:nvPr/>
          </p:nvSpPr>
          <p:spPr bwMode="auto">
            <a:xfrm>
              <a:off x="2105025" y="3118035"/>
              <a:ext cx="457200" cy="381000"/>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0</a:t>
              </a:r>
            </a:p>
          </p:txBody>
        </p:sp>
        <p:sp>
          <p:nvSpPr>
            <p:cNvPr id="52232" name="Rectangle 11"/>
            <p:cNvSpPr>
              <a:spLocks noChangeArrowheads="1"/>
            </p:cNvSpPr>
            <p:nvPr/>
          </p:nvSpPr>
          <p:spPr bwMode="auto">
            <a:xfrm>
              <a:off x="2105025" y="3476625"/>
              <a:ext cx="457200" cy="296863"/>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5</a:t>
              </a:r>
            </a:p>
          </p:txBody>
        </p:sp>
        <p:sp>
          <p:nvSpPr>
            <p:cNvPr id="52233" name="Rectangle 12"/>
            <p:cNvSpPr>
              <a:spLocks noChangeArrowheads="1"/>
            </p:cNvSpPr>
            <p:nvPr/>
          </p:nvSpPr>
          <p:spPr bwMode="auto">
            <a:xfrm>
              <a:off x="2105025" y="3930650"/>
              <a:ext cx="457200" cy="307975"/>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0</a:t>
              </a:r>
            </a:p>
          </p:txBody>
        </p:sp>
        <p:sp>
          <p:nvSpPr>
            <p:cNvPr id="52234" name="Text Box 13"/>
            <p:cNvSpPr txBox="1">
              <a:spLocks noChangeArrowheads="1"/>
            </p:cNvSpPr>
            <p:nvPr/>
          </p:nvSpPr>
          <p:spPr bwMode="auto">
            <a:xfrm>
              <a:off x="2638425" y="341630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800"/>
                <a:t>) = false</a:t>
              </a:r>
            </a:p>
          </p:txBody>
        </p:sp>
        <p:sp>
          <p:nvSpPr>
            <p:cNvPr id="52235" name="Rectangle 14"/>
            <p:cNvSpPr>
              <a:spLocks noChangeArrowheads="1"/>
            </p:cNvSpPr>
            <p:nvPr/>
          </p:nvSpPr>
          <p:spPr bwMode="auto">
            <a:xfrm>
              <a:off x="2105025" y="4235450"/>
              <a:ext cx="457200" cy="307975"/>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5</a:t>
              </a:r>
            </a:p>
          </p:txBody>
        </p:sp>
        <p:sp>
          <p:nvSpPr>
            <p:cNvPr id="52236" name="Rectangle 15"/>
            <p:cNvSpPr>
              <a:spLocks noChangeArrowheads="1"/>
            </p:cNvSpPr>
            <p:nvPr/>
          </p:nvSpPr>
          <p:spPr bwMode="auto">
            <a:xfrm>
              <a:off x="2105025" y="4772025"/>
              <a:ext cx="457200" cy="307975"/>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0</a:t>
              </a:r>
            </a:p>
          </p:txBody>
        </p:sp>
        <p:sp>
          <p:nvSpPr>
            <p:cNvPr id="52237" name="Rectangle 16"/>
            <p:cNvSpPr>
              <a:spLocks noChangeArrowheads="1"/>
            </p:cNvSpPr>
            <p:nvPr/>
          </p:nvSpPr>
          <p:spPr bwMode="auto">
            <a:xfrm>
              <a:off x="2105025" y="5076825"/>
              <a:ext cx="457200" cy="309563"/>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5</a:t>
              </a:r>
            </a:p>
          </p:txBody>
        </p:sp>
        <p:sp>
          <p:nvSpPr>
            <p:cNvPr id="52238" name="Text Box 17"/>
            <p:cNvSpPr txBox="1">
              <a:spLocks noChangeArrowheads="1"/>
            </p:cNvSpPr>
            <p:nvPr/>
          </p:nvSpPr>
          <p:spPr bwMode="auto">
            <a:xfrm>
              <a:off x="809625" y="5000625"/>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800"/>
                <a:t>(5 </a:t>
              </a:r>
              <a:r>
                <a:rPr lang="en-US" altLang="en-US">
                  <a:latin typeface="Times New Roman" panose="02020603050405020304" pitchFamily="18" charset="0"/>
                  <a:sym typeface="Symbol" panose="05050102010706020507" pitchFamily="18" charset="2"/>
                </a:rPr>
                <a:t></a:t>
              </a:r>
              <a:r>
                <a:rPr lang="en-US" altLang="en-US" sz="1800"/>
                <a:t> </a:t>
              </a:r>
              <a:r>
                <a:rPr lang="en-US" altLang="en-US" sz="1800" b="1"/>
                <a:t>some</a:t>
              </a:r>
            </a:p>
          </p:txBody>
        </p:sp>
        <p:sp>
          <p:nvSpPr>
            <p:cNvPr id="52239" name="Text Box 18"/>
            <p:cNvSpPr txBox="1">
              <a:spLocks noChangeArrowheads="1"/>
            </p:cNvSpPr>
            <p:nvPr/>
          </p:nvSpPr>
          <p:spPr bwMode="auto">
            <a:xfrm>
              <a:off x="2638425" y="5000625"/>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800"/>
                <a:t>) = true (since 0 </a:t>
              </a:r>
              <a:r>
                <a:rPr lang="en-US" altLang="en-US">
                  <a:latin typeface="Times New Roman" panose="02020603050405020304" pitchFamily="18" charset="0"/>
                  <a:sym typeface="Symbol" panose="05050102010706020507" pitchFamily="18" charset="2"/>
                </a:rPr>
                <a:t> </a:t>
              </a:r>
              <a:r>
                <a:rPr lang="en-US" altLang="en-US" sz="1800">
                  <a:sym typeface="Symbol" panose="05050102010706020507" pitchFamily="18" charset="2"/>
                </a:rPr>
                <a:t>5)</a:t>
              </a:r>
              <a:endParaRPr lang="en-US" altLang="en-US">
                <a:latin typeface="Times New Roman" panose="02020603050405020304" pitchFamily="18" charset="0"/>
                <a:sym typeface="Symbol" panose="05050102010706020507" pitchFamily="18" charset="2"/>
              </a:endParaRPr>
            </a:p>
          </p:txBody>
        </p:sp>
        <p:sp>
          <p:nvSpPr>
            <p:cNvPr id="52240" name="Text Box 19"/>
            <p:cNvSpPr txBox="1">
              <a:spLocks noChangeArrowheads="1"/>
            </p:cNvSpPr>
            <p:nvPr/>
          </p:nvSpPr>
          <p:spPr bwMode="auto">
            <a:xfrm>
              <a:off x="3738563" y="2486025"/>
              <a:ext cx="487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800"/>
                <a:t>(read:  5 &lt; some tuple in the relation) </a:t>
              </a:r>
            </a:p>
          </p:txBody>
        </p:sp>
        <p:sp>
          <p:nvSpPr>
            <p:cNvPr id="52241" name="Text Box 20"/>
            <p:cNvSpPr txBox="1">
              <a:spLocks noChangeArrowheads="1"/>
            </p:cNvSpPr>
            <p:nvPr/>
          </p:nvSpPr>
          <p:spPr bwMode="auto">
            <a:xfrm>
              <a:off x="844550" y="3402013"/>
              <a:ext cx="1377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800"/>
                <a:t>(5 &lt; </a:t>
              </a:r>
              <a:r>
                <a:rPr lang="en-US" altLang="en-US" sz="1800" b="1"/>
                <a:t>some</a:t>
              </a:r>
              <a:endParaRPr lang="en-US" altLang="en-US" sz="1800"/>
            </a:p>
          </p:txBody>
        </p:sp>
        <p:sp>
          <p:nvSpPr>
            <p:cNvPr id="52242" name="Text Box 21"/>
            <p:cNvSpPr txBox="1">
              <a:spLocks noChangeArrowheads="1"/>
            </p:cNvSpPr>
            <p:nvPr/>
          </p:nvSpPr>
          <p:spPr bwMode="auto">
            <a:xfrm>
              <a:off x="2638425" y="415925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800"/>
                <a:t>) = true</a:t>
              </a:r>
            </a:p>
          </p:txBody>
        </p:sp>
        <p:sp>
          <p:nvSpPr>
            <p:cNvPr id="52243" name="Text Box 22"/>
            <p:cNvSpPr txBox="1">
              <a:spLocks noChangeArrowheads="1"/>
            </p:cNvSpPr>
            <p:nvPr/>
          </p:nvSpPr>
          <p:spPr bwMode="auto">
            <a:xfrm>
              <a:off x="885825" y="4162425"/>
              <a:ext cx="152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800"/>
                <a:t>(5 = </a:t>
              </a:r>
              <a:r>
                <a:rPr lang="en-US" altLang="en-US" sz="1800" b="1"/>
                <a:t>some</a:t>
              </a:r>
              <a:endParaRPr lang="en-US" altLang="en-US" sz="1800"/>
            </a:p>
          </p:txBody>
        </p:sp>
        <p:sp>
          <p:nvSpPr>
            <p:cNvPr id="52244" name="Rectangle 23"/>
            <p:cNvSpPr>
              <a:spLocks noChangeArrowheads="1"/>
            </p:cNvSpPr>
            <p:nvPr/>
          </p:nvSpPr>
          <p:spPr bwMode="auto">
            <a:xfrm>
              <a:off x="823913" y="5472113"/>
              <a:ext cx="68008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r>
                <a:rPr lang="en-US" altLang="en-US" sz="1800">
                  <a:latin typeface="Arial" panose="020B0604020202020204" pitchFamily="34" charset="0"/>
                </a:rPr>
                <a:t>(= </a:t>
              </a:r>
              <a:r>
                <a:rPr lang="en-US" altLang="en-US" sz="1800" b="1">
                  <a:latin typeface="Arial" panose="020B0604020202020204" pitchFamily="34" charset="0"/>
                </a:rPr>
                <a:t>some</a:t>
              </a:r>
              <a:r>
                <a:rPr lang="en-US" altLang="en-US" sz="1800">
                  <a:latin typeface="Arial" panose="020B0604020202020204" pitchFamily="34" charset="0"/>
                </a:rPr>
                <a:t>) </a:t>
              </a:r>
              <a:r>
                <a:rPr lang="en-US" altLang="en-US" sz="1800">
                  <a:latin typeface="Arial" panose="020B0604020202020204" pitchFamily="34" charset="0"/>
                  <a:sym typeface="Symbol" panose="05050102010706020507" pitchFamily="18" charset="2"/>
                </a:rPr>
                <a:t> </a:t>
              </a:r>
              <a:r>
                <a:rPr lang="en-US" altLang="en-US" sz="1800" b="1">
                  <a:latin typeface="Arial" panose="020B0604020202020204" pitchFamily="34" charset="0"/>
                  <a:sym typeface="Symbol" panose="05050102010706020507" pitchFamily="18" charset="2"/>
                </a:rPr>
                <a:t>in</a:t>
              </a:r>
            </a:p>
            <a:p>
              <a:r>
                <a:rPr lang="en-US" altLang="en-US" sz="1800">
                  <a:latin typeface="Arial" panose="020B0604020202020204" pitchFamily="34" charset="0"/>
                  <a:sym typeface="Symbol" panose="05050102010706020507" pitchFamily="18" charset="2"/>
                </a:rPr>
                <a:t>However, ( </a:t>
              </a:r>
              <a:r>
                <a:rPr lang="en-US" altLang="en-US" sz="1800" b="1">
                  <a:latin typeface="Arial" panose="020B0604020202020204" pitchFamily="34" charset="0"/>
                  <a:sym typeface="Symbol" panose="05050102010706020507" pitchFamily="18" charset="2"/>
                </a:rPr>
                <a:t>some</a:t>
              </a:r>
              <a:r>
                <a:rPr lang="en-US" altLang="en-US" sz="1800">
                  <a:latin typeface="Arial" panose="020B0604020202020204" pitchFamily="34" charset="0"/>
                  <a:sym typeface="Symbol" panose="05050102010706020507" pitchFamily="18" charset="2"/>
                </a:rPr>
                <a:t>)  </a:t>
              </a:r>
              <a:r>
                <a:rPr lang="en-US" altLang="en-US" sz="1800" b="1">
                  <a:latin typeface="Arial" panose="020B0604020202020204" pitchFamily="34" charset="0"/>
                  <a:sym typeface="Symbol" panose="05050102010706020507" pitchFamily="18" charset="2"/>
                </a:rPr>
                <a:t>not in</a:t>
              </a:r>
              <a:endParaRPr lang="en-US" altLang="en-US" sz="1800">
                <a:latin typeface="Arial" panose="020B0604020202020204" pitchFamily="34" charset="0"/>
                <a:sym typeface="Symbol" panose="05050102010706020507" pitchFamily="18" charset="2"/>
              </a:endParaRPr>
            </a:p>
          </p:txBody>
        </p:sp>
        <p:sp>
          <p:nvSpPr>
            <p:cNvPr id="52245" name="Line 24"/>
            <p:cNvSpPr>
              <a:spLocks noChangeShapeType="1"/>
            </p:cNvSpPr>
            <p:nvPr/>
          </p:nvSpPr>
          <p:spPr bwMode="auto">
            <a:xfrm flipH="1">
              <a:off x="2919413" y="5840413"/>
              <a:ext cx="122237" cy="279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p:txBody>
          <a:bodyPr/>
          <a:lstStyle/>
          <a:p>
            <a:r>
              <a:rPr lang="en-US" altLang="en-US" sz="2800" dirty="0"/>
              <a:t>Set Comparison – </a:t>
            </a:r>
            <a:r>
              <a:rPr lang="ja-JP" altLang="en-US" sz="2800" dirty="0"/>
              <a:t>“</a:t>
            </a:r>
            <a:r>
              <a:rPr lang="en-US" altLang="ja-JP" sz="2800" dirty="0"/>
              <a:t>all</a:t>
            </a:r>
            <a:r>
              <a:rPr lang="ja-JP" altLang="en-US" sz="2800" dirty="0"/>
              <a:t>”</a:t>
            </a:r>
            <a:r>
              <a:rPr lang="en-US" altLang="ja-JP" sz="2800" dirty="0"/>
              <a:t> Clause</a:t>
            </a:r>
            <a:endParaRPr lang="en-US" altLang="en-US" sz="2800" dirty="0"/>
          </a:p>
        </p:txBody>
      </p:sp>
      <p:sp>
        <p:nvSpPr>
          <p:cNvPr id="53250" name="Rectangle 3"/>
          <p:cNvSpPr>
            <a:spLocks noGrp="1" noChangeArrowheads="1"/>
          </p:cNvSpPr>
          <p:nvPr>
            <p:ph type="body" idx="1"/>
          </p:nvPr>
        </p:nvSpPr>
        <p:spPr>
          <a:xfrm>
            <a:off x="768350" y="1108075"/>
            <a:ext cx="7680705" cy="732917"/>
          </a:xfrm>
        </p:spPr>
        <p:txBody>
          <a:bodyPr/>
          <a:lstStyle/>
          <a:p>
            <a:pPr>
              <a:tabLst>
                <a:tab pos="1370013" algn="l"/>
                <a:tab pos="1830388" algn="l"/>
              </a:tabLst>
            </a:pPr>
            <a:r>
              <a:rPr lang="en-US" altLang="en-US" sz="1700" dirty="0"/>
              <a:t>Find the names of all instructors whose salary is greater than the salary of all instructors in the Biology department</a:t>
            </a:r>
            <a:r>
              <a:rPr lang="en-US" altLang="en-US" dirty="0"/>
              <a:t>.</a:t>
            </a:r>
          </a:p>
        </p:txBody>
      </p:sp>
      <p:sp>
        <p:nvSpPr>
          <p:cNvPr id="53251" name="Text Box 4"/>
          <p:cNvSpPr txBox="1">
            <a:spLocks noChangeArrowheads="1"/>
          </p:cNvSpPr>
          <p:nvPr/>
        </p:nvSpPr>
        <p:spPr bwMode="auto">
          <a:xfrm>
            <a:off x="1873314" y="1776986"/>
            <a:ext cx="5018087" cy="1400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r>
              <a:rPr lang="en-US" altLang="en-US" sz="1700" b="1" dirty="0"/>
              <a:t>select </a:t>
            </a:r>
            <a:r>
              <a:rPr lang="en-US" altLang="en-US" sz="1700" i="1" dirty="0"/>
              <a:t>name</a:t>
            </a:r>
          </a:p>
          <a:p>
            <a:r>
              <a:rPr lang="en-US" altLang="en-US" sz="1700" b="1" dirty="0"/>
              <a:t>from </a:t>
            </a:r>
            <a:r>
              <a:rPr lang="en-US" altLang="en-US" sz="1700" i="1" dirty="0"/>
              <a:t>instructor</a:t>
            </a:r>
          </a:p>
          <a:p>
            <a:r>
              <a:rPr lang="en-US" altLang="en-US" sz="1700" b="1" dirty="0"/>
              <a:t>where </a:t>
            </a:r>
            <a:r>
              <a:rPr lang="en-US" altLang="en-US" sz="1700" i="1" dirty="0"/>
              <a:t>salary </a:t>
            </a:r>
            <a:r>
              <a:rPr lang="en-US" altLang="en-US" sz="1700" dirty="0"/>
              <a:t>&gt; </a:t>
            </a:r>
            <a:r>
              <a:rPr lang="en-US" altLang="en-US" sz="1700" b="1" dirty="0"/>
              <a:t>all </a:t>
            </a:r>
            <a:r>
              <a:rPr lang="en-US" altLang="en-US" sz="1700" dirty="0"/>
              <a:t>(</a:t>
            </a:r>
            <a:r>
              <a:rPr lang="en-US" altLang="en-US" sz="1700" b="1" dirty="0"/>
              <a:t>select </a:t>
            </a:r>
            <a:r>
              <a:rPr lang="en-US" altLang="en-US" sz="1700" i="1" dirty="0"/>
              <a:t>salary</a:t>
            </a:r>
          </a:p>
          <a:p>
            <a:r>
              <a:rPr lang="en-US" altLang="en-US" sz="1700" b="1" dirty="0"/>
              <a:t>                                from </a:t>
            </a:r>
            <a:r>
              <a:rPr lang="en-US" altLang="en-US" sz="1700" i="1" dirty="0"/>
              <a:t>instructor</a:t>
            </a:r>
          </a:p>
          <a:p>
            <a:r>
              <a:rPr lang="en-US" altLang="en-US" sz="1700" b="1" dirty="0"/>
              <a:t>                                where </a:t>
            </a:r>
            <a:r>
              <a:rPr lang="en-US" altLang="en-US" sz="1700" i="1" dirty="0"/>
              <a:t>dept name </a:t>
            </a:r>
            <a:r>
              <a:rPr lang="en-US" altLang="en-US" sz="1700" dirty="0"/>
              <a:t>= 'Biology');</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9538" name="Rectangle 2"/>
          <p:cNvSpPr>
            <a:spLocks noGrp="1" noChangeArrowheads="1"/>
          </p:cNvSpPr>
          <p:nvPr>
            <p:ph type="title"/>
          </p:nvPr>
        </p:nvSpPr>
        <p:spPr/>
        <p:txBody>
          <a:bodyPr/>
          <a:lstStyle/>
          <a:p>
            <a:r>
              <a:rPr lang="en-US" altLang="en-US" sz="2800" dirty="0"/>
              <a:t>Definition of </a:t>
            </a:r>
            <a:r>
              <a:rPr lang="ja-JP" altLang="en-US" sz="2800" dirty="0"/>
              <a:t>“</a:t>
            </a:r>
            <a:r>
              <a:rPr lang="en-US" altLang="ja-JP" sz="2800" dirty="0"/>
              <a:t>all</a:t>
            </a:r>
            <a:r>
              <a:rPr lang="ja-JP" altLang="en-US" sz="2800" dirty="0"/>
              <a:t>”</a:t>
            </a:r>
            <a:r>
              <a:rPr lang="en-US" altLang="ja-JP" sz="2800" dirty="0"/>
              <a:t> Clause</a:t>
            </a:r>
            <a:endParaRPr lang="en-US" altLang="en-US" sz="2800" dirty="0"/>
          </a:p>
        </p:txBody>
      </p:sp>
      <p:sp>
        <p:nvSpPr>
          <p:cNvPr id="54274" name="Rectangle 3"/>
          <p:cNvSpPr>
            <a:spLocks noGrp="1" noChangeArrowheads="1"/>
          </p:cNvSpPr>
          <p:nvPr>
            <p:ph type="body" idx="1"/>
          </p:nvPr>
        </p:nvSpPr>
        <p:spPr>
          <a:xfrm>
            <a:off x="768351" y="1122363"/>
            <a:ext cx="6694488" cy="382587"/>
          </a:xfrm>
        </p:spPr>
        <p:txBody>
          <a:bodyPr lIns="90488" tIns="44450" rIns="90488" bIns="44450"/>
          <a:lstStyle/>
          <a:p>
            <a:r>
              <a:rPr lang="en-US" altLang="en-US" dirty="0"/>
              <a:t>F &lt;comp&gt; </a:t>
            </a:r>
            <a:r>
              <a:rPr lang="en-US" altLang="en-US" b="1" dirty="0"/>
              <a:t>all </a:t>
            </a:r>
            <a:r>
              <a:rPr lang="en-US" altLang="en-US" i="1" dirty="0"/>
              <a:t>r </a:t>
            </a:r>
            <a:r>
              <a:rPr lang="en-US" altLang="en-US" dirty="0">
                <a:sym typeface="Symbol" panose="05050102010706020507" pitchFamily="18" charset="2"/>
              </a:rPr>
              <a:t></a:t>
            </a:r>
            <a:r>
              <a:rPr lang="en-US" altLang="en-US" i="1" dirty="0">
                <a:sym typeface="Symbol" panose="05050102010706020507" pitchFamily="18" charset="2"/>
              </a:rPr>
              <a:t>t </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(F &lt;comp&gt; </a:t>
            </a:r>
            <a:r>
              <a:rPr lang="en-US" altLang="en-US" i="1" dirty="0">
                <a:sym typeface="Symbol" panose="05050102010706020507" pitchFamily="18" charset="2"/>
              </a:rPr>
              <a:t>t)</a:t>
            </a:r>
            <a:endParaRPr lang="en-US" altLang="en-US" dirty="0"/>
          </a:p>
        </p:txBody>
      </p:sp>
      <p:grpSp>
        <p:nvGrpSpPr>
          <p:cNvPr id="2" name="Group 1"/>
          <p:cNvGrpSpPr>
            <a:grpSpLocks/>
          </p:cNvGrpSpPr>
          <p:nvPr/>
        </p:nvGrpSpPr>
        <p:grpSpPr bwMode="auto">
          <a:xfrm>
            <a:off x="1365250" y="1752600"/>
            <a:ext cx="6800850" cy="4219575"/>
            <a:chOff x="1238250" y="1752600"/>
            <a:chExt cx="6800850" cy="4219575"/>
          </a:xfrm>
        </p:grpSpPr>
        <p:grpSp>
          <p:nvGrpSpPr>
            <p:cNvPr id="3" name="Group 4"/>
            <p:cNvGrpSpPr>
              <a:grpSpLocks/>
            </p:cNvGrpSpPr>
            <p:nvPr/>
          </p:nvGrpSpPr>
          <p:grpSpPr bwMode="auto">
            <a:xfrm>
              <a:off x="2619375" y="1752600"/>
              <a:ext cx="457200" cy="1066800"/>
              <a:chOff x="2448" y="1296"/>
              <a:chExt cx="288" cy="960"/>
            </a:xfrm>
          </p:grpSpPr>
          <p:sp>
            <p:nvSpPr>
              <p:cNvPr id="54293" name="Rectangle 5"/>
              <p:cNvSpPr>
                <a:spLocks noChangeArrowheads="1"/>
              </p:cNvSpPr>
              <p:nvPr/>
            </p:nvSpPr>
            <p:spPr bwMode="auto">
              <a:xfrm>
                <a:off x="2448" y="1296"/>
                <a:ext cx="288" cy="336"/>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0</a:t>
                </a:r>
              </a:p>
            </p:txBody>
          </p:sp>
          <p:sp>
            <p:nvSpPr>
              <p:cNvPr id="54294" name="Rectangle 6"/>
              <p:cNvSpPr>
                <a:spLocks noChangeArrowheads="1"/>
              </p:cNvSpPr>
              <p:nvPr/>
            </p:nvSpPr>
            <p:spPr bwMode="auto">
              <a:xfrm>
                <a:off x="2448" y="1584"/>
                <a:ext cx="288" cy="336"/>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5</a:t>
                </a:r>
              </a:p>
            </p:txBody>
          </p:sp>
          <p:sp>
            <p:nvSpPr>
              <p:cNvPr id="54295" name="Rectangle 7"/>
              <p:cNvSpPr>
                <a:spLocks noChangeArrowheads="1"/>
              </p:cNvSpPr>
              <p:nvPr/>
            </p:nvSpPr>
            <p:spPr bwMode="auto">
              <a:xfrm>
                <a:off x="2448" y="1920"/>
                <a:ext cx="288" cy="336"/>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6</a:t>
                </a:r>
              </a:p>
            </p:txBody>
          </p:sp>
        </p:grpSp>
        <p:sp>
          <p:nvSpPr>
            <p:cNvPr id="54277" name="Text Box 8"/>
            <p:cNvSpPr txBox="1">
              <a:spLocks noChangeArrowheads="1"/>
            </p:cNvSpPr>
            <p:nvPr/>
          </p:nvSpPr>
          <p:spPr bwMode="auto">
            <a:xfrm>
              <a:off x="1593850" y="205740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800"/>
                <a:t>(5 &lt; </a:t>
              </a:r>
              <a:r>
                <a:rPr lang="en-US" altLang="en-US" sz="1800" b="1"/>
                <a:t>all</a:t>
              </a:r>
              <a:endParaRPr lang="en-US" altLang="en-US" sz="1800"/>
            </a:p>
          </p:txBody>
        </p:sp>
        <p:sp>
          <p:nvSpPr>
            <p:cNvPr id="54278" name="Text Box 9"/>
            <p:cNvSpPr txBox="1">
              <a:spLocks noChangeArrowheads="1"/>
            </p:cNvSpPr>
            <p:nvPr/>
          </p:nvSpPr>
          <p:spPr bwMode="auto">
            <a:xfrm>
              <a:off x="3152775" y="205740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800"/>
                <a:t>) = false</a:t>
              </a:r>
            </a:p>
          </p:txBody>
        </p:sp>
        <p:sp>
          <p:nvSpPr>
            <p:cNvPr id="54279" name="Rectangle 10"/>
            <p:cNvSpPr>
              <a:spLocks noChangeArrowheads="1"/>
            </p:cNvSpPr>
            <p:nvPr/>
          </p:nvSpPr>
          <p:spPr bwMode="auto">
            <a:xfrm>
              <a:off x="2619375" y="2971800"/>
              <a:ext cx="457200" cy="381000"/>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6</a:t>
              </a:r>
            </a:p>
          </p:txBody>
        </p:sp>
        <p:sp>
          <p:nvSpPr>
            <p:cNvPr id="54280" name="Rectangle 11"/>
            <p:cNvSpPr>
              <a:spLocks noChangeArrowheads="1"/>
            </p:cNvSpPr>
            <p:nvPr/>
          </p:nvSpPr>
          <p:spPr bwMode="auto">
            <a:xfrm>
              <a:off x="2619375" y="3276600"/>
              <a:ext cx="457200" cy="296863"/>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10</a:t>
              </a:r>
            </a:p>
          </p:txBody>
        </p:sp>
        <p:sp>
          <p:nvSpPr>
            <p:cNvPr id="54281" name="Rectangle 12"/>
            <p:cNvSpPr>
              <a:spLocks noChangeArrowheads="1"/>
            </p:cNvSpPr>
            <p:nvPr/>
          </p:nvSpPr>
          <p:spPr bwMode="auto">
            <a:xfrm>
              <a:off x="2619375" y="3730625"/>
              <a:ext cx="457200" cy="307975"/>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4</a:t>
              </a:r>
            </a:p>
          </p:txBody>
        </p:sp>
        <p:sp>
          <p:nvSpPr>
            <p:cNvPr id="54282" name="Text Box 13"/>
            <p:cNvSpPr txBox="1">
              <a:spLocks noChangeArrowheads="1"/>
            </p:cNvSpPr>
            <p:nvPr/>
          </p:nvSpPr>
          <p:spPr bwMode="auto">
            <a:xfrm>
              <a:off x="3152775" y="3216275"/>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800"/>
                <a:t>) = true</a:t>
              </a:r>
            </a:p>
          </p:txBody>
        </p:sp>
        <p:sp>
          <p:nvSpPr>
            <p:cNvPr id="54283" name="Rectangle 14"/>
            <p:cNvSpPr>
              <a:spLocks noChangeArrowheads="1"/>
            </p:cNvSpPr>
            <p:nvPr/>
          </p:nvSpPr>
          <p:spPr bwMode="auto">
            <a:xfrm>
              <a:off x="2619375" y="4035425"/>
              <a:ext cx="457200" cy="307975"/>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5</a:t>
              </a:r>
            </a:p>
          </p:txBody>
        </p:sp>
        <p:sp>
          <p:nvSpPr>
            <p:cNvPr id="54284" name="Rectangle 15"/>
            <p:cNvSpPr>
              <a:spLocks noChangeArrowheads="1"/>
            </p:cNvSpPr>
            <p:nvPr/>
          </p:nvSpPr>
          <p:spPr bwMode="auto">
            <a:xfrm>
              <a:off x="2619375" y="4572000"/>
              <a:ext cx="457200" cy="307975"/>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4</a:t>
              </a:r>
            </a:p>
          </p:txBody>
        </p:sp>
        <p:sp>
          <p:nvSpPr>
            <p:cNvPr id="54285" name="Rectangle 16"/>
            <p:cNvSpPr>
              <a:spLocks noChangeArrowheads="1"/>
            </p:cNvSpPr>
            <p:nvPr/>
          </p:nvSpPr>
          <p:spPr bwMode="auto">
            <a:xfrm>
              <a:off x="2619375" y="4876800"/>
              <a:ext cx="457200" cy="309563"/>
            </a:xfrm>
            <a:prstGeom prst="rect">
              <a:avLst/>
            </a:prstGeom>
            <a:solidFill>
              <a:schemeClr val="bg1"/>
            </a:solidFill>
            <a:ln w="12700">
              <a:solidFill>
                <a:schemeClr val="tx1"/>
              </a:solidFill>
              <a:miter lim="800000"/>
              <a:headEnd/>
              <a:tailEnd/>
            </a:ln>
          </p:spPr>
          <p:txBody>
            <a:bodyPr wrap="none"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a:latin typeface="Times New Roman" panose="02020603050405020304" pitchFamily="18" charset="0"/>
                </a:rPr>
                <a:t>6</a:t>
              </a:r>
            </a:p>
          </p:txBody>
        </p:sp>
        <p:sp>
          <p:nvSpPr>
            <p:cNvPr id="54286" name="Text Box 17"/>
            <p:cNvSpPr txBox="1">
              <a:spLocks noChangeArrowheads="1"/>
            </p:cNvSpPr>
            <p:nvPr/>
          </p:nvSpPr>
          <p:spPr bwMode="auto">
            <a:xfrm>
              <a:off x="1704975" y="4800600"/>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800"/>
                <a:t>(5 </a:t>
              </a:r>
              <a:r>
                <a:rPr lang="en-US" altLang="en-US">
                  <a:latin typeface="Times New Roman" panose="02020603050405020304" pitchFamily="18" charset="0"/>
                  <a:sym typeface="Symbol" panose="05050102010706020507" pitchFamily="18" charset="2"/>
                </a:rPr>
                <a:t></a:t>
              </a:r>
              <a:r>
                <a:rPr lang="en-US" altLang="en-US" sz="1800"/>
                <a:t> </a:t>
              </a:r>
              <a:r>
                <a:rPr lang="en-US" altLang="en-US" sz="1800" b="1"/>
                <a:t>all</a:t>
              </a:r>
            </a:p>
          </p:txBody>
        </p:sp>
        <p:sp>
          <p:nvSpPr>
            <p:cNvPr id="54287" name="Text Box 18"/>
            <p:cNvSpPr txBox="1">
              <a:spLocks noChangeArrowheads="1"/>
            </p:cNvSpPr>
            <p:nvPr/>
          </p:nvSpPr>
          <p:spPr bwMode="auto">
            <a:xfrm>
              <a:off x="3163888" y="4786313"/>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800"/>
                <a:t>) = true (since 5 </a:t>
              </a:r>
              <a:r>
                <a:rPr lang="en-US" altLang="en-US">
                  <a:latin typeface="Times New Roman" panose="02020603050405020304" pitchFamily="18" charset="0"/>
                  <a:sym typeface="Symbol" panose="05050102010706020507" pitchFamily="18" charset="2"/>
                </a:rPr>
                <a:t> </a:t>
              </a:r>
              <a:r>
                <a:rPr lang="en-US" altLang="en-US" sz="1800">
                  <a:sym typeface="Symbol" panose="05050102010706020507" pitchFamily="18" charset="2"/>
                </a:rPr>
                <a:t>4 and 5 </a:t>
              </a:r>
              <a:r>
                <a:rPr lang="en-US" altLang="en-US">
                  <a:latin typeface="Times New Roman" panose="02020603050405020304" pitchFamily="18" charset="0"/>
                  <a:sym typeface="Symbol" panose="05050102010706020507" pitchFamily="18" charset="2"/>
                </a:rPr>
                <a:t></a:t>
              </a:r>
              <a:r>
                <a:rPr lang="en-US" altLang="en-US" sz="1800">
                  <a:sym typeface="Symbol" panose="05050102010706020507" pitchFamily="18" charset="2"/>
                </a:rPr>
                <a:t> 6)</a:t>
              </a:r>
              <a:endParaRPr lang="en-US" altLang="en-US">
                <a:latin typeface="Times New Roman" panose="02020603050405020304" pitchFamily="18" charset="0"/>
                <a:sym typeface="Symbol" panose="05050102010706020507" pitchFamily="18" charset="2"/>
              </a:endParaRPr>
            </a:p>
          </p:txBody>
        </p:sp>
        <p:sp>
          <p:nvSpPr>
            <p:cNvPr id="54288" name="Text Box 19"/>
            <p:cNvSpPr txBox="1">
              <a:spLocks noChangeArrowheads="1"/>
            </p:cNvSpPr>
            <p:nvPr/>
          </p:nvSpPr>
          <p:spPr bwMode="auto">
            <a:xfrm>
              <a:off x="1651000" y="3228975"/>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800"/>
                <a:t>(5 &lt; </a:t>
              </a:r>
              <a:r>
                <a:rPr lang="en-US" altLang="en-US" sz="1800" b="1"/>
                <a:t>all</a:t>
              </a:r>
              <a:endParaRPr lang="en-US" altLang="en-US" sz="1800"/>
            </a:p>
          </p:txBody>
        </p:sp>
        <p:sp>
          <p:nvSpPr>
            <p:cNvPr id="54289" name="Text Box 20"/>
            <p:cNvSpPr txBox="1">
              <a:spLocks noChangeArrowheads="1"/>
            </p:cNvSpPr>
            <p:nvPr/>
          </p:nvSpPr>
          <p:spPr bwMode="auto">
            <a:xfrm>
              <a:off x="3152775" y="3959225"/>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800"/>
                <a:t>) = false</a:t>
              </a:r>
            </a:p>
          </p:txBody>
        </p:sp>
        <p:sp>
          <p:nvSpPr>
            <p:cNvPr id="54290" name="Text Box 21"/>
            <p:cNvSpPr txBox="1">
              <a:spLocks noChangeArrowheads="1"/>
            </p:cNvSpPr>
            <p:nvPr/>
          </p:nvSpPr>
          <p:spPr bwMode="auto">
            <a:xfrm>
              <a:off x="1704975" y="396240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800"/>
                <a:t>(5 = </a:t>
              </a:r>
              <a:r>
                <a:rPr lang="en-US" altLang="en-US" sz="1800" b="1"/>
                <a:t>all</a:t>
              </a:r>
              <a:endParaRPr lang="en-US" altLang="en-US" sz="1800"/>
            </a:p>
          </p:txBody>
        </p:sp>
        <p:sp>
          <p:nvSpPr>
            <p:cNvPr id="54291" name="Rectangle 22"/>
            <p:cNvSpPr>
              <a:spLocks noChangeArrowheads="1"/>
            </p:cNvSpPr>
            <p:nvPr/>
          </p:nvSpPr>
          <p:spPr bwMode="auto">
            <a:xfrm>
              <a:off x="1238250" y="5257800"/>
              <a:ext cx="68008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r>
                <a:rPr lang="en-US" altLang="en-US" sz="1800">
                  <a:latin typeface="Arial" panose="020B0604020202020204" pitchFamily="34" charset="0"/>
                </a:rPr>
                <a:t>(</a:t>
              </a:r>
              <a:r>
                <a:rPr lang="en-US" altLang="en-US" sz="1800">
                  <a:latin typeface="Arial" panose="020B0604020202020204" pitchFamily="34" charset="0"/>
                  <a:sym typeface="Symbol" panose="05050102010706020507" pitchFamily="18" charset="2"/>
                </a:rPr>
                <a:t></a:t>
              </a:r>
              <a:r>
                <a:rPr lang="en-US" altLang="en-US" sz="1800">
                  <a:latin typeface="Arial" panose="020B0604020202020204" pitchFamily="34" charset="0"/>
                </a:rPr>
                <a:t> </a:t>
              </a:r>
              <a:r>
                <a:rPr lang="en-US" altLang="en-US" sz="1800" b="1">
                  <a:latin typeface="Arial" panose="020B0604020202020204" pitchFamily="34" charset="0"/>
                </a:rPr>
                <a:t>all</a:t>
              </a:r>
              <a:r>
                <a:rPr lang="en-US" altLang="en-US" sz="1800">
                  <a:latin typeface="Arial" panose="020B0604020202020204" pitchFamily="34" charset="0"/>
                </a:rPr>
                <a:t>) </a:t>
              </a:r>
              <a:r>
                <a:rPr lang="en-US" altLang="en-US" sz="1800">
                  <a:latin typeface="Arial" panose="020B0604020202020204" pitchFamily="34" charset="0"/>
                  <a:sym typeface="Symbol" panose="05050102010706020507" pitchFamily="18" charset="2"/>
                </a:rPr>
                <a:t> </a:t>
              </a:r>
              <a:r>
                <a:rPr lang="en-US" altLang="en-US" sz="1800" b="1">
                  <a:latin typeface="Arial" panose="020B0604020202020204" pitchFamily="34" charset="0"/>
                  <a:sym typeface="Symbol" panose="05050102010706020507" pitchFamily="18" charset="2"/>
                </a:rPr>
                <a:t>not in</a:t>
              </a:r>
            </a:p>
            <a:p>
              <a:r>
                <a:rPr lang="en-US" altLang="en-US" sz="1800">
                  <a:latin typeface="Arial" panose="020B0604020202020204" pitchFamily="34" charset="0"/>
                  <a:sym typeface="Symbol" panose="05050102010706020507" pitchFamily="18" charset="2"/>
                </a:rPr>
                <a:t>However, (= </a:t>
              </a:r>
              <a:r>
                <a:rPr lang="en-US" altLang="en-US" sz="1800" b="1">
                  <a:latin typeface="Arial" panose="020B0604020202020204" pitchFamily="34" charset="0"/>
                  <a:sym typeface="Symbol" panose="05050102010706020507" pitchFamily="18" charset="2"/>
                </a:rPr>
                <a:t>all</a:t>
              </a:r>
              <a:r>
                <a:rPr lang="en-US" altLang="en-US" sz="1800">
                  <a:latin typeface="Arial" panose="020B0604020202020204" pitchFamily="34" charset="0"/>
                  <a:sym typeface="Symbol" panose="05050102010706020507" pitchFamily="18" charset="2"/>
                </a:rPr>
                <a:t>)  </a:t>
              </a:r>
              <a:r>
                <a:rPr lang="en-US" altLang="en-US" sz="1800" b="1">
                  <a:latin typeface="Arial" panose="020B0604020202020204" pitchFamily="34" charset="0"/>
                  <a:sym typeface="Symbol" panose="05050102010706020507" pitchFamily="18" charset="2"/>
                </a:rPr>
                <a:t>in</a:t>
              </a:r>
            </a:p>
          </p:txBody>
        </p:sp>
        <p:sp>
          <p:nvSpPr>
            <p:cNvPr id="54292" name="Line 23"/>
            <p:cNvSpPr>
              <a:spLocks noChangeShapeType="1"/>
            </p:cNvSpPr>
            <p:nvPr/>
          </p:nvSpPr>
          <p:spPr bwMode="auto">
            <a:xfrm flipH="1">
              <a:off x="3016250" y="5603875"/>
              <a:ext cx="109538"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p:txBody>
          <a:bodyPr/>
          <a:lstStyle/>
          <a:p>
            <a:r>
              <a:rPr lang="en-US" altLang="en-US" sz="2800" dirty="0"/>
              <a:t>Test for Empty Relations</a:t>
            </a:r>
          </a:p>
        </p:txBody>
      </p:sp>
      <p:sp>
        <p:nvSpPr>
          <p:cNvPr id="55298" name="Rectangle 3"/>
          <p:cNvSpPr>
            <a:spLocks noGrp="1" noChangeArrowheads="1"/>
          </p:cNvSpPr>
          <p:nvPr>
            <p:ph type="body" idx="1"/>
          </p:nvPr>
        </p:nvSpPr>
        <p:spPr>
          <a:xfrm>
            <a:off x="768351" y="1106488"/>
            <a:ext cx="7603292" cy="2782760"/>
          </a:xfrm>
        </p:spPr>
        <p:txBody>
          <a:bodyPr/>
          <a:lstStyle/>
          <a:p>
            <a:r>
              <a:rPr lang="en-US" altLang="en-US" sz="1700" dirty="0"/>
              <a:t>The </a:t>
            </a:r>
            <a:r>
              <a:rPr lang="en-US" altLang="en-US" sz="1700" b="1" dirty="0"/>
              <a:t>exists</a:t>
            </a:r>
            <a:r>
              <a:rPr lang="en-US" altLang="en-US" sz="1700" dirty="0"/>
              <a:t> construct returns the value </a:t>
            </a:r>
            <a:r>
              <a:rPr lang="en-US" altLang="en-US" sz="1700" b="1" dirty="0"/>
              <a:t>true</a:t>
            </a:r>
            <a:r>
              <a:rPr lang="en-US" altLang="en-US" sz="1700" dirty="0"/>
              <a:t> if the argument subquery is nonempty.</a:t>
            </a:r>
          </a:p>
          <a:p>
            <a:r>
              <a:rPr lang="en-US" altLang="en-US" sz="1700" b="1" dirty="0"/>
              <a:t>exists </a:t>
            </a:r>
            <a:r>
              <a:rPr lang="en-US" altLang="en-US" sz="1700" i="1" dirty="0"/>
              <a:t> r </a:t>
            </a:r>
            <a:r>
              <a:rPr lang="en-US" altLang="en-US" sz="1700" dirty="0">
                <a:sym typeface="Symbol" panose="05050102010706020507" pitchFamily="18" charset="2"/>
              </a:rPr>
              <a:t> </a:t>
            </a:r>
            <a:r>
              <a:rPr lang="en-US" altLang="en-US" sz="1700" i="1" dirty="0">
                <a:sym typeface="Symbol" panose="05050102010706020507" pitchFamily="18" charset="2"/>
              </a:rPr>
              <a:t>r </a:t>
            </a:r>
            <a:r>
              <a:rPr lang="en-US" altLang="en-US" sz="1700" dirty="0">
                <a:sym typeface="Symbol" panose="05050102010706020507" pitchFamily="18" charset="2"/>
              </a:rPr>
              <a:t> </a:t>
            </a:r>
            <a:r>
              <a:rPr lang="en-US" altLang="en-US" sz="1700" i="1" dirty="0"/>
              <a:t>Ø</a:t>
            </a:r>
            <a:endParaRPr lang="en-US" altLang="en-US" sz="1700" dirty="0">
              <a:sym typeface="Symbol" panose="05050102010706020507" pitchFamily="18" charset="2"/>
            </a:endParaRPr>
          </a:p>
          <a:p>
            <a:r>
              <a:rPr lang="en-US" altLang="en-US" sz="1700" b="1" dirty="0">
                <a:sym typeface="Symbol" panose="05050102010706020507" pitchFamily="18" charset="2"/>
              </a:rPr>
              <a:t>not exists </a:t>
            </a:r>
            <a:r>
              <a:rPr lang="en-US" altLang="en-US" sz="1700" i="1" dirty="0"/>
              <a:t>r </a:t>
            </a:r>
            <a:r>
              <a:rPr lang="en-US" altLang="en-US" sz="1700" dirty="0">
                <a:sym typeface="Symbol" panose="05050102010706020507" pitchFamily="18" charset="2"/>
              </a:rPr>
              <a:t> </a:t>
            </a:r>
            <a:r>
              <a:rPr lang="en-US" altLang="en-US" sz="1700" i="1" dirty="0">
                <a:sym typeface="Symbol" panose="05050102010706020507" pitchFamily="18" charset="2"/>
              </a:rPr>
              <a:t>r </a:t>
            </a:r>
            <a:r>
              <a:rPr lang="en-US" altLang="en-US" sz="1700" dirty="0">
                <a:sym typeface="Symbol" panose="05050102010706020507" pitchFamily="18" charset="2"/>
              </a:rPr>
              <a:t>= </a:t>
            </a:r>
            <a:r>
              <a:rPr lang="en-US" altLang="en-US" sz="1700" i="1" dirty="0"/>
              <a:t>Ø</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3634" name="Rectangle 2"/>
          <p:cNvSpPr>
            <a:spLocks noGrp="1" noChangeArrowheads="1"/>
          </p:cNvSpPr>
          <p:nvPr>
            <p:ph type="title"/>
          </p:nvPr>
        </p:nvSpPr>
        <p:spPr/>
        <p:txBody>
          <a:bodyPr/>
          <a:lstStyle/>
          <a:p>
            <a:r>
              <a:rPr lang="en-US" altLang="en-US" sz="2800" dirty="0"/>
              <a:t>Use of </a:t>
            </a:r>
            <a:r>
              <a:rPr lang="ja-JP" altLang="en-US" sz="2800" dirty="0"/>
              <a:t>“</a:t>
            </a:r>
            <a:r>
              <a:rPr lang="en-US" altLang="ja-JP" sz="2800" dirty="0"/>
              <a:t>exists</a:t>
            </a:r>
            <a:r>
              <a:rPr lang="ja-JP" altLang="en-US" sz="2800" dirty="0"/>
              <a:t>”</a:t>
            </a:r>
            <a:r>
              <a:rPr lang="en-US" altLang="ja-JP" sz="2800" dirty="0"/>
              <a:t> Clause</a:t>
            </a:r>
            <a:endParaRPr lang="en-US" altLang="en-US" sz="2800" dirty="0"/>
          </a:p>
        </p:txBody>
      </p:sp>
      <p:sp>
        <p:nvSpPr>
          <p:cNvPr id="56322" name="Rectangle 3"/>
          <p:cNvSpPr>
            <a:spLocks noGrp="1" noChangeArrowheads="1"/>
          </p:cNvSpPr>
          <p:nvPr>
            <p:ph type="body" idx="1"/>
          </p:nvPr>
        </p:nvSpPr>
        <p:spPr>
          <a:xfrm>
            <a:off x="768350" y="1093788"/>
            <a:ext cx="7851697" cy="4903787"/>
          </a:xfrm>
        </p:spPr>
        <p:txBody>
          <a:bodyPr/>
          <a:lstStyle/>
          <a:p>
            <a:r>
              <a:rPr lang="en-US" altLang="en-US" sz="1700" dirty="0"/>
              <a:t>Yet another way of specifying the query “Find all courses taught in both the Fall 2017 semester and in the Spring 2018 semester”</a:t>
            </a:r>
          </a:p>
          <a:p>
            <a:pPr>
              <a:buFont typeface="Monotype Sorts" charset="2"/>
              <a:buNone/>
            </a:pPr>
            <a:r>
              <a:rPr lang="en-US" altLang="en-US" sz="1700" b="1" dirty="0"/>
              <a:t>	   select </a:t>
            </a:r>
            <a:r>
              <a:rPr lang="en-US" altLang="en-US" sz="1700" i="1" dirty="0" err="1"/>
              <a:t>course_id</a:t>
            </a:r>
            <a:r>
              <a:rPr lang="en-US" altLang="en-US" sz="1700" i="1" dirty="0"/>
              <a:t/>
            </a:r>
            <a:br>
              <a:rPr lang="en-US" altLang="en-US" sz="1700" i="1" dirty="0"/>
            </a:br>
            <a:r>
              <a:rPr lang="en-US" altLang="en-US" sz="1700" i="1" dirty="0"/>
              <a:t>   </a:t>
            </a:r>
            <a:r>
              <a:rPr lang="en-US" altLang="en-US" sz="1700" b="1" dirty="0"/>
              <a:t>from </a:t>
            </a:r>
            <a:r>
              <a:rPr lang="en-US" altLang="en-US" sz="1700" i="1" dirty="0"/>
              <a:t>section </a:t>
            </a:r>
            <a:r>
              <a:rPr lang="en-US" altLang="en-US" sz="1700" b="1" dirty="0"/>
              <a:t>as </a:t>
            </a:r>
            <a:r>
              <a:rPr lang="en-US" altLang="en-US" sz="1700" i="1" dirty="0"/>
              <a:t>S</a:t>
            </a:r>
            <a:br>
              <a:rPr lang="en-US" altLang="en-US" sz="1700" i="1" dirty="0"/>
            </a:br>
            <a:r>
              <a:rPr lang="en-US" altLang="en-US" sz="1700" i="1" dirty="0"/>
              <a:t>   </a:t>
            </a:r>
            <a:r>
              <a:rPr lang="en-US" altLang="en-US" sz="1700" b="1" dirty="0"/>
              <a:t>where </a:t>
            </a:r>
            <a:r>
              <a:rPr lang="en-US" altLang="en-US" sz="1700" i="1" dirty="0"/>
              <a:t>semester </a:t>
            </a:r>
            <a:r>
              <a:rPr lang="en-US" altLang="en-US" sz="1700" dirty="0"/>
              <a:t>= 'Fall' </a:t>
            </a:r>
            <a:r>
              <a:rPr lang="en-US" altLang="en-US" sz="1700" b="1" dirty="0"/>
              <a:t>and </a:t>
            </a:r>
            <a:r>
              <a:rPr lang="en-US" altLang="en-US" sz="1700" i="1" dirty="0"/>
              <a:t>year </a:t>
            </a:r>
            <a:r>
              <a:rPr lang="en-US" altLang="en-US" sz="1700" dirty="0"/>
              <a:t>= 2017 </a:t>
            </a:r>
            <a:r>
              <a:rPr lang="en-US" altLang="en-US" sz="1700" b="1" dirty="0"/>
              <a:t>and </a:t>
            </a:r>
            <a:br>
              <a:rPr lang="en-US" altLang="en-US" sz="1700" b="1" dirty="0"/>
            </a:br>
            <a:r>
              <a:rPr lang="en-US" altLang="en-US" sz="1700" b="1" dirty="0"/>
              <a:t>               exists  </a:t>
            </a:r>
            <a:r>
              <a:rPr lang="en-US" altLang="en-US" sz="1700" dirty="0"/>
              <a:t>(</a:t>
            </a:r>
            <a:r>
              <a:rPr lang="en-US" altLang="en-US" sz="1700" b="1" dirty="0"/>
              <a:t>select </a:t>
            </a:r>
            <a:r>
              <a:rPr lang="en-US" altLang="en-US" sz="1700" dirty="0"/>
              <a:t>*</a:t>
            </a:r>
            <a:br>
              <a:rPr lang="en-US" altLang="en-US" sz="1700" dirty="0"/>
            </a:br>
            <a:r>
              <a:rPr lang="en-US" altLang="en-US" sz="1700" dirty="0"/>
              <a:t>                            </a:t>
            </a:r>
            <a:r>
              <a:rPr lang="en-US" altLang="en-US" sz="1700" b="1" dirty="0"/>
              <a:t>from </a:t>
            </a:r>
            <a:r>
              <a:rPr lang="en-US" altLang="en-US" sz="1700" i="1" dirty="0"/>
              <a:t>section </a:t>
            </a:r>
            <a:r>
              <a:rPr lang="en-US" altLang="en-US" sz="1700" b="1" dirty="0"/>
              <a:t>as </a:t>
            </a:r>
            <a:r>
              <a:rPr lang="en-US" altLang="en-US" sz="1700" i="1" dirty="0"/>
              <a:t>T</a:t>
            </a:r>
            <a:br>
              <a:rPr lang="en-US" altLang="en-US" sz="1700" i="1" dirty="0"/>
            </a:br>
            <a:r>
              <a:rPr lang="en-US" altLang="en-US" sz="1700" i="1" dirty="0"/>
              <a:t>                            </a:t>
            </a:r>
            <a:r>
              <a:rPr lang="en-US" altLang="en-US" sz="1700" b="1" dirty="0"/>
              <a:t>where </a:t>
            </a:r>
            <a:r>
              <a:rPr lang="en-US" altLang="en-US" sz="1700" i="1" dirty="0"/>
              <a:t>semester </a:t>
            </a:r>
            <a:r>
              <a:rPr lang="en-US" altLang="en-US" sz="1700" dirty="0"/>
              <a:t>= 'Spring' </a:t>
            </a:r>
            <a:r>
              <a:rPr lang="en-US" altLang="en-US" sz="1700" b="1" dirty="0"/>
              <a:t>and </a:t>
            </a:r>
            <a:r>
              <a:rPr lang="en-US" altLang="en-US" sz="1700" i="1" dirty="0"/>
              <a:t>year</a:t>
            </a:r>
            <a:r>
              <a:rPr lang="en-US" altLang="en-US" sz="1700" dirty="0"/>
              <a:t>= 2018 </a:t>
            </a:r>
            <a:br>
              <a:rPr lang="en-US" altLang="en-US" sz="1700" dirty="0"/>
            </a:br>
            <a:r>
              <a:rPr lang="en-US" altLang="en-US" sz="1700" dirty="0"/>
              <a:t>                                        </a:t>
            </a:r>
            <a:r>
              <a:rPr lang="en-US" altLang="en-US" sz="1700" b="1" dirty="0"/>
              <a:t>and </a:t>
            </a:r>
            <a:r>
              <a:rPr lang="en-US" altLang="en-US" sz="1700" i="1" dirty="0" err="1"/>
              <a:t>S</a:t>
            </a:r>
            <a:r>
              <a:rPr lang="en-US" altLang="en-US" sz="1700" dirty="0" err="1"/>
              <a:t>.</a:t>
            </a:r>
            <a:r>
              <a:rPr lang="en-US" altLang="en-US" sz="1700" i="1" dirty="0" err="1"/>
              <a:t>course_id</a:t>
            </a:r>
            <a:r>
              <a:rPr lang="en-US" altLang="en-US" sz="1700" i="1" dirty="0"/>
              <a:t> </a:t>
            </a:r>
            <a:r>
              <a:rPr lang="en-US" altLang="en-US" sz="1700" dirty="0"/>
              <a:t>= </a:t>
            </a:r>
            <a:r>
              <a:rPr lang="en-US" altLang="en-US" sz="1700" i="1" dirty="0" err="1"/>
              <a:t>T</a:t>
            </a:r>
            <a:r>
              <a:rPr lang="en-US" altLang="en-US" sz="1700" dirty="0" err="1"/>
              <a:t>.</a:t>
            </a:r>
            <a:r>
              <a:rPr lang="en-US" altLang="en-US" sz="1700" i="1" dirty="0" err="1"/>
              <a:t>course_id</a:t>
            </a:r>
            <a:r>
              <a:rPr lang="en-US" altLang="en-US" sz="1700" dirty="0"/>
              <a:t>);</a:t>
            </a:r>
          </a:p>
          <a:p>
            <a:pPr>
              <a:buFont typeface="Monotype Sorts" charset="2"/>
              <a:buNone/>
            </a:pPr>
            <a:r>
              <a:rPr lang="en-US" altLang="en-US" sz="800" dirty="0"/>
              <a:t> </a:t>
            </a:r>
          </a:p>
          <a:p>
            <a:r>
              <a:rPr lang="en-US" altLang="en-US" sz="1700" b="1" dirty="0">
                <a:solidFill>
                  <a:srgbClr val="002060"/>
                </a:solidFill>
              </a:rPr>
              <a:t>Correlation name</a:t>
            </a:r>
            <a:r>
              <a:rPr lang="en-US" altLang="en-US" sz="1700" dirty="0"/>
              <a:t> – variable S  in the outer query</a:t>
            </a:r>
            <a:endParaRPr lang="en-US" altLang="en-US" sz="1700" b="1" dirty="0">
              <a:solidFill>
                <a:srgbClr val="000099"/>
              </a:solidFill>
            </a:endParaRPr>
          </a:p>
          <a:p>
            <a:r>
              <a:rPr lang="en-US" altLang="en-US" sz="1700" b="1" dirty="0">
                <a:solidFill>
                  <a:srgbClr val="002060"/>
                </a:solidFill>
              </a:rPr>
              <a:t>Correlated subquery </a:t>
            </a:r>
            <a:r>
              <a:rPr lang="en-US" altLang="en-US" sz="1700" dirty="0"/>
              <a:t>– the inner query</a:t>
            </a:r>
          </a:p>
          <a:p>
            <a:pPr>
              <a:buFont typeface="Monotype Sorts" charset="2"/>
              <a:buNone/>
            </a:pPr>
            <a:endParaRPr lang="en-US" altLang="en-US" b="1" dirty="0">
              <a:solidFill>
                <a:srgbClr val="000099"/>
              </a:solidFill>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p:txBody>
          <a:bodyPr/>
          <a:lstStyle/>
          <a:p>
            <a:r>
              <a:rPr lang="en-US" altLang="en-US" sz="2800" dirty="0"/>
              <a:t>Use of </a:t>
            </a:r>
            <a:r>
              <a:rPr lang="ja-JP" altLang="en-US" sz="2800" dirty="0"/>
              <a:t>“</a:t>
            </a:r>
            <a:r>
              <a:rPr lang="en-US" altLang="ja-JP" sz="2800" dirty="0"/>
              <a:t>not exists</a:t>
            </a:r>
            <a:r>
              <a:rPr lang="ja-JP" altLang="en-US" sz="2800" dirty="0"/>
              <a:t>”</a:t>
            </a:r>
            <a:r>
              <a:rPr lang="en-US" altLang="ja-JP" sz="2800" dirty="0"/>
              <a:t> Clause</a:t>
            </a:r>
            <a:endParaRPr lang="en-US" altLang="en-US" sz="2800" dirty="0"/>
          </a:p>
        </p:txBody>
      </p:sp>
      <p:sp>
        <p:nvSpPr>
          <p:cNvPr id="57346" name="Rectangle 3"/>
          <p:cNvSpPr>
            <a:spLocks noGrp="1" noChangeArrowheads="1"/>
          </p:cNvSpPr>
          <p:nvPr>
            <p:ph type="body" idx="1"/>
          </p:nvPr>
        </p:nvSpPr>
        <p:spPr>
          <a:xfrm>
            <a:off x="768351" y="1106488"/>
            <a:ext cx="7570436" cy="4611924"/>
          </a:xfrm>
        </p:spPr>
        <p:txBody>
          <a:bodyPr/>
          <a:lstStyle/>
          <a:p>
            <a:pPr>
              <a:tabLst>
                <a:tab pos="461963" algn="l"/>
                <a:tab pos="1027113" algn="l"/>
                <a:tab pos="1547813" algn="l"/>
              </a:tabLst>
            </a:pPr>
            <a:r>
              <a:rPr lang="en-US" altLang="en-US" sz="1700" dirty="0"/>
              <a:t>Find all students who have taken all courses offered in the Biology department.</a:t>
            </a:r>
          </a:p>
          <a:p>
            <a:pPr>
              <a:tabLst>
                <a:tab pos="461963" algn="l"/>
                <a:tab pos="1027113" algn="l"/>
                <a:tab pos="1547813" algn="l"/>
              </a:tabLst>
            </a:pPr>
            <a:endParaRPr lang="en-US" altLang="en-US" sz="1700" dirty="0"/>
          </a:p>
          <a:p>
            <a:pPr>
              <a:tabLst>
                <a:tab pos="461963" algn="l"/>
                <a:tab pos="1027113" algn="l"/>
                <a:tab pos="1547813" algn="l"/>
              </a:tabLst>
            </a:pPr>
            <a:endParaRPr lang="en-US" altLang="en-US" sz="1700" dirty="0"/>
          </a:p>
          <a:p>
            <a:pPr>
              <a:tabLst>
                <a:tab pos="461963" algn="l"/>
                <a:tab pos="1027113" algn="l"/>
                <a:tab pos="1547813" algn="l"/>
              </a:tabLst>
            </a:pPr>
            <a:endParaRPr lang="en-US" altLang="en-US" sz="1700" dirty="0"/>
          </a:p>
          <a:p>
            <a:pPr>
              <a:tabLst>
                <a:tab pos="461963" algn="l"/>
                <a:tab pos="1027113" algn="l"/>
                <a:tab pos="1547813" algn="l"/>
              </a:tabLst>
            </a:pPr>
            <a:endParaRPr lang="en-US" altLang="en-US" sz="1700" dirty="0"/>
          </a:p>
          <a:p>
            <a:pPr>
              <a:tabLst>
                <a:tab pos="461963" algn="l"/>
                <a:tab pos="1027113" algn="l"/>
                <a:tab pos="1547813" algn="l"/>
              </a:tabLst>
            </a:pPr>
            <a:endParaRPr lang="en-US" altLang="en-US" sz="1700" dirty="0"/>
          </a:p>
          <a:p>
            <a:pPr>
              <a:tabLst>
                <a:tab pos="461963" algn="l"/>
                <a:tab pos="1027113" algn="l"/>
                <a:tab pos="1547813" algn="l"/>
              </a:tabLst>
            </a:pPr>
            <a:endParaRPr lang="en-US" altLang="en-US" sz="1700" dirty="0"/>
          </a:p>
          <a:p>
            <a:pPr>
              <a:tabLst>
                <a:tab pos="461963" algn="l"/>
                <a:tab pos="1027113" algn="l"/>
                <a:tab pos="1547813" algn="l"/>
              </a:tabLst>
            </a:pPr>
            <a:endParaRPr lang="en-US" altLang="en-US" sz="1700" dirty="0"/>
          </a:p>
          <a:p>
            <a:pPr>
              <a:tabLst>
                <a:tab pos="461963" algn="l"/>
                <a:tab pos="1027113" algn="l"/>
                <a:tab pos="1547813" algn="l"/>
              </a:tabLst>
            </a:pPr>
            <a:endParaRPr lang="en-US" altLang="en-US" sz="1700" dirty="0"/>
          </a:p>
          <a:p>
            <a:pPr>
              <a:tabLst>
                <a:tab pos="461963" algn="l"/>
                <a:tab pos="1027113" algn="l"/>
                <a:tab pos="1547813" algn="l"/>
              </a:tabLst>
            </a:pPr>
            <a:endParaRPr lang="en-US" altLang="en-US" sz="1700" dirty="0"/>
          </a:p>
          <a:p>
            <a:pPr>
              <a:tabLst>
                <a:tab pos="461963" algn="l"/>
                <a:tab pos="1027113" algn="l"/>
                <a:tab pos="1547813" algn="l"/>
              </a:tabLst>
            </a:pPr>
            <a:r>
              <a:rPr lang="en-US" altLang="en-US" sz="1700" dirty="0"/>
              <a:t>Note that X – Y = Ø   </a:t>
            </a:r>
            <a:r>
              <a:rPr lang="en-US" altLang="en-US" sz="1700" dirty="0">
                <a:sym typeface="Symbol" panose="05050102010706020507" pitchFamily="18" charset="2"/>
              </a:rPr>
              <a:t>   X Y</a:t>
            </a:r>
            <a:endParaRPr lang="en-US" altLang="en-US" sz="1700" dirty="0"/>
          </a:p>
          <a:p>
            <a:pPr>
              <a:tabLst>
                <a:tab pos="461963" algn="l"/>
                <a:tab pos="1027113" algn="l"/>
                <a:tab pos="1547813" algn="l"/>
              </a:tabLst>
            </a:pPr>
            <a:r>
              <a:rPr lang="en-US" altLang="en-US" sz="1700" dirty="0">
                <a:sym typeface="Symbol" panose="05050102010706020507" pitchFamily="18" charset="2"/>
              </a:rPr>
              <a:t>Note: Cannot write this query using = all and its variants</a:t>
            </a:r>
            <a:endParaRPr lang="en-US" altLang="en-US" sz="1700" dirty="0"/>
          </a:p>
        </p:txBody>
      </p:sp>
      <p:sp>
        <p:nvSpPr>
          <p:cNvPr id="57347" name="Text Box 4"/>
          <p:cNvSpPr txBox="1">
            <a:spLocks noChangeArrowheads="1"/>
          </p:cNvSpPr>
          <p:nvPr/>
        </p:nvSpPr>
        <p:spPr bwMode="auto">
          <a:xfrm>
            <a:off x="1736500" y="1785366"/>
            <a:ext cx="6834476" cy="3585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r>
              <a:rPr kumimoji="1" lang="en-US" altLang="en-US" sz="1600" b="1" dirty="0"/>
              <a:t>select distinct </a:t>
            </a:r>
            <a:r>
              <a:rPr kumimoji="1" lang="en-US" altLang="en-US" sz="1600" i="1" dirty="0"/>
              <a:t>S</a:t>
            </a:r>
            <a:r>
              <a:rPr kumimoji="1" lang="en-US" altLang="en-US" sz="1600" dirty="0"/>
              <a:t>.</a:t>
            </a:r>
            <a:r>
              <a:rPr kumimoji="1" lang="en-US" altLang="en-US" sz="1600" i="1" dirty="0"/>
              <a:t>ID</a:t>
            </a:r>
            <a:r>
              <a:rPr kumimoji="1" lang="en-US" altLang="en-US" sz="1600" dirty="0"/>
              <a:t>, </a:t>
            </a:r>
            <a:r>
              <a:rPr kumimoji="1" lang="en-US" altLang="en-US" sz="1600" i="1" dirty="0"/>
              <a:t>S</a:t>
            </a:r>
            <a:r>
              <a:rPr kumimoji="1" lang="en-US" altLang="en-US" sz="1600" dirty="0"/>
              <a:t>.</a:t>
            </a:r>
            <a:r>
              <a:rPr kumimoji="1" lang="en-US" altLang="en-US" sz="1600" i="1" dirty="0"/>
              <a:t>name</a:t>
            </a:r>
          </a:p>
          <a:p>
            <a:r>
              <a:rPr kumimoji="1" lang="en-US" altLang="en-US" sz="1600" b="1" dirty="0"/>
              <a:t>from </a:t>
            </a:r>
            <a:r>
              <a:rPr kumimoji="1" lang="en-US" altLang="en-US" sz="1600" i="1" dirty="0"/>
              <a:t>student </a:t>
            </a:r>
            <a:r>
              <a:rPr kumimoji="1" lang="en-US" altLang="en-US" sz="1600" b="1" dirty="0"/>
              <a:t>as </a:t>
            </a:r>
            <a:r>
              <a:rPr kumimoji="1" lang="en-US" altLang="en-US" sz="1600" i="1" dirty="0"/>
              <a:t>S</a:t>
            </a:r>
          </a:p>
          <a:p>
            <a:r>
              <a:rPr kumimoji="1" lang="en-US" altLang="en-US" sz="1600" b="1" dirty="0"/>
              <a:t>where not exists </a:t>
            </a:r>
            <a:r>
              <a:rPr kumimoji="1" lang="en-US" altLang="en-US" sz="1600" dirty="0"/>
              <a:t>( (</a:t>
            </a:r>
            <a:r>
              <a:rPr kumimoji="1" lang="en-US" altLang="en-US" sz="1600" b="1" dirty="0"/>
              <a:t>select </a:t>
            </a:r>
            <a:r>
              <a:rPr kumimoji="1" lang="en-US" altLang="en-US" sz="1600" i="1" dirty="0" err="1"/>
              <a:t>course_id</a:t>
            </a:r>
            <a:endParaRPr kumimoji="1" lang="en-US" altLang="en-US" sz="1600" i="1" dirty="0"/>
          </a:p>
          <a:p>
            <a:r>
              <a:rPr kumimoji="1" lang="en-US" altLang="en-US" sz="1600" b="1" dirty="0"/>
              <a:t>                                 from </a:t>
            </a:r>
            <a:r>
              <a:rPr kumimoji="1" lang="en-US" altLang="en-US" sz="1600" i="1" dirty="0"/>
              <a:t>course</a:t>
            </a:r>
          </a:p>
          <a:p>
            <a:r>
              <a:rPr kumimoji="1" lang="en-US" altLang="en-US" sz="1600" b="1" dirty="0"/>
              <a:t>                                 where </a:t>
            </a:r>
            <a:r>
              <a:rPr kumimoji="1" lang="en-US" altLang="en-US" sz="1600" i="1" dirty="0" err="1"/>
              <a:t>dept_name</a:t>
            </a:r>
            <a:r>
              <a:rPr kumimoji="1" lang="en-US" altLang="en-US" sz="1600" i="1" dirty="0"/>
              <a:t> </a:t>
            </a:r>
            <a:r>
              <a:rPr kumimoji="1" lang="en-US" altLang="en-US" sz="1600" dirty="0"/>
              <a:t>= 'Biology')</a:t>
            </a:r>
          </a:p>
          <a:p>
            <a:r>
              <a:rPr kumimoji="1" lang="en-US" altLang="en-US" sz="1600" b="1" dirty="0"/>
              <a:t>                               except</a:t>
            </a:r>
          </a:p>
          <a:p>
            <a:r>
              <a:rPr kumimoji="1" lang="en-US" altLang="en-US" sz="1600" dirty="0"/>
              <a:t>                                 (</a:t>
            </a:r>
            <a:r>
              <a:rPr kumimoji="1" lang="en-US" altLang="en-US" sz="1600" b="1" dirty="0"/>
              <a:t>select </a:t>
            </a:r>
            <a:r>
              <a:rPr kumimoji="1" lang="en-US" altLang="en-US" sz="1600" i="1" dirty="0" err="1"/>
              <a:t>T</a:t>
            </a:r>
            <a:r>
              <a:rPr kumimoji="1" lang="en-US" altLang="en-US" sz="1600" dirty="0" err="1"/>
              <a:t>.</a:t>
            </a:r>
            <a:r>
              <a:rPr kumimoji="1" lang="en-US" altLang="en-US" sz="1600" i="1" dirty="0" err="1"/>
              <a:t>course_id</a:t>
            </a:r>
            <a:endParaRPr kumimoji="1" lang="en-US" altLang="en-US" sz="1600" i="1" dirty="0"/>
          </a:p>
          <a:p>
            <a:r>
              <a:rPr kumimoji="1" lang="en-US" altLang="en-US" sz="1600" b="1" dirty="0"/>
              <a:t>                                   from </a:t>
            </a:r>
            <a:r>
              <a:rPr kumimoji="1" lang="en-US" altLang="en-US" sz="1600" i="1" dirty="0"/>
              <a:t>takes </a:t>
            </a:r>
            <a:r>
              <a:rPr kumimoji="1" lang="en-US" altLang="en-US" sz="1600" b="1" dirty="0"/>
              <a:t>as </a:t>
            </a:r>
            <a:r>
              <a:rPr kumimoji="1" lang="en-US" altLang="en-US" sz="1600" i="1" dirty="0"/>
              <a:t>T</a:t>
            </a:r>
          </a:p>
          <a:p>
            <a:r>
              <a:rPr kumimoji="1" lang="en-US" altLang="en-US" sz="1600" b="1" dirty="0"/>
              <a:t>                                   where </a:t>
            </a:r>
            <a:r>
              <a:rPr kumimoji="1" lang="en-US" altLang="en-US" sz="1600" i="1" dirty="0"/>
              <a:t>S</a:t>
            </a:r>
            <a:r>
              <a:rPr kumimoji="1" lang="en-US" altLang="en-US" sz="1600" dirty="0"/>
              <a:t>.</a:t>
            </a:r>
            <a:r>
              <a:rPr kumimoji="1" lang="en-US" altLang="en-US" sz="1600" i="1" dirty="0"/>
              <a:t>ID </a:t>
            </a:r>
            <a:r>
              <a:rPr kumimoji="1" lang="en-US" altLang="en-US" sz="1600" dirty="0"/>
              <a:t>= </a:t>
            </a:r>
            <a:r>
              <a:rPr kumimoji="1" lang="en-US" altLang="en-US" sz="1600" i="1" dirty="0"/>
              <a:t>T</a:t>
            </a:r>
            <a:r>
              <a:rPr kumimoji="1" lang="en-US" altLang="en-US" sz="1600" dirty="0"/>
              <a:t>.</a:t>
            </a:r>
            <a:r>
              <a:rPr kumimoji="1" lang="en-US" altLang="en-US" sz="1600" i="1" dirty="0"/>
              <a:t>ID</a:t>
            </a:r>
            <a:r>
              <a:rPr kumimoji="1" lang="en-US" altLang="en-US" sz="1600" dirty="0"/>
              <a:t>));</a:t>
            </a:r>
          </a:p>
          <a:p>
            <a:pPr marL="285750">
              <a:buClr>
                <a:srgbClr val="FF9933"/>
              </a:buClr>
              <a:buSzPct val="110000"/>
            </a:pPr>
            <a:endParaRPr kumimoji="1" lang="en-US" altLang="en-US" sz="1600" dirty="0"/>
          </a:p>
          <a:p>
            <a:pPr marL="571500" indent="-285750">
              <a:buClr>
                <a:srgbClr val="FF9933"/>
              </a:buClr>
              <a:buSzPct val="110000"/>
              <a:buFont typeface="Arial" panose="020B0604020202020204" pitchFamily="34" charset="0"/>
              <a:buChar char="•"/>
            </a:pPr>
            <a:r>
              <a:rPr kumimoji="1" lang="en-US" altLang="en-US" sz="1700" dirty="0"/>
              <a:t>First nested query lists all courses offered in Biology</a:t>
            </a:r>
          </a:p>
          <a:p>
            <a:pPr marL="571500" indent="-285750">
              <a:buClr>
                <a:srgbClr val="FF9933"/>
              </a:buClr>
              <a:buSzPct val="110000"/>
              <a:buFont typeface="Arial" panose="020B0604020202020204" pitchFamily="34" charset="0"/>
              <a:buChar char="•"/>
            </a:pPr>
            <a:r>
              <a:rPr kumimoji="1" lang="en-US" altLang="en-US" sz="1700" dirty="0"/>
              <a:t>Second nested query lists all courses a particular student took</a:t>
            </a:r>
          </a:p>
          <a:p>
            <a:pPr marL="285750">
              <a:buClr>
                <a:srgbClr val="FF9933"/>
              </a:buClr>
              <a:buSzPct val="90000"/>
            </a:pPr>
            <a:endParaRPr kumimoji="1" lang="en-US" altLang="en-US" sz="1700" dirty="0"/>
          </a:p>
          <a:p>
            <a:endParaRPr kumimoji="1" lang="en-US" altLang="en-US" sz="1600"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6706" name="Rectangle 2"/>
          <p:cNvSpPr>
            <a:spLocks noGrp="1" noChangeArrowheads="1"/>
          </p:cNvSpPr>
          <p:nvPr>
            <p:ph type="title"/>
          </p:nvPr>
        </p:nvSpPr>
        <p:spPr>
          <a:xfrm>
            <a:off x="781050" y="152400"/>
            <a:ext cx="8077200" cy="609600"/>
          </a:xfrm>
        </p:spPr>
        <p:txBody>
          <a:bodyPr/>
          <a:lstStyle/>
          <a:p>
            <a:r>
              <a:rPr lang="en-US" altLang="en-US" sz="2800" dirty="0"/>
              <a:t>Test for Absence of Duplicate Tuples</a:t>
            </a:r>
          </a:p>
        </p:txBody>
      </p:sp>
      <p:sp>
        <p:nvSpPr>
          <p:cNvPr id="58370" name="Rectangle 3"/>
          <p:cNvSpPr>
            <a:spLocks noGrp="1" noChangeArrowheads="1"/>
          </p:cNvSpPr>
          <p:nvPr>
            <p:ph type="body" idx="1"/>
          </p:nvPr>
        </p:nvSpPr>
        <p:spPr>
          <a:xfrm>
            <a:off x="781050" y="1100646"/>
            <a:ext cx="7499160" cy="4367212"/>
          </a:xfrm>
        </p:spPr>
        <p:txBody>
          <a:bodyPr/>
          <a:lstStyle/>
          <a:p>
            <a:pPr>
              <a:tabLst>
                <a:tab pos="803275" algn="l"/>
                <a:tab pos="1547813" algn="l"/>
              </a:tabLst>
            </a:pPr>
            <a:r>
              <a:rPr lang="en-US" altLang="en-US" sz="1700" dirty="0"/>
              <a:t>The </a:t>
            </a:r>
            <a:r>
              <a:rPr lang="en-US" altLang="en-US" sz="1700" b="1" dirty="0">
                <a:solidFill>
                  <a:srgbClr val="002060"/>
                </a:solidFill>
              </a:rPr>
              <a:t>unique</a:t>
            </a:r>
            <a:r>
              <a:rPr lang="en-US" altLang="en-US" sz="1700" dirty="0"/>
              <a:t> construct tests whether a subquery has any duplicate tuples in its result.</a:t>
            </a:r>
          </a:p>
          <a:p>
            <a:pPr>
              <a:tabLst>
                <a:tab pos="803275" algn="l"/>
                <a:tab pos="1547813" algn="l"/>
              </a:tabLst>
            </a:pPr>
            <a:r>
              <a:rPr lang="en-US" altLang="en-US" sz="1700" dirty="0"/>
              <a:t>The </a:t>
            </a:r>
            <a:r>
              <a:rPr lang="en-US" altLang="en-US" sz="1700" b="1" dirty="0">
                <a:solidFill>
                  <a:srgbClr val="002060"/>
                </a:solidFill>
              </a:rPr>
              <a:t>unique</a:t>
            </a:r>
            <a:r>
              <a:rPr lang="en-US" altLang="en-US" sz="1700" dirty="0"/>
              <a:t> construct evaluates to “true” if a given subquery contains no duplicates .</a:t>
            </a:r>
          </a:p>
          <a:p>
            <a:pPr>
              <a:tabLst>
                <a:tab pos="803275" algn="l"/>
                <a:tab pos="1547813" algn="l"/>
              </a:tabLst>
            </a:pPr>
            <a:r>
              <a:rPr lang="en-US" altLang="en-US" sz="1700" dirty="0"/>
              <a:t>Find all courses that were offered at most once in 2017</a:t>
            </a:r>
          </a:p>
          <a:p>
            <a:pPr lvl="1">
              <a:buFont typeface="Monotype Sorts" charset="2"/>
              <a:buNone/>
              <a:tabLst>
                <a:tab pos="803275" algn="l"/>
                <a:tab pos="1547813" algn="l"/>
              </a:tabLst>
            </a:pPr>
            <a:r>
              <a:rPr lang="en-US" altLang="en-US" sz="1700" b="1" dirty="0"/>
              <a:t>    select </a:t>
            </a:r>
            <a:r>
              <a:rPr lang="en-US" altLang="en-US" sz="1700" i="1" dirty="0" err="1"/>
              <a:t>T</a:t>
            </a:r>
            <a:r>
              <a:rPr lang="en-US" altLang="en-US" sz="1700" dirty="0" err="1"/>
              <a:t>.</a:t>
            </a:r>
            <a:r>
              <a:rPr lang="en-US" altLang="en-US" sz="1700" i="1" dirty="0" err="1"/>
              <a:t>course_id</a:t>
            </a:r>
            <a:r>
              <a:rPr lang="en-US" altLang="en-US" sz="1700" i="1" dirty="0"/>
              <a:t/>
            </a:r>
            <a:br>
              <a:rPr lang="en-US" altLang="en-US" sz="1700" i="1" dirty="0"/>
            </a:br>
            <a:r>
              <a:rPr lang="en-US" altLang="en-US" sz="1700" b="1" dirty="0"/>
              <a:t>from </a:t>
            </a:r>
            <a:r>
              <a:rPr lang="en-US" altLang="en-US" sz="1700" i="1" dirty="0"/>
              <a:t>course </a:t>
            </a:r>
            <a:r>
              <a:rPr lang="en-US" altLang="en-US" sz="1700" b="1" dirty="0"/>
              <a:t>as </a:t>
            </a:r>
            <a:r>
              <a:rPr lang="en-US" altLang="en-US" sz="1700" i="1" dirty="0"/>
              <a:t>T</a:t>
            </a:r>
            <a:br>
              <a:rPr lang="en-US" altLang="en-US" sz="1700" i="1" dirty="0"/>
            </a:br>
            <a:r>
              <a:rPr lang="en-US" altLang="en-US" sz="1700" b="1" dirty="0"/>
              <a:t>where unique </a:t>
            </a:r>
            <a:r>
              <a:rPr lang="en-US" altLang="en-US" sz="1700" dirty="0"/>
              <a:t>( </a:t>
            </a:r>
            <a:r>
              <a:rPr lang="en-US" altLang="en-US" sz="1700" b="1" dirty="0"/>
              <a:t>select </a:t>
            </a:r>
            <a:r>
              <a:rPr lang="en-US" altLang="en-US" sz="1700" i="1" dirty="0" err="1"/>
              <a:t>R</a:t>
            </a:r>
            <a:r>
              <a:rPr lang="en-US" altLang="en-US" sz="1700" dirty="0" err="1"/>
              <a:t>.</a:t>
            </a:r>
            <a:r>
              <a:rPr lang="en-US" altLang="en-US" sz="1700" i="1" dirty="0" err="1"/>
              <a:t>course_id</a:t>
            </a:r>
            <a:r>
              <a:rPr lang="en-US" altLang="en-US" sz="1700" i="1" dirty="0"/>
              <a:t/>
            </a:r>
            <a:br>
              <a:rPr lang="en-US" altLang="en-US" sz="1700" i="1" dirty="0"/>
            </a:br>
            <a:r>
              <a:rPr lang="en-US" altLang="en-US" sz="1700" i="1" dirty="0"/>
              <a:t>                           </a:t>
            </a:r>
            <a:r>
              <a:rPr lang="en-US" altLang="en-US" sz="1700" b="1" dirty="0"/>
              <a:t>from </a:t>
            </a:r>
            <a:r>
              <a:rPr lang="en-US" altLang="en-US" sz="1700" i="1" dirty="0"/>
              <a:t>section </a:t>
            </a:r>
            <a:r>
              <a:rPr lang="en-US" altLang="en-US" sz="1700" b="1" dirty="0"/>
              <a:t>as </a:t>
            </a:r>
            <a:r>
              <a:rPr lang="en-US" altLang="en-US" sz="1700" i="1" dirty="0"/>
              <a:t>R</a:t>
            </a:r>
            <a:br>
              <a:rPr lang="en-US" altLang="en-US" sz="1700" i="1" dirty="0"/>
            </a:br>
            <a:r>
              <a:rPr lang="en-US" altLang="en-US" sz="1700" i="1" dirty="0"/>
              <a:t>                           </a:t>
            </a:r>
            <a:r>
              <a:rPr lang="en-US" altLang="en-US" sz="1700" b="1" dirty="0"/>
              <a:t>where </a:t>
            </a:r>
            <a:r>
              <a:rPr lang="en-US" altLang="en-US" sz="1700" i="1" dirty="0" err="1"/>
              <a:t>T</a:t>
            </a:r>
            <a:r>
              <a:rPr lang="en-US" altLang="en-US" sz="1700" dirty="0" err="1"/>
              <a:t>.</a:t>
            </a:r>
            <a:r>
              <a:rPr lang="en-US" altLang="en-US" sz="1700" i="1" dirty="0" err="1"/>
              <a:t>course_id</a:t>
            </a:r>
            <a:r>
              <a:rPr lang="en-US" altLang="en-US" sz="1700" dirty="0"/>
              <a:t>= </a:t>
            </a:r>
            <a:r>
              <a:rPr lang="en-US" altLang="en-US" sz="1700" i="1" dirty="0" err="1"/>
              <a:t>R</a:t>
            </a:r>
            <a:r>
              <a:rPr lang="en-US" altLang="en-US" sz="1700" dirty="0" err="1"/>
              <a:t>.</a:t>
            </a:r>
            <a:r>
              <a:rPr lang="en-US" altLang="en-US" sz="1700" i="1" dirty="0" err="1"/>
              <a:t>course_id</a:t>
            </a:r>
            <a:r>
              <a:rPr lang="en-US" altLang="en-US" sz="1700" i="1" dirty="0"/>
              <a:t> </a:t>
            </a:r>
            <a:br>
              <a:rPr lang="en-US" altLang="en-US" sz="1700" i="1" dirty="0"/>
            </a:br>
            <a:r>
              <a:rPr lang="en-US" altLang="en-US" sz="1700" i="1" dirty="0"/>
              <a:t>                                       </a:t>
            </a:r>
            <a:r>
              <a:rPr lang="en-US" altLang="en-US" sz="1700" b="1" dirty="0"/>
              <a:t>and </a:t>
            </a:r>
            <a:r>
              <a:rPr lang="en-US" altLang="en-US" sz="1700" i="1" dirty="0" err="1"/>
              <a:t>R</a:t>
            </a:r>
            <a:r>
              <a:rPr lang="en-US" altLang="en-US" sz="1700" dirty="0" err="1"/>
              <a:t>.</a:t>
            </a:r>
            <a:r>
              <a:rPr lang="en-US" altLang="en-US" sz="1700" i="1" dirty="0" err="1"/>
              <a:t>year</a:t>
            </a:r>
            <a:r>
              <a:rPr lang="en-US" altLang="en-US" sz="1700" i="1" dirty="0"/>
              <a:t> </a:t>
            </a:r>
            <a:r>
              <a:rPr lang="en-US" altLang="en-US" sz="1700" dirty="0"/>
              <a:t>= 2017);</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0258" name="Rectangle 2"/>
          <p:cNvSpPr>
            <a:spLocks noGrp="1" noChangeArrowheads="1"/>
          </p:cNvSpPr>
          <p:nvPr>
            <p:ph type="ctrTitle"/>
          </p:nvPr>
        </p:nvSpPr>
        <p:spPr/>
        <p:txBody>
          <a:bodyPr/>
          <a:lstStyle/>
          <a:p>
            <a:r>
              <a:rPr lang="en-US" altLang="en-US"/>
              <a:t>End of Chapter 3</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93724</TotalTime>
  <Words>8681</Words>
  <Application>Microsoft Office PowerPoint</Application>
  <PresentationFormat>On-screen Show (4:3)</PresentationFormat>
  <Paragraphs>931</Paragraphs>
  <Slides>50</Slides>
  <Notes>50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Slide Titles</vt:lpstr>
      </vt:variant>
      <vt:variant>
        <vt:i4>50</vt:i4>
      </vt:variant>
      <vt:variant>
        <vt:lpstr>Custom Shows</vt:lpstr>
      </vt:variant>
      <vt:variant>
        <vt:i4>1</vt:i4>
      </vt:variant>
    </vt:vector>
  </HeadingPairs>
  <TitlesOfParts>
    <vt:vector size="62" baseType="lpstr">
      <vt:lpstr>ＭＳ Ｐゴシック</vt:lpstr>
      <vt:lpstr>ＭＳ Ｐゴシック</vt:lpstr>
      <vt:lpstr>Arial</vt:lpstr>
      <vt:lpstr>Century Gothic</vt:lpstr>
      <vt:lpstr>Helvetica</vt:lpstr>
      <vt:lpstr>Monotype Sorts</vt:lpstr>
      <vt:lpstr>Symbol</vt:lpstr>
      <vt:lpstr>Times New Roman</vt:lpstr>
      <vt:lpstr>Webdings</vt:lpstr>
      <vt:lpstr>Wingdings</vt:lpstr>
      <vt:lpstr>2_db-5-grey</vt:lpstr>
      <vt:lpstr>Introduction to SQL</vt:lpstr>
      <vt:lpstr>Outline</vt:lpstr>
      <vt:lpstr>History</vt:lpstr>
      <vt:lpstr>SQL Parts</vt:lpstr>
      <vt:lpstr>Data Definition Language</vt:lpstr>
      <vt:lpstr>Domain Types in SQL</vt:lpstr>
      <vt:lpstr>Create Table Construct</vt:lpstr>
      <vt:lpstr>Integrity Constraints in Create Table</vt:lpstr>
      <vt:lpstr>And a Few More Relation Definitions</vt:lpstr>
      <vt:lpstr>And more still</vt:lpstr>
      <vt:lpstr>Updates to tables</vt:lpstr>
      <vt:lpstr>Basic Query Structure </vt:lpstr>
      <vt:lpstr>The select Clause</vt:lpstr>
      <vt:lpstr>The select Clause (Cont.)</vt:lpstr>
      <vt:lpstr>The select Clause (Cont.)</vt:lpstr>
      <vt:lpstr>The select Clause (Cont.)</vt:lpstr>
      <vt:lpstr>The where Clause</vt:lpstr>
      <vt:lpstr>The from Clause</vt:lpstr>
      <vt:lpstr>Examples</vt:lpstr>
      <vt:lpstr>The Rename Operation</vt:lpstr>
      <vt:lpstr>The Rename Operation (cont…)</vt:lpstr>
      <vt:lpstr>The Rename Operation (cont…)</vt:lpstr>
      <vt:lpstr>Self Join Example</vt:lpstr>
      <vt:lpstr>String Operations</vt:lpstr>
      <vt:lpstr>String Operations (Cont.)</vt:lpstr>
      <vt:lpstr>Ordering the Display of Tuples</vt:lpstr>
      <vt:lpstr>Where Clause Predicates</vt:lpstr>
      <vt:lpstr>Set Operations</vt:lpstr>
      <vt:lpstr>Set Operations (Cont.)</vt:lpstr>
      <vt:lpstr>Null Values</vt:lpstr>
      <vt:lpstr>Null Values (Cont.)</vt:lpstr>
      <vt:lpstr>Aggregate Functions</vt:lpstr>
      <vt:lpstr>Aggregate Functions Examples</vt:lpstr>
      <vt:lpstr>Aggregate Functions – Group By</vt:lpstr>
      <vt:lpstr>Aggregation (Cont.)</vt:lpstr>
      <vt:lpstr>Aggregate Functions – Having Clause</vt:lpstr>
      <vt:lpstr>Nested Subqueries</vt:lpstr>
      <vt:lpstr>Set Membership</vt:lpstr>
      <vt:lpstr>Set Membership </vt:lpstr>
      <vt:lpstr>Set Membership (Cont.)</vt:lpstr>
      <vt:lpstr>Set Comparison</vt:lpstr>
      <vt:lpstr>Set Comparison – “some” Clause</vt:lpstr>
      <vt:lpstr>Definition of  “some” Clause</vt:lpstr>
      <vt:lpstr>Set Comparison – “all” Clause</vt:lpstr>
      <vt:lpstr>Definition of “all” Clause</vt:lpstr>
      <vt:lpstr>Test for Empty Relations</vt:lpstr>
      <vt:lpstr>Use of “exists” Clause</vt:lpstr>
      <vt:lpstr>Use of “not exists” Clause</vt:lpstr>
      <vt:lpstr>Test for Absence of Duplicate Tuples</vt:lpstr>
      <vt:lpstr>End of Chapter 3</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Windows User</cp:lastModifiedBy>
  <cp:revision>550</cp:revision>
  <cp:lastPrinted>1999-06-28T19:27:31Z</cp:lastPrinted>
  <dcterms:created xsi:type="dcterms:W3CDTF">2009-12-21T15:40:22Z</dcterms:created>
  <dcterms:modified xsi:type="dcterms:W3CDTF">2022-02-26T22:13:50Z</dcterms:modified>
</cp:coreProperties>
</file>