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0"/>
  </p:notesMasterIdLst>
  <p:handoutMasterIdLst>
    <p:handoutMasterId r:id="rId31"/>
  </p:handoutMasterIdLst>
  <p:sldIdLst>
    <p:sldId id="336" r:id="rId2"/>
    <p:sldId id="337" r:id="rId3"/>
    <p:sldId id="405" r:id="rId4"/>
    <p:sldId id="366" r:id="rId5"/>
    <p:sldId id="367" r:id="rId6"/>
    <p:sldId id="368" r:id="rId7"/>
    <p:sldId id="395" r:id="rId8"/>
    <p:sldId id="396" r:id="rId9"/>
    <p:sldId id="397" r:id="rId10"/>
    <p:sldId id="372" r:id="rId11"/>
    <p:sldId id="399" r:id="rId12"/>
    <p:sldId id="400" r:id="rId13"/>
    <p:sldId id="375" r:id="rId14"/>
    <p:sldId id="401" r:id="rId15"/>
    <p:sldId id="377" r:id="rId16"/>
    <p:sldId id="378" r:id="rId17"/>
    <p:sldId id="379" r:id="rId18"/>
    <p:sldId id="402" r:id="rId19"/>
    <p:sldId id="381" r:id="rId20"/>
    <p:sldId id="382" r:id="rId21"/>
    <p:sldId id="383" r:id="rId22"/>
    <p:sldId id="384" r:id="rId23"/>
    <p:sldId id="385" r:id="rId24"/>
    <p:sldId id="386" r:id="rId25"/>
    <p:sldId id="387" r:id="rId26"/>
    <p:sldId id="403" r:id="rId27"/>
    <p:sldId id="389" r:id="rId28"/>
    <p:sldId id="469" r:id="rId29"/>
  </p:sldIdLst>
  <p:sldSz cx="9144000" cy="6858000" type="screen4x3"/>
  <p:notesSz cx="6997700" cy="9283700"/>
  <p:custShowLst>
    <p:custShow name="Custom Show 1" id="0">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22" autoAdjust="0"/>
    <p:restoredTop sz="49527" autoAdjust="0"/>
  </p:normalViewPr>
  <p:slideViewPr>
    <p:cSldViewPr snapToGrid="0">
      <p:cViewPr varScale="1">
        <p:scale>
          <a:sx n="35" d="100"/>
          <a:sy n="35" d="100"/>
        </p:scale>
        <p:origin x="1572" y="42"/>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03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C6EF5354-BFFB-44DF-8FA7-1A088153BD87}"/>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id="{5BBF6CF9-ADFE-4F6E-89A0-8CB582D8FFC5}"/>
              </a:ext>
            </a:extLst>
          </p:cNvPr>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id="{8C120FC7-7BCE-4696-BB5D-C087861E4B4E}"/>
              </a:ext>
            </a:extLst>
          </p:cNvPr>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id="{6735A123-7D3E-455E-AB82-1C3749BB052A}"/>
              </a:ext>
            </a:extLst>
          </p:cNvPr>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pPr>
              <a:defRPr/>
            </a:pPr>
            <a:fld id="{A8B4C920-550B-4EA7-9CB5-2D8883A273B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2E8AF117-EF14-4BF3-AB7D-D75C4F934CCD}"/>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id="{D7D2DA5C-BED3-45D1-AFD2-94AF29863ABC}"/>
              </a:ext>
            </a:extLst>
          </p:cNvPr>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A2936E5F-4C9B-4144-9261-C3F188AA67D9}"/>
              </a:ext>
            </a:extLst>
          </p:cNvPr>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5" name="Rectangle 5">
            <a:extLst>
              <a:ext uri="{FF2B5EF4-FFF2-40B4-BE49-F238E27FC236}">
                <a16:creationId xmlns:a16="http://schemas.microsoft.com/office/drawing/2014/main" id="{D73F14C5-05F8-4300-9D01-F3633C854740}"/>
              </a:ext>
            </a:extLst>
          </p:cNvPr>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id="{BCB6CAD9-A006-4455-8054-9CACB290288C}"/>
              </a:ext>
            </a:extLst>
          </p:cNvPr>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id="{63060AD7-0C3D-477B-BD60-55C8EBDB9451}"/>
              </a:ext>
            </a:extLst>
          </p:cNvPr>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vl1pPr>
          </a:lstStyle>
          <a:p>
            <a:pPr>
              <a:defRPr/>
            </a:pPr>
            <a:fld id="{AE66C03C-4B0E-4149-8287-A3B340EB818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E384C445-B1F5-490F-A9C4-D80A2FD64200}" type="slidenum">
              <a:rPr lang="en-US" altLang="en-US" sz="1200"/>
              <a:pPr/>
              <a:t>1</a:t>
            </a:fld>
            <a:endParaRPr lang="en-US" altLang="en-US" sz="120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A1350AA7-056F-4860-8F4F-423CF851BA62}" type="slidenum">
              <a:rPr lang="en-US" altLang="en-US" sz="1200"/>
              <a:pPr/>
              <a:t>2</a:t>
            </a:fld>
            <a:endParaRPr lang="en-US" altLang="en-US" sz="120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B6F0339C-7A5B-4860-8D42-52F584D09780}" type="slidenum">
              <a:rPr lang="en-US" altLang="en-US" sz="1200"/>
              <a:pPr/>
              <a:t>3</a:t>
            </a:fld>
            <a:endParaRPr lang="en-US" altLang="en-US" sz="120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46EA8CD4-BE8A-459D-9D31-26FCFAB06D25}" type="slidenum">
              <a:rPr lang="en-US" altLang="en-US" sz="1200"/>
              <a:pPr/>
              <a:t>4</a:t>
            </a:fld>
            <a:endParaRPr lang="en-US" altLang="en-US" sz="120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Procedures and functions allow “business logic” to be stored in the database and executed from SQL statements. For example, universities usually have many rules about how many courses a student can take in a given semester, the minimum number of courses a full-time instructor must teach in a year, the maximum number of majors a student can be enrolled in, and so on. While such business logic can be encoded as programming-language procedures stored entirely outside the database, defining them as stored procedures in the database has several advantages. For example, it allows multiple applications to access the procedures, and it allows a single point of change in case the business rules change, without changing other parts of the application. Application code can then call the stored procedures instead of directly updating database relations.</a:t>
            </a:r>
          </a:p>
          <a:p>
            <a:endParaRPr lang="en-US" altLang="en-US" dirty="0" smtClean="0">
              <a:latin typeface="Times New Roman" panose="02020603050405020304" pitchFamily="18" charset="0"/>
            </a:endParaRPr>
          </a:p>
          <a:p>
            <a:r>
              <a:rPr lang="en-US" dirty="0" smtClean="0"/>
              <a:t>SQL allows the definition of functions, procedures, and methods. These can be defined either by the procedural component of SQL or by an external programming language such as Java, C, or C++. </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dirty="0" smtClean="0"/>
              <a:t>Although the syntax we present here is defined by the SQL standard, most databases implement nonstandard versions of this syntax. For example, the procedural languages supported by Oracle (PL/SQL), Microsoft SQL Server (</a:t>
            </a:r>
            <a:r>
              <a:rPr lang="en-US" dirty="0" err="1" smtClean="0"/>
              <a:t>TransactSQL</a:t>
            </a:r>
            <a:r>
              <a:rPr lang="en-US" dirty="0" smtClean="0"/>
              <a:t>), and PostgreSQL (PL/</a:t>
            </a:r>
            <a:r>
              <a:rPr lang="en-US" dirty="0" err="1" smtClean="0"/>
              <a:t>pgSQL</a:t>
            </a:r>
            <a:r>
              <a:rPr lang="en-US" dirty="0" smtClean="0"/>
              <a:t>) all differ from the standard syntax we present here. </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67040340-971D-4A83-83E8-822FA67F93DB}" type="slidenum">
              <a:rPr lang="en-US" altLang="en-US" sz="1200"/>
              <a:pPr/>
              <a:t>5</a:t>
            </a:fld>
            <a:endParaRPr lang="en-US" altLang="en-US" sz="120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Suppose that we want a function that, given the name of a department, returns the count of the number of instructors in that department. We can define the function as shown in Figure 5.6.4 This function can be used in a query that returns names and budgets of all departments with more than 12 instructors:</a:t>
            </a:r>
          </a:p>
          <a:p>
            <a:endParaRPr lang="en-US" altLang="en-US" dirty="0" smtClean="0">
              <a:latin typeface="Times New Roman" panose="02020603050405020304"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b="1" dirty="0" smtClean="0"/>
              <a:t>	select </a:t>
            </a:r>
            <a:r>
              <a:rPr lang="en-US" altLang="en-US" i="1" dirty="0" err="1" smtClean="0"/>
              <a:t>dept_name</a:t>
            </a:r>
            <a:r>
              <a:rPr lang="en-US" altLang="en-US" i="1" dirty="0" smtClean="0"/>
              <a:t>, budget</a:t>
            </a:r>
            <a:br>
              <a:rPr lang="en-US" altLang="en-US" i="1" dirty="0" smtClean="0"/>
            </a:br>
            <a:r>
              <a:rPr lang="en-US" altLang="en-US" i="1" dirty="0" smtClean="0"/>
              <a:t>	</a:t>
            </a:r>
            <a:r>
              <a:rPr lang="en-US" altLang="en-US" b="1" dirty="0" smtClean="0"/>
              <a:t>from</a:t>
            </a:r>
            <a:r>
              <a:rPr lang="en-US" altLang="en-US" i="1" dirty="0" smtClean="0"/>
              <a:t> department</a:t>
            </a:r>
            <a:br>
              <a:rPr lang="en-US" altLang="en-US" i="1" dirty="0" smtClean="0"/>
            </a:br>
            <a:r>
              <a:rPr lang="en-US" altLang="en-US" i="1" dirty="0" smtClean="0"/>
              <a:t>	</a:t>
            </a:r>
            <a:r>
              <a:rPr lang="en-US" altLang="en-US" b="1" dirty="0" smtClean="0"/>
              <a:t>where </a:t>
            </a:r>
            <a:r>
              <a:rPr lang="en-US" altLang="en-US" i="1" dirty="0" err="1" smtClean="0"/>
              <a:t>dept_</a:t>
            </a:r>
            <a:r>
              <a:rPr lang="en-US" altLang="en-US" dirty="0" err="1" smtClean="0"/>
              <a:t>count</a:t>
            </a:r>
            <a:r>
              <a:rPr lang="en-US" altLang="en-US" dirty="0" smtClean="0"/>
              <a:t> (</a:t>
            </a:r>
            <a:r>
              <a:rPr lang="en-US" altLang="en-US" i="1" dirty="0" err="1" smtClean="0"/>
              <a:t>dept_name</a:t>
            </a:r>
            <a:r>
              <a:rPr lang="en-US" altLang="en-US" i="1" dirty="0" smtClean="0"/>
              <a:t> </a:t>
            </a:r>
            <a:r>
              <a:rPr lang="en-US" altLang="en-US" dirty="0" smtClean="0"/>
              <a:t>) &gt; 12</a:t>
            </a:r>
            <a:endParaRPr lang="en-US" altLang="en-US" i="1" dirty="0" smtClean="0"/>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dirty="0" smtClean="0"/>
              <a:t>Performance problems have been observed on many database systems when invoking complex user-defined functions within a query, if the functions are invoked on a large number of tuples. Programmers should therefore take performance into consideration when deciding whether to use user-defined functions in a query.</a:t>
            </a:r>
            <a:endParaRPr lang="en-US" altLang="en-US"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F0D3EC4A-6F15-43AE-AA3C-5A809172836D}" type="slidenum">
              <a:rPr lang="en-US" altLang="en-US" sz="1200"/>
              <a:pPr/>
              <a:t>6</a:t>
            </a:fld>
            <a:endParaRPr lang="en-US" altLang="en-US" sz="120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The SQL standard supports functions that can return tables as results; such functions are called table functions. Consider the function defined in Figure 5.7. The function returns a table containing all the instructors of a particular department. Note that the function’s parameter is referenced by prefixing it with the name of the function (instructor </a:t>
            </a:r>
            <a:r>
              <a:rPr lang="en-US" dirty="0" err="1" smtClean="0"/>
              <a:t>of.dept_name</a:t>
            </a:r>
            <a:r>
              <a:rPr lang="en-US" dirty="0" smtClean="0"/>
              <a:t>).</a:t>
            </a:r>
            <a:endParaRPr lang="en-US" altLang="en-US" dirty="0" smtClean="0"/>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dirty="0" smtClean="0"/>
              <a:t>The function can be used in a query as follows: </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b="1" dirty="0" smtClean="0"/>
              <a:t>	select *</a:t>
            </a:r>
            <a:br>
              <a:rPr lang="en-US" altLang="en-US" b="1" dirty="0" smtClean="0"/>
            </a:br>
            <a:r>
              <a:rPr lang="en-US" altLang="en-US" b="1" dirty="0" smtClean="0"/>
              <a:t>	from table </a:t>
            </a:r>
            <a:r>
              <a:rPr lang="en-US" altLang="en-US" dirty="0" smtClean="0"/>
              <a:t>(</a:t>
            </a:r>
            <a:r>
              <a:rPr lang="en-US" altLang="en-US" i="1" dirty="0" err="1" smtClean="0"/>
              <a:t>instructor_of</a:t>
            </a:r>
            <a:r>
              <a:rPr lang="en-US" altLang="en-US" i="1" dirty="0" smtClean="0"/>
              <a:t> </a:t>
            </a:r>
            <a:r>
              <a:rPr lang="en-US" altLang="en-US" dirty="0" smtClean="0"/>
              <a:t>(</a:t>
            </a:r>
            <a:r>
              <a:rPr lang="en-US" altLang="ja-JP" dirty="0" smtClean="0"/>
              <a:t>'Music'))</a:t>
            </a:r>
            <a:endParaRPr lang="en-US" altLang="en-US" dirty="0" smtClean="0"/>
          </a:p>
          <a:p>
            <a:endParaRPr lang="en-US" altLang="en-US" dirty="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7</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This query returns all instructors of the 'Finance' department. In this simple case it is straightforward to write this query without using table-valued functions. In general, however, table-valued functions can be thought of as parameterized </a:t>
            </a:r>
            <a:r>
              <a:rPr lang="en-US" dirty="0" err="1" smtClean="0"/>
              <a:t>viewsthat</a:t>
            </a:r>
            <a:r>
              <a:rPr lang="en-US" dirty="0" smtClean="0"/>
              <a:t> generalize the regular notion of views by allowing parameters. SQL also supports procedures. </a:t>
            </a:r>
          </a:p>
          <a:p>
            <a:r>
              <a:rPr lang="en-US" dirty="0" smtClean="0"/>
              <a:t>The </a:t>
            </a:r>
            <a:r>
              <a:rPr lang="en-US" dirty="0" err="1" smtClean="0"/>
              <a:t>dept_count</a:t>
            </a:r>
            <a:r>
              <a:rPr lang="en-US" dirty="0" smtClean="0"/>
              <a:t> function could instead be written as a procedure:</a:t>
            </a:r>
          </a:p>
          <a:p>
            <a:pPr>
              <a:buFont typeface="Monotype Sorts" charset="2"/>
              <a:buNone/>
            </a:pPr>
            <a:endParaRPr lang="en-US" altLang="en-US" b="1" dirty="0" smtClean="0"/>
          </a:p>
          <a:p>
            <a:pPr>
              <a:buFont typeface="Monotype Sorts" charset="2"/>
              <a:buNone/>
            </a:pPr>
            <a:r>
              <a:rPr lang="en-US" altLang="en-US" b="1" dirty="0" smtClean="0"/>
              <a:t>create procedure </a:t>
            </a:r>
            <a:r>
              <a:rPr lang="en-US" altLang="en-US" i="1" dirty="0" err="1" smtClean="0"/>
              <a:t>dept_count_proc</a:t>
            </a:r>
            <a:r>
              <a:rPr lang="en-US" altLang="en-US" i="1" dirty="0" smtClean="0"/>
              <a:t> </a:t>
            </a:r>
            <a:r>
              <a:rPr lang="en-US" altLang="en-US" dirty="0" smtClean="0"/>
              <a:t>(</a:t>
            </a:r>
            <a:r>
              <a:rPr lang="en-US" altLang="en-US" b="1" dirty="0" smtClean="0"/>
              <a:t>in </a:t>
            </a:r>
            <a:r>
              <a:rPr lang="en-US" altLang="en-US" i="1" dirty="0" err="1" smtClean="0"/>
              <a:t>dept_name</a:t>
            </a:r>
            <a:r>
              <a:rPr lang="en-US" altLang="en-US" i="1" dirty="0" smtClean="0"/>
              <a:t> </a:t>
            </a:r>
            <a:r>
              <a:rPr lang="en-US" altLang="en-US" b="1" dirty="0" smtClean="0"/>
              <a:t>varchar</a:t>
            </a:r>
            <a:r>
              <a:rPr lang="en-US" altLang="en-US" dirty="0" smtClean="0"/>
              <a:t>(20), </a:t>
            </a:r>
            <a:br>
              <a:rPr lang="en-US" altLang="en-US" dirty="0" smtClean="0"/>
            </a:br>
            <a:r>
              <a:rPr lang="en-US" altLang="en-US" dirty="0" smtClean="0"/>
              <a:t>                                                           </a:t>
            </a:r>
            <a:r>
              <a:rPr lang="en-US" altLang="en-US" b="1" dirty="0" smtClean="0"/>
              <a:t>out </a:t>
            </a:r>
            <a:r>
              <a:rPr lang="en-US" altLang="en-US" i="1" dirty="0" err="1" smtClean="0"/>
              <a:t>d_count</a:t>
            </a:r>
            <a:r>
              <a:rPr lang="en-US" altLang="en-US" i="1" dirty="0" smtClean="0"/>
              <a:t> </a:t>
            </a:r>
            <a:r>
              <a:rPr lang="en-US" altLang="en-US" b="1" dirty="0" smtClean="0"/>
              <a:t>integer)</a:t>
            </a:r>
            <a:br>
              <a:rPr lang="en-US" altLang="en-US" b="1" dirty="0" smtClean="0"/>
            </a:br>
            <a:r>
              <a:rPr lang="en-US" altLang="en-US" b="1" dirty="0" smtClean="0"/>
              <a:t>   begin</a:t>
            </a:r>
          </a:p>
          <a:p>
            <a:pPr>
              <a:buFont typeface="Monotype Sorts" charset="2"/>
              <a:buNone/>
            </a:pPr>
            <a:r>
              <a:rPr lang="en-US" altLang="en-US" b="1" dirty="0" smtClean="0"/>
              <a:t>	       select count</a:t>
            </a:r>
            <a:r>
              <a:rPr lang="en-US" altLang="en-US" dirty="0" smtClean="0"/>
              <a:t>(</a:t>
            </a:r>
            <a:r>
              <a:rPr lang="en-US" altLang="en-US" i="1" dirty="0" smtClean="0"/>
              <a:t>*</a:t>
            </a:r>
            <a:r>
              <a:rPr lang="en-US" altLang="en-US" dirty="0" smtClean="0"/>
              <a:t>) </a:t>
            </a:r>
            <a:r>
              <a:rPr lang="en-US" altLang="en-US" b="1" dirty="0" smtClean="0"/>
              <a:t>into </a:t>
            </a:r>
            <a:r>
              <a:rPr lang="en-US" altLang="en-US" i="1" dirty="0" err="1" smtClean="0"/>
              <a:t>d_count</a:t>
            </a:r>
            <a:r>
              <a:rPr lang="en-US" altLang="en-US" i="1" dirty="0" smtClean="0"/>
              <a:t/>
            </a:r>
            <a:br>
              <a:rPr lang="en-US" altLang="en-US" i="1" dirty="0" smtClean="0"/>
            </a:br>
            <a:r>
              <a:rPr lang="en-US" altLang="en-US" i="1" dirty="0" smtClean="0"/>
              <a:t>       </a:t>
            </a:r>
            <a:r>
              <a:rPr lang="en-US" altLang="en-US" b="1" dirty="0" smtClean="0"/>
              <a:t>from </a:t>
            </a:r>
            <a:r>
              <a:rPr lang="en-US" altLang="en-US" i="1" dirty="0" smtClean="0"/>
              <a:t>instructor</a:t>
            </a:r>
            <a:br>
              <a:rPr lang="en-US" altLang="en-US" i="1" dirty="0" smtClean="0"/>
            </a:br>
            <a:r>
              <a:rPr lang="en-US" altLang="en-US" i="1" dirty="0" smtClean="0"/>
              <a:t>       </a:t>
            </a:r>
            <a:r>
              <a:rPr lang="en-US" altLang="en-US" b="1" dirty="0" smtClean="0"/>
              <a:t>where </a:t>
            </a:r>
            <a:r>
              <a:rPr lang="en-US" altLang="en-US" i="1" dirty="0" err="1" smtClean="0"/>
              <a:t>instructor.dept_name</a:t>
            </a:r>
            <a:r>
              <a:rPr lang="en-US" altLang="en-US" i="1" dirty="0" smtClean="0"/>
              <a:t> = </a:t>
            </a:r>
            <a:r>
              <a:rPr lang="en-US" altLang="en-US" i="1" dirty="0" err="1" smtClean="0"/>
              <a:t>dept_count_proc.dept_name</a:t>
            </a:r>
            <a:endParaRPr lang="en-US" altLang="en-US" i="1" dirty="0" smtClean="0"/>
          </a:p>
          <a:p>
            <a:pPr>
              <a:buFont typeface="Monotype Sorts" charset="2"/>
              <a:buNone/>
            </a:pPr>
            <a:r>
              <a:rPr lang="en-US" altLang="en-US" i="1" dirty="0" smtClean="0"/>
              <a:t>        </a:t>
            </a:r>
            <a:r>
              <a:rPr lang="en-US" altLang="en-US" b="1" dirty="0" smtClean="0"/>
              <a:t>end</a:t>
            </a:r>
            <a:endParaRPr lang="en-US" altLang="en-US" dirty="0" smtClean="0"/>
          </a:p>
          <a:p>
            <a:endParaRPr lang="en-US" altLang="en-US" dirty="0" smtClean="0">
              <a:latin typeface="Times New Roman" panose="02020603050405020304" pitchFamily="18" charset="0"/>
            </a:endParaRPr>
          </a:p>
          <a:p>
            <a:r>
              <a:rPr lang="en-US" dirty="0" smtClean="0"/>
              <a:t>The keywords in and out indicate, respectively, parameters that are expected to have values assigned to them and parameters whose values are set in the procedure in order to return results.</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dirty="0" smtClean="0"/>
              <a:t>Procedures can be invoked either from an SQL procedure or from embedded SQL by the call statement:</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8</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9</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SQL supports constructs that give it almost all the power of a general-purpose programming language. The part of the SQL standard that deals with these constructs is called the Persistent Storage Module (PSM). </a:t>
            </a:r>
          </a:p>
          <a:p>
            <a:endParaRPr lang="en-US" altLang="en-US" dirty="0" smtClean="0">
              <a:latin typeface="Times New Roman" panose="02020603050405020304" pitchFamily="18" charset="0"/>
            </a:endParaRPr>
          </a:p>
          <a:p>
            <a:r>
              <a:rPr lang="en-US" dirty="0" smtClean="0"/>
              <a:t>Variables are declared using a declare statement and can have any valid SQL data type. Assignments are performed using a set statement</a:t>
            </a:r>
          </a:p>
          <a:p>
            <a:endParaRPr lang="en-US" altLang="en-US" dirty="0" smtClean="0">
              <a:latin typeface="Times New Roman" panose="02020603050405020304" pitchFamily="18" charset="0"/>
            </a:endParaRPr>
          </a:p>
          <a:p>
            <a:r>
              <a:rPr lang="en-US" dirty="0" smtClean="0"/>
              <a:t>A compound statement is of the form begin … end, and it may contain multiple SQL statements between the begin and the end. Local variables can be declared within a compound statement, as we have seen in Section 5.2.1. A compound statement of the form begin atomic … end ensures that all the statements contained within it are executed as a single transaction.</a:t>
            </a:r>
          </a:p>
          <a:p>
            <a:endParaRPr lang="en-US" altLang="en-US" dirty="0" smtClean="0">
              <a:latin typeface="Times New Roman" panose="02020603050405020304" pitchFamily="18" charset="0"/>
            </a:endParaRPr>
          </a:p>
          <a:p>
            <a:r>
              <a:rPr lang="en-US" dirty="0" smtClean="0"/>
              <a:t>The syntax for while statements and repeat statements is:</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1A0A2931-304C-4865-B2DC-2F6371DEAF73}" type="slidenum">
              <a:rPr lang="en-US" altLang="en-US" sz="1200"/>
              <a:pPr/>
              <a:t>10</a:t>
            </a:fld>
            <a:endParaRPr lang="en-US" altLang="en-US" sz="120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There is also a for loop that permits iteration over all the results of a query:</a:t>
            </a:r>
          </a:p>
          <a:p>
            <a:endParaRPr lang="en-US" altLang="en-US" dirty="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11</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The program fetches the query results one row at a time into the for loop variable (r, in the above example). The statement leave can be used to exit the loop, while iterate starts on the next tuple, from the beginning of the loop, skipping the remaining statements. </a:t>
            </a:r>
          </a:p>
          <a:p>
            <a:endParaRPr lang="en-US" dirty="0" smtClean="0"/>
          </a:p>
          <a:p>
            <a:r>
              <a:rPr lang="en-US" dirty="0" smtClean="0"/>
              <a:t>The conditional statements supported by SQL include if-then-else statements by using this syntax:</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12</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The function </a:t>
            </a:r>
            <a:r>
              <a:rPr lang="en-US" dirty="0" err="1" smtClean="0"/>
              <a:t>registerStudent</a:t>
            </a:r>
            <a:r>
              <a:rPr lang="en-US" dirty="0" smtClean="0"/>
              <a:t> defined in the figure registers a student in a course section after verifying that the number of students in the section does not exceed the capacity of the room allocated to the section. The function returns an error code—a value greater than or equal to 0 signifies success, and a negative value signifies an error condition— and a message indicating the reason for the failure is returned as an out parameter. </a:t>
            </a:r>
          </a:p>
          <a:p>
            <a:endParaRPr lang="en-US" dirty="0" smtClean="0"/>
          </a:p>
          <a:p>
            <a:r>
              <a:rPr lang="en-US" dirty="0" smtClean="0"/>
              <a:t>The SQL procedural language also supports the signaling of exception conditions and declaring of handlers that can handle the exception, as in this code:</a:t>
            </a:r>
          </a:p>
          <a:p>
            <a:endParaRPr lang="en-US" altLang="en-US" dirty="0" smtClean="0">
              <a:latin typeface="Times New Roman" panose="02020603050405020304" pitchFamily="18" charset="0"/>
            </a:endParaRPr>
          </a:p>
          <a:p>
            <a:r>
              <a:rPr lang="en-US" dirty="0" smtClean="0"/>
              <a:t>– – Registers a student after ensuring classroom capacity is not exceeded</a:t>
            </a:r>
          </a:p>
          <a:p>
            <a:r>
              <a:rPr lang="en-US" dirty="0" smtClean="0"/>
              <a:t> – – Returns 0 on success, and -1 if capacity is exceeded.</a:t>
            </a:r>
          </a:p>
          <a:p>
            <a:endParaRPr lang="en-US" altLang="en-US" dirty="0" smtClean="0">
              <a:latin typeface="Times New Roman" panose="02020603050405020304" pitchFamily="18" charset="0"/>
            </a:endParaRPr>
          </a:p>
          <a:p>
            <a:r>
              <a:rPr lang="en-US" dirty="0" smtClean="0"/>
              <a:t>The statements between the begin and the end can raise an exception by executing signal out of classroom seats. The handler says that if the condition arises, the action to be taken is to exit the enclosing begin end statement. Alternative actions would be continue, which continues execution from the next statement following the one that raised the exception. In addition to explicitly defined conditions, there are also predefined conditions such as </a:t>
            </a:r>
            <a:r>
              <a:rPr lang="en-US" dirty="0" err="1" smtClean="0"/>
              <a:t>sqlexception</a:t>
            </a:r>
            <a:r>
              <a:rPr lang="en-US" dirty="0" smtClean="0"/>
              <a:t>, </a:t>
            </a:r>
            <a:r>
              <a:rPr lang="en-US" dirty="0" err="1" smtClean="0"/>
              <a:t>sqlwarning</a:t>
            </a:r>
            <a:r>
              <a:rPr lang="en-US" dirty="0" smtClean="0"/>
              <a:t>, and not found.</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4C7B0BBF-B3C9-440E-B986-950E14E24760}" type="slidenum">
              <a:rPr lang="en-US" altLang="en-US" sz="1200"/>
              <a:pPr/>
              <a:t>13</a:t>
            </a:fld>
            <a:endParaRPr lang="en-US" altLang="en-US" sz="120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SQL allows us to define functions in a programming language such as Java, C#, C, or C++. Functions defined in this fashion can be more efficient than functions defined in SQL, and computations that cannot be carried out in SQL can be executed by these functions.</a:t>
            </a:r>
          </a:p>
          <a:p>
            <a:endParaRPr lang="en-US" altLang="en-US" dirty="0" smtClean="0">
              <a:latin typeface="Times New Roman" panose="02020603050405020304" pitchFamily="18" charset="0"/>
            </a:endParaRPr>
          </a:p>
          <a:p>
            <a:r>
              <a:rPr lang="en-US" dirty="0" smtClean="0"/>
              <a:t>External procedures and functions can be specified in this way (note that the exact syntax depends on the specific database system you use):</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14</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In general, the external language procedures need to deal with null values in parameters (both in and out) and return values. They also need to communicate failure/success status and to deal with exceptions. This information can be communicated by extra parameters: an </a:t>
            </a:r>
            <a:r>
              <a:rPr lang="en-US" dirty="0" err="1" smtClean="0"/>
              <a:t>sqlstate</a:t>
            </a:r>
            <a:r>
              <a:rPr lang="en-US" dirty="0" smtClean="0"/>
              <a:t> value to indicate failure/success status, a parameter to store the return value of the function, and indicator variables for each parameter/function result to indicate if the value is null. Other mechanisms are possible to handle null values, for example, by passing pointers instead of values. The exact mechanisms depend on the database. However, if a function does not deal with these situations, an extra line parameter style general can be added to the declaration to indicate that the external procedures/functions take only the arguments shown and do not handle null values or exceptions.</a:t>
            </a:r>
          </a:p>
          <a:p>
            <a:endParaRPr lang="en-US" altLang="en-US" dirty="0" smtClean="0">
              <a:latin typeface="Times New Roman" panose="02020603050405020304" pitchFamily="18" charset="0"/>
            </a:endParaRPr>
          </a:p>
          <a:p>
            <a:r>
              <a:rPr lang="en-US" dirty="0" smtClean="0"/>
              <a:t>Functions defined in a programming language and compiled outside the database system may be loaded and executed with the database-system code. However, doing so carries the risk that a bug in the program can corrupt the internal structures of the database and can bypass the access-control functionality of the database system. Database systems that are concerned more about efficient performance than about security may execute procedures in such a fashion. Database systems that are concerned about security may execute such code as part of a separate process, communicate the parameter values to it, and fetch results back via </a:t>
            </a:r>
            <a:r>
              <a:rPr lang="en-US" dirty="0" err="1" smtClean="0"/>
              <a:t>interprocess</a:t>
            </a:r>
            <a:r>
              <a:rPr lang="en-US" dirty="0" smtClean="0"/>
              <a:t> communication. However, the time overhead of </a:t>
            </a:r>
            <a:r>
              <a:rPr lang="en-US" dirty="0" err="1" smtClean="0"/>
              <a:t>interprocess</a:t>
            </a:r>
            <a:r>
              <a:rPr lang="en-US" dirty="0" smtClean="0"/>
              <a:t> communication is quite high; on typical CPU architectures, tens to hundreds of thousands of instructions can execute in the time taken for one </a:t>
            </a:r>
            <a:r>
              <a:rPr lang="en-US" dirty="0" err="1" smtClean="0"/>
              <a:t>interprocess</a:t>
            </a:r>
            <a:r>
              <a:rPr lang="en-US" dirty="0" smtClean="0"/>
              <a:t> communication.</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6283D157-7C62-425E-BB0E-CE8BAE867B64}" type="slidenum">
              <a:rPr lang="en-US" altLang="en-US" sz="1200"/>
              <a:pPr/>
              <a:t>15</a:t>
            </a:fld>
            <a:endParaRPr lang="en-US" altLang="en-US" sz="1200"/>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If the code is written in a “safe” language such as Java or C#, there is another possibility: executing the code in a sandbox within the database query execution process itself. The sandbox allows the Java or C# code to access its own memory area, but it prevents the code from reading or updating the memory of the query execution process, or accessing files in the file system. (Creating a sandbox is not possible for a language such as C, which allows unrestricted access to memory through pointers.) Avoiding </a:t>
            </a:r>
            <a:r>
              <a:rPr lang="en-US" dirty="0" err="1" smtClean="0"/>
              <a:t>interprocess</a:t>
            </a:r>
            <a:r>
              <a:rPr lang="en-US" dirty="0" smtClean="0"/>
              <a:t> communication reduces function call overhead greatly.</a:t>
            </a:r>
          </a:p>
          <a:p>
            <a:endParaRPr lang="en-US" altLang="en-US" dirty="0" smtClean="0">
              <a:latin typeface="Times New Roman" panose="02020603050405020304" pitchFamily="18" charset="0"/>
            </a:endParaRPr>
          </a:p>
          <a:p>
            <a:r>
              <a:rPr lang="en-US" dirty="0" smtClean="0"/>
              <a:t>Several database systems today support external language routines running in a sandbox within the query execution process. For example, Oracle and IBM DB2 allow Java functions to run as part of the database process. Microsoft SQL Server allows procedures compiled into the Common Language Runtime (CLR) to execute within the database process; such procedures could have been written, for example, in C# or Visual Basic. PostgreSQL allows functions defined in several languages, such as Perl, Python, and </a:t>
            </a:r>
            <a:r>
              <a:rPr lang="en-US" dirty="0" err="1" smtClean="0"/>
              <a:t>Tcl</a:t>
            </a:r>
            <a:r>
              <a:rPr lang="en-US" dirty="0" smtClean="0"/>
              <a:t>.</a:t>
            </a:r>
            <a:endParaRPr lang="en-US" altLang="en-US" dirty="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84AC97B1-25CD-474B-98A6-5180BA18AE28}" type="slidenum">
              <a:rPr lang="en-US" altLang="en-US" sz="1200"/>
              <a:pPr/>
              <a:t>16</a:t>
            </a:fld>
            <a:endParaRPr lang="en-US" altLang="en-US" sz="1200"/>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3AFD31E9-BE10-4267-BC2D-73ADA680375F}" type="slidenum">
              <a:rPr lang="en-US" altLang="en-US" sz="1200"/>
              <a:pPr/>
              <a:t>17</a:t>
            </a:fld>
            <a:endParaRPr lang="en-US" altLang="en-US" sz="1200"/>
          </a:p>
        </p:txBody>
      </p:sp>
      <p:sp>
        <p:nvSpPr>
          <p:cNvPr id="95235" name="Rectangle 2"/>
          <p:cNvSpPr>
            <a:spLocks noGrp="1" noRot="1" noChangeAspect="1" noChangeArrowheads="1" noTextEdit="1"/>
          </p:cNvSpPr>
          <p:nvPr>
            <p:ph type="sldImg"/>
          </p:nvPr>
        </p:nvSpPr>
        <p:spPr>
          <a:xfrm>
            <a:off x="1177925" y="695325"/>
            <a:ext cx="4641850" cy="3481388"/>
          </a:xfrm>
          <a:ln/>
        </p:spPr>
      </p:sp>
      <p:sp>
        <p:nvSpPr>
          <p:cNvPr id="95236" name="Rectangle 3"/>
          <p:cNvSpPr>
            <a:spLocks noGrp="1" noChangeArrowheads="1"/>
          </p:cNvSpPr>
          <p:nvPr>
            <p:ph type="body" idx="1"/>
          </p:nvPr>
        </p:nvSpPr>
        <p:spPr>
          <a:xfrm>
            <a:off x="931863" y="4410075"/>
            <a:ext cx="51339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 trigger is a statement that the system executes automatically as a side effect of a modification to the database. To define a trigger, we must:</a:t>
            </a:r>
          </a:p>
          <a:p>
            <a:endParaRPr lang="en-US" altLang="en-US" dirty="0" smtClean="0">
              <a:latin typeface="Times New Roman" panose="02020603050405020304" pitchFamily="18" charset="0"/>
            </a:endParaRPr>
          </a:p>
          <a:p>
            <a:pPr marL="171450" indent="-171450">
              <a:buFont typeface="Arial" panose="020B0604020202020204" pitchFamily="34" charset="0"/>
              <a:buChar char="•"/>
            </a:pPr>
            <a:r>
              <a:rPr lang="en-US" b="1" dirty="0" smtClean="0"/>
              <a:t>Specify when a trigger is to be executed. This is broken up into an event that causes the trigger to be checked and a condition that must be satisfied for trigger execution to proceed. </a:t>
            </a:r>
          </a:p>
          <a:p>
            <a:pPr marL="171450" indent="-171450">
              <a:buFont typeface="Arial" panose="020B0604020202020204" pitchFamily="34" charset="0"/>
              <a:buChar char="•"/>
            </a:pPr>
            <a:r>
              <a:rPr lang="en-US" b="1" dirty="0" smtClean="0"/>
              <a:t>Specify the actions to be taken when the trigger executes.</a:t>
            </a:r>
          </a:p>
          <a:p>
            <a:pPr marL="171450" indent="-171450">
              <a:buFont typeface="Arial" panose="020B0604020202020204" pitchFamily="34" charset="0"/>
              <a:buChar char="•"/>
            </a:pPr>
            <a:endParaRPr lang="en-US" altLang="en-US" dirty="0" smtClean="0">
              <a:latin typeface="Times New Roman" panose="02020603050405020304" pitchFamily="18" charset="0"/>
            </a:endParaRPr>
          </a:p>
          <a:p>
            <a:pPr marL="0" indent="0">
              <a:buFont typeface="Arial" panose="020B0604020202020204" pitchFamily="34" charset="0"/>
              <a:buNone/>
            </a:pPr>
            <a:r>
              <a:rPr lang="en-US" b="1" dirty="0" smtClean="0"/>
              <a:t>Once we enter a trigger into the database, the database system takes on the responsibility of executing it whenever the specified event occurs and the corresponding condition is satisfied.</a:t>
            </a:r>
          </a:p>
          <a:p>
            <a:pPr marL="0" indent="0">
              <a:buFont typeface="Arial" panose="020B0604020202020204" pitchFamily="34" charset="0"/>
              <a:buNone/>
            </a:pPr>
            <a:endParaRPr lang="en-US" altLang="en-US" dirty="0" smtClean="0">
              <a:latin typeface="Times New Roman" panose="02020603050405020304" pitchFamily="18" charset="0"/>
            </a:endParaRPr>
          </a:p>
          <a:p>
            <a:pPr marL="0" indent="0">
              <a:buFont typeface="Arial" panose="020B0604020202020204" pitchFamily="34" charset="0"/>
              <a:buNone/>
            </a:pPr>
            <a:r>
              <a:rPr lang="en-US" b="1" dirty="0" smtClean="0"/>
              <a:t>We now consider how to implement triggers in SQL. The syntax we present here is defined by the SQL standard, but most databases implement nonstandard versions of this syntax. Although the syntax we present here may not be supported on such systems, the concepts we describe are applicable across implementations.</a:t>
            </a:r>
          </a:p>
          <a:p>
            <a:pPr marL="0" indent="0">
              <a:buFont typeface="Arial" panose="020B0604020202020204" pitchFamily="34" charset="0"/>
              <a:buNone/>
            </a:pPr>
            <a:endParaRPr lang="en-US" altLang="en-US" dirty="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18</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Many database systems support a variety of other triggering events, such as when a user (application) logs on to the database (that is, opens a connection), the system shuts down, or changes are made to system settings. Triggers can be activated before the event (insert, delete, or update) instead of after the event. Triggers that execute before an event can serve as extra constraints that can prevent invalid updates, inserts, or deletes. Instead of letting the invalid action proceed and cause an error, the trigger might take action to correct the problem so that the update, insert, or delete becomes valid. </a:t>
            </a:r>
          </a:p>
          <a:p>
            <a:endParaRPr lang="en-US" dirty="0" smtClean="0"/>
          </a:p>
          <a:p>
            <a:r>
              <a:rPr lang="en-US" b="1" dirty="0" smtClean="0"/>
              <a:t>The referencing old row as clause can be used to create a variable storing the old value of an updated or deleted row. The referencing new row as clause can be used with updates in addition to inserts.</a:t>
            </a:r>
          </a:p>
          <a:p>
            <a:endParaRPr lang="en-US" dirty="0" smtClean="0"/>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Triggers can be activated before the event (insert, delete, or update) instead of after the event. </a:t>
            </a:r>
            <a:r>
              <a:rPr lang="en-US" b="1" i="1" dirty="0" smtClean="0"/>
              <a:t>Triggers that execute before an event can serve as extra constraints that can prevent invalid updates, inserts, or deletes. Instead of letting the invalid action proceed and cause an error, the trigger might take action to correct the problem so that the update, insert, or delete becomes valid. </a:t>
            </a:r>
          </a:p>
          <a:p>
            <a:endParaRPr lang="en-US" b="1" i="1" dirty="0" smtClean="0"/>
          </a:p>
          <a:p>
            <a:r>
              <a:rPr lang="en-US" b="1" i="1" dirty="0" smtClean="0"/>
              <a:t>For example, if we attempt to insert an instructor into a department whose name does not appear in the department relation, the trigger could insert a tuple into the department relation for that department name before the insertion generates a foreign-key violation. As another example, suppose the value of an inserted grade is blank, presumably to indicate the absence of a grade. We can define a trigger that replaces the value with the null value.</a:t>
            </a:r>
            <a:endParaRPr lang="en-US" altLang="en-US" b="1" i="1" dirty="0">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7F04CF4B-324E-46D0-BA47-9EB6AD9CA672}" type="slidenum">
              <a:rPr lang="en-US" altLang="en-US" sz="1200"/>
              <a:pPr/>
              <a:t>20</a:t>
            </a:fld>
            <a:endParaRPr lang="en-US" altLang="en-US" sz="1200"/>
          </a:p>
        </p:txBody>
      </p:sp>
      <p:sp>
        <p:nvSpPr>
          <p:cNvPr id="98307" name="Rectangle 2"/>
          <p:cNvSpPr>
            <a:spLocks noGrp="1" noRot="1" noChangeAspect="1" noChangeArrowheads="1" noTextEdit="1"/>
          </p:cNvSpPr>
          <p:nvPr>
            <p:ph type="sldImg"/>
          </p:nvPr>
        </p:nvSpPr>
        <p:spPr>
          <a:xfrm>
            <a:off x="1177925" y="695325"/>
            <a:ext cx="4641850" cy="3481388"/>
          </a:xfrm>
          <a:ln/>
        </p:spPr>
      </p:sp>
      <p:sp>
        <p:nvSpPr>
          <p:cNvPr id="98308" name="Rectangle 3"/>
          <p:cNvSpPr>
            <a:spLocks noGrp="1" noChangeArrowheads="1"/>
          </p:cNvSpPr>
          <p:nvPr>
            <p:ph type="body" idx="1"/>
          </p:nvPr>
        </p:nvSpPr>
        <p:spPr>
          <a:xfrm>
            <a:off x="931863" y="4410075"/>
            <a:ext cx="51339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Instead of carrying out an action for each affected row, we can carry out a single action for the entire SQL statement that caused the insert, delete, or update. </a:t>
            </a:r>
          </a:p>
          <a:p>
            <a:r>
              <a:rPr lang="en-US" i="1" dirty="0" smtClean="0"/>
              <a:t>To do so, we use the </a:t>
            </a:r>
            <a:r>
              <a:rPr lang="en-US" b="1" i="1" dirty="0" smtClean="0"/>
              <a:t>for each statement clause </a:t>
            </a:r>
            <a:r>
              <a:rPr lang="en-US" i="1" dirty="0" smtClean="0"/>
              <a:t>instead of the for each row clause. The </a:t>
            </a:r>
            <a:r>
              <a:rPr lang="en-US" b="1" i="1" dirty="0" smtClean="0"/>
              <a:t>clauses referencing old table </a:t>
            </a:r>
            <a:r>
              <a:rPr lang="en-US" i="1" dirty="0" smtClean="0"/>
              <a:t>as </a:t>
            </a:r>
            <a:r>
              <a:rPr lang="en-US" b="1" i="1" dirty="0" smtClean="0"/>
              <a:t>one referencing new table </a:t>
            </a:r>
            <a:r>
              <a:rPr lang="en-US" i="1" dirty="0" smtClean="0"/>
              <a:t>as can then be used to refer to temporary tables (called transition tables) containing all the affected rows. Transition tables cannot be used with before triggers, but they can be used with after triggers, regardless of whether they are statement triggers or row triggers. A single SQL statement can then be used to carry out multiple actions on the basis of the transition tables.</a:t>
            </a:r>
          </a:p>
          <a:p>
            <a:endParaRPr lang="en-US" dirty="0" smtClean="0"/>
          </a:p>
          <a:p>
            <a:endParaRPr lang="en-US" dirty="0" smtClean="0"/>
          </a:p>
          <a:p>
            <a:r>
              <a:rPr lang="en-US" b="1" dirty="0" smtClean="0"/>
              <a:t>Triggers can be disabled or enabled; by default they are enabled when they are created, but they can be disabled by using alter trigger </a:t>
            </a:r>
            <a:r>
              <a:rPr lang="en-US" b="1" dirty="0" err="1" smtClean="0"/>
              <a:t>trigger</a:t>
            </a:r>
            <a:r>
              <a:rPr lang="en-US" b="1" dirty="0" smtClean="0"/>
              <a:t> name disable (some databases use alternative syntax such as disable trigger </a:t>
            </a:r>
            <a:r>
              <a:rPr lang="en-US" b="1" dirty="0" err="1" smtClean="0"/>
              <a:t>trigger_name</a:t>
            </a:r>
            <a:r>
              <a:rPr lang="en-US" b="1" dirty="0" smtClean="0"/>
              <a:t>). A trigger that has been disabled can be enabled again. A trigger can instead be dropped, which removes it permanently, by using the command drop trigger </a:t>
            </a:r>
            <a:r>
              <a:rPr lang="en-US" b="1" dirty="0" err="1" smtClean="0"/>
              <a:t>trigger_name</a:t>
            </a:r>
            <a:endParaRPr lang="en-US" altLang="en-US" b="1" dirty="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A0967849-B9F5-4791-B1A9-03C13B822321}" type="slidenum">
              <a:rPr lang="en-US" altLang="en-US" sz="1200"/>
              <a:pPr/>
              <a:t>21</a:t>
            </a:fld>
            <a:endParaRPr lang="en-US" altLang="en-US" sz="1200"/>
          </a:p>
        </p:txBody>
      </p:sp>
      <p:sp>
        <p:nvSpPr>
          <p:cNvPr id="99331" name="Rectangle 2"/>
          <p:cNvSpPr>
            <a:spLocks noGrp="1" noRot="1" noChangeAspect="1" noChangeArrowheads="1" noTextEdit="1"/>
          </p:cNvSpPr>
          <p:nvPr>
            <p:ph type="sldImg"/>
          </p:nvPr>
        </p:nvSpPr>
        <p:spPr>
          <a:xfrm>
            <a:off x="1177925" y="695325"/>
            <a:ext cx="4641850" cy="3481388"/>
          </a:xfrm>
          <a:ln/>
        </p:spPr>
      </p:sp>
      <p:sp>
        <p:nvSpPr>
          <p:cNvPr id="99332" name="Rectangle 3"/>
          <p:cNvSpPr>
            <a:spLocks noGrp="1" noChangeArrowheads="1"/>
          </p:cNvSpPr>
          <p:nvPr>
            <p:ph type="body" idx="1"/>
          </p:nvPr>
        </p:nvSpPr>
        <p:spPr>
          <a:xfrm>
            <a:off x="931863" y="4410075"/>
            <a:ext cx="51339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There are many good uses for triggers, </a:t>
            </a:r>
            <a:r>
              <a:rPr lang="en-US" dirty="0" smtClean="0"/>
              <a:t>such as those we have just seen in Section 5.3.2, but some uses are best handled by alternative techniques. </a:t>
            </a:r>
            <a:r>
              <a:rPr lang="en-US" b="1" dirty="0" smtClean="0"/>
              <a:t>For example, we could implement the on delete cascade feature of a foreign-key constraint by using a trigger instead of using the cascade feature. Not only would this be more work to implement, but also it would be much harder for a database user to understand the set of constraints implemented in the database.</a:t>
            </a:r>
          </a:p>
          <a:p>
            <a:endParaRPr lang="en-US" altLang="en-US" dirty="0" smtClean="0">
              <a:latin typeface="Times New Roman" panose="02020603050405020304" pitchFamily="18" charset="0"/>
            </a:endParaRPr>
          </a:p>
          <a:p>
            <a:r>
              <a:rPr lang="en-US" b="1" dirty="0" smtClean="0"/>
              <a:t>As another example, triggers can be used to maintain materialized views. For instance, if we wished to support very fast access to the total number of students registered for each course section, we could do this by creating a relation</a:t>
            </a:r>
          </a:p>
          <a:p>
            <a:endParaRPr lang="en-US" altLang="en-US" dirty="0" smtClean="0">
              <a:latin typeface="Times New Roman" panose="02020603050405020304" pitchFamily="18" charset="0"/>
            </a:endParaRPr>
          </a:p>
          <a:p>
            <a:r>
              <a:rPr lang="en-US" b="1" dirty="0" smtClean="0"/>
              <a:t>However, many database systems now support materialized views, which are automatically maintained by the database system (see Section 4.2.3). As a result, there is no need to write trigger code for maintaining such materialized views.</a:t>
            </a:r>
          </a:p>
          <a:p>
            <a:endParaRPr lang="en-US" altLang="en-US" dirty="0" smtClean="0">
              <a:latin typeface="Times New Roman" panose="02020603050405020304" pitchFamily="18" charset="0"/>
            </a:endParaRPr>
          </a:p>
          <a:p>
            <a:r>
              <a:rPr lang="en-US" b="1" dirty="0" smtClean="0"/>
              <a:t>Triggers have been used for maintaining copies, or replicas, of databases. A collection of triggers on insert, delete, or update can be created on each relation to record the changes in relations called change or delta relations. A separate process copies over the changes to the replica of the database. Modern database systems, however, provide built-in facilities for database replication, making triggers unnecessary for replication in most cases.</a:t>
            </a:r>
          </a:p>
          <a:p>
            <a:endParaRPr lang="en-US" dirty="0" smtClean="0"/>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8667AE9D-16D3-4C16-919A-75B127D37AD1}" type="slidenum">
              <a:rPr lang="en-US" altLang="en-US" sz="1200"/>
              <a:pPr/>
              <a:t>22</a:t>
            </a:fld>
            <a:endParaRPr lang="en-US" altLang="en-US" sz="1200"/>
          </a:p>
        </p:txBody>
      </p:sp>
      <p:sp>
        <p:nvSpPr>
          <p:cNvPr id="100355" name="Rectangle 2"/>
          <p:cNvSpPr>
            <a:spLocks noGrp="1" noRot="1" noChangeAspect="1" noChangeArrowheads="1" noTextEdit="1"/>
          </p:cNvSpPr>
          <p:nvPr>
            <p:ph type="sldImg"/>
          </p:nvPr>
        </p:nvSpPr>
        <p:spPr>
          <a:xfrm>
            <a:off x="1177925" y="695325"/>
            <a:ext cx="4641850" cy="3481388"/>
          </a:xfrm>
          <a:ln/>
        </p:spPr>
      </p:sp>
      <p:sp>
        <p:nvSpPr>
          <p:cNvPr id="100356" name="Rectangle 3"/>
          <p:cNvSpPr>
            <a:spLocks noGrp="1" noChangeArrowheads="1"/>
          </p:cNvSpPr>
          <p:nvPr>
            <p:ph type="body" idx="1"/>
          </p:nvPr>
        </p:nvSpPr>
        <p:spPr>
          <a:xfrm>
            <a:off x="931863" y="4410075"/>
            <a:ext cx="51339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Another problem with triggers lies in unintended execution of the triggered action when data are loaded from a backup copy,5 or when database updates at a site are replicated on a backup site. In such cases, the triggered action has already been executed, and typically it should not be executed again. When loading data, triggers can be disabled explicitly. </a:t>
            </a:r>
          </a:p>
          <a:p>
            <a:endParaRPr lang="en-US" b="1" dirty="0" smtClean="0"/>
          </a:p>
          <a:p>
            <a:r>
              <a:rPr lang="en-US" b="1" dirty="0" smtClean="0"/>
              <a:t>For backup replica systems that may have to take over from the primary system, triggers would have to be disabled initially and enabled when the backup site takes over processing from the primary system. </a:t>
            </a:r>
            <a:r>
              <a:rPr lang="en-US" b="1" i="1" dirty="0" smtClean="0"/>
              <a:t>As an alternative, some database systems allow triggers to be specified as not for replication, which ensures that they are not executed on the backup site during database replication. </a:t>
            </a:r>
          </a:p>
          <a:p>
            <a:r>
              <a:rPr lang="en-US" b="1" dirty="0" smtClean="0"/>
              <a:t>Other database systems provide a system variable that denotes that the database is a replica on which database actions are being replayed; the trigger body should check this variable and exit if it is true. Both solutions remove the need for explicit disabling and enabling of triggers.</a:t>
            </a:r>
          </a:p>
          <a:p>
            <a:endParaRPr lang="en-US" altLang="en-US" dirty="0" smtClean="0">
              <a:latin typeface="Times New Roman" panose="02020603050405020304" pitchFamily="18" charset="0"/>
            </a:endParaRPr>
          </a:p>
          <a:p>
            <a:r>
              <a:rPr lang="en-US" b="1" dirty="0" smtClean="0"/>
              <a:t>Triggers should be written with great care, since a trigger error detected at runtime causes the failure of the action statement that set off the trigger. Furthermore, the action of one trigger can set off another trigger. </a:t>
            </a:r>
            <a:r>
              <a:rPr lang="en-US" dirty="0" smtClean="0"/>
              <a:t>In the worst case, this could even lead to an infinite chain of triggering. </a:t>
            </a:r>
          </a:p>
          <a:p>
            <a:endParaRPr lang="en-US" dirty="0" smtClean="0"/>
          </a:p>
          <a:p>
            <a:r>
              <a:rPr lang="en-US" b="1" i="1" dirty="0" smtClean="0"/>
              <a:t>For example, suppose an insert trigger on a relation has an action that causes another (new) insert on the same relation. The insert action then triggers yet another insert action, and so on ad infinitum. Some database systems limit the length of such chains of triggers (for example, to 16 or 32) and consider longer chains of triggering an error. Other systems flag as an error any trigger that attempts to reference the relation whose modification caused the trigger to execute in the first </a:t>
            </a:r>
            <a:r>
              <a:rPr lang="en-US" dirty="0" smtClean="0"/>
              <a:t>place.</a:t>
            </a:r>
            <a:endParaRPr lang="en-US" altLang="en-US" dirty="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B6F0339C-7A5B-4860-8D42-52F584D09780}" type="slidenum">
              <a:rPr lang="en-US" altLang="en-US" sz="1200"/>
              <a:pPr/>
              <a:t>23</a:t>
            </a:fld>
            <a:endParaRPr lang="en-US" altLang="en-US" sz="120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3516BC0A-7AF6-411D-BE71-BCBBBCBA9517}" type="slidenum">
              <a:rPr lang="en-US" altLang="en-US" sz="1200"/>
              <a:pPr/>
              <a:t>24</a:t>
            </a:fld>
            <a:endParaRPr lang="en-US" altLang="en-US" sz="120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The SQL standard supports a limited form of recursion, using the with recursive clause, where a view (or temporary view) is expressed in terms of itself. Recursive queries can be used, for example, to express transitive closure concisely. Recall that the with clause is used to define a temporary view whose definition is available only to the query in which it is defined. The additional keyword recursive specifies that the view is recursive.</a:t>
            </a:r>
          </a:p>
          <a:p>
            <a:endParaRPr lang="en-US" altLang="en-US" dirty="0" smtClean="0">
              <a:latin typeface="Times New Roman" panose="02020603050405020304" pitchFamily="18" charset="0"/>
            </a:endParaRPr>
          </a:p>
          <a:p>
            <a:r>
              <a:rPr lang="en-US" dirty="0" smtClean="0"/>
              <a:t>Any recursive view must be defined as the union8 of two subqueries: a base query that is </a:t>
            </a:r>
            <a:r>
              <a:rPr lang="en-US" dirty="0" err="1" smtClean="0"/>
              <a:t>nonrecursive</a:t>
            </a:r>
            <a:r>
              <a:rPr lang="en-US" dirty="0" smtClean="0"/>
              <a:t> and a recursive query that uses the recursive view. In the example in Figure 5.16, the base query is the select on </a:t>
            </a:r>
            <a:r>
              <a:rPr lang="en-US" dirty="0" err="1" smtClean="0"/>
              <a:t>prereq</a:t>
            </a:r>
            <a:r>
              <a:rPr lang="en-US" dirty="0" smtClean="0"/>
              <a:t> while the recursive query computes the join of </a:t>
            </a:r>
            <a:r>
              <a:rPr lang="en-US" dirty="0" err="1" smtClean="0"/>
              <a:t>prereq</a:t>
            </a:r>
            <a:r>
              <a:rPr lang="en-US" dirty="0" smtClean="0"/>
              <a:t> and </a:t>
            </a:r>
            <a:r>
              <a:rPr lang="en-US" dirty="0" err="1" smtClean="0"/>
              <a:t>rec_prereq</a:t>
            </a:r>
            <a:r>
              <a:rPr lang="en-US" dirty="0" smtClean="0"/>
              <a:t>.</a:t>
            </a:r>
          </a:p>
          <a:p>
            <a:endParaRPr lang="en-US" altLang="en-US" dirty="0">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10C6C070-221F-4423-9214-3514A79EC7A3}" type="slidenum">
              <a:rPr lang="en-US" altLang="en-US" sz="1200"/>
              <a:pPr/>
              <a:t>25</a:t>
            </a:fld>
            <a:endParaRPr lang="en-US" altLang="en-US" sz="120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Any recursive view must be defined as the union8 of two subqueries: a base query that is </a:t>
            </a:r>
            <a:r>
              <a:rPr lang="en-US" dirty="0" err="1" smtClean="0"/>
              <a:t>nonrecursive</a:t>
            </a:r>
            <a:r>
              <a:rPr lang="en-US" dirty="0" smtClean="0"/>
              <a:t> and a recursive query that uses the recursive view.</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26</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dirty="0" smtClean="0"/>
              <a:t>There are some restrictions on the recursive query in a recursive view; specifically, the query must be monotonic, that is, its result on a view relation instance V1 must be a superset of its result on a view relation instance V2 if V1 is a superset of V2. Intuitively, if more tuples are added to the view relation, the recursive query must return at least the same set of tuples as before, and possibly return additional tuples.</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FAAEAC40-D26E-4DE7-A131-BE43F6F065EA}" type="slidenum">
              <a:rPr lang="en-US" altLang="en-US" sz="1200"/>
              <a:pPr/>
              <a:t>27</a:t>
            </a:fld>
            <a:endParaRPr lang="en-US" altLang="en-US" sz="120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a:extLst>
              <a:ext uri="{FF2B5EF4-FFF2-40B4-BE49-F238E27FC236}">
                <a16:creationId xmlns:a16="http://schemas.microsoft.com/office/drawing/2014/main" id="{1D77FF02-3555-47C0-A739-7773DB2495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29950C1B-400B-4121-9FED-A7A42814D2A9}" type="slidenum">
              <a:rPr lang="en-US" altLang="en-US" sz="1200"/>
              <a:pPr/>
              <a:t>28</a:t>
            </a:fld>
            <a:endParaRPr lang="en-US" altLang="en-US" sz="1200"/>
          </a:p>
        </p:txBody>
      </p:sp>
      <p:sp>
        <p:nvSpPr>
          <p:cNvPr id="135171" name="Rectangle 2">
            <a:extLst>
              <a:ext uri="{FF2B5EF4-FFF2-40B4-BE49-F238E27FC236}">
                <a16:creationId xmlns:a16="http://schemas.microsoft.com/office/drawing/2014/main" id="{DF4FB788-3F7E-4D41-B04A-400256640C9D}"/>
              </a:ext>
            </a:extLst>
          </p:cNvPr>
          <p:cNvSpPr>
            <a:spLocks noGrp="1" noRot="1" noChangeAspect="1" noChangeArrowheads="1" noTextEdit="1"/>
          </p:cNvSpPr>
          <p:nvPr>
            <p:ph type="sldImg"/>
          </p:nvPr>
        </p:nvSpPr>
        <p:spPr>
          <a:ln/>
        </p:spPr>
      </p:sp>
      <p:sp>
        <p:nvSpPr>
          <p:cNvPr id="135172" name="Rectangle 3">
            <a:extLst>
              <a:ext uri="{FF2B5EF4-FFF2-40B4-BE49-F238E27FC236}">
                <a16:creationId xmlns:a16="http://schemas.microsoft.com/office/drawing/2014/main" id="{AA17D98E-B593-469A-9179-1066E959B5CE}"/>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A25BB261-D773-4836-B381-7A051175F570}"/>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B4760F52-45E1-4E1D-A744-2F2290DE90CC}"/>
              </a:ext>
            </a:extLst>
          </p:cNvPr>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8"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0487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768350" y="1093788"/>
            <a:ext cx="7707313" cy="4903787"/>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24371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336F2EBE-FF5F-4F9D-A3C2-A59A92D7809D}"/>
              </a:ext>
            </a:extLst>
          </p:cNvPr>
          <p:cNvSpPr>
            <a:spLocks noGrp="1" noChangeArrowheads="1"/>
          </p:cNvSpPr>
          <p:nvPr>
            <p:ph type="sldNum" sz="quarter" idx="10"/>
          </p:nvPr>
        </p:nvSpPr>
        <p:spPr>
          <a:ln/>
        </p:spPr>
        <p:txBody>
          <a:bodyPr/>
          <a:lstStyle>
            <a:lvl1pPr>
              <a:defRPr/>
            </a:lvl1pPr>
          </a:lstStyle>
          <a:p>
            <a:pPr>
              <a:defRPr/>
            </a:pPr>
            <a:fld id="{547F3CAF-32BF-49A6-93F1-59C9E4B7C957}" type="slidenum">
              <a:rPr lang="en-US" altLang="en-US"/>
              <a:pPr>
                <a:defRPr/>
              </a:pPr>
              <a:t>‹#›</a:t>
            </a:fld>
            <a:endParaRPr lang="en-US" altLang="en-US"/>
          </a:p>
        </p:txBody>
      </p:sp>
    </p:spTree>
    <p:extLst>
      <p:ext uri="{BB962C8B-B14F-4D97-AF65-F5344CB8AC3E}">
        <p14:creationId xmlns:p14="http://schemas.microsoft.com/office/powerpoint/2010/main" val="296070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A6D4A7F0-1138-4608-80AA-D0A6F5D41187}"/>
              </a:ext>
            </a:extLst>
          </p:cNvPr>
          <p:cNvSpPr>
            <a:spLocks noGrp="1" noChangeArrowheads="1"/>
          </p:cNvSpPr>
          <p:nvPr>
            <p:ph type="sldNum" sz="quarter" idx="10"/>
          </p:nvPr>
        </p:nvSpPr>
        <p:spPr>
          <a:ln/>
        </p:spPr>
        <p:txBody>
          <a:bodyPr/>
          <a:lstStyle>
            <a:lvl1pPr>
              <a:defRPr/>
            </a:lvl1pPr>
          </a:lstStyle>
          <a:p>
            <a:pPr>
              <a:defRPr/>
            </a:pPr>
            <a:fld id="{00852D5F-D37B-4E9D-98AD-511A1ABBD6A9}" type="slidenum">
              <a:rPr lang="en-US" altLang="en-US"/>
              <a:pPr>
                <a:defRPr/>
              </a:pPr>
              <a:t>‹#›</a:t>
            </a:fld>
            <a:endParaRPr lang="en-US" altLang="en-US"/>
          </a:p>
        </p:txBody>
      </p:sp>
    </p:spTree>
    <p:extLst>
      <p:ext uri="{BB962C8B-B14F-4D97-AF65-F5344CB8AC3E}">
        <p14:creationId xmlns:p14="http://schemas.microsoft.com/office/powerpoint/2010/main" val="4110802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56DFCFB3-6710-4DD2-8404-7E55A930F352}"/>
              </a:ext>
            </a:extLst>
          </p:cNvPr>
          <p:cNvSpPr>
            <a:spLocks noGrp="1" noChangeArrowheads="1"/>
          </p:cNvSpPr>
          <p:nvPr>
            <p:ph type="sldNum" sz="quarter" idx="10"/>
          </p:nvPr>
        </p:nvSpPr>
        <p:spPr>
          <a:ln/>
        </p:spPr>
        <p:txBody>
          <a:bodyPr/>
          <a:lstStyle>
            <a:lvl1pPr>
              <a:defRPr/>
            </a:lvl1pPr>
          </a:lstStyle>
          <a:p>
            <a:pPr>
              <a:defRPr/>
            </a:pPr>
            <a:fld id="{C0191CCC-CC48-429B-87C9-7123B48E52D4}" type="slidenum">
              <a:rPr lang="en-US" altLang="en-US"/>
              <a:pPr>
                <a:defRPr/>
              </a:pPr>
              <a:t>‹#›</a:t>
            </a:fld>
            <a:endParaRPr lang="en-US" altLang="en-US"/>
          </a:p>
        </p:txBody>
      </p:sp>
    </p:spTree>
    <p:extLst>
      <p:ext uri="{BB962C8B-B14F-4D97-AF65-F5344CB8AC3E}">
        <p14:creationId xmlns:p14="http://schemas.microsoft.com/office/powerpoint/2010/main" val="2519042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BB431453-8F56-47C4-89BA-3EDF3CD092BA}"/>
              </a:ext>
            </a:extLst>
          </p:cNvPr>
          <p:cNvSpPr>
            <a:spLocks noGrp="1" noChangeArrowheads="1"/>
          </p:cNvSpPr>
          <p:nvPr>
            <p:ph type="sldNum" sz="quarter" idx="10"/>
          </p:nvPr>
        </p:nvSpPr>
        <p:spPr>
          <a:ln/>
        </p:spPr>
        <p:txBody>
          <a:bodyPr/>
          <a:lstStyle>
            <a:lvl1pPr>
              <a:defRPr/>
            </a:lvl1pPr>
          </a:lstStyle>
          <a:p>
            <a:pPr>
              <a:defRPr/>
            </a:pPr>
            <a:fld id="{5E9D92F0-DB25-4E6B-A10D-A7937AC7A365}" type="slidenum">
              <a:rPr lang="en-US" altLang="en-US"/>
              <a:pPr>
                <a:defRPr/>
              </a:pPr>
              <a:t>‹#›</a:t>
            </a:fld>
            <a:endParaRPr lang="en-US" altLang="en-US"/>
          </a:p>
        </p:txBody>
      </p:sp>
    </p:spTree>
    <p:extLst>
      <p:ext uri="{BB962C8B-B14F-4D97-AF65-F5344CB8AC3E}">
        <p14:creationId xmlns:p14="http://schemas.microsoft.com/office/powerpoint/2010/main" val="383600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BE8099E-18A5-481A-9697-216087BE0676}"/>
              </a:ext>
            </a:extLst>
          </p:cNvPr>
          <p:cNvSpPr>
            <a:spLocks noGrp="1" noChangeArrowheads="1"/>
          </p:cNvSpPr>
          <p:nvPr>
            <p:ph type="sldNum" sz="quarter" idx="10"/>
          </p:nvPr>
        </p:nvSpPr>
        <p:spPr>
          <a:ln/>
        </p:spPr>
        <p:txBody>
          <a:bodyPr/>
          <a:lstStyle>
            <a:lvl1pPr>
              <a:defRPr/>
            </a:lvl1pPr>
          </a:lstStyle>
          <a:p>
            <a:pPr>
              <a:defRPr/>
            </a:pPr>
            <a:fld id="{0E555C8E-F740-4D28-8DA3-D7B8E0F6F578}" type="slidenum">
              <a:rPr lang="en-US" altLang="en-US"/>
              <a:pPr>
                <a:defRPr/>
              </a:pPr>
              <a:t>‹#›</a:t>
            </a:fld>
            <a:endParaRPr lang="en-US" altLang="en-US"/>
          </a:p>
        </p:txBody>
      </p:sp>
    </p:spTree>
    <p:extLst>
      <p:ext uri="{BB962C8B-B14F-4D97-AF65-F5344CB8AC3E}">
        <p14:creationId xmlns:p14="http://schemas.microsoft.com/office/powerpoint/2010/main" val="2432147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7E2C57D-1205-411A-BA90-DF60A810F6DB}"/>
              </a:ext>
            </a:extLst>
          </p:cNvPr>
          <p:cNvSpPr>
            <a:spLocks noGrp="1" noChangeArrowheads="1"/>
          </p:cNvSpPr>
          <p:nvPr>
            <p:ph type="sldNum" sz="quarter" idx="10"/>
          </p:nvPr>
        </p:nvSpPr>
        <p:spPr>
          <a:ln/>
        </p:spPr>
        <p:txBody>
          <a:bodyPr/>
          <a:lstStyle>
            <a:lvl1pPr>
              <a:defRPr/>
            </a:lvl1pPr>
          </a:lstStyle>
          <a:p>
            <a:pPr>
              <a:defRPr/>
            </a:pPr>
            <a:fld id="{2BBBE5B0-1186-4DAB-9E97-511F15F5C63C}" type="slidenum">
              <a:rPr lang="en-US" altLang="en-US"/>
              <a:pPr>
                <a:defRPr/>
              </a:pPr>
              <a:t>‹#›</a:t>
            </a:fld>
            <a:endParaRPr lang="en-US" altLang="en-US"/>
          </a:p>
        </p:txBody>
      </p:sp>
    </p:spTree>
    <p:extLst>
      <p:ext uri="{BB962C8B-B14F-4D97-AF65-F5344CB8AC3E}">
        <p14:creationId xmlns:p14="http://schemas.microsoft.com/office/powerpoint/2010/main" val="134880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9EB6957-06EE-46F8-A450-3DB417A1F8A6}"/>
              </a:ext>
            </a:extLst>
          </p:cNvPr>
          <p:cNvSpPr>
            <a:spLocks noGrp="1" noChangeArrowheads="1"/>
          </p:cNvSpPr>
          <p:nvPr>
            <p:ph type="sldNum" sz="quarter" idx="10"/>
          </p:nvPr>
        </p:nvSpPr>
        <p:spPr>
          <a:ln/>
        </p:spPr>
        <p:txBody>
          <a:bodyPr/>
          <a:lstStyle>
            <a:lvl1pPr>
              <a:defRPr/>
            </a:lvl1pPr>
          </a:lstStyle>
          <a:p>
            <a:pPr>
              <a:defRPr/>
            </a:pPr>
            <a:fld id="{F291DB2E-7BC4-4C22-ACAE-0B8B3F0C5147}" type="slidenum">
              <a:rPr lang="en-US" altLang="en-US"/>
              <a:pPr>
                <a:defRPr/>
              </a:pPr>
              <a:t>‹#›</a:t>
            </a:fld>
            <a:endParaRPr lang="en-US" altLang="en-US"/>
          </a:p>
        </p:txBody>
      </p:sp>
    </p:spTree>
    <p:extLst>
      <p:ext uri="{BB962C8B-B14F-4D97-AF65-F5344CB8AC3E}">
        <p14:creationId xmlns:p14="http://schemas.microsoft.com/office/powerpoint/2010/main" val="2481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5C950AD-734E-45C7-8042-5795FFAD6750}"/>
              </a:ext>
            </a:extLst>
          </p:cNvPr>
          <p:cNvSpPr>
            <a:spLocks noGrp="1" noChangeArrowheads="1"/>
          </p:cNvSpPr>
          <p:nvPr>
            <p:ph type="sldNum" sz="quarter" idx="10"/>
          </p:nvPr>
        </p:nvSpPr>
        <p:spPr>
          <a:ln/>
        </p:spPr>
        <p:txBody>
          <a:bodyPr/>
          <a:lstStyle>
            <a:lvl1pPr>
              <a:defRPr/>
            </a:lvl1pPr>
          </a:lstStyle>
          <a:p>
            <a:pPr>
              <a:defRPr/>
            </a:pPr>
            <a:fld id="{D7E5E31B-1343-4510-8DCD-65E7B6544692}" type="slidenum">
              <a:rPr lang="en-US" altLang="en-US"/>
              <a:pPr>
                <a:defRPr/>
              </a:pPr>
              <a:t>‹#›</a:t>
            </a:fld>
            <a:endParaRPr lang="en-US" altLang="en-US"/>
          </a:p>
        </p:txBody>
      </p:sp>
    </p:spTree>
    <p:extLst>
      <p:ext uri="{BB962C8B-B14F-4D97-AF65-F5344CB8AC3E}">
        <p14:creationId xmlns:p14="http://schemas.microsoft.com/office/powerpoint/2010/main" val="176304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C7A7A2CD-B5B0-4CF6-8038-339B0E99E366}"/>
              </a:ext>
            </a:extLst>
          </p:cNvPr>
          <p:cNvSpPr>
            <a:spLocks noGrp="1" noChangeArrowheads="1"/>
          </p:cNvSpPr>
          <p:nvPr>
            <p:ph type="sldNum" sz="quarter" idx="10"/>
          </p:nvPr>
        </p:nvSpPr>
        <p:spPr>
          <a:ln/>
        </p:spPr>
        <p:txBody>
          <a:bodyPr/>
          <a:lstStyle>
            <a:lvl1pPr>
              <a:defRPr/>
            </a:lvl1pPr>
          </a:lstStyle>
          <a:p>
            <a:pPr>
              <a:defRPr/>
            </a:pPr>
            <a:fld id="{833574B0-C055-4E38-82A9-667A1DF1F8D0}" type="slidenum">
              <a:rPr lang="en-US" altLang="en-US"/>
              <a:pPr>
                <a:defRPr/>
              </a:pPr>
              <a:t>‹#›</a:t>
            </a:fld>
            <a:endParaRPr lang="en-US" altLang="en-US"/>
          </a:p>
        </p:txBody>
      </p:sp>
    </p:spTree>
    <p:extLst>
      <p:ext uri="{BB962C8B-B14F-4D97-AF65-F5344CB8AC3E}">
        <p14:creationId xmlns:p14="http://schemas.microsoft.com/office/powerpoint/2010/main" val="2894649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A9796C49-4A73-449B-A170-DFFCD45313DF}"/>
              </a:ext>
            </a:extLst>
          </p:cNvPr>
          <p:cNvSpPr>
            <a:spLocks noGrp="1" noChangeArrowheads="1"/>
          </p:cNvSpPr>
          <p:nvPr>
            <p:ph type="sldNum" sz="quarter" idx="10"/>
          </p:nvPr>
        </p:nvSpPr>
        <p:spPr>
          <a:ln/>
        </p:spPr>
        <p:txBody>
          <a:bodyPr/>
          <a:lstStyle>
            <a:lvl1pPr>
              <a:defRPr/>
            </a:lvl1pPr>
          </a:lstStyle>
          <a:p>
            <a:pPr>
              <a:defRPr/>
            </a:pPr>
            <a:fld id="{300D9E99-A0D8-4F2F-B04A-331DF655FEAB}" type="slidenum">
              <a:rPr lang="en-US" altLang="en-US"/>
              <a:pPr>
                <a:defRPr/>
              </a:pPr>
              <a:t>‹#›</a:t>
            </a:fld>
            <a:endParaRPr lang="en-US" altLang="en-US"/>
          </a:p>
        </p:txBody>
      </p:sp>
    </p:spTree>
    <p:extLst>
      <p:ext uri="{BB962C8B-B14F-4D97-AF65-F5344CB8AC3E}">
        <p14:creationId xmlns:p14="http://schemas.microsoft.com/office/powerpoint/2010/main" val="242282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6112478-D9B7-4D0D-ADE5-62D5EFAAFBBF}"/>
              </a:ext>
            </a:extLst>
          </p:cNvPr>
          <p:cNvSpPr>
            <a:spLocks noGrp="1" noChangeArrowheads="1"/>
          </p:cNvSpPr>
          <p:nvPr>
            <p:ph type="body" idx="1"/>
          </p:nvPr>
        </p:nvSpPr>
        <p:spPr bwMode="auto">
          <a:xfrm>
            <a:off x="747558" y="1093788"/>
            <a:ext cx="772810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pPr>
                <a:defRPr/>
              </a:pPr>
              <a:t>‹#›</a:t>
            </a:fld>
            <a:endParaRPr lang="en-US" altLang="en-US" dirty="0"/>
          </a:p>
        </p:txBody>
      </p:sp>
      <p:sp>
        <p:nvSpPr>
          <p:cNvPr id="1028" name="Text Box 4">
            <a:extLst>
              <a:ext uri="{FF2B5EF4-FFF2-40B4-BE49-F238E27FC236}">
                <a16:creationId xmlns:a16="http://schemas.microsoft.com/office/drawing/2014/main" id="{D0CFC8B2-2C6C-4CA4-9AFC-14298F0DD4EC}"/>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squar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userDrawn="1"/>
        </p:nvSpPr>
        <p:spPr bwMode="auto">
          <a:xfrm>
            <a:off x="4479984" y="6613525"/>
            <a:ext cx="447559"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5.</a:t>
            </a:r>
            <a:fld id="{669DE52E-05EC-4487-BE79-3F9A6A9F8797}"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362D880-06BD-4D02-876C-3226AC8E6F10}"/>
              </a:ext>
            </a:extLst>
          </p:cNvPr>
          <p:cNvSpPr>
            <a:spLocks/>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8" descr="Cover-6Ed"/>
          <p:cNvPicPr>
            <a:picLocks noChangeAspect="1" noChangeArrowheads="1"/>
          </p:cNvPicPr>
          <p:nvPr userDrawn="1"/>
        </p:nvPicPr>
        <p:blipFill>
          <a:blip r:embed="rId14"/>
          <a:stretch>
            <a:fillRect/>
          </a:stretch>
        </p:blipFill>
        <p:spPr bwMode="auto">
          <a:xfrm>
            <a:off x="5546" y="0"/>
            <a:ext cx="742012" cy="9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61"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95682" name="Rectangle 2"/>
          <p:cNvSpPr>
            <a:spLocks noGrp="1" noChangeArrowheads="1"/>
          </p:cNvSpPr>
          <p:nvPr>
            <p:ph type="ctrTitle"/>
          </p:nvPr>
        </p:nvSpPr>
        <p:spPr/>
        <p:txBody>
          <a:bodyPr/>
          <a:lstStyle/>
          <a:p>
            <a:pPr>
              <a:defRPr/>
            </a:pPr>
            <a:r>
              <a:rPr lang="en-US" dirty="0">
                <a:ea typeface="+mj-ea"/>
              </a:rPr>
              <a:t>Chapter 5: Advanced SQL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Outline</a:t>
            </a:r>
          </a:p>
        </p:txBody>
      </p:sp>
      <p:sp>
        <p:nvSpPr>
          <p:cNvPr id="5123" name="Rectangle 3"/>
          <p:cNvSpPr>
            <a:spLocks noGrp="1" noChangeArrowheads="1"/>
          </p:cNvSpPr>
          <p:nvPr>
            <p:ph type="body" idx="1"/>
          </p:nvPr>
        </p:nvSpPr>
        <p:spPr>
          <a:xfrm>
            <a:off x="768351" y="1149351"/>
            <a:ext cx="7205218" cy="3995674"/>
          </a:xfrm>
        </p:spPr>
        <p:txBody>
          <a:bodyPr/>
          <a:lstStyle/>
          <a:p>
            <a:endParaRPr lang="en-US" altLang="en-US" sz="1700" dirty="0"/>
          </a:p>
          <a:p>
            <a:r>
              <a:rPr lang="en-US" altLang="en-US" sz="1700" dirty="0"/>
              <a:t>Functions and Procedures</a:t>
            </a:r>
          </a:p>
          <a:p>
            <a:r>
              <a:rPr lang="en-US" altLang="en-US" sz="1700" dirty="0"/>
              <a:t>Triggers</a:t>
            </a:r>
          </a:p>
          <a:p>
            <a:r>
              <a:rPr lang="en-US" altLang="en-US" sz="1700" dirty="0"/>
              <a:t>Recursive Queries</a:t>
            </a:r>
          </a:p>
          <a:p>
            <a:r>
              <a:rPr lang="en-US" altLang="en-US" sz="1700" dirty="0"/>
              <a:t>Advanced Aggregation Features</a:t>
            </a:r>
          </a:p>
          <a:p>
            <a:endParaRPr lang="en-US" altLang="en-US" dirty="0"/>
          </a:p>
        </p:txBody>
      </p:sp>
      <p:sp>
        <p:nvSpPr>
          <p:cNvPr id="5124" name="Rectangle 4"/>
          <p:cNvSpPr>
            <a:spLocks noChangeArrowheads="1"/>
          </p:cNvSpPr>
          <p:nvPr/>
        </p:nvSpPr>
        <p:spPr bwMode="auto">
          <a:xfrm>
            <a:off x="1435100" y="-763588"/>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Rectangle 3"/>
          <p:cNvSpPr>
            <a:spLocks noGrp="1" noChangeArrowheads="1"/>
          </p:cNvSpPr>
          <p:nvPr>
            <p:ph type="body" idx="1"/>
          </p:nvPr>
        </p:nvSpPr>
        <p:spPr>
          <a:xfrm>
            <a:off x="2305879" y="2664651"/>
            <a:ext cx="5671930" cy="1430271"/>
          </a:xfrm>
        </p:spPr>
        <p:txBody>
          <a:bodyPr/>
          <a:lstStyle/>
          <a:p>
            <a:pPr>
              <a:buFont typeface="Monotype Sorts" charset="2"/>
              <a:buNone/>
              <a:defRPr/>
            </a:pPr>
            <a:r>
              <a:rPr lang="en-US" altLang="en-US" sz="3200" b="1" dirty="0">
                <a:solidFill>
                  <a:srgbClr val="002060"/>
                </a:solidFill>
                <a:latin typeface="+mj-lt"/>
              </a:rPr>
              <a:t>Functions and Procedures</a:t>
            </a:r>
          </a:p>
        </p:txBody>
      </p:sp>
      <p:sp>
        <p:nvSpPr>
          <p:cNvPr id="54275" name="Rectangle 4"/>
          <p:cNvSpPr>
            <a:spLocks noChangeArrowheads="1"/>
          </p:cNvSpPr>
          <p:nvPr/>
        </p:nvSpPr>
        <p:spPr bwMode="auto">
          <a:xfrm>
            <a:off x="1435100" y="-763588"/>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Functions and Procedures</a:t>
            </a:r>
          </a:p>
        </p:txBody>
      </p:sp>
      <p:sp>
        <p:nvSpPr>
          <p:cNvPr id="34819" name="Rectangle 3"/>
          <p:cNvSpPr>
            <a:spLocks noGrp="1" noChangeArrowheads="1"/>
          </p:cNvSpPr>
          <p:nvPr>
            <p:ph type="body" idx="1"/>
          </p:nvPr>
        </p:nvSpPr>
        <p:spPr>
          <a:xfrm>
            <a:off x="768350" y="1135063"/>
            <a:ext cx="7692069" cy="4876800"/>
          </a:xfrm>
        </p:spPr>
        <p:txBody>
          <a:bodyPr/>
          <a:lstStyle/>
          <a:p>
            <a:r>
              <a:rPr lang="en-US" altLang="en-US" dirty="0"/>
              <a:t>Functions and procedures allow  “business logic”  to be stored in the database and executed from SQL statements.</a:t>
            </a:r>
          </a:p>
          <a:p>
            <a:r>
              <a:rPr lang="en-US" altLang="en-US" dirty="0"/>
              <a:t>These can be defined either by the procedural component of SQL or  by an external programming language such as Java, C, or C++.</a:t>
            </a:r>
          </a:p>
          <a:p>
            <a:r>
              <a:rPr lang="en-US" altLang="en-US" dirty="0"/>
              <a:t>The syntax we present here is defined by the SQL standard.</a:t>
            </a:r>
          </a:p>
          <a:p>
            <a:pPr lvl="1"/>
            <a:r>
              <a:rPr lang="en-US" altLang="en-US" dirty="0">
                <a:ea typeface="ＭＳ Ｐゴシック" panose="020B0600070205080204" pitchFamily="34" charset="-128"/>
              </a:rPr>
              <a:t>Most databases implement nonstandard versions of this syntax.</a:t>
            </a:r>
          </a:p>
          <a:p>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1234"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Declaring SQL Functions</a:t>
            </a:r>
          </a:p>
        </p:txBody>
      </p:sp>
      <p:sp>
        <p:nvSpPr>
          <p:cNvPr id="35843" name="Rectangle 3"/>
          <p:cNvSpPr>
            <a:spLocks noGrp="1" noChangeArrowheads="1"/>
          </p:cNvSpPr>
          <p:nvPr>
            <p:ph type="body" idx="1"/>
          </p:nvPr>
        </p:nvSpPr>
        <p:spPr>
          <a:xfrm>
            <a:off x="768350" y="1073150"/>
            <a:ext cx="7775575" cy="4903788"/>
          </a:xfrm>
        </p:spPr>
        <p:txBody>
          <a:bodyPr/>
          <a:lstStyle/>
          <a:p>
            <a:pPr>
              <a:tabLst>
                <a:tab pos="803275" algn="l"/>
                <a:tab pos="1370013" algn="l"/>
                <a:tab pos="2112963" algn="l"/>
              </a:tabLst>
            </a:pPr>
            <a:r>
              <a:rPr lang="en-US" altLang="en-US" dirty="0"/>
              <a:t>Define a function that, given the name of a department, returns the count of the number of instructors in that department.</a:t>
            </a:r>
          </a:p>
          <a:p>
            <a:pPr>
              <a:buFont typeface="Monotype Sorts" charset="2"/>
              <a:buNone/>
              <a:tabLst>
                <a:tab pos="803275" algn="l"/>
                <a:tab pos="1370013" algn="l"/>
                <a:tab pos="2112963" algn="l"/>
              </a:tabLst>
            </a:pPr>
            <a:r>
              <a:rPr lang="en-US" altLang="en-US" sz="1600" b="1" dirty="0"/>
              <a:t>             </a:t>
            </a:r>
            <a:r>
              <a:rPr lang="en-US" altLang="en-US" b="1" dirty="0"/>
              <a:t>create function </a:t>
            </a:r>
            <a:r>
              <a:rPr lang="en-US" altLang="en-US" i="1" dirty="0" err="1"/>
              <a:t>dept_count</a:t>
            </a:r>
            <a:r>
              <a:rPr lang="en-US" altLang="en-US" i="1" dirty="0"/>
              <a:t> </a:t>
            </a:r>
            <a:r>
              <a:rPr lang="en-US" altLang="en-US" dirty="0"/>
              <a:t>(</a:t>
            </a:r>
            <a:r>
              <a:rPr lang="en-US" altLang="en-US" i="1" dirty="0" err="1"/>
              <a:t>dept_name</a:t>
            </a:r>
            <a:r>
              <a:rPr lang="en-US" altLang="en-US" i="1" dirty="0"/>
              <a:t> </a:t>
            </a:r>
            <a:r>
              <a:rPr lang="en-US" altLang="en-US" b="1" dirty="0"/>
              <a:t>varchar</a:t>
            </a:r>
            <a:r>
              <a:rPr lang="en-US" altLang="en-US" dirty="0"/>
              <a:t>(20))</a:t>
            </a:r>
            <a:r>
              <a:rPr lang="en-US" altLang="en-US" b="1" dirty="0"/>
              <a:t/>
            </a:r>
            <a:br>
              <a:rPr lang="en-US" altLang="en-US" b="1" dirty="0"/>
            </a:br>
            <a:r>
              <a:rPr lang="en-US" altLang="en-US" sz="1600" b="1" dirty="0"/>
              <a:t>                </a:t>
            </a:r>
            <a:r>
              <a:rPr lang="en-US" altLang="en-US" b="1" dirty="0"/>
              <a:t>returns integer</a:t>
            </a:r>
            <a:br>
              <a:rPr lang="en-US" altLang="en-US" b="1" dirty="0"/>
            </a:br>
            <a:r>
              <a:rPr lang="en-US" altLang="en-US" b="1" dirty="0"/>
              <a:t>               begin</a:t>
            </a:r>
            <a:br>
              <a:rPr lang="en-US" altLang="en-US" b="1" dirty="0"/>
            </a:br>
            <a:r>
              <a:rPr lang="en-US" altLang="en-US" b="1" dirty="0"/>
              <a:t>               declare </a:t>
            </a:r>
            <a:r>
              <a:rPr lang="en-US" altLang="en-US" i="1" dirty="0" err="1"/>
              <a:t>d_count</a:t>
            </a:r>
            <a:r>
              <a:rPr lang="en-US" altLang="en-US" i="1" dirty="0"/>
              <a:t>  </a:t>
            </a:r>
            <a:r>
              <a:rPr lang="en-US" altLang="en-US" b="1" dirty="0"/>
              <a:t>integer;</a:t>
            </a:r>
            <a:br>
              <a:rPr lang="en-US" altLang="en-US" b="1" dirty="0"/>
            </a:br>
            <a:r>
              <a:rPr lang="en-US" altLang="en-US" b="1" dirty="0"/>
              <a:t>                      select count </a:t>
            </a:r>
            <a:r>
              <a:rPr lang="en-US" altLang="en-US" dirty="0"/>
              <a:t>(</a:t>
            </a:r>
            <a:r>
              <a:rPr lang="en-US" altLang="en-US" i="1" dirty="0"/>
              <a:t>* </a:t>
            </a:r>
            <a:r>
              <a:rPr lang="en-US" altLang="en-US" dirty="0"/>
              <a:t>) </a:t>
            </a:r>
            <a:r>
              <a:rPr lang="en-US" altLang="en-US" b="1" dirty="0"/>
              <a:t>into </a:t>
            </a:r>
            <a:r>
              <a:rPr lang="en-US" altLang="en-US" i="1" dirty="0" err="1"/>
              <a:t>d_count</a:t>
            </a:r>
            <a:r>
              <a:rPr lang="en-US" altLang="en-US" i="1" dirty="0"/>
              <a:t/>
            </a:r>
            <a:br>
              <a:rPr lang="en-US" altLang="en-US" i="1" dirty="0"/>
            </a:br>
            <a:r>
              <a:rPr lang="en-US" altLang="en-US" i="1" dirty="0"/>
              <a:t>                      </a:t>
            </a:r>
            <a:r>
              <a:rPr lang="en-US" altLang="en-US" b="1" dirty="0"/>
              <a:t>from </a:t>
            </a:r>
            <a:r>
              <a:rPr lang="en-US" altLang="en-US" i="1" dirty="0"/>
              <a:t>instructor</a:t>
            </a:r>
            <a:br>
              <a:rPr lang="en-US" altLang="en-US" i="1" dirty="0"/>
            </a:br>
            <a:r>
              <a:rPr lang="en-US" altLang="en-US" i="1" dirty="0"/>
              <a:t>                      </a:t>
            </a:r>
            <a:r>
              <a:rPr lang="en-US" altLang="en-US" b="1" dirty="0"/>
              <a:t>where </a:t>
            </a:r>
            <a:r>
              <a:rPr lang="en-US" altLang="en-US" i="1" dirty="0" err="1"/>
              <a:t>instructor.dept_name</a:t>
            </a:r>
            <a:r>
              <a:rPr lang="en-US" altLang="en-US" i="1" dirty="0"/>
              <a:t> = </a:t>
            </a:r>
            <a:r>
              <a:rPr lang="en-US" altLang="en-US" i="1" dirty="0" err="1"/>
              <a:t>dept_name</a:t>
            </a:r>
            <a:r>
              <a:rPr lang="en-US" altLang="en-US" i="1" dirty="0"/>
              <a:t/>
            </a:r>
            <a:br>
              <a:rPr lang="en-US" altLang="en-US" i="1" dirty="0"/>
            </a:br>
            <a:r>
              <a:rPr lang="en-US" altLang="en-US" i="1" dirty="0"/>
              <a:t>               </a:t>
            </a:r>
            <a:r>
              <a:rPr lang="en-US" altLang="en-US" b="1" dirty="0"/>
              <a:t>return </a:t>
            </a:r>
            <a:r>
              <a:rPr lang="en-US" altLang="en-US" i="1" dirty="0" err="1"/>
              <a:t>d_count</a:t>
            </a:r>
            <a:r>
              <a:rPr lang="en-US" altLang="en-US" i="1" dirty="0"/>
              <a:t>;</a:t>
            </a:r>
            <a:br>
              <a:rPr lang="en-US" altLang="en-US" i="1" dirty="0"/>
            </a:br>
            <a:r>
              <a:rPr lang="en-US" altLang="en-US" i="1" dirty="0"/>
              <a:t>       </a:t>
            </a:r>
            <a:r>
              <a:rPr lang="en-US" altLang="en-US" b="1" dirty="0"/>
              <a:t>end</a:t>
            </a:r>
          </a:p>
          <a:p>
            <a:pPr>
              <a:tabLst>
                <a:tab pos="803275" algn="l"/>
                <a:tab pos="1370013" algn="l"/>
                <a:tab pos="2112963" algn="l"/>
              </a:tabLst>
            </a:pPr>
            <a:r>
              <a:rPr lang="en-US" altLang="en-US" dirty="0"/>
              <a:t>The function </a:t>
            </a:r>
            <a:r>
              <a:rPr lang="en-US" altLang="en-US" i="1" dirty="0" err="1"/>
              <a:t>dept_</a:t>
            </a:r>
            <a:r>
              <a:rPr lang="en-US" altLang="en-US" dirty="0" err="1"/>
              <a:t>count</a:t>
            </a:r>
            <a:r>
              <a:rPr lang="en-US" altLang="en-US" dirty="0"/>
              <a:t> can be used to find the department names and budget of all departments with more that 12 instructors.</a:t>
            </a:r>
          </a:p>
          <a:p>
            <a:pPr>
              <a:buFont typeface="Monotype Sorts" charset="2"/>
              <a:buNone/>
              <a:tabLst>
                <a:tab pos="803275" algn="l"/>
                <a:tab pos="1370013" algn="l"/>
                <a:tab pos="2112963" algn="l"/>
              </a:tabLst>
            </a:pPr>
            <a:r>
              <a:rPr lang="en-US" altLang="en-US" dirty="0"/>
              <a:t>		</a:t>
            </a:r>
            <a:r>
              <a:rPr lang="en-US" altLang="en-US" b="1" dirty="0"/>
              <a:t>select </a:t>
            </a:r>
            <a:r>
              <a:rPr lang="en-US" altLang="en-US" i="1" dirty="0" err="1"/>
              <a:t>dept_name</a:t>
            </a:r>
            <a:r>
              <a:rPr lang="en-US" altLang="en-US" i="1" dirty="0"/>
              <a:t>, budget</a:t>
            </a:r>
            <a:br>
              <a:rPr lang="en-US" altLang="en-US" i="1" dirty="0"/>
            </a:br>
            <a:r>
              <a:rPr lang="en-US" altLang="en-US" i="1" dirty="0"/>
              <a:t>	</a:t>
            </a:r>
            <a:r>
              <a:rPr lang="en-US" altLang="en-US" b="1" dirty="0"/>
              <a:t>from</a:t>
            </a:r>
            <a:r>
              <a:rPr lang="en-US" altLang="en-US" i="1" dirty="0"/>
              <a:t> department</a:t>
            </a:r>
            <a:br>
              <a:rPr lang="en-US" altLang="en-US" i="1" dirty="0"/>
            </a:br>
            <a:r>
              <a:rPr lang="en-US" altLang="en-US" i="1" dirty="0"/>
              <a:t>	</a:t>
            </a:r>
            <a:r>
              <a:rPr lang="en-US" altLang="en-US" b="1" dirty="0"/>
              <a:t>where </a:t>
            </a:r>
            <a:r>
              <a:rPr lang="en-US" altLang="en-US" i="1" dirty="0" err="1"/>
              <a:t>dept_</a:t>
            </a:r>
            <a:r>
              <a:rPr lang="en-US" altLang="en-US" dirty="0" err="1"/>
              <a:t>count</a:t>
            </a:r>
            <a:r>
              <a:rPr lang="en-US" altLang="en-US" dirty="0"/>
              <a:t> (</a:t>
            </a:r>
            <a:r>
              <a:rPr lang="en-US" altLang="en-US" i="1" dirty="0" err="1"/>
              <a:t>dept_name</a:t>
            </a:r>
            <a:r>
              <a:rPr lang="en-US" altLang="en-US" i="1" dirty="0"/>
              <a:t> </a:t>
            </a:r>
            <a:r>
              <a:rPr lang="en-US" altLang="en-US" dirty="0"/>
              <a:t>) &gt; 12</a:t>
            </a:r>
            <a:endParaRPr lang="en-US" altLang="en-US" i="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Table Functions</a:t>
            </a:r>
          </a:p>
        </p:txBody>
      </p:sp>
      <p:sp>
        <p:nvSpPr>
          <p:cNvPr id="38915" name="Rectangle 3"/>
          <p:cNvSpPr>
            <a:spLocks noGrp="1" noChangeArrowheads="1"/>
          </p:cNvSpPr>
          <p:nvPr>
            <p:ph type="body" idx="1"/>
          </p:nvPr>
        </p:nvSpPr>
        <p:spPr>
          <a:xfrm>
            <a:off x="768351" y="1130300"/>
            <a:ext cx="8362950" cy="5508625"/>
          </a:xfrm>
        </p:spPr>
        <p:txBody>
          <a:bodyPr/>
          <a:lstStyle/>
          <a:p>
            <a:pPr>
              <a:defRPr/>
            </a:pPr>
            <a:r>
              <a:rPr lang="en-US" altLang="en-US" dirty="0"/>
              <a:t>The SQL standard supports functions that can return tables as results; such functions are called </a:t>
            </a:r>
            <a:r>
              <a:rPr lang="en-US" altLang="en-US" b="1" dirty="0">
                <a:solidFill>
                  <a:srgbClr val="002060"/>
                </a:solidFill>
              </a:rPr>
              <a:t>table functions</a:t>
            </a:r>
          </a:p>
          <a:p>
            <a:pPr>
              <a:defRPr/>
            </a:pPr>
            <a:r>
              <a:rPr lang="en-US" altLang="en-US" dirty="0"/>
              <a:t>Example: Return all instructors in a given department</a:t>
            </a:r>
          </a:p>
          <a:p>
            <a:pPr>
              <a:buFont typeface="Monotype Sorts" charset="2"/>
              <a:buNone/>
              <a:defRPr/>
            </a:pPr>
            <a:r>
              <a:rPr lang="en-US" altLang="en-US" dirty="0"/>
              <a:t>	</a:t>
            </a:r>
            <a:r>
              <a:rPr lang="en-US" altLang="en-US" b="1" dirty="0"/>
              <a:t>create</a:t>
            </a:r>
            <a:r>
              <a:rPr lang="en-US" altLang="en-US" dirty="0"/>
              <a:t> </a:t>
            </a:r>
            <a:r>
              <a:rPr lang="en-US" altLang="en-US" b="1" dirty="0"/>
              <a:t>function</a:t>
            </a:r>
            <a:r>
              <a:rPr lang="en-US" altLang="en-US" dirty="0"/>
              <a:t> </a:t>
            </a:r>
            <a:r>
              <a:rPr lang="en-US" altLang="en-US" i="1" dirty="0" err="1"/>
              <a:t>instructor_of</a:t>
            </a:r>
            <a:r>
              <a:rPr lang="en-US" altLang="en-US" dirty="0"/>
              <a:t> (</a:t>
            </a:r>
            <a:r>
              <a:rPr lang="en-US" altLang="en-US" i="1" dirty="0"/>
              <a:t>dept_name</a:t>
            </a:r>
            <a:r>
              <a:rPr lang="en-US" altLang="en-US" dirty="0"/>
              <a:t> </a:t>
            </a:r>
            <a:r>
              <a:rPr lang="en-US" altLang="en-US" b="1" dirty="0"/>
              <a:t>char</a:t>
            </a:r>
            <a:r>
              <a:rPr lang="en-US" altLang="en-US" dirty="0"/>
              <a:t>(20))</a:t>
            </a:r>
          </a:p>
          <a:p>
            <a:pPr>
              <a:buFont typeface="Monotype Sorts" charset="2"/>
              <a:buNone/>
              <a:defRPr/>
            </a:pPr>
            <a:r>
              <a:rPr lang="en-US" altLang="en-US" dirty="0"/>
              <a:t>		</a:t>
            </a:r>
            <a:r>
              <a:rPr lang="en-US" altLang="en-US" b="1" dirty="0"/>
              <a:t>returns</a:t>
            </a:r>
            <a:r>
              <a:rPr lang="en-US" altLang="en-US" dirty="0"/>
              <a:t> </a:t>
            </a:r>
            <a:r>
              <a:rPr lang="en-US" altLang="en-US" b="1" dirty="0"/>
              <a:t>table  </a:t>
            </a:r>
            <a:r>
              <a:rPr lang="en-US" altLang="en-US" dirty="0"/>
              <a:t>(</a:t>
            </a:r>
            <a:r>
              <a:rPr lang="en-US" altLang="en-US" b="1" dirty="0"/>
              <a:t> </a:t>
            </a:r>
            <a:r>
              <a:rPr lang="en-US" altLang="en-US" dirty="0"/>
              <a:t> </a:t>
            </a:r>
          </a:p>
          <a:p>
            <a:pPr>
              <a:buFont typeface="Monotype Sorts" charset="2"/>
              <a:buNone/>
              <a:defRPr/>
            </a:pPr>
            <a:r>
              <a:rPr lang="en-US" altLang="en-US" dirty="0"/>
              <a:t>                        </a:t>
            </a:r>
            <a:r>
              <a:rPr lang="en-US" altLang="en-US" i="1" dirty="0"/>
              <a:t>ID </a:t>
            </a:r>
            <a:r>
              <a:rPr lang="en-US" altLang="en-US" b="1" dirty="0" err="1"/>
              <a:t>varchar</a:t>
            </a:r>
            <a:r>
              <a:rPr lang="en-US" altLang="en-US" dirty="0"/>
              <a:t>(5),</a:t>
            </a:r>
            <a:br>
              <a:rPr lang="en-US" altLang="en-US" dirty="0"/>
            </a:br>
            <a:r>
              <a:rPr lang="en-US" altLang="en-US" dirty="0"/>
              <a:t>	          </a:t>
            </a:r>
            <a:r>
              <a:rPr lang="en-US" altLang="en-US" i="1" dirty="0"/>
              <a:t>name</a:t>
            </a:r>
            <a:r>
              <a:rPr lang="en-US" altLang="en-US" dirty="0"/>
              <a:t> </a:t>
            </a:r>
            <a:r>
              <a:rPr lang="en-US" altLang="en-US" b="1" dirty="0" err="1"/>
              <a:t>varchar</a:t>
            </a:r>
            <a:r>
              <a:rPr lang="en-US" altLang="en-US" dirty="0"/>
              <a:t>(20),</a:t>
            </a:r>
            <a:br>
              <a:rPr lang="en-US" altLang="en-US" dirty="0"/>
            </a:br>
            <a:r>
              <a:rPr lang="en-US" altLang="en-US" dirty="0"/>
              <a:t>                   </a:t>
            </a:r>
            <a:r>
              <a:rPr lang="en-US" altLang="en-US" i="1" dirty="0"/>
              <a:t>dept_name</a:t>
            </a:r>
            <a:r>
              <a:rPr lang="en-US" altLang="en-US" dirty="0"/>
              <a:t> </a:t>
            </a:r>
            <a:r>
              <a:rPr lang="en-US" altLang="en-US" b="1" dirty="0" err="1"/>
              <a:t>varchar</a:t>
            </a:r>
            <a:r>
              <a:rPr lang="en-US" altLang="en-US" dirty="0"/>
              <a:t>(20),</a:t>
            </a:r>
            <a:br>
              <a:rPr lang="en-US" altLang="en-US" dirty="0"/>
            </a:br>
            <a:r>
              <a:rPr lang="en-US" altLang="en-US" dirty="0"/>
              <a:t>	          </a:t>
            </a:r>
            <a:r>
              <a:rPr lang="en-US" altLang="en-US" i="1" dirty="0"/>
              <a:t>salary</a:t>
            </a:r>
            <a:r>
              <a:rPr lang="en-US" altLang="en-US" dirty="0"/>
              <a:t> </a:t>
            </a:r>
            <a:r>
              <a:rPr lang="en-US" altLang="en-US" b="1" dirty="0"/>
              <a:t>numeric</a:t>
            </a:r>
            <a:r>
              <a:rPr lang="en-US" altLang="en-US" dirty="0"/>
              <a:t>(8,2))</a:t>
            </a:r>
          </a:p>
          <a:p>
            <a:pPr>
              <a:buFont typeface="Monotype Sorts" charset="2"/>
              <a:buNone/>
              <a:defRPr/>
            </a:pPr>
            <a:r>
              <a:rPr lang="en-US" altLang="en-US" dirty="0"/>
              <a:t>	         </a:t>
            </a:r>
            <a:r>
              <a:rPr lang="en-US" altLang="en-US" b="1" dirty="0"/>
              <a:t>return</a:t>
            </a:r>
            <a:r>
              <a:rPr lang="en-US" altLang="en-US" dirty="0"/>
              <a:t> </a:t>
            </a:r>
            <a:r>
              <a:rPr lang="en-US" altLang="en-US" b="1" dirty="0"/>
              <a:t>table</a:t>
            </a:r>
            <a:r>
              <a:rPr lang="en-US" altLang="en-US" dirty="0"/>
              <a:t/>
            </a:r>
            <a:br>
              <a:rPr lang="en-US" altLang="en-US" dirty="0"/>
            </a:br>
            <a:r>
              <a:rPr lang="en-US" altLang="en-US" dirty="0"/>
              <a:t>	         (</a:t>
            </a:r>
            <a:r>
              <a:rPr lang="en-US" altLang="en-US" b="1" dirty="0"/>
              <a:t>select</a:t>
            </a:r>
            <a:r>
              <a:rPr lang="en-US" altLang="en-US" dirty="0"/>
              <a:t> </a:t>
            </a:r>
            <a:r>
              <a:rPr lang="en-US" altLang="en-US" i="1" dirty="0"/>
              <a:t>ID, name, dept_name, salary</a:t>
            </a:r>
            <a:r>
              <a:rPr lang="en-US" altLang="en-US" dirty="0"/>
              <a:t/>
            </a:r>
            <a:br>
              <a:rPr lang="en-US" altLang="en-US" dirty="0"/>
            </a:br>
            <a:r>
              <a:rPr lang="en-US" altLang="en-US" dirty="0"/>
              <a:t>	          </a:t>
            </a:r>
            <a:r>
              <a:rPr lang="en-US" altLang="en-US" b="1" dirty="0"/>
              <a:t>from</a:t>
            </a:r>
            <a:r>
              <a:rPr lang="en-US" altLang="en-US" dirty="0"/>
              <a:t> </a:t>
            </a:r>
            <a:r>
              <a:rPr lang="en-US" altLang="en-US" i="1" dirty="0"/>
              <a:t>instructor</a:t>
            </a:r>
            <a:br>
              <a:rPr lang="en-US" altLang="en-US" i="1" dirty="0"/>
            </a:br>
            <a:r>
              <a:rPr lang="en-US" altLang="en-US" dirty="0"/>
              <a:t>	          </a:t>
            </a:r>
            <a:r>
              <a:rPr lang="en-US" altLang="en-US" b="1" dirty="0"/>
              <a:t>where</a:t>
            </a:r>
            <a:r>
              <a:rPr lang="en-US" altLang="en-US" i="1" dirty="0"/>
              <a:t> </a:t>
            </a:r>
            <a:r>
              <a:rPr lang="en-US" altLang="en-US" i="1" dirty="0" err="1"/>
              <a:t>instructor.dept_name</a:t>
            </a:r>
            <a:r>
              <a:rPr lang="en-US" altLang="en-US" i="1" dirty="0"/>
              <a:t> = </a:t>
            </a:r>
            <a:r>
              <a:rPr lang="en-US" altLang="en-US" i="1" dirty="0" err="1"/>
              <a:t>instructor_of.dept_name</a:t>
            </a:r>
            <a:r>
              <a:rPr lang="en-US" altLang="en-US" dirty="0"/>
              <a:t>)</a:t>
            </a:r>
          </a:p>
          <a:p>
            <a:pPr>
              <a:defRPr/>
            </a:pPr>
            <a:r>
              <a:rPr lang="en-US" altLang="en-US" dirty="0"/>
              <a:t>Usage</a:t>
            </a:r>
          </a:p>
          <a:p>
            <a:pPr>
              <a:buFont typeface="Monotype Sorts" charset="2"/>
              <a:buNone/>
              <a:defRPr/>
            </a:pPr>
            <a:r>
              <a:rPr lang="en-US" altLang="en-US" dirty="0"/>
              <a:t>		</a:t>
            </a:r>
            <a:r>
              <a:rPr lang="en-US" altLang="en-US" b="1" dirty="0"/>
              <a:t>select *</a:t>
            </a:r>
            <a:br>
              <a:rPr lang="en-US" altLang="en-US" b="1" dirty="0"/>
            </a:br>
            <a:r>
              <a:rPr lang="en-US" altLang="en-US" b="1" dirty="0"/>
              <a:t>	from table </a:t>
            </a:r>
            <a:r>
              <a:rPr lang="en-US" altLang="en-US" dirty="0"/>
              <a:t>(</a:t>
            </a:r>
            <a:r>
              <a:rPr lang="en-US" altLang="en-US" i="1" dirty="0" err="1"/>
              <a:t>instructor_of</a:t>
            </a:r>
            <a:r>
              <a:rPr lang="en-US" altLang="en-US" i="1" dirty="0"/>
              <a:t> </a:t>
            </a:r>
            <a:r>
              <a:rPr lang="en-US" altLang="en-US" dirty="0"/>
              <a:t>(</a:t>
            </a:r>
            <a:r>
              <a:rPr lang="en-US" altLang="ja-JP" dirty="0"/>
              <a:t>'Music'))</a:t>
            </a: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SQL Procedures</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0"/>
            <a:ext cx="7780845" cy="4903787"/>
          </a:xfrm>
        </p:spPr>
        <p:txBody>
          <a:bodyPr lIns="91440"/>
          <a:lstStyle/>
          <a:p>
            <a:r>
              <a:rPr lang="en-US" altLang="en-US" dirty="0"/>
              <a:t>The </a:t>
            </a:r>
            <a:r>
              <a:rPr lang="en-US" altLang="en-US" i="1" dirty="0" err="1"/>
              <a:t>dept_count</a:t>
            </a:r>
            <a:r>
              <a:rPr lang="en-US" altLang="en-US" i="1" dirty="0"/>
              <a:t> </a:t>
            </a:r>
            <a:r>
              <a:rPr lang="en-US" altLang="en-US" dirty="0"/>
              <a:t>function could instead be written as procedure:</a:t>
            </a:r>
          </a:p>
          <a:p>
            <a:pPr>
              <a:buFont typeface="Monotype Sorts" charset="2"/>
              <a:buNone/>
            </a:pPr>
            <a:r>
              <a:rPr lang="en-US" altLang="en-US" b="1" dirty="0"/>
              <a:t>	create procedure </a:t>
            </a:r>
            <a:r>
              <a:rPr lang="en-US" altLang="en-US" i="1" dirty="0" err="1"/>
              <a:t>dept_count_proc</a:t>
            </a:r>
            <a:r>
              <a:rPr lang="en-US" altLang="en-US" i="1" dirty="0"/>
              <a:t> </a:t>
            </a:r>
            <a:r>
              <a:rPr lang="en-US" altLang="en-US" dirty="0"/>
              <a:t>(</a:t>
            </a:r>
            <a:r>
              <a:rPr lang="en-US" altLang="en-US" b="1" dirty="0"/>
              <a:t>in </a:t>
            </a:r>
            <a:r>
              <a:rPr lang="en-US" altLang="en-US" i="1" dirty="0"/>
              <a:t>dept_name </a:t>
            </a:r>
            <a:r>
              <a:rPr lang="en-US" altLang="en-US" b="1" dirty="0" err="1"/>
              <a:t>varchar</a:t>
            </a:r>
            <a:r>
              <a:rPr lang="en-US" altLang="en-US" dirty="0"/>
              <a:t>(20), </a:t>
            </a:r>
            <a:br>
              <a:rPr lang="en-US" altLang="en-US" dirty="0"/>
            </a:br>
            <a:r>
              <a:rPr lang="en-US" altLang="en-US" dirty="0"/>
              <a:t>                                                           </a:t>
            </a:r>
            <a:r>
              <a:rPr lang="en-US" altLang="en-US" b="1" dirty="0"/>
              <a:t>out </a:t>
            </a:r>
            <a:r>
              <a:rPr lang="en-US" altLang="en-US" i="1" dirty="0" err="1"/>
              <a:t>d_count</a:t>
            </a:r>
            <a:r>
              <a:rPr lang="en-US" altLang="en-US" i="1" dirty="0"/>
              <a:t> </a:t>
            </a:r>
            <a:r>
              <a:rPr lang="en-US" altLang="en-US" b="1" dirty="0"/>
              <a:t>integer)</a:t>
            </a:r>
            <a:br>
              <a:rPr lang="en-US" altLang="en-US" b="1" dirty="0"/>
            </a:br>
            <a:r>
              <a:rPr lang="en-US" altLang="en-US" b="1" dirty="0"/>
              <a:t>   begin</a:t>
            </a:r>
          </a:p>
          <a:p>
            <a:pPr>
              <a:buFont typeface="Monotype Sorts" charset="2"/>
              <a:buNone/>
            </a:pPr>
            <a:r>
              <a:rPr lang="en-US" altLang="en-US" b="1" dirty="0"/>
              <a:t>	       select count</a:t>
            </a:r>
            <a:r>
              <a:rPr lang="en-US" altLang="en-US" dirty="0"/>
              <a:t>(</a:t>
            </a:r>
            <a:r>
              <a:rPr lang="en-US" altLang="en-US" i="1" dirty="0"/>
              <a:t>*</a:t>
            </a:r>
            <a:r>
              <a:rPr lang="en-US" altLang="en-US" dirty="0"/>
              <a:t>) </a:t>
            </a:r>
            <a:r>
              <a:rPr lang="en-US" altLang="en-US" b="1" dirty="0"/>
              <a:t>into </a:t>
            </a:r>
            <a:r>
              <a:rPr lang="en-US" altLang="en-US" i="1" dirty="0" err="1"/>
              <a:t>d_count</a:t>
            </a:r>
            <a:r>
              <a:rPr lang="en-US" altLang="en-US" i="1" dirty="0"/>
              <a:t/>
            </a:r>
            <a:br>
              <a:rPr lang="en-US" altLang="en-US" i="1" dirty="0"/>
            </a:br>
            <a:r>
              <a:rPr lang="en-US" altLang="en-US" i="1" dirty="0"/>
              <a:t>       </a:t>
            </a:r>
            <a:r>
              <a:rPr lang="en-US" altLang="en-US" b="1" dirty="0"/>
              <a:t>from </a:t>
            </a:r>
            <a:r>
              <a:rPr lang="en-US" altLang="en-US" i="1" dirty="0"/>
              <a:t>instructor</a:t>
            </a:r>
            <a:br>
              <a:rPr lang="en-US" altLang="en-US" i="1" dirty="0"/>
            </a:br>
            <a:r>
              <a:rPr lang="en-US" altLang="en-US" i="1" dirty="0"/>
              <a:t>       </a:t>
            </a:r>
            <a:r>
              <a:rPr lang="en-US" altLang="en-US" b="1" dirty="0"/>
              <a:t>where </a:t>
            </a:r>
            <a:r>
              <a:rPr lang="en-US" altLang="en-US" i="1" dirty="0" err="1"/>
              <a:t>instructor.dept_name</a:t>
            </a:r>
            <a:r>
              <a:rPr lang="en-US" altLang="en-US" i="1" dirty="0"/>
              <a:t> = </a:t>
            </a:r>
            <a:r>
              <a:rPr lang="en-US" altLang="en-US" i="1" dirty="0" err="1"/>
              <a:t>dept_count_proc.dept_name</a:t>
            </a:r>
            <a:endParaRPr lang="en-US" altLang="en-US" i="1" dirty="0"/>
          </a:p>
          <a:p>
            <a:pPr>
              <a:buFont typeface="Monotype Sorts" charset="2"/>
              <a:buNone/>
            </a:pPr>
            <a:r>
              <a:rPr lang="en-US" altLang="en-US" i="1" dirty="0"/>
              <a:t>        </a:t>
            </a:r>
            <a:r>
              <a:rPr lang="en-US" altLang="en-US" b="1" dirty="0"/>
              <a:t>end</a:t>
            </a:r>
            <a:endParaRPr lang="en-US" altLang="en-US" dirty="0"/>
          </a:p>
          <a:p>
            <a:r>
              <a:rPr lang="en-US" altLang="en-US" dirty="0"/>
              <a:t>The keywords </a:t>
            </a:r>
            <a:r>
              <a:rPr lang="en-US" altLang="en-US" b="1" dirty="0"/>
              <a:t>in</a:t>
            </a:r>
            <a:r>
              <a:rPr lang="en-US" altLang="en-US" dirty="0"/>
              <a:t> and  </a:t>
            </a:r>
            <a:r>
              <a:rPr lang="en-US" altLang="en-US" b="1" dirty="0"/>
              <a:t>out  </a:t>
            </a:r>
            <a:r>
              <a:rPr lang="en-US" altLang="en-US" dirty="0"/>
              <a:t>are parameters that are expected to have values assigned to them and parameters whose values are set in the procedure in order to return results.</a:t>
            </a:r>
          </a:p>
          <a:p>
            <a:r>
              <a:rPr lang="en-US" altLang="en-US" dirty="0"/>
              <a:t>Procedures can be invoked either from an SQL procedure or from embedded SQL, using the </a:t>
            </a:r>
            <a:r>
              <a:rPr lang="en-US" altLang="en-US" b="1" dirty="0"/>
              <a:t>call</a:t>
            </a:r>
            <a:r>
              <a:rPr lang="en-US" altLang="en-US" dirty="0"/>
              <a:t> statement.</a:t>
            </a:r>
          </a:p>
          <a:p>
            <a:pPr>
              <a:buFont typeface="Monotype Sorts" charset="2"/>
              <a:buNone/>
            </a:pPr>
            <a:r>
              <a:rPr lang="en-US" altLang="en-US" b="1" dirty="0"/>
              <a:t>		declare </a:t>
            </a:r>
            <a:r>
              <a:rPr lang="en-US" altLang="en-US" i="1" dirty="0" err="1"/>
              <a:t>d_count</a:t>
            </a:r>
            <a:r>
              <a:rPr lang="en-US" altLang="en-US" i="1" dirty="0"/>
              <a:t> </a:t>
            </a:r>
            <a:r>
              <a:rPr lang="en-US" altLang="en-US" b="1" dirty="0"/>
              <a:t>integer</a:t>
            </a:r>
            <a:r>
              <a:rPr lang="en-US" altLang="en-US" dirty="0"/>
              <a:t>;</a:t>
            </a:r>
            <a:br>
              <a:rPr lang="en-US" altLang="en-US" dirty="0"/>
            </a:br>
            <a:r>
              <a:rPr lang="en-US" altLang="en-US" dirty="0"/>
              <a:t>	</a:t>
            </a:r>
            <a:r>
              <a:rPr lang="en-US" altLang="en-US" b="1" dirty="0"/>
              <a:t>call </a:t>
            </a:r>
            <a:r>
              <a:rPr lang="en-US" altLang="en-US" i="1" dirty="0" err="1"/>
              <a:t>dept_count_proc</a:t>
            </a:r>
            <a:r>
              <a:rPr lang="en-US" altLang="en-US" dirty="0"/>
              <a:t>( </a:t>
            </a:r>
            <a:r>
              <a:rPr lang="en-US" altLang="ja-JP" dirty="0"/>
              <a:t>'Physics', </a:t>
            </a:r>
            <a:r>
              <a:rPr lang="en-US" altLang="ja-JP" i="1" dirty="0" err="1"/>
              <a:t>d_count</a:t>
            </a:r>
            <a:r>
              <a:rPr lang="en-US" altLang="ja-JP" dirty="0"/>
              <a:t>);</a:t>
            </a:r>
          </a:p>
          <a:p>
            <a:pPr>
              <a:buFont typeface="Monotype Sorts" charset="2"/>
              <a:buNone/>
            </a:pPr>
            <a:r>
              <a:rPr lang="en-US" altLang="en-US" dirty="0"/>
              <a:t>	</a:t>
            </a:r>
          </a:p>
          <a:p>
            <a:pPr indent="-365760"/>
            <a:endParaRPr lang="en-US" altLang="en-US" dirty="0"/>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SQL Procedures (Cont.)</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0"/>
            <a:ext cx="7638802" cy="1844719"/>
          </a:xfrm>
        </p:spPr>
        <p:txBody>
          <a:bodyPr lIns="91440"/>
          <a:lstStyle/>
          <a:p>
            <a:r>
              <a:rPr lang="en-US" altLang="en-US" dirty="0"/>
              <a:t>Procedures and functions can be invoked also from dynamic SQL</a:t>
            </a:r>
          </a:p>
          <a:p>
            <a:r>
              <a:rPr lang="en-US" altLang="en-US" dirty="0"/>
              <a:t>SQL allows more than one procedure of the so long as the number of arguments of the procedures with the same name is different.</a:t>
            </a:r>
          </a:p>
          <a:p>
            <a:r>
              <a:rPr lang="en-US" altLang="en-US" dirty="0"/>
              <a:t>The name, along with the number of arguments, is used to identify the procedure. </a:t>
            </a:r>
          </a:p>
          <a:p>
            <a:pPr indent="-365760"/>
            <a:endParaRPr lang="en-US" altLang="en-US" dirty="0"/>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sz="2400" dirty="0">
                <a:effectLst>
                  <a:outerShdw blurRad="38100" dist="38100" dir="2700000" algn="tl">
                    <a:srgbClr val="C0C0C0"/>
                  </a:outerShdw>
                </a:effectLst>
              </a:rPr>
              <a:t>Language Constructs for Procedures &amp; Functions</a:t>
            </a:r>
          </a:p>
        </p:txBody>
      </p:sp>
      <p:sp>
        <p:nvSpPr>
          <p:cNvPr id="7170" name="Rectangle 3"/>
          <p:cNvSpPr>
            <a:spLocks noGrp="1" noChangeArrowheads="1"/>
          </p:cNvSpPr>
          <p:nvPr>
            <p:ph idx="1"/>
          </p:nvPr>
        </p:nvSpPr>
        <p:spPr>
          <a:xfrm>
            <a:off x="768351" y="1093790"/>
            <a:ext cx="7727580" cy="5074998"/>
          </a:xfrm>
        </p:spPr>
        <p:txBody>
          <a:bodyPr lIns="91440"/>
          <a:lstStyle/>
          <a:p>
            <a:pPr>
              <a:defRPr/>
            </a:pPr>
            <a:r>
              <a:rPr lang="en-US" altLang="en-US" dirty="0"/>
              <a:t>SQL supports constructs that gives it almost all the power of a general-purpose programming language.</a:t>
            </a:r>
          </a:p>
          <a:p>
            <a:pPr lvl="1">
              <a:defRPr/>
            </a:pPr>
            <a:r>
              <a:rPr lang="en-US" altLang="en-US" dirty="0">
                <a:ea typeface="ＭＳ Ｐゴシック" pitchFamily="34" charset="-128"/>
              </a:rPr>
              <a:t>Warning: most database systems implement their own variant of the standard syntax below.</a:t>
            </a:r>
          </a:p>
          <a:p>
            <a:pPr>
              <a:defRPr/>
            </a:pPr>
            <a:r>
              <a:rPr lang="en-US" altLang="en-US" dirty="0"/>
              <a:t>Compound statement: </a:t>
            </a:r>
            <a:r>
              <a:rPr lang="en-US" altLang="en-US" b="1" dirty="0"/>
              <a:t>begin</a:t>
            </a:r>
            <a:r>
              <a:rPr lang="en-US" altLang="en-US" dirty="0"/>
              <a:t> … </a:t>
            </a:r>
            <a:r>
              <a:rPr lang="en-US" altLang="en-US" b="1" dirty="0"/>
              <a:t>end,</a:t>
            </a:r>
            <a:r>
              <a:rPr lang="en-US" altLang="en-US" dirty="0"/>
              <a:t> </a:t>
            </a:r>
          </a:p>
          <a:p>
            <a:pPr lvl="1">
              <a:defRPr/>
            </a:pPr>
            <a:r>
              <a:rPr lang="en-US" altLang="en-US" dirty="0">
                <a:ea typeface="ＭＳ Ｐゴシック" pitchFamily="34" charset="-128"/>
              </a:rPr>
              <a:t>May contain multiple SQL statements between </a:t>
            </a:r>
            <a:r>
              <a:rPr lang="en-US" altLang="en-US" b="1" dirty="0">
                <a:ea typeface="ＭＳ Ｐゴシック" pitchFamily="34" charset="-128"/>
              </a:rPr>
              <a:t>begin</a:t>
            </a:r>
            <a:r>
              <a:rPr lang="en-US" altLang="en-US" dirty="0">
                <a:ea typeface="ＭＳ Ｐゴシック" pitchFamily="34" charset="-128"/>
              </a:rPr>
              <a:t> and </a:t>
            </a:r>
            <a:r>
              <a:rPr lang="en-US" altLang="en-US" b="1" dirty="0">
                <a:ea typeface="ＭＳ Ｐゴシック" pitchFamily="34" charset="-128"/>
              </a:rPr>
              <a:t>end</a:t>
            </a:r>
            <a:r>
              <a:rPr lang="en-US" altLang="en-US" dirty="0">
                <a:ea typeface="ＭＳ Ｐゴシック" pitchFamily="34" charset="-128"/>
              </a:rPr>
              <a:t>.</a:t>
            </a:r>
          </a:p>
          <a:p>
            <a:pPr lvl="1">
              <a:defRPr/>
            </a:pPr>
            <a:r>
              <a:rPr lang="en-US" altLang="en-US" dirty="0">
                <a:ea typeface="ＭＳ Ｐゴシック" pitchFamily="34" charset="-128"/>
              </a:rPr>
              <a:t>Local variables can be declared within a compound statements</a:t>
            </a:r>
          </a:p>
          <a:p>
            <a:pPr>
              <a:defRPr/>
            </a:pPr>
            <a:r>
              <a:rPr lang="en-US" altLang="en-US" dirty="0"/>
              <a:t>While and repeat statements:</a:t>
            </a:r>
          </a:p>
          <a:p>
            <a:pPr lvl="1">
              <a:defRPr/>
            </a:pPr>
            <a:r>
              <a:rPr lang="en-US" altLang="en-US" dirty="0">
                <a:ea typeface="ＭＳ Ｐゴシック" pitchFamily="34" charset="-128"/>
              </a:rPr>
              <a:t>  </a:t>
            </a:r>
            <a:r>
              <a:rPr lang="en-US" altLang="en-US" b="1" dirty="0">
                <a:ea typeface="ＭＳ Ｐゴシック" pitchFamily="34" charset="-128"/>
              </a:rPr>
              <a:t>while</a:t>
            </a:r>
            <a:r>
              <a:rPr lang="en-US" altLang="en-US" dirty="0">
                <a:ea typeface="ＭＳ Ｐゴシック" pitchFamily="34" charset="-128"/>
              </a:rPr>
              <a:t> </a:t>
            </a:r>
            <a:r>
              <a:rPr lang="en-US" altLang="en-US" dirty="0" err="1">
                <a:ea typeface="ＭＳ Ｐゴシック" pitchFamily="34" charset="-128"/>
              </a:rPr>
              <a:t>boolean</a:t>
            </a:r>
            <a:r>
              <a:rPr lang="en-US" altLang="en-US" dirty="0">
                <a:ea typeface="ＭＳ Ｐゴシック" pitchFamily="34" charset="-128"/>
              </a:rPr>
              <a:t> expression  </a:t>
            </a:r>
            <a:r>
              <a:rPr lang="en-US" altLang="en-US" b="1" dirty="0">
                <a:ea typeface="ＭＳ Ｐゴシック" pitchFamily="34" charset="-128"/>
              </a:rPr>
              <a:t>do</a:t>
            </a:r>
          </a:p>
          <a:p>
            <a:pPr lvl="2">
              <a:lnSpc>
                <a:spcPct val="70000"/>
              </a:lnSpc>
              <a:buFont typeface="Webdings" panose="05030102010509060703" pitchFamily="18" charset="2"/>
              <a:buNone/>
              <a:defRPr/>
            </a:pPr>
            <a:r>
              <a:rPr lang="en-US" altLang="en-US" dirty="0">
                <a:ea typeface="ＭＳ Ｐゴシック" pitchFamily="34" charset="-128"/>
              </a:rPr>
              <a:t>           sequence of statements ;</a:t>
            </a:r>
          </a:p>
          <a:p>
            <a:pPr lvl="1">
              <a:lnSpc>
                <a:spcPct val="70000"/>
              </a:lnSpc>
              <a:buFont typeface="Monotype Sorts" charset="2"/>
              <a:buNone/>
              <a:defRPr/>
            </a:pPr>
            <a:r>
              <a:rPr lang="en-US" altLang="en-US" dirty="0">
                <a:ea typeface="ＭＳ Ｐゴシック" pitchFamily="34" charset="-128"/>
              </a:rPr>
              <a:t>		</a:t>
            </a:r>
            <a:r>
              <a:rPr lang="en-US" altLang="en-US" b="1" dirty="0">
                <a:ea typeface="ＭＳ Ｐゴシック" pitchFamily="34" charset="-128"/>
              </a:rPr>
              <a:t>end while</a:t>
            </a:r>
          </a:p>
          <a:p>
            <a:pPr lvl="1">
              <a:lnSpc>
                <a:spcPct val="70000"/>
              </a:lnSpc>
              <a:buFont typeface="Monotype Sorts" charset="2"/>
              <a:buNone/>
              <a:defRPr/>
            </a:pPr>
            <a:r>
              <a:rPr lang="en-US" altLang="en-US" sz="800" dirty="0">
                <a:ea typeface="ＭＳ Ｐゴシック" pitchFamily="34" charset="-128"/>
              </a:rPr>
              <a:t> </a:t>
            </a:r>
          </a:p>
          <a:p>
            <a:pPr lvl="1">
              <a:defRPr/>
            </a:pPr>
            <a:r>
              <a:rPr lang="en-US" altLang="en-US" dirty="0">
                <a:ea typeface="ＭＳ Ｐゴシック" pitchFamily="34" charset="-128"/>
              </a:rPr>
              <a:t> </a:t>
            </a:r>
            <a:r>
              <a:rPr lang="en-US" altLang="en-US" b="1" dirty="0">
                <a:ea typeface="ＭＳ Ｐゴシック" pitchFamily="34" charset="-128"/>
              </a:rPr>
              <a:t>repeat</a:t>
            </a:r>
          </a:p>
          <a:p>
            <a:pPr lvl="2">
              <a:lnSpc>
                <a:spcPct val="70000"/>
              </a:lnSpc>
              <a:buFont typeface="Monotype Sorts" charset="2"/>
              <a:buNone/>
              <a:defRPr/>
            </a:pPr>
            <a:r>
              <a:rPr lang="en-US" altLang="en-US" dirty="0">
                <a:ea typeface="ＭＳ Ｐゴシック" pitchFamily="34" charset="-128"/>
              </a:rPr>
              <a:t>         sequence of statements ;</a:t>
            </a:r>
          </a:p>
          <a:p>
            <a:pPr lvl="1">
              <a:lnSpc>
                <a:spcPct val="70000"/>
              </a:lnSpc>
              <a:buFont typeface="Monotype Sorts" charset="2"/>
              <a:buNone/>
              <a:defRPr/>
            </a:pPr>
            <a:r>
              <a:rPr lang="en-US" altLang="en-US" dirty="0">
                <a:ea typeface="ＭＳ Ｐゴシック" pitchFamily="34" charset="-128"/>
              </a:rPr>
              <a:t>		until </a:t>
            </a:r>
            <a:r>
              <a:rPr lang="en-US" altLang="en-US" dirty="0" err="1">
                <a:ea typeface="ＭＳ Ｐゴシック" pitchFamily="34" charset="-128"/>
              </a:rPr>
              <a:t>boolean</a:t>
            </a:r>
            <a:r>
              <a:rPr lang="en-US" altLang="en-US" dirty="0">
                <a:ea typeface="ＭＳ Ｐゴシック" pitchFamily="34" charset="-128"/>
              </a:rPr>
              <a:t> expression </a:t>
            </a:r>
          </a:p>
          <a:p>
            <a:pPr lvl="1">
              <a:lnSpc>
                <a:spcPct val="70000"/>
              </a:lnSpc>
              <a:buFont typeface="Monotype Sorts" charset="2"/>
              <a:buNone/>
              <a:defRPr/>
            </a:pPr>
            <a:r>
              <a:rPr lang="en-US" altLang="en-US" dirty="0">
                <a:ea typeface="ＭＳ Ｐゴシック" pitchFamily="34" charset="-128"/>
              </a:rPr>
              <a:t>		</a:t>
            </a:r>
            <a:r>
              <a:rPr lang="en-US" altLang="en-US" b="1" dirty="0">
                <a:ea typeface="ＭＳ Ｐゴシック" pitchFamily="34" charset="-128"/>
              </a:rPr>
              <a:t>end repeat</a:t>
            </a:r>
          </a:p>
          <a:p>
            <a:pPr indent="-365760"/>
            <a:endParaRPr lang="en-US" altLang="en-US" dirty="0"/>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Language Constructs (Cont.)</a:t>
            </a:r>
          </a:p>
        </p:txBody>
      </p:sp>
      <p:sp>
        <p:nvSpPr>
          <p:cNvPr id="40963" name="Rectangle 3"/>
          <p:cNvSpPr>
            <a:spLocks noGrp="1" noChangeArrowheads="1"/>
          </p:cNvSpPr>
          <p:nvPr>
            <p:ph type="body" idx="1"/>
          </p:nvPr>
        </p:nvSpPr>
        <p:spPr>
          <a:xfrm>
            <a:off x="768351" y="1135063"/>
            <a:ext cx="7734300" cy="4903787"/>
          </a:xfrm>
        </p:spPr>
        <p:txBody>
          <a:bodyPr/>
          <a:lstStyle/>
          <a:p>
            <a:pPr>
              <a:lnSpc>
                <a:spcPct val="80000"/>
              </a:lnSpc>
            </a:pPr>
            <a:r>
              <a:rPr lang="en-US" altLang="en-US" b="1" dirty="0">
                <a:latin typeface="Tahoma" panose="020B0604030504040204" pitchFamily="34" charset="0"/>
              </a:rPr>
              <a:t>For</a:t>
            </a:r>
            <a:r>
              <a:rPr lang="en-US" altLang="en-US" dirty="0">
                <a:latin typeface="Tahoma" panose="020B0604030504040204" pitchFamily="34" charset="0"/>
              </a:rPr>
              <a:t> loop</a:t>
            </a:r>
          </a:p>
          <a:p>
            <a:pPr lvl="1">
              <a:lnSpc>
                <a:spcPct val="80000"/>
              </a:lnSpc>
            </a:pPr>
            <a:r>
              <a:rPr lang="en-US" altLang="en-US" dirty="0">
                <a:latin typeface="Tahoma" panose="020B0604030504040204" pitchFamily="34" charset="0"/>
                <a:ea typeface="ＭＳ Ｐゴシック" panose="020B0600070205080204" pitchFamily="34" charset="-128"/>
              </a:rPr>
              <a:t>Permits iteration over all results of a query</a:t>
            </a:r>
          </a:p>
          <a:p>
            <a:r>
              <a:rPr lang="en-US" altLang="en-US" dirty="0">
                <a:latin typeface="Tahoma" panose="020B0604030504040204" pitchFamily="34" charset="0"/>
              </a:rPr>
              <a:t>Example:   Find the budget of all departments</a:t>
            </a:r>
            <a:br>
              <a:rPr lang="en-US" altLang="en-US" dirty="0">
                <a:latin typeface="Tahoma" panose="020B0604030504040204" pitchFamily="34" charset="0"/>
              </a:rPr>
            </a:br>
            <a:r>
              <a:rPr lang="en-US" altLang="en-US" dirty="0">
                <a:latin typeface="Tahoma" panose="020B0604030504040204" pitchFamily="34" charset="0"/>
              </a:rPr>
              <a:t/>
            </a:r>
            <a:br>
              <a:rPr lang="en-US" altLang="en-US" dirty="0">
                <a:latin typeface="Tahoma" panose="020B0604030504040204" pitchFamily="34" charset="0"/>
              </a:rPr>
            </a:br>
            <a:r>
              <a:rPr lang="en-US" altLang="en-US" dirty="0">
                <a:latin typeface="Tahoma" panose="020B0604030504040204" pitchFamily="34" charset="0"/>
              </a:rPr>
              <a:t>  </a:t>
            </a:r>
            <a:r>
              <a:rPr lang="en-US" altLang="en-US" b="1" dirty="0"/>
              <a:t>declare </a:t>
            </a:r>
            <a:r>
              <a:rPr lang="en-US" altLang="en-US" i="1" dirty="0"/>
              <a:t>n  </a:t>
            </a:r>
            <a:r>
              <a:rPr lang="en-US" altLang="en-US" b="1" dirty="0"/>
              <a:t>integer default </a:t>
            </a:r>
            <a:r>
              <a:rPr lang="en-US" altLang="en-US" dirty="0"/>
              <a:t>0;</a:t>
            </a:r>
            <a:br>
              <a:rPr lang="en-US" altLang="en-US" dirty="0"/>
            </a:br>
            <a:r>
              <a:rPr lang="en-US" altLang="en-US" dirty="0"/>
              <a:t>  </a:t>
            </a:r>
            <a:r>
              <a:rPr lang="en-US" altLang="en-US" b="1" dirty="0"/>
              <a:t>for </a:t>
            </a:r>
            <a:r>
              <a:rPr lang="en-US" altLang="en-US" i="1" dirty="0"/>
              <a:t>r  </a:t>
            </a:r>
            <a:r>
              <a:rPr lang="en-US" altLang="en-US" b="1" dirty="0"/>
              <a:t>as</a:t>
            </a:r>
            <a:br>
              <a:rPr lang="en-US" altLang="en-US" b="1" dirty="0"/>
            </a:br>
            <a:r>
              <a:rPr lang="en-US" altLang="en-US" b="1" dirty="0"/>
              <a:t>         select </a:t>
            </a:r>
            <a:r>
              <a:rPr lang="en-US" altLang="en-US" i="1" dirty="0"/>
              <a:t>budget </a:t>
            </a:r>
            <a:r>
              <a:rPr lang="en-US" altLang="en-US" b="1" dirty="0"/>
              <a:t>from </a:t>
            </a:r>
            <a:r>
              <a:rPr lang="en-US" altLang="en-US" i="1" dirty="0"/>
              <a:t>department                                                     	</a:t>
            </a:r>
            <a:r>
              <a:rPr lang="en-US" altLang="en-US" b="1" dirty="0"/>
              <a:t>where </a:t>
            </a:r>
            <a:r>
              <a:rPr lang="en-US" altLang="en-US" i="1" dirty="0" err="1"/>
              <a:t>dept_name</a:t>
            </a:r>
            <a:r>
              <a:rPr lang="en-US" altLang="en-US" i="1" dirty="0"/>
              <a:t> = 'Music' </a:t>
            </a:r>
            <a:r>
              <a:rPr lang="en-US" altLang="en-US" dirty="0"/>
              <a:t/>
            </a:r>
            <a:br>
              <a:rPr lang="en-US" altLang="en-US" dirty="0"/>
            </a:br>
            <a:r>
              <a:rPr lang="en-US" altLang="en-US" dirty="0"/>
              <a:t>   </a:t>
            </a:r>
            <a:r>
              <a:rPr lang="en-US" altLang="en-US" b="1" dirty="0"/>
              <a:t>do</a:t>
            </a:r>
            <a:br>
              <a:rPr lang="en-US" altLang="en-US" b="1" dirty="0"/>
            </a:br>
            <a:r>
              <a:rPr lang="en-US" altLang="en-US" b="1" dirty="0"/>
              <a:t>	       set </a:t>
            </a:r>
            <a:r>
              <a:rPr lang="en-US" altLang="en-US" i="1" dirty="0"/>
              <a:t>n </a:t>
            </a:r>
            <a:r>
              <a:rPr lang="en-US" altLang="en-US" dirty="0"/>
              <a:t>= </a:t>
            </a:r>
            <a:r>
              <a:rPr lang="en-US" altLang="en-US" i="1" dirty="0"/>
              <a:t>n </a:t>
            </a:r>
            <a:r>
              <a:rPr lang="en-US" altLang="en-US" dirty="0"/>
              <a:t>+ </a:t>
            </a:r>
            <a:r>
              <a:rPr lang="en-US" altLang="en-US" dirty="0" err="1"/>
              <a:t>r.</a:t>
            </a:r>
            <a:r>
              <a:rPr lang="en-US" altLang="en-US" i="1" dirty="0" err="1"/>
              <a:t>budget</a:t>
            </a:r>
            <a:r>
              <a:rPr lang="en-US" altLang="en-US" i="1" dirty="0"/>
              <a:t/>
            </a:r>
            <a:br>
              <a:rPr lang="en-US" altLang="en-US" i="1" dirty="0"/>
            </a:br>
            <a:r>
              <a:rPr lang="en-US" altLang="en-US" i="1" dirty="0"/>
              <a:t>   </a:t>
            </a:r>
            <a:r>
              <a:rPr lang="en-US" altLang="en-US" b="1" dirty="0"/>
              <a:t>end for</a:t>
            </a:r>
            <a:endParaRPr lang="en-US" altLang="en-US" dirty="0"/>
          </a:p>
          <a:p>
            <a:endParaRPr lang="en-US"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Language Constructs – if-then-else</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0"/>
            <a:ext cx="8119618" cy="4903787"/>
          </a:xfrm>
        </p:spPr>
        <p:txBody>
          <a:bodyPr lIns="91440"/>
          <a:lstStyle/>
          <a:p>
            <a:r>
              <a:rPr lang="en-US" altLang="en-US" dirty="0"/>
              <a:t>Conditional statements  (</a:t>
            </a:r>
            <a:r>
              <a:rPr lang="en-US" altLang="en-US" b="1" dirty="0"/>
              <a:t>if-then-else</a:t>
            </a:r>
            <a:r>
              <a:rPr lang="en-US" altLang="en-US" dirty="0"/>
              <a:t>)</a:t>
            </a:r>
          </a:p>
          <a:p>
            <a:pPr>
              <a:buFont typeface="Monotype Sorts" charset="2"/>
              <a:buNone/>
            </a:pPr>
            <a:r>
              <a:rPr lang="en-US" altLang="en-US" dirty="0"/>
              <a:t>              </a:t>
            </a:r>
            <a:r>
              <a:rPr lang="en-US" altLang="en-US" b="1" dirty="0"/>
              <a:t>if</a:t>
            </a:r>
            <a:r>
              <a:rPr lang="en-US" altLang="en-US" dirty="0"/>
              <a:t> </a:t>
            </a:r>
            <a:r>
              <a:rPr lang="en-US" altLang="en-US" i="1" dirty="0" err="1"/>
              <a:t>boolean</a:t>
            </a:r>
            <a:r>
              <a:rPr lang="en-US" altLang="en-US" i="1" dirty="0"/>
              <a:t>  expression </a:t>
            </a:r>
            <a:r>
              <a:rPr lang="en-US" altLang="en-US" b="1" dirty="0"/>
              <a:t/>
            </a:r>
            <a:br>
              <a:rPr lang="en-US" altLang="en-US" b="1" dirty="0"/>
            </a:br>
            <a:r>
              <a:rPr lang="en-US" altLang="en-US" b="1" dirty="0"/>
              <a:t>	    then </a:t>
            </a:r>
            <a:r>
              <a:rPr lang="en-US" altLang="en-US" i="1" dirty="0"/>
              <a:t>statement or compound statement </a:t>
            </a:r>
            <a:br>
              <a:rPr lang="en-US" altLang="en-US" i="1" dirty="0"/>
            </a:br>
            <a:r>
              <a:rPr lang="en-US" altLang="en-US" i="1" dirty="0"/>
              <a:t>	</a:t>
            </a:r>
            <a:r>
              <a:rPr lang="en-US" altLang="en-US" b="1" dirty="0" err="1"/>
              <a:t>elseif</a:t>
            </a:r>
            <a:r>
              <a:rPr lang="en-US" altLang="en-US" b="1" dirty="0"/>
              <a:t> </a:t>
            </a:r>
            <a:r>
              <a:rPr lang="en-US" altLang="en-US" i="1" dirty="0" err="1"/>
              <a:t>boolean</a:t>
            </a:r>
            <a:r>
              <a:rPr lang="en-US" altLang="en-US" i="1" dirty="0"/>
              <a:t>  expression </a:t>
            </a:r>
            <a:r>
              <a:rPr lang="en-US" altLang="en-US" b="1" dirty="0"/>
              <a:t/>
            </a:r>
            <a:br>
              <a:rPr lang="en-US" altLang="en-US" b="1" dirty="0"/>
            </a:br>
            <a:r>
              <a:rPr lang="en-US" altLang="en-US" b="1" dirty="0"/>
              <a:t>	</a:t>
            </a:r>
            <a:r>
              <a:rPr lang="en-US" altLang="en-US" dirty="0"/>
              <a:t>    </a:t>
            </a:r>
            <a:r>
              <a:rPr lang="en-US" altLang="en-US" b="1" dirty="0"/>
              <a:t>then </a:t>
            </a:r>
            <a:r>
              <a:rPr lang="en-US" altLang="en-US" i="1" dirty="0"/>
              <a:t>statement or compound statement </a:t>
            </a:r>
            <a:r>
              <a:rPr lang="en-US" altLang="en-US" dirty="0"/>
              <a:t/>
            </a:r>
            <a:br>
              <a:rPr lang="en-US" altLang="en-US" dirty="0"/>
            </a:br>
            <a:r>
              <a:rPr lang="en-US" altLang="en-US" dirty="0"/>
              <a:t>         </a:t>
            </a:r>
            <a:r>
              <a:rPr lang="en-US" altLang="en-US" b="1" dirty="0"/>
              <a:t>else</a:t>
            </a:r>
            <a:r>
              <a:rPr lang="en-US" altLang="en-US" dirty="0"/>
              <a:t> </a:t>
            </a:r>
            <a:r>
              <a:rPr lang="en-US" altLang="en-US" i="1" dirty="0"/>
              <a:t>statement or compound statement </a:t>
            </a:r>
            <a:r>
              <a:rPr lang="en-US" altLang="en-US" dirty="0"/>
              <a:t/>
            </a:r>
            <a:br>
              <a:rPr lang="en-US" altLang="en-US" dirty="0"/>
            </a:br>
            <a:r>
              <a:rPr lang="en-US" altLang="en-US" dirty="0"/>
              <a:t>	</a:t>
            </a:r>
            <a:r>
              <a:rPr lang="en-US" altLang="en-US" b="1" dirty="0"/>
              <a:t>end</a:t>
            </a:r>
            <a:r>
              <a:rPr lang="en-US" altLang="en-US" dirty="0"/>
              <a:t> </a:t>
            </a:r>
            <a:r>
              <a:rPr lang="en-US" altLang="en-US" b="1" dirty="0"/>
              <a:t>if</a:t>
            </a:r>
          </a:p>
          <a:p>
            <a:pPr indent="-365760"/>
            <a:endParaRPr lang="en-US" altLang="en-US" dirty="0"/>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t>Example procedure</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0"/>
            <a:ext cx="7603292" cy="4903787"/>
          </a:xfrm>
        </p:spPr>
        <p:txBody>
          <a:bodyPr lIns="91440"/>
          <a:lstStyle/>
          <a:p>
            <a:r>
              <a:rPr lang="en-US" altLang="en-US" dirty="0"/>
              <a:t>Registers student after ensuring classroom capacity is not exceeded</a:t>
            </a:r>
          </a:p>
          <a:p>
            <a:pPr lvl="1"/>
            <a:r>
              <a:rPr lang="en-US" altLang="en-US" dirty="0">
                <a:ea typeface="ＭＳ Ｐゴシック" panose="020B0600070205080204" pitchFamily="34" charset="-128"/>
              </a:rPr>
              <a:t>Returns 0 on success and -1 if capacity is exceeded</a:t>
            </a:r>
          </a:p>
          <a:p>
            <a:pPr lvl="1"/>
            <a:r>
              <a:rPr lang="en-US" altLang="en-US" dirty="0">
                <a:ea typeface="ＭＳ Ｐゴシック" panose="020B0600070205080204" pitchFamily="34" charset="-128"/>
              </a:rPr>
              <a:t>See book (page 202) for details</a:t>
            </a:r>
          </a:p>
          <a:p>
            <a:r>
              <a:rPr lang="en-US" altLang="en-US" dirty="0"/>
              <a:t>Signaling of exception conditions, and declaring handlers for exceptions</a:t>
            </a:r>
          </a:p>
          <a:p>
            <a:pPr>
              <a:buFont typeface="Monotype Sorts" charset="2"/>
              <a:buNone/>
            </a:pPr>
            <a:r>
              <a:rPr lang="en-US" altLang="en-US" b="1" dirty="0"/>
              <a:t>		declare </a:t>
            </a:r>
            <a:r>
              <a:rPr lang="en-US" altLang="en-US" i="1" dirty="0" err="1"/>
              <a:t>out_of_classroom_seats</a:t>
            </a:r>
            <a:r>
              <a:rPr lang="en-US" altLang="en-US" i="1" dirty="0"/>
              <a:t>  </a:t>
            </a:r>
            <a:r>
              <a:rPr lang="en-US" altLang="en-US" b="1" dirty="0"/>
              <a:t>condition</a:t>
            </a:r>
            <a:br>
              <a:rPr lang="en-US" altLang="en-US" b="1" dirty="0"/>
            </a:br>
            <a:r>
              <a:rPr lang="en-US" altLang="en-US" b="1" dirty="0"/>
              <a:t>	declare exit handler for </a:t>
            </a:r>
            <a:r>
              <a:rPr lang="en-US" altLang="en-US" i="1" dirty="0" err="1"/>
              <a:t>out_of_classroom_seats</a:t>
            </a:r>
            <a:r>
              <a:rPr lang="en-US" altLang="en-US" i="1" dirty="0"/>
              <a:t/>
            </a:r>
            <a:br>
              <a:rPr lang="en-US" altLang="en-US" i="1" dirty="0"/>
            </a:br>
            <a:r>
              <a:rPr lang="en-US" altLang="en-US" i="1" dirty="0"/>
              <a:t>	</a:t>
            </a:r>
            <a:r>
              <a:rPr lang="en-US" altLang="en-US" b="1" dirty="0"/>
              <a:t>begin</a:t>
            </a:r>
            <a:br>
              <a:rPr lang="en-US" altLang="en-US" b="1" dirty="0"/>
            </a:br>
            <a:r>
              <a:rPr lang="en-US" altLang="en-US" b="1" dirty="0"/>
              <a:t>	</a:t>
            </a:r>
            <a:r>
              <a:rPr lang="en-US" altLang="en-US" dirty="0"/>
              <a:t>…</a:t>
            </a:r>
            <a:br>
              <a:rPr lang="en-US" altLang="en-US" dirty="0"/>
            </a:br>
            <a:r>
              <a:rPr lang="en-US" altLang="en-US" dirty="0"/>
              <a:t>	</a:t>
            </a:r>
            <a:r>
              <a:rPr lang="en-US" altLang="en-US" b="1" dirty="0"/>
              <a:t>end</a:t>
            </a:r>
          </a:p>
          <a:p>
            <a:r>
              <a:rPr lang="en-US" altLang="en-US" dirty="0"/>
              <a:t>The statements between the </a:t>
            </a:r>
            <a:r>
              <a:rPr lang="en-US" altLang="en-US" b="1" dirty="0"/>
              <a:t>begin</a:t>
            </a:r>
            <a:r>
              <a:rPr lang="en-US" altLang="en-US" dirty="0"/>
              <a:t> and the </a:t>
            </a:r>
            <a:r>
              <a:rPr lang="en-US" altLang="en-US" b="1" dirty="0"/>
              <a:t>end</a:t>
            </a:r>
            <a:r>
              <a:rPr lang="en-US" altLang="en-US" dirty="0"/>
              <a:t> can raise an exception by executing  “</a:t>
            </a:r>
            <a:r>
              <a:rPr lang="en-US" altLang="en-US" b="1" dirty="0"/>
              <a:t>signal</a:t>
            </a:r>
            <a:r>
              <a:rPr lang="en-US" altLang="en-US" dirty="0"/>
              <a:t> </a:t>
            </a:r>
            <a:r>
              <a:rPr lang="en-US" altLang="en-US" i="1" dirty="0" err="1"/>
              <a:t>out_of_classroom_seats</a:t>
            </a:r>
            <a:r>
              <a:rPr lang="en-US" altLang="en-US" i="1" dirty="0"/>
              <a:t>”</a:t>
            </a:r>
            <a:endParaRPr lang="en-US" altLang="en-US" dirty="0"/>
          </a:p>
          <a:p>
            <a:r>
              <a:rPr lang="en-US" altLang="en-US" dirty="0"/>
              <a:t>The handler says that if the condition arises he action to be taken is to exit the enclosing  the </a:t>
            </a:r>
            <a:r>
              <a:rPr lang="en-US" altLang="en-US" b="1" dirty="0"/>
              <a:t>begin</a:t>
            </a:r>
            <a:r>
              <a:rPr lang="en-US" altLang="en-US" dirty="0"/>
              <a:t>  </a:t>
            </a:r>
            <a:r>
              <a:rPr lang="en-US" altLang="en-US" b="1" dirty="0"/>
              <a:t>end</a:t>
            </a:r>
            <a:r>
              <a:rPr lang="en-US" altLang="en-US" dirty="0"/>
              <a:t> statement. </a:t>
            </a:r>
          </a:p>
          <a:p>
            <a:pPr indent="-365760"/>
            <a:endParaRPr lang="en-US" altLang="en-US" dirty="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5570"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External Language Routines</a:t>
            </a:r>
          </a:p>
        </p:txBody>
      </p:sp>
      <p:sp>
        <p:nvSpPr>
          <p:cNvPr id="44035" name="Rectangle 3"/>
          <p:cNvSpPr>
            <a:spLocks noGrp="1" noChangeArrowheads="1"/>
          </p:cNvSpPr>
          <p:nvPr>
            <p:ph type="body" idx="1"/>
          </p:nvPr>
        </p:nvSpPr>
        <p:spPr>
          <a:xfrm>
            <a:off x="768350" y="722313"/>
            <a:ext cx="7692069" cy="5251450"/>
          </a:xfrm>
        </p:spPr>
        <p:txBody>
          <a:bodyPr/>
          <a:lstStyle/>
          <a:p>
            <a:endParaRPr kumimoji="0" lang="en-US" altLang="en-US" dirty="0"/>
          </a:p>
          <a:p>
            <a:r>
              <a:rPr kumimoji="0" lang="en-US" altLang="en-US" dirty="0"/>
              <a:t>SQL allows us to define functions in a programming language such as Java, C#, C or C++. </a:t>
            </a:r>
          </a:p>
          <a:p>
            <a:pPr lvl="1"/>
            <a:r>
              <a:rPr lang="en-US" altLang="en-US" dirty="0">
                <a:ea typeface="ＭＳ Ｐゴシック" panose="020B0600070205080204" pitchFamily="34" charset="-128"/>
              </a:rPr>
              <a:t>Can be more efficient than functions defined in SQL, and computations that cannot be carried out in SQL\can be executed by these functions.</a:t>
            </a:r>
          </a:p>
          <a:p>
            <a:r>
              <a:rPr lang="en-US" altLang="en-US" dirty="0"/>
              <a:t>Declaring external language procedures and functions</a:t>
            </a:r>
            <a:br>
              <a:rPr lang="en-US" altLang="en-US" dirty="0"/>
            </a:br>
            <a:endParaRPr lang="en-US" altLang="en-US" dirty="0"/>
          </a:p>
          <a:p>
            <a:pPr>
              <a:buFont typeface="Monotype Sorts" charset="2"/>
              <a:buNone/>
            </a:pPr>
            <a:r>
              <a:rPr lang="en-US" altLang="en-US" dirty="0"/>
              <a:t>	     </a:t>
            </a:r>
            <a:r>
              <a:rPr lang="en-US" altLang="en-US" b="1" dirty="0"/>
              <a:t>create procedure </a:t>
            </a:r>
            <a:r>
              <a:rPr lang="en-US" altLang="en-US" dirty="0" err="1"/>
              <a:t>dept_count_proc</a:t>
            </a:r>
            <a:r>
              <a:rPr lang="en-US" altLang="en-US" dirty="0"/>
              <a:t>(</a:t>
            </a:r>
            <a:r>
              <a:rPr lang="en-US" altLang="en-US" b="1" dirty="0"/>
              <a:t>in</a:t>
            </a:r>
            <a:r>
              <a:rPr lang="en-US" altLang="en-US" dirty="0"/>
              <a:t> </a:t>
            </a:r>
            <a:r>
              <a:rPr lang="en-US" altLang="en-US" i="1" dirty="0" err="1"/>
              <a:t>dept_name</a:t>
            </a:r>
            <a:r>
              <a:rPr lang="en-US" altLang="en-US" i="1" dirty="0"/>
              <a:t> </a:t>
            </a:r>
            <a:r>
              <a:rPr lang="en-US" altLang="en-US" b="1" dirty="0"/>
              <a:t>varchar</a:t>
            </a:r>
            <a:r>
              <a:rPr lang="en-US" altLang="en-US" dirty="0"/>
              <a:t>(20),</a:t>
            </a:r>
            <a:br>
              <a:rPr lang="en-US" altLang="en-US" dirty="0"/>
            </a:br>
            <a:r>
              <a:rPr lang="en-US" altLang="en-US" dirty="0"/>
              <a:t>                                                          </a:t>
            </a:r>
            <a:r>
              <a:rPr lang="en-US" altLang="en-US" b="1" dirty="0"/>
              <a:t>out </a:t>
            </a:r>
            <a:r>
              <a:rPr lang="en-US" altLang="en-US" dirty="0"/>
              <a:t>count </a:t>
            </a:r>
            <a:r>
              <a:rPr lang="en-US" altLang="en-US" b="1" dirty="0"/>
              <a:t>integer</a:t>
            </a:r>
            <a:r>
              <a:rPr lang="en-US" altLang="en-US" dirty="0"/>
              <a:t>)</a:t>
            </a:r>
            <a:br>
              <a:rPr lang="en-US" altLang="en-US" dirty="0"/>
            </a:br>
            <a:r>
              <a:rPr lang="en-US" altLang="en-US" dirty="0"/>
              <a:t>     </a:t>
            </a:r>
            <a:r>
              <a:rPr lang="en-US" altLang="en-US" b="1" dirty="0"/>
              <a:t>language </a:t>
            </a:r>
            <a:r>
              <a:rPr lang="en-US" altLang="en-US" dirty="0"/>
              <a:t>C</a:t>
            </a:r>
            <a:br>
              <a:rPr lang="en-US" altLang="en-US" dirty="0"/>
            </a:br>
            <a:r>
              <a:rPr lang="en-US" altLang="en-US" dirty="0"/>
              <a:t>     </a:t>
            </a:r>
            <a:r>
              <a:rPr lang="en-US" altLang="en-US" b="1" dirty="0"/>
              <a:t>external name </a:t>
            </a:r>
            <a:r>
              <a:rPr lang="ja-JP" altLang="en-US" dirty="0"/>
              <a:t> </a:t>
            </a:r>
            <a:r>
              <a:rPr lang="en-US" altLang="ja-JP" dirty="0"/>
              <a:t> '/</a:t>
            </a:r>
            <a:r>
              <a:rPr lang="en-US" altLang="ja-JP" dirty="0" err="1"/>
              <a:t>usr</a:t>
            </a:r>
            <a:r>
              <a:rPr lang="en-US" altLang="ja-JP" dirty="0"/>
              <a:t>/</a:t>
            </a:r>
            <a:r>
              <a:rPr lang="en-US" altLang="ja-JP" dirty="0" err="1"/>
              <a:t>avi</a:t>
            </a:r>
            <a:r>
              <a:rPr lang="en-US" altLang="ja-JP" dirty="0"/>
              <a:t>/bin/</a:t>
            </a:r>
            <a:r>
              <a:rPr lang="en-US" altLang="ja-JP" dirty="0" err="1"/>
              <a:t>dept_count_proc</a:t>
            </a:r>
            <a:r>
              <a:rPr lang="en-US" altLang="ja-JP" dirty="0"/>
              <a:t>'</a:t>
            </a:r>
            <a:br>
              <a:rPr lang="en-US" altLang="ja-JP" dirty="0"/>
            </a:br>
            <a:r>
              <a:rPr lang="en-US" altLang="ja-JP" dirty="0"/>
              <a:t/>
            </a:r>
            <a:br>
              <a:rPr lang="en-US" altLang="ja-JP" dirty="0"/>
            </a:br>
            <a:r>
              <a:rPr lang="en-US" altLang="ja-JP" dirty="0"/>
              <a:t>     </a:t>
            </a:r>
            <a:r>
              <a:rPr lang="en-US" altLang="ja-JP" b="1" dirty="0"/>
              <a:t>create function </a:t>
            </a:r>
            <a:r>
              <a:rPr lang="en-US" altLang="ja-JP" dirty="0" err="1"/>
              <a:t>dept_count</a:t>
            </a:r>
            <a:r>
              <a:rPr lang="en-US" altLang="ja-JP" dirty="0"/>
              <a:t>(</a:t>
            </a:r>
            <a:r>
              <a:rPr lang="en-US" altLang="ja-JP" i="1" dirty="0" err="1"/>
              <a:t>dept_name</a:t>
            </a:r>
            <a:r>
              <a:rPr lang="en-US" altLang="ja-JP" i="1" dirty="0"/>
              <a:t> </a:t>
            </a:r>
            <a:r>
              <a:rPr lang="en-US" altLang="ja-JP" b="1" dirty="0"/>
              <a:t>varchar</a:t>
            </a:r>
            <a:r>
              <a:rPr lang="en-US" altLang="ja-JP" dirty="0"/>
              <a:t>(20))</a:t>
            </a:r>
            <a:br>
              <a:rPr lang="en-US" altLang="ja-JP" dirty="0"/>
            </a:br>
            <a:r>
              <a:rPr lang="en-US" altLang="ja-JP" dirty="0"/>
              <a:t>     </a:t>
            </a:r>
            <a:r>
              <a:rPr lang="en-US" altLang="ja-JP" b="1" dirty="0"/>
              <a:t>returns </a:t>
            </a:r>
            <a:r>
              <a:rPr lang="en-US" altLang="ja-JP" dirty="0"/>
              <a:t>integer</a:t>
            </a:r>
            <a:br>
              <a:rPr lang="en-US" altLang="ja-JP" dirty="0"/>
            </a:br>
            <a:r>
              <a:rPr lang="en-US" altLang="ja-JP" dirty="0"/>
              <a:t>     </a:t>
            </a:r>
            <a:r>
              <a:rPr lang="en-US" altLang="ja-JP" b="1" dirty="0"/>
              <a:t>language </a:t>
            </a:r>
            <a:r>
              <a:rPr lang="en-US" altLang="ja-JP" dirty="0"/>
              <a:t>C</a:t>
            </a:r>
            <a:br>
              <a:rPr lang="en-US" altLang="ja-JP" dirty="0"/>
            </a:br>
            <a:r>
              <a:rPr lang="en-US" altLang="ja-JP" dirty="0"/>
              <a:t>     </a:t>
            </a:r>
            <a:r>
              <a:rPr lang="en-US" altLang="ja-JP" b="1" dirty="0"/>
              <a:t>external name </a:t>
            </a:r>
            <a:r>
              <a:rPr lang="en-US" altLang="ja-JP" dirty="0"/>
              <a:t>'/</a:t>
            </a:r>
            <a:r>
              <a:rPr lang="en-US" altLang="ja-JP" dirty="0" err="1"/>
              <a:t>usr</a:t>
            </a:r>
            <a:r>
              <a:rPr lang="en-US" altLang="ja-JP" dirty="0"/>
              <a:t>/</a:t>
            </a:r>
            <a:r>
              <a:rPr lang="en-US" altLang="ja-JP" dirty="0" err="1"/>
              <a:t>avi</a:t>
            </a:r>
            <a:r>
              <a:rPr lang="en-US" altLang="ja-JP" dirty="0"/>
              <a:t>/bin/</a:t>
            </a:r>
            <a:r>
              <a:rPr lang="en-US" altLang="ja-JP" dirty="0" err="1"/>
              <a:t>dept_count</a:t>
            </a:r>
            <a:r>
              <a:rPr lang="en-US" altLang="ja-JP" dirty="0"/>
              <a:t>'</a:t>
            </a:r>
          </a:p>
          <a:p>
            <a:pPr>
              <a:buFont typeface="Monotype Sorts" charset="2"/>
              <a:buNone/>
            </a:pPr>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External Language Routines (Cont.)</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0"/>
            <a:ext cx="7674313" cy="4903787"/>
          </a:xfrm>
        </p:spPr>
        <p:txBody>
          <a:bodyPr lIns="91440"/>
          <a:lstStyle/>
          <a:p>
            <a:r>
              <a:rPr lang="en-US" altLang="en-US" dirty="0"/>
              <a:t>Benefits of external language functions/procedures:  </a:t>
            </a:r>
          </a:p>
          <a:p>
            <a:pPr lvl="1"/>
            <a:r>
              <a:rPr lang="en-US" altLang="en-US" dirty="0">
                <a:ea typeface="ＭＳ Ｐゴシック" panose="020B0600070205080204" pitchFamily="34" charset="-128"/>
              </a:rPr>
              <a:t>more efficient for many operations, and more expressive power.</a:t>
            </a:r>
          </a:p>
          <a:p>
            <a:r>
              <a:rPr lang="en-US" altLang="en-US" dirty="0"/>
              <a:t>Drawbacks</a:t>
            </a:r>
          </a:p>
          <a:p>
            <a:pPr lvl="1"/>
            <a:r>
              <a:rPr lang="en-US" altLang="en-US" dirty="0">
                <a:ea typeface="ＭＳ Ｐゴシック" panose="020B0600070205080204" pitchFamily="34" charset="-128"/>
              </a:rPr>
              <a:t>Code to implement function may need to be loaded into database system and executed in the database system’</a:t>
            </a:r>
            <a:r>
              <a:rPr lang="en-US" altLang="ja-JP" dirty="0">
                <a:ea typeface="ＭＳ Ｐゴシック" panose="020B0600070205080204" pitchFamily="34" charset="-128"/>
              </a:rPr>
              <a:t>s address space.</a:t>
            </a:r>
          </a:p>
          <a:p>
            <a:pPr lvl="2"/>
            <a:r>
              <a:rPr lang="en-US" altLang="en-US" dirty="0">
                <a:ea typeface="ＭＳ Ｐゴシック" panose="020B0600070205080204" pitchFamily="34" charset="-128"/>
              </a:rPr>
              <a:t>risk of accidental corruption of database structures</a:t>
            </a:r>
          </a:p>
          <a:p>
            <a:pPr lvl="2"/>
            <a:r>
              <a:rPr lang="en-US" altLang="en-US" dirty="0">
                <a:ea typeface="ＭＳ Ｐゴシック" panose="020B0600070205080204" pitchFamily="34" charset="-128"/>
              </a:rPr>
              <a:t>security risk, allowing users access to unauthorized data</a:t>
            </a:r>
          </a:p>
          <a:p>
            <a:pPr lvl="1"/>
            <a:r>
              <a:rPr lang="en-US" altLang="en-US" dirty="0">
                <a:ea typeface="ＭＳ Ｐゴシック" panose="020B0600070205080204" pitchFamily="34" charset="-128"/>
              </a:rPr>
              <a:t>There are alternatives, which give good security at the cost of potentially worse performance.</a:t>
            </a:r>
          </a:p>
          <a:p>
            <a:pPr lvl="1"/>
            <a:r>
              <a:rPr lang="en-US" altLang="en-US" dirty="0">
                <a:ea typeface="ＭＳ Ｐゴシック" panose="020B0600070205080204" pitchFamily="34" charset="-128"/>
              </a:rPr>
              <a:t>Direct execution in the database system</a:t>
            </a:r>
            <a:r>
              <a:rPr lang="ja-JP" altLang="en-US" dirty="0">
                <a:ea typeface="ＭＳ Ｐゴシック" panose="020B0600070205080204" pitchFamily="34" charset="-128"/>
              </a:rPr>
              <a:t>’</a:t>
            </a:r>
            <a:r>
              <a:rPr lang="en-US" altLang="ja-JP" dirty="0">
                <a:ea typeface="ＭＳ Ｐゴシック" panose="020B0600070205080204" pitchFamily="34" charset="-128"/>
              </a:rPr>
              <a:t>s space is used when efficiency is more important than security.</a:t>
            </a:r>
            <a:endParaRPr lang="en-US" altLang="en-US" dirty="0">
              <a:ea typeface="ＭＳ Ｐゴシック" panose="020B0600070205080204" pitchFamily="34" charset="-128"/>
            </a:endParaRPr>
          </a:p>
          <a:p>
            <a:pPr indent="-365760"/>
            <a:endParaRPr lang="en-US" altLang="en-US" dirty="0"/>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9666" name="Rectangle 2"/>
          <p:cNvSpPr>
            <a:spLocks noGrp="1" noChangeArrowheads="1"/>
          </p:cNvSpPr>
          <p:nvPr>
            <p:ph type="title"/>
          </p:nvPr>
        </p:nvSpPr>
        <p:spPr/>
        <p:txBody>
          <a:bodyPr/>
          <a:lstStyle/>
          <a:p>
            <a:pPr>
              <a:defRPr/>
            </a:pPr>
            <a:r>
              <a:rPr lang="en-US" altLang="en-US" sz="2800">
                <a:effectLst>
                  <a:outerShdw blurRad="38100" dist="38100" dir="2700000" algn="tl">
                    <a:srgbClr val="C0C0C0"/>
                  </a:outerShdw>
                </a:effectLst>
              </a:rPr>
              <a:t>Security with External Language Routines</a:t>
            </a:r>
          </a:p>
        </p:txBody>
      </p:sp>
      <p:sp>
        <p:nvSpPr>
          <p:cNvPr id="46083" name="Rectangle 3"/>
          <p:cNvSpPr>
            <a:spLocks noGrp="1" noChangeArrowheads="1"/>
          </p:cNvSpPr>
          <p:nvPr>
            <p:ph type="body" idx="1"/>
          </p:nvPr>
        </p:nvSpPr>
        <p:spPr>
          <a:xfrm>
            <a:off x="768350" y="1135063"/>
            <a:ext cx="7770813" cy="4903787"/>
          </a:xfrm>
        </p:spPr>
        <p:txBody>
          <a:bodyPr/>
          <a:lstStyle/>
          <a:p>
            <a:r>
              <a:rPr lang="en-US" altLang="en-US" dirty="0"/>
              <a:t>To deal with security problems, we can do on of the following:</a:t>
            </a:r>
          </a:p>
          <a:p>
            <a:pPr lvl="1"/>
            <a:r>
              <a:rPr lang="en-US" altLang="en-US" dirty="0">
                <a:ea typeface="ＭＳ Ｐゴシック" panose="020B0600070205080204" pitchFamily="34" charset="-128"/>
              </a:rPr>
              <a:t>Use </a:t>
            </a:r>
            <a:r>
              <a:rPr lang="en-US" altLang="en-US" b="1" dirty="0">
                <a:solidFill>
                  <a:srgbClr val="002060"/>
                </a:solidFill>
                <a:ea typeface="ＭＳ Ｐゴシック" panose="020B0600070205080204" pitchFamily="34" charset="-128"/>
              </a:rPr>
              <a:t>sandbox</a:t>
            </a:r>
            <a:r>
              <a:rPr lang="en-US" altLang="en-US" dirty="0">
                <a:ea typeface="ＭＳ Ｐゴシック" panose="020B0600070205080204" pitchFamily="34" charset="-128"/>
              </a:rPr>
              <a:t> techniques</a:t>
            </a:r>
          </a:p>
          <a:p>
            <a:pPr lvl="2"/>
            <a:r>
              <a:rPr lang="en-US" altLang="en-US" dirty="0">
                <a:ea typeface="ＭＳ Ｐゴシック" panose="020B0600070205080204" pitchFamily="34" charset="-128"/>
              </a:rPr>
              <a:t>That is, use a safe language like Java, which cannot be used to  access/damage other parts of the database code.</a:t>
            </a:r>
          </a:p>
          <a:p>
            <a:pPr lvl="1"/>
            <a:r>
              <a:rPr lang="en-US" altLang="en-US" dirty="0">
                <a:ea typeface="ＭＳ Ｐゴシック" panose="020B0600070205080204" pitchFamily="34" charset="-128"/>
              </a:rPr>
              <a:t>Run external language functions/procedures in a separate process, with no access to the database process</a:t>
            </a:r>
            <a:r>
              <a:rPr lang="ja-JP" altLang="en-US" dirty="0">
                <a:ea typeface="ＭＳ Ｐゴシック" panose="020B0600070205080204" pitchFamily="34" charset="-128"/>
              </a:rPr>
              <a:t>’</a:t>
            </a:r>
            <a:r>
              <a:rPr lang="en-US" altLang="ja-JP" dirty="0">
                <a:ea typeface="ＭＳ Ｐゴシック" panose="020B0600070205080204" pitchFamily="34" charset="-128"/>
              </a:rPr>
              <a:t> memory.</a:t>
            </a:r>
          </a:p>
          <a:p>
            <a:pPr lvl="2"/>
            <a:r>
              <a:rPr lang="en-US" altLang="en-US" dirty="0">
                <a:ea typeface="ＭＳ Ｐゴシック" panose="020B0600070205080204" pitchFamily="34" charset="-128"/>
              </a:rPr>
              <a:t>Parameters and results communicated via inter-process communication</a:t>
            </a:r>
          </a:p>
          <a:p>
            <a:r>
              <a:rPr lang="en-US" altLang="en-US" dirty="0"/>
              <a:t>Both have performance overheads</a:t>
            </a:r>
          </a:p>
          <a:p>
            <a:r>
              <a:rPr lang="en-US" altLang="en-US" dirty="0"/>
              <a:t>Many database systems support both above approaches as well as direct executing in database system address space.</a:t>
            </a:r>
          </a:p>
          <a:p>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Rectangle 3"/>
          <p:cNvSpPr>
            <a:spLocks noGrp="1" noChangeArrowheads="1"/>
          </p:cNvSpPr>
          <p:nvPr>
            <p:ph type="body" idx="1"/>
          </p:nvPr>
        </p:nvSpPr>
        <p:spPr>
          <a:xfrm>
            <a:off x="3338004" y="2607785"/>
            <a:ext cx="4398700" cy="1858963"/>
          </a:xfrm>
        </p:spPr>
        <p:txBody>
          <a:bodyPr/>
          <a:lstStyle/>
          <a:p>
            <a:pPr>
              <a:buFont typeface="Monotype Sorts" charset="2"/>
              <a:buNone/>
              <a:defRPr/>
            </a:pPr>
            <a:r>
              <a:rPr lang="en-US" altLang="en-US" sz="3200" b="1" dirty="0">
                <a:solidFill>
                  <a:srgbClr val="002060"/>
                </a:solidFill>
                <a:effectLst>
                  <a:outerShdw blurRad="38100" dist="38100" dir="2700000" algn="tl">
                    <a:srgbClr val="C0C0C0"/>
                  </a:outerShdw>
                </a:effectLst>
                <a:latin typeface="+mj-lt"/>
                <a:cs typeface="+mj-cs"/>
              </a:rPr>
              <a:t>Triggers</a:t>
            </a:r>
          </a:p>
        </p:txBody>
      </p:sp>
      <p:sp>
        <p:nvSpPr>
          <p:cNvPr id="47107" name="Rectangle 4"/>
          <p:cNvSpPr>
            <a:spLocks noChangeArrowheads="1"/>
          </p:cNvSpPr>
          <p:nvPr/>
        </p:nvSpPr>
        <p:spPr bwMode="auto">
          <a:xfrm>
            <a:off x="1435100" y="-763588"/>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Triggers</a:t>
            </a:r>
          </a:p>
        </p:txBody>
      </p:sp>
      <p:sp>
        <p:nvSpPr>
          <p:cNvPr id="48131" name="Rectangle 3"/>
          <p:cNvSpPr>
            <a:spLocks noGrp="1" noChangeArrowheads="1"/>
          </p:cNvSpPr>
          <p:nvPr>
            <p:ph type="body" idx="1"/>
          </p:nvPr>
        </p:nvSpPr>
        <p:spPr>
          <a:xfrm>
            <a:off x="768350" y="1155700"/>
            <a:ext cx="7647681" cy="4833938"/>
          </a:xfrm>
        </p:spPr>
        <p:txBody>
          <a:bodyPr/>
          <a:lstStyle/>
          <a:p>
            <a:r>
              <a:rPr lang="en-US" altLang="en-US" dirty="0"/>
              <a:t>A </a:t>
            </a:r>
            <a:r>
              <a:rPr lang="en-US" altLang="en-US" b="1" dirty="0">
                <a:solidFill>
                  <a:srgbClr val="002060"/>
                </a:solidFill>
              </a:rPr>
              <a:t>trigger</a:t>
            </a:r>
            <a:r>
              <a:rPr lang="en-US" altLang="en-US" dirty="0"/>
              <a:t> is a statement that is executed automatically by the system as a side effect of a modification to the database.</a:t>
            </a:r>
          </a:p>
          <a:p>
            <a:r>
              <a:rPr lang="en-US" altLang="en-US" dirty="0"/>
              <a:t>To design a trigger mechanism, we must:</a:t>
            </a:r>
          </a:p>
          <a:p>
            <a:pPr lvl="1"/>
            <a:r>
              <a:rPr lang="en-US" altLang="en-US" dirty="0">
                <a:ea typeface="ＭＳ Ｐゴシック" panose="020B0600070205080204" pitchFamily="34" charset="-128"/>
              </a:rPr>
              <a:t>Specify the conditions under which the trigger is to be executed.</a:t>
            </a:r>
          </a:p>
          <a:p>
            <a:pPr lvl="1"/>
            <a:r>
              <a:rPr lang="en-US" altLang="en-US" dirty="0">
                <a:ea typeface="ＭＳ Ｐゴシック" panose="020B0600070205080204" pitchFamily="34" charset="-128"/>
              </a:rPr>
              <a:t>Specify the actions to be taken when the trigger executes.</a:t>
            </a:r>
          </a:p>
          <a:p>
            <a:r>
              <a:rPr lang="en-US" altLang="en-US" dirty="0"/>
              <a:t>Triggers introduced to SQL standard in SQL:1999, but supported even earlier using non-standard syntax by most databases.		</a:t>
            </a:r>
          </a:p>
          <a:p>
            <a:pPr lvl="1"/>
            <a:r>
              <a:rPr lang="en-US" altLang="en-US" dirty="0">
                <a:solidFill>
                  <a:srgbClr val="002060"/>
                </a:solidFill>
                <a:ea typeface="ＭＳ Ｐゴシック" panose="020B0600070205080204" pitchFamily="34" charset="-128"/>
              </a:rPr>
              <a:t>Syntax illustrated here may not work exactly on your database system; check the system manuals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Triggering Events and Actions in SQL</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0"/>
            <a:ext cx="7718701" cy="4903787"/>
          </a:xfrm>
        </p:spPr>
        <p:txBody>
          <a:bodyPr lIns="91440"/>
          <a:lstStyle/>
          <a:p>
            <a:pPr>
              <a:lnSpc>
                <a:spcPct val="90000"/>
              </a:lnSpc>
            </a:pPr>
            <a:r>
              <a:rPr lang="en-US" altLang="en-US" dirty="0"/>
              <a:t>Triggering event can be </a:t>
            </a:r>
            <a:r>
              <a:rPr lang="en-US" altLang="en-US" b="1" dirty="0"/>
              <a:t>insert</a:t>
            </a:r>
            <a:r>
              <a:rPr lang="en-US" altLang="en-US" dirty="0"/>
              <a:t>, </a:t>
            </a:r>
            <a:r>
              <a:rPr lang="en-US" altLang="en-US" b="1" dirty="0"/>
              <a:t>delete</a:t>
            </a:r>
            <a:r>
              <a:rPr lang="en-US" altLang="en-US" dirty="0"/>
              <a:t> or </a:t>
            </a:r>
            <a:r>
              <a:rPr lang="en-US" altLang="en-US" b="1" dirty="0"/>
              <a:t>update</a:t>
            </a:r>
          </a:p>
          <a:p>
            <a:pPr>
              <a:lnSpc>
                <a:spcPct val="90000"/>
              </a:lnSpc>
            </a:pPr>
            <a:r>
              <a:rPr lang="en-US" altLang="en-US" dirty="0"/>
              <a:t>Triggers on update can be restricted to specific attributes</a:t>
            </a:r>
          </a:p>
          <a:p>
            <a:pPr lvl="1">
              <a:lnSpc>
                <a:spcPct val="90000"/>
              </a:lnSpc>
            </a:pPr>
            <a:r>
              <a:rPr lang="en-US" altLang="en-US" dirty="0">
                <a:ea typeface="ＭＳ Ｐゴシック" panose="020B0600070205080204" pitchFamily="34" charset="-128"/>
              </a:rPr>
              <a:t>For example, </a:t>
            </a:r>
            <a:r>
              <a:rPr lang="en-US" altLang="en-US" b="1" dirty="0">
                <a:ea typeface="ＭＳ Ｐゴシック" panose="020B0600070205080204" pitchFamily="34" charset="-128"/>
              </a:rPr>
              <a:t> after update of </a:t>
            </a:r>
            <a:r>
              <a:rPr lang="en-US" altLang="en-US" i="1" dirty="0">
                <a:ea typeface="ＭＳ Ｐゴシック" panose="020B0600070205080204" pitchFamily="34" charset="-128"/>
              </a:rPr>
              <a:t>takes </a:t>
            </a:r>
            <a:r>
              <a:rPr lang="en-US" altLang="en-US" b="1" dirty="0">
                <a:ea typeface="ＭＳ Ｐゴシック" panose="020B0600070205080204" pitchFamily="34" charset="-128"/>
              </a:rPr>
              <a:t>on</a:t>
            </a:r>
            <a:r>
              <a:rPr lang="en-US" altLang="en-US" i="1" dirty="0">
                <a:ea typeface="ＭＳ Ｐゴシック" panose="020B0600070205080204" pitchFamily="34" charset="-128"/>
              </a:rPr>
              <a:t> grade</a:t>
            </a:r>
          </a:p>
          <a:p>
            <a:pPr>
              <a:lnSpc>
                <a:spcPct val="90000"/>
              </a:lnSpc>
            </a:pPr>
            <a:r>
              <a:rPr lang="en-US" altLang="en-US" dirty="0"/>
              <a:t>Values of attributes before and after an update can be referenced</a:t>
            </a:r>
          </a:p>
          <a:p>
            <a:pPr lvl="1">
              <a:lnSpc>
                <a:spcPct val="90000"/>
              </a:lnSpc>
            </a:pPr>
            <a:r>
              <a:rPr lang="en-US" altLang="en-US" b="1" dirty="0">
                <a:ea typeface="ＭＳ Ｐゴシック" panose="020B0600070205080204" pitchFamily="34" charset="-128"/>
              </a:rPr>
              <a:t>referencing old row as</a:t>
            </a:r>
            <a:r>
              <a:rPr lang="en-US" altLang="en-US" dirty="0">
                <a:ea typeface="ＭＳ Ｐゴシック" panose="020B0600070205080204" pitchFamily="34" charset="-128"/>
              </a:rPr>
              <a:t>   </a:t>
            </a:r>
            <a:r>
              <a:rPr lang="en-US" altLang="en-US" b="1" dirty="0">
                <a:ea typeface="ＭＳ Ｐゴシック" panose="020B0600070205080204" pitchFamily="34" charset="-128"/>
              </a:rPr>
              <a:t>: </a:t>
            </a:r>
            <a:r>
              <a:rPr lang="en-US" altLang="en-US" dirty="0">
                <a:ea typeface="ＭＳ Ｐゴシック" panose="020B0600070205080204" pitchFamily="34" charset="-128"/>
              </a:rPr>
              <a:t> for deletes and updates</a:t>
            </a:r>
          </a:p>
          <a:p>
            <a:pPr lvl="1">
              <a:lnSpc>
                <a:spcPct val="90000"/>
              </a:lnSpc>
            </a:pPr>
            <a:r>
              <a:rPr lang="en-US" altLang="en-US" b="1" dirty="0">
                <a:ea typeface="ＭＳ Ｐゴシック" panose="020B0600070205080204" pitchFamily="34" charset="-128"/>
              </a:rPr>
              <a:t>referencing new row as  : </a:t>
            </a:r>
            <a:r>
              <a:rPr lang="en-US" altLang="en-US" dirty="0">
                <a:ea typeface="ＭＳ Ｐゴシック" panose="020B0600070205080204" pitchFamily="34" charset="-128"/>
              </a:rPr>
              <a:t>for inserts and updates</a:t>
            </a:r>
            <a:endParaRPr lang="en-US" altLang="en-US" b="1" dirty="0">
              <a:ea typeface="ＭＳ Ｐゴシック" panose="020B0600070205080204" pitchFamily="34" charset="-128"/>
            </a:endParaRPr>
          </a:p>
          <a:p>
            <a:pPr>
              <a:lnSpc>
                <a:spcPct val="90000"/>
              </a:lnSpc>
            </a:pPr>
            <a:r>
              <a:rPr lang="en-US" altLang="en-US" dirty="0"/>
              <a:t>Triggers can be activated before an event, which can serve as extra constraints.  For example,  convert blank grades to null.</a:t>
            </a:r>
          </a:p>
          <a:p>
            <a:pPr>
              <a:lnSpc>
                <a:spcPct val="90000"/>
              </a:lnSpc>
              <a:buFont typeface="Monotype Sorts" charset="2"/>
              <a:buNone/>
            </a:pPr>
            <a:r>
              <a:rPr lang="en-US" altLang="en-US" sz="800" dirty="0"/>
              <a:t> </a:t>
            </a:r>
          </a:p>
          <a:p>
            <a:pPr>
              <a:lnSpc>
                <a:spcPct val="80000"/>
              </a:lnSpc>
              <a:buFont typeface="Monotype Sorts" charset="2"/>
              <a:buNone/>
            </a:pPr>
            <a:r>
              <a:rPr lang="en-US" altLang="en-US" b="1" dirty="0"/>
              <a:t>		create trigger </a:t>
            </a:r>
            <a:r>
              <a:rPr lang="en-US" altLang="en-US" i="1" dirty="0" err="1"/>
              <a:t>setnull_trigger</a:t>
            </a:r>
            <a:r>
              <a:rPr lang="en-US" altLang="en-US" i="1" dirty="0"/>
              <a:t> </a:t>
            </a:r>
            <a:r>
              <a:rPr lang="en-US" altLang="en-US" b="1" dirty="0"/>
              <a:t>before update of </a:t>
            </a:r>
            <a:r>
              <a:rPr lang="en-US" altLang="en-US" i="1" dirty="0"/>
              <a:t>takes</a:t>
            </a:r>
            <a:br>
              <a:rPr lang="en-US" altLang="en-US" i="1" dirty="0"/>
            </a:br>
            <a:r>
              <a:rPr lang="en-US" altLang="en-US" b="1" dirty="0"/>
              <a:t>	referencing new row as </a:t>
            </a:r>
            <a:r>
              <a:rPr lang="en-US" altLang="en-US" i="1" dirty="0" err="1"/>
              <a:t>nrow</a:t>
            </a:r>
            <a:r>
              <a:rPr lang="en-US" altLang="en-US" i="1" dirty="0"/>
              <a:t/>
            </a:r>
            <a:br>
              <a:rPr lang="en-US" altLang="en-US" i="1" dirty="0"/>
            </a:br>
            <a:r>
              <a:rPr lang="en-US" altLang="en-US" b="1" dirty="0"/>
              <a:t>	for each row</a:t>
            </a:r>
            <a:br>
              <a:rPr lang="en-US" altLang="en-US" b="1" dirty="0"/>
            </a:br>
            <a:r>
              <a:rPr lang="en-US" altLang="en-US" b="1" dirty="0"/>
              <a:t>	      when (</a:t>
            </a:r>
            <a:r>
              <a:rPr lang="en-US" altLang="en-US" i="1" dirty="0" err="1"/>
              <a:t>nrow.grade</a:t>
            </a:r>
            <a:r>
              <a:rPr lang="en-US" altLang="en-US" dirty="0"/>
              <a:t> = </a:t>
            </a:r>
            <a:r>
              <a:rPr lang="en-US" altLang="ja-JP" dirty="0"/>
              <a:t>' ')</a:t>
            </a:r>
            <a:br>
              <a:rPr lang="en-US" altLang="ja-JP" dirty="0"/>
            </a:br>
            <a:r>
              <a:rPr lang="en-US" altLang="ja-JP" dirty="0"/>
              <a:t>               </a:t>
            </a:r>
            <a:r>
              <a:rPr lang="en-US" altLang="ja-JP" b="1" dirty="0"/>
              <a:t>begin atomic</a:t>
            </a:r>
            <a:r>
              <a:rPr lang="en-US" altLang="ja-JP" i="1" dirty="0"/>
              <a:t/>
            </a:r>
            <a:br>
              <a:rPr lang="en-US" altLang="ja-JP" i="1" dirty="0"/>
            </a:br>
            <a:r>
              <a:rPr lang="en-US" altLang="ja-JP" b="1" dirty="0"/>
              <a:t>	          set </a:t>
            </a:r>
            <a:r>
              <a:rPr lang="en-US" altLang="ja-JP" i="1" dirty="0" err="1"/>
              <a:t>nrow.grade</a:t>
            </a:r>
            <a:r>
              <a:rPr lang="en-US" altLang="ja-JP" i="1" dirty="0"/>
              <a:t> </a:t>
            </a:r>
            <a:r>
              <a:rPr lang="en-US" altLang="ja-JP" dirty="0"/>
              <a:t>= </a:t>
            </a:r>
            <a:r>
              <a:rPr lang="en-US" altLang="ja-JP" b="1" dirty="0"/>
              <a:t>null;</a:t>
            </a:r>
            <a:br>
              <a:rPr lang="en-US" altLang="ja-JP" b="1" dirty="0"/>
            </a:br>
            <a:r>
              <a:rPr lang="en-US" altLang="ja-JP" b="1" dirty="0"/>
              <a:t>         end;</a:t>
            </a:r>
          </a:p>
          <a:p>
            <a:pPr indent="-365760"/>
            <a:endParaRPr lang="en-US" altLang="en-US" dirty="0"/>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874713" y="117475"/>
            <a:ext cx="8077200" cy="609600"/>
          </a:xfrm>
        </p:spPr>
        <p:txBody>
          <a:bodyPr/>
          <a:lstStyle/>
          <a:p>
            <a:r>
              <a:rPr lang="en-US" altLang="en-US">
                <a:effectLst/>
              </a:rPr>
              <a:t>Trigger to Maintain credits_earned value</a:t>
            </a:r>
          </a:p>
        </p:txBody>
      </p:sp>
      <p:sp>
        <p:nvSpPr>
          <p:cNvPr id="50179" name="Rectangle 3"/>
          <p:cNvSpPr>
            <a:spLocks noGrp="1" noChangeArrowheads="1"/>
          </p:cNvSpPr>
          <p:nvPr>
            <p:ph type="body" idx="1"/>
          </p:nvPr>
        </p:nvSpPr>
        <p:spPr>
          <a:xfrm>
            <a:off x="781235" y="1093788"/>
            <a:ext cx="7989704" cy="4903787"/>
          </a:xfrm>
        </p:spPr>
        <p:txBody>
          <a:bodyPr/>
          <a:lstStyle/>
          <a:p>
            <a:r>
              <a:rPr lang="en-US" altLang="en-US" b="1" dirty="0"/>
              <a:t>create trigger </a:t>
            </a:r>
            <a:r>
              <a:rPr lang="en-US" altLang="en-US" i="1" dirty="0" err="1"/>
              <a:t>credits_earned</a:t>
            </a:r>
            <a:r>
              <a:rPr lang="en-US" altLang="en-US" i="1" dirty="0"/>
              <a:t> </a:t>
            </a:r>
            <a:r>
              <a:rPr lang="en-US" altLang="en-US" b="1" dirty="0"/>
              <a:t>after update of </a:t>
            </a:r>
            <a:r>
              <a:rPr lang="en-US" altLang="en-US" i="1" dirty="0"/>
              <a:t>takes </a:t>
            </a:r>
            <a:r>
              <a:rPr lang="en-US" altLang="en-US" b="1" dirty="0"/>
              <a:t>on </a:t>
            </a:r>
            <a:r>
              <a:rPr lang="en-US" altLang="en-US" dirty="0"/>
              <a:t>(</a:t>
            </a:r>
            <a:r>
              <a:rPr lang="en-US" altLang="en-US" i="1" dirty="0"/>
              <a:t>grade</a:t>
            </a:r>
            <a:r>
              <a:rPr lang="en-US" altLang="en-US" dirty="0"/>
              <a:t>)</a:t>
            </a:r>
            <a:br>
              <a:rPr lang="en-US" altLang="en-US" dirty="0"/>
            </a:br>
            <a:r>
              <a:rPr lang="en-US" altLang="en-US" b="1" dirty="0"/>
              <a:t>referencing new row as </a:t>
            </a:r>
            <a:r>
              <a:rPr lang="en-US" altLang="en-US" i="1" dirty="0" err="1"/>
              <a:t>nrow</a:t>
            </a:r>
            <a:r>
              <a:rPr lang="en-US" altLang="en-US" i="1" dirty="0"/>
              <a:t/>
            </a:r>
            <a:br>
              <a:rPr lang="en-US" altLang="en-US" i="1" dirty="0"/>
            </a:br>
            <a:r>
              <a:rPr lang="en-US" altLang="en-US" b="1" dirty="0"/>
              <a:t>referencing old row as </a:t>
            </a:r>
            <a:r>
              <a:rPr lang="en-US" altLang="en-US" i="1" dirty="0" err="1"/>
              <a:t>orow</a:t>
            </a:r>
            <a:r>
              <a:rPr lang="en-US" altLang="en-US" i="1" dirty="0"/>
              <a:t/>
            </a:r>
            <a:br>
              <a:rPr lang="en-US" altLang="en-US" i="1" dirty="0"/>
            </a:br>
            <a:r>
              <a:rPr lang="en-US" altLang="en-US" b="1" dirty="0"/>
              <a:t>for each row</a:t>
            </a:r>
            <a:br>
              <a:rPr lang="en-US" altLang="en-US" b="1" dirty="0"/>
            </a:br>
            <a:r>
              <a:rPr lang="en-US" altLang="en-US" b="1" dirty="0"/>
              <a:t>when </a:t>
            </a:r>
            <a:r>
              <a:rPr lang="en-US" altLang="en-US" i="1" dirty="0" err="1"/>
              <a:t>nrow.grade</a:t>
            </a:r>
            <a:r>
              <a:rPr lang="en-US" altLang="en-US" i="1" dirty="0"/>
              <a:t> </a:t>
            </a:r>
            <a:r>
              <a:rPr lang="en-US" altLang="en-US" dirty="0"/>
              <a:t>&lt;&gt; 'F' </a:t>
            </a:r>
            <a:r>
              <a:rPr lang="en-US" altLang="en-US" b="1" dirty="0"/>
              <a:t>and </a:t>
            </a:r>
            <a:r>
              <a:rPr lang="en-US" altLang="en-US" i="1" dirty="0" err="1"/>
              <a:t>nrow.grade</a:t>
            </a:r>
            <a:r>
              <a:rPr lang="en-US" altLang="en-US" i="1" dirty="0"/>
              <a:t> </a:t>
            </a:r>
            <a:r>
              <a:rPr lang="en-US" altLang="en-US" b="1" dirty="0"/>
              <a:t>is not null</a:t>
            </a:r>
            <a:br>
              <a:rPr lang="en-US" altLang="en-US" b="1" dirty="0"/>
            </a:br>
            <a:r>
              <a:rPr lang="en-US" altLang="en-US" b="1" dirty="0"/>
              <a:t>    and </a:t>
            </a:r>
            <a:r>
              <a:rPr lang="en-US" altLang="en-US" dirty="0"/>
              <a:t>(</a:t>
            </a:r>
            <a:r>
              <a:rPr lang="en-US" altLang="en-US" i="1" dirty="0" err="1"/>
              <a:t>orow.grade</a:t>
            </a:r>
            <a:r>
              <a:rPr lang="en-US" altLang="en-US" i="1" dirty="0"/>
              <a:t> </a:t>
            </a:r>
            <a:r>
              <a:rPr lang="en-US" altLang="en-US" dirty="0"/>
              <a:t>= 'F' </a:t>
            </a:r>
            <a:r>
              <a:rPr lang="en-US" altLang="en-US" b="1" dirty="0"/>
              <a:t>or </a:t>
            </a:r>
            <a:r>
              <a:rPr lang="en-US" altLang="en-US" i="1" dirty="0" err="1"/>
              <a:t>orow.grade</a:t>
            </a:r>
            <a:r>
              <a:rPr lang="en-US" altLang="en-US" i="1" dirty="0"/>
              <a:t> </a:t>
            </a:r>
            <a:r>
              <a:rPr lang="en-US" altLang="en-US" b="1" dirty="0"/>
              <a:t>is null</a:t>
            </a:r>
            <a:r>
              <a:rPr lang="en-US" altLang="en-US" dirty="0"/>
              <a:t>)</a:t>
            </a:r>
            <a:br>
              <a:rPr lang="en-US" altLang="en-US" dirty="0"/>
            </a:br>
            <a:r>
              <a:rPr lang="en-US" altLang="en-US" b="1" dirty="0"/>
              <a:t>begin atomic</a:t>
            </a:r>
            <a:br>
              <a:rPr lang="en-US" altLang="en-US" b="1" dirty="0"/>
            </a:br>
            <a:r>
              <a:rPr lang="en-US" altLang="en-US" b="1" dirty="0"/>
              <a:t>     update </a:t>
            </a:r>
            <a:r>
              <a:rPr lang="en-US" altLang="en-US" i="1" dirty="0"/>
              <a:t>student</a:t>
            </a:r>
            <a:br>
              <a:rPr lang="en-US" altLang="en-US" i="1" dirty="0"/>
            </a:br>
            <a:r>
              <a:rPr lang="en-US" altLang="en-US" i="1" dirty="0"/>
              <a:t>     </a:t>
            </a:r>
            <a:r>
              <a:rPr lang="en-US" altLang="en-US" b="1" dirty="0"/>
              <a:t>set </a:t>
            </a:r>
            <a:r>
              <a:rPr lang="en-US" altLang="en-US" i="1" dirty="0" err="1"/>
              <a:t>tot_cred</a:t>
            </a:r>
            <a:r>
              <a:rPr lang="en-US" altLang="en-US" dirty="0"/>
              <a:t>= </a:t>
            </a:r>
            <a:r>
              <a:rPr lang="en-US" altLang="en-US" i="1" dirty="0" err="1"/>
              <a:t>tot_cred</a:t>
            </a:r>
            <a:r>
              <a:rPr lang="en-US" altLang="en-US" i="1" dirty="0"/>
              <a:t> </a:t>
            </a:r>
            <a:r>
              <a:rPr lang="en-US" altLang="en-US" dirty="0"/>
              <a:t>+ </a:t>
            </a:r>
            <a:br>
              <a:rPr lang="en-US" altLang="en-US" dirty="0"/>
            </a:br>
            <a:r>
              <a:rPr lang="en-US" altLang="en-US" dirty="0"/>
              <a:t>           (</a:t>
            </a:r>
            <a:r>
              <a:rPr lang="en-US" altLang="en-US" b="1" dirty="0"/>
              <a:t>select </a:t>
            </a:r>
            <a:r>
              <a:rPr lang="en-US" altLang="en-US" i="1" dirty="0"/>
              <a:t>credits</a:t>
            </a:r>
            <a:br>
              <a:rPr lang="en-US" altLang="en-US" i="1" dirty="0"/>
            </a:br>
            <a:r>
              <a:rPr lang="en-US" altLang="en-US" i="1" dirty="0"/>
              <a:t>            </a:t>
            </a:r>
            <a:r>
              <a:rPr lang="en-US" altLang="en-US" b="1" dirty="0"/>
              <a:t>from </a:t>
            </a:r>
            <a:r>
              <a:rPr lang="en-US" altLang="en-US" i="1" dirty="0"/>
              <a:t>course</a:t>
            </a:r>
            <a:br>
              <a:rPr lang="en-US" altLang="en-US" i="1" dirty="0"/>
            </a:br>
            <a:r>
              <a:rPr lang="en-US" altLang="en-US" i="1" dirty="0"/>
              <a:t>            </a:t>
            </a:r>
            <a:r>
              <a:rPr lang="en-US" altLang="en-US" b="1" dirty="0"/>
              <a:t>where </a:t>
            </a:r>
            <a:r>
              <a:rPr lang="en-US" altLang="en-US" i="1" dirty="0" err="1"/>
              <a:t>course</a:t>
            </a:r>
            <a:r>
              <a:rPr lang="en-US" altLang="en-US" dirty="0" err="1"/>
              <a:t>.</a:t>
            </a:r>
            <a:r>
              <a:rPr lang="en-US" altLang="en-US" i="1" dirty="0" err="1"/>
              <a:t>course_id</a:t>
            </a:r>
            <a:r>
              <a:rPr lang="en-US" altLang="en-US" dirty="0"/>
              <a:t>= </a:t>
            </a:r>
            <a:r>
              <a:rPr lang="en-US" altLang="en-US" i="1" dirty="0" err="1"/>
              <a:t>nrow.course_id</a:t>
            </a:r>
            <a:r>
              <a:rPr lang="en-US" altLang="en-US" dirty="0"/>
              <a:t>)</a:t>
            </a:r>
            <a:br>
              <a:rPr lang="en-US" altLang="en-US" dirty="0"/>
            </a:br>
            <a:r>
              <a:rPr lang="en-US" altLang="en-US" dirty="0"/>
              <a:t>     </a:t>
            </a:r>
            <a:r>
              <a:rPr lang="en-US" altLang="en-US" b="1" dirty="0"/>
              <a:t>where </a:t>
            </a:r>
            <a:r>
              <a:rPr lang="en-US" altLang="en-US" i="1" dirty="0"/>
              <a:t>student.id </a:t>
            </a:r>
            <a:r>
              <a:rPr lang="en-US" altLang="en-US" dirty="0"/>
              <a:t>= </a:t>
            </a:r>
            <a:r>
              <a:rPr lang="en-US" altLang="en-US" i="1" dirty="0"/>
              <a:t>nrow.id</a:t>
            </a:r>
            <a:r>
              <a:rPr lang="en-US" altLang="en-US" dirty="0"/>
              <a:t>;</a:t>
            </a:r>
            <a:br>
              <a:rPr lang="en-US" altLang="en-US" dirty="0"/>
            </a:br>
            <a:r>
              <a:rPr lang="en-US" altLang="en-US" b="1" dirty="0"/>
              <a:t>end</a:t>
            </a:r>
            <a:r>
              <a:rPr lang="en-US" altLang="en-US"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Statement Level Triggers</a:t>
            </a:r>
          </a:p>
        </p:txBody>
      </p:sp>
      <p:sp>
        <p:nvSpPr>
          <p:cNvPr id="51203" name="Rectangle 3"/>
          <p:cNvSpPr>
            <a:spLocks noGrp="1" noChangeArrowheads="1"/>
          </p:cNvSpPr>
          <p:nvPr>
            <p:ph type="body" idx="1"/>
          </p:nvPr>
        </p:nvSpPr>
        <p:spPr>
          <a:xfrm>
            <a:off x="768350" y="1193800"/>
            <a:ext cx="7692069" cy="4903788"/>
          </a:xfrm>
        </p:spPr>
        <p:txBody>
          <a:bodyPr/>
          <a:lstStyle/>
          <a:p>
            <a:r>
              <a:rPr lang="en-US" altLang="en-US" dirty="0"/>
              <a:t>Instead of executing a separate action for each affected row, a single action can be executed for all rows affected by a transaction</a:t>
            </a:r>
          </a:p>
          <a:p>
            <a:pPr lvl="1"/>
            <a:r>
              <a:rPr lang="en-US" altLang="en-US" dirty="0">
                <a:ea typeface="ＭＳ Ｐゴシック" panose="020B0600070205080204" pitchFamily="34" charset="-128"/>
              </a:rPr>
              <a:t>Use     </a:t>
            </a:r>
            <a:r>
              <a:rPr lang="en-US" altLang="en-US" b="1" dirty="0">
                <a:ea typeface="ＭＳ Ｐゴシック" panose="020B0600070205080204" pitchFamily="34" charset="-128"/>
              </a:rPr>
              <a:t>for each statement      </a:t>
            </a:r>
            <a:r>
              <a:rPr lang="en-US" altLang="en-US" dirty="0">
                <a:ea typeface="ＭＳ Ｐゴシック" panose="020B0600070205080204" pitchFamily="34" charset="-128"/>
              </a:rPr>
              <a:t>instead of    </a:t>
            </a:r>
            <a:r>
              <a:rPr lang="en-US" altLang="en-US" b="1" dirty="0">
                <a:ea typeface="ＭＳ Ｐゴシック" panose="020B0600070205080204" pitchFamily="34" charset="-128"/>
              </a:rPr>
              <a:t>for each row</a:t>
            </a:r>
          </a:p>
          <a:p>
            <a:pPr lvl="1"/>
            <a:r>
              <a:rPr lang="en-US" altLang="en-US" dirty="0">
                <a:ea typeface="ＭＳ Ｐゴシック" panose="020B0600070205080204" pitchFamily="34" charset="-128"/>
              </a:rPr>
              <a:t>Use     </a:t>
            </a:r>
            <a:r>
              <a:rPr lang="en-US" altLang="en-US" b="1" dirty="0">
                <a:ea typeface="ＭＳ Ｐゴシック" panose="020B0600070205080204" pitchFamily="34" charset="-128"/>
              </a:rPr>
              <a:t>referencing old table</a:t>
            </a:r>
            <a:r>
              <a:rPr lang="en-US" altLang="en-US" dirty="0">
                <a:ea typeface="ＭＳ Ｐゴシック" panose="020B0600070205080204" pitchFamily="34" charset="-128"/>
              </a:rPr>
              <a:t>   or   </a:t>
            </a:r>
            <a:r>
              <a:rPr lang="en-US" altLang="en-US" b="1" dirty="0">
                <a:ea typeface="ＭＳ Ｐゴシック" panose="020B0600070205080204" pitchFamily="34" charset="-128"/>
              </a:rPr>
              <a:t>referencing new table</a:t>
            </a:r>
            <a:r>
              <a:rPr lang="en-US" altLang="en-US" dirty="0">
                <a:ea typeface="ＭＳ Ｐゴシック" panose="020B0600070205080204" pitchFamily="34" charset="-128"/>
              </a:rPr>
              <a:t>   to refer to temporary tables  (called </a:t>
            </a:r>
            <a:r>
              <a:rPr lang="en-US" altLang="en-US" b="1" i="1" dirty="0">
                <a:solidFill>
                  <a:srgbClr val="002060"/>
                </a:solidFill>
                <a:ea typeface="ＭＳ Ｐゴシック" panose="020B0600070205080204" pitchFamily="34" charset="-128"/>
              </a:rPr>
              <a:t>transition tables</a:t>
            </a:r>
            <a:r>
              <a:rPr lang="en-US" altLang="en-US" dirty="0">
                <a:ea typeface="ＭＳ Ｐゴシック" panose="020B0600070205080204" pitchFamily="34" charset="-128"/>
              </a:rPr>
              <a:t>) containing the affected rows</a:t>
            </a:r>
          </a:p>
          <a:p>
            <a:pPr lvl="1"/>
            <a:r>
              <a:rPr lang="en-US" altLang="en-US" dirty="0">
                <a:ea typeface="ＭＳ Ｐゴシック" panose="020B0600070205080204" pitchFamily="34" charset="-128"/>
              </a:rPr>
              <a:t>Can be more efficient when dealing with SQL statements that update a large number of rows</a:t>
            </a:r>
          </a:p>
          <a:p>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When Not To Use Triggers</a:t>
            </a:r>
          </a:p>
        </p:txBody>
      </p:sp>
      <p:sp>
        <p:nvSpPr>
          <p:cNvPr id="52227" name="Rectangle 3"/>
          <p:cNvSpPr>
            <a:spLocks noGrp="1" noChangeArrowheads="1"/>
          </p:cNvSpPr>
          <p:nvPr>
            <p:ph type="body" idx="1"/>
          </p:nvPr>
        </p:nvSpPr>
        <p:spPr>
          <a:xfrm>
            <a:off x="768351" y="1146416"/>
            <a:ext cx="7638802" cy="4570803"/>
          </a:xfrm>
        </p:spPr>
        <p:txBody>
          <a:bodyPr/>
          <a:lstStyle/>
          <a:p>
            <a:r>
              <a:rPr lang="en-US" altLang="en-US" dirty="0"/>
              <a:t>Triggers were used earlier for tasks such as </a:t>
            </a:r>
          </a:p>
          <a:p>
            <a:pPr lvl="1"/>
            <a:r>
              <a:rPr lang="en-US" altLang="en-US" dirty="0">
                <a:ea typeface="ＭＳ Ｐゴシック" panose="020B0600070205080204" pitchFamily="34" charset="-128"/>
              </a:rPr>
              <a:t>Maintaining summary data (e.g., total salary of each department)</a:t>
            </a:r>
          </a:p>
          <a:p>
            <a:pPr lvl="1"/>
            <a:r>
              <a:rPr lang="en-US" altLang="en-US" dirty="0">
                <a:ea typeface="ＭＳ Ｐゴシック" panose="020B0600070205080204" pitchFamily="34" charset="-128"/>
              </a:rPr>
              <a:t>Replicating databases by recording changes to special relations (called </a:t>
            </a:r>
            <a:r>
              <a:rPr lang="en-US" altLang="en-US" b="1" dirty="0">
                <a:solidFill>
                  <a:srgbClr val="002060"/>
                </a:solidFill>
                <a:ea typeface="ＭＳ Ｐゴシック" panose="020B0600070205080204" pitchFamily="34" charset="-128"/>
              </a:rPr>
              <a:t>change</a:t>
            </a:r>
            <a:r>
              <a:rPr lang="en-US" altLang="en-US" dirty="0">
                <a:ea typeface="ＭＳ Ｐゴシック" panose="020B0600070205080204" pitchFamily="34" charset="-128"/>
              </a:rPr>
              <a:t> or </a:t>
            </a:r>
            <a:r>
              <a:rPr lang="en-US" altLang="en-US" b="1" dirty="0">
                <a:solidFill>
                  <a:srgbClr val="002060"/>
                </a:solidFill>
                <a:ea typeface="ＭＳ Ｐゴシック" panose="020B0600070205080204" pitchFamily="34" charset="-128"/>
              </a:rPr>
              <a:t>delta</a:t>
            </a:r>
            <a:r>
              <a:rPr lang="en-US" altLang="en-US" dirty="0">
                <a:ea typeface="ＭＳ Ｐゴシック" panose="020B0600070205080204" pitchFamily="34" charset="-128"/>
              </a:rPr>
              <a:t> relations) and having a separate process that applies the changes over to a replica </a:t>
            </a:r>
          </a:p>
          <a:p>
            <a:r>
              <a:rPr lang="en-US" altLang="en-US" dirty="0"/>
              <a:t>There are better ways of doing these now:</a:t>
            </a:r>
          </a:p>
          <a:p>
            <a:pPr lvl="1"/>
            <a:r>
              <a:rPr lang="en-US" altLang="en-US" dirty="0">
                <a:ea typeface="ＭＳ Ｐゴシック" panose="020B0600070205080204" pitchFamily="34" charset="-128"/>
              </a:rPr>
              <a:t>Databases today provide built in materialized view facilities to maintain summary data</a:t>
            </a:r>
          </a:p>
          <a:p>
            <a:pPr lvl="1"/>
            <a:r>
              <a:rPr lang="en-US" altLang="en-US" dirty="0">
                <a:ea typeface="ＭＳ Ｐゴシック" panose="020B0600070205080204" pitchFamily="34" charset="-128"/>
              </a:rPr>
              <a:t>Databases provide built-in support for replication</a:t>
            </a:r>
          </a:p>
          <a:p>
            <a:r>
              <a:rPr lang="en-US" altLang="en-US" dirty="0"/>
              <a:t>Encapsulation facilities can be used instead of triggers in many cases</a:t>
            </a:r>
          </a:p>
          <a:p>
            <a:pPr lvl="1"/>
            <a:r>
              <a:rPr lang="en-US" altLang="en-US" dirty="0">
                <a:ea typeface="ＭＳ Ｐゴシック" panose="020B0600070205080204" pitchFamily="34" charset="-128"/>
              </a:rPr>
              <a:t>Define methods to update fields</a:t>
            </a:r>
          </a:p>
          <a:p>
            <a:pPr lvl="1"/>
            <a:r>
              <a:rPr lang="en-US" altLang="en-US" dirty="0">
                <a:ea typeface="ＭＳ Ｐゴシック" panose="020B0600070205080204" pitchFamily="34" charset="-128"/>
              </a:rPr>
              <a:t>Carry out actions as part of the update methods instead of </a:t>
            </a:r>
            <a:br>
              <a:rPr lang="en-US" altLang="en-US" dirty="0">
                <a:ea typeface="ＭＳ Ｐゴシック" panose="020B0600070205080204" pitchFamily="34" charset="-128"/>
              </a:rPr>
            </a:br>
            <a:r>
              <a:rPr lang="en-US" altLang="en-US" dirty="0">
                <a:ea typeface="ＭＳ Ｐゴシック" panose="020B0600070205080204" pitchFamily="34" charset="-128"/>
              </a:rPr>
              <a:t>through a trigger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When Not To Use Triggers (Cont.)</a:t>
            </a:r>
          </a:p>
        </p:txBody>
      </p:sp>
      <p:sp>
        <p:nvSpPr>
          <p:cNvPr id="53251" name="Rectangle 3"/>
          <p:cNvSpPr>
            <a:spLocks noGrp="1" noChangeArrowheads="1"/>
          </p:cNvSpPr>
          <p:nvPr>
            <p:ph type="body" idx="1"/>
          </p:nvPr>
        </p:nvSpPr>
        <p:spPr>
          <a:xfrm>
            <a:off x="768350" y="1181100"/>
            <a:ext cx="7594415" cy="5289550"/>
          </a:xfrm>
        </p:spPr>
        <p:txBody>
          <a:bodyPr/>
          <a:lstStyle/>
          <a:p>
            <a:pPr>
              <a:lnSpc>
                <a:spcPct val="80000"/>
              </a:lnSpc>
            </a:pPr>
            <a:r>
              <a:rPr lang="en-US" altLang="en-US" dirty="0"/>
              <a:t>Risk of unintended execution of triggers, for example, when</a:t>
            </a:r>
          </a:p>
          <a:p>
            <a:pPr lvl="1">
              <a:lnSpc>
                <a:spcPct val="80000"/>
              </a:lnSpc>
            </a:pPr>
            <a:r>
              <a:rPr lang="en-US" altLang="en-US" dirty="0">
                <a:ea typeface="ＭＳ Ｐゴシック" panose="020B0600070205080204" pitchFamily="34" charset="-128"/>
              </a:rPr>
              <a:t>Loading data from a backup copy</a:t>
            </a:r>
          </a:p>
          <a:p>
            <a:pPr lvl="1">
              <a:lnSpc>
                <a:spcPct val="80000"/>
              </a:lnSpc>
            </a:pPr>
            <a:r>
              <a:rPr lang="en-US" altLang="en-US" dirty="0">
                <a:ea typeface="ＭＳ Ｐゴシック" panose="020B0600070205080204" pitchFamily="34" charset="-128"/>
              </a:rPr>
              <a:t>Replicating updates at a remote site</a:t>
            </a:r>
          </a:p>
          <a:p>
            <a:pPr lvl="1">
              <a:lnSpc>
                <a:spcPct val="80000"/>
              </a:lnSpc>
            </a:pPr>
            <a:r>
              <a:rPr lang="en-US" altLang="en-US" dirty="0">
                <a:ea typeface="ＭＳ Ｐゴシック" panose="020B0600070205080204" pitchFamily="34" charset="-128"/>
              </a:rPr>
              <a:t>Trigger execution can be disabled before such actions.</a:t>
            </a:r>
          </a:p>
          <a:p>
            <a:pPr>
              <a:lnSpc>
                <a:spcPct val="80000"/>
              </a:lnSpc>
            </a:pPr>
            <a:r>
              <a:rPr lang="en-US" altLang="en-US" dirty="0"/>
              <a:t>Other risks with triggers:</a:t>
            </a:r>
          </a:p>
          <a:p>
            <a:pPr lvl="1">
              <a:lnSpc>
                <a:spcPct val="80000"/>
              </a:lnSpc>
            </a:pPr>
            <a:r>
              <a:rPr lang="en-US" altLang="en-US" dirty="0">
                <a:ea typeface="ＭＳ Ｐゴシック" panose="020B0600070205080204" pitchFamily="34" charset="-128"/>
              </a:rPr>
              <a:t>Error leading to failure of critical transactions that set off the trigger</a:t>
            </a:r>
          </a:p>
          <a:p>
            <a:pPr lvl="1">
              <a:lnSpc>
                <a:spcPct val="80000"/>
              </a:lnSpc>
            </a:pPr>
            <a:r>
              <a:rPr lang="en-US" altLang="en-US" dirty="0">
                <a:ea typeface="ＭＳ Ｐゴシック" panose="020B0600070205080204" pitchFamily="34" charset="-128"/>
              </a:rPr>
              <a:t>Cascading execution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Rectangle 3"/>
          <p:cNvSpPr>
            <a:spLocks noGrp="1" noChangeArrowheads="1"/>
          </p:cNvSpPr>
          <p:nvPr>
            <p:ph type="body" idx="1"/>
          </p:nvPr>
        </p:nvSpPr>
        <p:spPr>
          <a:xfrm>
            <a:off x="2951163" y="2492375"/>
            <a:ext cx="4687887" cy="1858963"/>
          </a:xfrm>
        </p:spPr>
        <p:txBody>
          <a:bodyPr/>
          <a:lstStyle/>
          <a:p>
            <a:pPr>
              <a:buFont typeface="Monotype Sorts" charset="2"/>
              <a:buNone/>
              <a:defRPr/>
            </a:pPr>
            <a:r>
              <a:rPr lang="en-US" altLang="en-US" sz="3200" b="1" dirty="0">
                <a:solidFill>
                  <a:srgbClr val="002060"/>
                </a:solidFill>
                <a:latin typeface="+mj-lt"/>
                <a:cs typeface="+mj-cs"/>
              </a:rPr>
              <a:t>Recursive Queries</a:t>
            </a:r>
          </a:p>
        </p:txBody>
      </p:sp>
      <p:sp>
        <p:nvSpPr>
          <p:cNvPr id="54275" name="Rectangle 4"/>
          <p:cNvSpPr>
            <a:spLocks noChangeArrowheads="1"/>
          </p:cNvSpPr>
          <p:nvPr/>
        </p:nvSpPr>
        <p:spPr bwMode="auto">
          <a:xfrm>
            <a:off x="1435100" y="-763588"/>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Recursion in SQL</a:t>
            </a:r>
          </a:p>
        </p:txBody>
      </p:sp>
      <p:sp>
        <p:nvSpPr>
          <p:cNvPr id="55299" name="Rectangle 3"/>
          <p:cNvSpPr>
            <a:spLocks noGrp="1" noChangeArrowheads="1"/>
          </p:cNvSpPr>
          <p:nvPr>
            <p:ph type="body" idx="1"/>
          </p:nvPr>
        </p:nvSpPr>
        <p:spPr>
          <a:xfrm>
            <a:off x="768351" y="1047750"/>
            <a:ext cx="7778750" cy="4903788"/>
          </a:xfrm>
        </p:spPr>
        <p:txBody>
          <a:bodyPr/>
          <a:lstStyle/>
          <a:p>
            <a:r>
              <a:rPr lang="en-US" altLang="en-US" dirty="0"/>
              <a:t>SQL:1999 permits recursive view definition</a:t>
            </a:r>
          </a:p>
          <a:p>
            <a:r>
              <a:rPr lang="en-US" altLang="en-US" dirty="0"/>
              <a:t>Example: find which courses are a prerequisite, whether directly or indirectly, for a specific course </a:t>
            </a:r>
            <a:br>
              <a:rPr lang="en-US" altLang="en-US" dirty="0"/>
            </a:br>
            <a:r>
              <a:rPr lang="en-US" altLang="en-US" b="1" dirty="0"/>
              <a:t>with recursive </a:t>
            </a:r>
            <a:r>
              <a:rPr lang="en-US" altLang="en-US" i="1" dirty="0" err="1"/>
              <a:t>rec_prereq</a:t>
            </a:r>
            <a:r>
              <a:rPr lang="en-US" altLang="en-US" dirty="0"/>
              <a:t>(</a:t>
            </a:r>
            <a:r>
              <a:rPr lang="en-US" altLang="en-US" i="1" dirty="0" err="1"/>
              <a:t>course_id</a:t>
            </a:r>
            <a:r>
              <a:rPr lang="en-US" altLang="en-US" dirty="0"/>
              <a:t>, </a:t>
            </a:r>
            <a:r>
              <a:rPr lang="en-US" altLang="en-US" i="1" dirty="0" err="1"/>
              <a:t>prereq_id</a:t>
            </a:r>
            <a:r>
              <a:rPr lang="en-US" altLang="en-US" dirty="0"/>
              <a:t>) </a:t>
            </a:r>
            <a:r>
              <a:rPr lang="en-US" altLang="en-US" b="1" dirty="0"/>
              <a:t>as </a:t>
            </a:r>
            <a:r>
              <a:rPr lang="en-US" altLang="en-US" dirty="0"/>
              <a:t>(</a:t>
            </a:r>
            <a:br>
              <a:rPr lang="en-US" altLang="en-US" dirty="0"/>
            </a:br>
            <a:r>
              <a:rPr lang="en-US" altLang="en-US" dirty="0"/>
              <a:t>        </a:t>
            </a:r>
            <a:r>
              <a:rPr lang="en-US" altLang="en-US" b="1" dirty="0"/>
              <a:t>select </a:t>
            </a:r>
            <a:r>
              <a:rPr lang="en-US" altLang="en-US" i="1" dirty="0" err="1"/>
              <a:t>course_id</a:t>
            </a:r>
            <a:r>
              <a:rPr lang="en-US" altLang="en-US" dirty="0"/>
              <a:t>, </a:t>
            </a:r>
            <a:r>
              <a:rPr lang="en-US" altLang="en-US" i="1" dirty="0" err="1"/>
              <a:t>prereq_id</a:t>
            </a:r>
            <a:r>
              <a:rPr lang="en-US" altLang="en-US" i="1" dirty="0"/>
              <a:t/>
            </a:r>
            <a:br>
              <a:rPr lang="en-US" altLang="en-US" i="1" dirty="0"/>
            </a:br>
            <a:r>
              <a:rPr lang="en-US" altLang="en-US" i="1" dirty="0"/>
              <a:t>        </a:t>
            </a:r>
            <a:r>
              <a:rPr lang="en-US" altLang="en-US" b="1" dirty="0"/>
              <a:t>from </a:t>
            </a:r>
            <a:r>
              <a:rPr lang="en-US" altLang="en-US" i="1" dirty="0" err="1"/>
              <a:t>prereq</a:t>
            </a:r>
            <a:r>
              <a:rPr lang="en-US" altLang="en-US" i="1" dirty="0"/>
              <a:t/>
            </a:r>
            <a:br>
              <a:rPr lang="en-US" altLang="en-US" i="1" dirty="0"/>
            </a:br>
            <a:r>
              <a:rPr lang="en-US" altLang="en-US" i="1" dirty="0"/>
              <a:t>    </a:t>
            </a:r>
            <a:r>
              <a:rPr lang="en-US" altLang="en-US" b="1" dirty="0"/>
              <a:t>union</a:t>
            </a:r>
            <a:br>
              <a:rPr lang="en-US" altLang="en-US" b="1" dirty="0"/>
            </a:br>
            <a:r>
              <a:rPr lang="en-US" altLang="en-US" b="1" dirty="0"/>
              <a:t>        select </a:t>
            </a:r>
            <a:r>
              <a:rPr lang="en-US" altLang="en-US" i="1" dirty="0" err="1"/>
              <a:t>rec_prereq</a:t>
            </a:r>
            <a:r>
              <a:rPr lang="en-US" altLang="en-US" dirty="0" err="1"/>
              <a:t>.</a:t>
            </a:r>
            <a:r>
              <a:rPr lang="en-US" altLang="en-US" i="1" dirty="0" err="1"/>
              <a:t>course_id</a:t>
            </a:r>
            <a:r>
              <a:rPr lang="en-US" altLang="en-US" b="1" dirty="0"/>
              <a:t>, </a:t>
            </a:r>
            <a:r>
              <a:rPr lang="en-US" altLang="en-US" i="1" dirty="0" err="1"/>
              <a:t>prereq</a:t>
            </a:r>
            <a:r>
              <a:rPr lang="en-US" altLang="en-US" dirty="0" err="1"/>
              <a:t>.</a:t>
            </a:r>
            <a:r>
              <a:rPr lang="en-US" altLang="en-US" i="1" dirty="0" err="1"/>
              <a:t>prereq_id</a:t>
            </a:r>
            <a:r>
              <a:rPr lang="en-US" altLang="en-US" dirty="0"/>
              <a:t>, </a:t>
            </a:r>
            <a:r>
              <a:rPr lang="en-US" altLang="en-US" i="1" dirty="0"/>
              <a:t/>
            </a:r>
            <a:br>
              <a:rPr lang="en-US" altLang="en-US" i="1" dirty="0"/>
            </a:br>
            <a:r>
              <a:rPr lang="en-US" altLang="en-US" i="1" dirty="0"/>
              <a:t>        </a:t>
            </a:r>
            <a:r>
              <a:rPr lang="en-US" altLang="en-US" b="1" dirty="0"/>
              <a:t>from </a:t>
            </a:r>
            <a:r>
              <a:rPr lang="en-US" altLang="en-US" i="1" dirty="0" err="1"/>
              <a:t>rec_rereq</a:t>
            </a:r>
            <a:r>
              <a:rPr lang="en-US" altLang="en-US" dirty="0"/>
              <a:t>, </a:t>
            </a:r>
            <a:r>
              <a:rPr lang="en-US" altLang="en-US" i="1" dirty="0" err="1"/>
              <a:t>prereq</a:t>
            </a:r>
            <a:r>
              <a:rPr lang="en-US" altLang="en-US" i="1" dirty="0"/>
              <a:t/>
            </a:r>
            <a:br>
              <a:rPr lang="en-US" altLang="en-US" i="1" dirty="0"/>
            </a:br>
            <a:r>
              <a:rPr lang="en-US" altLang="en-US" i="1" dirty="0"/>
              <a:t>        </a:t>
            </a:r>
            <a:r>
              <a:rPr lang="en-US" altLang="en-US" b="1" dirty="0"/>
              <a:t>where </a:t>
            </a:r>
            <a:r>
              <a:rPr lang="en-US" altLang="en-US" i="1" dirty="0" err="1"/>
              <a:t>rec_prereq</a:t>
            </a:r>
            <a:r>
              <a:rPr lang="en-US" altLang="en-US" dirty="0" err="1"/>
              <a:t>.</a:t>
            </a:r>
            <a:r>
              <a:rPr lang="en-US" altLang="en-US" i="1" dirty="0" err="1"/>
              <a:t>prereq_id</a:t>
            </a:r>
            <a:r>
              <a:rPr lang="en-US" altLang="en-US" i="1" dirty="0"/>
              <a:t> </a:t>
            </a:r>
            <a:r>
              <a:rPr lang="en-US" altLang="en-US" dirty="0"/>
              <a:t>= </a:t>
            </a:r>
            <a:r>
              <a:rPr lang="en-US" altLang="en-US" i="1" dirty="0" err="1"/>
              <a:t>prereq</a:t>
            </a:r>
            <a:r>
              <a:rPr lang="en-US" altLang="en-US" dirty="0" err="1"/>
              <a:t>.</a:t>
            </a:r>
            <a:r>
              <a:rPr lang="en-US" altLang="en-US" i="1" dirty="0" err="1"/>
              <a:t>course_id</a:t>
            </a:r>
            <a:r>
              <a:rPr lang="en-US" altLang="en-US" i="1" dirty="0"/>
              <a:t/>
            </a:r>
            <a:br>
              <a:rPr lang="en-US" altLang="en-US" i="1" dirty="0"/>
            </a:br>
            <a:r>
              <a:rPr lang="en-US" altLang="en-US" i="1" dirty="0"/>
              <a:t>    </a:t>
            </a:r>
            <a:r>
              <a:rPr lang="en-US" altLang="en-US" dirty="0"/>
              <a:t>)</a:t>
            </a:r>
            <a:br>
              <a:rPr lang="en-US" altLang="en-US" dirty="0"/>
            </a:br>
            <a:r>
              <a:rPr lang="en-US" altLang="en-US" b="1" dirty="0"/>
              <a:t>select </a:t>
            </a:r>
            <a:r>
              <a:rPr lang="en-US" altLang="en-US" dirty="0"/>
              <a:t>∗</a:t>
            </a:r>
            <a:br>
              <a:rPr lang="en-US" altLang="en-US" dirty="0"/>
            </a:br>
            <a:r>
              <a:rPr lang="en-US" altLang="en-US" b="1" dirty="0"/>
              <a:t>from </a:t>
            </a:r>
            <a:r>
              <a:rPr lang="en-US" altLang="en-US" i="1" dirty="0" err="1"/>
              <a:t>rec_prereq</a:t>
            </a:r>
            <a:r>
              <a:rPr lang="en-US" altLang="en-US" dirty="0"/>
              <a:t>;</a:t>
            </a:r>
          </a:p>
          <a:p>
            <a:pPr>
              <a:buFont typeface="Monotype Sorts" charset="2"/>
              <a:buNone/>
            </a:pPr>
            <a:r>
              <a:rPr lang="en-US" altLang="en-US" i="1" dirty="0"/>
              <a:t>	</a:t>
            </a:r>
            <a:r>
              <a:rPr lang="en-US" altLang="en-US" dirty="0"/>
              <a:t>This example view, </a:t>
            </a:r>
            <a:r>
              <a:rPr lang="en-US" altLang="en-US" i="1" dirty="0" err="1"/>
              <a:t>rec_prereq</a:t>
            </a:r>
            <a:r>
              <a:rPr lang="en-US" altLang="en-US" i="1" dirty="0"/>
              <a:t>,</a:t>
            </a:r>
            <a:r>
              <a:rPr lang="en-US" altLang="en-US" dirty="0"/>
              <a:t> is called the </a:t>
            </a:r>
            <a:r>
              <a:rPr lang="en-US" altLang="en-US" i="1" dirty="0"/>
              <a:t>transitive closure</a:t>
            </a:r>
            <a:r>
              <a:rPr lang="en-US" altLang="en-US" dirty="0"/>
              <a:t> of the </a:t>
            </a:r>
            <a:r>
              <a:rPr lang="en-US" altLang="en-US" i="1" dirty="0" err="1"/>
              <a:t>prereq</a:t>
            </a:r>
            <a:r>
              <a:rPr lang="en-US" altLang="en-US" i="1" dirty="0"/>
              <a:t> </a:t>
            </a:r>
            <a:r>
              <a:rPr lang="en-US" altLang="en-US" dirty="0"/>
              <a:t>relation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The Power of Recursion</a:t>
            </a:r>
          </a:p>
        </p:txBody>
      </p:sp>
      <p:sp>
        <p:nvSpPr>
          <p:cNvPr id="56323" name="Rectangle 3"/>
          <p:cNvSpPr>
            <a:spLocks noGrp="1" noChangeArrowheads="1"/>
          </p:cNvSpPr>
          <p:nvPr>
            <p:ph type="body" idx="1"/>
          </p:nvPr>
        </p:nvSpPr>
        <p:spPr>
          <a:xfrm>
            <a:off x="768350" y="1165225"/>
            <a:ext cx="7621048" cy="5237163"/>
          </a:xfrm>
        </p:spPr>
        <p:txBody>
          <a:bodyPr/>
          <a:lstStyle/>
          <a:p>
            <a:r>
              <a:rPr lang="en-US" altLang="en-US" dirty="0"/>
              <a:t>Recursive views make it possible to write queries, such as transitive closure queries, that cannot be written without recursion or iteration.</a:t>
            </a:r>
          </a:p>
          <a:p>
            <a:pPr lvl="1"/>
            <a:r>
              <a:rPr lang="en-US" altLang="en-US" dirty="0">
                <a:ea typeface="ＭＳ Ｐゴシック" panose="020B0600070205080204" pitchFamily="34" charset="-128"/>
              </a:rPr>
              <a:t>Intuition:  Without recursion, a non-recursive non-iterative program can perform only a fixed number of joins of </a:t>
            </a:r>
            <a:r>
              <a:rPr lang="en-US" altLang="en-US" i="1" dirty="0" err="1">
                <a:ea typeface="ＭＳ Ｐゴシック" panose="020B0600070205080204" pitchFamily="34" charset="-128"/>
              </a:rPr>
              <a:t>prereq</a:t>
            </a:r>
            <a:r>
              <a:rPr lang="en-US" altLang="en-US" dirty="0">
                <a:ea typeface="ＭＳ Ｐゴシック" panose="020B0600070205080204" pitchFamily="34" charset="-128"/>
              </a:rPr>
              <a:t> with itself</a:t>
            </a:r>
          </a:p>
          <a:p>
            <a:pPr lvl="2"/>
            <a:r>
              <a:rPr lang="en-US" altLang="en-US" dirty="0">
                <a:ea typeface="ＭＳ Ｐゴシック" panose="020B0600070205080204" pitchFamily="34" charset="-128"/>
              </a:rPr>
              <a:t>This can give only a fixed number of levels of managers</a:t>
            </a:r>
          </a:p>
          <a:p>
            <a:pPr lvl="2"/>
            <a:r>
              <a:rPr lang="en-US" altLang="en-US" dirty="0">
                <a:ea typeface="ＭＳ Ｐゴシック" panose="020B0600070205080204" pitchFamily="34" charset="-128"/>
              </a:rPr>
              <a:t>Given a fixed non-recursive query, we can construct a database with a greater number of levels of prerequisites on which the query will not work</a:t>
            </a:r>
          </a:p>
          <a:p>
            <a:pPr lvl="2"/>
            <a:r>
              <a:rPr lang="en-US" altLang="en-US" dirty="0">
                <a:ea typeface="ＭＳ Ｐゴシック" panose="020B0600070205080204" pitchFamily="34" charset="-128"/>
              </a:rPr>
              <a:t>Alternative: write a procedure to iterate as many times as required</a:t>
            </a:r>
          </a:p>
          <a:p>
            <a:pPr lvl="3"/>
            <a:r>
              <a:rPr lang="en-US" altLang="en-US" dirty="0">
                <a:ea typeface="ＭＳ Ｐゴシック" panose="020B0600070205080204" pitchFamily="34" charset="-128"/>
              </a:rPr>
              <a:t>See procedure </a:t>
            </a:r>
            <a:r>
              <a:rPr lang="en-US" altLang="en-US" i="1" dirty="0" err="1">
                <a:ea typeface="ＭＳ Ｐゴシック" panose="020B0600070205080204" pitchFamily="34" charset="-128"/>
              </a:rPr>
              <a:t>findAllPrereqs</a:t>
            </a:r>
            <a:r>
              <a:rPr lang="en-US" altLang="en-US" dirty="0">
                <a:ea typeface="ＭＳ Ｐゴシック" panose="020B0600070205080204" pitchFamily="34" charset="-128"/>
              </a:rPr>
              <a:t> in book</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The Power of Recursion</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0"/>
            <a:ext cx="7638802" cy="4903787"/>
          </a:xfrm>
        </p:spPr>
        <p:txBody>
          <a:bodyPr lIns="91440"/>
          <a:lstStyle/>
          <a:p>
            <a:r>
              <a:rPr lang="en-US" altLang="en-US" dirty="0"/>
              <a:t>Computing transitive closure using iteration, adding successive tuples to </a:t>
            </a:r>
            <a:r>
              <a:rPr lang="en-US" altLang="en-US" i="1" dirty="0" err="1"/>
              <a:t>rec_prereq</a:t>
            </a:r>
            <a:endParaRPr lang="en-US" altLang="en-US" i="1" dirty="0"/>
          </a:p>
          <a:p>
            <a:pPr lvl="1"/>
            <a:r>
              <a:rPr lang="en-US" altLang="en-US" dirty="0">
                <a:ea typeface="ＭＳ Ｐゴシック" panose="020B0600070205080204" pitchFamily="34" charset="-128"/>
              </a:rPr>
              <a:t>The next slide shows a </a:t>
            </a:r>
            <a:r>
              <a:rPr lang="en-US" altLang="en-US" i="1" dirty="0" err="1">
                <a:ea typeface="ＭＳ Ｐゴシック" panose="020B0600070205080204" pitchFamily="34" charset="-128"/>
              </a:rPr>
              <a:t>prereq</a:t>
            </a:r>
            <a:r>
              <a:rPr lang="en-US" altLang="en-US" dirty="0">
                <a:ea typeface="ＭＳ Ｐゴシック" panose="020B0600070205080204" pitchFamily="34" charset="-128"/>
              </a:rPr>
              <a:t> relation</a:t>
            </a:r>
          </a:p>
          <a:p>
            <a:pPr lvl="1"/>
            <a:r>
              <a:rPr lang="en-US" altLang="en-US" dirty="0">
                <a:ea typeface="ＭＳ Ｐゴシック" panose="020B0600070205080204" pitchFamily="34" charset="-128"/>
              </a:rPr>
              <a:t>Each step of the iterative process constructs an extended version of </a:t>
            </a:r>
            <a:r>
              <a:rPr lang="en-US" altLang="en-US" i="1" dirty="0" err="1">
                <a:ea typeface="ＭＳ Ｐゴシック" panose="020B0600070205080204" pitchFamily="34" charset="-128"/>
              </a:rPr>
              <a:t>rec_prereq</a:t>
            </a:r>
            <a:r>
              <a:rPr lang="en-US" altLang="en-US" i="1" dirty="0">
                <a:ea typeface="ＭＳ Ｐゴシック" panose="020B0600070205080204" pitchFamily="34" charset="-128"/>
              </a:rPr>
              <a:t> </a:t>
            </a:r>
            <a:r>
              <a:rPr lang="en-US" altLang="en-US" dirty="0">
                <a:ea typeface="ＭＳ Ｐゴシック" panose="020B0600070205080204" pitchFamily="34" charset="-128"/>
              </a:rPr>
              <a:t>from its recursive definition.  </a:t>
            </a:r>
          </a:p>
          <a:p>
            <a:pPr lvl="1"/>
            <a:r>
              <a:rPr lang="en-US" altLang="en-US" dirty="0">
                <a:ea typeface="ＭＳ Ｐゴシック" panose="020B0600070205080204" pitchFamily="34" charset="-128"/>
              </a:rPr>
              <a:t>The final result is called the </a:t>
            </a:r>
            <a:r>
              <a:rPr lang="en-US" altLang="en-US" i="1" dirty="0">
                <a:ea typeface="ＭＳ Ｐゴシック" panose="020B0600070205080204" pitchFamily="34" charset="-128"/>
              </a:rPr>
              <a:t>fixed point </a:t>
            </a:r>
            <a:r>
              <a:rPr lang="en-US" altLang="en-US" dirty="0">
                <a:ea typeface="ＭＳ Ｐゴシック" panose="020B0600070205080204" pitchFamily="34" charset="-128"/>
              </a:rPr>
              <a:t> of the recursive view definition.</a:t>
            </a:r>
          </a:p>
          <a:p>
            <a:r>
              <a:rPr lang="en-US" altLang="en-US" dirty="0"/>
              <a:t>Recursive views are required to be </a:t>
            </a:r>
            <a:r>
              <a:rPr lang="en-US" altLang="en-US" b="1" dirty="0">
                <a:solidFill>
                  <a:srgbClr val="002060"/>
                </a:solidFill>
              </a:rPr>
              <a:t>monotonic</a:t>
            </a:r>
            <a:r>
              <a:rPr lang="en-US" altLang="en-US" i="1" dirty="0"/>
              <a:t>.  </a:t>
            </a:r>
            <a:r>
              <a:rPr lang="en-US" altLang="en-US" dirty="0"/>
              <a:t>That is, if we add tuples to </a:t>
            </a:r>
            <a:r>
              <a:rPr lang="en-US" altLang="en-US" i="1" dirty="0" err="1"/>
              <a:t>prereq</a:t>
            </a:r>
            <a:r>
              <a:rPr lang="en-US" altLang="en-US" dirty="0"/>
              <a:t> the view </a:t>
            </a:r>
            <a:r>
              <a:rPr lang="en-US" altLang="en-US" i="1" dirty="0" err="1"/>
              <a:t>rec_prereq</a:t>
            </a:r>
            <a:r>
              <a:rPr lang="en-US" altLang="en-US" i="1" dirty="0"/>
              <a:t> </a:t>
            </a:r>
            <a:r>
              <a:rPr lang="en-US" altLang="en-US" dirty="0"/>
              <a:t>contains all of the tuples it contained before, plus possibly more</a:t>
            </a:r>
          </a:p>
          <a:p>
            <a:pPr indent="-365760"/>
            <a:endParaRPr lang="en-US" altLang="en-US" dirty="0"/>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a:xfrm>
            <a:off x="962025" y="73025"/>
            <a:ext cx="8077200" cy="609600"/>
          </a:xfrm>
        </p:spPr>
        <p:txBody>
          <a:bodyPr/>
          <a:lstStyle/>
          <a:p>
            <a:pPr>
              <a:defRPr/>
            </a:pPr>
            <a:r>
              <a:rPr lang="en-US" altLang="en-US">
                <a:effectLst>
                  <a:outerShdw blurRad="38100" dist="38100" dir="2700000" algn="tl">
                    <a:srgbClr val="C0C0C0"/>
                  </a:outerShdw>
                </a:effectLst>
              </a:rPr>
              <a:t>Example of Fixed-Point Computation</a:t>
            </a:r>
          </a:p>
        </p:txBody>
      </p:sp>
      <p:pic>
        <p:nvPicPr>
          <p:cNvPr id="58371" name="Picture 2" descr="C:\Users\as668\Desktop\Judi\5_1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1363" y="3540125"/>
            <a:ext cx="5376862"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2" name="Picture 5" descr="C:\Users\as668\Desktop\Judi\5_13.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6500" y="1198563"/>
            <a:ext cx="1990725" cy="203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7250" name="Rectangle 2">
            <a:extLst>
              <a:ext uri="{FF2B5EF4-FFF2-40B4-BE49-F238E27FC236}">
                <a16:creationId xmlns:a16="http://schemas.microsoft.com/office/drawing/2014/main" id="{D4F88ED0-9ED9-4BC3-8A98-213849EED212}"/>
              </a:ext>
            </a:extLst>
          </p:cNvPr>
          <p:cNvSpPr>
            <a:spLocks noGrp="1" noChangeArrowheads="1"/>
          </p:cNvSpPr>
          <p:nvPr>
            <p:ph type="ctrTitle"/>
          </p:nvPr>
        </p:nvSpPr>
        <p:spPr/>
        <p:txBody>
          <a:bodyPr/>
          <a:lstStyle/>
          <a:p>
            <a:pPr>
              <a:defRPr/>
            </a:pPr>
            <a:r>
              <a:rPr lang="en-US" dirty="0">
                <a:ea typeface="+mj-ea"/>
              </a:rPr>
              <a:t>End of Chapter 5</a:t>
            </a:r>
          </a:p>
        </p:txBody>
      </p:sp>
    </p:spTree>
  </p:cSld>
  <p:clrMapOvr>
    <a:masterClrMapping/>
  </p:clrMapOvr>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DB6</Template>
  <TotalTime>92788</TotalTime>
  <Words>4275</Words>
  <Application>Microsoft Office PowerPoint</Application>
  <PresentationFormat>On-screen Show (4:3)</PresentationFormat>
  <Paragraphs>281</Paragraphs>
  <Slides>28</Slides>
  <Notes>28</Notes>
  <HiddenSlides>7</HiddenSlides>
  <MMClips>0</MMClips>
  <ScaleCrop>false</ScaleCrop>
  <HeadingPairs>
    <vt:vector size="8" baseType="variant">
      <vt:variant>
        <vt:lpstr>Fonts Used</vt:lpstr>
      </vt:variant>
      <vt:variant>
        <vt:i4>9</vt:i4>
      </vt:variant>
      <vt:variant>
        <vt:lpstr>Theme</vt:lpstr>
      </vt:variant>
      <vt:variant>
        <vt:i4>1</vt:i4>
      </vt:variant>
      <vt:variant>
        <vt:lpstr>Slide Titles</vt:lpstr>
      </vt:variant>
      <vt:variant>
        <vt:i4>28</vt:i4>
      </vt:variant>
      <vt:variant>
        <vt:lpstr>Custom Shows</vt:lpstr>
      </vt:variant>
      <vt:variant>
        <vt:i4>1</vt:i4>
      </vt:variant>
    </vt:vector>
  </HeadingPairs>
  <TitlesOfParts>
    <vt:vector size="39" baseType="lpstr">
      <vt:lpstr>ＭＳ Ｐゴシック</vt:lpstr>
      <vt:lpstr>ＭＳ Ｐゴシック</vt:lpstr>
      <vt:lpstr>Arial</vt:lpstr>
      <vt:lpstr>Helvetica</vt:lpstr>
      <vt:lpstr>Monotype Sorts</vt:lpstr>
      <vt:lpstr>Tahoma</vt:lpstr>
      <vt:lpstr>Times New Roman</vt:lpstr>
      <vt:lpstr>Webdings</vt:lpstr>
      <vt:lpstr>Wingdings</vt:lpstr>
      <vt:lpstr>2_db-5-grey</vt:lpstr>
      <vt:lpstr>Chapter 5: Advanced SQL</vt:lpstr>
      <vt:lpstr>Outline</vt:lpstr>
      <vt:lpstr>PowerPoint Presentation</vt:lpstr>
      <vt:lpstr>Functions and Procedures</vt:lpstr>
      <vt:lpstr>Declaring SQL Functions</vt:lpstr>
      <vt:lpstr>Table Functions</vt:lpstr>
      <vt:lpstr>SQL Procedures</vt:lpstr>
      <vt:lpstr>SQL Procedures (Cont.)</vt:lpstr>
      <vt:lpstr>Language Constructs for Procedures &amp; Functions</vt:lpstr>
      <vt:lpstr>Language Constructs (Cont.)</vt:lpstr>
      <vt:lpstr>Language Constructs – if-then-else</vt:lpstr>
      <vt:lpstr>Example procedure</vt:lpstr>
      <vt:lpstr>External Language Routines</vt:lpstr>
      <vt:lpstr>External Language Routines (Cont.)</vt:lpstr>
      <vt:lpstr>Security with External Language Routines</vt:lpstr>
      <vt:lpstr>PowerPoint Presentation</vt:lpstr>
      <vt:lpstr>Triggers</vt:lpstr>
      <vt:lpstr>Triggering Events and Actions in SQL</vt:lpstr>
      <vt:lpstr>Trigger to Maintain credits_earned value</vt:lpstr>
      <vt:lpstr>Statement Level Triggers</vt:lpstr>
      <vt:lpstr>When Not To Use Triggers</vt:lpstr>
      <vt:lpstr>When Not To Use Triggers (Cont.)</vt:lpstr>
      <vt:lpstr>PowerPoint Presentation</vt:lpstr>
      <vt:lpstr>Recursion in SQL</vt:lpstr>
      <vt:lpstr>The Power of Recursion</vt:lpstr>
      <vt:lpstr>The Power of Recursion</vt:lpstr>
      <vt:lpstr>Example of Fixed-Point Computation</vt:lpstr>
      <vt:lpstr>End of Chapter 5</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Windows User</cp:lastModifiedBy>
  <cp:revision>486</cp:revision>
  <cp:lastPrinted>1999-06-28T19:27:31Z</cp:lastPrinted>
  <dcterms:created xsi:type="dcterms:W3CDTF">2009-12-21T15:40:22Z</dcterms:created>
  <dcterms:modified xsi:type="dcterms:W3CDTF">2022-03-17T10:04:53Z</dcterms:modified>
</cp:coreProperties>
</file>