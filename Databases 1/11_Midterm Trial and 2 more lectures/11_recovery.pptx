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9" r:id="rId1"/>
  </p:sldMasterIdLst>
  <p:notesMasterIdLst>
    <p:notesMasterId r:id="rId30"/>
  </p:notesMasterIdLst>
  <p:handoutMasterIdLst>
    <p:handoutMasterId r:id="rId31"/>
  </p:handoutMasterIdLst>
  <p:sldIdLst>
    <p:sldId id="335" r:id="rId2"/>
    <p:sldId id="256" r:id="rId3"/>
    <p:sldId id="257" r:id="rId4"/>
    <p:sldId id="315" r:id="rId5"/>
    <p:sldId id="258" r:id="rId6"/>
    <p:sldId id="375" r:id="rId7"/>
    <p:sldId id="376" r:id="rId8"/>
    <p:sldId id="261" r:id="rId9"/>
    <p:sldId id="262" r:id="rId10"/>
    <p:sldId id="410" r:id="rId11"/>
    <p:sldId id="316" r:id="rId12"/>
    <p:sldId id="266" r:id="rId13"/>
    <p:sldId id="270" r:id="rId14"/>
    <p:sldId id="379" r:id="rId15"/>
    <p:sldId id="271" r:id="rId16"/>
    <p:sldId id="378" r:id="rId17"/>
    <p:sldId id="377" r:id="rId18"/>
    <p:sldId id="272" r:id="rId19"/>
    <p:sldId id="396" r:id="rId20"/>
    <p:sldId id="273" r:id="rId21"/>
    <p:sldId id="274" r:id="rId22"/>
    <p:sldId id="275" r:id="rId23"/>
    <p:sldId id="276" r:id="rId24"/>
    <p:sldId id="406" r:id="rId25"/>
    <p:sldId id="310" r:id="rId26"/>
    <p:sldId id="311" r:id="rId27"/>
    <p:sldId id="312" r:id="rId28"/>
    <p:sldId id="313" r:id="rId29"/>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BE1FF"/>
    <a:srgbClr val="0000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26" autoAdjust="0"/>
    <p:restoredTop sz="56900" autoAdjust="0"/>
  </p:normalViewPr>
  <p:slideViewPr>
    <p:cSldViewPr snapToGrid="0">
      <p:cViewPr varScale="1">
        <p:scale>
          <a:sx n="40" d="100"/>
          <a:sy n="40" d="100"/>
        </p:scale>
        <p:origin x="1554" y="48"/>
      </p:cViewPr>
      <p:guideLst>
        <p:guide orient="horz" pos="697"/>
        <p:guide pos="5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8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619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13619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619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0A99E714-F92D-4350-AE85-BDE4CF7BFB4A}"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43363"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algn="r" defTabSz="879475">
              <a:defRPr sz="1200">
                <a:latin typeface="Times New Roman" charset="0"/>
                <a:ea typeface="+mn-ea"/>
                <a:cs typeface="+mn-cs"/>
              </a:defRPr>
            </a:lvl1pPr>
          </a:lstStyle>
          <a:p>
            <a:pPr>
              <a:defRPr/>
            </a:pPr>
            <a:endParaRPr lang="en-US"/>
          </a:p>
        </p:txBody>
      </p:sp>
      <p:sp>
        <p:nvSpPr>
          <p:cNvPr id="106500"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5"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366"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43367"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algn="r" defTabSz="879475">
              <a:defRPr sz="1200">
                <a:latin typeface="Times New Roman" panose="02020603050405020304" pitchFamily="18" charset="0"/>
              </a:defRPr>
            </a:lvl1pPr>
          </a:lstStyle>
          <a:p>
            <a:fld id="{6BE1ADF2-F8FC-4B17-8990-962B0742022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05957E8-AB95-4EAD-8268-8E39798B05F5}"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588AAE-4E44-4DAC-BD13-F0E89377F707}"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48283F4-D500-4571-998F-006AB399577C}"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An integral part of a database system is a recovery scheme that can restore the database to the consistent state that existed before the failure.</a:t>
            </a:r>
          </a:p>
          <a:p>
            <a:r>
              <a:rPr lang="en-US" b="1" i="1" dirty="0" smtClean="0"/>
              <a:t>The recovery scheme must also support high availability, that is, the database should be usable for a very high percentage of time. </a:t>
            </a:r>
            <a:r>
              <a:rPr lang="en-US" b="1" dirty="0" smtClean="0"/>
              <a:t>To support high availability in the face of machine failure (as also planned machine shutdowns for hardware/software upgrades and maintenance), the recovery scheme must support the ability to keep a backup copy of the database synchronized with the current contents of the primary copy of the database. If the machine with the primary copy fails, transaction processing can continue on the backup copy.</a:t>
            </a:r>
          </a:p>
          <a:p>
            <a:endParaRPr lang="en-US" altLang="en-US" dirty="0" smtClean="0">
              <a:latin typeface="Times New Roman" panose="02020603050405020304" pitchFamily="18" charset="0"/>
            </a:endParaRPr>
          </a:p>
          <a:p>
            <a:r>
              <a:rPr lang="en-US" b="1" dirty="0" smtClean="0"/>
              <a:t>There are various types of failure that may occur in a system, each of which needs to be dealt with in a different manner. In this chapter, we shall consider only the following types of failure:</a:t>
            </a:r>
          </a:p>
          <a:p>
            <a:endParaRPr lang="en-US" altLang="en-US" dirty="0" smtClean="0">
              <a:latin typeface="Times New Roman" panose="02020603050405020304" pitchFamily="18" charset="0"/>
            </a:endParaRPr>
          </a:p>
          <a:p>
            <a:r>
              <a:rPr lang="en-US" dirty="0" smtClean="0"/>
              <a:t>• </a:t>
            </a:r>
            <a:r>
              <a:rPr lang="en-US" b="1" dirty="0" smtClean="0"/>
              <a:t>Transaction failure. </a:t>
            </a:r>
            <a:r>
              <a:rPr lang="en-US" b="1" i="1" dirty="0" smtClean="0"/>
              <a:t>There are two types of errors that may cause a transaction to fail: </a:t>
            </a:r>
          </a:p>
          <a:p>
            <a:pPr lvl="1"/>
            <a:r>
              <a:rPr lang="en-US" dirty="0" smtClean="0"/>
              <a:t>° </a:t>
            </a:r>
            <a:r>
              <a:rPr lang="en-US" b="1" dirty="0" smtClean="0"/>
              <a:t>Logical error. </a:t>
            </a:r>
            <a:r>
              <a:rPr lang="en-US" i="1" dirty="0" smtClean="0"/>
              <a:t>The transaction can no longer continue with its normal execution because of some internal condition, such as bad input, data not found, overflow, or resource limit exceeded. </a:t>
            </a:r>
          </a:p>
          <a:p>
            <a:pPr lvl="1"/>
            <a:r>
              <a:rPr lang="en-US" dirty="0" smtClean="0"/>
              <a:t>° </a:t>
            </a:r>
            <a:r>
              <a:rPr lang="en-US" b="1" dirty="0" smtClean="0"/>
              <a:t>System error. </a:t>
            </a:r>
            <a:r>
              <a:rPr lang="en-US" i="1" dirty="0" smtClean="0"/>
              <a:t>The system has entered an undesirable state (e.g., deadlock), as a result of which a transaction cannot continue with its normal execution. The transaction, however, can be </a:t>
            </a:r>
            <a:r>
              <a:rPr lang="en-US" i="1" dirty="0" err="1" smtClean="0"/>
              <a:t>reexecuted</a:t>
            </a:r>
            <a:r>
              <a:rPr lang="en-US" i="1" dirty="0" smtClean="0"/>
              <a:t> at a later time.</a:t>
            </a:r>
          </a:p>
          <a:p>
            <a:pPr lvl="0"/>
            <a:r>
              <a:rPr lang="en-US" dirty="0" smtClean="0"/>
              <a:t>• </a:t>
            </a:r>
            <a:r>
              <a:rPr lang="en-US" b="1" dirty="0" smtClean="0"/>
              <a:t>System crash</a:t>
            </a:r>
            <a:r>
              <a:rPr lang="en-US" dirty="0" smtClean="0"/>
              <a:t>. </a:t>
            </a:r>
            <a:r>
              <a:rPr lang="en-US" i="1" dirty="0" smtClean="0"/>
              <a:t>There is a hardware malfunction, or a bug in the database software or the operating system, that causes the loss of the content of volatile storage and brings transaction processing to a halt. The content of non-volatile storage remains intact and is not corrupted. </a:t>
            </a:r>
          </a:p>
          <a:p>
            <a:pPr lvl="0"/>
            <a:r>
              <a:rPr lang="en-US" i="1" u="sng" dirty="0" smtClean="0"/>
              <a:t>The assumption that hardware errors and bugs in the software bring the system to a halt, but do not corrupt the non-volatile storage contents, is known as the fail-stop assumption. Well-designed systems have numerous internal checks, at the hardware and the software level, that bring the system to a halt when there is an error. Hence, the fail-stop assumption is a reasonable one. </a:t>
            </a:r>
          </a:p>
          <a:p>
            <a:pPr lvl="0"/>
            <a:endParaRPr lang="en-US" dirty="0" smtClean="0"/>
          </a:p>
          <a:p>
            <a:pPr lvl="0"/>
            <a:r>
              <a:rPr lang="en-US" dirty="0" smtClean="0"/>
              <a:t>• </a:t>
            </a:r>
            <a:r>
              <a:rPr lang="en-US" b="1" dirty="0" smtClean="0"/>
              <a:t>Disk failure. </a:t>
            </a:r>
            <a:r>
              <a:rPr lang="en-US" i="1" dirty="0" smtClean="0"/>
              <a:t>A disk block loses its content as a result of either a head crash or failure during a data-transfer operation. Copies of the data on other disks, or archival backups on tertiary media, such as DVD or tapes, are used to recover from the failure.</a:t>
            </a:r>
            <a:endParaRPr lang="en-US" altLang="en-US" i="1" dirty="0" smtClean="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3603A47-A9B8-4036-B35F-4E7677BD5663}"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determine how the system should recover from failures, we need to identify the failure modes of those devices used for storing data. </a:t>
            </a:r>
            <a:r>
              <a:rPr lang="en-US" i="1" dirty="0" smtClean="0"/>
              <a:t>Next, we must consider how these failure modes affect the contents of the database. We can then propose algorithms to ensure database consistency and transaction atomicity despite failures. </a:t>
            </a:r>
            <a:r>
              <a:rPr lang="en-US" b="1" dirty="0" smtClean="0"/>
              <a:t>These algorithms, known as recovery algorithms, have two parts:</a:t>
            </a:r>
          </a:p>
          <a:p>
            <a:endParaRPr lang="en-US" altLang="en-US" b="1" dirty="0" smtClean="0">
              <a:latin typeface="Times New Roman" panose="02020603050405020304" pitchFamily="18" charset="0"/>
            </a:endParaRPr>
          </a:p>
          <a:p>
            <a:pPr marL="228600" indent="-228600">
              <a:buAutoNum type="arabicPeriod"/>
            </a:pPr>
            <a:r>
              <a:rPr lang="en-US" b="1" dirty="0" smtClean="0"/>
              <a:t>Actions taken during normal transaction processing to ensure that enough information exists to allow recovery from failures. </a:t>
            </a:r>
          </a:p>
          <a:p>
            <a:pPr marL="228600" indent="-228600">
              <a:buAutoNum type="arabicPeriod"/>
            </a:pPr>
            <a:r>
              <a:rPr lang="en-US" b="1" dirty="0" smtClean="0"/>
              <a:t>Actions taken after a failure to recover the database contents to a state that ensures database consistency, transaction atomicity, and durability</a:t>
            </a:r>
            <a:endParaRPr lang="en-US" altLang="en-US" b="1"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B61A86-E652-4464-9F8A-7090A19B63E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As we saw in Chapter 13, </a:t>
            </a:r>
            <a:r>
              <a:rPr lang="en-US" b="1" dirty="0" smtClean="0"/>
              <a:t>the various data items in the database may be stored and accessed in a number of different storage media.</a:t>
            </a:r>
            <a:endParaRPr lang="en-US" altLang="en-US" b="1"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 </a:t>
            </a:r>
            <a:r>
              <a:rPr lang="en-US" b="1" dirty="0" smtClean="0"/>
              <a:t>Volatile storage. </a:t>
            </a:r>
            <a:r>
              <a:rPr lang="en-US" b="1" i="1" dirty="0" smtClean="0"/>
              <a:t>Information residing in volatile storage does not usually survive system crashes. Examples of such storage are main memory and cache memory. Access to volatile storage is extremely fast, both because of the speed of the memory access itself and because it is possible to access any data item in volatile storage directly.</a:t>
            </a:r>
          </a:p>
          <a:p>
            <a:endParaRPr lang="en-US" altLang="en-US" dirty="0" smtClean="0">
              <a:latin typeface="Times New Roman" panose="02020603050405020304" pitchFamily="18" charset="0"/>
            </a:endParaRPr>
          </a:p>
          <a:p>
            <a:r>
              <a:rPr lang="en-US" dirty="0" smtClean="0"/>
              <a:t>• </a:t>
            </a:r>
            <a:r>
              <a:rPr lang="en-US" b="1" dirty="0" smtClean="0"/>
              <a:t>Non-volatile storage. </a:t>
            </a:r>
            <a:r>
              <a:rPr lang="en-US" b="1" i="1" dirty="0" smtClean="0"/>
              <a:t>Information residing in non-volatile storage survives system crashes. Examples of non-volatile storage include secondary storage devices such as magnetic disk and flash storage, used for online storage, and tertiary storage devices such as optical media and magnetic tapes, used for archival storage</a:t>
            </a:r>
            <a:r>
              <a:rPr lang="en-US" i="1" dirty="0" smtClean="0"/>
              <a:t>. </a:t>
            </a:r>
            <a:r>
              <a:rPr lang="en-US" b="1" i="1" dirty="0" smtClean="0"/>
              <a:t>At the current state of technology, non-volatile storage is slower than volatile storage, particularly for random access</a:t>
            </a:r>
            <a:r>
              <a:rPr lang="en-US" i="1" dirty="0" smtClean="0"/>
              <a:t>. Both secondary and tertiary storage devices, however, are susceptible to failures that may result in loss of information.</a:t>
            </a:r>
          </a:p>
          <a:p>
            <a:endParaRPr lang="en-US" altLang="en-US" dirty="0" smtClean="0">
              <a:latin typeface="Times New Roman" panose="02020603050405020304" pitchFamily="18" charset="0"/>
            </a:endParaRPr>
          </a:p>
          <a:p>
            <a:r>
              <a:rPr lang="en-US" dirty="0" smtClean="0"/>
              <a:t>• </a:t>
            </a:r>
            <a:r>
              <a:rPr lang="en-US" b="1" dirty="0" smtClean="0"/>
              <a:t>Stable storage. </a:t>
            </a:r>
            <a:r>
              <a:rPr lang="en-US" b="1" i="1" dirty="0" smtClean="0"/>
              <a:t>Information residing in stable storage is never lost (never should be taken with a grain of salt, since theoretically never cannot be guaranteed—for example, it is possible, although extremely unlikely, that a black hole may envelop the earth and permanently destroy all data!). Although stable storage is theoretically impossible to obtain, it can be closely approximated by techniques that make data loss extremely unlikely</a:t>
            </a:r>
            <a:r>
              <a:rPr lang="en-US" i="1" dirty="0" smtClean="0"/>
              <a:t>. To implement stable storage, we replicate the information in several non-volatile storage media (usually disk) with independent failure modes. Updates must be done with care to ensure that a failure during an update to stable storage does not cause a loss of information</a:t>
            </a:r>
            <a:r>
              <a:rPr lang="en-US" dirty="0" smtClean="0"/>
              <a:t>. Section 19.2.1 discusses stable-storage implementation.</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BC3A596-E6E6-45A3-B84F-07362CB27398}" type="slidenum">
              <a:rPr lang="en-US" altLang="en-US" sz="1200">
                <a:latin typeface="Times New Roman" panose="02020603050405020304" pitchFamily="18" charset="0"/>
              </a:rPr>
              <a:pPr algn="r"/>
              <a:t>6</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To implement stable storage, we need to replicate the needed information in several non-volatile storage media (usually disk) with independent failure modes and to update the information in a controlled manner to ensure that failure during data transfer does not damage the needed information.</a:t>
            </a:r>
          </a:p>
          <a:p>
            <a:endParaRPr lang="en-US" altLang="en-US" dirty="0" smtClean="0">
              <a:latin typeface="Times New Roman" panose="02020603050405020304" pitchFamily="18" charset="0"/>
            </a:endParaRPr>
          </a:p>
          <a:p>
            <a:r>
              <a:rPr lang="en-US" dirty="0" smtClean="0"/>
              <a:t>Recall (from Chapter 12) </a:t>
            </a:r>
            <a:r>
              <a:rPr lang="en-US" i="1" dirty="0" smtClean="0"/>
              <a:t>that RAID systems guarantee that the failure of a single disk (even during data transfer) will not result in loss of data. The simplest and fastest form of RAID is the mirrored disk, which keeps two copies of each block on separate disks. Other forms of RAID offer lower costs, but at the expense of lower performance.</a:t>
            </a:r>
          </a:p>
          <a:p>
            <a:endParaRPr lang="en-US" altLang="en-US" dirty="0" smtClean="0">
              <a:latin typeface="Times New Roman" panose="02020603050405020304" pitchFamily="18" charset="0"/>
            </a:endParaRPr>
          </a:p>
          <a:p>
            <a:r>
              <a:rPr lang="en-US" b="1" i="1" dirty="0" smtClean="0"/>
              <a:t>RAID systems, however, cannot guard against data loss due to disasters such as fires or flooding. Many systems store archival backups of tapes off-site to guard against such disasters. However, since tapes cannot be carried off-site continually, updates since the most recent time that tapes were carried off-site could be lost in such a disaster. More secure systems keep a copy of each block of stable storage at a remote site, writing it out over a computer network, in addition to storing the block on a local disk system. </a:t>
            </a:r>
            <a:r>
              <a:rPr lang="en-US" dirty="0" smtClean="0"/>
              <a:t>Since the blocks are output to a remote system as and when they are output to local storage, once an output operation is complete, the output is not lost, even in the event of a disaster such as a fire or flood. We study such remote backup systems in Section 19.7.</a:t>
            </a:r>
          </a:p>
          <a:p>
            <a:endParaRPr lang="en-US" altLang="en-US" dirty="0" smtClean="0">
              <a:latin typeface="Times New Roman" panose="02020603050405020304" pitchFamily="18" charset="0"/>
            </a:endParaRPr>
          </a:p>
          <a:p>
            <a:r>
              <a:rPr lang="en-US" dirty="0" smtClean="0"/>
              <a:t>In the remainder of this section, </a:t>
            </a:r>
            <a:r>
              <a:rPr lang="en-US" b="1" dirty="0" smtClean="0"/>
              <a:t>we discuss how storage media can be protected from failure during data transfer. Block transfer between memory and disk storage can result in: </a:t>
            </a:r>
          </a:p>
          <a:p>
            <a:r>
              <a:rPr lang="en-US" dirty="0" smtClean="0"/>
              <a:t>• </a:t>
            </a:r>
            <a:r>
              <a:rPr lang="en-US" b="1" dirty="0" smtClean="0"/>
              <a:t>Successful completion</a:t>
            </a:r>
            <a:r>
              <a:rPr lang="en-US" dirty="0" smtClean="0"/>
              <a:t>. </a:t>
            </a:r>
            <a:r>
              <a:rPr lang="en-US" i="1" dirty="0" smtClean="0"/>
              <a:t>The transferred information arrived safely at its destination. </a:t>
            </a:r>
          </a:p>
          <a:p>
            <a:r>
              <a:rPr lang="en-US" dirty="0" smtClean="0"/>
              <a:t>• </a:t>
            </a:r>
            <a:r>
              <a:rPr lang="en-US" b="1" dirty="0" smtClean="0"/>
              <a:t>Partial failure. </a:t>
            </a:r>
            <a:r>
              <a:rPr lang="en-US" i="1" dirty="0" smtClean="0"/>
              <a:t>A failure occurred in the midst of transfer, and the destination block has incorrect information. </a:t>
            </a:r>
          </a:p>
          <a:p>
            <a:r>
              <a:rPr lang="en-US" dirty="0" smtClean="0"/>
              <a:t>• </a:t>
            </a:r>
            <a:r>
              <a:rPr lang="en-US" b="1" dirty="0" smtClean="0"/>
              <a:t>Total failure. </a:t>
            </a:r>
            <a:r>
              <a:rPr lang="en-US" i="1" dirty="0" smtClean="0"/>
              <a:t>The failure occurred sufficiently early during the transfer that the destination block remains intact.</a:t>
            </a:r>
          </a:p>
          <a:p>
            <a:endParaRPr lang="en-US" altLang="en-US" dirty="0" smtClean="0">
              <a:latin typeface="Times New Roman" panose="02020603050405020304" pitchFamily="18" charset="0"/>
            </a:endParaRPr>
          </a:p>
          <a:p>
            <a:r>
              <a:rPr lang="en-US" b="1" i="1" dirty="0" smtClean="0"/>
              <a:t>We require that, if a data-transfer failure occurs, the system detects it and invokes a recovery procedure to restore the block to a consistent state. To do so, the system must maintain two physical blocks for each logical database block; in the case of mirrored disks, both blocks are at the same location; in the case of remote backup, one of the blocks is local, whereas the other is at a remote site. </a:t>
            </a:r>
            <a:r>
              <a:rPr lang="en-US" b="1" dirty="0" smtClean="0"/>
              <a:t>An output operation is executed as follows:</a:t>
            </a:r>
          </a:p>
          <a:p>
            <a:endParaRPr lang="en-US" altLang="en-US" dirty="0" smtClean="0">
              <a:latin typeface="Times New Roman" panose="02020603050405020304" pitchFamily="18" charset="0"/>
            </a:endParaRPr>
          </a:p>
          <a:p>
            <a:pPr marL="228600" indent="-228600">
              <a:buAutoNum type="arabicPeriod"/>
            </a:pPr>
            <a:r>
              <a:rPr lang="en-US" b="1" dirty="0" smtClean="0"/>
              <a:t>Write the information onto the first physical block. </a:t>
            </a:r>
          </a:p>
          <a:p>
            <a:pPr marL="228600" indent="-228600">
              <a:buAutoNum type="arabicPeriod"/>
            </a:pPr>
            <a:r>
              <a:rPr lang="en-US" b="1" dirty="0" smtClean="0"/>
              <a:t>When the first write completes successfully, write the same information onto the second physical block. </a:t>
            </a:r>
          </a:p>
          <a:p>
            <a:pPr marL="228600" indent="-228600">
              <a:buAutoNum type="arabicPeriod"/>
            </a:pPr>
            <a:r>
              <a:rPr lang="en-US" b="1" dirty="0" smtClean="0"/>
              <a:t>The output is completed only after the second write completes successfully</a:t>
            </a:r>
          </a:p>
          <a:p>
            <a:pPr marL="228600" indent="-228600">
              <a:buAutoNum type="arabicPeriod"/>
            </a:pP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42E1CD76-094D-4C9E-BC2B-390C0487D597}" type="slidenum">
              <a:rPr lang="en-US" altLang="en-US" sz="1200">
                <a:latin typeface="Times New Roman" panose="02020603050405020304" pitchFamily="18" charset="0"/>
              </a:rPr>
              <a:pPr algn="r"/>
              <a:t>7</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a:p>
            <a:r>
              <a:rPr lang="en-US" dirty="0" smtClean="0"/>
              <a:t>If the system fails while blocks are being written, it is possible that the two copies of a block could be inconsistent with each other. </a:t>
            </a:r>
          </a:p>
          <a:p>
            <a:r>
              <a:rPr lang="en-US" b="1" dirty="0" smtClean="0"/>
              <a:t>During recovery, for each block, the system would need to examine two copies of the blocks. </a:t>
            </a:r>
            <a:r>
              <a:rPr lang="en-US" b="1" i="1" dirty="0" smtClean="0"/>
              <a:t>I</a:t>
            </a:r>
            <a:r>
              <a:rPr lang="en-US" i="1" dirty="0" smtClean="0"/>
              <a:t>f both are the same and no detectable error exists, then no further actions are necessary. (Recall that errors in a disk block, such as a partial write to the block, are detected by storing a checksum with each block.) If the system detects an error in one block, then it replaces its content with the content of the other block. </a:t>
            </a:r>
          </a:p>
          <a:p>
            <a:endParaRPr lang="en-US" dirty="0" smtClean="0"/>
          </a:p>
          <a:p>
            <a:r>
              <a:rPr lang="en-US" b="1" i="1" dirty="0" smtClean="0"/>
              <a:t>If both blocks contain no detectable error, but they differ in content, then the system can either replace the content of the first block with the value of the second, or replace the content of the second block with the value of the first. Either way, the recovery procedure ensures that a write to stable storage either succeeds completely (i.e., updates all copies) or results in no change.</a:t>
            </a:r>
          </a:p>
          <a:p>
            <a:endParaRPr lang="en-US" altLang="en-US" b="1" dirty="0" smtClean="0">
              <a:latin typeface="Times New Roman" panose="02020603050405020304" pitchFamily="18" charset="0"/>
            </a:endParaRPr>
          </a:p>
          <a:p>
            <a:r>
              <a:rPr lang="en-US" b="1" i="1" dirty="0" smtClean="0"/>
              <a:t>The requirement of comparing every corresponding pair of blocks during recovery is expensive to meet. We can reduce the cost greatly by keeping track of block writes that are in progress, using a small amount of non-volatile RAM. On recovery, only blocks for which writes were in progress need to be compared.</a:t>
            </a:r>
          </a:p>
          <a:p>
            <a:endParaRPr lang="en-US" altLang="en-US" dirty="0" smtClean="0">
              <a:latin typeface="Times New Roman" panose="02020603050405020304" pitchFamily="18" charset="0"/>
            </a:endParaRPr>
          </a:p>
          <a:p>
            <a:r>
              <a:rPr lang="en-US" b="1" i="1" dirty="0" smtClean="0"/>
              <a:t>The protocols for writing out a block to a remote site are similar to the protocols for writing blocks to a mirrored disk system</a:t>
            </a:r>
            <a:r>
              <a:rPr lang="en-US" dirty="0" smtClean="0"/>
              <a:t>, which we examined in Chapter 12, and particularly in Practice Exercise 12.6.</a:t>
            </a:r>
          </a:p>
          <a:p>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87C14AB-33E0-4FD8-A7BE-6778F99ABC4D}"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As we saw in Chapter 12, the database system resides permanently on non-volatile storage (usually disks), and only parts of the database are in memory at any time. (In main-memory databases, the entire database resides in memory, but a copy still resides on non-volatile storage so data can survive the loss of main-memory contents.) </a:t>
            </a:r>
            <a:r>
              <a:rPr lang="en-US" b="1" dirty="0" smtClean="0"/>
              <a:t>The database is partitioned into fixed-length storage units called blocks. Blocks are the units of data transfer to and from disk and may contain several data items.</a:t>
            </a:r>
          </a:p>
          <a:p>
            <a:endParaRPr lang="en-US" altLang="en-US" dirty="0" smtClean="0">
              <a:latin typeface="Times New Roman" panose="02020603050405020304" pitchFamily="18" charset="0"/>
            </a:endParaRPr>
          </a:p>
          <a:p>
            <a:r>
              <a:rPr lang="en-US" b="1" dirty="0" smtClean="0"/>
              <a:t>Transactions input information from the disk into main memory and then output the information back onto the disk. The input and output operations are done in block units. The blocks residing on the disk are referred to as physical blocks; the blocks residing temporarily in main memory are referred to as buffer blocks. The area of memory where blocks reside temporarily is called the disk buffer.</a:t>
            </a:r>
          </a:p>
          <a:p>
            <a:endParaRPr lang="en-US" altLang="en-US" b="1" dirty="0" smtClean="0">
              <a:latin typeface="Times New Roman" panose="02020603050405020304" pitchFamily="18" charset="0"/>
            </a:endParaRPr>
          </a:p>
          <a:p>
            <a:r>
              <a:rPr lang="en-US" b="1" dirty="0" smtClean="0"/>
              <a:t>Block movements between disk and main memory are initiated through the following two operations: </a:t>
            </a:r>
          </a:p>
          <a:p>
            <a:endParaRPr lang="en-US" b="1" dirty="0" smtClean="0"/>
          </a:p>
          <a:p>
            <a:pPr marL="228600" indent="-228600">
              <a:buAutoNum type="arabicPeriod"/>
            </a:pPr>
            <a:r>
              <a:rPr lang="en-US" b="1" dirty="0" smtClean="0"/>
              <a:t>input(B) transfers the physical block B to main memory.</a:t>
            </a:r>
          </a:p>
          <a:p>
            <a:pPr marL="228600" indent="-228600">
              <a:buAutoNum type="arabicPeriod"/>
            </a:pPr>
            <a:r>
              <a:rPr lang="en-US" b="1" dirty="0" smtClean="0"/>
              <a:t>output(B) transfers the buffer block B to the disk and replaces the appropriate physical block there.</a:t>
            </a:r>
            <a:endParaRPr lang="en-US" altLang="en-US" b="1"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7866594-44D5-4EDC-BB6A-04607D22D8C2}"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Conceptually, each transaction </a:t>
            </a:r>
            <a:r>
              <a:rPr lang="en-US" b="1" i="1" dirty="0" err="1" smtClean="0"/>
              <a:t>Ti</a:t>
            </a:r>
            <a:r>
              <a:rPr lang="en-US" b="1" i="1" dirty="0" smtClean="0"/>
              <a:t> has a private work area in which copies of data items accessed and updated by </a:t>
            </a:r>
            <a:r>
              <a:rPr lang="en-US" b="1" i="1" dirty="0" err="1" smtClean="0"/>
              <a:t>Ti</a:t>
            </a:r>
            <a:r>
              <a:rPr lang="en-US" b="1" i="1" dirty="0" smtClean="0"/>
              <a:t> are kept. The system creates this work area when the transaction is initiated; the system removes it when the transaction either commits or aborts. Each data item X kept in the work area of transaction </a:t>
            </a:r>
            <a:r>
              <a:rPr lang="en-US" b="1" i="1" dirty="0" err="1" smtClean="0"/>
              <a:t>Ti</a:t>
            </a:r>
            <a:r>
              <a:rPr lang="en-US" b="1" i="1" dirty="0" smtClean="0"/>
              <a:t> is denoted by xi . Transaction </a:t>
            </a:r>
            <a:r>
              <a:rPr lang="en-US" b="1" i="1" dirty="0" err="1" smtClean="0"/>
              <a:t>Ti</a:t>
            </a:r>
            <a:r>
              <a:rPr lang="en-US" b="1" i="1" dirty="0" smtClean="0"/>
              <a:t> interacts with the database system by transferring data to and from its work area to the system buffer. </a:t>
            </a:r>
            <a:r>
              <a:rPr lang="en-US" b="1" dirty="0" smtClean="0"/>
              <a:t>We transfer data by these two operations:</a:t>
            </a:r>
          </a:p>
          <a:p>
            <a:endParaRPr lang="en-US" altLang="en-US" b="1" dirty="0" smtClean="0">
              <a:latin typeface="Times New Roman" panose="02020603050405020304" pitchFamily="18" charset="0"/>
            </a:endParaRPr>
          </a:p>
          <a:p>
            <a:pPr marL="228600" indent="-228600">
              <a:buAutoNum type="arabicPeriod"/>
            </a:pPr>
            <a:r>
              <a:rPr lang="en-US" b="1" dirty="0" smtClean="0"/>
              <a:t>read(X) assigns the value of data item X to the local variable xi . It executes this operation as follows: </a:t>
            </a:r>
          </a:p>
          <a:p>
            <a:pPr marL="685800" lvl="1" indent="-228600">
              <a:buAutoNum type="alphaLcPeriod"/>
            </a:pPr>
            <a:r>
              <a:rPr lang="en-US" b="1" dirty="0" smtClean="0"/>
              <a:t>If block BX on which X resides is not in main memory, it issues input(BX ). </a:t>
            </a:r>
          </a:p>
          <a:p>
            <a:pPr marL="685800" lvl="1" indent="-228600">
              <a:buAutoNum type="alphaLcPeriod"/>
            </a:pPr>
            <a:r>
              <a:rPr lang="en-US" b="1" dirty="0" smtClean="0"/>
              <a:t>It assigns to xi the value of X from the buffer block. </a:t>
            </a:r>
          </a:p>
          <a:p>
            <a:pPr marL="228600" lvl="0" indent="-228600">
              <a:buAutoNum type="arabicPeriod"/>
            </a:pPr>
            <a:r>
              <a:rPr lang="en-US" b="1" dirty="0" smtClean="0"/>
              <a:t>write(X) assigns the value of local variable xi to data item X in the buffer block. It executes this operation as follows: </a:t>
            </a:r>
          </a:p>
          <a:p>
            <a:pPr marL="685800" lvl="1" indent="-228600">
              <a:buAutoNum type="alphaLcPeriod"/>
            </a:pPr>
            <a:r>
              <a:rPr lang="en-US" b="1" dirty="0" smtClean="0"/>
              <a:t>If block BX on which X resides is not in main memory, it issues input(BX ). </a:t>
            </a:r>
          </a:p>
          <a:p>
            <a:pPr marL="685800" lvl="1" indent="-228600">
              <a:buAutoNum type="alphaLcPeriod"/>
            </a:pPr>
            <a:r>
              <a:rPr lang="en-US" b="1" dirty="0" smtClean="0"/>
              <a:t>It assigns the value of xi to X in buffer BX .</a:t>
            </a:r>
          </a:p>
          <a:p>
            <a:pPr marL="457200" lvl="1" indent="0">
              <a:buNone/>
            </a:pPr>
            <a:endParaRPr lang="en-US" altLang="en-US" dirty="0">
              <a:latin typeface="Times New Roman" panose="02020603050405020304" pitchFamily="18" charset="0"/>
            </a:endParaRPr>
          </a:p>
          <a:p>
            <a:pPr marL="0" lvl="0" indent="0">
              <a:buNone/>
            </a:pPr>
            <a:r>
              <a:rPr lang="en-US" b="1" dirty="0" smtClean="0"/>
              <a:t>When a transaction needs to access a data item X for the first time, it must execute read(X). The transaction then performs all updates to X on xi . At any point during its execution a transaction may execute write(X) to reflect the change to X in the database itself; write(X) must certainly be done after the final write to xi .</a:t>
            </a:r>
            <a:endParaRPr lang="en-US" altLang="en-US" b="1" dirty="0" smtClean="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21EB57-D52F-4796-A4FB-DA0F4FDB532A}"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30203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21EB57-D52F-4796-A4FB-DA0F4FDB532A}"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achieve our goal of atomicity, we must first output to stable storage information describing the modifications, without modifying the database itself. As we shall see, this information can help us ensure that all modifications performed by committed transactions are reflected in the database (perhaps during the course of recovery actions after a crash).</a:t>
            </a:r>
            <a:r>
              <a:rPr lang="en-US" dirty="0" smtClean="0"/>
              <a:t> </a:t>
            </a:r>
          </a:p>
          <a:p>
            <a:r>
              <a:rPr lang="en-US" b="1" i="1" dirty="0" smtClean="0"/>
              <a:t>We also need to store information about the old value of any item updated by a modification in case the transaction performing the modification fails (aborts). This information can help us undo the modifications made by the failed transaction.</a:t>
            </a:r>
          </a:p>
          <a:p>
            <a:endParaRPr lang="en-US" altLang="en-US" dirty="0" smtClean="0">
              <a:latin typeface="Times New Roman" panose="02020603050405020304" pitchFamily="18" charset="0"/>
            </a:endParaRPr>
          </a:p>
          <a:p>
            <a:r>
              <a:rPr lang="en-US" b="1" i="1" dirty="0" smtClean="0"/>
              <a:t>The most commonly used technique for recovery is based on log records, and we study log-based recovery in detail in this chapter. An alternative, called shadow copying, is used by text editors but is not used in database systems; </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A860C0F-F052-483A-A0B4-CB5653FF6F9F}"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most widely used structure for recording database modifications is the log. </a:t>
            </a:r>
          </a:p>
          <a:p>
            <a:r>
              <a:rPr lang="en-US" b="1" dirty="0" smtClean="0"/>
              <a:t>The log is a sequence of log records, recording all the update activities in the database. There are several types of log records. An update log record describes a single database write. It has these fields:</a:t>
            </a:r>
          </a:p>
          <a:p>
            <a:endParaRPr lang="en-US" dirty="0" smtClean="0"/>
          </a:p>
          <a:p>
            <a:r>
              <a:rPr lang="en-US" dirty="0" smtClean="0"/>
              <a:t>• </a:t>
            </a:r>
            <a:r>
              <a:rPr lang="en-US" b="1" dirty="0" smtClean="0"/>
              <a:t>Transaction identifier</a:t>
            </a:r>
            <a:r>
              <a:rPr lang="en-US" dirty="0" smtClean="0"/>
              <a:t>, which is the unique identifier of the transaction that performed the write operation. </a:t>
            </a:r>
          </a:p>
          <a:p>
            <a:r>
              <a:rPr lang="en-US" dirty="0" smtClean="0"/>
              <a:t>• </a:t>
            </a:r>
            <a:r>
              <a:rPr lang="en-US" b="1" dirty="0" smtClean="0"/>
              <a:t>Data-item identifier</a:t>
            </a:r>
            <a:r>
              <a:rPr lang="en-US" dirty="0" smtClean="0"/>
              <a:t>, which is the unique identifier of the data item written. Typically, it is the location on disk of the data item, consisting of the block identifier of the block on which the data item resides and an offset within the block. </a:t>
            </a:r>
          </a:p>
          <a:p>
            <a:r>
              <a:rPr lang="en-US" dirty="0" smtClean="0"/>
              <a:t>• </a:t>
            </a:r>
            <a:r>
              <a:rPr lang="en-US" b="1" dirty="0" smtClean="0"/>
              <a:t>Old value</a:t>
            </a:r>
            <a:r>
              <a:rPr lang="en-US" dirty="0" smtClean="0"/>
              <a:t>, which is the value of the data item prior to the write. </a:t>
            </a:r>
          </a:p>
          <a:p>
            <a:r>
              <a:rPr lang="en-US" dirty="0" smtClean="0"/>
              <a:t>• </a:t>
            </a:r>
            <a:r>
              <a:rPr lang="en-US" b="1" dirty="0" smtClean="0"/>
              <a:t>New value</a:t>
            </a:r>
            <a:r>
              <a:rPr lang="en-US" dirty="0" smtClean="0"/>
              <a:t>, which is the value that the data item will have after the write. </a:t>
            </a:r>
          </a:p>
          <a:p>
            <a:endParaRPr lang="en-US" altLang="en-US" dirty="0" smtClean="0">
              <a:latin typeface="Times New Roman" panose="02020603050405020304" pitchFamily="18" charset="0"/>
            </a:endParaRPr>
          </a:p>
          <a:p>
            <a:r>
              <a:rPr lang="en-US" b="1" i="1" dirty="0" smtClean="0"/>
              <a:t>We represent an update log record as , indicating that transaction </a:t>
            </a:r>
            <a:r>
              <a:rPr lang="en-US" b="1" i="1" dirty="0" err="1" smtClean="0"/>
              <a:t>Ti</a:t>
            </a:r>
            <a:r>
              <a:rPr lang="en-US" b="1" i="1" dirty="0" smtClean="0"/>
              <a:t> has performed a write on data item </a:t>
            </a:r>
            <a:r>
              <a:rPr lang="en-US" b="1" i="1" dirty="0" err="1" smtClean="0"/>
              <a:t>Xj</a:t>
            </a:r>
            <a:r>
              <a:rPr lang="en-US" b="1" i="1" dirty="0" smtClean="0"/>
              <a:t> . </a:t>
            </a:r>
            <a:r>
              <a:rPr lang="en-US" b="1" i="1" dirty="0" err="1" smtClean="0"/>
              <a:t>Xj</a:t>
            </a:r>
            <a:r>
              <a:rPr lang="en-US" b="1" i="1" dirty="0" smtClean="0"/>
              <a:t> had value V1 before the write and has value V2 after the write. Other special log records exist to record significant events during transaction processing, such as the start of a transaction and the commit or abort of a transaction. Among the types of log records are:</a:t>
            </a:r>
          </a:p>
          <a:p>
            <a:endParaRPr lang="en-US" altLang="en-US" dirty="0" smtClean="0">
              <a:latin typeface="Times New Roman" panose="02020603050405020304" pitchFamily="18" charset="0"/>
            </a:endParaRPr>
          </a:p>
          <a:p>
            <a:r>
              <a:rPr lang="en-US" b="1" i="1" dirty="0" smtClean="0"/>
              <a:t>• &lt;</a:t>
            </a:r>
            <a:r>
              <a:rPr lang="en-US" b="1" i="1" dirty="0" err="1" smtClean="0"/>
              <a:t>Ti</a:t>
            </a:r>
            <a:r>
              <a:rPr lang="en-US" b="1" i="1" dirty="0" smtClean="0"/>
              <a:t> start&gt;Transaction </a:t>
            </a:r>
            <a:r>
              <a:rPr lang="en-US" b="1" i="1" dirty="0" err="1" smtClean="0"/>
              <a:t>Ti</a:t>
            </a:r>
            <a:r>
              <a:rPr lang="en-US" b="1" i="1" dirty="0" smtClean="0"/>
              <a:t> has started. </a:t>
            </a:r>
          </a:p>
          <a:p>
            <a:r>
              <a:rPr lang="en-US" b="1" i="1" dirty="0" smtClean="0"/>
              <a:t>• &lt;</a:t>
            </a:r>
            <a:r>
              <a:rPr lang="en-US" b="1" i="1" dirty="0" err="1" smtClean="0"/>
              <a:t>Ti</a:t>
            </a:r>
            <a:r>
              <a:rPr lang="en-US" b="1" i="1" dirty="0" smtClean="0"/>
              <a:t> commit&gt; Transaction </a:t>
            </a:r>
            <a:r>
              <a:rPr lang="en-US" b="1" i="1" dirty="0" err="1" smtClean="0"/>
              <a:t>Ti</a:t>
            </a:r>
            <a:r>
              <a:rPr lang="en-US" b="1" i="1" dirty="0" smtClean="0"/>
              <a:t> has committed. </a:t>
            </a:r>
          </a:p>
          <a:p>
            <a:r>
              <a:rPr lang="en-US" b="1" i="1" dirty="0" smtClean="0"/>
              <a:t>• &lt; </a:t>
            </a:r>
            <a:r>
              <a:rPr lang="en-US" b="1" i="1" dirty="0" err="1" smtClean="0"/>
              <a:t>Ti</a:t>
            </a:r>
            <a:r>
              <a:rPr lang="en-US" b="1" i="1" dirty="0" smtClean="0"/>
              <a:t> abort&gt; Transaction </a:t>
            </a:r>
            <a:r>
              <a:rPr lang="en-US" b="1" i="1" dirty="0" err="1" smtClean="0"/>
              <a:t>Ti</a:t>
            </a:r>
            <a:r>
              <a:rPr lang="en-US" b="1" i="1" dirty="0" smtClean="0"/>
              <a:t> has aborted.</a:t>
            </a:r>
            <a:endParaRPr lang="en-US" altLang="en-US" b="1" i="1"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10A50D1-66C7-4DE4-B552-752994589241}"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If database modifications occur while the transaction is still active, the transaction is said to use the immediate modification technique. Deferred modification has the overhead that transactions need to make local copies of all updated data items; further, if a transaction reads a data item that it has updated, it must read the value from its local copy.</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We say a transaction modifies the database if it performs an update on a disk buffer, or on the disk itself; updates to the private part of main memory do not count as database modifications. If a transaction does not modify the database until it has committed, it is said to use the deferred-modification technique.</a:t>
            </a:r>
            <a:endParaRPr lang="en-US" altLang="en-US" b="1"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Because all database modifications must be preceded by the creation of a log record, the system has available both the old value prior to the modification of the data item and the new value that is to be written for the data item. This allows the system to perform undo and redo operations as appropriate.</a:t>
            </a:r>
          </a:p>
          <a:p>
            <a:endParaRPr lang="en-US" dirty="0" smtClean="0"/>
          </a:p>
          <a:p>
            <a:r>
              <a:rPr lang="en-US" b="1" i="1" dirty="0" smtClean="0"/>
              <a:t>• The undo operation using a log record sets the data item specified in the log record to the old value contained in the log record. </a:t>
            </a:r>
          </a:p>
          <a:p>
            <a:r>
              <a:rPr lang="en-US" b="1" i="1" dirty="0" smtClean="0"/>
              <a:t>• The redo operation using a log record sets the data item specified in the log record to the new value contained in the log record.</a:t>
            </a:r>
            <a:endParaRPr lang="en-US" b="1" i="1" dirty="0"/>
          </a:p>
        </p:txBody>
      </p:sp>
      <p:sp>
        <p:nvSpPr>
          <p:cNvPr id="4" name="Slide Number Placeholder 3"/>
          <p:cNvSpPr>
            <a:spLocks noGrp="1"/>
          </p:cNvSpPr>
          <p:nvPr>
            <p:ph type="sldNum" sz="quarter" idx="10"/>
          </p:nvPr>
        </p:nvSpPr>
        <p:spPr/>
        <p:txBody>
          <a:bodyPr/>
          <a:lstStyle/>
          <a:p>
            <a:fld id="{6BE1ADF2-F8FC-4B17-8990-962B0742022B}" type="slidenum">
              <a:rPr lang="en-US" altLang="en-US" smtClean="0"/>
              <a:pPr/>
              <a:t>14</a:t>
            </a:fld>
            <a:endParaRPr lang="en-US" altLang="en-US"/>
          </a:p>
        </p:txBody>
      </p:sp>
    </p:spTree>
    <p:extLst>
      <p:ext uri="{BB962C8B-B14F-4D97-AF65-F5344CB8AC3E}">
        <p14:creationId xmlns:p14="http://schemas.microsoft.com/office/powerpoint/2010/main" val="1800245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E2E5FC2-36D7-45D8-ADE8-05F89B118F12}"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Using the log, the system can handle any failure that does not result in the loss of information in non-volatile storage. The recovery scheme uses two recovery procedures. Both these procedures make use of the log to find the set of data items updated by each transaction </a:t>
            </a:r>
            <a:r>
              <a:rPr lang="en-US" b="1" dirty="0" err="1" smtClean="0"/>
              <a:t>Ti</a:t>
            </a:r>
            <a:r>
              <a:rPr lang="en-US" b="1" dirty="0" smtClean="0"/>
              <a:t> and their respective old and new values.</a:t>
            </a:r>
          </a:p>
          <a:p>
            <a:endParaRPr lang="en-US" dirty="0" smtClean="0"/>
          </a:p>
          <a:p>
            <a:r>
              <a:rPr lang="en-US" dirty="0" smtClean="0"/>
              <a:t>• </a:t>
            </a:r>
            <a:r>
              <a:rPr lang="en-US" b="1" dirty="0" smtClean="0"/>
              <a:t>redo(</a:t>
            </a:r>
            <a:r>
              <a:rPr lang="en-US" b="1" dirty="0" err="1" smtClean="0"/>
              <a:t>Ti</a:t>
            </a:r>
            <a:r>
              <a:rPr lang="en-US" b="1" dirty="0" smtClean="0"/>
              <a:t> )</a:t>
            </a:r>
            <a:r>
              <a:rPr lang="en-US" dirty="0" smtClean="0"/>
              <a:t>. </a:t>
            </a:r>
            <a:r>
              <a:rPr lang="en-US" i="1" dirty="0" smtClean="0"/>
              <a:t>The procedure sets the value of all data items updated by transaction </a:t>
            </a:r>
            <a:r>
              <a:rPr lang="en-US" i="1" dirty="0" err="1" smtClean="0"/>
              <a:t>Ti</a:t>
            </a:r>
            <a:r>
              <a:rPr lang="en-US" i="1" dirty="0" smtClean="0"/>
              <a:t> to the new values. The order in which updates are carried out by redo is important; when recovering from a system crash, if updates to a particular data item are applied in an order different from the order in which they were applied originally, the final state of that data item will have a wrong value</a:t>
            </a:r>
            <a:r>
              <a:rPr lang="en-US" dirty="0" smtClean="0"/>
              <a:t>. Most recovery algorithms, including the one we describe in Section 19.4, do not perform redo of each transaction separately; instead they perform a single scan of the log, during which redo actions are performed for each log record as it is encountered. This approach ensures the order of updates is preserved, and it is more efficient since the log needs to be read only once overall, instead of once per transaction.</a:t>
            </a:r>
          </a:p>
          <a:p>
            <a:endParaRPr lang="en-US" dirty="0" smtClean="0"/>
          </a:p>
          <a:p>
            <a:r>
              <a:rPr lang="en-US" dirty="0" smtClean="0"/>
              <a:t>• </a:t>
            </a:r>
            <a:r>
              <a:rPr lang="en-US" b="1" dirty="0" smtClean="0"/>
              <a:t>undo(</a:t>
            </a:r>
            <a:r>
              <a:rPr lang="en-US" b="1" dirty="0" err="1" smtClean="0"/>
              <a:t>Ti</a:t>
            </a:r>
            <a:r>
              <a:rPr lang="en-US" b="1" dirty="0" smtClean="0"/>
              <a:t> ). </a:t>
            </a:r>
            <a:r>
              <a:rPr lang="en-US" i="1" dirty="0" smtClean="0"/>
              <a:t>The procedure restores the value of all data items updated by transaction </a:t>
            </a:r>
            <a:r>
              <a:rPr lang="en-US" i="1" dirty="0" err="1" smtClean="0"/>
              <a:t>Ti</a:t>
            </a:r>
            <a:r>
              <a:rPr lang="en-US" i="1" dirty="0" smtClean="0"/>
              <a:t> to the old values.</a:t>
            </a:r>
            <a:r>
              <a:rPr lang="en-US" dirty="0" smtClean="0"/>
              <a:t> In the recovery scheme that we describe in Section 19.4: </a:t>
            </a:r>
          </a:p>
          <a:p>
            <a:pPr lvl="1"/>
            <a:r>
              <a:rPr lang="en-US" b="1" dirty="0" smtClean="0"/>
              <a:t>° The undo operation not only restores the data items to their old value, but also writes log records to record the updates performed as part of the undo process. </a:t>
            </a:r>
            <a:r>
              <a:rPr lang="en-US" dirty="0" smtClean="0"/>
              <a:t>These log records are special redo-only log records, since they do not need to contain the old value of the updated data item; note that when such log records are used during undo, the “old value” is actually the value written by the transaction that is being rolled back, and the “new value” is the original value that is being restored by the undo operation.</a:t>
            </a:r>
          </a:p>
          <a:p>
            <a:pPr lvl="1"/>
            <a:r>
              <a:rPr lang="en-US" dirty="0" smtClean="0"/>
              <a:t>° </a:t>
            </a:r>
            <a:r>
              <a:rPr lang="en-US" b="1" dirty="0" smtClean="0"/>
              <a:t>When the undo operation for transaction </a:t>
            </a:r>
            <a:r>
              <a:rPr lang="en-US" b="1" dirty="0" err="1" smtClean="0"/>
              <a:t>Ti</a:t>
            </a:r>
            <a:r>
              <a:rPr lang="en-US" b="1" dirty="0" smtClean="0"/>
              <a:t> completes, it writes a log record, indicating that the undo has completed.</a:t>
            </a:r>
            <a:endParaRPr lang="en-US" b="1" dirty="0"/>
          </a:p>
        </p:txBody>
      </p:sp>
      <p:sp>
        <p:nvSpPr>
          <p:cNvPr id="4" name="Slide Number Placeholder 3"/>
          <p:cNvSpPr>
            <a:spLocks noGrp="1"/>
          </p:cNvSpPr>
          <p:nvPr>
            <p:ph type="sldNum" sz="quarter" idx="10"/>
          </p:nvPr>
        </p:nvSpPr>
        <p:spPr/>
        <p:txBody>
          <a:bodyPr/>
          <a:lstStyle/>
          <a:p>
            <a:fld id="{6BE1ADF2-F8FC-4B17-8990-962B0742022B}" type="slidenum">
              <a:rPr lang="en-US" altLang="en-US" smtClean="0"/>
              <a:pPr/>
              <a:t>17</a:t>
            </a:fld>
            <a:endParaRPr lang="en-US" altLang="en-US"/>
          </a:p>
        </p:txBody>
      </p:sp>
    </p:spTree>
    <p:extLst>
      <p:ext uri="{BB962C8B-B14F-4D97-AF65-F5344CB8AC3E}">
        <p14:creationId xmlns:p14="http://schemas.microsoft.com/office/powerpoint/2010/main" val="3558337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558C5D-5B68-4CCB-AC42-9405337C9B38}"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After a system crash has occurred, the system consults the log to determine which transactions need to be redone and which need to be undone so as to ensure atomicity.</a:t>
            </a:r>
          </a:p>
          <a:p>
            <a:endParaRPr lang="en-US" altLang="en-US" dirty="0" smtClean="0">
              <a:latin typeface="Times New Roman" panose="02020603050405020304" pitchFamily="18" charset="0"/>
            </a:endParaRPr>
          </a:p>
          <a:p>
            <a:r>
              <a:rPr lang="en-US" dirty="0" smtClean="0"/>
              <a:t>• </a:t>
            </a:r>
            <a:r>
              <a:rPr lang="en-US" b="1" dirty="0" smtClean="0"/>
              <a:t>Transaction </a:t>
            </a:r>
            <a:r>
              <a:rPr lang="en-US" b="1" dirty="0" err="1" smtClean="0"/>
              <a:t>Ti</a:t>
            </a:r>
            <a:r>
              <a:rPr lang="en-US" b="1" dirty="0" smtClean="0"/>
              <a:t> needs to be undone if the log contains the record but does not contain either the record or the record . </a:t>
            </a:r>
          </a:p>
          <a:p>
            <a:r>
              <a:rPr lang="en-US" dirty="0" smtClean="0"/>
              <a:t>• </a:t>
            </a:r>
            <a:r>
              <a:rPr lang="en-US" b="1" dirty="0" smtClean="0"/>
              <a:t>Transaction </a:t>
            </a:r>
            <a:r>
              <a:rPr lang="en-US" b="1" dirty="0" err="1" smtClean="0"/>
              <a:t>Ti</a:t>
            </a:r>
            <a:r>
              <a:rPr lang="en-US" b="1" dirty="0" smtClean="0"/>
              <a:t> needs to be redone if the log contains the record and either the record or the record . It may seem strange to redo </a:t>
            </a:r>
            <a:r>
              <a:rPr lang="en-US" b="1" dirty="0" err="1" smtClean="0"/>
              <a:t>Ti</a:t>
            </a:r>
            <a:r>
              <a:rPr lang="en-US" b="1" dirty="0" smtClean="0"/>
              <a:t> if the record is in the log. </a:t>
            </a:r>
            <a:r>
              <a:rPr lang="en-US" dirty="0" smtClean="0"/>
              <a:t>To see why this works, note that if is in the log, so are the redo-only records written by the undo operation. Thus, the end result will be to undo </a:t>
            </a:r>
            <a:r>
              <a:rPr lang="en-US" dirty="0" err="1" smtClean="0"/>
              <a:t>Ti</a:t>
            </a:r>
            <a:r>
              <a:rPr lang="en-US" dirty="0" smtClean="0"/>
              <a:t> ’s modifications in this case. This slight redundancy simplifies the recovery algorithm and enables faster overall recovery time.</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95ABB6-55A3-454E-8F46-2F41B0DCE156}"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SLAJD</a:t>
            </a:r>
          </a:p>
          <a:p>
            <a:endParaRPr lang="en-US" dirty="0" smtClean="0"/>
          </a:p>
          <a:p>
            <a:r>
              <a:rPr lang="en-US" dirty="0" smtClean="0"/>
              <a:t>As an illustration, return to our banking example, with transaction T0 and T1 executed one after the other in the order T0 followed by T1. </a:t>
            </a:r>
            <a:r>
              <a:rPr lang="en-US" b="1" dirty="0" smtClean="0"/>
              <a:t>Suppose that the system crashes before the completion of the transactions. We shall consider three cases. </a:t>
            </a:r>
            <a:r>
              <a:rPr lang="en-US" dirty="0" smtClean="0"/>
              <a:t>The state of the logs for each of these cases appears in Figure 19.4.</a:t>
            </a:r>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F03508E-9F2F-45A9-80E1-A44105580A71}"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1102AC9-F019-4F85-8352-576C9ED62286}"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When a system crash occurs, we must consult the log to determine those transactions that need to be redone and those that need to be undone. In principle, we need to search the entire log to determine this information. There are two major difficulties with this approach:</a:t>
            </a:r>
          </a:p>
          <a:p>
            <a:endParaRPr lang="en-US" altLang="en-US" dirty="0" smtClean="0">
              <a:latin typeface="Times New Roman" panose="02020603050405020304" pitchFamily="18" charset="0"/>
            </a:endParaRPr>
          </a:p>
          <a:p>
            <a:pPr marL="228600" indent="-228600">
              <a:buAutoNum type="arabicPeriod"/>
            </a:pPr>
            <a:r>
              <a:rPr lang="en-US" b="1" dirty="0" smtClean="0"/>
              <a:t>The search process is time-consuming. </a:t>
            </a:r>
          </a:p>
          <a:p>
            <a:pPr marL="228600" indent="-228600">
              <a:buAutoNum type="arabicPeriod"/>
            </a:pPr>
            <a:r>
              <a:rPr lang="en-US" b="1" dirty="0" smtClean="0"/>
              <a:t>Most of the transactions that, according to our algorithm, need to be redone have already written their updates into the database. Although redoing them will cause no harm, it will nevertheless cause recovery to take longer.</a:t>
            </a:r>
          </a:p>
          <a:p>
            <a:pPr marL="228600" indent="-228600">
              <a:buAutoNum type="arabicPeriod"/>
            </a:pPr>
            <a:endParaRPr lang="en-US" altLang="en-US" dirty="0" smtClean="0">
              <a:latin typeface="Times New Roman" panose="02020603050405020304" pitchFamily="18" charset="0"/>
            </a:endParaRPr>
          </a:p>
          <a:p>
            <a:pPr marL="0" indent="0">
              <a:buNone/>
            </a:pPr>
            <a:r>
              <a:rPr lang="en-US" b="1" dirty="0" smtClean="0"/>
              <a:t>To reduce these types of overhead, we introduce checkpoints.</a:t>
            </a:r>
          </a:p>
          <a:p>
            <a:pPr marL="0" indent="0">
              <a:buNone/>
            </a:pPr>
            <a:endParaRPr lang="en-US" altLang="en-US" b="1" dirty="0" smtClean="0">
              <a:latin typeface="Times New Roman" panose="02020603050405020304" pitchFamily="18" charset="0"/>
            </a:endParaRPr>
          </a:p>
          <a:p>
            <a:pPr marL="0" indent="0">
              <a:buNone/>
            </a:pPr>
            <a:r>
              <a:rPr lang="en-US" b="1" dirty="0" smtClean="0"/>
              <a:t>We discuss later how to modify the </a:t>
            </a:r>
            <a:r>
              <a:rPr lang="en-US" b="1" dirty="0" err="1" smtClean="0"/>
              <a:t>checkpointing</a:t>
            </a:r>
            <a:r>
              <a:rPr lang="en-US" b="1" dirty="0" smtClean="0"/>
              <a:t> and recovery procedures to provide more flexibility by relaxing both these requirements. A checkpoint is performed as follows:</a:t>
            </a:r>
          </a:p>
          <a:p>
            <a:pPr marL="228600" indent="-228600">
              <a:buAutoNum type="arabicPeriod"/>
            </a:pPr>
            <a:r>
              <a:rPr lang="en-US" i="1" dirty="0" smtClean="0"/>
              <a:t>Output onto stable storage all log records currently residing in main memory. </a:t>
            </a:r>
          </a:p>
          <a:p>
            <a:pPr marL="228600" indent="-228600">
              <a:buAutoNum type="arabicPeriod"/>
            </a:pPr>
            <a:r>
              <a:rPr lang="en-US" i="1" dirty="0" smtClean="0"/>
              <a:t>Output to the disk all modified buffer blocks. </a:t>
            </a:r>
          </a:p>
          <a:p>
            <a:pPr marL="228600" indent="-228600">
              <a:buAutoNum type="arabicPeriod"/>
            </a:pPr>
            <a:r>
              <a:rPr lang="en-US" i="1" dirty="0" smtClean="0"/>
              <a:t>Output onto stable storage a log record of the form , where L is a list of transactions active at the time of the checkpoint.</a:t>
            </a:r>
            <a:endParaRPr lang="en-US" altLang="en-US" i="1"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09DA52E-10D8-4F55-B26D-3B46AEF04816}"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76CAA1E-2707-4253-8876-B90E054AB32C}"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F6C4B6F-6830-44A3-A878-77571DDC891A}"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68790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8B1359E-EAD5-4EC7-BD18-28802C2146B9}"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Traditional transaction-processing systems are centralized or client–server systems. </a:t>
            </a:r>
            <a:r>
              <a:rPr lang="en-US" b="1" i="1" dirty="0" smtClean="0"/>
              <a:t>Such systems are vulnerable to environmental disasters such as fire, flooding, or earthquakes. Today’s applications need transaction-processing systems that can function in spite of system failures or environmental disasters</a:t>
            </a:r>
            <a:r>
              <a:rPr lang="en-US" dirty="0" smtClean="0"/>
              <a:t>. </a:t>
            </a:r>
          </a:p>
          <a:p>
            <a:endParaRPr lang="en-US" dirty="0" smtClean="0"/>
          </a:p>
          <a:p>
            <a:r>
              <a:rPr lang="en-US" b="1" i="1" dirty="0" smtClean="0"/>
              <a:t>Such systems must provide high availability; that is, the time for which the system is unusable must be extremely short. We can achieve high availability by performing transaction processing at one site, called the primary site, and having a remote backup site where all the data from the primary site are replicated. </a:t>
            </a:r>
            <a:r>
              <a:rPr lang="en-US" b="1" dirty="0" smtClean="0"/>
              <a:t>The remote backup site is sometimes also called the secondary site. </a:t>
            </a:r>
          </a:p>
          <a:p>
            <a:endParaRPr lang="en-US" dirty="0" smtClean="0"/>
          </a:p>
          <a:p>
            <a:r>
              <a:rPr lang="en-US" b="1" dirty="0" smtClean="0"/>
              <a:t>The remote site must be kept synchronized with the primary site as updates are performed at the primary. We achieve synchronization by sending all log records from the primary site to the remote backup site. </a:t>
            </a:r>
            <a:r>
              <a:rPr lang="en-US" dirty="0" smtClean="0"/>
              <a:t>The remote backup site must be physically separated from the primary—for example, we can locate it in a different state—so that a disaster such as a fire, flood or an earthquake at the primary does not also damage the remote backup site.3 </a:t>
            </a:r>
          </a:p>
          <a:p>
            <a:endParaRPr lang="en-US" dirty="0" smtClean="0"/>
          </a:p>
          <a:p>
            <a:r>
              <a:rPr lang="en-US" b="1" dirty="0" smtClean="0"/>
              <a:t>Figure 19.6 shows the architecture of a remote backup system. When the primary site fails, the remote backup site takes over processing. First, however, it performs recovery, using its (perhaps outdated) copy of the data from the primary and the log records received from the primary. </a:t>
            </a:r>
            <a:r>
              <a:rPr lang="en-US" dirty="0" smtClean="0"/>
              <a:t>In effect, the remote backup site is performing recovery actions that would have been performed at the primary site when the latter recovered. Standard recovery algorithms, with minor modifications, can be used for recovery at the remote backup site. </a:t>
            </a:r>
            <a:r>
              <a:rPr lang="en-US" b="1" dirty="0" smtClean="0"/>
              <a:t>Once recovery has been performed, the remote backup site starts processing transactions.</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3170866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4A195ED-E122-4D7E-8E5B-124B8FE1EF06}"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Availability is greatly increased over a single-site system, since the system can recover even if all data at the primary site are lost. Several issues must be addressed in designing a remote backup system:</a:t>
            </a:r>
          </a:p>
          <a:p>
            <a:endParaRPr lang="en-US" altLang="en-US" dirty="0" smtClean="0">
              <a:latin typeface="Times New Roman" panose="02020603050405020304" pitchFamily="18" charset="0"/>
            </a:endParaRPr>
          </a:p>
          <a:p>
            <a:r>
              <a:rPr lang="en-US" b="1" dirty="0" smtClean="0"/>
              <a:t>• Detection of failure. </a:t>
            </a:r>
            <a:r>
              <a:rPr lang="en-US" b="1" i="1" dirty="0" smtClean="0"/>
              <a:t>It is important for the remote backup system to detect when the primary has failed. Failure of communication lines can fool the remote backup into believing that the primary has failed. To avoid this problem, we maintain several communication links with independent modes of failure between the primary and the remote backup. </a:t>
            </a:r>
            <a:r>
              <a:rPr lang="en-US" dirty="0" smtClean="0"/>
              <a:t>For example, several independent network connections, including perhaps a modem connection over a telephone line, may be used. These connections may be backed up via manual intervention by operators, who can communicate over the telephone system.</a:t>
            </a:r>
          </a:p>
          <a:p>
            <a:endParaRPr lang="en-US" altLang="en-US" dirty="0" smtClean="0">
              <a:latin typeface="Times New Roman" panose="02020603050405020304" pitchFamily="18" charset="0"/>
            </a:endParaRPr>
          </a:p>
          <a:p>
            <a:r>
              <a:rPr lang="en-US" dirty="0" smtClean="0"/>
              <a:t>• </a:t>
            </a:r>
            <a:r>
              <a:rPr lang="en-US" b="1" dirty="0" smtClean="0"/>
              <a:t>Transfer of control. </a:t>
            </a:r>
            <a:r>
              <a:rPr lang="en-US" b="1" i="1" dirty="0" smtClean="0"/>
              <a:t>When the primary fails, the backup site takes over processing and becomes the new primary. The decision to transfer control can be done manually or can be automated using software provided by database system vendors. Queries must now be sent to the new primary</a:t>
            </a:r>
            <a:r>
              <a:rPr lang="en-US" dirty="0" smtClean="0"/>
              <a:t>. </a:t>
            </a:r>
            <a:r>
              <a:rPr lang="en-US" i="1" dirty="0" smtClean="0"/>
              <a:t>To do so automatically, many systems assign the IP address of the old primary to the new primary. Existing database connections will fail, but when an application tries to reopen a connection it gets connected to the new primary. Some systems instead use a high availability proxy machine. </a:t>
            </a:r>
          </a:p>
          <a:p>
            <a:endParaRPr lang="en-US" dirty="0" smtClean="0"/>
          </a:p>
          <a:p>
            <a:r>
              <a:rPr lang="en-US" i="1" dirty="0" smtClean="0"/>
              <a:t>Application clients do not connect to the database directly, but connect through the proxy. The proxy transparently routes application requests to the current primary. (There can be more than one machine acting as proxy at the same time, to deal with a situation where a proxy machine fails; requests can be routed through any active proxy machine.) </a:t>
            </a:r>
          </a:p>
          <a:p>
            <a:r>
              <a:rPr lang="en-US" dirty="0" smtClean="0"/>
              <a:t>	</a:t>
            </a:r>
          </a:p>
          <a:p>
            <a:endParaRPr lang="en-US" dirty="0" smtClean="0"/>
          </a:p>
          <a:p>
            <a:r>
              <a:rPr lang="en-US" b="1" i="1" dirty="0" smtClean="0"/>
              <a:t>When the original primary site recovers, it can either play the role of remote backup or it can take over the role of primary site again. In either case, the old primary must receive a log of updates carried out by the backup site while the old primary was down. </a:t>
            </a:r>
          </a:p>
          <a:p>
            <a:r>
              <a:rPr lang="en-US" b="1" i="1" dirty="0" smtClean="0"/>
              <a:t>The old primary must catch up with the updates in the log by applying them locally. The old primary can then act as a remote backup site. If control must be transferred back, the new primary (which is the old backup site) can pretend to have failed, resulting in the old primary taking over.</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79465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6722A52-1519-4D83-837E-E366590BF67F}"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 </a:t>
            </a:r>
            <a:r>
              <a:rPr lang="en-US" b="1" dirty="0" smtClean="0"/>
              <a:t>Time to recover. </a:t>
            </a:r>
            <a:r>
              <a:rPr lang="en-US" i="1" dirty="0" smtClean="0"/>
              <a:t>If the log at the remote backup grows large, recovery will take a long time. The remote backup site can periodically process the redo log records that it has received and can perform a checkpoint so that earlier parts of the log can be deleted. The delay before the remote backup takes over can be significantly reduced as a result.</a:t>
            </a:r>
          </a:p>
          <a:p>
            <a:pPr marL="171450" indent="-171450">
              <a:buFont typeface="Arial" panose="020B0604020202020204" pitchFamily="34" charset="0"/>
              <a:buChar char="•"/>
            </a:pPr>
            <a:r>
              <a:rPr lang="en-US" b="1" dirty="0" smtClean="0"/>
              <a:t>A hot-spare configuration can make takeover by the backup site almost instantaneous. </a:t>
            </a:r>
            <a:r>
              <a:rPr lang="en-US" i="1" dirty="0" smtClean="0"/>
              <a:t>In this configuration, the remote backup site continually processes redo log records as they arrive, applying the updates locally. As soon as the failure of the primary is detected, the backup site completes recovery by rolling back incomplete transactions; it is then ready to process new transactions.</a:t>
            </a:r>
          </a:p>
          <a:p>
            <a:endParaRPr lang="en-US" dirty="0" smtClean="0"/>
          </a:p>
        </p:txBody>
      </p:sp>
    </p:spTree>
    <p:extLst>
      <p:ext uri="{BB962C8B-B14F-4D97-AF65-F5344CB8AC3E}">
        <p14:creationId xmlns:p14="http://schemas.microsoft.com/office/powerpoint/2010/main" val="95041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9F2F693-EE8E-41A1-A649-AE781267D136}"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 </a:t>
            </a:r>
            <a:r>
              <a:rPr lang="en-US" b="1" dirty="0" smtClean="0"/>
              <a:t>Time to commit. </a:t>
            </a:r>
            <a:r>
              <a:rPr lang="en-US" b="1" i="1" dirty="0" smtClean="0"/>
              <a:t>To ensure that the updates of a committed transaction are durable, a transaction must not be declared committed until its log records have reached the backup site. This delay can result in a longer wait to commit a transaction, and some systems therefore permit lower degrees of durability. </a:t>
            </a:r>
          </a:p>
          <a:p>
            <a:endParaRPr lang="en-US" dirty="0" smtClean="0"/>
          </a:p>
          <a:p>
            <a:r>
              <a:rPr lang="en-US" b="1" dirty="0" smtClean="0"/>
              <a:t>The degrees of durability can be classified as follows:</a:t>
            </a:r>
          </a:p>
          <a:p>
            <a:pPr lvl="1"/>
            <a:r>
              <a:rPr lang="en-US" dirty="0" smtClean="0"/>
              <a:t>° </a:t>
            </a:r>
            <a:r>
              <a:rPr lang="en-US" b="1" dirty="0" smtClean="0"/>
              <a:t>One-safe. </a:t>
            </a:r>
            <a:r>
              <a:rPr lang="en-US" i="1" dirty="0" smtClean="0"/>
              <a:t>A transaction commits as soon as its commit log record is written to stable storage at the primary site. The problem with this scheme is that the updates of a committed transaction may not have made it to the backup site when the backup site takes over processing. </a:t>
            </a:r>
            <a:r>
              <a:rPr lang="en-US" dirty="0" smtClean="0"/>
              <a:t>Thus, the updates may appear to be lost. When the primary site recovers, the lost updates cannot be merged in directly, since the updates may conflict with later updates performed at the backup site. Thus, human intervention may be required to bring the database to a consistent state. </a:t>
            </a:r>
          </a:p>
          <a:p>
            <a:pPr lvl="1"/>
            <a:r>
              <a:rPr lang="en-US" dirty="0" smtClean="0"/>
              <a:t>° </a:t>
            </a:r>
            <a:r>
              <a:rPr lang="en-US" b="1" dirty="0" smtClean="0"/>
              <a:t>Two-very-safe. </a:t>
            </a:r>
            <a:r>
              <a:rPr lang="en-US" i="1" dirty="0" smtClean="0"/>
              <a:t>A transaction commits as soon as its commit log record is written to stable storage at the primary and the backup site. The problem with this scheme is that transaction processing cannot proceed if either the primary or the backup site is down. </a:t>
            </a:r>
            <a:r>
              <a:rPr lang="en-US" dirty="0" smtClean="0"/>
              <a:t>Thus, availability is actually less than in the single-site case, although the probability of data loss is much less.</a:t>
            </a:r>
          </a:p>
          <a:p>
            <a:pPr lvl="1"/>
            <a:r>
              <a:rPr lang="en-US" dirty="0" smtClean="0"/>
              <a:t>° </a:t>
            </a:r>
            <a:r>
              <a:rPr lang="en-US" b="1" dirty="0" smtClean="0"/>
              <a:t>Two-safe. </a:t>
            </a:r>
            <a:r>
              <a:rPr lang="en-US" i="1" dirty="0" smtClean="0"/>
              <a:t>This scheme is the same as two-very-safe if both primary and backup sites are active. If only the primary is active, the transaction is allowed to commit as soon as its commit log record is written to stable storage at the primary site</a:t>
            </a:r>
            <a:r>
              <a:rPr lang="en-US" dirty="0" smtClean="0"/>
              <a:t>. This scheme provides better availability than does two-very-safe, while avoiding the problem of lost transactions faced by the one-safe scheme. It results in a slower commit than the one-safe scheme, but the benefits generally outweigh the cost.</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53354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51BECEEC-3BC9-4D4E-99DA-2E5AA4578487}"/>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a:t>7</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5A1666A-4F16-4D6F-8CC9-19658F8F9F60}"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over-6Ed">
            <a:extLst>
              <a:ext uri="{FF2B5EF4-FFF2-40B4-BE49-F238E27FC236}">
                <a16:creationId xmlns:a16="http://schemas.microsoft.com/office/drawing/2014/main" id="{12BFBC13-3518-4549-85D9-A32C1D723BA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6647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fld id="{7E61BABB-146E-43C2-957A-F74489A8053A}" type="slidenum">
              <a:rPr lang="en-US" altLang="en-US" smtClean="0"/>
              <a:pPr/>
              <a:t>‹#›</a:t>
            </a:fld>
            <a:endParaRPr lang="en-US" altLang="en-US"/>
          </a:p>
        </p:txBody>
      </p:sp>
    </p:spTree>
    <p:extLst>
      <p:ext uri="{BB962C8B-B14F-4D97-AF65-F5344CB8AC3E}">
        <p14:creationId xmlns:p14="http://schemas.microsoft.com/office/powerpoint/2010/main" val="292292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B8911A7C-8095-450C-8C6E-9FD10552B060}" type="slidenum">
              <a:rPr lang="en-US" altLang="en-US" smtClean="0"/>
              <a:pPr/>
              <a:t>‹#›</a:t>
            </a:fld>
            <a:endParaRPr lang="en-US" altLang="en-US"/>
          </a:p>
        </p:txBody>
      </p:sp>
    </p:spTree>
    <p:extLst>
      <p:ext uri="{BB962C8B-B14F-4D97-AF65-F5344CB8AC3E}">
        <p14:creationId xmlns:p14="http://schemas.microsoft.com/office/powerpoint/2010/main" val="76575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C6A00A4D-DB2F-4805-9D30-1601D390370A}"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1984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CDAB9B80-DF76-48EB-90ED-332DFA16C8C5}" type="slidenum">
              <a:rPr lang="en-US" altLang="en-US" smtClean="0"/>
              <a:pPr/>
              <a:t>‹#›</a:t>
            </a:fld>
            <a:endParaRPr lang="en-US" altLang="en-US"/>
          </a:p>
        </p:txBody>
      </p:sp>
    </p:spTree>
    <p:extLst>
      <p:ext uri="{BB962C8B-B14F-4D97-AF65-F5344CB8AC3E}">
        <p14:creationId xmlns:p14="http://schemas.microsoft.com/office/powerpoint/2010/main" val="1158359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D7F13DB9-4DBA-4FBB-AEC4-DAFE588C3D15}" type="slidenum">
              <a:rPr lang="en-US" altLang="en-US" smtClean="0"/>
              <a:pPr/>
              <a:t>‹#›</a:t>
            </a:fld>
            <a:endParaRPr lang="en-US" altLang="en-US"/>
          </a:p>
        </p:txBody>
      </p:sp>
    </p:spTree>
    <p:extLst>
      <p:ext uri="{BB962C8B-B14F-4D97-AF65-F5344CB8AC3E}">
        <p14:creationId xmlns:p14="http://schemas.microsoft.com/office/powerpoint/2010/main" val="3481582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56791594-5C2E-4441-B7B6-82984035929F}" type="slidenum">
              <a:rPr lang="en-US" altLang="en-US" smtClean="0"/>
              <a:pPr/>
              <a:t>‹#›</a:t>
            </a:fld>
            <a:endParaRPr lang="en-US" altLang="en-US"/>
          </a:p>
        </p:txBody>
      </p:sp>
    </p:spTree>
    <p:extLst>
      <p:ext uri="{BB962C8B-B14F-4D97-AF65-F5344CB8AC3E}">
        <p14:creationId xmlns:p14="http://schemas.microsoft.com/office/powerpoint/2010/main" val="2272472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5A1FC2B3-B7EC-454D-9B6D-F703F1879077}" type="slidenum">
              <a:rPr lang="en-US" altLang="en-US" smtClean="0"/>
              <a:pPr/>
              <a:t>‹#›</a:t>
            </a:fld>
            <a:endParaRPr lang="en-US" altLang="en-US"/>
          </a:p>
        </p:txBody>
      </p:sp>
    </p:spTree>
    <p:extLst>
      <p:ext uri="{BB962C8B-B14F-4D97-AF65-F5344CB8AC3E}">
        <p14:creationId xmlns:p14="http://schemas.microsoft.com/office/powerpoint/2010/main" val="627726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13436E7B-A083-4D63-80EB-4BF9F57C2504}" type="slidenum">
              <a:rPr lang="en-US" altLang="en-US" smtClean="0"/>
              <a:pPr/>
              <a:t>‹#›</a:t>
            </a:fld>
            <a:endParaRPr lang="en-US" altLang="en-US"/>
          </a:p>
        </p:txBody>
      </p:sp>
    </p:spTree>
    <p:extLst>
      <p:ext uri="{BB962C8B-B14F-4D97-AF65-F5344CB8AC3E}">
        <p14:creationId xmlns:p14="http://schemas.microsoft.com/office/powerpoint/2010/main" val="3178682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44B62CAA-081B-42AF-90A2-E1A8BD75245B}" type="slidenum">
              <a:rPr lang="en-US" altLang="en-US" smtClean="0"/>
              <a:pPr/>
              <a:t>‹#›</a:t>
            </a:fld>
            <a:endParaRPr lang="en-US" altLang="en-US"/>
          </a:p>
        </p:txBody>
      </p:sp>
    </p:spTree>
    <p:extLst>
      <p:ext uri="{BB962C8B-B14F-4D97-AF65-F5344CB8AC3E}">
        <p14:creationId xmlns:p14="http://schemas.microsoft.com/office/powerpoint/2010/main" val="657480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785B9146-0874-4D81-AD0F-79DEE71ECAE8}" type="slidenum">
              <a:rPr lang="en-US" altLang="en-US" smtClean="0"/>
              <a:pPr/>
              <a:t>‹#›</a:t>
            </a:fld>
            <a:endParaRPr lang="en-US" altLang="en-US"/>
          </a:p>
        </p:txBody>
      </p:sp>
    </p:spTree>
    <p:extLst>
      <p:ext uri="{BB962C8B-B14F-4D97-AF65-F5344CB8AC3E}">
        <p14:creationId xmlns:p14="http://schemas.microsoft.com/office/powerpoint/2010/main" val="2391487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C6A00A4D-DB2F-4805-9D30-1601D390370A}" type="slidenum">
              <a:rPr lang="en-US" altLang="en-US" smtClean="0"/>
              <a:pPr/>
              <a:t>‹#›</a:t>
            </a:fld>
            <a:endParaRPr lang="en-US" altLang="en-US"/>
          </a:p>
        </p:txBody>
      </p:sp>
    </p:spTree>
    <p:extLst>
      <p:ext uri="{BB962C8B-B14F-4D97-AF65-F5344CB8AC3E}">
        <p14:creationId xmlns:p14="http://schemas.microsoft.com/office/powerpoint/2010/main" val="178140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6A00A4D-DB2F-4805-9D30-1601D390370A}"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9084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p>
            <a:pPr algn="ctr">
              <a:spcBef>
                <a:spcPct val="50000"/>
              </a:spcBef>
              <a:defRPr/>
            </a:pPr>
            <a:r>
              <a:rPr lang="en-US" b="1" dirty="0">
                <a:solidFill>
                  <a:srgbClr val="002060"/>
                </a:solidFill>
                <a:latin typeface="Helvetica" charset="0"/>
              </a:rPr>
              <a:t>Database System Concepts, 7</a:t>
            </a:r>
            <a:r>
              <a:rPr lang="en-US" b="1" baseline="30000" dirty="0">
                <a:solidFill>
                  <a:srgbClr val="002060"/>
                </a:solidFill>
                <a:latin typeface="Helvetica" charset="0"/>
              </a:rPr>
              <a:t>th</a:t>
            </a:r>
            <a:r>
              <a:rPr lang="en-US" b="1" dirty="0">
                <a:solidFill>
                  <a:srgbClr val="002060"/>
                </a:solidFill>
                <a:latin typeface="Helvetica" charset="0"/>
              </a:rPr>
              <a:t> Ed</a:t>
            </a:r>
            <a:r>
              <a:rPr lang="en-US" dirty="0">
                <a:solidFill>
                  <a:srgbClr val="002060"/>
                </a:solidFill>
                <a:latin typeface="Helvetica" charset="0"/>
              </a:rPr>
              <a:t>.</a:t>
            </a:r>
          </a:p>
          <a:p>
            <a:pPr algn="ctr">
              <a:spcBef>
                <a:spcPct val="50000"/>
              </a:spcBef>
              <a:defRPr/>
            </a:pPr>
            <a:r>
              <a:rPr lang="en-US" sz="1200" b="1" dirty="0">
                <a:solidFill>
                  <a:srgbClr val="002060"/>
                </a:solidFill>
                <a:latin typeface="Helvetica" charset="0"/>
              </a:rPr>
              <a:t>©Silberschatz, Korth and Sudarshan</a:t>
            </a:r>
            <a:br>
              <a:rPr lang="en-US" sz="1200" b="1" dirty="0">
                <a:solidFill>
                  <a:srgbClr val="002060"/>
                </a:solidFill>
                <a:latin typeface="Helvetica" charset="0"/>
              </a:rPr>
            </a:br>
            <a:r>
              <a:rPr lang="en-US" sz="1200" b="1" dirty="0">
                <a:solidFill>
                  <a:srgbClr val="002060"/>
                </a:solidFill>
                <a:latin typeface="Helvetica" charset="0"/>
              </a:rPr>
              <a:t>See </a:t>
            </a:r>
            <a:r>
              <a:rPr lang="en-US" sz="1200" b="1" dirty="0">
                <a:solidFill>
                  <a:srgbClr val="002060"/>
                </a:solidFill>
                <a:latin typeface="Helvetica" charset="0"/>
                <a:hlinkClick r:id="rId2"/>
              </a:rPr>
              <a:t>www.db-book.com</a:t>
            </a:r>
            <a:r>
              <a:rPr lang="en-US" sz="1200" b="1" dirty="0">
                <a:solidFill>
                  <a:srgbClr val="002060"/>
                </a:solidFill>
                <a:latin typeface="Helvetica" charset="0"/>
              </a:rPr>
              <a:t> for conditions on re-use </a:t>
            </a:r>
          </a:p>
        </p:txBody>
      </p:sp>
      <p:pic>
        <p:nvPicPr>
          <p:cNvPr id="6"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4"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5"/>
          <p:cNvSpPr>
            <a:spLocks noGrp="1" noChangeArrowheads="1"/>
          </p:cNvSpPr>
          <p:nvPr>
            <p:ph type="sldNum" sz="quarter" idx="10"/>
          </p:nvPr>
        </p:nvSpPr>
        <p:spPr>
          <a:xfrm>
            <a:off x="6596063" y="6218238"/>
            <a:ext cx="1905000" cy="457200"/>
          </a:xfrm>
        </p:spPr>
        <p:txBody>
          <a:bodyPr/>
          <a:lstStyle>
            <a:lvl1pPr>
              <a:defRPr>
                <a:solidFill>
                  <a:srgbClr val="578963"/>
                </a:solidFill>
              </a:defRPr>
            </a:lvl1pPr>
          </a:lstStyle>
          <a:p>
            <a:fld id="{C5A1666A-4F16-4D6F-8CC9-19658F8F9F60}" type="slidenum">
              <a:rPr lang="en-US" altLang="en-US"/>
              <a:pPr/>
              <a:t>‹#›</a:t>
            </a:fld>
            <a:endParaRPr lang="en-US" altLang="en-US"/>
          </a:p>
        </p:txBody>
      </p:sp>
    </p:spTree>
    <p:extLst>
      <p:ext uri="{BB962C8B-B14F-4D97-AF65-F5344CB8AC3E}">
        <p14:creationId xmlns:p14="http://schemas.microsoft.com/office/powerpoint/2010/main" val="101124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C6A00A4D-DB2F-4805-9D30-1601D390370A}"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19.</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9C0BCCEA-1B42-4AE9-A38C-03480ED81B9E}"/>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9414639"/>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798" r:id="rId14"/>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19: Recovery System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701336" y="1102497"/>
            <a:ext cx="7688062" cy="5367972"/>
          </a:xfrm>
          <a:prstGeom prst="rect">
            <a:avLst/>
          </a:prstGeom>
        </p:spPr>
        <p:txBody>
          <a:bodyPr/>
          <a:lstStyle/>
          <a:p>
            <a:r>
              <a:rPr lang="en-US" altLang="en-US" dirty="0"/>
              <a:t>Failure Classification</a:t>
            </a:r>
          </a:p>
          <a:p>
            <a:r>
              <a:rPr lang="en-US" altLang="en-US" dirty="0"/>
              <a:t>Storage Structure</a:t>
            </a:r>
          </a:p>
          <a:p>
            <a:r>
              <a:rPr lang="en-US" altLang="en-US" dirty="0"/>
              <a:t>Recovery and Atomicity</a:t>
            </a:r>
          </a:p>
          <a:p>
            <a:r>
              <a:rPr lang="en-US" altLang="en-US" dirty="0"/>
              <a:t>Log-Based Recovery</a:t>
            </a:r>
          </a:p>
          <a:p>
            <a:r>
              <a:rPr lang="en-US" altLang="en-US" dirty="0"/>
              <a:t>Remote Backup Systems</a:t>
            </a:r>
          </a:p>
          <a:p>
            <a:endParaRPr lang="en-US"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Failure Classification</a:t>
            </a:r>
          </a:p>
        </p:txBody>
      </p:sp>
      <p:sp>
        <p:nvSpPr>
          <p:cNvPr id="6147" name="Rectangle 3"/>
          <p:cNvSpPr>
            <a:spLocks noGrp="1" noChangeArrowheads="1"/>
          </p:cNvSpPr>
          <p:nvPr>
            <p:ph idx="1"/>
          </p:nvPr>
        </p:nvSpPr>
        <p:spPr>
          <a:xfrm>
            <a:off x="674703" y="1102497"/>
            <a:ext cx="7723574" cy="5367972"/>
          </a:xfrm>
          <a:prstGeom prst="rect">
            <a:avLst/>
          </a:prstGeom>
        </p:spPr>
        <p:txBody>
          <a:bodyPr/>
          <a:lstStyle/>
          <a:p>
            <a:r>
              <a:rPr lang="en-US" altLang="en-US" b="1" dirty="0"/>
              <a:t>Transaction failure</a:t>
            </a:r>
            <a:r>
              <a:rPr lang="en-US" altLang="en-US" dirty="0"/>
              <a:t> :</a:t>
            </a:r>
          </a:p>
          <a:p>
            <a:pPr lvl="1"/>
            <a:r>
              <a:rPr lang="en-US" altLang="en-US" b="1" dirty="0"/>
              <a:t>Logical errors</a:t>
            </a:r>
            <a:r>
              <a:rPr lang="en-US" altLang="en-US" dirty="0"/>
              <a:t>: transaction cannot complete due to some internal error condition</a:t>
            </a:r>
          </a:p>
          <a:p>
            <a:pPr lvl="1"/>
            <a:r>
              <a:rPr lang="en-US" altLang="en-US" b="1" dirty="0"/>
              <a:t>System errors</a:t>
            </a:r>
            <a:r>
              <a:rPr lang="en-US" altLang="en-US" dirty="0"/>
              <a:t>: the database system must terminate an active transaction due to an error condition (e.g., deadlock)</a:t>
            </a:r>
          </a:p>
          <a:p>
            <a:r>
              <a:rPr lang="en-US" altLang="en-US" b="1" dirty="0"/>
              <a:t>System crash</a:t>
            </a:r>
            <a:r>
              <a:rPr lang="en-US" altLang="en-US" dirty="0"/>
              <a:t>: a power failure or other hardware or software failure causes the system to crash.</a:t>
            </a:r>
          </a:p>
          <a:p>
            <a:pPr lvl="1"/>
            <a:r>
              <a:rPr lang="en-US" altLang="en-US" b="1" dirty="0">
                <a:solidFill>
                  <a:srgbClr val="002060"/>
                </a:solidFill>
              </a:rPr>
              <a:t>Fail-stop assumption</a:t>
            </a:r>
            <a:r>
              <a:rPr lang="en-US" altLang="en-US" dirty="0"/>
              <a:t>: non-volatile storage contents are assumed to not be corrupted by system crash</a:t>
            </a:r>
          </a:p>
          <a:p>
            <a:pPr lvl="2"/>
            <a:r>
              <a:rPr lang="en-US" altLang="en-US" dirty="0"/>
              <a:t>Database systems have numerous integrity checks to prevent corruption of disk data </a:t>
            </a:r>
          </a:p>
          <a:p>
            <a:r>
              <a:rPr lang="en-US" altLang="en-US" b="1" dirty="0"/>
              <a:t>Disk failure</a:t>
            </a:r>
            <a:r>
              <a:rPr lang="en-US" altLang="en-US" dirty="0"/>
              <a:t>: a head crash or similar disk failure destroys all or part of disk storage</a:t>
            </a:r>
          </a:p>
          <a:p>
            <a:pPr lvl="1"/>
            <a:r>
              <a:rPr lang="en-US" altLang="en-US" dirty="0"/>
              <a:t>Destruction is assumed to be detectable: disk drives use checksums to detect failures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Algorithms</a:t>
            </a:r>
          </a:p>
        </p:txBody>
      </p:sp>
      <p:sp>
        <p:nvSpPr>
          <p:cNvPr id="7171" name="Rectangle 3"/>
          <p:cNvSpPr>
            <a:spLocks noGrp="1" noChangeArrowheads="1"/>
          </p:cNvSpPr>
          <p:nvPr>
            <p:ph idx="1"/>
          </p:nvPr>
        </p:nvSpPr>
        <p:spPr>
          <a:xfrm>
            <a:off x="683580" y="1102497"/>
            <a:ext cx="7776839" cy="5367972"/>
          </a:xfrm>
        </p:spPr>
        <p:txBody>
          <a:bodyPr/>
          <a:lstStyle/>
          <a:p>
            <a:pPr marL="381000" indent="-381000"/>
            <a:r>
              <a:rPr lang="en-US" altLang="en-US" dirty="0"/>
              <a:t>Suppose transaction </a:t>
            </a:r>
            <a:r>
              <a:rPr lang="en-US" altLang="en-US" i="1" dirty="0" err="1"/>
              <a:t>T</a:t>
            </a:r>
            <a:r>
              <a:rPr lang="en-US" altLang="en-US" i="1" baseline="-25000" dirty="0" err="1"/>
              <a:t>i</a:t>
            </a:r>
            <a:r>
              <a:rPr lang="en-US" altLang="en-US" dirty="0"/>
              <a:t> transfers $50 from account </a:t>
            </a:r>
            <a:r>
              <a:rPr lang="en-US" altLang="en-US" i="1" dirty="0"/>
              <a:t>A</a:t>
            </a:r>
            <a:r>
              <a:rPr lang="en-US" altLang="en-US" dirty="0"/>
              <a:t> to account </a:t>
            </a:r>
            <a:r>
              <a:rPr lang="en-US" altLang="en-US" i="1" dirty="0"/>
              <a:t>B</a:t>
            </a:r>
          </a:p>
          <a:p>
            <a:pPr marL="800100" lvl="1" indent="-342900"/>
            <a:r>
              <a:rPr lang="en-US" altLang="en-US" dirty="0"/>
              <a:t>Two updates: subtract 50 from A and add 50 to B </a:t>
            </a:r>
          </a:p>
          <a:p>
            <a:pPr marL="381000" indent="-381000"/>
            <a:r>
              <a:rPr lang="en-US" altLang="en-US" dirty="0"/>
              <a:t>Transaction </a:t>
            </a:r>
            <a:r>
              <a:rPr lang="en-US" altLang="en-US" i="1" dirty="0" err="1"/>
              <a:t>T</a:t>
            </a:r>
            <a:r>
              <a:rPr lang="en-US" altLang="en-US" i="1" baseline="-25000" dirty="0" err="1"/>
              <a:t>i</a:t>
            </a:r>
            <a:r>
              <a:rPr lang="en-US" altLang="en-US" dirty="0"/>
              <a:t>  requires updates to A and B to be output to the database. </a:t>
            </a:r>
          </a:p>
          <a:p>
            <a:pPr marL="800100" lvl="1" indent="-342900"/>
            <a:r>
              <a:rPr lang="en-US" altLang="en-US" dirty="0"/>
              <a:t>A failure may occur after one of these modifications have been made but before both of them are made. </a:t>
            </a:r>
          </a:p>
          <a:p>
            <a:pPr marL="800100" lvl="1" indent="-342900"/>
            <a:r>
              <a:rPr lang="en-US" altLang="en-US" dirty="0"/>
              <a:t>Modifying the database without ensuring that the transaction will commit  may leave the database in an inconsistent state</a:t>
            </a:r>
          </a:p>
          <a:p>
            <a:pPr marL="800100" lvl="1" indent="-342900"/>
            <a:r>
              <a:rPr lang="en-US" altLang="en-US" dirty="0"/>
              <a:t>Not modifying the database may result in lost updates if failure occurs just after transaction commits</a:t>
            </a:r>
          </a:p>
          <a:p>
            <a:pPr marL="381000" indent="-381000"/>
            <a:r>
              <a:rPr lang="en-US" altLang="en-US" dirty="0"/>
              <a:t>Recovery algorithms have two parts</a:t>
            </a:r>
          </a:p>
          <a:p>
            <a:pPr marL="800100" lvl="1" indent="-342900">
              <a:buFont typeface="Monotype Sorts" charset="2"/>
              <a:buAutoNum type="arabicPeriod"/>
            </a:pPr>
            <a:r>
              <a:rPr lang="en-US" altLang="en-US" dirty="0"/>
              <a:t>Actions taken during normal transaction processing to ensure enough information exists to recover from failures</a:t>
            </a:r>
          </a:p>
          <a:p>
            <a:pPr marL="800100" lvl="1" indent="-342900">
              <a:buFont typeface="Monotype Sorts" charset="2"/>
              <a:buAutoNum type="arabicPeriod"/>
            </a:pPr>
            <a:r>
              <a:rPr lang="en-US" altLang="en-US" dirty="0"/>
              <a:t>Actions taken after a failure to recover the database contents to a state that ensures atomicity, consistency and durability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Storage Structure</a:t>
            </a:r>
          </a:p>
        </p:txBody>
      </p:sp>
      <p:sp>
        <p:nvSpPr>
          <p:cNvPr id="8195" name="Rectangle 3"/>
          <p:cNvSpPr>
            <a:spLocks noGrp="1" noChangeArrowheads="1"/>
          </p:cNvSpPr>
          <p:nvPr>
            <p:ph idx="1"/>
          </p:nvPr>
        </p:nvSpPr>
        <p:spPr>
          <a:xfrm>
            <a:off x="701336" y="1102497"/>
            <a:ext cx="7767961" cy="5367972"/>
          </a:xfrm>
          <a:prstGeom prst="rect">
            <a:avLst/>
          </a:prstGeom>
        </p:spPr>
        <p:txBody>
          <a:bodyPr/>
          <a:lstStyle/>
          <a:p>
            <a:r>
              <a:rPr lang="en-US" altLang="en-US" b="1" dirty="0">
                <a:solidFill>
                  <a:srgbClr val="002060"/>
                </a:solidFill>
              </a:rPr>
              <a:t>Volatile storage</a:t>
            </a:r>
            <a:r>
              <a:rPr lang="en-US" altLang="en-US" dirty="0"/>
              <a:t>:</a:t>
            </a:r>
          </a:p>
          <a:p>
            <a:pPr lvl="1"/>
            <a:r>
              <a:rPr lang="en-US" altLang="en-US" dirty="0"/>
              <a:t>Does not survive system crashes</a:t>
            </a:r>
          </a:p>
          <a:p>
            <a:pPr lvl="1"/>
            <a:r>
              <a:rPr lang="en-US" altLang="en-US" dirty="0"/>
              <a:t>Examples: main memory, cache memory</a:t>
            </a:r>
          </a:p>
          <a:p>
            <a:r>
              <a:rPr lang="en-US" altLang="en-US" b="1" dirty="0">
                <a:solidFill>
                  <a:srgbClr val="002060"/>
                </a:solidFill>
              </a:rPr>
              <a:t>Nonvolatile storage</a:t>
            </a:r>
            <a:r>
              <a:rPr lang="en-US" altLang="en-US" dirty="0"/>
              <a:t>:</a:t>
            </a:r>
          </a:p>
          <a:p>
            <a:pPr lvl="1"/>
            <a:r>
              <a:rPr lang="en-US" altLang="en-US" dirty="0"/>
              <a:t>Survives system crashes</a:t>
            </a:r>
          </a:p>
          <a:p>
            <a:pPr lvl="1"/>
            <a:r>
              <a:rPr lang="en-US" altLang="en-US" dirty="0"/>
              <a:t>Examples:  disk, tape, flash memory, non-volatile RAM </a:t>
            </a:r>
          </a:p>
          <a:p>
            <a:pPr lvl="1"/>
            <a:r>
              <a:rPr lang="en-US" altLang="en-US" dirty="0"/>
              <a:t>But may still fail, losing data</a:t>
            </a:r>
          </a:p>
          <a:p>
            <a:r>
              <a:rPr lang="en-US" altLang="en-US" b="1" dirty="0">
                <a:solidFill>
                  <a:srgbClr val="002060"/>
                </a:solidFill>
              </a:rPr>
              <a:t>Stable storage</a:t>
            </a:r>
            <a:r>
              <a:rPr lang="en-US" altLang="en-US" dirty="0"/>
              <a:t>:</a:t>
            </a:r>
          </a:p>
          <a:p>
            <a:pPr lvl="1"/>
            <a:r>
              <a:rPr lang="en-US" altLang="en-US" dirty="0"/>
              <a:t>A mythical form of storage that survives all failures</a:t>
            </a:r>
          </a:p>
          <a:p>
            <a:pPr lvl="1"/>
            <a:r>
              <a:rPr lang="en-US" altLang="en-US" dirty="0"/>
              <a:t>Approximated by maintaining multiple copies on distinct nonvolatile media</a:t>
            </a:r>
          </a:p>
          <a:p>
            <a:pPr lvl="1"/>
            <a:r>
              <a:rPr lang="en-US" altLang="en-US" dirty="0"/>
              <a:t>See book for more details on how to implement stable storage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Stable-Storage Implementation</a:t>
            </a:r>
          </a:p>
        </p:txBody>
      </p:sp>
      <p:sp>
        <p:nvSpPr>
          <p:cNvPr id="9219" name="Rectangle 3"/>
          <p:cNvSpPr>
            <a:spLocks noGrp="1" noChangeArrowheads="1"/>
          </p:cNvSpPr>
          <p:nvPr>
            <p:ph idx="1"/>
          </p:nvPr>
        </p:nvSpPr>
        <p:spPr>
          <a:xfrm>
            <a:off x="683580" y="1102497"/>
            <a:ext cx="7776839" cy="5367972"/>
          </a:xfrm>
          <a:prstGeom prst="rect">
            <a:avLst/>
          </a:prstGeom>
        </p:spPr>
        <p:txBody>
          <a:bodyPr/>
          <a:lstStyle/>
          <a:p>
            <a:pPr>
              <a:lnSpc>
                <a:spcPct val="90000"/>
              </a:lnSpc>
            </a:pPr>
            <a:r>
              <a:rPr lang="en-US" altLang="en-US" dirty="0"/>
              <a:t>Maintain multiple copies of each block on separate disks</a:t>
            </a:r>
          </a:p>
          <a:p>
            <a:pPr marL="762000" lvl="1" indent="-304800">
              <a:lnSpc>
                <a:spcPct val="90000"/>
              </a:lnSpc>
            </a:pPr>
            <a:r>
              <a:rPr lang="en-US" altLang="en-US" dirty="0"/>
              <a:t>copies can be at remote sites to protect against disasters such as fire or flooding.</a:t>
            </a:r>
          </a:p>
          <a:p>
            <a:pPr>
              <a:lnSpc>
                <a:spcPct val="90000"/>
              </a:lnSpc>
            </a:pPr>
            <a:r>
              <a:rPr lang="en-US" altLang="en-US" dirty="0"/>
              <a:t>Failure during data transfer can still result in inconsistent copies: Block transfer can result in</a:t>
            </a:r>
          </a:p>
          <a:p>
            <a:pPr marL="762000" lvl="1" indent="-304800">
              <a:lnSpc>
                <a:spcPct val="90000"/>
              </a:lnSpc>
            </a:pPr>
            <a:r>
              <a:rPr lang="en-US" altLang="en-US" dirty="0"/>
              <a:t>Successful completion</a:t>
            </a:r>
          </a:p>
          <a:p>
            <a:pPr marL="762000" lvl="1" indent="-304800">
              <a:lnSpc>
                <a:spcPct val="90000"/>
              </a:lnSpc>
            </a:pPr>
            <a:r>
              <a:rPr lang="en-US" altLang="en-US" dirty="0"/>
              <a:t>Partial failure: destination block has incorrect information</a:t>
            </a:r>
          </a:p>
          <a:p>
            <a:pPr marL="762000" lvl="1" indent="-304800">
              <a:lnSpc>
                <a:spcPct val="90000"/>
              </a:lnSpc>
            </a:pPr>
            <a:r>
              <a:rPr lang="en-US" altLang="en-US" dirty="0"/>
              <a:t>Total failure: destination block was never updated</a:t>
            </a:r>
          </a:p>
          <a:p>
            <a:pPr>
              <a:lnSpc>
                <a:spcPct val="90000"/>
              </a:lnSpc>
            </a:pPr>
            <a:r>
              <a:rPr lang="en-US" altLang="en-US" dirty="0"/>
              <a:t>Protecting storage media from failure during data transfer (one solution):</a:t>
            </a:r>
          </a:p>
          <a:p>
            <a:pPr marL="762000" lvl="1" indent="-304800">
              <a:lnSpc>
                <a:spcPct val="90000"/>
              </a:lnSpc>
            </a:pPr>
            <a:r>
              <a:rPr lang="en-US" altLang="en-US" dirty="0"/>
              <a:t>Execute output operation as follows (assuming two copies of each block):</a:t>
            </a:r>
          </a:p>
          <a:p>
            <a:pPr marL="1162050" lvl="2" indent="-304800">
              <a:lnSpc>
                <a:spcPct val="90000"/>
              </a:lnSpc>
              <a:buFont typeface="Monotype Sorts" charset="2"/>
              <a:buAutoNum type="arabicPeriod"/>
            </a:pPr>
            <a:r>
              <a:rPr lang="en-US" altLang="en-US" dirty="0"/>
              <a:t>Write the information onto the first physical block.</a:t>
            </a:r>
          </a:p>
          <a:p>
            <a:pPr marL="1162050" lvl="2" indent="-304800">
              <a:lnSpc>
                <a:spcPct val="90000"/>
              </a:lnSpc>
              <a:buFont typeface="Monotype Sorts" charset="2"/>
              <a:buAutoNum type="arabicPeriod"/>
            </a:pPr>
            <a:r>
              <a:rPr lang="en-US" altLang="en-US" dirty="0"/>
              <a:t>When the first write successfully completes, write the same information onto the second physical block.</a:t>
            </a:r>
          </a:p>
          <a:p>
            <a:pPr marL="1162050" lvl="2" indent="-304800">
              <a:lnSpc>
                <a:spcPct val="90000"/>
              </a:lnSpc>
              <a:buFont typeface="Monotype Sorts" charset="2"/>
              <a:buAutoNum type="arabicPeriod"/>
            </a:pPr>
            <a:r>
              <a:rPr lang="en-US" altLang="en-US" dirty="0"/>
              <a:t>The output is completed only after the second write successfully completes.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sz="2800" dirty="0"/>
              <a:t>Protecting storage media from failure </a:t>
            </a:r>
            <a:r>
              <a:rPr lang="en-US" sz="2800" dirty="0">
                <a:effectLst>
                  <a:outerShdw blurRad="38100" dist="38100" dir="2700000" algn="tl">
                    <a:srgbClr val="C0C0C0"/>
                  </a:outerShdw>
                </a:effectLst>
              </a:rPr>
              <a:t>(Cont.)</a:t>
            </a:r>
          </a:p>
        </p:txBody>
      </p:sp>
      <p:sp>
        <p:nvSpPr>
          <p:cNvPr id="10243" name="Rectangle 3"/>
          <p:cNvSpPr>
            <a:spLocks noGrp="1" noChangeArrowheads="1"/>
          </p:cNvSpPr>
          <p:nvPr>
            <p:ph idx="1"/>
          </p:nvPr>
        </p:nvSpPr>
        <p:spPr>
          <a:xfrm>
            <a:off x="692458" y="1102497"/>
            <a:ext cx="7661429" cy="5367972"/>
          </a:xfrm>
          <a:prstGeom prst="rect">
            <a:avLst/>
          </a:prstGeom>
        </p:spPr>
        <p:txBody>
          <a:bodyPr/>
          <a:lstStyle/>
          <a:p>
            <a:pPr marL="381000" indent="-381000"/>
            <a:r>
              <a:rPr lang="en-US" altLang="en-US" dirty="0"/>
              <a:t>Copies of a block may differ due to failure during output operation. </a:t>
            </a:r>
          </a:p>
          <a:p>
            <a:pPr marL="381000" indent="-381000"/>
            <a:r>
              <a:rPr lang="en-US" altLang="en-US" dirty="0"/>
              <a:t>To recover from failure:</a:t>
            </a:r>
          </a:p>
          <a:p>
            <a:pPr marL="457200" lvl="1" indent="0">
              <a:buNone/>
            </a:pPr>
            <a:r>
              <a:rPr lang="en-US" altLang="en-US" dirty="0">
                <a:solidFill>
                  <a:srgbClr val="FF9900"/>
                </a:solidFill>
              </a:rPr>
              <a:t>1.    </a:t>
            </a:r>
            <a:r>
              <a:rPr lang="en-US" altLang="en-US" dirty="0"/>
              <a:t>First find inconsistent blocks:</a:t>
            </a:r>
          </a:p>
          <a:p>
            <a:pPr marL="1200150" lvl="2" indent="-342900">
              <a:buFont typeface="Monotype Sorts" charset="2"/>
              <a:buAutoNum type="arabicPeriod"/>
            </a:pPr>
            <a:r>
              <a:rPr lang="en-US" altLang="en-US" i="1" dirty="0"/>
              <a:t>Expensive solution</a:t>
            </a:r>
            <a:r>
              <a:rPr lang="en-US" altLang="en-US" dirty="0"/>
              <a:t>: Compare the two copies of every disk block.</a:t>
            </a:r>
          </a:p>
          <a:p>
            <a:pPr marL="1200150" lvl="2" indent="-342900">
              <a:buFont typeface="Monotype Sorts" charset="2"/>
              <a:buAutoNum type="arabicPeriod"/>
            </a:pPr>
            <a:r>
              <a:rPr lang="en-US" altLang="en-US" i="1" dirty="0"/>
              <a:t>Better solution</a:t>
            </a:r>
            <a:r>
              <a:rPr lang="en-US" altLang="en-US" dirty="0"/>
              <a:t>: </a:t>
            </a:r>
          </a:p>
          <a:p>
            <a:pPr lvl="3">
              <a:buSzPct val="80000"/>
            </a:pPr>
            <a:r>
              <a:rPr lang="en-US" altLang="en-US" dirty="0"/>
              <a:t>Record in-progress disk writes on non-volatile storage (Flash, Non-volatile RAM or special area of disk). </a:t>
            </a:r>
          </a:p>
          <a:p>
            <a:pPr lvl="3">
              <a:buSzPct val="80000"/>
            </a:pPr>
            <a:r>
              <a:rPr lang="en-US" altLang="en-US" dirty="0"/>
              <a:t> Use this information during recovery  to find blocks that may be inconsistent, and only compare copies of these. </a:t>
            </a:r>
          </a:p>
          <a:p>
            <a:pPr lvl="3">
              <a:buSzPct val="80000"/>
            </a:pPr>
            <a:r>
              <a:rPr lang="en-US" altLang="en-US" dirty="0"/>
              <a:t>Used in hardware RAID systems</a:t>
            </a:r>
          </a:p>
          <a:p>
            <a:pPr lvl="3">
              <a:buSzPct val="80000"/>
            </a:pPr>
            <a:endParaRPr lang="en-US" altLang="en-US" sz="400" dirty="0"/>
          </a:p>
          <a:p>
            <a:pPr marL="457200" lvl="1" indent="0">
              <a:spcBef>
                <a:spcPts val="0"/>
              </a:spcBef>
              <a:buNone/>
            </a:pPr>
            <a:r>
              <a:rPr lang="en-US" altLang="en-US" dirty="0">
                <a:solidFill>
                  <a:srgbClr val="FF9900"/>
                </a:solidFill>
              </a:rPr>
              <a:t>2.   </a:t>
            </a:r>
            <a:r>
              <a:rPr lang="en-US" altLang="en-US" dirty="0"/>
              <a:t>If either copy of an inconsistent block is detected to have an error </a:t>
            </a:r>
          </a:p>
          <a:p>
            <a:pPr marL="457200" lvl="1" indent="0">
              <a:spcBef>
                <a:spcPts val="0"/>
              </a:spcBef>
              <a:buNone/>
            </a:pPr>
            <a:r>
              <a:rPr lang="en-US" altLang="en-US" dirty="0"/>
              <a:t>      (bad checksum), overwrite it by the other copy.  If both have no error, </a:t>
            </a:r>
          </a:p>
          <a:p>
            <a:pPr marL="457200" lvl="1" indent="0">
              <a:spcBef>
                <a:spcPts val="0"/>
              </a:spcBef>
              <a:buNone/>
            </a:pPr>
            <a:r>
              <a:rPr lang="en-US" altLang="en-US" dirty="0"/>
              <a:t>      but are different, overwrite the second block by the first block.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 Access</a:t>
            </a:r>
          </a:p>
        </p:txBody>
      </p:sp>
      <p:sp>
        <p:nvSpPr>
          <p:cNvPr id="11267" name="Rectangle 3"/>
          <p:cNvSpPr>
            <a:spLocks noGrp="1" noChangeArrowheads="1"/>
          </p:cNvSpPr>
          <p:nvPr>
            <p:ph idx="1"/>
          </p:nvPr>
        </p:nvSpPr>
        <p:spPr>
          <a:xfrm>
            <a:off x="701336" y="1102497"/>
            <a:ext cx="7705817" cy="5367972"/>
          </a:xfrm>
          <a:prstGeom prst="rect">
            <a:avLst/>
          </a:prstGeom>
        </p:spPr>
        <p:txBody>
          <a:bodyPr/>
          <a:lstStyle/>
          <a:p>
            <a:r>
              <a:rPr lang="en-US" altLang="en-US" b="1" dirty="0">
                <a:solidFill>
                  <a:srgbClr val="002060"/>
                </a:solidFill>
              </a:rPr>
              <a:t>Physical blocks</a:t>
            </a:r>
            <a:r>
              <a:rPr lang="en-US" altLang="en-US" dirty="0">
                <a:solidFill>
                  <a:srgbClr val="002060"/>
                </a:solidFill>
              </a:rPr>
              <a:t> </a:t>
            </a:r>
            <a:r>
              <a:rPr lang="en-US" altLang="en-US" dirty="0"/>
              <a:t>are those blocks residing on the disk. </a:t>
            </a:r>
          </a:p>
          <a:p>
            <a:r>
              <a:rPr lang="en-US" altLang="en-US" b="1" dirty="0">
                <a:solidFill>
                  <a:srgbClr val="002060"/>
                </a:solidFill>
              </a:rPr>
              <a:t>Buffer blocks</a:t>
            </a:r>
            <a:r>
              <a:rPr lang="en-US" altLang="en-US" dirty="0">
                <a:solidFill>
                  <a:srgbClr val="002060"/>
                </a:solidFill>
              </a:rPr>
              <a:t> </a:t>
            </a:r>
            <a:r>
              <a:rPr lang="en-US" altLang="en-US" dirty="0"/>
              <a:t>are the blocks residing temporarily in main memory.</a:t>
            </a:r>
          </a:p>
          <a:p>
            <a:r>
              <a:rPr lang="en-US" altLang="en-US" dirty="0"/>
              <a:t>Block movements between  disk and main memory are initiated through the following two operations:</a:t>
            </a:r>
          </a:p>
          <a:p>
            <a:pPr lvl="1"/>
            <a:r>
              <a:rPr lang="en-US" altLang="en-US" b="1" dirty="0">
                <a:solidFill>
                  <a:srgbClr val="002060"/>
                </a:solidFill>
              </a:rPr>
              <a:t>input</a:t>
            </a:r>
            <a:r>
              <a:rPr lang="en-US" altLang="en-US" b="1" dirty="0">
                <a:solidFill>
                  <a:srgbClr val="000099"/>
                </a:solidFill>
              </a:rPr>
              <a:t> </a:t>
            </a:r>
            <a:r>
              <a:rPr lang="en-US" altLang="en-US" dirty="0"/>
              <a:t>(</a:t>
            </a:r>
            <a:r>
              <a:rPr lang="en-US" altLang="en-US" i="1" dirty="0"/>
              <a:t>B</a:t>
            </a:r>
            <a:r>
              <a:rPr lang="en-US" altLang="en-US" dirty="0"/>
              <a:t>) transfers the physical block </a:t>
            </a:r>
            <a:r>
              <a:rPr lang="en-US" altLang="en-US" i="1" dirty="0"/>
              <a:t>B  </a:t>
            </a:r>
            <a:r>
              <a:rPr lang="en-US" altLang="en-US" dirty="0"/>
              <a:t>to main memory.</a:t>
            </a:r>
          </a:p>
          <a:p>
            <a:pPr lvl="1"/>
            <a:r>
              <a:rPr lang="en-US" altLang="en-US" b="1" dirty="0">
                <a:solidFill>
                  <a:srgbClr val="002060"/>
                </a:solidFill>
              </a:rPr>
              <a:t>output </a:t>
            </a:r>
            <a:r>
              <a:rPr lang="en-US" altLang="en-US" dirty="0"/>
              <a:t>(</a:t>
            </a:r>
            <a:r>
              <a:rPr lang="en-US" altLang="en-US" i="1" dirty="0"/>
              <a:t>B</a:t>
            </a:r>
            <a:r>
              <a:rPr lang="en-US" altLang="en-US" dirty="0"/>
              <a:t>) transfers the buffer block </a:t>
            </a:r>
            <a:r>
              <a:rPr lang="en-US" altLang="en-US" i="1" dirty="0"/>
              <a:t>B </a:t>
            </a:r>
            <a:r>
              <a:rPr lang="en-US" altLang="en-US" dirty="0"/>
              <a:t>to the disk, and replaces the appropriate physical block there.</a:t>
            </a:r>
          </a:p>
          <a:p>
            <a:r>
              <a:rPr lang="en-US" altLang="en-US" dirty="0"/>
              <a:t>We assume, for simplicity, that each data item fits in, and is stored inside, a single block.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 Access (Cont.)</a:t>
            </a:r>
          </a:p>
        </p:txBody>
      </p:sp>
      <p:sp>
        <p:nvSpPr>
          <p:cNvPr id="12291" name="Rectangle 3"/>
          <p:cNvSpPr>
            <a:spLocks noGrp="1" noChangeArrowheads="1"/>
          </p:cNvSpPr>
          <p:nvPr>
            <p:ph idx="1"/>
          </p:nvPr>
        </p:nvSpPr>
        <p:spPr>
          <a:xfrm>
            <a:off x="692458" y="1102497"/>
            <a:ext cx="7741328" cy="4810031"/>
          </a:xfrm>
          <a:prstGeom prst="rect">
            <a:avLst/>
          </a:prstGeom>
        </p:spPr>
        <p:txBody>
          <a:bodyPr/>
          <a:lstStyle/>
          <a:p>
            <a:r>
              <a:rPr lang="en-US" altLang="en-US" dirty="0"/>
              <a:t>Each transaction </a:t>
            </a:r>
            <a:r>
              <a:rPr lang="en-US" altLang="en-US" i="1" dirty="0" err="1"/>
              <a:t>T</a:t>
            </a:r>
            <a:r>
              <a:rPr lang="en-US" altLang="en-US" i="1" baseline="-25000" dirty="0" err="1"/>
              <a:t>i</a:t>
            </a:r>
            <a:r>
              <a:rPr lang="en-US" altLang="en-US" i="1" dirty="0"/>
              <a:t> </a:t>
            </a:r>
            <a:r>
              <a:rPr lang="en-US" altLang="en-US" dirty="0"/>
              <a:t>has its private work-area in which local copies of all data items accessed and updated by it are kept.</a:t>
            </a:r>
          </a:p>
          <a:p>
            <a:pPr lvl="1"/>
            <a:r>
              <a:rPr lang="en-US" altLang="en-US" dirty="0"/>
              <a:t> </a:t>
            </a:r>
            <a:r>
              <a:rPr lang="en-US" altLang="en-US" i="1" dirty="0" err="1"/>
              <a:t>T</a:t>
            </a:r>
            <a:r>
              <a:rPr lang="en-US" altLang="en-US" i="1" baseline="-25000" dirty="0" err="1"/>
              <a:t>i</a:t>
            </a:r>
            <a:r>
              <a:rPr lang="en-US" altLang="en-US" i="1" baseline="-25000" dirty="0"/>
              <a:t> </a:t>
            </a:r>
            <a:r>
              <a:rPr lang="en-US" altLang="en-US" dirty="0"/>
              <a:t>'s local copy of a data item </a:t>
            </a:r>
            <a:r>
              <a:rPr lang="en-US" altLang="en-US" i="1" dirty="0"/>
              <a:t>X</a:t>
            </a:r>
            <a:r>
              <a:rPr lang="en-US" altLang="en-US" dirty="0"/>
              <a:t> is called </a:t>
            </a:r>
            <a:r>
              <a:rPr lang="en-US" altLang="en-US" i="1" dirty="0"/>
              <a:t>x</a:t>
            </a:r>
            <a:r>
              <a:rPr lang="en-US" altLang="en-US" i="1" baseline="-25000" dirty="0"/>
              <a:t>i</a:t>
            </a:r>
            <a:r>
              <a:rPr lang="en-US" altLang="en-US" i="1" dirty="0"/>
              <a:t>.</a:t>
            </a:r>
            <a:endParaRPr lang="en-US" altLang="en-US" dirty="0"/>
          </a:p>
          <a:p>
            <a:r>
              <a:rPr lang="en-US" altLang="en-US" dirty="0"/>
              <a:t>Transferring data items between system buffer blocks and its private work-area done by:</a:t>
            </a:r>
          </a:p>
          <a:p>
            <a:pPr lvl="1"/>
            <a:r>
              <a:rPr lang="en-US" altLang="en-US" b="1" dirty="0">
                <a:solidFill>
                  <a:srgbClr val="002060"/>
                </a:solidFill>
              </a:rPr>
              <a:t>read</a:t>
            </a:r>
            <a:r>
              <a:rPr lang="en-US" altLang="en-US" dirty="0"/>
              <a:t>(</a:t>
            </a:r>
            <a:r>
              <a:rPr lang="en-US" altLang="en-US" i="1" dirty="0"/>
              <a:t>X</a:t>
            </a:r>
            <a:r>
              <a:rPr lang="en-US" altLang="en-US" dirty="0"/>
              <a:t>) assigns the value of data item </a:t>
            </a:r>
            <a:r>
              <a:rPr lang="en-US" altLang="en-US" i="1" dirty="0"/>
              <a:t>X</a:t>
            </a:r>
            <a:r>
              <a:rPr lang="en-US" altLang="en-US" dirty="0"/>
              <a:t> to the local variable </a:t>
            </a:r>
            <a:r>
              <a:rPr lang="en-US" altLang="en-US" i="1" dirty="0"/>
              <a:t>x</a:t>
            </a:r>
            <a:r>
              <a:rPr lang="en-US" altLang="en-US" i="1" baseline="-25000" dirty="0"/>
              <a:t>i</a:t>
            </a:r>
            <a:r>
              <a:rPr lang="en-US" altLang="en-US" dirty="0"/>
              <a:t>.</a:t>
            </a:r>
          </a:p>
          <a:p>
            <a:pPr lvl="1"/>
            <a:r>
              <a:rPr lang="en-US" altLang="en-US" b="1" dirty="0">
                <a:solidFill>
                  <a:srgbClr val="002060"/>
                </a:solidFill>
              </a:rPr>
              <a:t>write</a:t>
            </a:r>
            <a:r>
              <a:rPr lang="en-US" altLang="en-US" dirty="0"/>
              <a:t>(</a:t>
            </a:r>
            <a:r>
              <a:rPr lang="en-US" altLang="en-US" i="1" dirty="0"/>
              <a:t>X</a:t>
            </a:r>
            <a:r>
              <a:rPr lang="en-US" altLang="en-US" dirty="0"/>
              <a:t>) assigns the value of local variable </a:t>
            </a:r>
            <a:r>
              <a:rPr lang="en-US" altLang="en-US" i="1" dirty="0"/>
              <a:t>x</a:t>
            </a:r>
            <a:r>
              <a:rPr lang="en-US" altLang="en-US" i="1" baseline="-25000" dirty="0"/>
              <a:t>i</a:t>
            </a:r>
            <a:r>
              <a:rPr lang="en-US" altLang="en-US" i="1" dirty="0"/>
              <a:t> </a:t>
            </a:r>
            <a:r>
              <a:rPr lang="en-US" altLang="en-US" dirty="0"/>
              <a:t>to data item {</a:t>
            </a:r>
            <a:r>
              <a:rPr lang="en-US" altLang="en-US" i="1" dirty="0"/>
              <a:t>X</a:t>
            </a:r>
            <a:r>
              <a:rPr lang="en-US" altLang="en-US" dirty="0"/>
              <a:t>} in the buffer block.</a:t>
            </a:r>
          </a:p>
          <a:p>
            <a:pPr lvl="1"/>
            <a:r>
              <a:rPr lang="en-US" altLang="en-US" dirty="0"/>
              <a:t>Note:</a:t>
            </a:r>
            <a:r>
              <a:rPr lang="en-US" altLang="en-US" b="1" dirty="0"/>
              <a:t> output</a:t>
            </a:r>
            <a:r>
              <a:rPr lang="en-US" altLang="en-US" dirty="0"/>
              <a:t>(</a:t>
            </a:r>
            <a:r>
              <a:rPr lang="en-US" altLang="en-US" i="1" dirty="0"/>
              <a:t>B</a:t>
            </a:r>
            <a:r>
              <a:rPr lang="en-US" altLang="en-US" i="1" baseline="-25000" dirty="0"/>
              <a:t>X</a:t>
            </a:r>
            <a:r>
              <a:rPr lang="en-US" altLang="en-US" dirty="0"/>
              <a:t>) need not immediately follow </a:t>
            </a:r>
            <a:r>
              <a:rPr lang="en-US" altLang="en-US" b="1" dirty="0"/>
              <a:t>write</a:t>
            </a:r>
            <a:r>
              <a:rPr lang="en-US" altLang="en-US" dirty="0"/>
              <a:t>(</a:t>
            </a:r>
            <a:r>
              <a:rPr lang="en-US" altLang="en-US" i="1" dirty="0"/>
              <a:t>X</a:t>
            </a:r>
            <a:r>
              <a:rPr lang="en-US" altLang="en-US" dirty="0"/>
              <a:t>). System can perform the </a:t>
            </a:r>
            <a:r>
              <a:rPr lang="en-US" altLang="en-US" b="1" dirty="0"/>
              <a:t>output</a:t>
            </a:r>
            <a:r>
              <a:rPr lang="en-US" altLang="en-US" dirty="0"/>
              <a:t> operation when it deems fit.</a:t>
            </a:r>
          </a:p>
          <a:p>
            <a:r>
              <a:rPr lang="en-US" altLang="en-US" dirty="0"/>
              <a:t>Transactions </a:t>
            </a:r>
          </a:p>
          <a:p>
            <a:pPr lvl="1"/>
            <a:r>
              <a:rPr lang="en-US" altLang="en-US" dirty="0"/>
              <a:t>Must perform </a:t>
            </a:r>
            <a:r>
              <a:rPr lang="en-US" altLang="en-US" b="1" dirty="0"/>
              <a:t>read</a:t>
            </a:r>
            <a:r>
              <a:rPr lang="en-US" altLang="en-US" dirty="0"/>
              <a:t>(</a:t>
            </a:r>
            <a:r>
              <a:rPr lang="en-US" altLang="en-US" i="1" dirty="0"/>
              <a:t>X</a:t>
            </a:r>
            <a:r>
              <a:rPr lang="en-US" altLang="en-US" dirty="0"/>
              <a:t>) before accessing </a:t>
            </a:r>
            <a:r>
              <a:rPr lang="en-US" altLang="en-US" i="1" dirty="0"/>
              <a:t>X</a:t>
            </a:r>
            <a:r>
              <a:rPr lang="en-US" altLang="en-US" dirty="0"/>
              <a:t> for the first time (subsequent reads can be from local copy) </a:t>
            </a:r>
          </a:p>
          <a:p>
            <a:pPr lvl="1"/>
            <a:r>
              <a:rPr lang="en-US" altLang="en-US" b="1" dirty="0"/>
              <a:t>write</a:t>
            </a:r>
            <a:r>
              <a:rPr lang="en-US" altLang="en-US" dirty="0"/>
              <a:t>(</a:t>
            </a:r>
            <a:r>
              <a:rPr lang="en-US" altLang="en-US" i="1" dirty="0"/>
              <a:t>X</a:t>
            </a:r>
            <a:r>
              <a:rPr lang="en-US" altLang="en-US" dirty="0"/>
              <a:t>) can be executed at any time before the transaction commits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Example </a:t>
            </a:r>
            <a:r>
              <a:rPr lang="en-US" dirty="0">
                <a:effectLst>
                  <a:outerShdw blurRad="38100" dist="38100" dir="2700000" algn="tl">
                    <a:srgbClr val="C0C0C0"/>
                  </a:outerShdw>
                </a:effectLst>
              </a:rPr>
              <a:t>of Data Access</a:t>
            </a:r>
          </a:p>
        </p:txBody>
      </p:sp>
      <p:pic>
        <p:nvPicPr>
          <p:cNvPr id="3" name="Picture 2"/>
          <p:cNvPicPr>
            <a:picLocks noChangeAspect="1"/>
          </p:cNvPicPr>
          <p:nvPr/>
        </p:nvPicPr>
        <p:blipFill>
          <a:blip r:embed="rId3"/>
          <a:stretch>
            <a:fillRect/>
          </a:stretch>
        </p:blipFill>
        <p:spPr>
          <a:xfrm>
            <a:off x="2255520" y="1256042"/>
            <a:ext cx="5131879" cy="4992737"/>
          </a:xfrm>
          <a:prstGeom prst="rect">
            <a:avLst/>
          </a:prstGeom>
        </p:spPr>
      </p:pic>
    </p:spTree>
    <p:extLst>
      <p:ext uri="{BB962C8B-B14F-4D97-AF65-F5344CB8AC3E}">
        <p14:creationId xmlns:p14="http://schemas.microsoft.com/office/powerpoint/2010/main" val="3721671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and Atomicity</a:t>
            </a:r>
          </a:p>
        </p:txBody>
      </p:sp>
      <p:sp>
        <p:nvSpPr>
          <p:cNvPr id="14339" name="Rectangle 3"/>
          <p:cNvSpPr>
            <a:spLocks noGrp="1" noChangeArrowheads="1"/>
          </p:cNvSpPr>
          <p:nvPr>
            <p:ph idx="1"/>
          </p:nvPr>
        </p:nvSpPr>
        <p:spPr>
          <a:xfrm>
            <a:off x="701336" y="1102497"/>
            <a:ext cx="7741328" cy="5367972"/>
          </a:xfrm>
        </p:spPr>
        <p:txBody>
          <a:bodyPr/>
          <a:lstStyle/>
          <a:p>
            <a:r>
              <a:rPr lang="en-US" altLang="en-US" dirty="0"/>
              <a:t>To ensure atomicity despite failures, we first output information describing the modifications to stable storage without modifying the database itself.</a:t>
            </a:r>
          </a:p>
          <a:p>
            <a:r>
              <a:rPr lang="en-US" altLang="en-US" dirty="0"/>
              <a:t>We study </a:t>
            </a:r>
            <a:r>
              <a:rPr lang="en-US" altLang="en-US" b="1" dirty="0">
                <a:solidFill>
                  <a:srgbClr val="002060"/>
                </a:solidFill>
              </a:rPr>
              <a:t>log-based recovery</a:t>
            </a:r>
            <a:r>
              <a:rPr lang="en-US" altLang="en-US" dirty="0">
                <a:solidFill>
                  <a:srgbClr val="002060"/>
                </a:solidFill>
              </a:rPr>
              <a:t> </a:t>
            </a:r>
            <a:r>
              <a:rPr lang="en-US" altLang="en-US" b="1" dirty="0">
                <a:solidFill>
                  <a:srgbClr val="002060"/>
                </a:solidFill>
              </a:rPr>
              <a:t>mechanisms</a:t>
            </a:r>
            <a:r>
              <a:rPr lang="en-US" altLang="en-US" dirty="0">
                <a:solidFill>
                  <a:srgbClr val="002060"/>
                </a:solidFill>
              </a:rPr>
              <a:t> </a:t>
            </a:r>
            <a:r>
              <a:rPr lang="en-US" altLang="en-US" dirty="0"/>
              <a:t>in detail</a:t>
            </a:r>
          </a:p>
          <a:p>
            <a:pPr lvl="1"/>
            <a:r>
              <a:rPr lang="en-US" altLang="en-US" dirty="0"/>
              <a:t>We first present key concepts</a:t>
            </a:r>
          </a:p>
          <a:p>
            <a:pPr lvl="1"/>
            <a:r>
              <a:rPr lang="en-US" altLang="en-US" dirty="0"/>
              <a:t>And then present the actual recovery algorithm</a:t>
            </a:r>
          </a:p>
          <a:p>
            <a:r>
              <a:rPr lang="en-US" altLang="en-US" dirty="0"/>
              <a:t>Less used alternative: </a:t>
            </a:r>
            <a:r>
              <a:rPr lang="en-US" altLang="en-US" b="1" dirty="0">
                <a:solidFill>
                  <a:srgbClr val="002060"/>
                </a:solidFill>
              </a:rPr>
              <a:t>shadow-copy</a:t>
            </a:r>
            <a:r>
              <a:rPr lang="en-US" altLang="en-US" b="1" dirty="0">
                <a:solidFill>
                  <a:srgbClr val="000099"/>
                </a:solidFill>
              </a:rPr>
              <a:t> </a:t>
            </a:r>
            <a:r>
              <a:rPr lang="en-US" altLang="en-US" dirty="0"/>
              <a:t>and</a:t>
            </a:r>
            <a:r>
              <a:rPr lang="en-US" altLang="en-US" dirty="0">
                <a:solidFill>
                  <a:srgbClr val="000099"/>
                </a:solidFill>
              </a:rPr>
              <a:t> </a:t>
            </a:r>
            <a:r>
              <a:rPr lang="en-US" altLang="en-US" b="1" dirty="0">
                <a:solidFill>
                  <a:srgbClr val="002060"/>
                </a:solidFill>
              </a:rPr>
              <a:t>shadow-paging</a:t>
            </a:r>
            <a:r>
              <a:rPr lang="en-US" altLang="en-US" b="1" dirty="0">
                <a:solidFill>
                  <a:srgbClr val="000099"/>
                </a:solidFill>
              </a:rPr>
              <a:t> </a:t>
            </a:r>
            <a:r>
              <a:rPr lang="en-US" altLang="en-US" dirty="0"/>
              <a:t>(brief details in book)</a:t>
            </a:r>
          </a:p>
          <a:p>
            <a:pPr>
              <a:buFont typeface="Monotype Sorts" charset="2"/>
              <a:buNone/>
            </a:pPr>
            <a:endParaRPr lang="en-US" altLang="en-US" dirty="0"/>
          </a:p>
        </p:txBody>
      </p:sp>
      <p:pic>
        <p:nvPicPr>
          <p:cNvPr id="14340" name="Picture 1" descr="15-02.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79775" y="3988222"/>
            <a:ext cx="3638550" cy="175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Box 2"/>
          <p:cNvSpPr txBox="1">
            <a:spLocks noChangeArrowheads="1"/>
          </p:cNvSpPr>
          <p:nvPr/>
        </p:nvSpPr>
        <p:spPr bwMode="auto">
          <a:xfrm>
            <a:off x="1301750" y="5093122"/>
            <a:ext cx="163698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1700" b="1" dirty="0">
                <a:solidFill>
                  <a:srgbClr val="002060"/>
                </a:solidFill>
              </a:rPr>
              <a:t>shadow-copy</a:t>
            </a:r>
            <a:r>
              <a:rPr lang="en-US" altLang="en-US" sz="1700" b="1" dirty="0">
                <a:solidFill>
                  <a:srgbClr val="000099"/>
                </a:solidFill>
              </a:rPr>
              <a:t> </a:t>
            </a:r>
            <a:endParaRPr lang="en-US" alt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Log-Based Recovery</a:t>
            </a:r>
          </a:p>
        </p:txBody>
      </p:sp>
      <p:sp>
        <p:nvSpPr>
          <p:cNvPr id="15363" name="Rectangle 3"/>
          <p:cNvSpPr>
            <a:spLocks noGrp="1" noChangeArrowheads="1"/>
          </p:cNvSpPr>
          <p:nvPr>
            <p:ph idx="1"/>
          </p:nvPr>
        </p:nvSpPr>
        <p:spPr>
          <a:xfrm>
            <a:off x="674702" y="1102497"/>
            <a:ext cx="7838983" cy="5367972"/>
          </a:xfrm>
          <a:prstGeom prst="rect">
            <a:avLst/>
          </a:prstGeom>
        </p:spPr>
        <p:txBody>
          <a:bodyPr/>
          <a:lstStyle/>
          <a:p>
            <a:pPr>
              <a:lnSpc>
                <a:spcPct val="90000"/>
              </a:lnSpc>
            </a:pPr>
            <a:r>
              <a:rPr lang="en-US" altLang="en-US" dirty="0"/>
              <a:t>A  </a:t>
            </a:r>
            <a:r>
              <a:rPr lang="en-US" altLang="en-US" b="1" dirty="0">
                <a:solidFill>
                  <a:srgbClr val="002060"/>
                </a:solidFill>
              </a:rPr>
              <a:t>log</a:t>
            </a:r>
            <a:r>
              <a:rPr lang="en-US" altLang="en-US" dirty="0">
                <a:solidFill>
                  <a:srgbClr val="002060"/>
                </a:solidFill>
              </a:rPr>
              <a:t>  </a:t>
            </a:r>
            <a:r>
              <a:rPr lang="en-US" altLang="en-US" dirty="0"/>
              <a:t>is a sequence of  </a:t>
            </a:r>
            <a:r>
              <a:rPr lang="en-US" altLang="en-US" b="1" dirty="0"/>
              <a:t>log records</a:t>
            </a:r>
            <a:r>
              <a:rPr lang="en-US" altLang="en-US" dirty="0"/>
              <a:t>. The records  keep information about update activities on the database.</a:t>
            </a:r>
          </a:p>
          <a:p>
            <a:pPr lvl="1">
              <a:lnSpc>
                <a:spcPct val="90000"/>
              </a:lnSpc>
            </a:pPr>
            <a:r>
              <a:rPr lang="en-US" altLang="en-US" dirty="0"/>
              <a:t>The </a:t>
            </a:r>
            <a:r>
              <a:rPr lang="en-US" altLang="en-US" b="1" dirty="0"/>
              <a:t>log</a:t>
            </a:r>
            <a:r>
              <a:rPr lang="en-US" altLang="en-US" dirty="0"/>
              <a:t> is kept on stable storage </a:t>
            </a:r>
          </a:p>
          <a:p>
            <a:pPr>
              <a:lnSpc>
                <a:spcPct val="90000"/>
              </a:lnSpc>
            </a:pPr>
            <a:r>
              <a:rPr lang="en-US" altLang="en-US" dirty="0"/>
              <a:t>When transaction </a:t>
            </a:r>
            <a:r>
              <a:rPr lang="en-US" altLang="en-US" i="1" dirty="0" err="1"/>
              <a:t>T</a:t>
            </a:r>
            <a:r>
              <a:rPr lang="en-US" altLang="en-US" i="1" baseline="-25000" dirty="0" err="1"/>
              <a:t>i</a:t>
            </a:r>
            <a:r>
              <a:rPr lang="en-US" altLang="en-US" i="1" dirty="0"/>
              <a:t> </a:t>
            </a:r>
            <a:r>
              <a:rPr lang="en-US" altLang="en-US" dirty="0"/>
              <a:t>starts, it registers itself by writing a </a:t>
            </a:r>
          </a:p>
          <a:p>
            <a:pPr marL="0" indent="0">
              <a:lnSpc>
                <a:spcPct val="90000"/>
              </a:lnSpc>
              <a:buNone/>
            </a:pPr>
            <a:r>
              <a:rPr lang="en-US" altLang="en-US" sz="800" dirty="0"/>
              <a:t> </a:t>
            </a:r>
            <a:r>
              <a:rPr lang="en-US" altLang="en-US" dirty="0"/>
              <a:t/>
            </a:r>
            <a:br>
              <a:rPr lang="en-US" altLang="en-US" dirty="0"/>
            </a:br>
            <a:r>
              <a:rPr lang="en-US" altLang="en-US" dirty="0"/>
              <a:t>       </a:t>
            </a:r>
            <a:r>
              <a:rPr lang="en-US" altLang="en-US" i="1" dirty="0"/>
              <a:t>&lt;</a:t>
            </a:r>
            <a:r>
              <a:rPr lang="en-US" altLang="en-US" i="1" dirty="0" err="1"/>
              <a:t>T</a:t>
            </a:r>
            <a:r>
              <a:rPr lang="en-US" altLang="en-US" i="1" baseline="-25000" dirty="0" err="1"/>
              <a:t>i</a:t>
            </a:r>
            <a:r>
              <a:rPr lang="en-US" altLang="en-US" i="1" baseline="-25000" dirty="0"/>
              <a:t>  </a:t>
            </a:r>
            <a:r>
              <a:rPr lang="en-US" altLang="en-US" b="1" dirty="0"/>
              <a:t>start</a:t>
            </a:r>
            <a:r>
              <a:rPr lang="en-US" altLang="en-US" dirty="0"/>
              <a:t>&gt; log record</a:t>
            </a:r>
          </a:p>
          <a:p>
            <a:pPr marL="0" indent="0">
              <a:lnSpc>
                <a:spcPct val="90000"/>
              </a:lnSpc>
              <a:buNone/>
            </a:pPr>
            <a:endParaRPr lang="en-US" altLang="en-US" sz="800" dirty="0"/>
          </a:p>
          <a:p>
            <a:pPr>
              <a:lnSpc>
                <a:spcPct val="90000"/>
              </a:lnSpc>
            </a:pPr>
            <a:r>
              <a:rPr lang="en-US" altLang="en-US" i="1" dirty="0"/>
              <a:t>Before </a:t>
            </a:r>
            <a:r>
              <a:rPr lang="en-US" altLang="en-US" i="1" dirty="0" err="1"/>
              <a:t>T</a:t>
            </a:r>
            <a:r>
              <a:rPr lang="en-US" altLang="en-US" i="1" baseline="-25000" dirty="0" err="1"/>
              <a:t>i</a:t>
            </a:r>
            <a:r>
              <a:rPr lang="en-US" altLang="en-US" i="1" dirty="0"/>
              <a:t> </a:t>
            </a:r>
            <a:r>
              <a:rPr lang="en-US" altLang="en-US" dirty="0"/>
              <a:t>executes </a:t>
            </a:r>
            <a:r>
              <a:rPr lang="en-US" altLang="en-US" b="1" dirty="0"/>
              <a:t>write</a:t>
            </a:r>
            <a:r>
              <a:rPr lang="en-US" altLang="en-US" dirty="0"/>
              <a:t>(</a:t>
            </a:r>
            <a:r>
              <a:rPr lang="en-US" altLang="en-US" i="1" dirty="0"/>
              <a:t>X</a:t>
            </a:r>
            <a:r>
              <a:rPr lang="en-US" altLang="en-US" dirty="0"/>
              <a:t>), a log record </a:t>
            </a:r>
          </a:p>
          <a:p>
            <a:pPr marL="0" indent="0">
              <a:lnSpc>
                <a:spcPct val="90000"/>
              </a:lnSpc>
              <a:buNone/>
            </a:pPr>
            <a:r>
              <a:rPr lang="en-US" altLang="en-US" sz="800" dirty="0"/>
              <a:t> </a:t>
            </a:r>
            <a:r>
              <a:rPr lang="en-US" altLang="en-US" dirty="0"/>
              <a:t/>
            </a:r>
            <a:br>
              <a:rPr lang="en-US" altLang="en-US" dirty="0"/>
            </a:br>
            <a:r>
              <a:rPr lang="en-US" altLang="en-US" dirty="0"/>
              <a:t>       </a:t>
            </a:r>
            <a:r>
              <a:rPr lang="en-US" altLang="en-US" i="1" dirty="0"/>
              <a:t>&lt;</a:t>
            </a:r>
            <a:r>
              <a:rPr lang="en-US" altLang="en-US" i="1" dirty="0" err="1"/>
              <a:t>T</a:t>
            </a:r>
            <a:r>
              <a:rPr lang="en-US" altLang="en-US" i="1" baseline="-25000" dirty="0" err="1"/>
              <a:t>i</a:t>
            </a:r>
            <a:r>
              <a:rPr lang="en-US" altLang="en-US" i="1" dirty="0"/>
              <a:t>, X,  V</a:t>
            </a:r>
            <a:r>
              <a:rPr lang="en-US" altLang="en-US" i="1" baseline="-25000" dirty="0"/>
              <a:t>1</a:t>
            </a:r>
            <a:r>
              <a:rPr lang="en-US" altLang="en-US" i="1" dirty="0"/>
              <a:t>,  V</a:t>
            </a:r>
            <a:r>
              <a:rPr lang="en-US" altLang="en-US" i="1" baseline="-25000" dirty="0"/>
              <a:t>2</a:t>
            </a:r>
            <a:r>
              <a:rPr lang="en-US" altLang="en-US" i="1" dirty="0"/>
              <a:t>&gt;  </a:t>
            </a:r>
            <a:br>
              <a:rPr lang="en-US" altLang="en-US" i="1" dirty="0"/>
            </a:br>
            <a:r>
              <a:rPr lang="en-US" altLang="en-US" sz="800" i="1" dirty="0"/>
              <a:t> </a:t>
            </a:r>
          </a:p>
          <a:p>
            <a:pPr marL="0" indent="0">
              <a:lnSpc>
                <a:spcPct val="90000"/>
              </a:lnSpc>
              <a:buNone/>
            </a:pPr>
            <a:r>
              <a:rPr lang="en-US" altLang="en-US" i="1" dirty="0"/>
              <a:t>        </a:t>
            </a:r>
            <a:r>
              <a:rPr lang="en-US" altLang="en-US" dirty="0"/>
              <a:t>is written, where</a:t>
            </a:r>
            <a:r>
              <a:rPr lang="en-US" altLang="en-US" i="1" dirty="0"/>
              <a:t> V</a:t>
            </a:r>
            <a:r>
              <a:rPr lang="en-US" altLang="en-US" i="1" baseline="-25000" dirty="0"/>
              <a:t>1</a:t>
            </a:r>
            <a:r>
              <a:rPr lang="en-US" altLang="en-US" dirty="0"/>
              <a:t> is the value of </a:t>
            </a:r>
            <a:r>
              <a:rPr lang="en-US" altLang="en-US" i="1" dirty="0"/>
              <a:t>X</a:t>
            </a:r>
            <a:r>
              <a:rPr lang="en-US" altLang="en-US" dirty="0"/>
              <a:t>  before the write (the </a:t>
            </a:r>
            <a:r>
              <a:rPr lang="en-US" altLang="en-US" b="1" dirty="0">
                <a:solidFill>
                  <a:srgbClr val="002060"/>
                </a:solidFill>
              </a:rPr>
              <a:t>old </a:t>
            </a:r>
          </a:p>
          <a:p>
            <a:pPr marL="0" indent="0">
              <a:lnSpc>
                <a:spcPct val="90000"/>
              </a:lnSpc>
              <a:buNone/>
            </a:pPr>
            <a:r>
              <a:rPr lang="en-US" altLang="en-US" b="1" dirty="0">
                <a:solidFill>
                  <a:srgbClr val="002060"/>
                </a:solidFill>
              </a:rPr>
              <a:t>       value</a:t>
            </a:r>
            <a:r>
              <a:rPr lang="en-US" altLang="en-US" dirty="0"/>
              <a:t>)</a:t>
            </a:r>
            <a:r>
              <a:rPr lang="en-US" altLang="en-US" b="1" dirty="0"/>
              <a:t>,</a:t>
            </a:r>
            <a:r>
              <a:rPr lang="en-US" altLang="en-US" dirty="0"/>
              <a:t> and </a:t>
            </a:r>
            <a:r>
              <a:rPr lang="en-US" altLang="en-US" i="1" dirty="0"/>
              <a:t>V</a:t>
            </a:r>
            <a:r>
              <a:rPr lang="en-US" altLang="en-US" i="1" baseline="-25000" dirty="0"/>
              <a:t>2</a:t>
            </a:r>
            <a:r>
              <a:rPr lang="en-US" altLang="en-US" i="1" dirty="0"/>
              <a:t> </a:t>
            </a:r>
            <a:r>
              <a:rPr lang="en-US" altLang="en-US" dirty="0"/>
              <a:t>is the value to be written to </a:t>
            </a:r>
            <a:r>
              <a:rPr lang="en-US" altLang="en-US" i="1" dirty="0"/>
              <a:t>X </a:t>
            </a:r>
            <a:r>
              <a:rPr lang="en-US" altLang="en-US" dirty="0"/>
              <a:t>(the </a:t>
            </a:r>
            <a:r>
              <a:rPr lang="en-US" altLang="en-US" b="1" dirty="0">
                <a:solidFill>
                  <a:srgbClr val="002060"/>
                </a:solidFill>
              </a:rPr>
              <a:t>new value</a:t>
            </a:r>
            <a:r>
              <a:rPr lang="en-US" altLang="en-US" dirty="0"/>
              <a:t>). </a:t>
            </a:r>
          </a:p>
          <a:p>
            <a:pPr>
              <a:lnSpc>
                <a:spcPct val="90000"/>
              </a:lnSpc>
            </a:pPr>
            <a:r>
              <a:rPr lang="en-US" altLang="en-US" dirty="0"/>
              <a:t>When </a:t>
            </a:r>
            <a:r>
              <a:rPr lang="en-US" altLang="en-US" i="1" dirty="0" err="1"/>
              <a:t>T</a:t>
            </a:r>
            <a:r>
              <a:rPr lang="en-US" altLang="en-US" i="1" baseline="-25000" dirty="0" err="1"/>
              <a:t>i</a:t>
            </a:r>
            <a:r>
              <a:rPr lang="en-US" altLang="en-US" dirty="0"/>
              <a:t> finishes it last statement, the log record &lt;</a:t>
            </a:r>
            <a:r>
              <a:rPr lang="en-US" altLang="en-US" i="1" dirty="0" err="1"/>
              <a:t>T</a:t>
            </a:r>
            <a:r>
              <a:rPr lang="en-US" altLang="en-US" i="1" baseline="-25000" dirty="0" err="1"/>
              <a:t>i</a:t>
            </a:r>
            <a:r>
              <a:rPr lang="en-US" altLang="en-US" i="1" dirty="0"/>
              <a:t> </a:t>
            </a:r>
            <a:r>
              <a:rPr lang="en-US" altLang="en-US" b="1" i="1" dirty="0"/>
              <a:t> </a:t>
            </a:r>
            <a:r>
              <a:rPr lang="en-US" altLang="en-US" b="1" dirty="0"/>
              <a:t>commi</a:t>
            </a:r>
            <a:r>
              <a:rPr lang="en-US" altLang="en-US" dirty="0"/>
              <a:t>t&gt; is written. </a:t>
            </a:r>
          </a:p>
          <a:p>
            <a:pPr>
              <a:lnSpc>
                <a:spcPct val="90000"/>
              </a:lnSpc>
            </a:pPr>
            <a:r>
              <a:rPr lang="en-US" altLang="en-US" dirty="0"/>
              <a:t>Two approaches using logs</a:t>
            </a:r>
          </a:p>
          <a:p>
            <a:pPr lvl="1">
              <a:lnSpc>
                <a:spcPct val="90000"/>
              </a:lnSpc>
            </a:pPr>
            <a:r>
              <a:rPr lang="en-US" altLang="en-US" dirty="0"/>
              <a:t>Immediate database modification</a:t>
            </a:r>
          </a:p>
          <a:p>
            <a:pPr lvl="1">
              <a:lnSpc>
                <a:spcPct val="90000"/>
              </a:lnSpc>
            </a:pPr>
            <a:r>
              <a:rPr lang="en-US" altLang="en-US" dirty="0"/>
              <a:t>Deferred database modification.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Immediate Database Modification</a:t>
            </a:r>
          </a:p>
        </p:txBody>
      </p:sp>
      <p:sp>
        <p:nvSpPr>
          <p:cNvPr id="16387" name="Rectangle 3"/>
          <p:cNvSpPr>
            <a:spLocks noGrp="1" noChangeArrowheads="1"/>
          </p:cNvSpPr>
          <p:nvPr>
            <p:ph idx="1"/>
          </p:nvPr>
        </p:nvSpPr>
        <p:spPr>
          <a:xfrm>
            <a:off x="692458" y="1102497"/>
            <a:ext cx="7528264" cy="5367972"/>
          </a:xfrm>
          <a:prstGeom prst="rect">
            <a:avLst/>
          </a:prstGeom>
        </p:spPr>
        <p:txBody>
          <a:bodyPr/>
          <a:lstStyle/>
          <a:p>
            <a:pPr>
              <a:lnSpc>
                <a:spcPct val="90000"/>
              </a:lnSpc>
            </a:pPr>
            <a:r>
              <a:rPr lang="en-US" altLang="en-US" dirty="0"/>
              <a:t>The </a:t>
            </a:r>
            <a:r>
              <a:rPr lang="en-US" altLang="en-US" b="1" dirty="0">
                <a:solidFill>
                  <a:srgbClr val="002060"/>
                </a:solidFill>
              </a:rPr>
              <a:t>immediate-modification</a:t>
            </a:r>
            <a:r>
              <a:rPr lang="en-US" altLang="en-US" dirty="0"/>
              <a:t> scheme allows updates of an uncommitted transaction to be made to the buffer, or the disk itself, before the transaction commits</a:t>
            </a:r>
          </a:p>
          <a:p>
            <a:pPr>
              <a:lnSpc>
                <a:spcPct val="90000"/>
              </a:lnSpc>
            </a:pPr>
            <a:r>
              <a:rPr lang="en-US" altLang="en-US" dirty="0"/>
              <a:t>Update log record must be written </a:t>
            </a:r>
            <a:r>
              <a:rPr lang="en-US" altLang="en-US" i="1" dirty="0"/>
              <a:t>before</a:t>
            </a:r>
            <a:r>
              <a:rPr lang="en-US" altLang="en-US" dirty="0"/>
              <a:t> database item is written</a:t>
            </a:r>
          </a:p>
          <a:p>
            <a:pPr lvl="1">
              <a:lnSpc>
                <a:spcPct val="90000"/>
              </a:lnSpc>
            </a:pPr>
            <a:r>
              <a:rPr lang="en-US" altLang="en-US" dirty="0"/>
              <a:t>We assume that the log record is output directly to stable storage</a:t>
            </a:r>
          </a:p>
          <a:p>
            <a:pPr lvl="1">
              <a:lnSpc>
                <a:spcPct val="90000"/>
              </a:lnSpc>
            </a:pPr>
            <a:r>
              <a:rPr lang="en-US" altLang="en-US" dirty="0"/>
              <a:t>(Will see later that how to postpone log record output to some extent)</a:t>
            </a:r>
          </a:p>
          <a:p>
            <a:pPr>
              <a:lnSpc>
                <a:spcPct val="90000"/>
              </a:lnSpc>
            </a:pPr>
            <a:r>
              <a:rPr lang="en-US" altLang="en-US" dirty="0"/>
              <a:t>Output of updated blocks to disk can take place at any time before or after transaction commit</a:t>
            </a:r>
          </a:p>
          <a:p>
            <a:pPr>
              <a:lnSpc>
                <a:spcPct val="90000"/>
              </a:lnSpc>
            </a:pPr>
            <a:r>
              <a:rPr lang="en-US" altLang="en-US" dirty="0"/>
              <a:t>Order in which blocks are output can be different from the order in which they are written.</a:t>
            </a:r>
          </a:p>
          <a:p>
            <a:pPr>
              <a:lnSpc>
                <a:spcPct val="90000"/>
              </a:lnSpc>
            </a:pPr>
            <a:r>
              <a:rPr lang="en-US" altLang="en-US" dirty="0"/>
              <a:t>The </a:t>
            </a:r>
            <a:r>
              <a:rPr lang="en-US" altLang="en-US" b="1" dirty="0">
                <a:solidFill>
                  <a:srgbClr val="002060"/>
                </a:solidFill>
              </a:rPr>
              <a:t>deferred-modification</a:t>
            </a:r>
            <a:r>
              <a:rPr lang="en-US" altLang="en-US" dirty="0"/>
              <a:t> scheme performs updates to buffer/disk only at the time of transaction commit</a:t>
            </a:r>
          </a:p>
          <a:p>
            <a:pPr lvl="1">
              <a:lnSpc>
                <a:spcPct val="90000"/>
              </a:lnSpc>
            </a:pPr>
            <a:r>
              <a:rPr lang="en-US" altLang="en-US" dirty="0"/>
              <a:t>Simplifies some aspects of recovery</a:t>
            </a:r>
          </a:p>
          <a:p>
            <a:pPr lvl="1">
              <a:lnSpc>
                <a:spcPct val="90000"/>
              </a:lnSpc>
            </a:pPr>
            <a:r>
              <a:rPr lang="en-US" altLang="en-US" dirty="0"/>
              <a:t>But has overhead of storing local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Transaction Commit</a:t>
            </a:r>
          </a:p>
        </p:txBody>
      </p:sp>
      <p:sp>
        <p:nvSpPr>
          <p:cNvPr id="17411" name="Rectangle 3"/>
          <p:cNvSpPr>
            <a:spLocks noGrp="1" noChangeArrowheads="1"/>
          </p:cNvSpPr>
          <p:nvPr>
            <p:ph idx="1"/>
          </p:nvPr>
        </p:nvSpPr>
        <p:spPr>
          <a:xfrm>
            <a:off x="692458" y="1102497"/>
            <a:ext cx="7705818" cy="3780221"/>
          </a:xfrm>
        </p:spPr>
        <p:txBody>
          <a:bodyPr/>
          <a:lstStyle/>
          <a:p>
            <a:r>
              <a:rPr lang="en-US" altLang="en-US" dirty="0"/>
              <a:t>A transaction is said to have committed when its commit log record is output to stable storage </a:t>
            </a:r>
          </a:p>
          <a:p>
            <a:pPr lvl="1"/>
            <a:r>
              <a:rPr lang="en-US" altLang="en-US" dirty="0"/>
              <a:t>All previous log records of the transaction must have been output already </a:t>
            </a:r>
          </a:p>
          <a:p>
            <a:r>
              <a:rPr lang="en-US" altLang="en-US" dirty="0"/>
              <a:t>Writes performed by a transaction may still be in the buffer when the transaction commits, and may be output later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defRPr/>
            </a:pPr>
            <a:r>
              <a:rPr lang="en-US" sz="3000">
                <a:effectLst>
                  <a:outerShdw blurRad="38100" dist="38100" dir="2700000" algn="tl">
                    <a:srgbClr val="C0C0C0"/>
                  </a:outerShdw>
                </a:effectLst>
              </a:rPr>
              <a:t>Immediate Database Modification Example</a:t>
            </a:r>
          </a:p>
        </p:txBody>
      </p:sp>
      <p:sp>
        <p:nvSpPr>
          <p:cNvPr id="18435" name="Rectangle 3"/>
          <p:cNvSpPr>
            <a:spLocks noGrp="1" noChangeArrowheads="1"/>
          </p:cNvSpPr>
          <p:nvPr>
            <p:ph idx="1"/>
          </p:nvPr>
        </p:nvSpPr>
        <p:spPr>
          <a:xfrm>
            <a:off x="674703" y="1102497"/>
            <a:ext cx="8170847" cy="5367972"/>
          </a:xfrm>
          <a:prstGeom prst="rect">
            <a:avLst/>
          </a:prstGeom>
        </p:spPr>
        <p:txBody>
          <a:bodyPr/>
          <a:lstStyle/>
          <a:p>
            <a:pPr>
              <a:buFont typeface="Monotype Sorts" charset="2"/>
              <a:buNone/>
            </a:pPr>
            <a:r>
              <a:rPr lang="en-US" altLang="en-US" b="1" dirty="0"/>
              <a:t>Log                                Write                     Output</a:t>
            </a:r>
            <a:endParaRPr lang="en-US" altLang="en-US" dirty="0"/>
          </a:p>
          <a:p>
            <a:pPr>
              <a:lnSpc>
                <a:spcPct val="80000"/>
              </a:lnSpc>
              <a:buFont typeface="Monotype Sorts" charset="2"/>
              <a:buNone/>
            </a:pPr>
            <a:endParaRPr lang="en-US" altLang="en-US" dirty="0"/>
          </a:p>
          <a:p>
            <a:pPr>
              <a:lnSpc>
                <a:spcPct val="60000"/>
              </a:lnSpc>
              <a:buFont typeface="Monotype Sorts" charset="2"/>
              <a:buNone/>
            </a:pPr>
            <a:r>
              <a:rPr lang="en-US" altLang="en-US" dirty="0"/>
              <a:t>&lt;</a:t>
            </a:r>
            <a:r>
              <a:rPr lang="en-US" altLang="en-US" i="1" dirty="0"/>
              <a:t>T</a:t>
            </a:r>
            <a:r>
              <a:rPr lang="en-US" altLang="en-US" baseline="-25000" dirty="0"/>
              <a:t>0</a:t>
            </a:r>
            <a:r>
              <a:rPr lang="en-US" altLang="en-US" i="1" dirty="0"/>
              <a:t> </a:t>
            </a:r>
            <a:r>
              <a:rPr lang="en-US" altLang="en-US" b="1" dirty="0"/>
              <a:t>start</a:t>
            </a:r>
            <a:r>
              <a:rPr lang="en-US" altLang="en-US" dirty="0"/>
              <a:t>&gt;</a:t>
            </a:r>
          </a:p>
          <a:p>
            <a:pPr>
              <a:buFont typeface="Monotype Sorts" charset="2"/>
              <a:buNone/>
            </a:pPr>
            <a:r>
              <a:rPr lang="en-US" altLang="en-US" dirty="0"/>
              <a:t>&lt;</a:t>
            </a:r>
            <a:r>
              <a:rPr lang="en-US" altLang="en-US" i="1" dirty="0"/>
              <a:t>T</a:t>
            </a:r>
            <a:r>
              <a:rPr lang="en-US" altLang="en-US" baseline="-25000" dirty="0"/>
              <a:t>0</a:t>
            </a:r>
            <a:r>
              <a:rPr lang="en-US" altLang="en-US" i="1" dirty="0"/>
              <a:t>,</a:t>
            </a:r>
            <a:r>
              <a:rPr lang="en-US" altLang="en-US" dirty="0"/>
              <a:t> A, 1000, 950&gt;</a:t>
            </a:r>
          </a:p>
          <a:p>
            <a:pPr>
              <a:lnSpc>
                <a:spcPct val="70000"/>
              </a:lnSpc>
              <a:buFont typeface="Monotype Sorts" charset="2"/>
              <a:buNone/>
            </a:pPr>
            <a:r>
              <a:rPr lang="en-US" altLang="en-US" i="1" dirty="0"/>
              <a:t>&lt;T</a:t>
            </a:r>
            <a:r>
              <a:rPr lang="en-US" altLang="en-US" baseline="-25000" dirty="0"/>
              <a:t>0</a:t>
            </a:r>
            <a:r>
              <a:rPr lang="en-US" altLang="en-US" i="1" dirty="0"/>
              <a:t>,</a:t>
            </a:r>
            <a:r>
              <a:rPr lang="en-US" altLang="en-US" dirty="0"/>
              <a:t> B, 2000, 2050&gt;</a:t>
            </a:r>
          </a:p>
          <a:p>
            <a:pPr>
              <a:lnSpc>
                <a:spcPct val="80000"/>
              </a:lnSpc>
              <a:buFont typeface="Monotype Sorts" charset="2"/>
              <a:buNone/>
            </a:pPr>
            <a:r>
              <a:rPr lang="en-US" altLang="en-US" dirty="0"/>
              <a:t>                                    </a:t>
            </a:r>
            <a:r>
              <a:rPr lang="en-US" altLang="en-US" i="1" dirty="0"/>
              <a:t>A</a:t>
            </a:r>
            <a:r>
              <a:rPr lang="en-US" altLang="en-US" dirty="0"/>
              <a:t> = 950</a:t>
            </a:r>
          </a:p>
          <a:p>
            <a:pPr>
              <a:lnSpc>
                <a:spcPct val="60000"/>
              </a:lnSpc>
              <a:buFont typeface="Monotype Sorts" charset="2"/>
              <a:buNone/>
            </a:pPr>
            <a:r>
              <a:rPr lang="en-US" altLang="en-US" dirty="0"/>
              <a:t>                                    </a:t>
            </a:r>
            <a:r>
              <a:rPr lang="en-US" altLang="en-US" i="1" dirty="0"/>
              <a:t>B</a:t>
            </a:r>
            <a:r>
              <a:rPr lang="en-US" altLang="en-US" dirty="0"/>
              <a:t> = 2050</a:t>
            </a:r>
          </a:p>
          <a:p>
            <a:pPr>
              <a:buFont typeface="Monotype Sorts" charset="2"/>
              <a:buNone/>
            </a:pPr>
            <a:r>
              <a:rPr lang="en-US" altLang="en-US" dirty="0"/>
              <a:t>&lt;</a:t>
            </a:r>
            <a:r>
              <a:rPr lang="en-US" altLang="en-US" i="1" dirty="0"/>
              <a:t>T</a:t>
            </a:r>
            <a:r>
              <a:rPr lang="en-US" altLang="en-US" baseline="-25000" dirty="0"/>
              <a:t>0</a:t>
            </a:r>
            <a:r>
              <a:rPr lang="en-US" altLang="en-US" dirty="0"/>
              <a:t> </a:t>
            </a:r>
            <a:r>
              <a:rPr lang="en-US" altLang="en-US" b="1" dirty="0"/>
              <a:t>commit</a:t>
            </a:r>
            <a:r>
              <a:rPr lang="en-US" altLang="en-US" dirty="0"/>
              <a:t>&gt;</a:t>
            </a:r>
          </a:p>
          <a:p>
            <a:pPr>
              <a:lnSpc>
                <a:spcPct val="80000"/>
              </a:lnSpc>
              <a:buFont typeface="Monotype Sorts" charset="2"/>
              <a:buNone/>
            </a:pPr>
            <a:r>
              <a:rPr lang="en-US" altLang="en-US" dirty="0"/>
              <a:t>&lt;</a:t>
            </a:r>
            <a:r>
              <a:rPr lang="en-US" altLang="en-US" i="1" dirty="0"/>
              <a:t>T</a:t>
            </a:r>
            <a:r>
              <a:rPr lang="en-US" altLang="en-US" baseline="-25000" dirty="0"/>
              <a:t>1</a:t>
            </a:r>
            <a:r>
              <a:rPr lang="en-US" altLang="en-US" dirty="0"/>
              <a:t> </a:t>
            </a:r>
            <a:r>
              <a:rPr lang="en-US" altLang="en-US" b="1" dirty="0"/>
              <a:t>start</a:t>
            </a:r>
            <a:r>
              <a:rPr lang="en-US" altLang="en-US" dirty="0"/>
              <a:t>&gt;</a:t>
            </a:r>
          </a:p>
          <a:p>
            <a:pPr>
              <a:lnSpc>
                <a:spcPct val="60000"/>
              </a:lnSpc>
              <a:buFont typeface="Monotype Sorts" charset="2"/>
              <a:buNone/>
            </a:pPr>
            <a:r>
              <a:rPr lang="en-US" altLang="en-US" dirty="0"/>
              <a:t>&lt;</a:t>
            </a:r>
            <a:r>
              <a:rPr lang="en-US" altLang="en-US" i="1" dirty="0"/>
              <a:t>T</a:t>
            </a:r>
            <a:r>
              <a:rPr lang="en-US" altLang="en-US" baseline="-25000" dirty="0"/>
              <a:t>1</a:t>
            </a:r>
            <a:r>
              <a:rPr lang="en-US" altLang="en-US" dirty="0"/>
              <a:t>, C, 700, 600&gt;</a:t>
            </a:r>
          </a:p>
          <a:p>
            <a:pPr>
              <a:lnSpc>
                <a:spcPct val="80000"/>
              </a:lnSpc>
              <a:buFont typeface="Monotype Sorts" charset="2"/>
              <a:buNone/>
            </a:pPr>
            <a:r>
              <a:rPr lang="en-US" altLang="en-US" dirty="0"/>
              <a:t>                                    </a:t>
            </a:r>
            <a:r>
              <a:rPr lang="en-US" altLang="en-US" i="1" dirty="0"/>
              <a:t>C</a:t>
            </a:r>
            <a:r>
              <a:rPr lang="en-US" altLang="en-US" dirty="0"/>
              <a:t> = 600</a:t>
            </a:r>
          </a:p>
          <a:p>
            <a:pPr>
              <a:lnSpc>
                <a:spcPct val="80000"/>
              </a:lnSpc>
              <a:buFont typeface="Monotype Sorts" charset="2"/>
              <a:buNone/>
            </a:pPr>
            <a:r>
              <a:rPr lang="en-US" altLang="en-US" dirty="0"/>
              <a:t>                                                                    </a:t>
            </a:r>
            <a:r>
              <a:rPr lang="en-US" altLang="en-US" i="1" dirty="0"/>
              <a:t>B</a:t>
            </a:r>
            <a:r>
              <a:rPr lang="en-US" altLang="en-US" i="1" baseline="-25000" dirty="0"/>
              <a:t>B </a:t>
            </a:r>
            <a:r>
              <a:rPr lang="en-US" altLang="en-US" dirty="0"/>
              <a:t>, </a:t>
            </a:r>
            <a:r>
              <a:rPr lang="en-US" altLang="en-US" i="1" dirty="0"/>
              <a:t>B</a:t>
            </a:r>
            <a:r>
              <a:rPr lang="en-US" altLang="en-US" i="1" baseline="-25000" dirty="0"/>
              <a:t>C</a:t>
            </a:r>
            <a:endParaRPr lang="en-US" altLang="en-US" dirty="0"/>
          </a:p>
          <a:p>
            <a:pPr>
              <a:lnSpc>
                <a:spcPct val="70000"/>
              </a:lnSpc>
              <a:buFont typeface="Monotype Sorts" charset="2"/>
              <a:buNone/>
            </a:pPr>
            <a:r>
              <a:rPr lang="en-US" altLang="en-US" dirty="0"/>
              <a:t>&lt;</a:t>
            </a:r>
            <a:r>
              <a:rPr lang="en-US" altLang="en-US" i="1" dirty="0"/>
              <a:t>T</a:t>
            </a:r>
            <a:r>
              <a:rPr lang="en-US" altLang="en-US" baseline="-25000" dirty="0"/>
              <a:t>1</a:t>
            </a:r>
            <a:r>
              <a:rPr lang="en-US" altLang="en-US" dirty="0"/>
              <a:t> </a:t>
            </a:r>
            <a:r>
              <a:rPr lang="en-US" altLang="en-US" b="1" dirty="0"/>
              <a:t>commit</a:t>
            </a:r>
            <a:r>
              <a:rPr lang="en-US" altLang="en-US" dirty="0"/>
              <a:t>&gt;</a:t>
            </a:r>
          </a:p>
          <a:p>
            <a:pPr>
              <a:lnSpc>
                <a:spcPct val="70000"/>
              </a:lnSpc>
              <a:buFont typeface="Monotype Sorts" charset="2"/>
              <a:buNone/>
            </a:pPr>
            <a:r>
              <a:rPr lang="en-US" altLang="en-US" dirty="0"/>
              <a:t>                                                                    </a:t>
            </a:r>
            <a:r>
              <a:rPr lang="en-US" altLang="en-US" i="1" dirty="0"/>
              <a:t>B</a:t>
            </a:r>
            <a:r>
              <a:rPr lang="en-US" altLang="en-US" i="1" baseline="-25000" dirty="0"/>
              <a:t>A</a:t>
            </a:r>
            <a:br>
              <a:rPr lang="en-US" altLang="en-US" i="1" baseline="-25000" dirty="0"/>
            </a:br>
            <a:endParaRPr lang="en-US" altLang="en-US" dirty="0"/>
          </a:p>
          <a:p>
            <a:r>
              <a:rPr lang="en-US" altLang="en-US" dirty="0"/>
              <a:t>Note: </a:t>
            </a:r>
            <a:r>
              <a:rPr lang="en-US" altLang="en-US" i="1" dirty="0"/>
              <a:t>B</a:t>
            </a:r>
            <a:r>
              <a:rPr lang="en-US" altLang="en-US" i="1" baseline="-25000" dirty="0"/>
              <a:t>X</a:t>
            </a:r>
            <a:r>
              <a:rPr lang="en-US" altLang="en-US" i="1" dirty="0"/>
              <a:t> </a:t>
            </a:r>
            <a:r>
              <a:rPr lang="en-US" altLang="en-US" dirty="0"/>
              <a:t>denotes block containing </a:t>
            </a:r>
            <a:r>
              <a:rPr lang="en-US" altLang="en-US" i="1" dirty="0"/>
              <a:t>X</a:t>
            </a:r>
            <a:r>
              <a:rPr lang="en-US" altLang="en-US" dirty="0"/>
              <a:t>.</a:t>
            </a:r>
          </a:p>
          <a:p>
            <a:pPr lvl="4">
              <a:buFontTx/>
              <a:buNone/>
            </a:pPr>
            <a:endParaRPr lang="en-US" altLang="en-US" dirty="0"/>
          </a:p>
        </p:txBody>
      </p:sp>
      <p:sp>
        <p:nvSpPr>
          <p:cNvPr id="18436" name="Line 4"/>
          <p:cNvSpPr>
            <a:spLocks noChangeShapeType="1"/>
          </p:cNvSpPr>
          <p:nvPr/>
        </p:nvSpPr>
        <p:spPr bwMode="auto">
          <a:xfrm>
            <a:off x="914400" y="1592263"/>
            <a:ext cx="662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37" name="AutoShape 6"/>
          <p:cNvSpPr>
            <a:spLocks noChangeArrowheads="1"/>
          </p:cNvSpPr>
          <p:nvPr/>
        </p:nvSpPr>
        <p:spPr bwMode="auto">
          <a:xfrm>
            <a:off x="6104200" y="4264434"/>
            <a:ext cx="2179637" cy="563562"/>
          </a:xfrm>
          <a:prstGeom prst="wedgeRoundRectCallout">
            <a:avLst>
              <a:gd name="adj1" fmla="val -56847"/>
              <a:gd name="adj2" fmla="val 67463"/>
              <a:gd name="adj3" fmla="val 16667"/>
            </a:avLst>
          </a:prstGeom>
          <a:solidFill>
            <a:schemeClr val="accent1"/>
          </a:solidFill>
          <a:ln w="9525">
            <a:solidFill>
              <a:schemeClr val="tx1"/>
            </a:solidFill>
            <a:miter lim="800000"/>
            <a:headEnd/>
            <a:tailEnd/>
          </a:ln>
        </p:spPr>
        <p:txBody>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en-US" altLang="en-US" dirty="0"/>
              <a:t>B</a:t>
            </a:r>
            <a:r>
              <a:rPr lang="en-US" altLang="en-US" baseline="-25000" dirty="0"/>
              <a:t>C</a:t>
            </a:r>
            <a:r>
              <a:rPr lang="en-US" altLang="en-US" dirty="0"/>
              <a:t> output before T</a:t>
            </a:r>
            <a:r>
              <a:rPr lang="en-US" altLang="en-US" baseline="-25000" dirty="0"/>
              <a:t>1 </a:t>
            </a:r>
            <a:r>
              <a:rPr lang="en-US" altLang="en-US" dirty="0"/>
              <a:t>commits</a:t>
            </a:r>
          </a:p>
        </p:txBody>
      </p:sp>
      <p:sp>
        <p:nvSpPr>
          <p:cNvPr id="18438" name="AutoShape 7"/>
          <p:cNvSpPr>
            <a:spLocks noChangeArrowheads="1"/>
          </p:cNvSpPr>
          <p:nvPr/>
        </p:nvSpPr>
        <p:spPr bwMode="auto">
          <a:xfrm>
            <a:off x="6104199" y="5906907"/>
            <a:ext cx="2179637" cy="563562"/>
          </a:xfrm>
          <a:prstGeom prst="wedgeRoundRectCallout">
            <a:avLst>
              <a:gd name="adj1" fmla="val -70102"/>
              <a:gd name="adj2" fmla="val -48875"/>
              <a:gd name="adj3" fmla="val 16667"/>
            </a:avLst>
          </a:prstGeom>
          <a:solidFill>
            <a:schemeClr val="accent1"/>
          </a:solidFill>
          <a:ln w="9525">
            <a:solidFill>
              <a:schemeClr val="tx1"/>
            </a:solidFill>
            <a:miter lim="800000"/>
            <a:headEnd/>
            <a:tailEnd/>
          </a:ln>
        </p:spPr>
        <p:txBody>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r>
              <a:rPr lang="en-US" altLang="en-US"/>
              <a:t>B</a:t>
            </a:r>
            <a:r>
              <a:rPr lang="en-US" altLang="en-US" baseline="-25000"/>
              <a:t>A</a:t>
            </a:r>
            <a:r>
              <a:rPr lang="en-US" altLang="en-US"/>
              <a:t> output after T</a:t>
            </a:r>
            <a:r>
              <a:rPr lang="en-US" altLang="en-US" baseline="-25000"/>
              <a:t>0 </a:t>
            </a:r>
            <a:r>
              <a:rPr lang="en-US" altLang="en-US"/>
              <a:t>commits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Concurrency Control and Recovery</a:t>
            </a:r>
          </a:p>
        </p:txBody>
      </p:sp>
      <p:sp>
        <p:nvSpPr>
          <p:cNvPr id="19459" name="Rectangle 3"/>
          <p:cNvSpPr>
            <a:spLocks noGrp="1" noChangeArrowheads="1"/>
          </p:cNvSpPr>
          <p:nvPr>
            <p:ph idx="1"/>
          </p:nvPr>
        </p:nvSpPr>
        <p:spPr>
          <a:xfrm>
            <a:off x="701336" y="1102497"/>
            <a:ext cx="7812349" cy="5367972"/>
          </a:xfrm>
        </p:spPr>
        <p:txBody>
          <a:bodyPr/>
          <a:lstStyle/>
          <a:p>
            <a:r>
              <a:rPr lang="en-US" altLang="en-US" dirty="0"/>
              <a:t>With concurrent transactions, all transactions share a single disk buffer and a single log</a:t>
            </a:r>
          </a:p>
          <a:p>
            <a:pPr lvl="1"/>
            <a:r>
              <a:rPr lang="en-US" altLang="en-US" dirty="0"/>
              <a:t>A buffer block can have data items updated by one or more transactions</a:t>
            </a:r>
          </a:p>
          <a:p>
            <a:r>
              <a:rPr lang="en-US" altLang="en-US" dirty="0"/>
              <a:t>We assume that </a:t>
            </a:r>
            <a:r>
              <a:rPr lang="en-US" altLang="en-US" i="1" dirty="0">
                <a:solidFill>
                  <a:srgbClr val="002060"/>
                </a:solidFill>
              </a:rPr>
              <a:t>if a transaction </a:t>
            </a:r>
            <a:r>
              <a:rPr lang="en-US" altLang="en-US" i="1" dirty="0" err="1">
                <a:solidFill>
                  <a:srgbClr val="002060"/>
                </a:solidFill>
              </a:rPr>
              <a:t>T</a:t>
            </a:r>
            <a:r>
              <a:rPr lang="en-US" altLang="en-US" i="1" baseline="-25000" dirty="0" err="1">
                <a:solidFill>
                  <a:srgbClr val="002060"/>
                </a:solidFill>
              </a:rPr>
              <a:t>i</a:t>
            </a:r>
            <a:r>
              <a:rPr lang="en-US" altLang="en-US" i="1" dirty="0">
                <a:solidFill>
                  <a:srgbClr val="002060"/>
                </a:solidFill>
              </a:rPr>
              <a:t> has modified an item, no other transaction can modify the same item until </a:t>
            </a:r>
            <a:r>
              <a:rPr lang="en-US" altLang="en-US" i="1" dirty="0" err="1">
                <a:solidFill>
                  <a:srgbClr val="002060"/>
                </a:solidFill>
              </a:rPr>
              <a:t>T</a:t>
            </a:r>
            <a:r>
              <a:rPr lang="en-US" altLang="en-US" i="1" baseline="-25000" dirty="0" err="1">
                <a:solidFill>
                  <a:srgbClr val="002060"/>
                </a:solidFill>
              </a:rPr>
              <a:t>i</a:t>
            </a:r>
            <a:r>
              <a:rPr lang="en-US" altLang="en-US" i="1" baseline="-25000" dirty="0">
                <a:solidFill>
                  <a:srgbClr val="002060"/>
                </a:solidFill>
              </a:rPr>
              <a:t>  </a:t>
            </a:r>
            <a:r>
              <a:rPr lang="en-US" altLang="en-US" i="1" dirty="0">
                <a:solidFill>
                  <a:srgbClr val="002060"/>
                </a:solidFill>
              </a:rPr>
              <a:t>has committed or aborted</a:t>
            </a:r>
          </a:p>
          <a:p>
            <a:pPr lvl="1"/>
            <a:r>
              <a:rPr lang="en-US" altLang="en-US" dirty="0"/>
              <a:t>i.e., the updates of uncommitted transactions should not be visible to other transactions</a:t>
            </a:r>
          </a:p>
          <a:p>
            <a:pPr lvl="2"/>
            <a:r>
              <a:rPr lang="en-US" altLang="en-US" dirty="0"/>
              <a:t>Otherwise, how to perform undo if </a:t>
            </a:r>
            <a:r>
              <a:rPr lang="en-US" altLang="en-US" i="1" dirty="0">
                <a:solidFill>
                  <a:srgbClr val="002060"/>
                </a:solidFill>
              </a:rPr>
              <a:t>T</a:t>
            </a:r>
            <a:r>
              <a:rPr lang="en-US" altLang="en-US" i="1" baseline="-25000" dirty="0">
                <a:solidFill>
                  <a:srgbClr val="002060"/>
                </a:solidFill>
              </a:rPr>
              <a:t>1</a:t>
            </a:r>
            <a:r>
              <a:rPr lang="en-US" altLang="en-US" dirty="0">
                <a:solidFill>
                  <a:srgbClr val="002060"/>
                </a:solidFill>
              </a:rPr>
              <a:t> </a:t>
            </a:r>
            <a:r>
              <a:rPr lang="en-US" altLang="en-US" dirty="0"/>
              <a:t>updates A, then </a:t>
            </a:r>
            <a:r>
              <a:rPr lang="en-US" altLang="en-US" i="1" dirty="0">
                <a:solidFill>
                  <a:srgbClr val="002060"/>
                </a:solidFill>
              </a:rPr>
              <a:t>T</a:t>
            </a:r>
            <a:r>
              <a:rPr lang="en-US" altLang="en-US" i="1" baseline="-25000" dirty="0">
                <a:solidFill>
                  <a:srgbClr val="002060"/>
                </a:solidFill>
              </a:rPr>
              <a:t>2</a:t>
            </a:r>
            <a:r>
              <a:rPr lang="en-US" altLang="en-US" dirty="0">
                <a:solidFill>
                  <a:srgbClr val="002060"/>
                </a:solidFill>
              </a:rPr>
              <a:t> </a:t>
            </a:r>
            <a:r>
              <a:rPr lang="en-US" altLang="en-US" dirty="0"/>
              <a:t>updates A and commits, and finally </a:t>
            </a:r>
            <a:r>
              <a:rPr lang="en-US" altLang="en-US" i="1" dirty="0">
                <a:solidFill>
                  <a:srgbClr val="002060"/>
                </a:solidFill>
              </a:rPr>
              <a:t>T</a:t>
            </a:r>
            <a:r>
              <a:rPr lang="en-US" altLang="en-US" i="1" baseline="-25000" dirty="0">
                <a:solidFill>
                  <a:srgbClr val="002060"/>
                </a:solidFill>
              </a:rPr>
              <a:t>1</a:t>
            </a:r>
            <a:r>
              <a:rPr lang="en-US" altLang="en-US" i="1" baseline="-25000" dirty="0">
                <a:solidFill>
                  <a:srgbClr val="000099"/>
                </a:solidFill>
              </a:rPr>
              <a:t> </a:t>
            </a:r>
            <a:r>
              <a:rPr lang="en-US" altLang="en-US" dirty="0"/>
              <a:t>has to abort?</a:t>
            </a:r>
          </a:p>
          <a:p>
            <a:pPr lvl="1"/>
            <a:r>
              <a:rPr lang="en-US" altLang="en-US" dirty="0"/>
              <a:t>Can be ensured by obtaining exclusive locks on updated items and holding the locks till end of transaction (strict two-phase locking)</a:t>
            </a:r>
          </a:p>
          <a:p>
            <a:r>
              <a:rPr lang="en-US" altLang="en-US" dirty="0"/>
              <a:t>Log records of different transactions may be interspersed in the log.</a:t>
            </a:r>
          </a:p>
          <a:p>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Undo and Redo Operations</a:t>
            </a:r>
          </a:p>
        </p:txBody>
      </p:sp>
      <p:sp>
        <p:nvSpPr>
          <p:cNvPr id="20483" name="Rectangle 3"/>
          <p:cNvSpPr>
            <a:spLocks noGrp="1" noChangeArrowheads="1"/>
          </p:cNvSpPr>
          <p:nvPr>
            <p:ph idx="1"/>
          </p:nvPr>
        </p:nvSpPr>
        <p:spPr>
          <a:xfrm>
            <a:off x="656948" y="1102497"/>
            <a:ext cx="7776838" cy="5367972"/>
          </a:xfrm>
        </p:spPr>
        <p:txBody>
          <a:bodyPr/>
          <a:lstStyle/>
          <a:p>
            <a:r>
              <a:rPr lang="en-US" altLang="en-US" b="1" dirty="0">
                <a:solidFill>
                  <a:srgbClr val="002060"/>
                </a:solidFill>
              </a:rPr>
              <a:t>Undo and Redo of Transactions</a:t>
            </a:r>
          </a:p>
          <a:p>
            <a:pPr lvl="1"/>
            <a:r>
              <a:rPr lang="en-US" altLang="en-US" b="1" dirty="0"/>
              <a:t>undo</a:t>
            </a:r>
            <a:r>
              <a:rPr lang="en-US" altLang="en-US" dirty="0"/>
              <a:t>(</a:t>
            </a:r>
            <a:r>
              <a:rPr lang="en-US" altLang="en-US" i="1" dirty="0" err="1"/>
              <a:t>T</a:t>
            </a:r>
            <a:r>
              <a:rPr lang="en-US" altLang="en-US" baseline="-25000" dirty="0" err="1"/>
              <a:t>i</a:t>
            </a:r>
            <a:r>
              <a:rPr lang="en-US" altLang="en-US" dirty="0"/>
              <a:t>)  -- restores the value of all data items updated by </a:t>
            </a:r>
            <a:r>
              <a:rPr lang="en-US" altLang="en-US" i="1" dirty="0" err="1"/>
              <a:t>T</a:t>
            </a:r>
            <a:r>
              <a:rPr lang="en-US" altLang="en-US" i="1" baseline="-25000" dirty="0" err="1"/>
              <a:t>i</a:t>
            </a:r>
            <a:r>
              <a:rPr lang="en-US" altLang="en-US" dirty="0"/>
              <a:t> to their old values, going backwards from the last log record for </a:t>
            </a:r>
            <a:r>
              <a:rPr lang="en-US" altLang="en-US" i="1" dirty="0" err="1"/>
              <a:t>T</a:t>
            </a:r>
            <a:r>
              <a:rPr lang="en-US" altLang="en-US" i="1" baseline="-25000" dirty="0" err="1"/>
              <a:t>i</a:t>
            </a:r>
            <a:endParaRPr lang="en-US" altLang="en-US" i="1" dirty="0"/>
          </a:p>
          <a:p>
            <a:pPr lvl="2"/>
            <a:r>
              <a:rPr lang="en-US" altLang="en-US" dirty="0"/>
              <a:t>Each time a data item X is restored to its old value V a special  log record </a:t>
            </a:r>
            <a:r>
              <a:rPr lang="en-US" altLang="en-US" i="1" dirty="0"/>
              <a:t>&lt;</a:t>
            </a:r>
            <a:r>
              <a:rPr lang="en-US" altLang="en-US" i="1" dirty="0" err="1"/>
              <a:t>T</a:t>
            </a:r>
            <a:r>
              <a:rPr lang="en-US" altLang="en-US" i="1" baseline="-25000" dirty="0" err="1"/>
              <a:t>i</a:t>
            </a:r>
            <a:r>
              <a:rPr lang="en-US" altLang="en-US" i="1" dirty="0"/>
              <a:t> , X, V&gt; </a:t>
            </a:r>
            <a:r>
              <a:rPr lang="en-US" altLang="en-US" dirty="0"/>
              <a:t>is written out</a:t>
            </a:r>
          </a:p>
          <a:p>
            <a:pPr lvl="2"/>
            <a:r>
              <a:rPr lang="en-US" altLang="en-US" dirty="0"/>
              <a:t>When undo of a transaction is complete, a log record </a:t>
            </a:r>
            <a:br>
              <a:rPr lang="en-US" altLang="en-US" dirty="0"/>
            </a:br>
            <a:r>
              <a:rPr lang="en-US" altLang="en-US" i="1" dirty="0"/>
              <a:t>&lt;</a:t>
            </a:r>
            <a:r>
              <a:rPr lang="en-US" altLang="en-US" i="1" dirty="0" err="1"/>
              <a:t>T</a:t>
            </a:r>
            <a:r>
              <a:rPr lang="en-US" altLang="en-US" i="1" baseline="-25000" dirty="0" err="1"/>
              <a:t>i</a:t>
            </a:r>
            <a:r>
              <a:rPr lang="en-US" altLang="en-US" i="1" dirty="0"/>
              <a:t> </a:t>
            </a:r>
            <a:r>
              <a:rPr lang="en-US" altLang="en-US" b="1" dirty="0"/>
              <a:t>abort</a:t>
            </a:r>
            <a:r>
              <a:rPr lang="en-US" altLang="en-US" i="1" dirty="0"/>
              <a:t>&gt; </a:t>
            </a:r>
            <a:r>
              <a:rPr lang="en-US" altLang="en-US" dirty="0"/>
              <a:t>is written out.</a:t>
            </a:r>
          </a:p>
          <a:p>
            <a:pPr lvl="1"/>
            <a:r>
              <a:rPr lang="en-US" altLang="en-US" b="1" dirty="0"/>
              <a:t>redo</a:t>
            </a:r>
            <a:r>
              <a:rPr lang="en-US" altLang="en-US" dirty="0"/>
              <a:t>(</a:t>
            </a:r>
            <a:r>
              <a:rPr lang="en-US" altLang="en-US" i="1" dirty="0" err="1"/>
              <a:t>T</a:t>
            </a:r>
            <a:r>
              <a:rPr lang="en-US" altLang="en-US" baseline="-25000" dirty="0" err="1"/>
              <a:t>i</a:t>
            </a:r>
            <a:r>
              <a:rPr lang="en-US" altLang="en-US" dirty="0"/>
              <a:t>)  -- sets the value of all data items updated by </a:t>
            </a:r>
            <a:r>
              <a:rPr lang="en-US" altLang="en-US" i="1" dirty="0" err="1"/>
              <a:t>T</a:t>
            </a:r>
            <a:r>
              <a:rPr lang="en-US" altLang="en-US" i="1" baseline="-25000" dirty="0" err="1"/>
              <a:t>i</a:t>
            </a:r>
            <a:r>
              <a:rPr lang="en-US" altLang="en-US" i="1" baseline="-25000" dirty="0"/>
              <a:t> </a:t>
            </a:r>
            <a:r>
              <a:rPr lang="en-US" altLang="en-US" i="1" dirty="0"/>
              <a:t> </a:t>
            </a:r>
            <a:r>
              <a:rPr lang="en-US" altLang="en-US" dirty="0"/>
              <a:t>to the new values, going forward from the first log record for </a:t>
            </a:r>
            <a:r>
              <a:rPr lang="en-US" altLang="en-US" i="1" dirty="0" err="1"/>
              <a:t>T</a:t>
            </a:r>
            <a:r>
              <a:rPr lang="en-US" altLang="en-US" i="1" baseline="-25000" dirty="0" err="1"/>
              <a:t>i</a:t>
            </a:r>
            <a:endParaRPr lang="en-US" altLang="en-US" b="1" dirty="0">
              <a:solidFill>
                <a:schemeClr val="tx2"/>
              </a:solidFill>
            </a:endParaRPr>
          </a:p>
          <a:p>
            <a:pPr lvl="2"/>
            <a:r>
              <a:rPr lang="en-US" altLang="en-US" dirty="0"/>
              <a:t>No logging is done in this case</a:t>
            </a:r>
          </a:p>
          <a:p>
            <a:endParaRPr lang="en-US" altLang="en-US" i="1" dirty="0"/>
          </a:p>
          <a:p>
            <a:endParaRPr lang="en-US" altLang="en-US" i="1" baseline="-25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Recovering from Failure</a:t>
            </a:r>
          </a:p>
        </p:txBody>
      </p:sp>
      <p:sp>
        <p:nvSpPr>
          <p:cNvPr id="21507" name="Rectangle 3"/>
          <p:cNvSpPr>
            <a:spLocks noGrp="1" noChangeArrowheads="1"/>
          </p:cNvSpPr>
          <p:nvPr>
            <p:ph idx="1"/>
          </p:nvPr>
        </p:nvSpPr>
        <p:spPr>
          <a:xfrm>
            <a:off x="683581" y="1102497"/>
            <a:ext cx="7821228" cy="3868998"/>
          </a:xfrm>
          <a:prstGeom prst="rect">
            <a:avLst/>
          </a:prstGeom>
        </p:spPr>
        <p:txBody>
          <a:bodyPr/>
          <a:lstStyle/>
          <a:p>
            <a:r>
              <a:rPr lang="en-US" altLang="en-US" dirty="0"/>
              <a:t>When recovering after failure:</a:t>
            </a:r>
          </a:p>
          <a:p>
            <a:pPr lvl="1"/>
            <a:r>
              <a:rPr lang="en-US" altLang="en-US" dirty="0"/>
              <a:t>Transaction</a:t>
            </a:r>
            <a:r>
              <a:rPr lang="en-US" altLang="en-US" i="1" dirty="0"/>
              <a:t> </a:t>
            </a:r>
            <a:r>
              <a:rPr lang="en-US" altLang="en-US" i="1" dirty="0" err="1"/>
              <a:t>T</a:t>
            </a:r>
            <a:r>
              <a:rPr lang="en-US" altLang="en-US" i="1" baseline="-25000" dirty="0" err="1"/>
              <a:t>i</a:t>
            </a:r>
            <a:r>
              <a:rPr lang="en-US" altLang="en-US" i="1" dirty="0"/>
              <a:t> </a:t>
            </a:r>
            <a:r>
              <a:rPr lang="en-US" altLang="en-US" dirty="0"/>
              <a:t>needs to be undone if the log </a:t>
            </a:r>
          </a:p>
          <a:p>
            <a:pPr lvl="2"/>
            <a:r>
              <a:rPr lang="en-US" altLang="en-US" dirty="0"/>
              <a:t>Contains the record </a:t>
            </a:r>
            <a:r>
              <a:rPr lang="en-US" altLang="en-US" i="1" dirty="0"/>
              <a:t>&lt;</a:t>
            </a:r>
            <a:r>
              <a:rPr lang="en-US" altLang="en-US" i="1" dirty="0" err="1"/>
              <a:t>T</a:t>
            </a:r>
            <a:r>
              <a:rPr lang="en-US" altLang="en-US" i="1" baseline="-25000" dirty="0" err="1"/>
              <a:t>i</a:t>
            </a:r>
            <a:r>
              <a:rPr lang="en-US" altLang="en-US" dirty="0"/>
              <a:t> </a:t>
            </a:r>
            <a:r>
              <a:rPr lang="en-US" altLang="en-US" b="1" dirty="0"/>
              <a:t>start</a:t>
            </a:r>
            <a:r>
              <a:rPr lang="en-US" altLang="en-US" i="1" dirty="0"/>
              <a:t>&gt;</a:t>
            </a:r>
            <a:r>
              <a:rPr lang="en-US" altLang="en-US" dirty="0"/>
              <a:t>,</a:t>
            </a:r>
          </a:p>
          <a:p>
            <a:pPr lvl="2"/>
            <a:r>
              <a:rPr lang="en-US" altLang="en-US" dirty="0"/>
              <a:t>But does not contain either the record </a:t>
            </a:r>
            <a:r>
              <a:rPr lang="en-US" altLang="en-US" i="1" dirty="0"/>
              <a:t>&lt;</a:t>
            </a:r>
            <a:r>
              <a:rPr lang="en-US" altLang="en-US" i="1" dirty="0" err="1"/>
              <a:t>T</a:t>
            </a:r>
            <a:r>
              <a:rPr lang="en-US" altLang="en-US" i="1" baseline="-25000" dirty="0" err="1"/>
              <a:t>i</a:t>
            </a:r>
            <a:r>
              <a:rPr lang="en-US" altLang="en-US" i="1" dirty="0"/>
              <a:t> </a:t>
            </a:r>
            <a:r>
              <a:rPr lang="en-US" altLang="en-US" b="1" dirty="0"/>
              <a:t>commit</a:t>
            </a:r>
            <a:r>
              <a:rPr lang="en-US" altLang="en-US" i="1" dirty="0"/>
              <a:t>&gt; or &lt;</a:t>
            </a:r>
            <a:r>
              <a:rPr lang="en-US" altLang="en-US" i="1" dirty="0" err="1"/>
              <a:t>T</a:t>
            </a:r>
            <a:r>
              <a:rPr lang="en-US" altLang="en-US" i="1" baseline="-25000" dirty="0" err="1"/>
              <a:t>i</a:t>
            </a:r>
            <a:r>
              <a:rPr lang="en-US" altLang="en-US" i="1" dirty="0"/>
              <a:t> </a:t>
            </a:r>
            <a:r>
              <a:rPr lang="en-US" altLang="en-US" b="1" dirty="0"/>
              <a:t>abort</a:t>
            </a:r>
            <a:r>
              <a:rPr lang="en-US" altLang="en-US" i="1" dirty="0"/>
              <a:t>&gt;</a:t>
            </a:r>
            <a:r>
              <a:rPr lang="en-US" altLang="en-US" dirty="0"/>
              <a:t>.</a:t>
            </a:r>
          </a:p>
          <a:p>
            <a:pPr lvl="1"/>
            <a:r>
              <a:rPr lang="en-US" altLang="en-US" dirty="0"/>
              <a:t>Transaction </a:t>
            </a:r>
            <a:r>
              <a:rPr lang="en-US" altLang="en-US" i="1" dirty="0" err="1"/>
              <a:t>T</a:t>
            </a:r>
            <a:r>
              <a:rPr lang="en-US" altLang="en-US" i="1" baseline="-25000" dirty="0" err="1"/>
              <a:t>i</a:t>
            </a:r>
            <a:r>
              <a:rPr lang="en-US" altLang="en-US" i="1" dirty="0"/>
              <a:t> </a:t>
            </a:r>
            <a:r>
              <a:rPr lang="en-US" altLang="en-US" dirty="0"/>
              <a:t>needs to be redone if the log </a:t>
            </a:r>
          </a:p>
          <a:p>
            <a:pPr lvl="2"/>
            <a:r>
              <a:rPr lang="en-US" altLang="en-US" dirty="0"/>
              <a:t>Contains the records </a:t>
            </a:r>
            <a:r>
              <a:rPr lang="en-US" altLang="en-US" i="1" dirty="0"/>
              <a:t>&lt;</a:t>
            </a:r>
            <a:r>
              <a:rPr lang="en-US" altLang="en-US" i="1" dirty="0" err="1"/>
              <a:t>T</a:t>
            </a:r>
            <a:r>
              <a:rPr lang="en-US" altLang="en-US" i="1" baseline="-25000" dirty="0" err="1"/>
              <a:t>i</a:t>
            </a:r>
            <a:r>
              <a:rPr lang="en-US" altLang="en-US" i="1" dirty="0"/>
              <a:t> </a:t>
            </a:r>
            <a:r>
              <a:rPr lang="en-US" altLang="en-US" b="1" dirty="0"/>
              <a:t>start</a:t>
            </a:r>
            <a:r>
              <a:rPr lang="en-US" altLang="en-US" i="1" dirty="0"/>
              <a:t>&gt;</a:t>
            </a:r>
            <a:r>
              <a:rPr lang="en-US" altLang="en-US" dirty="0"/>
              <a:t> </a:t>
            </a:r>
          </a:p>
          <a:p>
            <a:pPr lvl="2"/>
            <a:r>
              <a:rPr lang="en-US" altLang="en-US" dirty="0"/>
              <a:t>And contains the record </a:t>
            </a:r>
            <a:r>
              <a:rPr lang="en-US" altLang="en-US" i="1" dirty="0"/>
              <a:t>&lt;</a:t>
            </a:r>
            <a:r>
              <a:rPr lang="en-US" altLang="en-US" i="1" dirty="0" err="1"/>
              <a:t>T</a:t>
            </a:r>
            <a:r>
              <a:rPr lang="en-US" altLang="en-US" i="1" baseline="-25000" dirty="0" err="1"/>
              <a:t>i</a:t>
            </a:r>
            <a:r>
              <a:rPr lang="en-US" altLang="en-US" i="1" baseline="-25000" dirty="0"/>
              <a:t> </a:t>
            </a:r>
            <a:r>
              <a:rPr lang="en-US" altLang="en-US" b="1" dirty="0"/>
              <a:t>commit</a:t>
            </a:r>
            <a:r>
              <a:rPr lang="en-US" altLang="en-US" i="1" dirty="0"/>
              <a:t>&gt; or &lt;</a:t>
            </a:r>
            <a:r>
              <a:rPr lang="en-US" altLang="en-US" i="1" dirty="0" err="1"/>
              <a:t>T</a:t>
            </a:r>
            <a:r>
              <a:rPr lang="en-US" altLang="en-US" i="1" baseline="-25000" dirty="0" err="1"/>
              <a:t>i</a:t>
            </a:r>
            <a:r>
              <a:rPr lang="en-US" altLang="en-US" i="1" dirty="0"/>
              <a:t> </a:t>
            </a:r>
            <a:r>
              <a:rPr lang="en-US" altLang="en-US" b="1" dirty="0"/>
              <a:t>abort</a:t>
            </a:r>
            <a:r>
              <a:rPr lang="en-US" altLang="en-US" i="1" dirty="0"/>
              <a:t>&gt;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Recovering from Failure (Cont.)</a:t>
            </a:r>
          </a:p>
        </p:txBody>
      </p:sp>
      <p:sp>
        <p:nvSpPr>
          <p:cNvPr id="22531" name="Rectangle 3"/>
          <p:cNvSpPr>
            <a:spLocks noGrp="1" noChangeArrowheads="1"/>
          </p:cNvSpPr>
          <p:nvPr>
            <p:ph idx="1"/>
          </p:nvPr>
        </p:nvSpPr>
        <p:spPr>
          <a:xfrm>
            <a:off x="683581" y="1102497"/>
            <a:ext cx="7652552" cy="5367972"/>
          </a:xfrm>
          <a:prstGeom prst="rect">
            <a:avLst/>
          </a:prstGeom>
        </p:spPr>
        <p:txBody>
          <a:bodyPr/>
          <a:lstStyle/>
          <a:p>
            <a:r>
              <a:rPr lang="en-US" altLang="en-US" dirty="0"/>
              <a:t>Suppose that  transaction </a:t>
            </a:r>
            <a:r>
              <a:rPr lang="en-US" altLang="en-US" i="1" dirty="0" err="1"/>
              <a:t>T</a:t>
            </a:r>
            <a:r>
              <a:rPr lang="en-US" altLang="en-US" i="1" baseline="-25000" dirty="0" err="1"/>
              <a:t>i</a:t>
            </a:r>
            <a:r>
              <a:rPr lang="en-US" altLang="en-US" dirty="0"/>
              <a:t> was undone earlier and the </a:t>
            </a:r>
            <a:r>
              <a:rPr lang="en-US" altLang="en-US" i="1" dirty="0"/>
              <a:t>&lt;</a:t>
            </a:r>
            <a:r>
              <a:rPr lang="en-US" altLang="en-US" i="1" dirty="0" err="1"/>
              <a:t>T</a:t>
            </a:r>
            <a:r>
              <a:rPr lang="en-US" altLang="en-US" i="1" baseline="-25000" dirty="0" err="1"/>
              <a:t>i</a:t>
            </a:r>
            <a:r>
              <a:rPr lang="en-US" altLang="en-US" i="1" dirty="0"/>
              <a:t> </a:t>
            </a:r>
            <a:r>
              <a:rPr lang="en-US" altLang="en-US" b="1" dirty="0"/>
              <a:t>abort</a:t>
            </a:r>
            <a:r>
              <a:rPr lang="en-US" altLang="en-US" i="1" dirty="0"/>
              <a:t>&gt; </a:t>
            </a:r>
            <a:r>
              <a:rPr lang="en-US" altLang="en-US" dirty="0"/>
              <a:t>record  was written to the log,  and then a failure occurs,</a:t>
            </a:r>
          </a:p>
          <a:p>
            <a:r>
              <a:rPr lang="en-US" altLang="en-US" dirty="0"/>
              <a:t>On recovery from failure  transaction </a:t>
            </a:r>
            <a:r>
              <a:rPr lang="en-US" altLang="en-US" i="1" dirty="0" err="1"/>
              <a:t>T</a:t>
            </a:r>
            <a:r>
              <a:rPr lang="en-US" altLang="en-US" i="1" baseline="-25000" dirty="0" err="1"/>
              <a:t>i</a:t>
            </a:r>
            <a:r>
              <a:rPr lang="en-US" altLang="en-US" i="1" baseline="-25000" dirty="0"/>
              <a:t> </a:t>
            </a:r>
            <a:r>
              <a:rPr lang="en-US" altLang="en-US" dirty="0"/>
              <a:t> is redone</a:t>
            </a:r>
          </a:p>
          <a:p>
            <a:pPr lvl="1"/>
            <a:r>
              <a:rPr lang="en-US" altLang="en-US" dirty="0"/>
              <a:t>Such a </a:t>
            </a:r>
            <a:r>
              <a:rPr lang="en-US" altLang="en-US" b="1" dirty="0"/>
              <a:t>redo</a:t>
            </a:r>
            <a:r>
              <a:rPr lang="en-US" altLang="en-US" dirty="0"/>
              <a:t> redoes all the original actions of transaction </a:t>
            </a:r>
            <a:r>
              <a:rPr lang="en-US" altLang="en-US" i="1" dirty="0" err="1"/>
              <a:t>T</a:t>
            </a:r>
            <a:r>
              <a:rPr lang="en-US" altLang="en-US" i="1" baseline="-25000" dirty="0" err="1"/>
              <a:t>i</a:t>
            </a:r>
            <a:r>
              <a:rPr lang="en-US" altLang="en-US" dirty="0"/>
              <a:t> </a:t>
            </a:r>
            <a:r>
              <a:rPr lang="en-US" altLang="en-US" i="1" dirty="0"/>
              <a:t>including the steps that restored old values</a:t>
            </a:r>
          </a:p>
          <a:p>
            <a:pPr lvl="2"/>
            <a:r>
              <a:rPr lang="en-US" altLang="en-US" dirty="0"/>
              <a:t>Known as </a:t>
            </a:r>
            <a:r>
              <a:rPr lang="en-US" altLang="en-US" b="1" dirty="0">
                <a:solidFill>
                  <a:srgbClr val="002060"/>
                </a:solidFill>
              </a:rPr>
              <a:t>repeating history</a:t>
            </a:r>
          </a:p>
          <a:p>
            <a:pPr lvl="2"/>
            <a:r>
              <a:rPr lang="en-US" altLang="en-US" dirty="0"/>
              <a:t>Seems wasteful, but simplifies recovery greatly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69925" y="96838"/>
            <a:ext cx="8166100" cy="608012"/>
          </a:xfrm>
        </p:spPr>
        <p:txBody>
          <a:bodyPr/>
          <a:lstStyle/>
          <a:p>
            <a:pPr>
              <a:defRPr/>
            </a:pPr>
            <a:r>
              <a:rPr lang="en-US" sz="2800" dirty="0">
                <a:ea typeface="ＭＳ Ｐゴシック" charset="0"/>
              </a:rPr>
              <a:t>Immediate DB Modification Recovery Example</a:t>
            </a:r>
          </a:p>
        </p:txBody>
      </p:sp>
      <p:sp>
        <p:nvSpPr>
          <p:cNvPr id="23555" name="Rectangle 3"/>
          <p:cNvSpPr>
            <a:spLocks noGrp="1" noChangeArrowheads="1"/>
          </p:cNvSpPr>
          <p:nvPr>
            <p:ph type="body" idx="4294967295"/>
          </p:nvPr>
        </p:nvSpPr>
        <p:spPr>
          <a:xfrm>
            <a:off x="669926" y="1085850"/>
            <a:ext cx="7692840" cy="5183188"/>
          </a:xfrm>
          <a:prstGeom prst="rect">
            <a:avLst/>
          </a:prstGeom>
        </p:spPr>
        <p:txBody>
          <a:bodyPr/>
          <a:lstStyle/>
          <a:p>
            <a:pPr>
              <a:lnSpc>
                <a:spcPct val="110000"/>
              </a:lnSpc>
              <a:buFont typeface="Monotype Sorts" charset="2"/>
              <a:buNone/>
            </a:pPr>
            <a:r>
              <a:rPr lang="en-US" altLang="en-US" dirty="0"/>
              <a:t>  Below we show the log as it appears at three instances of time.</a:t>
            </a:r>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endParaRPr lang="en-US" altLang="en-US" dirty="0"/>
          </a:p>
          <a:p>
            <a:pPr>
              <a:lnSpc>
                <a:spcPct val="30000"/>
              </a:lnSpc>
              <a:buFont typeface="Monotype Sorts" charset="2"/>
              <a:buNone/>
            </a:pPr>
            <a:endParaRPr lang="en-US" altLang="en-US" dirty="0"/>
          </a:p>
          <a:p>
            <a:pPr>
              <a:lnSpc>
                <a:spcPct val="70000"/>
              </a:lnSpc>
              <a:buFont typeface="Monotype Sorts" charset="2"/>
              <a:buNone/>
            </a:pPr>
            <a:endParaRPr lang="en-US" altLang="en-US" dirty="0"/>
          </a:p>
          <a:p>
            <a:pPr>
              <a:lnSpc>
                <a:spcPct val="70000"/>
              </a:lnSpc>
              <a:buFont typeface="Monotype Sorts" charset="2"/>
              <a:buNone/>
            </a:pPr>
            <a:r>
              <a:rPr lang="en-US" altLang="en-US" dirty="0"/>
              <a:t>Recovery actions in each case above are:</a:t>
            </a:r>
          </a:p>
          <a:p>
            <a:pPr>
              <a:lnSpc>
                <a:spcPct val="90000"/>
              </a:lnSpc>
              <a:buFont typeface="Monotype Sorts" charset="2"/>
              <a:buNone/>
            </a:pPr>
            <a:r>
              <a:rPr lang="en-US" altLang="en-US" dirty="0"/>
              <a:t>(a)  undo (</a:t>
            </a:r>
            <a:r>
              <a:rPr lang="en-US" altLang="en-US" i="1" dirty="0"/>
              <a:t>T</a:t>
            </a:r>
            <a:r>
              <a:rPr lang="en-US" altLang="en-US" baseline="-25000" dirty="0"/>
              <a:t>0</a:t>
            </a:r>
            <a:r>
              <a:rPr lang="en-US" altLang="en-US" dirty="0"/>
              <a:t>): B is restored to 2000 and A to 1000, and log records</a:t>
            </a:r>
            <a:br>
              <a:rPr lang="en-US" altLang="en-US" dirty="0"/>
            </a:br>
            <a:r>
              <a:rPr lang="en-US" altLang="en-US" dirty="0"/>
              <a:t>&lt;</a:t>
            </a:r>
            <a:r>
              <a:rPr lang="en-US" altLang="en-US" i="1" dirty="0"/>
              <a:t>T</a:t>
            </a:r>
            <a:r>
              <a:rPr lang="en-US" altLang="en-US" baseline="-25000" dirty="0"/>
              <a:t>0</a:t>
            </a:r>
            <a:r>
              <a:rPr lang="en-US" altLang="en-US" dirty="0"/>
              <a:t>, B, 2000&gt;, &lt;</a:t>
            </a:r>
            <a:r>
              <a:rPr lang="en-US" altLang="en-US" i="1" dirty="0"/>
              <a:t>T</a:t>
            </a:r>
            <a:r>
              <a:rPr lang="en-US" altLang="en-US" baseline="-25000" dirty="0"/>
              <a:t>0</a:t>
            </a:r>
            <a:r>
              <a:rPr lang="en-US" altLang="en-US" dirty="0"/>
              <a:t>, A, 1000&gt;, &lt;</a:t>
            </a:r>
            <a:r>
              <a:rPr lang="en-US" altLang="en-US" i="1" dirty="0"/>
              <a:t>T</a:t>
            </a:r>
            <a:r>
              <a:rPr lang="en-US" altLang="en-US" baseline="-25000" dirty="0"/>
              <a:t>0</a:t>
            </a:r>
            <a:r>
              <a:rPr lang="en-US" altLang="en-US" dirty="0"/>
              <a:t>, </a:t>
            </a:r>
            <a:r>
              <a:rPr lang="en-US" altLang="en-US" b="1" dirty="0"/>
              <a:t>abort</a:t>
            </a:r>
            <a:r>
              <a:rPr lang="en-US" altLang="en-US" dirty="0"/>
              <a:t>&gt; are written out</a:t>
            </a:r>
          </a:p>
          <a:p>
            <a:pPr>
              <a:lnSpc>
                <a:spcPct val="90000"/>
              </a:lnSpc>
              <a:buFont typeface="Monotype Sorts" charset="2"/>
              <a:buNone/>
            </a:pPr>
            <a:r>
              <a:rPr lang="en-US" altLang="en-US" dirty="0"/>
              <a:t>(b) redo (</a:t>
            </a:r>
            <a:r>
              <a:rPr lang="en-US" altLang="en-US" i="1" dirty="0"/>
              <a:t>T</a:t>
            </a:r>
            <a:r>
              <a:rPr lang="en-US" altLang="en-US" baseline="-25000" dirty="0"/>
              <a:t>0</a:t>
            </a:r>
            <a:r>
              <a:rPr lang="en-US" altLang="en-US" dirty="0"/>
              <a:t>) and undo (</a:t>
            </a:r>
            <a:r>
              <a:rPr lang="en-US" altLang="en-US" i="1" dirty="0"/>
              <a:t>T</a:t>
            </a:r>
            <a:r>
              <a:rPr lang="en-US" altLang="en-US" baseline="-25000" dirty="0"/>
              <a:t>1</a:t>
            </a:r>
            <a:r>
              <a:rPr lang="en-US" altLang="en-US" dirty="0"/>
              <a:t>): </a:t>
            </a:r>
            <a:r>
              <a:rPr lang="en-US" altLang="en-US" i="1" dirty="0"/>
              <a:t>A</a:t>
            </a:r>
            <a:r>
              <a:rPr lang="en-US" altLang="en-US" dirty="0"/>
              <a:t> and </a:t>
            </a:r>
            <a:r>
              <a:rPr lang="en-US" altLang="en-US" i="1" dirty="0"/>
              <a:t>B</a:t>
            </a:r>
            <a:r>
              <a:rPr lang="en-US" altLang="en-US" dirty="0"/>
              <a:t> are set to 950 and 2050 and C is restored to 700.  Log records &lt;</a:t>
            </a:r>
            <a:r>
              <a:rPr lang="en-US" altLang="en-US" i="1" dirty="0"/>
              <a:t>T</a:t>
            </a:r>
            <a:r>
              <a:rPr lang="en-US" altLang="en-US" baseline="-25000" dirty="0"/>
              <a:t>1</a:t>
            </a:r>
            <a:r>
              <a:rPr lang="en-US" altLang="en-US" dirty="0"/>
              <a:t>, C, 700&gt;, &lt;</a:t>
            </a:r>
            <a:r>
              <a:rPr lang="en-US" altLang="en-US" i="1" dirty="0"/>
              <a:t>T</a:t>
            </a:r>
            <a:r>
              <a:rPr lang="en-US" altLang="en-US" baseline="-25000" dirty="0"/>
              <a:t>1</a:t>
            </a:r>
            <a:r>
              <a:rPr lang="en-US" altLang="en-US" dirty="0"/>
              <a:t>, </a:t>
            </a:r>
            <a:r>
              <a:rPr lang="en-US" altLang="en-US" b="1" dirty="0"/>
              <a:t>abort</a:t>
            </a:r>
            <a:r>
              <a:rPr lang="en-US" altLang="en-US" dirty="0"/>
              <a:t>&gt; are written out.</a:t>
            </a:r>
          </a:p>
          <a:p>
            <a:pPr>
              <a:lnSpc>
                <a:spcPct val="90000"/>
              </a:lnSpc>
              <a:buFont typeface="Monotype Sorts" charset="2"/>
              <a:buNone/>
            </a:pPr>
            <a:r>
              <a:rPr lang="en-US" altLang="en-US" dirty="0"/>
              <a:t>(c)  redo (</a:t>
            </a:r>
            <a:r>
              <a:rPr lang="en-US" altLang="en-US" i="1" dirty="0"/>
              <a:t>T</a:t>
            </a:r>
            <a:r>
              <a:rPr lang="en-US" altLang="en-US" baseline="-25000" dirty="0"/>
              <a:t>0</a:t>
            </a:r>
            <a:r>
              <a:rPr lang="en-US" altLang="en-US" dirty="0"/>
              <a:t>) and redo (</a:t>
            </a:r>
            <a:r>
              <a:rPr lang="en-US" altLang="en-US" i="1" dirty="0"/>
              <a:t>T</a:t>
            </a:r>
            <a:r>
              <a:rPr lang="en-US" altLang="en-US" baseline="-25000" dirty="0"/>
              <a:t>1</a:t>
            </a:r>
            <a:r>
              <a:rPr lang="en-US" altLang="en-US" dirty="0"/>
              <a:t>): A and B are set to 950 and 2050 </a:t>
            </a:r>
          </a:p>
          <a:p>
            <a:pPr>
              <a:lnSpc>
                <a:spcPct val="90000"/>
              </a:lnSpc>
              <a:buFont typeface="Monotype Sorts" charset="2"/>
              <a:buNone/>
            </a:pPr>
            <a:r>
              <a:rPr lang="en-US" altLang="en-US" dirty="0"/>
              <a:t>       respectively. Then </a:t>
            </a:r>
            <a:r>
              <a:rPr lang="en-US" altLang="en-US" i="1" dirty="0"/>
              <a:t>C</a:t>
            </a:r>
            <a:r>
              <a:rPr lang="en-US" altLang="en-US" dirty="0"/>
              <a:t> is set to 600</a:t>
            </a:r>
          </a:p>
        </p:txBody>
      </p:sp>
      <p:pic>
        <p:nvPicPr>
          <p:cNvPr id="2355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1601788"/>
            <a:ext cx="6554788"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a:t>
            </a:r>
          </a:p>
        </p:txBody>
      </p:sp>
      <p:sp>
        <p:nvSpPr>
          <p:cNvPr id="24579" name="Rectangle 3"/>
          <p:cNvSpPr>
            <a:spLocks noGrp="1" noChangeArrowheads="1"/>
          </p:cNvSpPr>
          <p:nvPr>
            <p:ph idx="1"/>
          </p:nvPr>
        </p:nvSpPr>
        <p:spPr>
          <a:xfrm>
            <a:off x="692458" y="1102497"/>
            <a:ext cx="7759084" cy="5367972"/>
          </a:xfrm>
          <a:prstGeom prst="rect">
            <a:avLst/>
          </a:prstGeom>
        </p:spPr>
        <p:txBody>
          <a:bodyPr/>
          <a:lstStyle/>
          <a:p>
            <a:pPr marL="381000" indent="-381000"/>
            <a:r>
              <a:rPr lang="en-US" altLang="en-US" dirty="0"/>
              <a:t>Redoing/undoing all transactions recorded in the log can be very slow </a:t>
            </a:r>
          </a:p>
          <a:p>
            <a:pPr marL="800100" lvl="1" indent="-342900"/>
            <a:r>
              <a:rPr lang="en-US" altLang="en-US" dirty="0"/>
              <a:t>Processing the entire log is time-consuming if the system has run for a long time</a:t>
            </a:r>
          </a:p>
          <a:p>
            <a:pPr marL="800100" lvl="1" indent="-342900"/>
            <a:r>
              <a:rPr lang="en-US" altLang="en-US" dirty="0"/>
              <a:t>We might unnecessarily redo transactions which have already output their updates to the database.</a:t>
            </a:r>
          </a:p>
          <a:p>
            <a:pPr marL="381000" indent="-381000"/>
            <a:r>
              <a:rPr lang="en-US" altLang="en-US" dirty="0"/>
              <a:t>Streamline recovery procedure by periodically performing </a:t>
            </a:r>
            <a:r>
              <a:rPr lang="en-US" altLang="en-US" b="1" dirty="0">
                <a:solidFill>
                  <a:srgbClr val="002060"/>
                </a:solidFill>
              </a:rPr>
              <a:t>checkpointing</a:t>
            </a:r>
          </a:p>
          <a:p>
            <a:pPr marL="0" indent="0">
              <a:buNone/>
            </a:pPr>
            <a:r>
              <a:rPr lang="en-US" altLang="en-US" sz="400" b="1" dirty="0">
                <a:solidFill>
                  <a:srgbClr val="002060"/>
                </a:solidFill>
              </a:rPr>
              <a:t> </a:t>
            </a:r>
            <a:r>
              <a:rPr lang="en-US" altLang="en-US" sz="400" dirty="0">
                <a:solidFill>
                  <a:srgbClr val="002060"/>
                </a:solidFill>
              </a:rPr>
              <a:t> </a:t>
            </a:r>
          </a:p>
          <a:p>
            <a:pPr marL="457200" lvl="1" indent="0">
              <a:spcBef>
                <a:spcPts val="0"/>
              </a:spcBef>
              <a:buNone/>
            </a:pPr>
            <a:r>
              <a:rPr lang="en-US" altLang="en-US" dirty="0">
                <a:solidFill>
                  <a:srgbClr val="FF9900"/>
                </a:solidFill>
              </a:rPr>
              <a:t>1.</a:t>
            </a:r>
            <a:r>
              <a:rPr lang="en-US" altLang="en-US" dirty="0"/>
              <a:t>   Output all log records currently residing in main memory onto stable </a:t>
            </a:r>
          </a:p>
          <a:p>
            <a:pPr marL="457200" lvl="1" indent="0">
              <a:spcBef>
                <a:spcPts val="0"/>
              </a:spcBef>
              <a:buNone/>
            </a:pPr>
            <a:r>
              <a:rPr lang="en-US" altLang="en-US" dirty="0"/>
              <a:t>      storage.</a:t>
            </a:r>
          </a:p>
          <a:p>
            <a:pPr marL="457200" lvl="1" indent="0">
              <a:buNone/>
            </a:pPr>
            <a:r>
              <a:rPr lang="en-US" altLang="en-US" dirty="0">
                <a:solidFill>
                  <a:srgbClr val="FF9900"/>
                </a:solidFill>
              </a:rPr>
              <a:t>2.   </a:t>
            </a:r>
            <a:r>
              <a:rPr lang="en-US" altLang="en-US" dirty="0"/>
              <a:t>Output all modified buffer blocks to the disk.</a:t>
            </a:r>
          </a:p>
          <a:p>
            <a:pPr marL="457200" lvl="1" indent="0">
              <a:buNone/>
            </a:pPr>
            <a:endParaRPr lang="en-US" altLang="en-US" sz="400" dirty="0"/>
          </a:p>
          <a:p>
            <a:pPr marL="457200" lvl="1" indent="0">
              <a:spcBef>
                <a:spcPts val="0"/>
              </a:spcBef>
              <a:buNone/>
            </a:pPr>
            <a:r>
              <a:rPr lang="en-US" altLang="en-US" dirty="0">
                <a:solidFill>
                  <a:srgbClr val="FF9900"/>
                </a:solidFill>
              </a:rPr>
              <a:t>3.</a:t>
            </a:r>
            <a:r>
              <a:rPr lang="en-US" altLang="en-US" dirty="0"/>
              <a:t>   Write a log record &lt;</a:t>
            </a:r>
            <a:r>
              <a:rPr lang="en-US" altLang="en-US" b="1" dirty="0"/>
              <a:t> checkpoint </a:t>
            </a:r>
            <a:r>
              <a:rPr lang="en-US" altLang="en-US" i="1" dirty="0"/>
              <a:t>L</a:t>
            </a:r>
            <a:r>
              <a:rPr lang="en-US" altLang="en-US" dirty="0"/>
              <a:t>&gt; onto stable storage where </a:t>
            </a:r>
            <a:r>
              <a:rPr lang="en-US" altLang="en-US" i="1" dirty="0"/>
              <a:t>L</a:t>
            </a:r>
            <a:r>
              <a:rPr lang="en-US" altLang="en-US" dirty="0"/>
              <a:t> is a </a:t>
            </a:r>
          </a:p>
          <a:p>
            <a:pPr marL="457200" lvl="1" indent="0">
              <a:spcBef>
                <a:spcPts val="0"/>
              </a:spcBef>
              <a:buNone/>
            </a:pPr>
            <a:r>
              <a:rPr lang="en-US" altLang="en-US" dirty="0"/>
              <a:t>      list of all transactions active at the time of checkpoint.</a:t>
            </a:r>
          </a:p>
          <a:p>
            <a:pPr marL="457200" lvl="1" indent="0">
              <a:buNone/>
            </a:pPr>
            <a:r>
              <a:rPr lang="en-US" altLang="en-US" dirty="0">
                <a:solidFill>
                  <a:srgbClr val="FF9900"/>
                </a:solidFill>
              </a:rPr>
              <a:t>4.</a:t>
            </a:r>
            <a:r>
              <a:rPr lang="en-US" altLang="en-US" dirty="0"/>
              <a:t>   All updates are stopped while doing checkpointing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 (Cont.)</a:t>
            </a:r>
          </a:p>
        </p:txBody>
      </p:sp>
      <p:sp>
        <p:nvSpPr>
          <p:cNvPr id="25603" name="Rectangle 3"/>
          <p:cNvSpPr>
            <a:spLocks noGrp="1" noChangeArrowheads="1"/>
          </p:cNvSpPr>
          <p:nvPr>
            <p:ph idx="1"/>
          </p:nvPr>
        </p:nvSpPr>
        <p:spPr>
          <a:xfrm>
            <a:off x="692458" y="1102497"/>
            <a:ext cx="7625919" cy="5367972"/>
          </a:xfrm>
          <a:prstGeom prst="rect">
            <a:avLst/>
          </a:prstGeom>
        </p:spPr>
        <p:txBody>
          <a:bodyPr/>
          <a:lstStyle/>
          <a:p>
            <a:pPr marL="381000" indent="-381000"/>
            <a:r>
              <a:rPr lang="en-US" altLang="en-US" dirty="0"/>
              <a:t>During recovery we need to consider only the most recent transaction </a:t>
            </a:r>
            <a:r>
              <a:rPr lang="en-US" altLang="en-US" dirty="0" err="1"/>
              <a:t>T</a:t>
            </a:r>
            <a:r>
              <a:rPr lang="en-US" altLang="en-US" baseline="-25000" dirty="0" err="1"/>
              <a:t>i</a:t>
            </a:r>
            <a:r>
              <a:rPr lang="en-US" altLang="en-US" dirty="0"/>
              <a:t> that started before the checkpoint, and transactions that started after </a:t>
            </a:r>
            <a:r>
              <a:rPr lang="en-US" altLang="en-US" i="1" dirty="0" err="1"/>
              <a:t>T</a:t>
            </a:r>
            <a:r>
              <a:rPr lang="en-US" altLang="en-US" i="1" baseline="-25000" dirty="0" err="1"/>
              <a:t>i</a:t>
            </a:r>
            <a:r>
              <a:rPr lang="en-US" altLang="en-US" dirty="0"/>
              <a:t>. </a:t>
            </a:r>
          </a:p>
          <a:p>
            <a:pPr marL="800100" lvl="1" indent="-342900"/>
            <a:r>
              <a:rPr lang="en-US" altLang="en-US" dirty="0"/>
              <a:t>Scan backwards from end of log to find the most recent &lt;</a:t>
            </a:r>
            <a:r>
              <a:rPr lang="en-US" altLang="en-US" b="1" dirty="0"/>
              <a:t>checkpoint </a:t>
            </a:r>
            <a:r>
              <a:rPr lang="en-US" altLang="en-US" i="1" dirty="0"/>
              <a:t>L</a:t>
            </a:r>
            <a:r>
              <a:rPr lang="en-US" altLang="en-US" dirty="0"/>
              <a:t>&gt; record </a:t>
            </a:r>
          </a:p>
          <a:p>
            <a:pPr marL="800100" lvl="1" indent="-342900"/>
            <a:r>
              <a:rPr lang="en-US" altLang="en-US" dirty="0"/>
              <a:t>Only transactions that are in </a:t>
            </a:r>
            <a:r>
              <a:rPr lang="en-US" altLang="en-US" i="1" dirty="0"/>
              <a:t>L</a:t>
            </a:r>
            <a:r>
              <a:rPr lang="en-US" altLang="en-US" dirty="0"/>
              <a:t> or started after the checkpoint need to be redone or undone</a:t>
            </a:r>
          </a:p>
          <a:p>
            <a:pPr marL="800100" lvl="1" indent="-342900"/>
            <a:r>
              <a:rPr lang="en-US" altLang="en-US" dirty="0"/>
              <a:t>Transactions that committed or aborted before the checkpoint already have all their updates output to stable storage.</a:t>
            </a:r>
          </a:p>
          <a:p>
            <a:pPr marL="381000" indent="-381000"/>
            <a:r>
              <a:rPr lang="en-US" altLang="en-US" dirty="0"/>
              <a:t>Some earlier part of the log may be needed for undo operations</a:t>
            </a:r>
          </a:p>
          <a:p>
            <a:pPr marL="800100" lvl="1" indent="-342900"/>
            <a:r>
              <a:rPr lang="en-US" altLang="en-US" dirty="0"/>
              <a:t>Continue scanning backwards till a record </a:t>
            </a:r>
            <a:r>
              <a:rPr lang="en-US" altLang="en-US" i="1" dirty="0"/>
              <a:t>&lt;</a:t>
            </a:r>
            <a:r>
              <a:rPr lang="en-US" altLang="en-US" i="1" dirty="0" err="1"/>
              <a:t>T</a:t>
            </a:r>
            <a:r>
              <a:rPr lang="en-US" altLang="en-US" i="1" baseline="-25000" dirty="0" err="1"/>
              <a:t>i</a:t>
            </a:r>
            <a:r>
              <a:rPr lang="en-US" altLang="en-US" b="1" dirty="0"/>
              <a:t> start</a:t>
            </a:r>
            <a:r>
              <a:rPr lang="en-US" altLang="en-US" dirty="0"/>
              <a:t>&gt; is found for every transaction </a:t>
            </a:r>
            <a:r>
              <a:rPr lang="en-US" altLang="en-US" i="1" dirty="0" err="1"/>
              <a:t>T</a:t>
            </a:r>
            <a:r>
              <a:rPr lang="en-US" altLang="en-US" i="1" baseline="-25000" dirty="0" err="1"/>
              <a:t>i</a:t>
            </a:r>
            <a:r>
              <a:rPr lang="en-US" altLang="en-US" i="1" baseline="-25000" dirty="0"/>
              <a:t> </a:t>
            </a:r>
            <a:r>
              <a:rPr lang="en-US" altLang="en-US" i="1" dirty="0"/>
              <a:t> </a:t>
            </a:r>
            <a:r>
              <a:rPr lang="en-US" altLang="en-US" dirty="0"/>
              <a:t>in </a:t>
            </a:r>
            <a:r>
              <a:rPr lang="en-US" altLang="en-US" i="1" dirty="0"/>
              <a:t>L</a:t>
            </a:r>
            <a:r>
              <a:rPr lang="en-US" altLang="en-US" dirty="0"/>
              <a:t>.</a:t>
            </a:r>
          </a:p>
          <a:p>
            <a:pPr marL="800100" lvl="1" indent="-342900"/>
            <a:r>
              <a:rPr lang="en-US" altLang="en-US" dirty="0"/>
              <a:t>Parts of log prior to earliest </a:t>
            </a:r>
            <a:r>
              <a:rPr lang="en-US" altLang="en-US" i="1" dirty="0"/>
              <a:t>&lt;</a:t>
            </a:r>
            <a:r>
              <a:rPr lang="en-US" altLang="en-US" i="1" dirty="0" err="1"/>
              <a:t>T</a:t>
            </a:r>
            <a:r>
              <a:rPr lang="en-US" altLang="en-US" i="1" baseline="-25000" dirty="0" err="1"/>
              <a:t>i</a:t>
            </a:r>
            <a:r>
              <a:rPr lang="en-US" altLang="en-US" b="1" dirty="0"/>
              <a:t> start</a:t>
            </a:r>
            <a:r>
              <a:rPr lang="en-US" altLang="en-US" dirty="0"/>
              <a:t>&gt; record above are not needed for recovery, and can be erased whenever desired.</a:t>
            </a:r>
          </a:p>
          <a:p>
            <a:pPr marL="800100" lvl="1" indent="-342900"/>
            <a:endParaRPr lang="en-US" altLang="en-US" dirty="0"/>
          </a:p>
          <a:p>
            <a:pPr marL="800100" lvl="1" indent="-342900">
              <a:buFont typeface="Monotype Sorts" charset="2"/>
              <a:buAutoNum type="arabicPeriod"/>
            </a:pP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Checkpoints</a:t>
            </a:r>
          </a:p>
        </p:txBody>
      </p:sp>
      <p:sp>
        <p:nvSpPr>
          <p:cNvPr id="26627" name="Rectangle 3"/>
          <p:cNvSpPr>
            <a:spLocks noGrp="1" noChangeArrowheads="1"/>
          </p:cNvSpPr>
          <p:nvPr>
            <p:ph type="body" idx="4294967295"/>
          </p:nvPr>
        </p:nvSpPr>
        <p:spPr>
          <a:xfrm>
            <a:off x="1816609" y="3788664"/>
            <a:ext cx="7046976" cy="2137347"/>
          </a:xfrm>
          <a:prstGeom prst="rect">
            <a:avLst/>
          </a:prstGeom>
        </p:spPr>
        <p:txBody>
          <a:bodyPr/>
          <a:lstStyle/>
          <a:p>
            <a:pPr marL="0" indent="0">
              <a:buNone/>
            </a:pPr>
            <a:endParaRPr lang="en-US" altLang="en-US" dirty="0"/>
          </a:p>
          <a:p>
            <a:pPr>
              <a:buFont typeface="Wingdings" panose="05000000000000000000" pitchFamily="2" charset="2"/>
              <a:buChar char="§"/>
            </a:pPr>
            <a:r>
              <a:rPr lang="en-US" altLang="en-US" i="1" dirty="0"/>
              <a:t>T</a:t>
            </a:r>
            <a:r>
              <a:rPr lang="en-US" altLang="en-US" baseline="-25000" dirty="0"/>
              <a:t>1</a:t>
            </a:r>
            <a:r>
              <a:rPr lang="en-US" altLang="en-US" dirty="0"/>
              <a:t> can be ignored (updates already output to disk due to checkpoint)</a:t>
            </a:r>
          </a:p>
          <a:p>
            <a:pPr>
              <a:buFont typeface="Wingdings" panose="05000000000000000000" pitchFamily="2" charset="2"/>
              <a:buChar char="§"/>
            </a:pPr>
            <a:r>
              <a:rPr lang="en-US" altLang="en-US" i="1" dirty="0"/>
              <a:t>T</a:t>
            </a:r>
            <a:r>
              <a:rPr lang="en-US" altLang="en-US" baseline="-25000" dirty="0"/>
              <a:t>2</a:t>
            </a:r>
            <a:r>
              <a:rPr lang="en-US" altLang="en-US" dirty="0"/>
              <a:t> and </a:t>
            </a:r>
            <a:r>
              <a:rPr lang="en-US" altLang="en-US" i="1" dirty="0"/>
              <a:t>T</a:t>
            </a:r>
            <a:r>
              <a:rPr lang="en-US" altLang="en-US" baseline="-25000" dirty="0"/>
              <a:t>3</a:t>
            </a:r>
            <a:r>
              <a:rPr lang="en-US" altLang="en-US" dirty="0"/>
              <a:t> redone.</a:t>
            </a:r>
          </a:p>
          <a:p>
            <a:pPr>
              <a:buFont typeface="Wingdings" panose="05000000000000000000" pitchFamily="2" charset="2"/>
              <a:buChar char="§"/>
            </a:pPr>
            <a:r>
              <a:rPr lang="en-US" altLang="en-US" i="1" dirty="0"/>
              <a:t>T</a:t>
            </a:r>
            <a:r>
              <a:rPr lang="en-US" altLang="en-US" baseline="-25000" dirty="0"/>
              <a:t>4</a:t>
            </a:r>
            <a:r>
              <a:rPr lang="en-US" altLang="en-US" dirty="0"/>
              <a:t> undone</a:t>
            </a:r>
          </a:p>
          <a:p>
            <a:endParaRPr lang="en-US" altLang="en-US" dirty="0"/>
          </a:p>
          <a:p>
            <a:endParaRPr lang="en-US" altLang="en-US" dirty="0"/>
          </a:p>
          <a:p>
            <a:endParaRPr lang="en-US" altLang="en-US" dirty="0"/>
          </a:p>
          <a:p>
            <a:endParaRPr lang="en-US" altLang="en-US" dirty="0"/>
          </a:p>
          <a:p>
            <a:endParaRPr lang="en-US" altLang="en-US" dirty="0"/>
          </a:p>
          <a:p>
            <a:endParaRPr lang="en-US" altLang="en-US" sz="1000" i="1" dirty="0"/>
          </a:p>
          <a:p>
            <a:pPr>
              <a:buFont typeface="Wingdings" panose="05000000000000000000" pitchFamily="2" charset="2"/>
              <a:buChar char="§"/>
            </a:pPr>
            <a:r>
              <a:rPr lang="en-US" altLang="en-US" i="1" dirty="0"/>
              <a:t>T</a:t>
            </a:r>
            <a:r>
              <a:rPr lang="en-US" altLang="en-US" baseline="-25000" dirty="0"/>
              <a:t>1</a:t>
            </a:r>
            <a:r>
              <a:rPr lang="en-US" altLang="en-US" dirty="0"/>
              <a:t> can be ignored (updates already output to disk due to checkpoint)</a:t>
            </a:r>
          </a:p>
          <a:p>
            <a:pPr>
              <a:buFont typeface="Wingdings" panose="05000000000000000000" pitchFamily="2" charset="2"/>
              <a:buChar char="§"/>
            </a:pPr>
            <a:r>
              <a:rPr lang="en-US" altLang="en-US" i="1" dirty="0"/>
              <a:t>T</a:t>
            </a:r>
            <a:r>
              <a:rPr lang="en-US" altLang="en-US" baseline="-25000" dirty="0"/>
              <a:t>2</a:t>
            </a:r>
            <a:r>
              <a:rPr lang="en-US" altLang="en-US" dirty="0"/>
              <a:t> and </a:t>
            </a:r>
            <a:r>
              <a:rPr lang="en-US" altLang="en-US" i="1" dirty="0"/>
              <a:t>T</a:t>
            </a:r>
            <a:r>
              <a:rPr lang="en-US" altLang="en-US" baseline="-25000" dirty="0"/>
              <a:t>3</a:t>
            </a:r>
            <a:r>
              <a:rPr lang="en-US" altLang="en-US" dirty="0"/>
              <a:t> redone.</a:t>
            </a:r>
          </a:p>
          <a:p>
            <a:pPr>
              <a:buFont typeface="Wingdings" panose="05000000000000000000" pitchFamily="2" charset="2"/>
              <a:buChar char="§"/>
            </a:pPr>
            <a:r>
              <a:rPr lang="en-US" altLang="en-US" i="1" dirty="0"/>
              <a:t>T</a:t>
            </a:r>
            <a:r>
              <a:rPr lang="en-US" altLang="en-US" baseline="-25000" dirty="0"/>
              <a:t>4</a:t>
            </a:r>
            <a:r>
              <a:rPr lang="en-US" altLang="en-US" dirty="0"/>
              <a:t> undone</a:t>
            </a:r>
          </a:p>
        </p:txBody>
      </p:sp>
      <p:pic>
        <p:nvPicPr>
          <p:cNvPr id="3" name="Picture 2"/>
          <p:cNvPicPr>
            <a:picLocks noChangeAspect="1"/>
          </p:cNvPicPr>
          <p:nvPr/>
        </p:nvPicPr>
        <p:blipFill>
          <a:blip r:embed="rId3"/>
          <a:stretch>
            <a:fillRect/>
          </a:stretch>
        </p:blipFill>
        <p:spPr>
          <a:xfrm>
            <a:off x="1914144" y="1214356"/>
            <a:ext cx="5601080" cy="279147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2121061" y="2689593"/>
            <a:ext cx="5819779" cy="907851"/>
          </a:xfrm>
        </p:spPr>
        <p:txBody>
          <a:bodyPr/>
          <a:lstStyle/>
          <a:p>
            <a:pPr marL="0" indent="0">
              <a:buNone/>
            </a:pPr>
            <a:r>
              <a:rPr lang="en-US" sz="2800" b="1" dirty="0">
                <a:solidFill>
                  <a:srgbClr val="002060"/>
                </a:solidFill>
                <a:effectLst>
                  <a:outerShdw blurRad="38100" dist="38100" dir="2700000" algn="tl">
                    <a:srgbClr val="C0C0C0"/>
                  </a:outerShdw>
                </a:effectLst>
                <a:latin typeface="+mj-lt"/>
              </a:rPr>
              <a:t>Remote Backup Systems</a:t>
            </a:r>
          </a:p>
          <a:p>
            <a:endParaRPr lang="en-US" altLang="en-US" sz="3200" dirty="0"/>
          </a:p>
        </p:txBody>
      </p:sp>
    </p:spTree>
    <p:extLst>
      <p:ext uri="{BB962C8B-B14F-4D97-AF65-F5344CB8AC3E}">
        <p14:creationId xmlns:p14="http://schemas.microsoft.com/office/powerpoint/2010/main" val="4084070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152400"/>
            <a:ext cx="7772400" cy="533400"/>
          </a:xfrm>
        </p:spPr>
        <p:txBody>
          <a:bodyPr/>
          <a:lstStyle/>
          <a:p>
            <a:pPr>
              <a:defRPr/>
            </a:pPr>
            <a:r>
              <a:rPr lang="en-US">
                <a:effectLst>
                  <a:outerShdw blurRad="38100" dist="38100" dir="2700000" algn="tl">
                    <a:srgbClr val="C0C0C0"/>
                  </a:outerShdw>
                </a:effectLst>
              </a:rPr>
              <a:t>Remote Backup Systems</a:t>
            </a:r>
          </a:p>
        </p:txBody>
      </p:sp>
      <p:sp>
        <p:nvSpPr>
          <p:cNvPr id="77827" name="Rectangle 3"/>
          <p:cNvSpPr>
            <a:spLocks noGrp="1" noChangeArrowheads="1"/>
          </p:cNvSpPr>
          <p:nvPr>
            <p:ph type="body" idx="4294967295"/>
          </p:nvPr>
        </p:nvSpPr>
        <p:spPr>
          <a:xfrm>
            <a:off x="685800" y="1293194"/>
            <a:ext cx="8098971" cy="1014577"/>
          </a:xfrm>
          <a:prstGeom prst="rect">
            <a:avLst/>
          </a:prstGeom>
          <a:noFill/>
        </p:spPr>
        <p:txBody>
          <a:bodyPr/>
          <a:lstStyle/>
          <a:p>
            <a:pPr>
              <a:buFont typeface="Wingdings" panose="05000000000000000000" pitchFamily="2" charset="2"/>
              <a:buChar char="§"/>
            </a:pPr>
            <a:r>
              <a:rPr lang="en-US" altLang="en-US" dirty="0"/>
              <a:t>Remote backup systems provide high availability by allowing transaction processing to continue even if the primary site is destroyed.</a:t>
            </a:r>
          </a:p>
        </p:txBody>
      </p:sp>
      <p:pic>
        <p:nvPicPr>
          <p:cNvPr id="7782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715" y="2626223"/>
            <a:ext cx="7260485" cy="215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500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nSpc>
                <a:spcPct val="110000"/>
              </a:lnSpc>
              <a:defRPr/>
            </a:pPr>
            <a:r>
              <a:rPr lang="en-US" dirty="0">
                <a:effectLst>
                  <a:outerShdw blurRad="38100" dist="38100" dir="2700000" algn="tl">
                    <a:srgbClr val="C0C0C0"/>
                  </a:outerShdw>
                </a:effectLst>
              </a:rPr>
              <a:t>Remote Backup Systems (Cont.)</a:t>
            </a:r>
          </a:p>
        </p:txBody>
      </p:sp>
      <p:sp>
        <p:nvSpPr>
          <p:cNvPr id="78851" name="Rectangle 3"/>
          <p:cNvSpPr>
            <a:spLocks noGrp="1" noChangeArrowheads="1"/>
          </p:cNvSpPr>
          <p:nvPr>
            <p:ph idx="1"/>
          </p:nvPr>
        </p:nvSpPr>
        <p:spPr>
          <a:xfrm>
            <a:off x="683581" y="1102497"/>
            <a:ext cx="7643674" cy="5367972"/>
          </a:xfrm>
          <a:prstGeom prst="rect">
            <a:avLst/>
          </a:prstGeom>
          <a:noFill/>
        </p:spPr>
        <p:txBody>
          <a:bodyPr/>
          <a:lstStyle/>
          <a:p>
            <a:r>
              <a:rPr lang="en-US" altLang="en-US" b="1" dirty="0"/>
              <a:t>Detection of failure</a:t>
            </a:r>
            <a:r>
              <a:rPr lang="en-US" altLang="en-US" dirty="0"/>
              <a:t>: Backup site must detect when primary site has failed </a:t>
            </a:r>
          </a:p>
          <a:p>
            <a:pPr lvl="1"/>
            <a:r>
              <a:rPr lang="en-US" altLang="en-US" dirty="0"/>
              <a:t>to distinguish primary site failure from link failure maintain several communication links between the primary and the remote backup.</a:t>
            </a:r>
          </a:p>
          <a:p>
            <a:pPr lvl="1"/>
            <a:r>
              <a:rPr lang="en-US" altLang="en-US" dirty="0"/>
              <a:t>Heart-beat messages</a:t>
            </a:r>
          </a:p>
          <a:p>
            <a:r>
              <a:rPr lang="en-US" altLang="en-US" b="1" dirty="0"/>
              <a:t>Transfer of control</a:t>
            </a:r>
            <a:r>
              <a:rPr lang="en-US" altLang="en-US" dirty="0"/>
              <a:t>: </a:t>
            </a:r>
          </a:p>
          <a:p>
            <a:pPr lvl="1"/>
            <a:r>
              <a:rPr lang="en-US" altLang="en-US" dirty="0"/>
              <a:t>To take over control backup site first perform recovery using its copy of the database and all the long records it has received from the primary.</a:t>
            </a:r>
          </a:p>
          <a:p>
            <a:pPr lvl="2"/>
            <a:r>
              <a:rPr lang="en-US" altLang="en-US" dirty="0"/>
              <a:t> Thus, completed transactions are redone and incomplete transactions are rolled back.</a:t>
            </a:r>
          </a:p>
          <a:p>
            <a:pPr lvl="1"/>
            <a:r>
              <a:rPr lang="en-US" altLang="en-US" dirty="0"/>
              <a:t>When the backup site takes over processing it becomes the new primary</a:t>
            </a:r>
          </a:p>
          <a:p>
            <a:pPr lvl="1"/>
            <a:r>
              <a:rPr lang="en-US" altLang="en-US" dirty="0"/>
              <a:t>To transfer control back to old primary when it recovers, old primary must receive redo logs from the old backup and apply all updates locally.</a:t>
            </a:r>
          </a:p>
        </p:txBody>
      </p:sp>
    </p:spTree>
    <p:extLst>
      <p:ext uri="{BB962C8B-B14F-4D97-AF65-F5344CB8AC3E}">
        <p14:creationId xmlns:p14="http://schemas.microsoft.com/office/powerpoint/2010/main" val="2702944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Remote Backup Systems (Cont.)</a:t>
            </a:r>
          </a:p>
        </p:txBody>
      </p:sp>
      <p:sp>
        <p:nvSpPr>
          <p:cNvPr id="79875" name="Rectangle 3"/>
          <p:cNvSpPr>
            <a:spLocks noGrp="1" noChangeArrowheads="1"/>
          </p:cNvSpPr>
          <p:nvPr>
            <p:ph idx="1"/>
          </p:nvPr>
        </p:nvSpPr>
        <p:spPr>
          <a:xfrm>
            <a:off x="656948" y="1102497"/>
            <a:ext cx="7741328" cy="5367972"/>
          </a:xfrm>
          <a:prstGeom prst="rect">
            <a:avLst/>
          </a:prstGeom>
        </p:spPr>
        <p:txBody>
          <a:bodyPr/>
          <a:lstStyle/>
          <a:p>
            <a:r>
              <a:rPr lang="en-US" altLang="en-US" b="1" dirty="0"/>
              <a:t>Time to recover</a:t>
            </a:r>
            <a:r>
              <a:rPr lang="en-US" altLang="en-US" dirty="0"/>
              <a:t>: To reduce delay in takeover, backup site periodically </a:t>
            </a:r>
            <a:r>
              <a:rPr lang="en-US" altLang="en-US" dirty="0" smtClean="0"/>
              <a:t>process </a:t>
            </a:r>
            <a:r>
              <a:rPr lang="en-US" altLang="en-US" dirty="0"/>
              <a:t>the redo log records (in effect, performing recovery from previous database state), performs a checkpoint, and can then delete earlier parts of the log. </a:t>
            </a:r>
          </a:p>
          <a:p>
            <a:r>
              <a:rPr lang="en-US" altLang="en-US" b="1" dirty="0">
                <a:solidFill>
                  <a:srgbClr val="002060"/>
                </a:solidFill>
              </a:rPr>
              <a:t>Hot-Spare</a:t>
            </a:r>
            <a:r>
              <a:rPr lang="en-US" altLang="en-US" dirty="0"/>
              <a:t> configuration permits very fast takeover:</a:t>
            </a:r>
          </a:p>
          <a:p>
            <a:pPr lvl="1">
              <a:buSzPct val="90000"/>
            </a:pPr>
            <a:r>
              <a:rPr lang="en-US" altLang="en-US" dirty="0"/>
              <a:t>Backup continually processes redo log record as they arrive, applying the updates locally.</a:t>
            </a:r>
          </a:p>
          <a:p>
            <a:pPr lvl="1">
              <a:buSzPct val="90000"/>
            </a:pPr>
            <a:r>
              <a:rPr lang="en-US" altLang="en-US" dirty="0"/>
              <a:t>When failure of the primary is detected the backup rolls back incomplete transactions, and is ready to  process new transactions.</a:t>
            </a:r>
          </a:p>
          <a:p>
            <a:r>
              <a:rPr lang="en-US" altLang="en-US" dirty="0"/>
              <a:t>Alternative to remote backup: distributed database with replicated data</a:t>
            </a:r>
          </a:p>
          <a:p>
            <a:pPr lvl="1"/>
            <a:r>
              <a:rPr lang="en-US" altLang="en-US" dirty="0"/>
              <a:t>Remote backup is faster and cheaper, but less tolerant to failure </a:t>
            </a:r>
          </a:p>
          <a:p>
            <a:pPr lvl="2"/>
            <a:r>
              <a:rPr lang="en-US" altLang="en-US" dirty="0"/>
              <a:t>more on this in Chapter 19</a:t>
            </a:r>
          </a:p>
        </p:txBody>
      </p:sp>
    </p:spTree>
    <p:extLst>
      <p:ext uri="{BB962C8B-B14F-4D97-AF65-F5344CB8AC3E}">
        <p14:creationId xmlns:p14="http://schemas.microsoft.com/office/powerpoint/2010/main" val="3437616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Remote Backup Systems (Cont.)</a:t>
            </a:r>
          </a:p>
        </p:txBody>
      </p:sp>
      <p:sp>
        <p:nvSpPr>
          <p:cNvPr id="80899" name="Rectangle 3"/>
          <p:cNvSpPr>
            <a:spLocks noGrp="1" noChangeArrowheads="1"/>
          </p:cNvSpPr>
          <p:nvPr>
            <p:ph idx="1"/>
          </p:nvPr>
        </p:nvSpPr>
        <p:spPr>
          <a:xfrm>
            <a:off x="701336" y="1102497"/>
            <a:ext cx="7723573" cy="5367972"/>
          </a:xfrm>
          <a:prstGeom prst="rect">
            <a:avLst/>
          </a:prstGeom>
        </p:spPr>
        <p:txBody>
          <a:bodyPr/>
          <a:lstStyle/>
          <a:p>
            <a:pPr>
              <a:lnSpc>
                <a:spcPct val="90000"/>
              </a:lnSpc>
            </a:pPr>
            <a:r>
              <a:rPr lang="en-US" altLang="en-US" dirty="0"/>
              <a:t>Ensure durability of updates by delaying transaction commit until update is logged at backup; avoid this delay by permitting lower degrees of durability.</a:t>
            </a:r>
          </a:p>
          <a:p>
            <a:pPr>
              <a:lnSpc>
                <a:spcPct val="90000"/>
              </a:lnSpc>
            </a:pPr>
            <a:r>
              <a:rPr lang="en-US" altLang="en-US" b="1" dirty="0">
                <a:solidFill>
                  <a:srgbClr val="002060"/>
                </a:solidFill>
              </a:rPr>
              <a:t>One-safe</a:t>
            </a:r>
            <a:r>
              <a:rPr lang="en-US" altLang="en-US" dirty="0"/>
              <a:t>:</a:t>
            </a:r>
            <a:r>
              <a:rPr lang="en-US" altLang="en-US" b="1" dirty="0"/>
              <a:t> </a:t>
            </a:r>
            <a:r>
              <a:rPr lang="en-US" altLang="en-US" dirty="0"/>
              <a:t>commit as soon as transaction</a:t>
            </a:r>
            <a:r>
              <a:rPr lang="ja-JP" altLang="en-US" dirty="0"/>
              <a:t>’</a:t>
            </a:r>
            <a:r>
              <a:rPr lang="en-US" altLang="ja-JP" dirty="0"/>
              <a:t>s commit log record is written at primary</a:t>
            </a:r>
          </a:p>
          <a:p>
            <a:pPr lvl="1">
              <a:lnSpc>
                <a:spcPct val="90000"/>
              </a:lnSpc>
              <a:buClr>
                <a:srgbClr val="FF9933"/>
              </a:buClr>
            </a:pPr>
            <a:r>
              <a:rPr lang="en-US" altLang="en-US" dirty="0"/>
              <a:t>Problem: updates may not arrive at backup before it takes over.</a:t>
            </a:r>
          </a:p>
          <a:p>
            <a:pPr>
              <a:lnSpc>
                <a:spcPct val="90000"/>
              </a:lnSpc>
            </a:pPr>
            <a:r>
              <a:rPr lang="en-US" altLang="en-US" b="1" dirty="0">
                <a:solidFill>
                  <a:srgbClr val="002060"/>
                </a:solidFill>
              </a:rPr>
              <a:t>Two-very-safe</a:t>
            </a:r>
            <a:r>
              <a:rPr lang="en-US" altLang="en-US" dirty="0"/>
              <a:t>: commit when transaction</a:t>
            </a:r>
            <a:r>
              <a:rPr lang="ja-JP" altLang="en-US" dirty="0"/>
              <a:t>’</a:t>
            </a:r>
            <a:r>
              <a:rPr lang="en-US" altLang="ja-JP" dirty="0"/>
              <a:t>s commit log record is written at primary and backup</a:t>
            </a:r>
          </a:p>
          <a:p>
            <a:pPr lvl="1">
              <a:lnSpc>
                <a:spcPct val="90000"/>
              </a:lnSpc>
              <a:buClr>
                <a:srgbClr val="FF9933"/>
              </a:buClr>
            </a:pPr>
            <a:r>
              <a:rPr lang="en-US" altLang="en-US" dirty="0"/>
              <a:t>Reduces availability since transactions cannot commit if either site fails.</a:t>
            </a:r>
          </a:p>
          <a:p>
            <a:pPr>
              <a:lnSpc>
                <a:spcPct val="90000"/>
              </a:lnSpc>
            </a:pPr>
            <a:r>
              <a:rPr lang="en-US" altLang="en-US" b="1" dirty="0">
                <a:solidFill>
                  <a:srgbClr val="002060"/>
                </a:solidFill>
              </a:rPr>
              <a:t>Two-safe</a:t>
            </a:r>
            <a:r>
              <a:rPr lang="en-US" altLang="en-US" dirty="0"/>
              <a:t>: proceed as in two-very-safe if both primary and backup are active. If only the primary is active, the transaction commits as soon as is commit log record is written at the primary. </a:t>
            </a:r>
          </a:p>
          <a:p>
            <a:pPr lvl="1">
              <a:lnSpc>
                <a:spcPct val="90000"/>
              </a:lnSpc>
              <a:buClr>
                <a:srgbClr val="FF9933"/>
              </a:buClr>
            </a:pPr>
            <a:r>
              <a:rPr lang="en-US" altLang="en-US" dirty="0"/>
              <a:t>Better availability than two-very-safe; avoids problem of lost transactions in one-safe. </a:t>
            </a:r>
          </a:p>
        </p:txBody>
      </p:sp>
    </p:spTree>
    <p:extLst>
      <p:ext uri="{BB962C8B-B14F-4D97-AF65-F5344CB8AC3E}">
        <p14:creationId xmlns:p14="http://schemas.microsoft.com/office/powerpoint/2010/main" val="4236443002"/>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23179</TotalTime>
  <Words>6920</Words>
  <Application>Microsoft Office PowerPoint</Application>
  <PresentationFormat>On-screen Show (4:3)</PresentationFormat>
  <Paragraphs>412</Paragraphs>
  <Slides>28</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ＭＳ Ｐゴシック</vt:lpstr>
      <vt:lpstr>ＭＳ Ｐゴシック</vt:lpstr>
      <vt:lpstr>Arial</vt:lpstr>
      <vt:lpstr>Helvetica</vt:lpstr>
      <vt:lpstr>Monotype Sorts</vt:lpstr>
      <vt:lpstr>Times New Roman</vt:lpstr>
      <vt:lpstr>Webdings</vt:lpstr>
      <vt:lpstr>Wingdings</vt:lpstr>
      <vt:lpstr>db</vt:lpstr>
      <vt:lpstr>Chapter 19: Recovery System</vt:lpstr>
      <vt:lpstr>Outline</vt:lpstr>
      <vt:lpstr>Failure Classification</vt:lpstr>
      <vt:lpstr>Recovery Algorithms</vt:lpstr>
      <vt:lpstr>Storage Structure</vt:lpstr>
      <vt:lpstr>Stable-Storage Implementation</vt:lpstr>
      <vt:lpstr>Protecting storage media from failure (Cont.)</vt:lpstr>
      <vt:lpstr>Data Access</vt:lpstr>
      <vt:lpstr>Data Access (Cont.)</vt:lpstr>
      <vt:lpstr>Example of Data Access</vt:lpstr>
      <vt:lpstr>Recovery and Atomicity</vt:lpstr>
      <vt:lpstr>Log-Based Recovery</vt:lpstr>
      <vt:lpstr>Immediate Database Modification</vt:lpstr>
      <vt:lpstr>Transaction Commit</vt:lpstr>
      <vt:lpstr>Immediate Database Modification Example</vt:lpstr>
      <vt:lpstr>Concurrency Control and Recovery</vt:lpstr>
      <vt:lpstr>Undo and Redo Operations</vt:lpstr>
      <vt:lpstr>Recovering from Failure</vt:lpstr>
      <vt:lpstr>Recovering from Failure (Cont.)</vt:lpstr>
      <vt:lpstr>Immediate DB Modification Recovery Example</vt:lpstr>
      <vt:lpstr>Checkpoints</vt:lpstr>
      <vt:lpstr>Checkpoints (Cont.)</vt:lpstr>
      <vt:lpstr>Example of Checkpoints</vt:lpstr>
      <vt:lpstr>PowerPoint Presentation</vt:lpstr>
      <vt:lpstr>Remote Backup Systems</vt:lpstr>
      <vt:lpstr>Remote Backup Systems (Cont.)</vt:lpstr>
      <vt:lpstr>Remote Backup Systems (Cont.)</vt:lpstr>
      <vt:lpstr>Remote Backup Systems (Cont.)</vt:lpstr>
    </vt:vector>
  </TitlesOfParts>
  <Company>IIT Bombay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Recovery System</dc:title>
  <dc:creator>S. Sudarshan</dc:creator>
  <cp:lastModifiedBy>Windows User</cp:lastModifiedBy>
  <cp:revision>472</cp:revision>
  <dcterms:created xsi:type="dcterms:W3CDTF">2000-06-27T06:50:15Z</dcterms:created>
  <dcterms:modified xsi:type="dcterms:W3CDTF">2022-03-17T10:12:14Z</dcterms:modified>
</cp:coreProperties>
</file>